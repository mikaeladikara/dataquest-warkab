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QWK out-of-fold</c:v>
                </c:pt>
              </c:strCache>
            </c:strRef>
          </c:tx>
          <c:spPr>
            <a:solidFill>
              <a:srgbClr val="3A4048"/>
            </a:solidFill>
            <a:effectLst/>
          </c:spPr>
          <c:invertIfNegative val="0"/>
          <c:dLbls>
            <c:numFmt formatCode="0.00000" sourceLinked="0"/>
            <c:txPr>
              <a:bodyPr/>
              <a:lstStyle/>
              <a:p>
                <a:pPr>
                  <a:defRPr b="0" i="0" strike="noStrike" sz="1100" u="none">
                    <a:solidFill>
                      <a:srgbClr val="16191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mlp  jaringan saraf</c:v>
                  </c:pt>
                  <c:pt idx="1">
                    <c:v>lgb  boosting leaf-wise</c:v>
                  </c:pt>
                  <c:pt idx="2">
                    <c:v>reg  Huber ordinal</c:v>
                  </c:pt>
                  <c:pt idx="3">
                    <c:v>cat  ordered boosting</c:v>
                  </c:pt>
                  <c:pt idx="4">
                    <c:v>xgb  boosting level-wise</c:v>
                  </c:pt>
                  <c:pt idx="5">
                    <c:v>ord  dekomposisi kumulatif</c:v>
                  </c:pt>
                </c:lvl>
              </c:multiLvlStrCache>
            </c:multiLvlStrRef>
          </c:cat>
          <c:val>
            <c:numRef>
              <c:f>Sheet1!$B$2:$B$7</c:f>
              <c:numCache>
                <c:formatCode>General</c:formatCode>
                <c:ptCount val="6"/>
                <c:pt idx="0">
                  <c:v>0.44411</c:v>
                </c:pt>
                <c:pt idx="1">
                  <c:v>0.4773</c:v>
                </c:pt>
                <c:pt idx="2">
                  <c:v>0.47826</c:v>
                </c:pt>
                <c:pt idx="3">
                  <c:v>0.47922</c:v>
                </c:pt>
                <c:pt idx="4">
                  <c:v>0.48015</c:v>
                </c:pt>
                <c:pt idx="5">
                  <c:v>0.48062</c:v>
                </c:pt>
              </c:numCache>
            </c:numRef>
          </c:val>
        </c:ser>
        <c:dLbls>
          <c:numFmt formatCode="0.00000" sourceLinked="0"/>
          <c:txPr>
            <a:bodyPr/>
            <a:lstStyle/>
            <a:p>
              <a:pPr>
                <a:defRPr b="0" i="0" strike="noStrike" sz="1100" u="none">
                  <a:solidFill>
                    <a:srgbClr val="16191D"/>
                  </a:solidFill>
                  <a:latin typeface="Calibri"/>
                </a:defRPr>
              </a:pPr>
            </a:p>
          </c:txPr>
          <c:showLegendKey val="0"/>
          <c:showVal val="1"/>
          <c:showCatName val="0"/>
          <c:showSerName val="0"/>
          <c:showPercent val="0"/>
          <c:showBubbleSize val="0"/>
          <c:showLeaderLines val="0"/>
        </c:dLbls>
        <c:gapWidth val="5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9"/>
          <c:min val="0.42"/>
        </c:scaling>
        <c:delete val="0"/>
        <c:axPos val="b"/>
        <c:majorGridlines>
          <c:spPr>
            <a:ln w="6350" cap="flat">
              <a:solidFill>
                <a:srgbClr val="DCD8D1"/>
              </a:solidFill>
              <a:prstDash val="solid"/>
              <a:round/>
            </a:ln>
          </c:spPr>
        </c:majorGridlines>
        <c:numFmt formatCode="0.00" sourceLinked="0"/>
        <c:majorTickMark val="out"/>
        <c:minorTickMark val="none"/>
        <c:tickLblPos val="low"/>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3556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logaritmik</c:v>
                </c:pt>
              </c:strCache>
            </c:strRef>
          </c:tx>
          <c:spPr>
            <a:solidFill>
              <a:srgbClr val="3A4048"/>
            </a:solidFill>
            <a:ln w="3556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5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0" sourceLinked="0"/>
        <c:majorTickMark val="out"/>
        <c:minorTickMark val="none"/>
        <c:tickLblPos val="nextTo"/>
        <c:spPr>
          <a:ln w="12700" cap="flat">
            <a:noFill/>
            <a:prstDash val="solid"/>
            <a:round/>
          </a:ln>
        </c:spPr>
        <c:txPr>
          <a:bodyPr/>
          <a:lstStyle/>
          <a:p>
            <a:pPr>
              <a:defRPr sz="1000" b="0" i="0" u="none" strike="noStrike">
                <a:solidFill>
                  <a:srgbClr val="6E747C"/>
                </a:solidFill>
                <a:latin typeface="Calibri"/>
              </a:defRPr>
            </a:pPr>
            <a:endParaRPr lang="en-US"/>
          </a:p>
        </c:txPr>
        <c:crossAx val="2094734554"/>
        <c:crosses val="autoZero"/>
        <c:crossBetween val="between"/>
        <c:majorUnit val="0.01"/>
      </c:valAx>
      <c:spPr>
        <a:noFill/>
        <a:ln>
          <a:noFill/>
        </a:ln>
        <a:effectLst/>
      </c:spPr>
    </c:plotArea>
    <c:legend>
      <c:legendPos val="b"/>
      <c:overlay val="0"/>
      <c:txPr>
        <a:bodyPr/>
        <a:lstStyle/>
        <a:p>
          <a:pPr>
            <a:defRPr sz="1100">
              <a:solidFill>
                <a:srgbClr val="3A404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target dalam dua kalimat, lalu langsung ke slide berikutnya. Jangan berlama-lama di sampul. Distribusi di kanan cuma perlu satu kalimat: dua kelas terbawah hanya 4,7% dari data, dan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kail presentasi. Berhenti sejenak setelah membaca judulnya, biarkan angkanya bekerja. Lima puluh persen akurasi terdengar setengah benar, tetapi Quadratic Weighted Kappa menilainya nol. Kalau juri hanya ingat satu slide, slide inilah yang harus melekat.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Matriks ini adalah metrik kompetisi, digambar apa adanya. Diagonalnya nol, dan penaltinya tumbuh kuadratik. Begitu juri melihat angka 9 di pojok, sisa presentasi jadi masuk akal. Inilah alasan kami tidak pernah melaporkan akurasi sebagai metrik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argmax memilih modus. QWK menghukum jarak, sehingga penduga yang benar adalah rata-rata, bukan modus. Perhatikan angka terakhir: kami sengaja memprediksi kelas 3 dan 4 lebih sering daripada proporsi aslinya, karena di bawah penalti kuadratik biaya diam lebih mahal daripada biaya salah satu tingkat.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4 menarik: LightGBM dengan argmax justru punya akurasi tertinggi di seluruh tabel, 66,7 persen, tetapi QWK-nya paling rendah di antara model pohon. Akurasi dan QWK menarik ke arah berlawanan. Inilah bukti kuantitatif tesis kami: tim yang menghabiskan seluruh waktunya pada arsitektur model sedang memperebutkan sepuluh persen terakhir dari perbaikan yang tersedia.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Meta-learner yang kami pilih bukan logistic regression melainkan rata-rata sederhana lima model pohon. MLP dikeluarkan di muka karena jelas lebih lemah. Alasannya struktural, bukan berdasarkan skor, dan itu dijelaskan di slide tentang kriteria seleksi.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Struktur rumah tangga adalah sumber kebocoran paling menggoda di dataset survei, dan target encoding di sini akan terlihat brilian pada validasi mana pun. Kami mengukurnya lewat matriks kondisional penuh, menemukan liftnya cuma 1,6 poin persentase, lalu menolaknya. Kepuasan hidup ternyata jauh lebih individual daripada dugaan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Banyak tim akan melaporkan bahwa mereka mencoba imputasi canggih. Kami melaporkan hasil nolnya beserta penjelasan mengapa nol adalah hasil yang benar. Rekonstruksi sempurna yang tidak menaikkan skor adalah bukti langsung bahwa redundansi antar kolom tinggi, dan itu konsisten dengan temuan EDA kami bahwa sinyal tersebar tipis.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ada satu slide yang membedakan kami dari tim yang mengejar papan skor, ini slidenya. Kami punya konfigurasi yang skornya lebih tinggi di validasi, dan kami membuangnya karena tahu kenaikannya palsu. Pengalaman inilah yang mendasari seluruh kebijakan seleksi kami.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korelasi ini dihitung setelah satu strategi yang jelas buruk dikeluarkan, supaya tidak menggelembungkan hasilnya. Ini juga bukti tambahan bahwa kinerja sudah mencapai plafon: bukan hanya modelnya yang mentok, pemilihan di antara varian yang setara pun sudah tidak lagi membawa informasi.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boleh dilewati kalau waktu sempit. Tetapi kalau juri bertanya apa lagi yang sudah kalian coba, buka slide ini dan biarkan tabelnya berbicara. Baris merah paling penting: satu-satunya konfigurasi yang skornya naik, dan kami tetap menolaknya karena kenaikannya terbukti semu.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Kecocokan logaritmik dengan R kuadrat 0,914 pada rentang data hampir sepuluh kali lipat bukan kebetulan. Itu tanda khas kurva belajar yang sudah memasuki wilayah pengembalian menurun. Slide berikutnya menerjemahkan koefisien ini menjadi angka yang bisa diperiksa siapa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sengaja menyatakannya sebagai klaim yang bisa difalsifikasi, bukan sebagai tuduhan. Kalau ada pipeline yang menembus 0,55 hanya dari dua berkas resmi, kurva belajar kami salah dan kami ingin melihat caranya. Kolom terakhir memakai laju wajar survei kesehatan nasional, sekitar seratus ribu responden dewasa per tahun.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Perhitungan ini sepenuhnya dapat direproduksi dari matriks konfusi yang tercetak di notebook kami. Implikasinya: enam peringkat berturut-turut di papan skor secara statistik tidak dapat dibedakan. Karena itu kami mengoptimalkan estimator yang stabil, bukan posisi papan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permutation importance layak ditekankan: variabel desain survei seperti survey_weight muncul tinggi, dan godaannya adalah memakainya sebagai bobot pelatihan. Kami mengujinya, skornya turun ke 0,4726, jadi kami biarkan sebagai fitur biasa. Uji dulu, baru putuskan.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tautannya dan geser slider t3 di depan juri. Itu momen paling kuat dari seluruh presentasi, karena rekomendasi kami berubah dari kalimat menjadi sesuatu yang mereka lihat bergerak. Sebutkan juga bahwa model di halaman ini versi ringkas 17 variabel, dan selisih kinerjanya terhadap pipeline penuh kami cantumkan terbuka di panel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jawaban untuk pertanyaan buat apa. Laporan survei berhenti di persentase; perencana program butuh nama dan urutan. Tegaskan batasnya di kalimat terakhir supaya juri tahu kami tidak menjual lebih dari yang bisa diberikan model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Yang membedakan slide ini dari roadmap biasa adalah baris merah di tiap kartu, yaitu syarat yang harus dipenuhi. Kejujuran tentang urutan itu yang membuat rencananya kredibel.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Rekomendasi menurunkan t3 untuk penapisan adalah contoh konkret: itu berarti sengaja menurunkan QWK demi kegunaan nyata. Metrik kompetisi bukan tujuan akhir pemodelan.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kalimat besar di kiri, lalu tunjuk tiga angka di kanan. Siapkan tiga jawaban untuk tanya jawab: mengapa tidak deep learning, lihat konvergensi enam keluarga model; mengapa skor tidak lebih tinggi, lihat kurva belajar; apa yang kalian buang, enam belas pendekatan lengkap dengan angkanya.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lifescope-mikaeladikara-5555s-projects.vercel.app"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lifescope-mikaeladikara-5555s-projects.vercel.app"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31520"/>
            <a:ext cx="73152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TIM WARKAB   ·   OBJECTIVE QUEST DATAQUEST 5.0</a:t>
            </a:r>
            <a:endParaRPr lang="en-US" sz="1050" dirty="0"/>
          </a:p>
        </p:txBody>
      </p:sp>
      <p:sp>
        <p:nvSpPr>
          <p:cNvPr id="3" name="Text 1"/>
          <p:cNvSpPr/>
          <p:nvPr/>
        </p:nvSpPr>
        <p:spPr>
          <a:xfrm>
            <a:off x="640080" y="1280160"/>
            <a:ext cx="6766560" cy="1920240"/>
          </a:xfrm>
          <a:prstGeom prst="rect">
            <a:avLst/>
          </a:prstGeom>
          <a:noFill/>
          <a:ln/>
        </p:spPr>
        <p:txBody>
          <a:bodyPr wrap="square" lIns="0" tIns="0" rIns="0" bIns="0" rtlCol="0" anchor="t"/>
          <a:lstStyle/>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Membaca Skala,</a:t>
            </a:r>
            <a:endParaRPr lang="en-US" sz="4800" dirty="0"/>
          </a:p>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Bukan Menebak Kelas</a:t>
            </a:r>
            <a:endParaRPr lang="en-US" sz="4800" dirty="0"/>
          </a:p>
        </p:txBody>
      </p:sp>
      <p:sp>
        <p:nvSpPr>
          <p:cNvPr id="4" name="Text 2"/>
          <p:cNvSpPr/>
          <p:nvPr/>
        </p:nvSpPr>
        <p:spPr>
          <a:xfrm>
            <a:off x="640080" y="3346704"/>
            <a:ext cx="6583680" cy="457200"/>
          </a:xfrm>
          <a:prstGeom prst="rect">
            <a:avLst/>
          </a:prstGeom>
          <a:noFill/>
          <a:ln/>
        </p:spPr>
        <p:txBody>
          <a:bodyPr wrap="square" lIns="0" tIns="0" rIns="0" bIns="0" rtlCol="0" anchor="ctr"/>
          <a:lstStyle/>
          <a:p>
            <a:pPr indent="0" marL="0">
              <a:buNone/>
            </a:pPr>
            <a:r>
              <a:rPr lang="en-US" sz="1500" dirty="0">
                <a:solidFill>
                  <a:srgbClr val="9AA0A7"/>
                </a:solidFill>
                <a:latin typeface="Calibri" pitchFamily="34" charset="0"/>
                <a:ea typeface="Calibri" pitchFamily="34" charset="-122"/>
                <a:cs typeface="Calibri" pitchFamily="34" charset="-120"/>
              </a:rPr>
              <a:t>Prediksi kepuasan hidup dari 176 variabel survei, dirancang untuk satu metrik.</a:t>
            </a:r>
            <a:endParaRPr lang="en-US" sz="1500" dirty="0"/>
          </a:p>
        </p:txBody>
      </p:sp>
      <p:sp>
        <p:nvSpPr>
          <p:cNvPr id="5" name="Text 3"/>
          <p:cNvSpPr/>
          <p:nvPr/>
        </p:nvSpPr>
        <p:spPr>
          <a:xfrm>
            <a:off x="8138160" y="12801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DISTRIBUSI TARGET · 95.609 BARIS LATIH</a:t>
            </a:r>
            <a:endParaRPr lang="en-US" sz="1050" dirty="0"/>
          </a:p>
        </p:txBody>
      </p:sp>
      <p:sp>
        <p:nvSpPr>
          <p:cNvPr id="6" name="Shape 4"/>
          <p:cNvSpPr/>
          <p:nvPr/>
        </p:nvSpPr>
        <p:spPr>
          <a:xfrm>
            <a:off x="8138160" y="1664208"/>
            <a:ext cx="3429000" cy="201168"/>
          </a:xfrm>
          <a:prstGeom prst="rect">
            <a:avLst/>
          </a:prstGeom>
          <a:solidFill>
            <a:srgbClr val="2A2F36"/>
          </a:solidFill>
          <a:ln/>
        </p:spPr>
      </p:sp>
      <p:sp>
        <p:nvSpPr>
          <p:cNvPr id="7" name="Shape 5"/>
          <p:cNvSpPr/>
          <p:nvPr/>
        </p:nvSpPr>
        <p:spPr>
          <a:xfrm>
            <a:off x="8138160" y="1664208"/>
            <a:ext cx="1540993" cy="201168"/>
          </a:xfrm>
          <a:prstGeom prst="rect">
            <a:avLst/>
          </a:prstGeom>
          <a:solidFill>
            <a:srgbClr val="2F6B5F"/>
          </a:solidFill>
          <a:ln/>
        </p:spPr>
      </p:sp>
      <p:sp>
        <p:nvSpPr>
          <p:cNvPr id="8" name="Text 6"/>
          <p:cNvSpPr/>
          <p:nvPr/>
        </p:nvSpPr>
        <p:spPr>
          <a:xfrm>
            <a:off x="8138160" y="188366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195560" y="188366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a:t>
            </a:r>
            <a:endParaRPr lang="en-US" sz="1000" dirty="0"/>
          </a:p>
        </p:txBody>
      </p:sp>
      <p:sp>
        <p:nvSpPr>
          <p:cNvPr id="10" name="Shape 8"/>
          <p:cNvSpPr/>
          <p:nvPr/>
        </p:nvSpPr>
        <p:spPr>
          <a:xfrm>
            <a:off x="8138160" y="2304288"/>
            <a:ext cx="3429000" cy="201168"/>
          </a:xfrm>
          <a:prstGeom prst="rect">
            <a:avLst/>
          </a:prstGeom>
          <a:solidFill>
            <a:srgbClr val="2A2F36"/>
          </a:solidFill>
          <a:ln/>
        </p:spPr>
      </p:sp>
      <p:sp>
        <p:nvSpPr>
          <p:cNvPr id="11" name="Shape 9"/>
          <p:cNvSpPr/>
          <p:nvPr/>
        </p:nvSpPr>
        <p:spPr>
          <a:xfrm>
            <a:off x="8138160" y="2304288"/>
            <a:ext cx="1728216" cy="201168"/>
          </a:xfrm>
          <a:prstGeom prst="rect">
            <a:avLst/>
          </a:prstGeom>
          <a:solidFill>
            <a:srgbClr val="8FB0A4"/>
          </a:solidFill>
          <a:ln/>
        </p:spPr>
      </p:sp>
      <p:sp>
        <p:nvSpPr>
          <p:cNvPr id="12" name="Text 10"/>
          <p:cNvSpPr/>
          <p:nvPr/>
        </p:nvSpPr>
        <p:spPr>
          <a:xfrm>
            <a:off x="8138160" y="252374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195560" y="252374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a:t>
            </a:r>
            <a:endParaRPr lang="en-US" sz="1000" dirty="0"/>
          </a:p>
        </p:txBody>
      </p:sp>
      <p:sp>
        <p:nvSpPr>
          <p:cNvPr id="14" name="Shape 12"/>
          <p:cNvSpPr/>
          <p:nvPr/>
        </p:nvSpPr>
        <p:spPr>
          <a:xfrm>
            <a:off x="8138160" y="2944368"/>
            <a:ext cx="3429000" cy="201168"/>
          </a:xfrm>
          <a:prstGeom prst="rect">
            <a:avLst/>
          </a:prstGeom>
          <a:solidFill>
            <a:srgbClr val="2A2F36"/>
          </a:solidFill>
          <a:ln/>
        </p:spPr>
      </p:sp>
      <p:sp>
        <p:nvSpPr>
          <p:cNvPr id="15" name="Shape 13"/>
          <p:cNvSpPr/>
          <p:nvPr/>
        </p:nvSpPr>
        <p:spPr>
          <a:xfrm>
            <a:off x="8138160" y="2944368"/>
            <a:ext cx="127559" cy="201168"/>
          </a:xfrm>
          <a:prstGeom prst="rect">
            <a:avLst/>
          </a:prstGeom>
          <a:solidFill>
            <a:srgbClr val="D8A25E"/>
          </a:solidFill>
          <a:ln/>
        </p:spPr>
      </p:sp>
      <p:sp>
        <p:nvSpPr>
          <p:cNvPr id="16" name="Text 14"/>
          <p:cNvSpPr/>
          <p:nvPr/>
        </p:nvSpPr>
        <p:spPr>
          <a:xfrm>
            <a:off x="8138160" y="316382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195560" y="316382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a:t>
            </a:r>
            <a:endParaRPr lang="en-US" sz="1000" dirty="0"/>
          </a:p>
        </p:txBody>
      </p:sp>
      <p:sp>
        <p:nvSpPr>
          <p:cNvPr id="18" name="Shape 16"/>
          <p:cNvSpPr/>
          <p:nvPr/>
        </p:nvSpPr>
        <p:spPr>
          <a:xfrm>
            <a:off x="8138160" y="3584448"/>
            <a:ext cx="3429000" cy="201168"/>
          </a:xfrm>
          <a:prstGeom prst="rect">
            <a:avLst/>
          </a:prstGeom>
          <a:solidFill>
            <a:srgbClr val="2A2F36"/>
          </a:solidFill>
          <a:ln/>
        </p:spPr>
      </p:sp>
      <p:sp>
        <p:nvSpPr>
          <p:cNvPr id="19" name="Shape 17"/>
          <p:cNvSpPr/>
          <p:nvPr/>
        </p:nvSpPr>
        <p:spPr>
          <a:xfrm>
            <a:off x="8138160" y="3584448"/>
            <a:ext cx="36576" cy="201168"/>
          </a:xfrm>
          <a:prstGeom prst="rect">
            <a:avLst/>
          </a:prstGeom>
          <a:solidFill>
            <a:srgbClr val="A8442A"/>
          </a:solidFill>
          <a:ln/>
        </p:spPr>
      </p:sp>
      <p:sp>
        <p:nvSpPr>
          <p:cNvPr id="20" name="Text 18"/>
          <p:cNvSpPr/>
          <p:nvPr/>
        </p:nvSpPr>
        <p:spPr>
          <a:xfrm>
            <a:off x="8138160" y="380390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195560" y="380390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a:t>
            </a:r>
            <a:endParaRPr lang="en-US" sz="1000" dirty="0"/>
          </a:p>
        </p:txBody>
      </p:sp>
      <p:sp>
        <p:nvSpPr>
          <p:cNvPr id="22" name="Shape 20"/>
          <p:cNvSpPr/>
          <p:nvPr/>
        </p:nvSpPr>
        <p:spPr>
          <a:xfrm>
            <a:off x="640080" y="5212080"/>
            <a:ext cx="10908792" cy="0"/>
          </a:xfrm>
          <a:prstGeom prst="line">
            <a:avLst/>
          </a:prstGeom>
          <a:noFill/>
          <a:ln w="12700">
            <a:solidFill>
              <a:srgbClr val="3A4048"/>
            </a:solidFill>
            <a:prstDash val="solid"/>
          </a:ln>
        </p:spPr>
      </p:sp>
      <p:sp>
        <p:nvSpPr>
          <p:cNvPr id="23" name="Text 21"/>
          <p:cNvSpPr/>
          <p:nvPr/>
        </p:nvSpPr>
        <p:spPr>
          <a:xfrm>
            <a:off x="640080"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0,48425</a:t>
            </a:r>
            <a:endParaRPr lang="en-US" sz="2300" dirty="0"/>
          </a:p>
        </p:txBody>
      </p:sp>
      <p:sp>
        <p:nvSpPr>
          <p:cNvPr id="24" name="Text 22"/>
          <p:cNvSpPr/>
          <p:nvPr/>
        </p:nvSpPr>
        <p:spPr>
          <a:xfrm>
            <a:off x="640080"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QWK out-of-fold</a:t>
            </a:r>
            <a:endParaRPr lang="en-US" sz="1000" dirty="0"/>
          </a:p>
        </p:txBody>
      </p:sp>
      <p:sp>
        <p:nvSpPr>
          <p:cNvPr id="25" name="Text 23"/>
          <p:cNvSpPr/>
          <p:nvPr/>
        </p:nvSpPr>
        <p:spPr>
          <a:xfrm>
            <a:off x="2852928"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6</a:t>
            </a:r>
            <a:endParaRPr lang="en-US" sz="2300" dirty="0"/>
          </a:p>
        </p:txBody>
      </p:sp>
      <p:sp>
        <p:nvSpPr>
          <p:cNvPr id="26" name="Text 24"/>
          <p:cNvSpPr/>
          <p:nvPr/>
        </p:nvSpPr>
        <p:spPr>
          <a:xfrm>
            <a:off x="2852928"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Keluarga algoritma</a:t>
            </a:r>
            <a:endParaRPr lang="en-US" sz="1000" dirty="0"/>
          </a:p>
        </p:txBody>
      </p:sp>
      <p:sp>
        <p:nvSpPr>
          <p:cNvPr id="27" name="Text 25"/>
          <p:cNvSpPr/>
          <p:nvPr/>
        </p:nvSpPr>
        <p:spPr>
          <a:xfrm>
            <a:off x="5065776"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176</a:t>
            </a:r>
            <a:endParaRPr lang="en-US" sz="2300" dirty="0"/>
          </a:p>
        </p:txBody>
      </p:sp>
      <p:sp>
        <p:nvSpPr>
          <p:cNvPr id="28" name="Text 26"/>
          <p:cNvSpPr/>
          <p:nvPr/>
        </p:nvSpPr>
        <p:spPr>
          <a:xfrm>
            <a:off x="5065776"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Fitur mentah</a:t>
            </a:r>
            <a:endParaRPr lang="en-US" sz="1000" dirty="0"/>
          </a:p>
        </p:txBody>
      </p:sp>
      <p:sp>
        <p:nvSpPr>
          <p:cNvPr id="29" name="Text 27"/>
          <p:cNvSpPr/>
          <p:nvPr/>
        </p:nvSpPr>
        <p:spPr>
          <a:xfrm>
            <a:off x="7278624"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42</a:t>
            </a:r>
            <a:endParaRPr lang="en-US" sz="2300" dirty="0"/>
          </a:p>
        </p:txBody>
      </p:sp>
      <p:sp>
        <p:nvSpPr>
          <p:cNvPr id="30" name="Text 28"/>
          <p:cNvSpPr/>
          <p:nvPr/>
        </p:nvSpPr>
        <p:spPr>
          <a:xfrm>
            <a:off x="7278624"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Seed, dikunci</a:t>
            </a:r>
            <a:endParaRPr lang="en-US" sz="1000" dirty="0"/>
          </a:p>
        </p:txBody>
      </p:sp>
      <p:sp>
        <p:nvSpPr>
          <p:cNvPr id="31" name="Text 29"/>
          <p:cNvSpPr/>
          <p:nvPr/>
        </p:nvSpPr>
        <p:spPr>
          <a:xfrm>
            <a:off x="9491472"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a:t>
            </a:r>
            <a:endParaRPr lang="en-US" sz="2300" dirty="0"/>
          </a:p>
        </p:txBody>
      </p:sp>
      <p:sp>
        <p:nvSpPr>
          <p:cNvPr id="32" name="Text 30"/>
          <p:cNvSpPr/>
          <p:nvPr/>
        </p:nvSpPr>
        <p:spPr>
          <a:xfrm>
            <a:off x="9491472"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Baris data eksternal</a:t>
            </a:r>
            <a:endParaRPr lang="en-US" sz="10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13232"/>
            <a:ext cx="54864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PARADOKS YANG MEMBUKA SEGALANYA</a:t>
            </a:r>
            <a:endParaRPr lang="en-US" sz="1050" dirty="0"/>
          </a:p>
        </p:txBody>
      </p:sp>
      <p:sp>
        <p:nvSpPr>
          <p:cNvPr id="3" name="Text 1"/>
          <p:cNvSpPr/>
          <p:nvPr/>
        </p:nvSpPr>
        <p:spPr>
          <a:xfrm>
            <a:off x="640080" y="1234440"/>
            <a:ext cx="5852160" cy="2651760"/>
          </a:xfrm>
          <a:prstGeom prst="rect">
            <a:avLst/>
          </a:prstGeom>
          <a:noFill/>
          <a:ln/>
        </p:spPr>
        <p:txBody>
          <a:bodyPr wrap="square" lIns="0" tIns="0" rIns="0" bIns="0" rtlCol="0" anchor="t"/>
          <a:lstStyle/>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Tebakan teraman</a:t>
            </a:r>
            <a:endParaRPr lang="en-US" sz="4000" dirty="0"/>
          </a:p>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di kompetisi ini</a:t>
            </a:r>
            <a:endParaRPr lang="en-US" sz="4000" dirty="0"/>
          </a:p>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bernilai tepat nol.</a:t>
            </a:r>
            <a:endParaRPr lang="en-US" sz="4000" dirty="0"/>
          </a:p>
        </p:txBody>
      </p:sp>
      <p:sp>
        <p:nvSpPr>
          <p:cNvPr id="4" name="Shape 2"/>
          <p:cNvSpPr/>
          <p:nvPr/>
        </p:nvSpPr>
        <p:spPr>
          <a:xfrm>
            <a:off x="6720840" y="1371600"/>
            <a:ext cx="4830775" cy="2651760"/>
          </a:xfrm>
          <a:prstGeom prst="roundRect">
            <a:avLst>
              <a:gd name="adj" fmla="val 2069"/>
            </a:avLst>
          </a:prstGeom>
          <a:solidFill>
            <a:srgbClr val="20262C"/>
          </a:solidFill>
          <a:ln w="9525">
            <a:solidFill>
              <a:srgbClr val="20262C"/>
            </a:solidFill>
            <a:prstDash val="solid"/>
          </a:ln>
        </p:spPr>
      </p:sp>
      <p:sp>
        <p:nvSpPr>
          <p:cNvPr id="5" name="Text 3"/>
          <p:cNvSpPr/>
          <p:nvPr/>
        </p:nvSpPr>
        <p:spPr>
          <a:xfrm>
            <a:off x="7223760" y="1783080"/>
            <a:ext cx="3824935" cy="658368"/>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50,402%</a:t>
            </a:r>
            <a:endParaRPr lang="en-US" sz="4000" dirty="0"/>
          </a:p>
        </p:txBody>
      </p:sp>
      <p:sp>
        <p:nvSpPr>
          <p:cNvPr id="6" name="Text 4"/>
          <p:cNvSpPr/>
          <p:nvPr/>
        </p:nvSpPr>
        <p:spPr>
          <a:xfrm>
            <a:off x="7223760" y="2478024"/>
            <a:ext cx="3824935" cy="420624"/>
          </a:xfrm>
          <a:prstGeom prst="rect">
            <a:avLst/>
          </a:prstGeom>
          <a:noFill/>
          <a:ln/>
        </p:spPr>
        <p:txBody>
          <a:bodyPr wrap="square" lIns="0" tIns="0" rIns="0" bIns="0" rtlCol="0" anchor="t"/>
          <a:lstStyle/>
          <a:p>
            <a:pPr algn="l" indent="0" marL="0">
              <a:lnSpc>
                <a:spcPts val="1300"/>
              </a:lnSpc>
              <a:buNone/>
            </a:pPr>
            <a:r>
              <a:rPr lang="en-US" sz="1200" dirty="0">
                <a:solidFill>
                  <a:srgbClr val="9AA0A7"/>
                </a:solidFill>
                <a:latin typeface="Calibri" pitchFamily="34" charset="0"/>
                <a:ea typeface="Calibri" pitchFamily="34" charset="-122"/>
                <a:cs typeface="Calibri" pitchFamily="34" charset="-120"/>
              </a:rPr>
              <a:t>Akurasi bila menebak kelas mayoritas untuk semua orang</a:t>
            </a:r>
            <a:endParaRPr lang="en-US" sz="1200" dirty="0"/>
          </a:p>
        </p:txBody>
      </p:sp>
      <p:sp>
        <p:nvSpPr>
          <p:cNvPr id="7" name="Shape 5"/>
          <p:cNvSpPr/>
          <p:nvPr/>
        </p:nvSpPr>
        <p:spPr>
          <a:xfrm>
            <a:off x="7223760" y="2852928"/>
            <a:ext cx="3824935" cy="0"/>
          </a:xfrm>
          <a:prstGeom prst="line">
            <a:avLst/>
          </a:prstGeom>
          <a:noFill/>
          <a:ln w="12700">
            <a:solidFill>
              <a:srgbClr val="3A4048"/>
            </a:solidFill>
            <a:prstDash val="solid"/>
          </a:ln>
        </p:spPr>
      </p:sp>
      <p:sp>
        <p:nvSpPr>
          <p:cNvPr id="8" name="Text 6"/>
          <p:cNvSpPr/>
          <p:nvPr/>
        </p:nvSpPr>
        <p:spPr>
          <a:xfrm>
            <a:off x="7223760" y="3017520"/>
            <a:ext cx="3824935" cy="658368"/>
          </a:xfrm>
          <a:prstGeom prst="rect">
            <a:avLst/>
          </a:prstGeom>
          <a:noFill/>
          <a:ln/>
        </p:spPr>
        <p:txBody>
          <a:bodyPr wrap="square" lIns="0" tIns="0" rIns="0" bIns="0" rtlCol="0" anchor="b"/>
          <a:lstStyle/>
          <a:p>
            <a:pPr algn="l" indent="0" marL="0">
              <a:buNone/>
            </a:pPr>
            <a:r>
              <a:rPr lang="en-US" sz="4000" b="1" dirty="0">
                <a:solidFill>
                  <a:srgbClr val="A8442A"/>
                </a:solidFill>
                <a:latin typeface="Cambria" pitchFamily="34" charset="0"/>
                <a:ea typeface="Cambria" pitchFamily="34" charset="-122"/>
                <a:cs typeface="Cambria" pitchFamily="34" charset="-120"/>
              </a:rPr>
              <a:t>0,00000</a:t>
            </a:r>
            <a:endParaRPr lang="en-US" sz="4000" dirty="0"/>
          </a:p>
        </p:txBody>
      </p:sp>
      <p:sp>
        <p:nvSpPr>
          <p:cNvPr id="9" name="Text 7"/>
          <p:cNvSpPr/>
          <p:nvPr/>
        </p:nvSpPr>
        <p:spPr>
          <a:xfrm>
            <a:off x="7223760" y="3712464"/>
            <a:ext cx="3824935" cy="420624"/>
          </a:xfrm>
          <a:prstGeom prst="rect">
            <a:avLst/>
          </a:prstGeom>
          <a:noFill/>
          <a:ln/>
        </p:spPr>
        <p:txBody>
          <a:bodyPr wrap="square" lIns="0" tIns="0" rIns="0" bIns="0" rtlCol="0" anchor="t"/>
          <a:lstStyle/>
          <a:p>
            <a:pPr algn="l" indent="0" marL="0">
              <a:lnSpc>
                <a:spcPts val="1300"/>
              </a:lnSpc>
              <a:buNone/>
            </a:pPr>
            <a:r>
              <a:rPr lang="en-US" sz="1200" dirty="0">
                <a:solidFill>
                  <a:srgbClr val="9AA0A7"/>
                </a:solidFill>
                <a:latin typeface="Calibri" pitchFamily="34" charset="0"/>
                <a:ea typeface="Calibri" pitchFamily="34" charset="-122"/>
                <a:cs typeface="Calibri" pitchFamily="34" charset="-120"/>
              </a:rPr>
              <a:t>QWK untuk tebakan yang sama persis</a:t>
            </a:r>
            <a:endParaRPr lang="en-US" sz="1200" dirty="0"/>
          </a:p>
        </p:txBody>
      </p:sp>
      <p:sp>
        <p:nvSpPr>
          <p:cNvPr id="10" name="Text 8"/>
          <p:cNvSpPr/>
          <p:nvPr/>
        </p:nvSpPr>
        <p:spPr>
          <a:xfrm>
            <a:off x="640080" y="4526280"/>
            <a:ext cx="10607040" cy="548640"/>
          </a:xfrm>
          <a:prstGeom prst="rect">
            <a:avLst/>
          </a:prstGeom>
          <a:noFill/>
          <a:ln/>
        </p:spPr>
        <p:txBody>
          <a:bodyPr wrap="square" lIns="0" tIns="0" rIns="0" bIns="0" rtlCol="0" anchor="ctr"/>
          <a:lstStyle/>
          <a:p>
            <a:pPr indent="0" marL="0">
              <a:lnSpc>
                <a:spcPts val="2200"/>
              </a:lnSpc>
              <a:buNone/>
            </a:pPr>
            <a:r>
              <a:rPr lang="en-US" sz="1550" dirty="0">
                <a:solidFill>
                  <a:srgbClr val="9AA0A7"/>
                </a:solidFill>
                <a:latin typeface="Calibri" pitchFamily="34" charset="0"/>
                <a:ea typeface="Calibri" pitchFamily="34" charset="-122"/>
                <a:cs typeface="Calibri" pitchFamily="34" charset="-120"/>
              </a:rPr>
              <a:t>Metrik lomba ini tidak memberi imbalan pada tebakan aman. Seluruh strategi kami turun dari satu fakta itu.</a:t>
            </a:r>
            <a:endParaRPr lang="en-US" sz="1550" dirty="0"/>
          </a:p>
        </p:txBody>
      </p:sp>
      <p:sp>
        <p:nvSpPr>
          <p:cNvPr id="12" name="Text 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3" name="Text 1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QWK menghitung jarak, bukan salah atau benar.</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Bobot penaltinya kuadratik, jadi seberapa jauh melesetnya yang dihukum.</a:t>
            </a:r>
            <a:endParaRPr lang="en-US" sz="1400" dirty="0"/>
          </a:p>
        </p:txBody>
      </p:sp>
      <p:sp>
        <p:nvSpPr>
          <p:cNvPr id="4" name="Text 2"/>
          <p:cNvSpPr/>
          <p:nvPr/>
        </p:nvSpPr>
        <p:spPr>
          <a:xfrm>
            <a:off x="3977640" y="1801368"/>
            <a:ext cx="3730752" cy="237744"/>
          </a:xfrm>
          <a:prstGeom prst="rect">
            <a:avLst/>
          </a:prstGeom>
          <a:noFill/>
          <a:ln/>
        </p:spPr>
        <p:txBody>
          <a:bodyPr wrap="square" lIns="0" tIns="0" rIns="0" bIns="0" rtlCol="0" anchor="ctr"/>
          <a:lstStyle/>
          <a:p>
            <a:pPr algn="ctr" indent="0" marL="0">
              <a:buNone/>
            </a:pPr>
            <a:r>
              <a:rPr lang="en-US" sz="1100" b="1" dirty="0">
                <a:solidFill>
                  <a:srgbClr val="6E747C"/>
                </a:solidFill>
                <a:latin typeface="Calibri" pitchFamily="34" charset="0"/>
                <a:ea typeface="Calibri" pitchFamily="34" charset="-122"/>
                <a:cs typeface="Calibri" pitchFamily="34" charset="-120"/>
              </a:rPr>
              <a:t>prediksi</a:t>
            </a:r>
            <a:endParaRPr lang="en-US" sz="1100" dirty="0"/>
          </a:p>
        </p:txBody>
      </p:sp>
      <p:sp>
        <p:nvSpPr>
          <p:cNvPr id="5" name="Text 3"/>
          <p:cNvSpPr/>
          <p:nvPr/>
        </p:nvSpPr>
        <p:spPr>
          <a:xfrm>
            <a:off x="3977640" y="2130552"/>
            <a:ext cx="932688" cy="274320"/>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4910328" y="2130552"/>
            <a:ext cx="932688" cy="274320"/>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2</a:t>
            </a:r>
            <a:endParaRPr lang="en-US" sz="1200" dirty="0"/>
          </a:p>
        </p:txBody>
      </p:sp>
      <p:sp>
        <p:nvSpPr>
          <p:cNvPr id="7" name="Text 5"/>
          <p:cNvSpPr/>
          <p:nvPr/>
        </p:nvSpPr>
        <p:spPr>
          <a:xfrm>
            <a:off x="5843016" y="2130552"/>
            <a:ext cx="932688" cy="274320"/>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3</a:t>
            </a:r>
            <a:endParaRPr lang="en-US" sz="1200" dirty="0"/>
          </a:p>
        </p:txBody>
      </p:sp>
      <p:sp>
        <p:nvSpPr>
          <p:cNvPr id="8" name="Text 6"/>
          <p:cNvSpPr/>
          <p:nvPr/>
        </p:nvSpPr>
        <p:spPr>
          <a:xfrm>
            <a:off x="6775704" y="2130552"/>
            <a:ext cx="932688" cy="274320"/>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4</a:t>
            </a:r>
            <a:endParaRPr lang="en-US" sz="1200" dirty="0"/>
          </a:p>
        </p:txBody>
      </p:sp>
      <p:sp>
        <p:nvSpPr>
          <p:cNvPr id="9" name="Text 7"/>
          <p:cNvSpPr/>
          <p:nvPr/>
        </p:nvSpPr>
        <p:spPr>
          <a:xfrm>
            <a:off x="2423160" y="3694176"/>
            <a:ext cx="822960" cy="274320"/>
          </a:xfrm>
          <a:prstGeom prst="rect">
            <a:avLst/>
          </a:prstGeom>
          <a:noFill/>
          <a:ln/>
        </p:spPr>
        <p:txBody>
          <a:bodyPr wrap="square" lIns="0" tIns="0" rIns="0" bIns="0" rtlCol="0" anchor="ctr"/>
          <a:lstStyle/>
          <a:p>
            <a:pPr algn="r" indent="0" marL="0">
              <a:buNone/>
            </a:pPr>
            <a:r>
              <a:rPr lang="en-US" sz="1100" b="1" dirty="0">
                <a:solidFill>
                  <a:srgbClr val="6E747C"/>
                </a:solidFill>
                <a:latin typeface="Calibri" pitchFamily="34" charset="0"/>
                <a:ea typeface="Calibri" pitchFamily="34" charset="-122"/>
                <a:cs typeface="Calibri" pitchFamily="34" charset="-120"/>
              </a:rPr>
              <a:t>aktual</a:t>
            </a:r>
            <a:endParaRPr lang="en-US" sz="1100" dirty="0"/>
          </a:p>
        </p:txBody>
      </p:sp>
      <p:sp>
        <p:nvSpPr>
          <p:cNvPr id="10" name="Text 8"/>
          <p:cNvSpPr/>
          <p:nvPr/>
        </p:nvSpPr>
        <p:spPr>
          <a:xfrm>
            <a:off x="3520440" y="2514600"/>
            <a:ext cx="310896" cy="658368"/>
          </a:xfrm>
          <a:prstGeom prst="rect">
            <a:avLst/>
          </a:prstGeom>
          <a:noFill/>
          <a:ln/>
        </p:spPr>
        <p:txBody>
          <a:bodyPr wrap="square" lIns="0" tIns="0" rIns="0" bIns="0" rtlCol="0" anchor="ctr"/>
          <a:lstStyle/>
          <a:p>
            <a:pPr algn="r" indent="0" marL="0">
              <a:buNone/>
            </a:pPr>
            <a:r>
              <a:rPr lang="en-US" sz="1200" b="1" dirty="0">
                <a:solidFill>
                  <a:srgbClr val="3A4048"/>
                </a:solidFill>
                <a:latin typeface="Calibri" pitchFamily="34" charset="0"/>
                <a:ea typeface="Calibri" pitchFamily="34" charset="-122"/>
                <a:cs typeface="Calibri" pitchFamily="34" charset="-120"/>
              </a:rPr>
              <a:t>1</a:t>
            </a:r>
            <a:endParaRPr lang="en-US" sz="1200" dirty="0"/>
          </a:p>
        </p:txBody>
      </p:sp>
      <p:sp>
        <p:nvSpPr>
          <p:cNvPr id="11" name="Shape 9"/>
          <p:cNvSpPr/>
          <p:nvPr/>
        </p:nvSpPr>
        <p:spPr>
          <a:xfrm>
            <a:off x="3977640" y="2514600"/>
            <a:ext cx="877824" cy="603504"/>
          </a:xfrm>
          <a:prstGeom prst="rect">
            <a:avLst/>
          </a:prstGeom>
          <a:solidFill>
            <a:srgbClr val="F4F1EC"/>
          </a:solidFill>
          <a:ln w="15240">
            <a:solidFill>
              <a:srgbClr val="FFFFFF"/>
            </a:solidFill>
            <a:prstDash val="solid"/>
          </a:ln>
        </p:spPr>
      </p:sp>
      <p:sp>
        <p:nvSpPr>
          <p:cNvPr id="12" name="Text 10"/>
          <p:cNvSpPr/>
          <p:nvPr/>
        </p:nvSpPr>
        <p:spPr>
          <a:xfrm>
            <a:off x="3977640" y="2514600"/>
            <a:ext cx="877824" cy="603504"/>
          </a:xfrm>
          <a:prstGeom prst="rect">
            <a:avLst/>
          </a:prstGeom>
          <a:noFill/>
          <a:ln/>
        </p:spPr>
        <p:txBody>
          <a:bodyPr wrap="square" lIns="0" tIns="0" rIns="0" bIns="0" rtlCol="0" anchor="ctr"/>
          <a:lstStyle/>
          <a:p>
            <a:pPr algn="ctr" indent="0" marL="0">
              <a:buNone/>
            </a:pPr>
            <a:r>
              <a:rPr lang="en-US" sz="1700" b="1" dirty="0">
                <a:solidFill>
                  <a:srgbClr val="9AA0A7"/>
                </a:solidFill>
                <a:latin typeface="Cambria" pitchFamily="34" charset="0"/>
                <a:ea typeface="Cambria" pitchFamily="34" charset="-122"/>
                <a:cs typeface="Cambria" pitchFamily="34" charset="-120"/>
              </a:rPr>
              <a:t>0</a:t>
            </a:r>
            <a:endParaRPr lang="en-US" sz="1700" dirty="0"/>
          </a:p>
        </p:txBody>
      </p:sp>
      <p:sp>
        <p:nvSpPr>
          <p:cNvPr id="13" name="Shape 11"/>
          <p:cNvSpPr/>
          <p:nvPr/>
        </p:nvSpPr>
        <p:spPr>
          <a:xfrm>
            <a:off x="4910328" y="2514600"/>
            <a:ext cx="877824" cy="603504"/>
          </a:xfrm>
          <a:prstGeom prst="rect">
            <a:avLst/>
          </a:prstGeom>
          <a:solidFill>
            <a:srgbClr val="8FB0A4"/>
          </a:solidFill>
          <a:ln w="15240">
            <a:solidFill>
              <a:srgbClr val="FFFFFF"/>
            </a:solidFill>
            <a:prstDash val="solid"/>
          </a:ln>
        </p:spPr>
      </p:sp>
      <p:sp>
        <p:nvSpPr>
          <p:cNvPr id="14" name="Text 12"/>
          <p:cNvSpPr/>
          <p:nvPr/>
        </p:nvSpPr>
        <p:spPr>
          <a:xfrm>
            <a:off x="4910328" y="2514600"/>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1</a:t>
            </a:r>
            <a:endParaRPr lang="en-US" sz="1700" dirty="0"/>
          </a:p>
        </p:txBody>
      </p:sp>
      <p:sp>
        <p:nvSpPr>
          <p:cNvPr id="15" name="Shape 13"/>
          <p:cNvSpPr/>
          <p:nvPr/>
        </p:nvSpPr>
        <p:spPr>
          <a:xfrm>
            <a:off x="5843016" y="2514600"/>
            <a:ext cx="877824" cy="603504"/>
          </a:xfrm>
          <a:prstGeom prst="rect">
            <a:avLst/>
          </a:prstGeom>
          <a:solidFill>
            <a:srgbClr val="D8A25E"/>
          </a:solidFill>
          <a:ln w="15240">
            <a:solidFill>
              <a:srgbClr val="FFFFFF"/>
            </a:solidFill>
            <a:prstDash val="solid"/>
          </a:ln>
        </p:spPr>
      </p:sp>
      <p:sp>
        <p:nvSpPr>
          <p:cNvPr id="16" name="Text 14"/>
          <p:cNvSpPr/>
          <p:nvPr/>
        </p:nvSpPr>
        <p:spPr>
          <a:xfrm>
            <a:off x="5843016" y="2514600"/>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4</a:t>
            </a:r>
            <a:endParaRPr lang="en-US" sz="1700" dirty="0"/>
          </a:p>
        </p:txBody>
      </p:sp>
      <p:sp>
        <p:nvSpPr>
          <p:cNvPr id="17" name="Shape 15"/>
          <p:cNvSpPr/>
          <p:nvPr/>
        </p:nvSpPr>
        <p:spPr>
          <a:xfrm>
            <a:off x="6775704" y="2514600"/>
            <a:ext cx="877824" cy="603504"/>
          </a:xfrm>
          <a:prstGeom prst="rect">
            <a:avLst/>
          </a:prstGeom>
          <a:solidFill>
            <a:srgbClr val="A8442A"/>
          </a:solidFill>
          <a:ln w="15240">
            <a:solidFill>
              <a:srgbClr val="FFFFFF"/>
            </a:solidFill>
            <a:prstDash val="solid"/>
          </a:ln>
        </p:spPr>
      </p:sp>
      <p:sp>
        <p:nvSpPr>
          <p:cNvPr id="18" name="Text 16"/>
          <p:cNvSpPr/>
          <p:nvPr/>
        </p:nvSpPr>
        <p:spPr>
          <a:xfrm>
            <a:off x="6775704" y="2514600"/>
            <a:ext cx="877824"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9</a:t>
            </a:r>
            <a:endParaRPr lang="en-US" sz="1700" dirty="0"/>
          </a:p>
        </p:txBody>
      </p:sp>
      <p:sp>
        <p:nvSpPr>
          <p:cNvPr id="19" name="Text 17"/>
          <p:cNvSpPr/>
          <p:nvPr/>
        </p:nvSpPr>
        <p:spPr>
          <a:xfrm>
            <a:off x="3520440" y="3172968"/>
            <a:ext cx="310896" cy="658368"/>
          </a:xfrm>
          <a:prstGeom prst="rect">
            <a:avLst/>
          </a:prstGeom>
          <a:noFill/>
          <a:ln/>
        </p:spPr>
        <p:txBody>
          <a:bodyPr wrap="square" lIns="0" tIns="0" rIns="0" bIns="0" rtlCol="0" anchor="ctr"/>
          <a:lstStyle/>
          <a:p>
            <a:pPr algn="r" indent="0" marL="0">
              <a:buNone/>
            </a:pPr>
            <a:r>
              <a:rPr lang="en-US" sz="1200" b="1" dirty="0">
                <a:solidFill>
                  <a:srgbClr val="3A4048"/>
                </a:solidFill>
                <a:latin typeface="Calibri" pitchFamily="34" charset="0"/>
                <a:ea typeface="Calibri" pitchFamily="34" charset="-122"/>
                <a:cs typeface="Calibri" pitchFamily="34" charset="-120"/>
              </a:rPr>
              <a:t>2</a:t>
            </a:r>
            <a:endParaRPr lang="en-US" sz="1200" dirty="0"/>
          </a:p>
        </p:txBody>
      </p:sp>
      <p:sp>
        <p:nvSpPr>
          <p:cNvPr id="20" name="Shape 18"/>
          <p:cNvSpPr/>
          <p:nvPr/>
        </p:nvSpPr>
        <p:spPr>
          <a:xfrm>
            <a:off x="3977640" y="3172968"/>
            <a:ext cx="877824" cy="603504"/>
          </a:xfrm>
          <a:prstGeom prst="rect">
            <a:avLst/>
          </a:prstGeom>
          <a:solidFill>
            <a:srgbClr val="8FB0A4"/>
          </a:solidFill>
          <a:ln w="15240">
            <a:solidFill>
              <a:srgbClr val="FFFFFF"/>
            </a:solidFill>
            <a:prstDash val="solid"/>
          </a:ln>
        </p:spPr>
      </p:sp>
      <p:sp>
        <p:nvSpPr>
          <p:cNvPr id="21" name="Text 19"/>
          <p:cNvSpPr/>
          <p:nvPr/>
        </p:nvSpPr>
        <p:spPr>
          <a:xfrm>
            <a:off x="3977640" y="3172968"/>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1</a:t>
            </a:r>
            <a:endParaRPr lang="en-US" sz="1700" dirty="0"/>
          </a:p>
        </p:txBody>
      </p:sp>
      <p:sp>
        <p:nvSpPr>
          <p:cNvPr id="22" name="Shape 20"/>
          <p:cNvSpPr/>
          <p:nvPr/>
        </p:nvSpPr>
        <p:spPr>
          <a:xfrm>
            <a:off x="4910328" y="3172968"/>
            <a:ext cx="877824" cy="603504"/>
          </a:xfrm>
          <a:prstGeom prst="rect">
            <a:avLst/>
          </a:prstGeom>
          <a:solidFill>
            <a:srgbClr val="F4F1EC"/>
          </a:solidFill>
          <a:ln w="15240">
            <a:solidFill>
              <a:srgbClr val="FFFFFF"/>
            </a:solidFill>
            <a:prstDash val="solid"/>
          </a:ln>
        </p:spPr>
      </p:sp>
      <p:sp>
        <p:nvSpPr>
          <p:cNvPr id="23" name="Text 21"/>
          <p:cNvSpPr/>
          <p:nvPr/>
        </p:nvSpPr>
        <p:spPr>
          <a:xfrm>
            <a:off x="4910328" y="3172968"/>
            <a:ext cx="877824" cy="603504"/>
          </a:xfrm>
          <a:prstGeom prst="rect">
            <a:avLst/>
          </a:prstGeom>
          <a:noFill/>
          <a:ln/>
        </p:spPr>
        <p:txBody>
          <a:bodyPr wrap="square" lIns="0" tIns="0" rIns="0" bIns="0" rtlCol="0" anchor="ctr"/>
          <a:lstStyle/>
          <a:p>
            <a:pPr algn="ctr" indent="0" marL="0">
              <a:buNone/>
            </a:pPr>
            <a:r>
              <a:rPr lang="en-US" sz="1700" b="1" dirty="0">
                <a:solidFill>
                  <a:srgbClr val="9AA0A7"/>
                </a:solidFill>
                <a:latin typeface="Cambria" pitchFamily="34" charset="0"/>
                <a:ea typeface="Cambria" pitchFamily="34" charset="-122"/>
                <a:cs typeface="Cambria" pitchFamily="34" charset="-120"/>
              </a:rPr>
              <a:t>0</a:t>
            </a:r>
            <a:endParaRPr lang="en-US" sz="1700" dirty="0"/>
          </a:p>
        </p:txBody>
      </p:sp>
      <p:sp>
        <p:nvSpPr>
          <p:cNvPr id="24" name="Shape 22"/>
          <p:cNvSpPr/>
          <p:nvPr/>
        </p:nvSpPr>
        <p:spPr>
          <a:xfrm>
            <a:off x="5843016" y="3172968"/>
            <a:ext cx="877824" cy="603504"/>
          </a:xfrm>
          <a:prstGeom prst="rect">
            <a:avLst/>
          </a:prstGeom>
          <a:solidFill>
            <a:srgbClr val="8FB0A4"/>
          </a:solidFill>
          <a:ln w="15240">
            <a:solidFill>
              <a:srgbClr val="FFFFFF"/>
            </a:solidFill>
            <a:prstDash val="solid"/>
          </a:ln>
        </p:spPr>
      </p:sp>
      <p:sp>
        <p:nvSpPr>
          <p:cNvPr id="25" name="Text 23"/>
          <p:cNvSpPr/>
          <p:nvPr/>
        </p:nvSpPr>
        <p:spPr>
          <a:xfrm>
            <a:off x="5843016" y="3172968"/>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1</a:t>
            </a:r>
            <a:endParaRPr lang="en-US" sz="1700" dirty="0"/>
          </a:p>
        </p:txBody>
      </p:sp>
      <p:sp>
        <p:nvSpPr>
          <p:cNvPr id="26" name="Shape 24"/>
          <p:cNvSpPr/>
          <p:nvPr/>
        </p:nvSpPr>
        <p:spPr>
          <a:xfrm>
            <a:off x="6775704" y="3172968"/>
            <a:ext cx="877824" cy="603504"/>
          </a:xfrm>
          <a:prstGeom prst="rect">
            <a:avLst/>
          </a:prstGeom>
          <a:solidFill>
            <a:srgbClr val="D8A25E"/>
          </a:solidFill>
          <a:ln w="15240">
            <a:solidFill>
              <a:srgbClr val="FFFFFF"/>
            </a:solidFill>
            <a:prstDash val="solid"/>
          </a:ln>
        </p:spPr>
      </p:sp>
      <p:sp>
        <p:nvSpPr>
          <p:cNvPr id="27" name="Text 25"/>
          <p:cNvSpPr/>
          <p:nvPr/>
        </p:nvSpPr>
        <p:spPr>
          <a:xfrm>
            <a:off x="6775704" y="3172968"/>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4</a:t>
            </a:r>
            <a:endParaRPr lang="en-US" sz="1700" dirty="0"/>
          </a:p>
        </p:txBody>
      </p:sp>
      <p:sp>
        <p:nvSpPr>
          <p:cNvPr id="28" name="Text 26"/>
          <p:cNvSpPr/>
          <p:nvPr/>
        </p:nvSpPr>
        <p:spPr>
          <a:xfrm>
            <a:off x="3520440" y="3831336"/>
            <a:ext cx="310896" cy="658368"/>
          </a:xfrm>
          <a:prstGeom prst="rect">
            <a:avLst/>
          </a:prstGeom>
          <a:noFill/>
          <a:ln/>
        </p:spPr>
        <p:txBody>
          <a:bodyPr wrap="square" lIns="0" tIns="0" rIns="0" bIns="0" rtlCol="0" anchor="ctr"/>
          <a:lstStyle/>
          <a:p>
            <a:pPr algn="r" indent="0" marL="0">
              <a:buNone/>
            </a:pPr>
            <a:r>
              <a:rPr lang="en-US" sz="1200" b="1" dirty="0">
                <a:solidFill>
                  <a:srgbClr val="3A4048"/>
                </a:solidFill>
                <a:latin typeface="Calibri" pitchFamily="34" charset="0"/>
                <a:ea typeface="Calibri" pitchFamily="34" charset="-122"/>
                <a:cs typeface="Calibri" pitchFamily="34" charset="-120"/>
              </a:rPr>
              <a:t>3</a:t>
            </a:r>
            <a:endParaRPr lang="en-US" sz="1200" dirty="0"/>
          </a:p>
        </p:txBody>
      </p:sp>
      <p:sp>
        <p:nvSpPr>
          <p:cNvPr id="29" name="Shape 27"/>
          <p:cNvSpPr/>
          <p:nvPr/>
        </p:nvSpPr>
        <p:spPr>
          <a:xfrm>
            <a:off x="3977640" y="3831336"/>
            <a:ext cx="877824" cy="603504"/>
          </a:xfrm>
          <a:prstGeom prst="rect">
            <a:avLst/>
          </a:prstGeom>
          <a:solidFill>
            <a:srgbClr val="D8A25E"/>
          </a:solidFill>
          <a:ln w="15240">
            <a:solidFill>
              <a:srgbClr val="FFFFFF"/>
            </a:solidFill>
            <a:prstDash val="solid"/>
          </a:ln>
        </p:spPr>
      </p:sp>
      <p:sp>
        <p:nvSpPr>
          <p:cNvPr id="30" name="Text 28"/>
          <p:cNvSpPr/>
          <p:nvPr/>
        </p:nvSpPr>
        <p:spPr>
          <a:xfrm>
            <a:off x="3977640" y="3831336"/>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4</a:t>
            </a:r>
            <a:endParaRPr lang="en-US" sz="1700" dirty="0"/>
          </a:p>
        </p:txBody>
      </p:sp>
      <p:sp>
        <p:nvSpPr>
          <p:cNvPr id="31" name="Shape 29"/>
          <p:cNvSpPr/>
          <p:nvPr/>
        </p:nvSpPr>
        <p:spPr>
          <a:xfrm>
            <a:off x="4910328" y="3831336"/>
            <a:ext cx="877824" cy="603504"/>
          </a:xfrm>
          <a:prstGeom prst="rect">
            <a:avLst/>
          </a:prstGeom>
          <a:solidFill>
            <a:srgbClr val="8FB0A4"/>
          </a:solidFill>
          <a:ln w="15240">
            <a:solidFill>
              <a:srgbClr val="FFFFFF"/>
            </a:solidFill>
            <a:prstDash val="solid"/>
          </a:ln>
        </p:spPr>
      </p:sp>
      <p:sp>
        <p:nvSpPr>
          <p:cNvPr id="32" name="Text 30"/>
          <p:cNvSpPr/>
          <p:nvPr/>
        </p:nvSpPr>
        <p:spPr>
          <a:xfrm>
            <a:off x="4910328" y="3831336"/>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1</a:t>
            </a:r>
            <a:endParaRPr lang="en-US" sz="1700" dirty="0"/>
          </a:p>
        </p:txBody>
      </p:sp>
      <p:sp>
        <p:nvSpPr>
          <p:cNvPr id="33" name="Shape 31"/>
          <p:cNvSpPr/>
          <p:nvPr/>
        </p:nvSpPr>
        <p:spPr>
          <a:xfrm>
            <a:off x="5843016" y="3831336"/>
            <a:ext cx="877824" cy="603504"/>
          </a:xfrm>
          <a:prstGeom prst="rect">
            <a:avLst/>
          </a:prstGeom>
          <a:solidFill>
            <a:srgbClr val="F4F1EC"/>
          </a:solidFill>
          <a:ln w="15240">
            <a:solidFill>
              <a:srgbClr val="FFFFFF"/>
            </a:solidFill>
            <a:prstDash val="solid"/>
          </a:ln>
        </p:spPr>
      </p:sp>
      <p:sp>
        <p:nvSpPr>
          <p:cNvPr id="34" name="Text 32"/>
          <p:cNvSpPr/>
          <p:nvPr/>
        </p:nvSpPr>
        <p:spPr>
          <a:xfrm>
            <a:off x="5843016" y="3831336"/>
            <a:ext cx="877824" cy="603504"/>
          </a:xfrm>
          <a:prstGeom prst="rect">
            <a:avLst/>
          </a:prstGeom>
          <a:noFill/>
          <a:ln/>
        </p:spPr>
        <p:txBody>
          <a:bodyPr wrap="square" lIns="0" tIns="0" rIns="0" bIns="0" rtlCol="0" anchor="ctr"/>
          <a:lstStyle/>
          <a:p>
            <a:pPr algn="ctr" indent="0" marL="0">
              <a:buNone/>
            </a:pPr>
            <a:r>
              <a:rPr lang="en-US" sz="1700" b="1" dirty="0">
                <a:solidFill>
                  <a:srgbClr val="9AA0A7"/>
                </a:solidFill>
                <a:latin typeface="Cambria" pitchFamily="34" charset="0"/>
                <a:ea typeface="Cambria" pitchFamily="34" charset="-122"/>
                <a:cs typeface="Cambria" pitchFamily="34" charset="-120"/>
              </a:rPr>
              <a:t>0</a:t>
            </a:r>
            <a:endParaRPr lang="en-US" sz="1700" dirty="0"/>
          </a:p>
        </p:txBody>
      </p:sp>
      <p:sp>
        <p:nvSpPr>
          <p:cNvPr id="35" name="Shape 33"/>
          <p:cNvSpPr/>
          <p:nvPr/>
        </p:nvSpPr>
        <p:spPr>
          <a:xfrm>
            <a:off x="6775704" y="3831336"/>
            <a:ext cx="877824" cy="603504"/>
          </a:xfrm>
          <a:prstGeom prst="rect">
            <a:avLst/>
          </a:prstGeom>
          <a:solidFill>
            <a:srgbClr val="8FB0A4"/>
          </a:solidFill>
          <a:ln w="15240">
            <a:solidFill>
              <a:srgbClr val="FFFFFF"/>
            </a:solidFill>
            <a:prstDash val="solid"/>
          </a:ln>
        </p:spPr>
      </p:sp>
      <p:sp>
        <p:nvSpPr>
          <p:cNvPr id="36" name="Text 34"/>
          <p:cNvSpPr/>
          <p:nvPr/>
        </p:nvSpPr>
        <p:spPr>
          <a:xfrm>
            <a:off x="6775704" y="3831336"/>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1</a:t>
            </a:r>
            <a:endParaRPr lang="en-US" sz="1700" dirty="0"/>
          </a:p>
        </p:txBody>
      </p:sp>
      <p:sp>
        <p:nvSpPr>
          <p:cNvPr id="37" name="Text 35"/>
          <p:cNvSpPr/>
          <p:nvPr/>
        </p:nvSpPr>
        <p:spPr>
          <a:xfrm>
            <a:off x="3520440" y="4489704"/>
            <a:ext cx="310896" cy="658368"/>
          </a:xfrm>
          <a:prstGeom prst="rect">
            <a:avLst/>
          </a:prstGeom>
          <a:noFill/>
          <a:ln/>
        </p:spPr>
        <p:txBody>
          <a:bodyPr wrap="square" lIns="0" tIns="0" rIns="0" bIns="0" rtlCol="0" anchor="ctr"/>
          <a:lstStyle/>
          <a:p>
            <a:pPr algn="r" indent="0" marL="0">
              <a:buNone/>
            </a:pPr>
            <a:r>
              <a:rPr lang="en-US" sz="1200" b="1" dirty="0">
                <a:solidFill>
                  <a:srgbClr val="3A4048"/>
                </a:solidFill>
                <a:latin typeface="Calibri" pitchFamily="34" charset="0"/>
                <a:ea typeface="Calibri" pitchFamily="34" charset="-122"/>
                <a:cs typeface="Calibri" pitchFamily="34" charset="-120"/>
              </a:rPr>
              <a:t>4</a:t>
            </a:r>
            <a:endParaRPr lang="en-US" sz="1200" dirty="0"/>
          </a:p>
        </p:txBody>
      </p:sp>
      <p:sp>
        <p:nvSpPr>
          <p:cNvPr id="38" name="Shape 36"/>
          <p:cNvSpPr/>
          <p:nvPr/>
        </p:nvSpPr>
        <p:spPr>
          <a:xfrm>
            <a:off x="3977640" y="4489704"/>
            <a:ext cx="877824" cy="603504"/>
          </a:xfrm>
          <a:prstGeom prst="rect">
            <a:avLst/>
          </a:prstGeom>
          <a:solidFill>
            <a:srgbClr val="A8442A"/>
          </a:solidFill>
          <a:ln w="15240">
            <a:solidFill>
              <a:srgbClr val="FFFFFF"/>
            </a:solidFill>
            <a:prstDash val="solid"/>
          </a:ln>
        </p:spPr>
      </p:sp>
      <p:sp>
        <p:nvSpPr>
          <p:cNvPr id="39" name="Text 37"/>
          <p:cNvSpPr/>
          <p:nvPr/>
        </p:nvSpPr>
        <p:spPr>
          <a:xfrm>
            <a:off x="3977640" y="4489704"/>
            <a:ext cx="877824"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9</a:t>
            </a:r>
            <a:endParaRPr lang="en-US" sz="1700" dirty="0"/>
          </a:p>
        </p:txBody>
      </p:sp>
      <p:sp>
        <p:nvSpPr>
          <p:cNvPr id="40" name="Shape 38"/>
          <p:cNvSpPr/>
          <p:nvPr/>
        </p:nvSpPr>
        <p:spPr>
          <a:xfrm>
            <a:off x="4910328" y="4489704"/>
            <a:ext cx="877824" cy="603504"/>
          </a:xfrm>
          <a:prstGeom prst="rect">
            <a:avLst/>
          </a:prstGeom>
          <a:solidFill>
            <a:srgbClr val="D8A25E"/>
          </a:solidFill>
          <a:ln w="15240">
            <a:solidFill>
              <a:srgbClr val="FFFFFF"/>
            </a:solidFill>
            <a:prstDash val="solid"/>
          </a:ln>
        </p:spPr>
      </p:sp>
      <p:sp>
        <p:nvSpPr>
          <p:cNvPr id="41" name="Text 39"/>
          <p:cNvSpPr/>
          <p:nvPr/>
        </p:nvSpPr>
        <p:spPr>
          <a:xfrm>
            <a:off x="4910328" y="4489704"/>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4</a:t>
            </a:r>
            <a:endParaRPr lang="en-US" sz="1700" dirty="0"/>
          </a:p>
        </p:txBody>
      </p:sp>
      <p:sp>
        <p:nvSpPr>
          <p:cNvPr id="42" name="Shape 40"/>
          <p:cNvSpPr/>
          <p:nvPr/>
        </p:nvSpPr>
        <p:spPr>
          <a:xfrm>
            <a:off x="5843016" y="4489704"/>
            <a:ext cx="877824" cy="603504"/>
          </a:xfrm>
          <a:prstGeom prst="rect">
            <a:avLst/>
          </a:prstGeom>
          <a:solidFill>
            <a:srgbClr val="8FB0A4"/>
          </a:solidFill>
          <a:ln w="15240">
            <a:solidFill>
              <a:srgbClr val="FFFFFF"/>
            </a:solidFill>
            <a:prstDash val="solid"/>
          </a:ln>
        </p:spPr>
      </p:sp>
      <p:sp>
        <p:nvSpPr>
          <p:cNvPr id="43" name="Text 41"/>
          <p:cNvSpPr/>
          <p:nvPr/>
        </p:nvSpPr>
        <p:spPr>
          <a:xfrm>
            <a:off x="5843016" y="4489704"/>
            <a:ext cx="877824" cy="603504"/>
          </a:xfrm>
          <a:prstGeom prst="rect">
            <a:avLst/>
          </a:prstGeom>
          <a:noFill/>
          <a:ln/>
        </p:spPr>
        <p:txBody>
          <a:bodyPr wrap="square" lIns="0" tIns="0" rIns="0" bIns="0" rtlCol="0" anchor="ctr"/>
          <a:lstStyle/>
          <a:p>
            <a:pPr algn="ctr" indent="0" marL="0">
              <a:buNone/>
            </a:pPr>
            <a:r>
              <a:rPr lang="en-US" sz="1700" b="1" dirty="0">
                <a:solidFill>
                  <a:srgbClr val="16191D"/>
                </a:solidFill>
                <a:latin typeface="Cambria" pitchFamily="34" charset="0"/>
                <a:ea typeface="Cambria" pitchFamily="34" charset="-122"/>
                <a:cs typeface="Cambria" pitchFamily="34" charset="-120"/>
              </a:rPr>
              <a:t>1</a:t>
            </a:r>
            <a:endParaRPr lang="en-US" sz="1700" dirty="0"/>
          </a:p>
        </p:txBody>
      </p:sp>
      <p:sp>
        <p:nvSpPr>
          <p:cNvPr id="44" name="Shape 42"/>
          <p:cNvSpPr/>
          <p:nvPr/>
        </p:nvSpPr>
        <p:spPr>
          <a:xfrm>
            <a:off x="6775704" y="4489704"/>
            <a:ext cx="877824" cy="603504"/>
          </a:xfrm>
          <a:prstGeom prst="rect">
            <a:avLst/>
          </a:prstGeom>
          <a:solidFill>
            <a:srgbClr val="F4F1EC"/>
          </a:solidFill>
          <a:ln w="15240">
            <a:solidFill>
              <a:srgbClr val="FFFFFF"/>
            </a:solidFill>
            <a:prstDash val="solid"/>
          </a:ln>
        </p:spPr>
      </p:sp>
      <p:sp>
        <p:nvSpPr>
          <p:cNvPr id="45" name="Text 43"/>
          <p:cNvSpPr/>
          <p:nvPr/>
        </p:nvSpPr>
        <p:spPr>
          <a:xfrm>
            <a:off x="6775704" y="4489704"/>
            <a:ext cx="877824" cy="603504"/>
          </a:xfrm>
          <a:prstGeom prst="rect">
            <a:avLst/>
          </a:prstGeom>
          <a:noFill/>
          <a:ln/>
        </p:spPr>
        <p:txBody>
          <a:bodyPr wrap="square" lIns="0" tIns="0" rIns="0" bIns="0" rtlCol="0" anchor="ctr"/>
          <a:lstStyle/>
          <a:p>
            <a:pPr algn="ctr" indent="0" marL="0">
              <a:buNone/>
            </a:pPr>
            <a:r>
              <a:rPr lang="en-US" sz="1700" b="1" dirty="0">
                <a:solidFill>
                  <a:srgbClr val="9AA0A7"/>
                </a:solidFill>
                <a:latin typeface="Cambria" pitchFamily="34" charset="0"/>
                <a:ea typeface="Cambria" pitchFamily="34" charset="-122"/>
                <a:cs typeface="Cambria" pitchFamily="34" charset="-120"/>
              </a:rPr>
              <a:t>0</a:t>
            </a:r>
            <a:endParaRPr lang="en-US" sz="1700" dirty="0"/>
          </a:p>
        </p:txBody>
      </p:sp>
      <p:sp>
        <p:nvSpPr>
          <p:cNvPr id="46" name="Text 44"/>
          <p:cNvSpPr/>
          <p:nvPr/>
        </p:nvSpPr>
        <p:spPr>
          <a:xfrm>
            <a:off x="640080" y="5394960"/>
            <a:ext cx="10911535" cy="365760"/>
          </a:xfrm>
          <a:prstGeom prst="rect">
            <a:avLst/>
          </a:prstGeom>
          <a:noFill/>
          <a:ln/>
        </p:spPr>
        <p:txBody>
          <a:bodyPr wrap="square" lIns="0" tIns="0" rIns="0" bIns="0" rtlCol="0" anchor="ctr"/>
          <a:lstStyle/>
          <a:p>
            <a:pPr algn="ctr" indent="0" marL="0">
              <a:buNone/>
            </a:pPr>
            <a:r>
              <a:rPr lang="en-US" sz="1400" dirty="0">
                <a:solidFill>
                  <a:srgbClr val="3A4048"/>
                </a:solidFill>
                <a:latin typeface="Calibri" pitchFamily="34" charset="0"/>
                <a:ea typeface="Calibri" pitchFamily="34" charset="-122"/>
                <a:cs typeface="Calibri" pitchFamily="34" charset="-120"/>
              </a:rPr>
              <a:t>Menebak kelas 4 sebagai 1 dihukum </a:t>
            </a:r>
            <a:pPr algn="ctr" indent="0" marL="0">
              <a:buNone/>
            </a:pPr>
            <a:r>
              <a:rPr lang="en-US" sz="1400" b="1" dirty="0">
                <a:solidFill>
                  <a:srgbClr val="A8442A"/>
                </a:solidFill>
                <a:latin typeface="Calibri" pitchFamily="34" charset="0"/>
                <a:ea typeface="Calibri" pitchFamily="34" charset="-122"/>
                <a:cs typeface="Calibri" pitchFamily="34" charset="-120"/>
              </a:rPr>
              <a:t>9 kali</a:t>
            </a:r>
            <a:pPr algn="ctr" indent="0" marL="0">
              <a:buNone/>
            </a:pPr>
            <a:r>
              <a:rPr lang="en-US" sz="1400" dirty="0">
                <a:solidFill>
                  <a:srgbClr val="3A4048"/>
                </a:solidFill>
                <a:latin typeface="Calibri" pitchFamily="34" charset="0"/>
                <a:ea typeface="Calibri" pitchFamily="34" charset="-122"/>
                <a:cs typeface="Calibri" pitchFamily="34" charset="-120"/>
              </a:rPr>
              <a:t> lebih berat daripada menebak 2 sebagai 1.</a:t>
            </a:r>
            <a:endParaRPr lang="en-US" sz="1400" dirty="0"/>
          </a:p>
        </p:txBody>
      </p:sp>
      <p:sp>
        <p:nvSpPr>
          <p:cNvPr id="48" name="Text 4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49" name="Text 4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Maka targetnya skala, bukan empat kotak terpisah.</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Kami memprediksi satu titik pada skala, lalu memotongnya dengan tiga ambang.</a:t>
            </a:r>
            <a:endParaRPr lang="en-US" sz="1400" dirty="0"/>
          </a:p>
        </p:txBody>
      </p:sp>
      <p:sp>
        <p:nvSpPr>
          <p:cNvPr id="4" name="Text 2"/>
          <p:cNvSpPr/>
          <p:nvPr/>
        </p:nvSpPr>
        <p:spPr>
          <a:xfrm>
            <a:off x="640080" y="2286000"/>
            <a:ext cx="10911535" cy="457200"/>
          </a:xfrm>
          <a:prstGeom prst="rect">
            <a:avLst/>
          </a:prstGeom>
          <a:noFill/>
          <a:ln/>
        </p:spPr>
        <p:txBody>
          <a:bodyPr wrap="square" lIns="0" tIns="0" rIns="0" bIns="0" rtlCol="0" anchor="ctr"/>
          <a:lstStyle/>
          <a:p>
            <a:pPr algn="ctr" indent="0" marL="0">
              <a:buNone/>
            </a:pPr>
            <a:r>
              <a:rPr lang="en-US" sz="2500" b="1" dirty="0">
                <a:solidFill>
                  <a:srgbClr val="16191D"/>
                </a:solidFill>
                <a:latin typeface="Cambria" pitchFamily="34" charset="0"/>
                <a:ea typeface="Cambria" pitchFamily="34" charset="-122"/>
                <a:cs typeface="Cambria" pitchFamily="34" charset="-120"/>
              </a:rPr>
              <a:t>E[y]  =  Σ pₖ · k</a:t>
            </a:r>
            <a:endParaRPr lang="en-US" sz="2500" dirty="0"/>
          </a:p>
        </p:txBody>
      </p:sp>
      <p:sp>
        <p:nvSpPr>
          <p:cNvPr id="5" name="Shape 3"/>
          <p:cNvSpPr/>
          <p:nvPr/>
        </p:nvSpPr>
        <p:spPr>
          <a:xfrm>
            <a:off x="1005840" y="3200400"/>
            <a:ext cx="2797803" cy="786384"/>
          </a:xfrm>
          <a:prstGeom prst="rect">
            <a:avLst/>
          </a:prstGeom>
          <a:solidFill>
            <a:srgbClr val="2F6B5F"/>
          </a:solidFill>
          <a:ln w="19050">
            <a:solidFill>
              <a:srgbClr val="FFFFFF"/>
            </a:solidFill>
            <a:prstDash val="solid"/>
          </a:ln>
        </p:spPr>
      </p:sp>
      <p:sp>
        <p:nvSpPr>
          <p:cNvPr id="6" name="Text 4"/>
          <p:cNvSpPr/>
          <p:nvPr/>
        </p:nvSpPr>
        <p:spPr>
          <a:xfrm>
            <a:off x="1005840" y="3200400"/>
            <a:ext cx="2797803"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kelas 1</a:t>
            </a:r>
            <a:endParaRPr lang="en-US" sz="1300" dirty="0"/>
          </a:p>
        </p:txBody>
      </p:sp>
      <p:sp>
        <p:nvSpPr>
          <p:cNvPr id="7" name="Shape 5"/>
          <p:cNvSpPr/>
          <p:nvPr/>
        </p:nvSpPr>
        <p:spPr>
          <a:xfrm>
            <a:off x="3803643" y="3200400"/>
            <a:ext cx="2302999" cy="786384"/>
          </a:xfrm>
          <a:prstGeom prst="rect">
            <a:avLst/>
          </a:prstGeom>
          <a:solidFill>
            <a:srgbClr val="8FB0A4"/>
          </a:solidFill>
          <a:ln w="19050">
            <a:solidFill>
              <a:srgbClr val="FFFFFF"/>
            </a:solidFill>
            <a:prstDash val="solid"/>
          </a:ln>
        </p:spPr>
      </p:sp>
      <p:sp>
        <p:nvSpPr>
          <p:cNvPr id="8" name="Text 6"/>
          <p:cNvSpPr/>
          <p:nvPr/>
        </p:nvSpPr>
        <p:spPr>
          <a:xfrm>
            <a:off x="3803643" y="3200400"/>
            <a:ext cx="2302999" cy="786384"/>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kelas 2</a:t>
            </a:r>
            <a:endParaRPr lang="en-US" sz="1300" dirty="0"/>
          </a:p>
        </p:txBody>
      </p:sp>
      <p:sp>
        <p:nvSpPr>
          <p:cNvPr id="9" name="Shape 7"/>
          <p:cNvSpPr/>
          <p:nvPr/>
        </p:nvSpPr>
        <p:spPr>
          <a:xfrm>
            <a:off x="6106642" y="3200400"/>
            <a:ext cx="1974651" cy="786384"/>
          </a:xfrm>
          <a:prstGeom prst="rect">
            <a:avLst/>
          </a:prstGeom>
          <a:solidFill>
            <a:srgbClr val="D8A25E"/>
          </a:solidFill>
          <a:ln w="19050">
            <a:solidFill>
              <a:srgbClr val="FFFFFF"/>
            </a:solidFill>
            <a:prstDash val="solid"/>
          </a:ln>
        </p:spPr>
      </p:sp>
      <p:sp>
        <p:nvSpPr>
          <p:cNvPr id="10" name="Text 8"/>
          <p:cNvSpPr/>
          <p:nvPr/>
        </p:nvSpPr>
        <p:spPr>
          <a:xfrm>
            <a:off x="6106642" y="3200400"/>
            <a:ext cx="1974651"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kelas 3</a:t>
            </a:r>
            <a:endParaRPr lang="en-US" sz="1300" dirty="0"/>
          </a:p>
        </p:txBody>
      </p:sp>
      <p:sp>
        <p:nvSpPr>
          <p:cNvPr id="11" name="Shape 9"/>
          <p:cNvSpPr/>
          <p:nvPr/>
        </p:nvSpPr>
        <p:spPr>
          <a:xfrm>
            <a:off x="8081293" y="3200400"/>
            <a:ext cx="3074387" cy="786384"/>
          </a:xfrm>
          <a:prstGeom prst="rect">
            <a:avLst/>
          </a:prstGeom>
          <a:solidFill>
            <a:srgbClr val="A8442A"/>
          </a:solidFill>
          <a:ln w="19050">
            <a:solidFill>
              <a:srgbClr val="FFFFFF"/>
            </a:solidFill>
            <a:prstDash val="solid"/>
          </a:ln>
        </p:spPr>
      </p:sp>
      <p:sp>
        <p:nvSpPr>
          <p:cNvPr id="12" name="Text 10"/>
          <p:cNvSpPr/>
          <p:nvPr/>
        </p:nvSpPr>
        <p:spPr>
          <a:xfrm>
            <a:off x="8081293" y="3200400"/>
            <a:ext cx="3074387"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kelas 4</a:t>
            </a:r>
            <a:endParaRPr lang="en-US" sz="1300" dirty="0"/>
          </a:p>
        </p:txBody>
      </p:sp>
      <p:sp>
        <p:nvSpPr>
          <p:cNvPr id="13" name="Shape 11"/>
          <p:cNvSpPr/>
          <p:nvPr/>
        </p:nvSpPr>
        <p:spPr>
          <a:xfrm>
            <a:off x="3803643" y="3200400"/>
            <a:ext cx="0" cy="1024128"/>
          </a:xfrm>
          <a:prstGeom prst="line">
            <a:avLst/>
          </a:prstGeom>
          <a:noFill/>
          <a:ln w="17780">
            <a:solidFill>
              <a:srgbClr val="16191D"/>
            </a:solidFill>
            <a:prstDash val="solid"/>
          </a:ln>
        </p:spPr>
      </p:sp>
      <p:sp>
        <p:nvSpPr>
          <p:cNvPr id="14" name="Text 12"/>
          <p:cNvSpPr/>
          <p:nvPr/>
        </p:nvSpPr>
        <p:spPr>
          <a:xfrm>
            <a:off x="3026403" y="4242816"/>
            <a:ext cx="1554480" cy="274320"/>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t1  1,5513</a:t>
            </a:r>
            <a:endParaRPr lang="en-US" sz="1150" dirty="0"/>
          </a:p>
        </p:txBody>
      </p:sp>
      <p:sp>
        <p:nvSpPr>
          <p:cNvPr id="15" name="Shape 13"/>
          <p:cNvSpPr/>
          <p:nvPr/>
        </p:nvSpPr>
        <p:spPr>
          <a:xfrm>
            <a:off x="6106642" y="3200400"/>
            <a:ext cx="0" cy="1024128"/>
          </a:xfrm>
          <a:prstGeom prst="line">
            <a:avLst/>
          </a:prstGeom>
          <a:noFill/>
          <a:ln w="17780">
            <a:solidFill>
              <a:srgbClr val="16191D"/>
            </a:solidFill>
            <a:prstDash val="solid"/>
          </a:ln>
        </p:spPr>
      </p:sp>
      <p:sp>
        <p:nvSpPr>
          <p:cNvPr id="16" name="Text 14"/>
          <p:cNvSpPr/>
          <p:nvPr/>
        </p:nvSpPr>
        <p:spPr>
          <a:xfrm>
            <a:off x="5329402" y="4242816"/>
            <a:ext cx="1554480" cy="274320"/>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t2  2,0051</a:t>
            </a:r>
            <a:endParaRPr lang="en-US" sz="1150" dirty="0"/>
          </a:p>
        </p:txBody>
      </p:sp>
      <p:sp>
        <p:nvSpPr>
          <p:cNvPr id="17" name="Shape 15"/>
          <p:cNvSpPr/>
          <p:nvPr/>
        </p:nvSpPr>
        <p:spPr>
          <a:xfrm>
            <a:off x="8081293" y="3200400"/>
            <a:ext cx="0" cy="1024128"/>
          </a:xfrm>
          <a:prstGeom prst="line">
            <a:avLst/>
          </a:prstGeom>
          <a:noFill/>
          <a:ln w="17780">
            <a:solidFill>
              <a:srgbClr val="16191D"/>
            </a:solidFill>
            <a:prstDash val="solid"/>
          </a:ln>
        </p:spPr>
      </p:sp>
      <p:sp>
        <p:nvSpPr>
          <p:cNvPr id="18" name="Text 16"/>
          <p:cNvSpPr/>
          <p:nvPr/>
        </p:nvSpPr>
        <p:spPr>
          <a:xfrm>
            <a:off x="7304053" y="4242816"/>
            <a:ext cx="1554480" cy="274320"/>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t3  2,3942</a:t>
            </a:r>
            <a:endParaRPr lang="en-US" sz="1150" dirty="0"/>
          </a:p>
        </p:txBody>
      </p:sp>
      <p:sp>
        <p:nvSpPr>
          <p:cNvPr id="19" name="Text 17"/>
          <p:cNvSpPr/>
          <p:nvPr/>
        </p:nvSpPr>
        <p:spPr>
          <a:xfrm>
            <a:off x="1005840" y="4261104"/>
            <a:ext cx="914400"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1,0</a:t>
            </a:r>
            <a:endParaRPr lang="en-US" sz="1050" dirty="0"/>
          </a:p>
        </p:txBody>
      </p:sp>
      <p:sp>
        <p:nvSpPr>
          <p:cNvPr id="20" name="Text 18"/>
          <p:cNvSpPr/>
          <p:nvPr/>
        </p:nvSpPr>
        <p:spPr>
          <a:xfrm>
            <a:off x="10241280" y="4261104"/>
            <a:ext cx="914400" cy="310896"/>
          </a:xfrm>
          <a:prstGeom prst="rect">
            <a:avLst/>
          </a:prstGeom>
          <a:noFill/>
          <a:ln/>
        </p:spPr>
        <p:txBody>
          <a:bodyPr wrap="square" lIns="0" tIns="0" rIns="0" bIns="0" rtlCol="0" anchor="ctr"/>
          <a:lstStyle/>
          <a:p>
            <a:pPr algn="r" indent="0" marL="0">
              <a:buNone/>
            </a:pPr>
            <a:r>
              <a:rPr lang="en-US" sz="1050" i="1" dirty="0">
                <a:solidFill>
                  <a:srgbClr val="6E747C"/>
                </a:solidFill>
                <a:latin typeface="Calibri" pitchFamily="34" charset="0"/>
                <a:ea typeface="Calibri" pitchFamily="34" charset="-122"/>
                <a:cs typeface="Calibri" pitchFamily="34" charset="-120"/>
              </a:rPr>
              <a:t>3,0</a:t>
            </a:r>
            <a:endParaRPr lang="en-US" sz="1050" dirty="0"/>
          </a:p>
        </p:txBody>
      </p:sp>
      <p:sp>
        <p:nvSpPr>
          <p:cNvPr id="21" name="Shape 19"/>
          <p:cNvSpPr/>
          <p:nvPr/>
        </p:nvSpPr>
        <p:spPr>
          <a:xfrm>
            <a:off x="640080" y="5029200"/>
            <a:ext cx="10911535" cy="841248"/>
          </a:xfrm>
          <a:prstGeom prst="roundRect">
            <a:avLst>
              <a:gd name="adj" fmla="val 6522"/>
            </a:avLst>
          </a:prstGeom>
          <a:solidFill>
            <a:srgbClr val="F4F1EC"/>
          </a:solidFill>
          <a:ln w="9525">
            <a:solidFill>
              <a:srgbClr val="DCD8D1"/>
            </a:solidFill>
            <a:prstDash val="solid"/>
          </a:ln>
        </p:spPr>
      </p:sp>
      <p:sp>
        <p:nvSpPr>
          <p:cNvPr id="22" name="Text 20"/>
          <p:cNvSpPr/>
          <p:nvPr/>
        </p:nvSpPr>
        <p:spPr>
          <a:xfrm>
            <a:off x="914400" y="5029200"/>
            <a:ext cx="10362895" cy="841248"/>
          </a:xfrm>
          <a:prstGeom prst="rect">
            <a:avLst/>
          </a:prstGeom>
          <a:noFill/>
          <a:ln/>
        </p:spPr>
        <p:txBody>
          <a:bodyPr wrap="square" lIns="0" tIns="0" rIns="0" bIns="0" rtlCol="0" anchor="ctr"/>
          <a:lstStyle/>
          <a:p>
            <a:pPr indent="0" marL="0">
              <a:buNone/>
            </a:pPr>
            <a:r>
              <a:rPr lang="en-US" sz="1350" dirty="0">
                <a:solidFill>
                  <a:srgbClr val="3A4048"/>
                </a:solidFill>
                <a:latin typeface="Calibri" pitchFamily="34" charset="0"/>
                <a:ea typeface="Calibri" pitchFamily="34" charset="-122"/>
                <a:cs typeface="Calibri" pitchFamily="34" charset="-120"/>
              </a:rPr>
              <a:t>argmax hanya berani menebak kelas 3 atau 4 pada 0,70% baris. Proporsi sebenarnya 4,71%. </a:t>
            </a:r>
            <a:pPr indent="0" marL="0">
              <a:buNone/>
            </a:pPr>
            <a:r>
              <a:rPr lang="en-US" sz="1350" b="1" dirty="0">
                <a:solidFill>
                  <a:srgbClr val="16191D"/>
                </a:solidFill>
                <a:latin typeface="Calibri" pitchFamily="34" charset="0"/>
                <a:ea typeface="Calibri" pitchFamily="34" charset="-122"/>
                <a:cs typeface="Calibri" pitchFamily="34" charset="-120"/>
              </a:rPr>
              <a:t>Aturan ambang menaikkannya ke 8,48%.</a:t>
            </a:r>
            <a:endParaRPr lang="en-US" sz="1350" dirty="0"/>
          </a:p>
        </p:txBody>
      </p:sp>
      <p:sp>
        <p:nvSpPr>
          <p:cNvPr id="24" name="Text 2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5" name="Text 2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89,9% perbaikan kami datang dari aturan keputusan.</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Enam baseline dijalankan penuh, bukan diestimasi, agar tiap komponen terpisah.</a:t>
            </a:r>
            <a:endParaRPr lang="en-US" sz="1400" dirty="0"/>
          </a:p>
        </p:txBody>
      </p:sp>
      <p:sp>
        <p:nvSpPr>
          <p:cNvPr id="4" name="Text 2"/>
          <p:cNvSpPr/>
          <p:nvPr/>
        </p:nvSpPr>
        <p:spPr>
          <a:xfrm>
            <a:off x="640080" y="2240280"/>
            <a:ext cx="3200400" cy="384048"/>
          </a:xfrm>
          <a:prstGeom prst="rect">
            <a:avLst/>
          </a:prstGeom>
          <a:noFill/>
          <a:ln/>
        </p:spPr>
        <p:txBody>
          <a:bodyPr wrap="square" lIns="0" tIns="0" rIns="0" bIns="0" rtlCol="0" anchor="ctr"/>
          <a:lstStyle/>
          <a:p>
            <a:pPr algn="r" indent="0" marL="0">
              <a:buNone/>
            </a:pPr>
            <a:r>
              <a:rPr lang="en-US" sz="1250" dirty="0">
                <a:solidFill>
                  <a:srgbClr val="3A4048"/>
                </a:solidFill>
                <a:latin typeface="Calibri" pitchFamily="34" charset="0"/>
                <a:ea typeface="Calibri" pitchFamily="34" charset="-122"/>
                <a:cs typeface="Calibri" pitchFamily="34" charset="-120"/>
              </a:rPr>
              <a:t>1.  Kelas mayoritas</a:t>
            </a:r>
            <a:endParaRPr lang="en-US" sz="1250" dirty="0"/>
          </a:p>
        </p:txBody>
      </p:sp>
      <p:sp>
        <p:nvSpPr>
          <p:cNvPr id="5" name="Shape 3"/>
          <p:cNvSpPr/>
          <p:nvPr/>
        </p:nvSpPr>
        <p:spPr>
          <a:xfrm>
            <a:off x="3950208" y="2304288"/>
            <a:ext cx="6668719" cy="256032"/>
          </a:xfrm>
          <a:prstGeom prst="rect">
            <a:avLst/>
          </a:prstGeom>
          <a:solidFill>
            <a:srgbClr val="F4F1EC"/>
          </a:solidFill>
          <a:ln/>
        </p:spPr>
      </p:sp>
      <p:sp>
        <p:nvSpPr>
          <p:cNvPr id="6" name="Shape 4"/>
          <p:cNvSpPr/>
          <p:nvPr/>
        </p:nvSpPr>
        <p:spPr>
          <a:xfrm>
            <a:off x="3950208" y="2304288"/>
            <a:ext cx="18288" cy="256032"/>
          </a:xfrm>
          <a:prstGeom prst="rect">
            <a:avLst/>
          </a:prstGeom>
          <a:solidFill>
            <a:srgbClr val="C9C4BB"/>
          </a:solidFill>
          <a:ln/>
        </p:spPr>
      </p:sp>
      <p:sp>
        <p:nvSpPr>
          <p:cNvPr id="7" name="Text 5"/>
          <p:cNvSpPr/>
          <p:nvPr/>
        </p:nvSpPr>
        <p:spPr>
          <a:xfrm>
            <a:off x="10710367" y="2240280"/>
            <a:ext cx="822960" cy="384048"/>
          </a:xfrm>
          <a:prstGeom prst="rect">
            <a:avLst/>
          </a:prstGeom>
          <a:noFill/>
          <a:ln/>
        </p:spPr>
        <p:txBody>
          <a:bodyPr wrap="square" lIns="0" tIns="0" rIns="0" bIns="0" rtlCol="0" anchor="ctr"/>
          <a:lstStyle/>
          <a:p>
            <a:pPr algn="l" indent="0" marL="0">
              <a:buNone/>
            </a:pPr>
            <a:r>
              <a:rPr lang="en-US" sz="1250" dirty="0">
                <a:solidFill>
                  <a:srgbClr val="3A4048"/>
                </a:solidFill>
                <a:latin typeface="Calibri" pitchFamily="34" charset="0"/>
                <a:ea typeface="Calibri" pitchFamily="34" charset="-122"/>
                <a:cs typeface="Calibri" pitchFamily="34" charset="-120"/>
              </a:rPr>
              <a:t>0,00000</a:t>
            </a:r>
            <a:endParaRPr lang="en-US" sz="1250" dirty="0"/>
          </a:p>
        </p:txBody>
      </p:sp>
      <p:sp>
        <p:nvSpPr>
          <p:cNvPr id="8" name="Text 6"/>
          <p:cNvSpPr/>
          <p:nvPr/>
        </p:nvSpPr>
        <p:spPr>
          <a:xfrm>
            <a:off x="640080" y="2734056"/>
            <a:ext cx="3200400" cy="384048"/>
          </a:xfrm>
          <a:prstGeom prst="rect">
            <a:avLst/>
          </a:prstGeom>
          <a:noFill/>
          <a:ln/>
        </p:spPr>
        <p:txBody>
          <a:bodyPr wrap="square" lIns="0" tIns="0" rIns="0" bIns="0" rtlCol="0" anchor="ctr"/>
          <a:lstStyle/>
          <a:p>
            <a:pPr algn="r" indent="0" marL="0">
              <a:buNone/>
            </a:pPr>
            <a:r>
              <a:rPr lang="en-US" sz="1250" dirty="0">
                <a:solidFill>
                  <a:srgbClr val="3A4048"/>
                </a:solidFill>
                <a:latin typeface="Calibri" pitchFamily="34" charset="0"/>
                <a:ea typeface="Calibri" pitchFamily="34" charset="-122"/>
                <a:cs typeface="Calibri" pitchFamily="34" charset="-120"/>
              </a:rPr>
              <a:t>2.  Acak ikut proporsi</a:t>
            </a:r>
            <a:endParaRPr lang="en-US" sz="1250" dirty="0"/>
          </a:p>
        </p:txBody>
      </p:sp>
      <p:sp>
        <p:nvSpPr>
          <p:cNvPr id="9" name="Shape 7"/>
          <p:cNvSpPr/>
          <p:nvPr/>
        </p:nvSpPr>
        <p:spPr>
          <a:xfrm>
            <a:off x="3950208" y="2798064"/>
            <a:ext cx="6668719" cy="256032"/>
          </a:xfrm>
          <a:prstGeom prst="rect">
            <a:avLst/>
          </a:prstGeom>
          <a:solidFill>
            <a:srgbClr val="F4F1EC"/>
          </a:solidFill>
          <a:ln/>
        </p:spPr>
      </p:sp>
      <p:sp>
        <p:nvSpPr>
          <p:cNvPr id="10" name="Shape 8"/>
          <p:cNvSpPr/>
          <p:nvPr/>
        </p:nvSpPr>
        <p:spPr>
          <a:xfrm>
            <a:off x="3950208" y="2798064"/>
            <a:ext cx="49882" cy="256032"/>
          </a:xfrm>
          <a:prstGeom prst="rect">
            <a:avLst/>
          </a:prstGeom>
          <a:solidFill>
            <a:srgbClr val="C9C4BB"/>
          </a:solidFill>
          <a:ln/>
        </p:spPr>
      </p:sp>
      <p:sp>
        <p:nvSpPr>
          <p:cNvPr id="11" name="Text 9"/>
          <p:cNvSpPr/>
          <p:nvPr/>
        </p:nvSpPr>
        <p:spPr>
          <a:xfrm>
            <a:off x="10710367" y="2734056"/>
            <a:ext cx="822960" cy="384048"/>
          </a:xfrm>
          <a:prstGeom prst="rect">
            <a:avLst/>
          </a:prstGeom>
          <a:noFill/>
          <a:ln/>
        </p:spPr>
        <p:txBody>
          <a:bodyPr wrap="square" lIns="0" tIns="0" rIns="0" bIns="0" rtlCol="0" anchor="ctr"/>
          <a:lstStyle/>
          <a:p>
            <a:pPr algn="l" indent="0" marL="0">
              <a:buNone/>
            </a:pPr>
            <a:r>
              <a:rPr lang="en-US" sz="1250" dirty="0">
                <a:solidFill>
                  <a:srgbClr val="3A4048"/>
                </a:solidFill>
                <a:latin typeface="Calibri" pitchFamily="34" charset="0"/>
                <a:ea typeface="Calibri" pitchFamily="34" charset="-122"/>
                <a:cs typeface="Calibri" pitchFamily="34" charset="-120"/>
              </a:rPr>
              <a:t>0,00374</a:t>
            </a:r>
            <a:endParaRPr lang="en-US" sz="1250" dirty="0"/>
          </a:p>
        </p:txBody>
      </p:sp>
      <p:sp>
        <p:nvSpPr>
          <p:cNvPr id="12" name="Text 10"/>
          <p:cNvSpPr/>
          <p:nvPr/>
        </p:nvSpPr>
        <p:spPr>
          <a:xfrm>
            <a:off x="640080" y="3227832"/>
            <a:ext cx="3200400" cy="384048"/>
          </a:xfrm>
          <a:prstGeom prst="rect">
            <a:avLst/>
          </a:prstGeom>
          <a:noFill/>
          <a:ln/>
        </p:spPr>
        <p:txBody>
          <a:bodyPr wrap="square" lIns="0" tIns="0" rIns="0" bIns="0" rtlCol="0" anchor="ctr"/>
          <a:lstStyle/>
          <a:p>
            <a:pPr algn="r" indent="0" marL="0">
              <a:buNone/>
            </a:pPr>
            <a:r>
              <a:rPr lang="en-US" sz="1250" dirty="0">
                <a:solidFill>
                  <a:srgbClr val="3A4048"/>
                </a:solidFill>
                <a:latin typeface="Calibri" pitchFamily="34" charset="0"/>
                <a:ea typeface="Calibri" pitchFamily="34" charset="-122"/>
                <a:cs typeface="Calibri" pitchFamily="34" charset="-120"/>
              </a:rPr>
              <a:t>3.  Regresi logistik + ambang</a:t>
            </a:r>
            <a:endParaRPr lang="en-US" sz="1250" dirty="0"/>
          </a:p>
        </p:txBody>
      </p:sp>
      <p:sp>
        <p:nvSpPr>
          <p:cNvPr id="13" name="Shape 11"/>
          <p:cNvSpPr/>
          <p:nvPr/>
        </p:nvSpPr>
        <p:spPr>
          <a:xfrm>
            <a:off x="3950208" y="3291840"/>
            <a:ext cx="6668719" cy="256032"/>
          </a:xfrm>
          <a:prstGeom prst="rect">
            <a:avLst/>
          </a:prstGeom>
          <a:solidFill>
            <a:srgbClr val="F4F1EC"/>
          </a:solidFill>
          <a:ln/>
        </p:spPr>
      </p:sp>
      <p:sp>
        <p:nvSpPr>
          <p:cNvPr id="14" name="Shape 12"/>
          <p:cNvSpPr/>
          <p:nvPr/>
        </p:nvSpPr>
        <p:spPr>
          <a:xfrm>
            <a:off x="3950208" y="3291840"/>
            <a:ext cx="5985842" cy="256032"/>
          </a:xfrm>
          <a:prstGeom prst="rect">
            <a:avLst/>
          </a:prstGeom>
          <a:solidFill>
            <a:srgbClr val="3A4048"/>
          </a:solidFill>
          <a:ln/>
        </p:spPr>
      </p:sp>
      <p:sp>
        <p:nvSpPr>
          <p:cNvPr id="15" name="Text 13"/>
          <p:cNvSpPr/>
          <p:nvPr/>
        </p:nvSpPr>
        <p:spPr>
          <a:xfrm>
            <a:off x="10710367" y="3227832"/>
            <a:ext cx="822960" cy="384048"/>
          </a:xfrm>
          <a:prstGeom prst="rect">
            <a:avLst/>
          </a:prstGeom>
          <a:noFill/>
          <a:ln/>
        </p:spPr>
        <p:txBody>
          <a:bodyPr wrap="square" lIns="0" tIns="0" rIns="0" bIns="0" rtlCol="0" anchor="ctr"/>
          <a:lstStyle/>
          <a:p>
            <a:pPr algn="l" indent="0" marL="0">
              <a:buNone/>
            </a:pPr>
            <a:r>
              <a:rPr lang="en-US" sz="1250" dirty="0">
                <a:solidFill>
                  <a:srgbClr val="3A4048"/>
                </a:solidFill>
                <a:latin typeface="Calibri" pitchFamily="34" charset="0"/>
                <a:ea typeface="Calibri" pitchFamily="34" charset="-122"/>
                <a:cs typeface="Calibri" pitchFamily="34" charset="-120"/>
              </a:rPr>
              <a:t>0,44880</a:t>
            </a:r>
            <a:endParaRPr lang="en-US" sz="1250" dirty="0"/>
          </a:p>
        </p:txBody>
      </p:sp>
      <p:sp>
        <p:nvSpPr>
          <p:cNvPr id="16" name="Text 14"/>
          <p:cNvSpPr/>
          <p:nvPr/>
        </p:nvSpPr>
        <p:spPr>
          <a:xfrm>
            <a:off x="640080" y="3721608"/>
            <a:ext cx="3200400" cy="384048"/>
          </a:xfrm>
          <a:prstGeom prst="rect">
            <a:avLst/>
          </a:prstGeom>
          <a:noFill/>
          <a:ln/>
        </p:spPr>
        <p:txBody>
          <a:bodyPr wrap="square" lIns="0" tIns="0" rIns="0" bIns="0" rtlCol="0" anchor="ctr"/>
          <a:lstStyle/>
          <a:p>
            <a:pPr algn="r" indent="0" marL="0">
              <a:buNone/>
            </a:pPr>
            <a:r>
              <a:rPr lang="en-US" sz="1250" dirty="0">
                <a:solidFill>
                  <a:srgbClr val="3A4048"/>
                </a:solidFill>
                <a:latin typeface="Calibri" pitchFamily="34" charset="0"/>
                <a:ea typeface="Calibri" pitchFamily="34" charset="-122"/>
                <a:cs typeface="Calibri" pitchFamily="34" charset="-120"/>
              </a:rPr>
              <a:t>4.  LightGBM + argmax</a:t>
            </a:r>
            <a:endParaRPr lang="en-US" sz="1250" dirty="0"/>
          </a:p>
        </p:txBody>
      </p:sp>
      <p:sp>
        <p:nvSpPr>
          <p:cNvPr id="17" name="Shape 15"/>
          <p:cNvSpPr/>
          <p:nvPr/>
        </p:nvSpPr>
        <p:spPr>
          <a:xfrm>
            <a:off x="3950208" y="3785616"/>
            <a:ext cx="6668719" cy="256032"/>
          </a:xfrm>
          <a:prstGeom prst="rect">
            <a:avLst/>
          </a:prstGeom>
          <a:solidFill>
            <a:srgbClr val="F4F1EC"/>
          </a:solidFill>
          <a:ln/>
        </p:spPr>
      </p:sp>
      <p:sp>
        <p:nvSpPr>
          <p:cNvPr id="18" name="Shape 16"/>
          <p:cNvSpPr/>
          <p:nvPr/>
        </p:nvSpPr>
        <p:spPr>
          <a:xfrm>
            <a:off x="3950208" y="3785616"/>
            <a:ext cx="5528101" cy="256032"/>
          </a:xfrm>
          <a:prstGeom prst="rect">
            <a:avLst/>
          </a:prstGeom>
          <a:solidFill>
            <a:srgbClr val="D8A25E"/>
          </a:solidFill>
          <a:ln/>
        </p:spPr>
      </p:sp>
      <p:sp>
        <p:nvSpPr>
          <p:cNvPr id="19" name="Text 17"/>
          <p:cNvSpPr/>
          <p:nvPr/>
        </p:nvSpPr>
        <p:spPr>
          <a:xfrm>
            <a:off x="10710367" y="3721608"/>
            <a:ext cx="822960" cy="384048"/>
          </a:xfrm>
          <a:prstGeom prst="rect">
            <a:avLst/>
          </a:prstGeom>
          <a:noFill/>
          <a:ln/>
        </p:spPr>
        <p:txBody>
          <a:bodyPr wrap="square" lIns="0" tIns="0" rIns="0" bIns="0" rtlCol="0" anchor="ctr"/>
          <a:lstStyle/>
          <a:p>
            <a:pPr algn="l" indent="0" marL="0">
              <a:buNone/>
            </a:pPr>
            <a:r>
              <a:rPr lang="en-US" sz="1250" dirty="0">
                <a:solidFill>
                  <a:srgbClr val="3A4048"/>
                </a:solidFill>
                <a:latin typeface="Calibri" pitchFamily="34" charset="0"/>
                <a:ea typeface="Calibri" pitchFamily="34" charset="-122"/>
                <a:cs typeface="Calibri" pitchFamily="34" charset="-120"/>
              </a:rPr>
              <a:t>0,41448</a:t>
            </a:r>
            <a:endParaRPr lang="en-US" sz="1250" dirty="0"/>
          </a:p>
        </p:txBody>
      </p:sp>
      <p:sp>
        <p:nvSpPr>
          <p:cNvPr id="20" name="Text 18"/>
          <p:cNvSpPr/>
          <p:nvPr/>
        </p:nvSpPr>
        <p:spPr>
          <a:xfrm>
            <a:off x="640080" y="4215384"/>
            <a:ext cx="3200400" cy="384048"/>
          </a:xfrm>
          <a:prstGeom prst="rect">
            <a:avLst/>
          </a:prstGeom>
          <a:noFill/>
          <a:ln/>
        </p:spPr>
        <p:txBody>
          <a:bodyPr wrap="square" lIns="0" tIns="0" rIns="0" bIns="0" rtlCol="0" anchor="ctr"/>
          <a:lstStyle/>
          <a:p>
            <a:pPr algn="r" indent="0" marL="0">
              <a:buNone/>
            </a:pPr>
            <a:r>
              <a:rPr lang="en-US" sz="1250" dirty="0">
                <a:solidFill>
                  <a:srgbClr val="3A4048"/>
                </a:solidFill>
                <a:latin typeface="Calibri" pitchFamily="34" charset="0"/>
                <a:ea typeface="Calibri" pitchFamily="34" charset="-122"/>
                <a:cs typeface="Calibri" pitchFamily="34" charset="-120"/>
              </a:rPr>
              <a:t>5.  LightGBM + ambang</a:t>
            </a:r>
            <a:endParaRPr lang="en-US" sz="1250" dirty="0"/>
          </a:p>
        </p:txBody>
      </p:sp>
      <p:sp>
        <p:nvSpPr>
          <p:cNvPr id="21" name="Shape 19"/>
          <p:cNvSpPr/>
          <p:nvPr/>
        </p:nvSpPr>
        <p:spPr>
          <a:xfrm>
            <a:off x="3950208" y="4279392"/>
            <a:ext cx="6668719" cy="256032"/>
          </a:xfrm>
          <a:prstGeom prst="rect">
            <a:avLst/>
          </a:prstGeom>
          <a:solidFill>
            <a:srgbClr val="F4F1EC"/>
          </a:solidFill>
          <a:ln/>
        </p:spPr>
      </p:sp>
      <p:sp>
        <p:nvSpPr>
          <p:cNvPr id="22" name="Shape 20"/>
          <p:cNvSpPr/>
          <p:nvPr/>
        </p:nvSpPr>
        <p:spPr>
          <a:xfrm>
            <a:off x="3950208" y="4279392"/>
            <a:ext cx="6364225" cy="256032"/>
          </a:xfrm>
          <a:prstGeom prst="rect">
            <a:avLst/>
          </a:prstGeom>
          <a:solidFill>
            <a:srgbClr val="2F6B5F"/>
          </a:solidFill>
          <a:ln/>
        </p:spPr>
      </p:sp>
      <p:sp>
        <p:nvSpPr>
          <p:cNvPr id="23" name="Text 21"/>
          <p:cNvSpPr/>
          <p:nvPr/>
        </p:nvSpPr>
        <p:spPr>
          <a:xfrm>
            <a:off x="10710367" y="4215384"/>
            <a:ext cx="822960" cy="384048"/>
          </a:xfrm>
          <a:prstGeom prst="rect">
            <a:avLst/>
          </a:prstGeom>
          <a:noFill/>
          <a:ln/>
        </p:spPr>
        <p:txBody>
          <a:bodyPr wrap="square" lIns="0" tIns="0" rIns="0" bIns="0" rtlCol="0" anchor="ctr"/>
          <a:lstStyle/>
          <a:p>
            <a:pPr algn="l" indent="0" marL="0">
              <a:buNone/>
            </a:pPr>
            <a:r>
              <a:rPr lang="en-US" sz="1250" dirty="0">
                <a:solidFill>
                  <a:srgbClr val="3A4048"/>
                </a:solidFill>
                <a:latin typeface="Calibri" pitchFamily="34" charset="0"/>
                <a:ea typeface="Calibri" pitchFamily="34" charset="-122"/>
                <a:cs typeface="Calibri" pitchFamily="34" charset="-120"/>
              </a:rPr>
              <a:t>0,47717</a:t>
            </a:r>
            <a:endParaRPr lang="en-US" sz="1250" dirty="0"/>
          </a:p>
        </p:txBody>
      </p:sp>
      <p:sp>
        <p:nvSpPr>
          <p:cNvPr id="24" name="Text 22"/>
          <p:cNvSpPr/>
          <p:nvPr/>
        </p:nvSpPr>
        <p:spPr>
          <a:xfrm>
            <a:off x="640080" y="4709160"/>
            <a:ext cx="3200400" cy="384048"/>
          </a:xfrm>
          <a:prstGeom prst="rect">
            <a:avLst/>
          </a:prstGeom>
          <a:noFill/>
          <a:ln/>
        </p:spPr>
        <p:txBody>
          <a:bodyPr wrap="square" lIns="0" tIns="0" rIns="0" bIns="0" rtlCol="0" anchor="ctr"/>
          <a:lstStyle/>
          <a:p>
            <a:pPr algn="r" indent="0" marL="0">
              <a:buNone/>
            </a:pPr>
            <a:r>
              <a:rPr lang="en-US" sz="1250" b="1" dirty="0">
                <a:solidFill>
                  <a:srgbClr val="16191D"/>
                </a:solidFill>
                <a:latin typeface="Calibri" pitchFamily="34" charset="0"/>
                <a:ea typeface="Calibri" pitchFamily="34" charset="-122"/>
                <a:cs typeface="Calibri" pitchFamily="34" charset="-120"/>
              </a:rPr>
              <a:t>6.  PIPELINE FINAL</a:t>
            </a:r>
            <a:endParaRPr lang="en-US" sz="1250" dirty="0"/>
          </a:p>
        </p:txBody>
      </p:sp>
      <p:sp>
        <p:nvSpPr>
          <p:cNvPr id="25" name="Shape 23"/>
          <p:cNvSpPr/>
          <p:nvPr/>
        </p:nvSpPr>
        <p:spPr>
          <a:xfrm>
            <a:off x="3950208" y="4773168"/>
            <a:ext cx="6668719" cy="256032"/>
          </a:xfrm>
          <a:prstGeom prst="rect">
            <a:avLst/>
          </a:prstGeom>
          <a:solidFill>
            <a:srgbClr val="F4F1EC"/>
          </a:solidFill>
          <a:ln/>
        </p:spPr>
      </p:sp>
      <p:sp>
        <p:nvSpPr>
          <p:cNvPr id="26" name="Shape 24"/>
          <p:cNvSpPr/>
          <p:nvPr/>
        </p:nvSpPr>
        <p:spPr>
          <a:xfrm>
            <a:off x="3950208" y="4773168"/>
            <a:ext cx="6458655" cy="256032"/>
          </a:xfrm>
          <a:prstGeom prst="rect">
            <a:avLst/>
          </a:prstGeom>
          <a:solidFill>
            <a:srgbClr val="A8442A"/>
          </a:solidFill>
          <a:ln/>
        </p:spPr>
      </p:sp>
      <p:sp>
        <p:nvSpPr>
          <p:cNvPr id="27" name="Text 25"/>
          <p:cNvSpPr/>
          <p:nvPr/>
        </p:nvSpPr>
        <p:spPr>
          <a:xfrm>
            <a:off x="10710367" y="4709160"/>
            <a:ext cx="822960" cy="384048"/>
          </a:xfrm>
          <a:prstGeom prst="rect">
            <a:avLst/>
          </a:prstGeom>
          <a:noFill/>
          <a:ln/>
        </p:spPr>
        <p:txBody>
          <a:bodyPr wrap="square" lIns="0" tIns="0" rIns="0" bIns="0" rtlCol="0" anchor="ctr"/>
          <a:lstStyle/>
          <a:p>
            <a:pPr algn="l" indent="0" marL="0">
              <a:buNone/>
            </a:pPr>
            <a:r>
              <a:rPr lang="en-US" sz="1250" b="1" dirty="0">
                <a:solidFill>
                  <a:srgbClr val="A8442A"/>
                </a:solidFill>
                <a:latin typeface="Calibri" pitchFamily="34" charset="0"/>
                <a:ea typeface="Calibri" pitchFamily="34" charset="-122"/>
                <a:cs typeface="Calibri" pitchFamily="34" charset="-120"/>
              </a:rPr>
              <a:t>0,48425</a:t>
            </a:r>
            <a:endParaRPr lang="en-US" sz="1250" dirty="0"/>
          </a:p>
        </p:txBody>
      </p:sp>
      <p:sp>
        <p:nvSpPr>
          <p:cNvPr id="28" name="Shape 26"/>
          <p:cNvSpPr/>
          <p:nvPr/>
        </p:nvSpPr>
        <p:spPr>
          <a:xfrm>
            <a:off x="640080" y="5394960"/>
            <a:ext cx="5291176" cy="841248"/>
          </a:xfrm>
          <a:prstGeom prst="roundRect">
            <a:avLst>
              <a:gd name="adj" fmla="val 6522"/>
            </a:avLst>
          </a:prstGeom>
          <a:solidFill>
            <a:srgbClr val="F4F1EC"/>
          </a:solidFill>
          <a:ln w="9525">
            <a:solidFill>
              <a:srgbClr val="DCD8D1"/>
            </a:solidFill>
            <a:prstDash val="solid"/>
          </a:ln>
        </p:spPr>
      </p:sp>
      <p:sp>
        <p:nvSpPr>
          <p:cNvPr id="29" name="Text 27"/>
          <p:cNvSpPr/>
          <p:nvPr/>
        </p:nvSpPr>
        <p:spPr>
          <a:xfrm>
            <a:off x="896112" y="5394960"/>
            <a:ext cx="4779112" cy="841248"/>
          </a:xfrm>
          <a:prstGeom prst="rect">
            <a:avLst/>
          </a:prstGeom>
          <a:noFill/>
          <a:ln/>
        </p:spPr>
        <p:txBody>
          <a:bodyPr wrap="square" lIns="0" tIns="0" rIns="0" bIns="0" rtlCol="0" anchor="ctr"/>
          <a:lstStyle/>
          <a:p>
            <a:pPr indent="0" marL="0">
              <a:buNone/>
            </a:pPr>
            <a:r>
              <a:rPr lang="en-US" sz="2300" b="1" dirty="0">
                <a:solidFill>
                  <a:srgbClr val="2F6B5F"/>
                </a:solidFill>
                <a:latin typeface="Cambria" pitchFamily="34" charset="0"/>
                <a:ea typeface="Cambria" pitchFamily="34" charset="-122"/>
                <a:cs typeface="Cambria" pitchFamily="34" charset="-120"/>
              </a:rPr>
              <a:t>+0,06269  </a:t>
            </a:r>
            <a:pPr indent="0" marL="0">
              <a:buNone/>
            </a:pPr>
            <a:r>
              <a:rPr lang="en-US" sz="1200" dirty="0">
                <a:solidFill>
                  <a:srgbClr val="3A4048"/>
                </a:solidFill>
                <a:latin typeface="Calibri" pitchFamily="34" charset="0"/>
                <a:ea typeface="Calibri" pitchFamily="34" charset="-122"/>
                <a:cs typeface="Calibri" pitchFamily="34" charset="-120"/>
              </a:rPr>
              <a:t>baris 4 ke 5, hanya aturannya yang berubah</a:t>
            </a:r>
            <a:endParaRPr lang="en-US" sz="2300" dirty="0"/>
          </a:p>
        </p:txBody>
      </p:sp>
      <p:sp>
        <p:nvSpPr>
          <p:cNvPr id="30" name="Shape 28"/>
          <p:cNvSpPr/>
          <p:nvPr/>
        </p:nvSpPr>
        <p:spPr>
          <a:xfrm>
            <a:off x="6260440" y="5394960"/>
            <a:ext cx="5291176" cy="841248"/>
          </a:xfrm>
          <a:prstGeom prst="roundRect">
            <a:avLst>
              <a:gd name="adj" fmla="val 6522"/>
            </a:avLst>
          </a:prstGeom>
          <a:solidFill>
            <a:srgbClr val="F4F1EC"/>
          </a:solidFill>
          <a:ln w="9525">
            <a:solidFill>
              <a:srgbClr val="DCD8D1"/>
            </a:solidFill>
            <a:prstDash val="solid"/>
          </a:ln>
        </p:spPr>
      </p:sp>
      <p:sp>
        <p:nvSpPr>
          <p:cNvPr id="31" name="Text 29"/>
          <p:cNvSpPr/>
          <p:nvPr/>
        </p:nvSpPr>
        <p:spPr>
          <a:xfrm>
            <a:off x="6516472" y="5394960"/>
            <a:ext cx="4779112" cy="841248"/>
          </a:xfrm>
          <a:prstGeom prst="rect">
            <a:avLst/>
          </a:prstGeom>
          <a:noFill/>
          <a:ln/>
        </p:spPr>
        <p:txBody>
          <a:bodyPr wrap="square" lIns="0" tIns="0" rIns="0" bIns="0" rtlCol="0" anchor="ctr"/>
          <a:lstStyle/>
          <a:p>
            <a:pPr indent="0" marL="0">
              <a:buNone/>
            </a:pPr>
            <a:r>
              <a:rPr lang="en-US" sz="2300" b="1" dirty="0">
                <a:solidFill>
                  <a:srgbClr val="6E747C"/>
                </a:solidFill>
                <a:latin typeface="Cambria" pitchFamily="34" charset="0"/>
                <a:ea typeface="Cambria" pitchFamily="34" charset="-122"/>
                <a:cs typeface="Cambria" pitchFamily="34" charset="-120"/>
              </a:rPr>
              <a:t>+0,00708  </a:t>
            </a:r>
            <a:pPr indent="0" marL="0">
              <a:buNone/>
            </a:pPr>
            <a:r>
              <a:rPr lang="en-US" sz="1200" dirty="0">
                <a:solidFill>
                  <a:srgbClr val="3A4048"/>
                </a:solidFill>
                <a:latin typeface="Calibri" pitchFamily="34" charset="0"/>
                <a:ea typeface="Calibri" pitchFamily="34" charset="-122"/>
                <a:cs typeface="Calibri" pitchFamily="34" charset="-120"/>
              </a:rPr>
              <a:t>lima model lagi, stacking, dan studi ambang</a:t>
            </a:r>
            <a:endParaRPr lang="en-US" sz="2300" dirty="0"/>
          </a:p>
        </p:txBody>
      </p:sp>
      <p:sp>
        <p:nvSpPr>
          <p:cNvPr id="33" name="Text 30"/>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4" name="Text 3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Enam keluarga algoritma mendarat di titik yang sama.</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Bias induktifnya sangat berbeda. Hasilnya terpaut 0,0033 QWK.</a:t>
            </a:r>
            <a:endParaRPr lang="en-US" sz="1400" dirty="0"/>
          </a:p>
        </p:txBody>
      </p:sp>
      <p:graphicFrame>
        <p:nvGraphicFramePr>
          <p:cNvPr id="4" name="Chart 0" descr=""/>
          <p:cNvGraphicFramePr/>
          <p:nvPr/>
        </p:nvGraphicFramePr>
        <p:xfrm>
          <a:off x="594360" y="2194560"/>
          <a:ext cx="722376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5596128"/>
            <a:ext cx="7132320"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Sumbu dipotong pada 0,42 agar rentangnya terlihat.</a:t>
            </a:r>
            <a:endParaRPr lang="en-US" sz="1050" dirty="0"/>
          </a:p>
        </p:txBody>
      </p:sp>
      <p:sp>
        <p:nvSpPr>
          <p:cNvPr id="6" name="Text 3"/>
          <p:cNvSpPr/>
          <p:nvPr/>
        </p:nvSpPr>
        <p:spPr>
          <a:xfrm>
            <a:off x="8138160" y="2377440"/>
            <a:ext cx="3413455" cy="566928"/>
          </a:xfrm>
          <a:prstGeom prst="rect">
            <a:avLst/>
          </a:prstGeom>
          <a:noFill/>
          <a:ln/>
        </p:spPr>
        <p:txBody>
          <a:bodyPr wrap="square" lIns="0" tIns="0" rIns="0" bIns="0" rtlCol="0" anchor="b"/>
          <a:lstStyle/>
          <a:p>
            <a:pPr algn="l" indent="0" marL="0">
              <a:buNone/>
            </a:pPr>
            <a:r>
              <a:rPr lang="en-US" sz="3300" b="1" dirty="0">
                <a:solidFill>
                  <a:srgbClr val="16191D"/>
                </a:solidFill>
                <a:latin typeface="Cambria" pitchFamily="34" charset="0"/>
                <a:ea typeface="Cambria" pitchFamily="34" charset="-122"/>
                <a:cs typeface="Cambria" pitchFamily="34" charset="-120"/>
              </a:rPr>
              <a:t>0,974</a:t>
            </a:r>
            <a:endParaRPr lang="en-US" sz="3300" dirty="0"/>
          </a:p>
        </p:txBody>
      </p:sp>
      <p:sp>
        <p:nvSpPr>
          <p:cNvPr id="7" name="Text 4"/>
          <p:cNvSpPr/>
          <p:nvPr/>
        </p:nvSpPr>
        <p:spPr>
          <a:xfrm>
            <a:off x="8138160" y="2980944"/>
            <a:ext cx="341345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Korelasi prediksi antar model pohon</a:t>
            </a:r>
            <a:endParaRPr lang="en-US" sz="1050" dirty="0"/>
          </a:p>
        </p:txBody>
      </p:sp>
      <p:sp>
        <p:nvSpPr>
          <p:cNvPr id="8" name="Text 5"/>
          <p:cNvSpPr/>
          <p:nvPr/>
        </p:nvSpPr>
        <p:spPr>
          <a:xfrm>
            <a:off x="8138160" y="3566160"/>
            <a:ext cx="3413455" cy="566928"/>
          </a:xfrm>
          <a:prstGeom prst="rect">
            <a:avLst/>
          </a:prstGeom>
          <a:noFill/>
          <a:ln/>
        </p:spPr>
        <p:txBody>
          <a:bodyPr wrap="square" lIns="0" tIns="0" rIns="0" bIns="0" rtlCol="0" anchor="b"/>
          <a:lstStyle/>
          <a:p>
            <a:pPr algn="l" indent="0" marL="0">
              <a:buNone/>
            </a:pPr>
            <a:r>
              <a:rPr lang="en-US" sz="3300" b="1" dirty="0">
                <a:solidFill>
                  <a:srgbClr val="A8442A"/>
                </a:solidFill>
                <a:latin typeface="Cambria" pitchFamily="34" charset="0"/>
                <a:ea typeface="Cambria" pitchFamily="34" charset="-122"/>
                <a:cs typeface="Cambria" pitchFamily="34" charset="-120"/>
              </a:rPr>
              <a:t>+0,00455</a:t>
            </a:r>
            <a:endParaRPr lang="en-US" sz="3300" dirty="0"/>
          </a:p>
        </p:txBody>
      </p:sp>
      <p:sp>
        <p:nvSpPr>
          <p:cNvPr id="9" name="Text 6"/>
          <p:cNvSpPr/>
          <p:nvPr/>
        </p:nvSpPr>
        <p:spPr>
          <a:xfrm>
            <a:off x="8138160" y="4169664"/>
            <a:ext cx="341345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Sumbangan meta-learner di atas yang terbaik</a:t>
            </a:r>
            <a:endParaRPr lang="en-US" sz="1050" dirty="0"/>
          </a:p>
        </p:txBody>
      </p:sp>
      <p:sp>
        <p:nvSpPr>
          <p:cNvPr id="10" name="Shape 7"/>
          <p:cNvSpPr/>
          <p:nvPr/>
        </p:nvSpPr>
        <p:spPr>
          <a:xfrm>
            <a:off x="8138160" y="4754880"/>
            <a:ext cx="3413455" cy="1371600"/>
          </a:xfrm>
          <a:prstGeom prst="roundRect">
            <a:avLst>
              <a:gd name="adj" fmla="val 4000"/>
            </a:avLst>
          </a:prstGeom>
          <a:solidFill>
            <a:srgbClr val="F4F1EC"/>
          </a:solidFill>
          <a:ln w="9525">
            <a:solidFill>
              <a:srgbClr val="DCD8D1"/>
            </a:solidFill>
            <a:prstDash val="solid"/>
          </a:ln>
        </p:spPr>
      </p:sp>
      <p:sp>
        <p:nvSpPr>
          <p:cNvPr id="11" name="Text 8"/>
          <p:cNvSpPr/>
          <p:nvPr/>
        </p:nvSpPr>
        <p:spPr>
          <a:xfrm>
            <a:off x="8375904" y="4754880"/>
            <a:ext cx="2937967" cy="1371600"/>
          </a:xfrm>
          <a:prstGeom prst="rect">
            <a:avLst/>
          </a:prstGeom>
          <a:noFill/>
          <a:ln/>
        </p:spPr>
        <p:txBody>
          <a:bodyPr wrap="square" lIns="0" tIns="0" rIns="0" bIns="0" rtlCol="0" anchor="ctr"/>
          <a:lstStyle/>
          <a:p>
            <a:pPr indent="0" marL="0">
              <a:buNone/>
            </a:pPr>
            <a:r>
              <a:rPr lang="en-US" sz="1300" i="1" dirty="0">
                <a:solidFill>
                  <a:srgbClr val="16191D"/>
                </a:solidFill>
                <a:latin typeface="Calibri" pitchFamily="34" charset="0"/>
                <a:ea typeface="Calibri" pitchFamily="34" charset="-122"/>
                <a:cs typeface="Calibri" pitchFamily="34" charset="-120"/>
              </a:rPr>
              <a:t>Ketika kelas fungsi yang berbeda mendarat di titik sama, dindingnya milik data.</a:t>
            </a:r>
            <a:endParaRPr lang="en-US" sz="1300" dirty="0"/>
          </a:p>
        </p:txBody>
      </p:sp>
      <p:sp>
        <p:nvSpPr>
          <p:cNvPr id="13" name="Text 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4" name="Text 1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Kebocoran paling menggoda: kami ukur dulu, baru buang.</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61,3% baris uji punya anggota rumah tangga yang labelnya ada di data latih.</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377440"/>
          <a:ext cx="7040880" cy="914400"/>
        </p:xfrm>
        <a:graphic>
          <a:graphicData uri="http://schemas.openxmlformats.org/drawingml/2006/table">
            <a:tbl>
              <a:tblPr/>
              <a:tblGrid>
                <a:gridCol w="3017520"/>
                <a:gridCol w="1005840"/>
                <a:gridCol w="1005840"/>
                <a:gridCol w="1005840"/>
                <a:gridCol w="1005840"/>
              </a:tblGrid>
              <a:tr h="365760">
                <a:tc>
                  <a:txBody>
                    <a:bodyPr/>
                    <a:lstStyle/>
                    <a:p>
                      <a:pPr algn="l" indent="0" marL="0">
                        <a:buNone/>
                      </a:pPr>
                      <a:r>
                        <a:rPr lang="en-US" sz="1200" b="1" dirty="0">
                          <a:solidFill>
                            <a:srgbClr val="16191D"/>
                          </a:solidFill>
                          <a:latin typeface="Calibri" pitchFamily="34" charset="0"/>
                          <a:ea typeface="Calibri" pitchFamily="34" charset="-122"/>
                          <a:cs typeface="Calibri" pitchFamily="34" charset="-120"/>
                        </a:rPr>
                        <a:t>Label anggota rumah tangga lain</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y = 1</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y = 2</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y = 3</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y = 4</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5760">
                <a:tc>
                  <a:txBody>
                    <a:bodyPr/>
                    <a:lstStyle/>
                    <a:p>
                      <a:pPr algn="l" indent="0" marL="0">
                        <a:buNone/>
                      </a:pPr>
                      <a:r>
                        <a:rPr lang="en-US" sz="1200" dirty="0">
                          <a:solidFill>
                            <a:srgbClr val="3A4048"/>
                          </a:solidFill>
                          <a:latin typeface="Calibri" pitchFamily="34" charset="0"/>
                          <a:ea typeface="Calibri" pitchFamily="34" charset="-122"/>
                          <a:cs typeface="Calibri" pitchFamily="34" charset="-120"/>
                        </a:rPr>
                        <a:t>menjawab 1, Sangat puas</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b="1" dirty="0">
                          <a:solidFill>
                            <a:srgbClr val="A8442A"/>
                          </a:solidFill>
                          <a:latin typeface="Calibri" pitchFamily="34" charset="0"/>
                          <a:ea typeface="Calibri" pitchFamily="34" charset="-122"/>
                          <a:cs typeface="Calibri" pitchFamily="34" charset="-120"/>
                        </a:rPr>
                        <a:t>0,4654</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0,4903</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0,0354</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0,0089</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200" dirty="0">
                          <a:solidFill>
                            <a:srgbClr val="3A4048"/>
                          </a:solidFill>
                          <a:latin typeface="Calibri" pitchFamily="34" charset="0"/>
                          <a:ea typeface="Calibri" pitchFamily="34" charset="-122"/>
                          <a:cs typeface="Calibri" pitchFamily="34" charset="-120"/>
                        </a:rPr>
                        <a:t>menjawab 2, Puas</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0,4347</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0,5200</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0,0360</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0,0093</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200" dirty="0">
                          <a:solidFill>
                            <a:srgbClr val="3A4048"/>
                          </a:solidFill>
                          <a:latin typeface="Calibri" pitchFamily="34" charset="0"/>
                          <a:ea typeface="Calibri" pitchFamily="34" charset="-122"/>
                          <a:cs typeface="Calibri" pitchFamily="34" charset="-120"/>
                        </a:rPr>
                        <a:t>menjawab 3, Tidak puas</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0,4280</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0,4902</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0,0712</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0,0106</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200" dirty="0">
                          <a:solidFill>
                            <a:srgbClr val="3A4048"/>
                          </a:solidFill>
                          <a:latin typeface="Calibri" pitchFamily="34" charset="0"/>
                          <a:ea typeface="Calibri" pitchFamily="34" charset="-122"/>
                          <a:cs typeface="Calibri" pitchFamily="34" charset="-120"/>
                        </a:rPr>
                        <a:t>menjawab 4, Sangat tidak puas</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0,4294</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0,5068</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0,0425</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0,0212</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8138160" y="2377440"/>
            <a:ext cx="3413455" cy="2103120"/>
          </a:xfrm>
          <a:prstGeom prst="roundRect">
            <a:avLst>
              <a:gd name="adj" fmla="val 2609"/>
            </a:avLst>
          </a:prstGeom>
          <a:solidFill>
            <a:srgbClr val="ECE7DF"/>
          </a:solidFill>
          <a:ln w="9525">
            <a:solidFill>
              <a:srgbClr val="DCD8D1"/>
            </a:solidFill>
            <a:prstDash val="solid"/>
          </a:ln>
        </p:spPr>
      </p:sp>
      <p:sp>
        <p:nvSpPr>
          <p:cNvPr id="6" name="Text 3"/>
          <p:cNvSpPr/>
          <p:nvPr/>
        </p:nvSpPr>
        <p:spPr>
          <a:xfrm>
            <a:off x="8412480" y="2651760"/>
            <a:ext cx="2864815" cy="457200"/>
          </a:xfrm>
          <a:prstGeom prst="rect">
            <a:avLst/>
          </a:prstGeom>
          <a:noFill/>
          <a:ln/>
        </p:spPr>
        <p:txBody>
          <a:bodyPr wrap="square" lIns="0" tIns="0" rIns="0" bIns="0" rtlCol="0" anchor="ctr"/>
          <a:lstStyle/>
          <a:p>
            <a:pPr indent="0" marL="0">
              <a:buNone/>
            </a:pPr>
            <a:r>
              <a:rPr lang="en-US" sz="2300" b="1" dirty="0">
                <a:solidFill>
                  <a:srgbClr val="16191D"/>
                </a:solidFill>
                <a:latin typeface="Cambria" pitchFamily="34" charset="0"/>
                <a:ea typeface="Cambria" pitchFamily="34" charset="-122"/>
                <a:cs typeface="Cambria" pitchFamily="34" charset="-120"/>
              </a:rPr>
              <a:t>44,9%  →  46,5%</a:t>
            </a:r>
            <a:endParaRPr lang="en-US" sz="2300" dirty="0"/>
          </a:p>
        </p:txBody>
      </p:sp>
      <p:sp>
        <p:nvSpPr>
          <p:cNvPr id="7" name="Text 4"/>
          <p:cNvSpPr/>
          <p:nvPr/>
        </p:nvSpPr>
        <p:spPr>
          <a:xfrm>
            <a:off x="8412480" y="3145536"/>
            <a:ext cx="2864815" cy="365760"/>
          </a:xfrm>
          <a:prstGeom prst="rect">
            <a:avLst/>
          </a:prstGeom>
          <a:noFill/>
          <a:ln/>
        </p:spPr>
        <p:txBody>
          <a:bodyPr wrap="square" lIns="0" tIns="0" rIns="0" bIns="0" rtlCol="0" anchor="ctr"/>
          <a:lstStyle/>
          <a:p>
            <a:pPr indent="0" marL="0">
              <a:buNone/>
            </a:pPr>
            <a:r>
              <a:rPr lang="en-US" sz="2000" b="1" dirty="0">
                <a:solidFill>
                  <a:srgbClr val="A8442A"/>
                </a:solidFill>
                <a:latin typeface="Cambria" pitchFamily="34" charset="0"/>
                <a:ea typeface="Cambria" pitchFamily="34" charset="-122"/>
                <a:cs typeface="Cambria" pitchFamily="34" charset="-120"/>
              </a:rPr>
              <a:t>+1,6 poin persentase</a:t>
            </a:r>
            <a:endParaRPr lang="en-US" sz="2000" dirty="0"/>
          </a:p>
        </p:txBody>
      </p:sp>
      <p:sp>
        <p:nvSpPr>
          <p:cNvPr id="8" name="Text 5"/>
          <p:cNvSpPr/>
          <p:nvPr/>
        </p:nvSpPr>
        <p:spPr>
          <a:xfrm>
            <a:off x="8412480" y="3602736"/>
            <a:ext cx="2864815" cy="640080"/>
          </a:xfrm>
          <a:prstGeom prst="rect">
            <a:avLst/>
          </a:prstGeom>
          <a:noFill/>
          <a:ln/>
        </p:spPr>
        <p:txBody>
          <a:bodyPr wrap="square" lIns="0" tIns="0" rIns="0" bIns="0" rtlCol="0" anchor="t"/>
          <a:lstStyle/>
          <a:p>
            <a:pPr indent="0" marL="0">
              <a:lnSpc>
                <a:spcPts val="1600"/>
              </a:lnSpc>
              <a:buNone/>
            </a:pPr>
            <a:r>
              <a:rPr lang="en-US" sz="1200" dirty="0">
                <a:solidFill>
                  <a:srgbClr val="3A4048"/>
                </a:solidFill>
                <a:latin typeface="Calibri" pitchFamily="34" charset="0"/>
                <a:ea typeface="Calibri" pitchFamily="34" charset="-122"/>
                <a:cs typeface="Calibri" pitchFamily="34" charset="-120"/>
              </a:rPr>
              <a:t>Itu seluruh lift yang ditawarkan struktur rumah tangga.</a:t>
            </a:r>
            <a:endParaRPr lang="en-US" sz="1200" dirty="0"/>
          </a:p>
        </p:txBody>
      </p:sp>
      <p:sp>
        <p:nvSpPr>
          <p:cNvPr id="9" name="Text 6"/>
          <p:cNvSpPr/>
          <p:nvPr/>
        </p:nvSpPr>
        <p:spPr>
          <a:xfrm>
            <a:off x="640080" y="5120640"/>
            <a:ext cx="7040880" cy="457200"/>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Kami membuangnya berdasarkan besaran sinyalnya, sebelum melihat skor apa pun.</a:t>
            </a:r>
            <a:endParaRPr lang="en-US" sz="1350" dirty="0"/>
          </a:p>
        </p:txBody>
      </p:sp>
      <p:sp>
        <p:nvSpPr>
          <p:cNvPr id="11" name="Text 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2" name="Text 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Tiga juta sel dipulihkan. Skor tidak bergerak.</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Kami melatih satu model rekonstruksi per kolom, memakai kolom lain di dataset resmi.</a:t>
            </a:r>
            <a:endParaRPr lang="en-US" sz="1400" dirty="0"/>
          </a:p>
        </p:txBody>
      </p:sp>
      <p:sp>
        <p:nvSpPr>
          <p:cNvPr id="4" name="Shape 2"/>
          <p:cNvSpPr/>
          <p:nvPr/>
        </p:nvSpPr>
        <p:spPr>
          <a:xfrm>
            <a:off x="640080" y="2331720"/>
            <a:ext cx="3423818" cy="1554480"/>
          </a:xfrm>
          <a:prstGeom prst="roundRect">
            <a:avLst>
              <a:gd name="adj" fmla="val 3529"/>
            </a:avLst>
          </a:prstGeom>
          <a:solidFill>
            <a:srgbClr val="F4F1EC"/>
          </a:solidFill>
          <a:ln w="9525">
            <a:solidFill>
              <a:srgbClr val="DCD8D1"/>
            </a:solidFill>
            <a:prstDash val="solid"/>
          </a:ln>
        </p:spPr>
      </p:sp>
      <p:sp>
        <p:nvSpPr>
          <p:cNvPr id="5" name="Text 3"/>
          <p:cNvSpPr/>
          <p:nvPr/>
        </p:nvSpPr>
        <p:spPr>
          <a:xfrm>
            <a:off x="914400" y="2514600"/>
            <a:ext cx="2875178" cy="548640"/>
          </a:xfrm>
          <a:prstGeom prst="rect">
            <a:avLst/>
          </a:prstGeom>
          <a:noFill/>
          <a:ln/>
        </p:spPr>
        <p:txBody>
          <a:bodyPr wrap="square" lIns="0" tIns="0" rIns="0" bIns="0" rtlCol="0" anchor="ctr"/>
          <a:lstStyle/>
          <a:p>
            <a:pPr indent="0" marL="0">
              <a:buNone/>
            </a:pPr>
            <a:r>
              <a:rPr lang="en-US" sz="3100" b="1" dirty="0">
                <a:solidFill>
                  <a:srgbClr val="16191D"/>
                </a:solidFill>
                <a:latin typeface="Cambria" pitchFamily="34" charset="0"/>
                <a:ea typeface="Cambria" pitchFamily="34" charset="-122"/>
                <a:cs typeface="Cambria" pitchFamily="34" charset="-120"/>
              </a:rPr>
              <a:t>3.030.768</a:t>
            </a:r>
            <a:endParaRPr lang="en-US" sz="3100" dirty="0"/>
          </a:p>
        </p:txBody>
      </p:sp>
      <p:sp>
        <p:nvSpPr>
          <p:cNvPr id="6" name="Text 4"/>
          <p:cNvSpPr/>
          <p:nvPr/>
        </p:nvSpPr>
        <p:spPr>
          <a:xfrm>
            <a:off x="914400" y="3108960"/>
            <a:ext cx="2875178" cy="640080"/>
          </a:xfrm>
          <a:prstGeom prst="rect">
            <a:avLst/>
          </a:prstGeom>
          <a:noFill/>
          <a:ln/>
        </p:spPr>
        <p:txBody>
          <a:bodyPr wrap="square" lIns="0" tIns="0" rIns="0" bIns="0" rtlCol="0" anchor="t"/>
          <a:lstStyle/>
          <a:p>
            <a:pPr indent="0" marL="0">
              <a:lnSpc>
                <a:spcPts val="1500"/>
              </a:lnSpc>
              <a:buNone/>
            </a:pPr>
            <a:r>
              <a:rPr lang="en-US" sz="1150" dirty="0">
                <a:solidFill>
                  <a:srgbClr val="6E747C"/>
                </a:solidFill>
                <a:latin typeface="Calibri" pitchFamily="34" charset="0"/>
                <a:ea typeface="Calibri" pitchFamily="34" charset="-122"/>
                <a:cs typeface="Calibri" pitchFamily="34" charset="-120"/>
              </a:rPr>
              <a:t>sel ter-mask dipulihkan seluruhnya</a:t>
            </a:r>
            <a:endParaRPr lang="en-US" sz="1150" dirty="0"/>
          </a:p>
        </p:txBody>
      </p:sp>
      <p:sp>
        <p:nvSpPr>
          <p:cNvPr id="7" name="Shape 5"/>
          <p:cNvSpPr/>
          <p:nvPr/>
        </p:nvSpPr>
        <p:spPr>
          <a:xfrm>
            <a:off x="4383938" y="2331720"/>
            <a:ext cx="3423818" cy="1554480"/>
          </a:xfrm>
          <a:prstGeom prst="roundRect">
            <a:avLst>
              <a:gd name="adj" fmla="val 3529"/>
            </a:avLst>
          </a:prstGeom>
          <a:solidFill>
            <a:srgbClr val="F4F1EC"/>
          </a:solidFill>
          <a:ln w="9525">
            <a:solidFill>
              <a:srgbClr val="DCD8D1"/>
            </a:solidFill>
            <a:prstDash val="solid"/>
          </a:ln>
        </p:spPr>
      </p:sp>
      <p:sp>
        <p:nvSpPr>
          <p:cNvPr id="8" name="Text 6"/>
          <p:cNvSpPr/>
          <p:nvPr/>
        </p:nvSpPr>
        <p:spPr>
          <a:xfrm>
            <a:off x="4658258" y="2514600"/>
            <a:ext cx="2875178" cy="548640"/>
          </a:xfrm>
          <a:prstGeom prst="rect">
            <a:avLst/>
          </a:prstGeom>
          <a:noFill/>
          <a:ln/>
        </p:spPr>
        <p:txBody>
          <a:bodyPr wrap="square" lIns="0" tIns="0" rIns="0" bIns="0" rtlCol="0" anchor="ctr"/>
          <a:lstStyle/>
          <a:p>
            <a:pPr indent="0" marL="0">
              <a:buNone/>
            </a:pPr>
            <a:r>
              <a:rPr lang="en-US" sz="3100" b="1" dirty="0">
                <a:solidFill>
                  <a:srgbClr val="16191D"/>
                </a:solidFill>
                <a:latin typeface="Cambria" pitchFamily="34" charset="0"/>
                <a:ea typeface="Cambria" pitchFamily="34" charset="-122"/>
                <a:cs typeface="Cambria" pitchFamily="34" charset="-120"/>
              </a:rPr>
              <a:t>78</a:t>
            </a:r>
            <a:endParaRPr lang="en-US" sz="3100" dirty="0"/>
          </a:p>
        </p:txBody>
      </p:sp>
      <p:sp>
        <p:nvSpPr>
          <p:cNvPr id="9" name="Text 7"/>
          <p:cNvSpPr/>
          <p:nvPr/>
        </p:nvSpPr>
        <p:spPr>
          <a:xfrm>
            <a:off x="4658258" y="3108960"/>
            <a:ext cx="2875178" cy="640080"/>
          </a:xfrm>
          <a:prstGeom prst="rect">
            <a:avLst/>
          </a:prstGeom>
          <a:noFill/>
          <a:ln/>
        </p:spPr>
        <p:txBody>
          <a:bodyPr wrap="square" lIns="0" tIns="0" rIns="0" bIns="0" rtlCol="0" anchor="t"/>
          <a:lstStyle/>
          <a:p>
            <a:pPr indent="0" marL="0">
              <a:lnSpc>
                <a:spcPts val="1500"/>
              </a:lnSpc>
              <a:buNone/>
            </a:pPr>
            <a:r>
              <a:rPr lang="en-US" sz="1150" dirty="0">
                <a:solidFill>
                  <a:srgbClr val="6E747C"/>
                </a:solidFill>
                <a:latin typeface="Calibri" pitchFamily="34" charset="0"/>
                <a:ea typeface="Calibri" pitchFamily="34" charset="-122"/>
                <a:cs typeface="Calibri" pitchFamily="34" charset="-120"/>
              </a:rPr>
              <a:t>kolom pulih di atas 95%, lima di antaranya sempurna</a:t>
            </a:r>
            <a:endParaRPr lang="en-US" sz="1150" dirty="0"/>
          </a:p>
        </p:txBody>
      </p:sp>
      <p:sp>
        <p:nvSpPr>
          <p:cNvPr id="10" name="Shape 8"/>
          <p:cNvSpPr/>
          <p:nvPr/>
        </p:nvSpPr>
        <p:spPr>
          <a:xfrm>
            <a:off x="8127797" y="2331720"/>
            <a:ext cx="3423818" cy="1554480"/>
          </a:xfrm>
          <a:prstGeom prst="roundRect">
            <a:avLst>
              <a:gd name="adj" fmla="val 3529"/>
            </a:avLst>
          </a:prstGeom>
          <a:solidFill>
            <a:srgbClr val="F4F1EC"/>
          </a:solidFill>
          <a:ln w="9525">
            <a:solidFill>
              <a:srgbClr val="DCD8D1"/>
            </a:solidFill>
            <a:prstDash val="solid"/>
          </a:ln>
        </p:spPr>
      </p:sp>
      <p:sp>
        <p:nvSpPr>
          <p:cNvPr id="11" name="Text 9"/>
          <p:cNvSpPr/>
          <p:nvPr/>
        </p:nvSpPr>
        <p:spPr>
          <a:xfrm>
            <a:off x="8402117" y="2514600"/>
            <a:ext cx="2875178" cy="548640"/>
          </a:xfrm>
          <a:prstGeom prst="rect">
            <a:avLst/>
          </a:prstGeom>
          <a:noFill/>
          <a:ln/>
        </p:spPr>
        <p:txBody>
          <a:bodyPr wrap="square" lIns="0" tIns="0" rIns="0" bIns="0" rtlCol="0" anchor="ctr"/>
          <a:lstStyle/>
          <a:p>
            <a:pPr indent="0" marL="0">
              <a:buNone/>
            </a:pPr>
            <a:r>
              <a:rPr lang="en-US" sz="2300" b="1" dirty="0">
                <a:solidFill>
                  <a:srgbClr val="A8442A"/>
                </a:solidFill>
                <a:latin typeface="Cambria" pitchFamily="34" charset="0"/>
                <a:ea typeface="Cambria" pitchFamily="34" charset="-122"/>
                <a:cs typeface="Cambria" pitchFamily="34" charset="-120"/>
              </a:rPr>
              <a:t>0,4755 – 0,4806</a:t>
            </a:r>
            <a:endParaRPr lang="en-US" sz="2300" dirty="0"/>
          </a:p>
        </p:txBody>
      </p:sp>
      <p:sp>
        <p:nvSpPr>
          <p:cNvPr id="12" name="Text 10"/>
          <p:cNvSpPr/>
          <p:nvPr/>
        </p:nvSpPr>
        <p:spPr>
          <a:xfrm>
            <a:off x="8402117" y="3108960"/>
            <a:ext cx="2875178" cy="640080"/>
          </a:xfrm>
          <a:prstGeom prst="rect">
            <a:avLst/>
          </a:prstGeom>
          <a:noFill/>
          <a:ln/>
        </p:spPr>
        <p:txBody>
          <a:bodyPr wrap="square" lIns="0" tIns="0" rIns="0" bIns="0" rtlCol="0" anchor="t"/>
          <a:lstStyle/>
          <a:p>
            <a:pPr indent="0" marL="0">
              <a:lnSpc>
                <a:spcPts val="1500"/>
              </a:lnSpc>
              <a:buNone/>
            </a:pPr>
            <a:r>
              <a:rPr lang="en-US" sz="1150" dirty="0">
                <a:solidFill>
                  <a:srgbClr val="6E747C"/>
                </a:solidFill>
                <a:latin typeface="Calibri" pitchFamily="34" charset="0"/>
                <a:ea typeface="Calibri" pitchFamily="34" charset="-122"/>
                <a:cs typeface="Calibri" pitchFamily="34" charset="-120"/>
              </a:rPr>
              <a:t>QWK pada tiga tingkat pemulihan</a:t>
            </a:r>
            <a:endParaRPr lang="en-US" sz="1150" dirty="0"/>
          </a:p>
        </p:txBody>
      </p:sp>
      <p:sp>
        <p:nvSpPr>
          <p:cNvPr id="13" name="Shape 11"/>
          <p:cNvSpPr/>
          <p:nvPr/>
        </p:nvSpPr>
        <p:spPr>
          <a:xfrm>
            <a:off x="640080" y="4206240"/>
            <a:ext cx="10911535" cy="1188720"/>
          </a:xfrm>
          <a:prstGeom prst="roundRect">
            <a:avLst>
              <a:gd name="adj" fmla="val 4615"/>
            </a:avLst>
          </a:prstGeom>
          <a:solidFill>
            <a:srgbClr val="16191D"/>
          </a:solidFill>
          <a:ln/>
        </p:spPr>
      </p:sp>
      <p:sp>
        <p:nvSpPr>
          <p:cNvPr id="14" name="Text 12"/>
          <p:cNvSpPr/>
          <p:nvPr/>
        </p:nvSpPr>
        <p:spPr>
          <a:xfrm>
            <a:off x="914400" y="4206240"/>
            <a:ext cx="10362895" cy="11887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Yang dapat dipulihkan adalah redundansi, bukan sinyal.</a:t>
            </a:r>
            <a:endParaRPr lang="en-US" sz="2800" dirty="0"/>
          </a:p>
        </p:txBody>
      </p:sp>
      <p:sp>
        <p:nvSpPr>
          <p:cNvPr id="15" name="Text 13"/>
          <p:cNvSpPr/>
          <p:nvPr/>
        </p:nvSpPr>
        <p:spPr>
          <a:xfrm>
            <a:off x="640080" y="5577840"/>
            <a:ext cx="10911535" cy="310896"/>
          </a:xfrm>
          <a:prstGeom prst="rect">
            <a:avLst/>
          </a:prstGeom>
          <a:noFill/>
          <a:ln/>
        </p:spPr>
        <p:txBody>
          <a:bodyPr wrap="square" lIns="0" tIns="0" rIns="0" bIns="0" rtlCol="0" anchor="ctr"/>
          <a:lstStyle/>
          <a:p>
            <a:pPr algn="l" indent="0" marL="0">
              <a:buNone/>
            </a:pPr>
            <a:r>
              <a:rPr lang="en-US" sz="1200" i="1" dirty="0">
                <a:solidFill>
                  <a:srgbClr val="6E747C"/>
                </a:solidFill>
                <a:latin typeface="Calibri" pitchFamily="34" charset="0"/>
                <a:ea typeface="Calibri" pitchFamily="34" charset="-122"/>
                <a:cs typeface="Calibri" pitchFamily="34" charset="-120"/>
              </a:rPr>
              <a:t>Nilai yang bisa ditebak 99% akurat dari kolom lain, menurut definisi, tidak membawa informasi baru.</a:t>
            </a:r>
            <a:endParaRPr lang="en-US" sz="1200" dirty="0"/>
          </a:p>
        </p:txBody>
      </p:sp>
      <p:sp>
        <p:nvSpPr>
          <p:cNvPr id="17"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Kami membangun alat untuk membunuh ide kami sendiri.</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Ambang batas per segmen terdengar benar, dan skornya memang naik.</a:t>
            </a:r>
            <a:endParaRPr lang="en-US" sz="1400" dirty="0"/>
          </a:p>
        </p:txBody>
      </p:sp>
      <p:sp>
        <p:nvSpPr>
          <p:cNvPr id="4" name="Shape 2"/>
          <p:cNvSpPr/>
          <p:nvPr/>
        </p:nvSpPr>
        <p:spPr>
          <a:xfrm>
            <a:off x="640080" y="2331720"/>
            <a:ext cx="5272888" cy="1920240"/>
          </a:xfrm>
          <a:prstGeom prst="roundRect">
            <a:avLst>
              <a:gd name="adj" fmla="val 2857"/>
            </a:avLst>
          </a:prstGeom>
          <a:solidFill>
            <a:srgbClr val="F4F1EC"/>
          </a:solidFill>
          <a:ln w="9525">
            <a:solidFill>
              <a:srgbClr val="DCD8D1"/>
            </a:solidFill>
            <a:prstDash val="solid"/>
          </a:ln>
        </p:spPr>
      </p:sp>
      <p:sp>
        <p:nvSpPr>
          <p:cNvPr id="5" name="Text 3"/>
          <p:cNvSpPr/>
          <p:nvPr/>
        </p:nvSpPr>
        <p:spPr>
          <a:xfrm>
            <a:off x="914400" y="2542032"/>
            <a:ext cx="472424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TERLIHAT</a:t>
            </a:r>
            <a:endParaRPr lang="en-US" sz="1050" dirty="0"/>
          </a:p>
        </p:txBody>
      </p:sp>
      <p:sp>
        <p:nvSpPr>
          <p:cNvPr id="6" name="Text 4"/>
          <p:cNvSpPr/>
          <p:nvPr/>
        </p:nvSpPr>
        <p:spPr>
          <a:xfrm>
            <a:off x="914400" y="2834640"/>
            <a:ext cx="4724248" cy="502920"/>
          </a:xfrm>
          <a:prstGeom prst="rect">
            <a:avLst/>
          </a:prstGeom>
          <a:noFill/>
          <a:ln/>
        </p:spPr>
        <p:txBody>
          <a:bodyPr wrap="square" lIns="0" tIns="0" rIns="0" bIns="0" rtlCol="0" anchor="ctr"/>
          <a:lstStyle/>
          <a:p>
            <a:pPr indent="0" marL="0">
              <a:buNone/>
            </a:pPr>
            <a:r>
              <a:rPr lang="en-US" sz="2700" b="1" dirty="0">
                <a:solidFill>
                  <a:srgbClr val="2F6B5F"/>
                </a:solidFill>
                <a:latin typeface="Cambria" pitchFamily="34" charset="0"/>
                <a:ea typeface="Cambria" pitchFamily="34" charset="-122"/>
                <a:cs typeface="Cambria" pitchFamily="34" charset="-120"/>
              </a:rPr>
              <a:t>QWK naik</a:t>
            </a:r>
            <a:endParaRPr lang="en-US" sz="2700" dirty="0"/>
          </a:p>
        </p:txBody>
      </p:sp>
      <p:sp>
        <p:nvSpPr>
          <p:cNvPr id="7" name="Text 5"/>
          <p:cNvSpPr/>
          <p:nvPr/>
        </p:nvSpPr>
        <p:spPr>
          <a:xfrm>
            <a:off x="914400" y="3401568"/>
            <a:ext cx="4724248" cy="731520"/>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Makin banyak segmen, makin tinggi skornya pada himpunan tempat ambang dipasang.</a:t>
            </a:r>
            <a:endParaRPr lang="en-US" sz="1250" dirty="0"/>
          </a:p>
        </p:txBody>
      </p:sp>
      <p:sp>
        <p:nvSpPr>
          <p:cNvPr id="8" name="Shape 6"/>
          <p:cNvSpPr/>
          <p:nvPr/>
        </p:nvSpPr>
        <p:spPr>
          <a:xfrm>
            <a:off x="6278728" y="2331720"/>
            <a:ext cx="5272888" cy="1920240"/>
          </a:xfrm>
          <a:prstGeom prst="roundRect">
            <a:avLst>
              <a:gd name="adj" fmla="val 2857"/>
            </a:avLst>
          </a:prstGeom>
          <a:solidFill>
            <a:srgbClr val="F4F1EC"/>
          </a:solidFill>
          <a:ln w="9525">
            <a:solidFill>
              <a:srgbClr val="DCD8D1"/>
            </a:solidFill>
            <a:prstDash val="solid"/>
          </a:ln>
        </p:spPr>
      </p:sp>
      <p:sp>
        <p:nvSpPr>
          <p:cNvPr id="9" name="Text 7"/>
          <p:cNvSpPr/>
          <p:nvPr/>
        </p:nvSpPr>
        <p:spPr>
          <a:xfrm>
            <a:off x="6553048" y="2542032"/>
            <a:ext cx="472424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SEBENARNYA TERJADI</a:t>
            </a:r>
            <a:endParaRPr lang="en-US" sz="1050" dirty="0"/>
          </a:p>
        </p:txBody>
      </p:sp>
      <p:sp>
        <p:nvSpPr>
          <p:cNvPr id="10" name="Text 8"/>
          <p:cNvSpPr/>
          <p:nvPr/>
        </p:nvSpPr>
        <p:spPr>
          <a:xfrm>
            <a:off x="6553048" y="2834640"/>
            <a:ext cx="4724248" cy="502920"/>
          </a:xfrm>
          <a:prstGeom prst="rect">
            <a:avLst/>
          </a:prstGeom>
          <a:noFill/>
          <a:ln/>
        </p:spPr>
        <p:txBody>
          <a:bodyPr wrap="square" lIns="0" tIns="0" rIns="0" bIns="0" rtlCol="0" anchor="ctr"/>
          <a:lstStyle/>
          <a:p>
            <a:pPr indent="0" marL="0">
              <a:buNone/>
            </a:pPr>
            <a:r>
              <a:rPr lang="en-US" sz="2700" b="1" dirty="0">
                <a:solidFill>
                  <a:srgbClr val="A8442A"/>
                </a:solidFill>
                <a:latin typeface="Cambria" pitchFamily="34" charset="0"/>
                <a:ea typeface="Cambria" pitchFamily="34" charset="-122"/>
                <a:cs typeface="Cambria" pitchFamily="34" charset="-120"/>
              </a:rPr>
              <a:t>Held-out turun</a:t>
            </a:r>
            <a:endParaRPr lang="en-US" sz="2700" dirty="0"/>
          </a:p>
        </p:txBody>
      </p:sp>
      <p:sp>
        <p:nvSpPr>
          <p:cNvPr id="11" name="Text 9"/>
          <p:cNvSpPr/>
          <p:nvPr/>
        </p:nvSpPr>
        <p:spPr>
          <a:xfrm>
            <a:off x="6553048" y="3401568"/>
            <a:ext cx="4724248" cy="731520"/>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Uji split-half: tiap parameter tambahan menaikkan in-sample dan menurunkan held-out.</a:t>
            </a:r>
            <a:endParaRPr lang="en-US" sz="1250" dirty="0"/>
          </a:p>
        </p:txBody>
      </p:sp>
      <p:sp>
        <p:nvSpPr>
          <p:cNvPr id="12" name="Shape 10"/>
          <p:cNvSpPr/>
          <p:nvPr/>
        </p:nvSpPr>
        <p:spPr>
          <a:xfrm>
            <a:off x="640080" y="4572000"/>
            <a:ext cx="10911535" cy="1371600"/>
          </a:xfrm>
          <a:prstGeom prst="roundRect">
            <a:avLst>
              <a:gd name="adj" fmla="val 4000"/>
            </a:avLst>
          </a:prstGeom>
          <a:solidFill>
            <a:srgbClr val="ECE7DF"/>
          </a:solidFill>
          <a:ln w="9525">
            <a:solidFill>
              <a:srgbClr val="DCD8D1"/>
            </a:solidFill>
            <a:prstDash val="solid"/>
          </a:ln>
        </p:spPr>
      </p:sp>
      <p:sp>
        <p:nvSpPr>
          <p:cNvPr id="13" name="Text 11"/>
          <p:cNvSpPr/>
          <p:nvPr/>
        </p:nvSpPr>
        <p:spPr>
          <a:xfrm>
            <a:off x="932688" y="4572000"/>
            <a:ext cx="10326319" cy="1371600"/>
          </a:xfrm>
          <a:prstGeom prst="rect">
            <a:avLst/>
          </a:prstGeom>
          <a:noFill/>
          <a:ln/>
        </p:spPr>
        <p:txBody>
          <a:bodyPr wrap="square" lIns="0" tIns="0" rIns="0" bIns="0" rtlCol="0" anchor="ctr"/>
          <a:lstStyle/>
          <a:p>
            <a:pPr indent="0" marL="0">
              <a:lnSpc>
                <a:spcPts val="2000"/>
              </a:lnSpc>
              <a:buNone/>
            </a:pPr>
            <a:r>
              <a:rPr lang="en-US" sz="1600" b="1" dirty="0">
                <a:solidFill>
                  <a:srgbClr val="A8442A"/>
                </a:solidFill>
                <a:latin typeface="Calibri" pitchFamily="34" charset="0"/>
                <a:ea typeface="Calibri" pitchFamily="34" charset="-122"/>
                <a:cs typeface="Calibri" pitchFamily="34" charset="-120"/>
              </a:rPr>
              <a:t>Ditolak. </a:t>
            </a:r>
            <a:pPr indent="0" marL="0">
              <a:lnSpc>
                <a:spcPts val="2000"/>
              </a:lnSpc>
              <a:buNone/>
            </a:pPr>
            <a:r>
              <a:rPr lang="en-US" sz="1400" dirty="0">
                <a:solidFill>
                  <a:srgbClr val="3A4048"/>
                </a:solidFill>
                <a:latin typeface="Calibri" pitchFamily="34" charset="0"/>
                <a:ea typeface="Calibri" pitchFamily="34" charset="-122"/>
                <a:cs typeface="Calibri" pitchFamily="34" charset="-120"/>
              </a:rPr>
              <a:t>Tanpa uji split-half, konfigurasi ini akan terlihat sebagai perbaikan terbesar kedua dalam proyek, dan akan merugikan kami di data uji.</a:t>
            </a:r>
            <a:endParaRPr lang="en-US" sz="1600" dirty="0"/>
          </a:p>
        </p:txBody>
      </p:sp>
      <p:sp>
        <p:nvSpPr>
          <p:cNvPr id="15" name="Text 12"/>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6" name="Text 1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Tidak ada kriteria data latih yang bisa menebak pemenang.</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Dua puluh konfigurasi yang sama-sama masuk akal, diuji dengan dua kriteria.</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2468880"/>
          <a:ext cx="6035040" cy="914400"/>
        </p:xfrm>
        <a:graphic>
          <a:graphicData uri="http://schemas.openxmlformats.org/drawingml/2006/table">
            <a:tbl>
              <a:tblPr/>
              <a:tblGrid>
                <a:gridCol w="3566160"/>
                <a:gridCol w="2468880"/>
              </a:tblGrid>
              <a:tr h="438912">
                <a:tc>
                  <a:txBody>
                    <a:bodyPr/>
                    <a:lstStyle/>
                    <a:p>
                      <a:pPr algn="l" indent="0" marL="0">
                        <a:buNone/>
                      </a:pPr>
                      <a:r>
                        <a:rPr lang="en-US" sz="1350" b="1" dirty="0">
                          <a:solidFill>
                            <a:srgbClr val="16191D"/>
                          </a:solidFill>
                          <a:latin typeface="Calibri" pitchFamily="34" charset="0"/>
                          <a:ea typeface="Calibri" pitchFamily="34" charset="-122"/>
                          <a:cs typeface="Calibri" pitchFamily="34" charset="-120"/>
                        </a:rPr>
                        <a:t>Kriteria seleksi</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16191D"/>
                          </a:solidFill>
                          <a:latin typeface="Calibri" pitchFamily="34" charset="0"/>
                          <a:ea typeface="Calibri" pitchFamily="34" charset="-122"/>
                          <a:cs typeface="Calibri" pitchFamily="34" charset="-120"/>
                        </a:rPr>
                        <a:t>Korelasi dengan kinerja pada data uji</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38912">
                <a:tc>
                  <a:txBody>
                    <a:bodyPr/>
                    <a:lstStyle/>
                    <a:p>
                      <a:pPr algn="l" indent="0" marL="0">
                        <a:buNone/>
                      </a:pPr>
                      <a:r>
                        <a:rPr lang="en-US" sz="1350" dirty="0">
                          <a:solidFill>
                            <a:srgbClr val="3A4048"/>
                          </a:solidFill>
                          <a:latin typeface="Calibri" pitchFamily="34" charset="0"/>
                          <a:ea typeface="Calibri" pitchFamily="34" charset="-122"/>
                          <a:cs typeface="Calibri" pitchFamily="34" charset="-120"/>
                        </a:rPr>
                        <a:t>QWK out-of-fold</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b="1" dirty="0">
                          <a:solidFill>
                            <a:srgbClr val="A8442A"/>
                          </a:solidFill>
                          <a:latin typeface="Calibri" pitchFamily="34" charset="0"/>
                          <a:ea typeface="Calibri" pitchFamily="34" charset="-122"/>
                          <a:cs typeface="Calibri" pitchFamily="34" charset="-120"/>
                        </a:rPr>
                        <a:t>≈ 0,08</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38912">
                <a:tc>
                  <a:txBody>
                    <a:bodyPr/>
                    <a:lstStyle/>
                    <a:p>
                      <a:pPr algn="l" indent="0" marL="0">
                        <a:buNone/>
                      </a:pPr>
                      <a:r>
                        <a:rPr lang="en-US" sz="1350" dirty="0">
                          <a:solidFill>
                            <a:srgbClr val="3A4048"/>
                          </a:solidFill>
                          <a:latin typeface="Calibri" pitchFamily="34" charset="0"/>
                          <a:ea typeface="Calibri" pitchFamily="34" charset="-122"/>
                          <a:cs typeface="Calibri" pitchFamily="34" charset="-120"/>
                        </a:rPr>
                        <a:t>QWK held-out, uji split-half</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A8442A"/>
                          </a:solidFill>
                          <a:latin typeface="Calibri" pitchFamily="34" charset="0"/>
                          <a:ea typeface="Calibri" pitchFamily="34" charset="-122"/>
                          <a:cs typeface="Calibri" pitchFamily="34" charset="-120"/>
                        </a:rPr>
                        <a:t>≈ 0,16</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Text 2"/>
          <p:cNvSpPr/>
          <p:nvPr/>
        </p:nvSpPr>
        <p:spPr>
          <a:xfrm>
            <a:off x="7315200" y="2514600"/>
            <a:ext cx="4236415" cy="566928"/>
          </a:xfrm>
          <a:prstGeom prst="rect">
            <a:avLst/>
          </a:prstGeom>
          <a:noFill/>
          <a:ln/>
        </p:spPr>
        <p:txBody>
          <a:bodyPr wrap="square" lIns="0" tIns="0" rIns="0" bIns="0" rtlCol="0" anchor="b"/>
          <a:lstStyle/>
          <a:p>
            <a:pPr algn="l" indent="0" marL="0">
              <a:buNone/>
            </a:pPr>
            <a:r>
              <a:rPr lang="en-US" sz="3600" b="1" dirty="0">
                <a:solidFill>
                  <a:srgbClr val="16191D"/>
                </a:solidFill>
                <a:latin typeface="Cambria" pitchFamily="34" charset="0"/>
                <a:ea typeface="Cambria" pitchFamily="34" charset="-122"/>
                <a:cs typeface="Cambria" pitchFamily="34" charset="-120"/>
              </a:rPr>
              <a:t>0,003</a:t>
            </a:r>
            <a:endParaRPr lang="en-US" sz="3600" dirty="0"/>
          </a:p>
        </p:txBody>
      </p:sp>
      <p:sp>
        <p:nvSpPr>
          <p:cNvPr id="6" name="Text 3"/>
          <p:cNvSpPr/>
          <p:nvPr/>
        </p:nvSpPr>
        <p:spPr>
          <a:xfrm>
            <a:off x="7315200" y="3118104"/>
            <a:ext cx="4236415" cy="64008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Rentang QWK di antara kedua puluh konfigurasi itu</a:t>
            </a:r>
            <a:endParaRPr lang="en-US" sz="1050" dirty="0"/>
          </a:p>
        </p:txBody>
      </p:sp>
      <p:sp>
        <p:nvSpPr>
          <p:cNvPr id="7" name="Shape 4"/>
          <p:cNvSpPr/>
          <p:nvPr/>
        </p:nvSpPr>
        <p:spPr>
          <a:xfrm>
            <a:off x="640080" y="4114800"/>
            <a:ext cx="10911535" cy="914400"/>
          </a:xfrm>
          <a:prstGeom prst="roundRect">
            <a:avLst>
              <a:gd name="adj" fmla="val 6000"/>
            </a:avLst>
          </a:prstGeom>
          <a:solidFill>
            <a:srgbClr val="16191D"/>
          </a:solidFill>
          <a:ln/>
        </p:spPr>
      </p:sp>
      <p:sp>
        <p:nvSpPr>
          <p:cNvPr id="8" name="Text 5"/>
          <p:cNvSpPr/>
          <p:nvPr/>
        </p:nvSpPr>
        <p:spPr>
          <a:xfrm>
            <a:off x="914400" y="4114800"/>
            <a:ext cx="10362895" cy="9144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Mengejar skor tertinggi pada rentang ini bukan optimasi. Itu memilih derau.</a:t>
            </a:r>
            <a:endParaRPr lang="en-US" sz="2300" dirty="0"/>
          </a:p>
        </p:txBody>
      </p:sp>
      <p:sp>
        <p:nvSpPr>
          <p:cNvPr id="9" name="Text 6"/>
          <p:cNvSpPr/>
          <p:nvPr/>
        </p:nvSpPr>
        <p:spPr>
          <a:xfrm>
            <a:off x="640080" y="5257800"/>
            <a:ext cx="10911535" cy="310896"/>
          </a:xfrm>
          <a:prstGeom prst="rect">
            <a:avLst/>
          </a:prstGeom>
          <a:noFill/>
          <a:ln/>
        </p:spPr>
        <p:txBody>
          <a:bodyPr wrap="square" lIns="0" tIns="0" rIns="0" bIns="0" rtlCol="0" anchor="ctr"/>
          <a:lstStyle/>
          <a:p>
            <a:pPr algn="l" indent="0" marL="0">
              <a:buNone/>
            </a:pPr>
            <a:r>
              <a:rPr lang="en-US" sz="1250" i="1" dirty="0">
                <a:solidFill>
                  <a:srgbClr val="6E747C"/>
                </a:solidFill>
                <a:latin typeface="Calibri" pitchFamily="34" charset="0"/>
                <a:ea typeface="Calibri" pitchFamily="34" charset="-122"/>
                <a:cs typeface="Calibri" pitchFamily="34" charset="-120"/>
              </a:rPr>
              <a:t>Karena itu kombinasi dan strategi ambang kami tetapkan di muka, berdasarkan sifat penduga, bukan skor.</a:t>
            </a:r>
            <a:endParaRPr lang="en-US" sz="1250" dirty="0"/>
          </a:p>
        </p:txBody>
      </p:sp>
      <p:sp>
        <p:nvSpPr>
          <p:cNvPr id="11" name="Text 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2" name="Text 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584"/>
              </a:lnSpc>
              <a:buNone/>
            </a:pPr>
            <a:r>
              <a:rPr lang="en-US" sz="3200" b="1" dirty="0">
                <a:solidFill>
                  <a:srgbClr val="16191D"/>
                </a:solidFill>
                <a:latin typeface="Cambria" pitchFamily="34" charset="0"/>
                <a:ea typeface="Cambria" pitchFamily="34" charset="-122"/>
                <a:cs typeface="Cambria" pitchFamily="34" charset="-120"/>
              </a:rPr>
              <a:t>Enam belas jalan buntu, lengkap dengan angkanya.</a:t>
            </a:r>
            <a:endParaRPr lang="en-US" sz="32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Hasil negatif kami laporkan selengkap hasil positif.</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3108960"/>
                <a:gridCol w="3108960"/>
                <a:gridCol w="1874520"/>
                <a:gridCol w="2816352"/>
              </a:tblGrid>
              <a:tr h="219456">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Eksperimen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Cakupan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QWK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Kesimpulan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Pencarian hyperparameter acak</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28 konfigurasi LightGBM</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0,465 – 0,467</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ada yang menonjol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Rekonstruksi nilai hilang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3.030.768 sel dipulihkan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0,4755 – 0,4806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Datar di tiga tingkat</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sampel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 tingkat bobot minoritas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0,458 – 0,469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Menurun monoton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Self-training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Pseudo-label data uji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survei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survey_weight sebagai bobot</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0,4726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Bagging 9 model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6 LightGBM + 3 CatBoost</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0,4820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stacking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Blending 25 kandidat</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Greedy, z-score, rank-avg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0,4834 – 0,4839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Setara yang terbaik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Vektor nilai kelas terlatih</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Mengganti bobot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Optimum tetap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Aturan linear pada simpleks</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argmax(W·p + b)</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0,4744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ordinal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Model fondasi tabular</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TabPFN v2 pada GPU</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selesai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85 menit per bag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Ambang batas per segmen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Tahun, kesehatan, usia</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tampak naik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Terbukti overfit</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Fitur komposit</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Indeks gabungan buatan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−0,00090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Dibuang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Kode 7/8/9 jadi NaN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Penanganan non-respons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derau</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Target encoding rumah tangga</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11.620 rumah tangga</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lift +1,6pp</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Ditolak sebelum dipakai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Text 2"/>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7" name="Text 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Plafon ini milik data, bukan milik kami.</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Pipeline dilatih ulang pada 12, 25, 45, 70, dan 100 persen data.</a:t>
            </a:r>
            <a:endParaRPr lang="en-US" sz="1400" dirty="0"/>
          </a:p>
        </p:txBody>
      </p:sp>
      <p:graphicFrame>
        <p:nvGraphicFramePr>
          <p:cNvPr id="4" name="Chart 0" descr=""/>
          <p:cNvGraphicFramePr/>
          <p:nvPr/>
        </p:nvGraphicFramePr>
        <p:xfrm>
          <a:off x="594360" y="2240280"/>
          <a:ext cx="722376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5559552"/>
            <a:ext cx="7132320" cy="310896"/>
          </a:xfrm>
          <a:prstGeom prst="rect">
            <a:avLst/>
          </a:prstGeom>
          <a:noFill/>
          <a:ln/>
        </p:spPr>
        <p:txBody>
          <a:bodyPr wrap="square" lIns="0" tIns="0" rIns="0" bIns="0" rtlCol="0" anchor="ctr"/>
          <a:lstStyle/>
          <a:p>
            <a:pPr algn="ctr" indent="0" marL="0">
              <a:buNone/>
            </a:pPr>
            <a:r>
              <a:rPr lang="en-US" sz="1050" i="1" dirty="0">
                <a:solidFill>
                  <a:srgbClr val="6E747C"/>
                </a:solidFill>
                <a:latin typeface="Calibri" pitchFamily="34" charset="0"/>
                <a:ea typeface="Calibri" pitchFamily="34" charset="-122"/>
                <a:cs typeface="Calibri" pitchFamily="34" charset="-120"/>
              </a:rPr>
              <a:t>Jumlah baris data latih</a:t>
            </a:r>
            <a:endParaRPr lang="en-US" sz="1050" dirty="0"/>
          </a:p>
        </p:txBody>
      </p:sp>
      <p:sp>
        <p:nvSpPr>
          <p:cNvPr id="6" name="Shape 3"/>
          <p:cNvSpPr/>
          <p:nvPr/>
        </p:nvSpPr>
        <p:spPr>
          <a:xfrm>
            <a:off x="8138160" y="2331720"/>
            <a:ext cx="3413455" cy="822960"/>
          </a:xfrm>
          <a:prstGeom prst="roundRect">
            <a:avLst>
              <a:gd name="adj" fmla="val 6667"/>
            </a:avLst>
          </a:prstGeom>
          <a:solidFill>
            <a:srgbClr val="16191D"/>
          </a:solidFill>
          <a:ln w="9525">
            <a:solidFill>
              <a:srgbClr val="16191D"/>
            </a:solidFill>
            <a:prstDash val="solid"/>
          </a:ln>
        </p:spPr>
      </p:sp>
      <p:sp>
        <p:nvSpPr>
          <p:cNvPr id="7" name="Text 4"/>
          <p:cNvSpPr/>
          <p:nvPr/>
        </p:nvSpPr>
        <p:spPr>
          <a:xfrm>
            <a:off x="8247888" y="2331720"/>
            <a:ext cx="3193999" cy="822960"/>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QWK = 0,29209 + 0,01613 · ln(n)</a:t>
            </a:r>
            <a:endParaRPr lang="en-US" sz="1350" dirty="0"/>
          </a:p>
        </p:txBody>
      </p:sp>
      <p:sp>
        <p:nvSpPr>
          <p:cNvPr id="8" name="Text 5"/>
          <p:cNvSpPr/>
          <p:nvPr/>
        </p:nvSpPr>
        <p:spPr>
          <a:xfrm>
            <a:off x="8138160" y="3429000"/>
            <a:ext cx="3413455" cy="566928"/>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0,9143</a:t>
            </a:r>
            <a:endParaRPr lang="en-US" sz="3400" dirty="0"/>
          </a:p>
        </p:txBody>
      </p:sp>
      <p:sp>
        <p:nvSpPr>
          <p:cNvPr id="9" name="Text 6"/>
          <p:cNvSpPr/>
          <p:nvPr/>
        </p:nvSpPr>
        <p:spPr>
          <a:xfrm>
            <a:off x="8138160" y="4032504"/>
            <a:ext cx="341345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R² kecocokan terhadap lima titik terukur</a:t>
            </a:r>
            <a:endParaRPr lang="en-US" sz="1050" dirty="0"/>
          </a:p>
        </p:txBody>
      </p:sp>
      <p:sp>
        <p:nvSpPr>
          <p:cNvPr id="10" name="Text 7"/>
          <p:cNvSpPr/>
          <p:nvPr/>
        </p:nvSpPr>
        <p:spPr>
          <a:xfrm>
            <a:off x="8138160" y="4572000"/>
            <a:ext cx="3413455" cy="566928"/>
          </a:xfrm>
          <a:prstGeom prst="rect">
            <a:avLst/>
          </a:prstGeom>
          <a:noFill/>
          <a:ln/>
        </p:spPr>
        <p:txBody>
          <a:bodyPr wrap="square" lIns="0" tIns="0" rIns="0" bIns="0" rtlCol="0" anchor="b"/>
          <a:lstStyle/>
          <a:p>
            <a:pPr algn="l" indent="0" marL="0">
              <a:buNone/>
            </a:pPr>
            <a:r>
              <a:rPr lang="en-US" sz="3400" b="1" dirty="0">
                <a:solidFill>
                  <a:srgbClr val="A8442A"/>
                </a:solidFill>
                <a:latin typeface="Cambria" pitchFamily="34" charset="0"/>
                <a:ea typeface="Cambria" pitchFamily="34" charset="-122"/>
                <a:cs typeface="Cambria" pitchFamily="34" charset="-120"/>
              </a:rPr>
              <a:t>+0,01118</a:t>
            </a:r>
            <a:endParaRPr lang="en-US" sz="3400" dirty="0"/>
          </a:p>
        </p:txBody>
      </p:sp>
      <p:sp>
        <p:nvSpPr>
          <p:cNvPr id="11" name="Text 8"/>
          <p:cNvSpPr/>
          <p:nvPr/>
        </p:nvSpPr>
        <p:spPr>
          <a:xfrm>
            <a:off x="8138160" y="5175504"/>
            <a:ext cx="341345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Kenaikan per penggandaan data</a:t>
            </a:r>
            <a:endParaRPr lang="en-US" sz="1050" dirty="0"/>
          </a:p>
        </p:txBody>
      </p:sp>
      <p:sp>
        <p:nvSpPr>
          <p:cNvPr id="12" name="Text 9"/>
          <p:cNvSpPr/>
          <p:nvPr/>
        </p:nvSpPr>
        <p:spPr>
          <a:xfrm>
            <a:off x="8138160" y="5577840"/>
            <a:ext cx="3413455" cy="310896"/>
          </a:xfrm>
          <a:prstGeom prst="rect">
            <a:avLst/>
          </a:prstGeom>
          <a:noFill/>
          <a:ln/>
        </p:spPr>
        <p:txBody>
          <a:bodyPr wrap="square" lIns="0" tIns="0" rIns="0" bIns="0" rtlCol="0" anchor="ctr"/>
          <a:lstStyle/>
          <a:p>
            <a:pPr algn="l" indent="0" marL="0">
              <a:buNone/>
            </a:pPr>
            <a:r>
              <a:rPr lang="en-US" sz="1150" i="1" dirty="0">
                <a:solidFill>
                  <a:srgbClr val="6E747C"/>
                </a:solidFill>
                <a:latin typeface="Calibri" pitchFamily="34" charset="0"/>
                <a:ea typeface="Calibri" pitchFamily="34" charset="-122"/>
                <a:cs typeface="Calibri" pitchFamily="34" charset="-120"/>
              </a:rPr>
              <a:t>Kurvanya masih melambat, jadi angka itu terlalu optimistis.</a:t>
            </a:r>
            <a:endParaRPr lang="en-US" sz="1150" dirty="0"/>
          </a:p>
        </p:txBody>
      </p:sp>
      <p:sp>
        <p:nvSpPr>
          <p:cNvPr id="14" name="Text 10"/>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5" name="Text 1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QWK 0,60 menuntut 195 juta baris.</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Menyelesaikan persamaan kurva belajar untuk n pada beberapa target.</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2377440"/>
          <a:ext cx="10911535" cy="914400"/>
        </p:xfrm>
        <a:graphic>
          <a:graphicData uri="http://schemas.openxmlformats.org/drawingml/2006/table">
            <a:tbl>
              <a:tblPr/>
              <a:tblGrid>
                <a:gridCol w="2377440"/>
                <a:gridCol w="3108960"/>
                <a:gridCol w="2560320"/>
                <a:gridCol w="2862072"/>
              </a:tblGrid>
              <a:tr h="457200">
                <a:tc>
                  <a:txBody>
                    <a:bodyPr/>
                    <a:lstStyle/>
                    <a:p>
                      <a:pPr algn="l" indent="0" marL="0">
                        <a:buNone/>
                      </a:pPr>
                      <a:r>
                        <a:rPr lang="en-US" sz="1350" b="1" dirty="0">
                          <a:solidFill>
                            <a:srgbClr val="16191D"/>
                          </a:solidFill>
                          <a:latin typeface="Calibri" pitchFamily="34" charset="0"/>
                          <a:ea typeface="Calibri" pitchFamily="34" charset="-122"/>
                          <a:cs typeface="Calibri" pitchFamily="34" charset="-120"/>
                        </a:rPr>
                        <a:t>Target QWK</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16191D"/>
                          </a:solidFill>
                          <a:latin typeface="Calibri" pitchFamily="34" charset="0"/>
                          <a:ea typeface="Calibri" pitchFamily="34" charset="-122"/>
                          <a:cs typeface="Calibri" pitchFamily="34" charset="-120"/>
                        </a:rPr>
                        <a:t>Baris dibutuhkan</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16191D"/>
                          </a:solidFill>
                          <a:latin typeface="Calibri" pitchFamily="34" charset="0"/>
                          <a:ea typeface="Calibri" pitchFamily="34" charset="-122"/>
                          <a:cs typeface="Calibri" pitchFamily="34" charset="-120"/>
                        </a:rPr>
                        <a:t>Kelipatan data kini</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16191D"/>
                          </a:solidFill>
                          <a:latin typeface="Calibri" pitchFamily="34" charset="0"/>
                          <a:ea typeface="Calibri" pitchFamily="34" charset="-122"/>
                          <a:cs typeface="Calibri" pitchFamily="34" charset="-120"/>
                        </a:rPr>
                        <a:t>Setara waktu pengumpulan</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57200">
                <a:tc>
                  <a:txBody>
                    <a:bodyPr/>
                    <a:lstStyle/>
                    <a:p>
                      <a:pPr algn="l" indent="0" marL="0">
                        <a:buNone/>
                      </a:pPr>
                      <a:r>
                        <a:rPr lang="en-US" sz="1350" dirty="0">
                          <a:solidFill>
                            <a:srgbClr val="3A4048"/>
                          </a:solidFill>
                          <a:latin typeface="Calibri" pitchFamily="34" charset="0"/>
                          <a:ea typeface="Calibri" pitchFamily="34" charset="-122"/>
                          <a:cs typeface="Calibri" pitchFamily="34" charset="-120"/>
                        </a:rPr>
                        <a:t>0,49</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213.000</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 2 tahun survei</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57200">
                <a:tc>
                  <a:txBody>
                    <a:bodyPr/>
                    <a:lstStyle/>
                    <a:p>
                      <a:pPr algn="l" indent="0" marL="0">
                        <a:buNone/>
                      </a:pPr>
                      <a:r>
                        <a:rPr lang="en-US" sz="1350" dirty="0">
                          <a:solidFill>
                            <a:srgbClr val="3A4048"/>
                          </a:solidFill>
                          <a:latin typeface="Calibri" pitchFamily="34" charset="0"/>
                          <a:ea typeface="Calibri" pitchFamily="34" charset="-122"/>
                          <a:cs typeface="Calibri" pitchFamily="34" charset="-120"/>
                        </a:rPr>
                        <a:t>0,50</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396.000</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 4 tahun survei</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57200">
                <a:tc>
                  <a:txBody>
                    <a:bodyPr/>
                    <a:lstStyle/>
                    <a:p>
                      <a:pPr algn="l" indent="0" marL="0">
                        <a:buNone/>
                      </a:pPr>
                      <a:r>
                        <a:rPr lang="en-US" sz="1350" dirty="0">
                          <a:solidFill>
                            <a:srgbClr val="3A4048"/>
                          </a:solidFill>
                          <a:latin typeface="Calibri" pitchFamily="34" charset="0"/>
                          <a:ea typeface="Calibri" pitchFamily="34" charset="-122"/>
                          <a:cs typeface="Calibri" pitchFamily="34" charset="-120"/>
                        </a:rPr>
                        <a:t>0,55</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8.790.000</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92×</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50" dirty="0">
                          <a:solidFill>
                            <a:srgbClr val="3A4048"/>
                          </a:solidFill>
                          <a:latin typeface="Calibri" pitchFamily="34" charset="0"/>
                          <a:ea typeface="Calibri" pitchFamily="34" charset="-122"/>
                          <a:cs typeface="Calibri" pitchFamily="34" charset="-120"/>
                        </a:rPr>
                        <a:t>± 88 tahun survei</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57200">
                <a:tc>
                  <a:txBody>
                    <a:bodyPr/>
                    <a:lstStyle/>
                    <a:p>
                      <a:pPr algn="l" indent="0" marL="0">
                        <a:buNone/>
                      </a:pPr>
                      <a:r>
                        <a:rPr lang="en-US" sz="1350" b="1" dirty="0">
                          <a:solidFill>
                            <a:srgbClr val="A8442A"/>
                          </a:solidFill>
                          <a:latin typeface="Calibri" pitchFamily="34" charset="0"/>
                          <a:ea typeface="Calibri" pitchFamily="34" charset="-122"/>
                          <a:cs typeface="Calibri" pitchFamily="34" charset="-120"/>
                        </a:rPr>
                        <a:t>0,60</a:t>
                      </a:r>
                      <a:endParaRPr lang="en-US" sz="13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A8442A"/>
                          </a:solidFill>
                          <a:latin typeface="Calibri" pitchFamily="34" charset="0"/>
                          <a:ea typeface="Calibri" pitchFamily="34" charset="-122"/>
                          <a:cs typeface="Calibri" pitchFamily="34" charset="-120"/>
                        </a:rPr>
                        <a:t>195.000.000</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A8442A"/>
                          </a:solidFill>
                          <a:latin typeface="Calibri" pitchFamily="34" charset="0"/>
                          <a:ea typeface="Calibri" pitchFamily="34" charset="-122"/>
                          <a:cs typeface="Calibri" pitchFamily="34" charset="-120"/>
                        </a:rPr>
                        <a:t>2.041×</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50" b="1" dirty="0">
                          <a:solidFill>
                            <a:srgbClr val="A8442A"/>
                          </a:solidFill>
                          <a:latin typeface="Calibri" pitchFamily="34" charset="0"/>
                          <a:ea typeface="Calibri" pitchFamily="34" charset="-122"/>
                          <a:cs typeface="Calibri" pitchFamily="34" charset="-120"/>
                        </a:rPr>
                        <a:t>± 1.950 tahun survei</a:t>
                      </a:r>
                      <a:endParaRPr lang="en-US" sz="13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4846320"/>
            <a:ext cx="10911535" cy="1097280"/>
          </a:xfrm>
          <a:prstGeom prst="roundRect">
            <a:avLst>
              <a:gd name="adj" fmla="val 5000"/>
            </a:avLst>
          </a:prstGeom>
          <a:solidFill>
            <a:srgbClr val="ECE7DF"/>
          </a:solidFill>
          <a:ln w="9525">
            <a:solidFill>
              <a:srgbClr val="DCD8D1"/>
            </a:solidFill>
            <a:prstDash val="solid"/>
          </a:ln>
        </p:spPr>
      </p:sp>
      <p:sp>
        <p:nvSpPr>
          <p:cNvPr id="6" name="Text 3"/>
          <p:cNvSpPr/>
          <p:nvPr/>
        </p:nvSpPr>
        <p:spPr>
          <a:xfrm>
            <a:off x="932688" y="4846320"/>
            <a:ext cx="10326319" cy="1097280"/>
          </a:xfrm>
          <a:prstGeom prst="rect">
            <a:avLst/>
          </a:prstGeom>
          <a:noFill/>
          <a:ln/>
        </p:spPr>
        <p:txBody>
          <a:bodyPr wrap="square" lIns="0" tIns="0" rIns="0" bIns="0" rtlCol="0" anchor="ctr"/>
          <a:lstStyle/>
          <a:p>
            <a:pPr indent="0" marL="0">
              <a:lnSpc>
                <a:spcPts val="1900"/>
              </a:lnSpc>
              <a:buNone/>
            </a:pPr>
            <a:r>
              <a:rPr lang="en-US" sz="1350" b="1" dirty="0">
                <a:solidFill>
                  <a:srgbClr val="16191D"/>
                </a:solidFill>
                <a:latin typeface="Calibri" pitchFamily="34" charset="0"/>
                <a:ea typeface="Calibri" pitchFamily="34" charset="-122"/>
                <a:cs typeface="Calibri" pitchFamily="34" charset="-120"/>
              </a:rPr>
              <a:t>Klaim kami, dan ini dapat difalsifikasi:  </a:t>
            </a:r>
            <a:pPr indent="0" marL="0">
              <a:lnSpc>
                <a:spcPts val="1900"/>
              </a:lnSpc>
              <a:buNone/>
            </a:pPr>
            <a:r>
              <a:rPr lang="en-US" sz="1350" dirty="0">
                <a:solidFill>
                  <a:srgbClr val="3A4048"/>
                </a:solidFill>
                <a:latin typeface="Calibri" pitchFamily="34" charset="0"/>
                <a:ea typeface="Calibri" pitchFamily="34" charset="-122"/>
                <a:cs typeface="Calibri" pitchFamily="34" charset="-120"/>
              </a:rPr>
              <a:t>dari dataset resmi saja, QWK jauh di atas 0,50 tidak dapat dicapai dengan pemodelan yang lebih baik. Jalankan kurva belajar yang sama, koefisiennya akan keluar sama.</a:t>
            </a:r>
            <a:endParaRPr lang="en-US" sz="1350" dirty="0"/>
          </a:p>
        </p:txBody>
      </p:sp>
      <p:sp>
        <p:nvSpPr>
          <p:cNvPr id="8" name="Text 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9" name="Text 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Enam peringkat teratas tidak dapat dibedakan.</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Bootstrap 400 kali atas matriks konfusi out-of-fold kami sendiri.</a:t>
            </a:r>
            <a:endParaRPr lang="en-US" sz="1400" dirty="0"/>
          </a:p>
        </p:txBody>
      </p:sp>
      <p:sp>
        <p:nvSpPr>
          <p:cNvPr id="4" name="Text 2"/>
          <p:cNvSpPr/>
          <p:nvPr/>
        </p:nvSpPr>
        <p:spPr>
          <a:xfrm>
            <a:off x="640080" y="2606040"/>
            <a:ext cx="54864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IRISAN 7.100 BARIS  ·  INTERVAL 95%</a:t>
            </a:r>
            <a:endParaRPr lang="en-US" sz="1050" dirty="0"/>
          </a:p>
        </p:txBody>
      </p:sp>
      <p:sp>
        <p:nvSpPr>
          <p:cNvPr id="5" name="Shape 3"/>
          <p:cNvSpPr/>
          <p:nvPr/>
        </p:nvSpPr>
        <p:spPr>
          <a:xfrm>
            <a:off x="3086100" y="3017520"/>
            <a:ext cx="5513832" cy="640080"/>
          </a:xfrm>
          <a:prstGeom prst="rect">
            <a:avLst/>
          </a:prstGeom>
          <a:solidFill>
            <a:srgbClr val="8FB0A4"/>
          </a:solidFill>
          <a:ln/>
        </p:spPr>
      </p:sp>
      <p:sp>
        <p:nvSpPr>
          <p:cNvPr id="6" name="Shape 4"/>
          <p:cNvSpPr/>
          <p:nvPr/>
        </p:nvSpPr>
        <p:spPr>
          <a:xfrm>
            <a:off x="6069330" y="2852928"/>
            <a:ext cx="0" cy="969264"/>
          </a:xfrm>
          <a:prstGeom prst="line">
            <a:avLst/>
          </a:prstGeom>
          <a:noFill/>
          <a:ln w="27940">
            <a:solidFill>
              <a:srgbClr val="16191D"/>
            </a:solidFill>
            <a:prstDash val="solid"/>
          </a:ln>
        </p:spPr>
      </p:sp>
      <p:sp>
        <p:nvSpPr>
          <p:cNvPr id="7" name="Text 5"/>
          <p:cNvSpPr/>
          <p:nvPr/>
        </p:nvSpPr>
        <p:spPr>
          <a:xfrm>
            <a:off x="2446020" y="3730752"/>
            <a:ext cx="1280160" cy="310896"/>
          </a:xfrm>
          <a:prstGeom prst="rect">
            <a:avLst/>
          </a:prstGeom>
          <a:noFill/>
          <a:ln/>
        </p:spPr>
        <p:txBody>
          <a:bodyPr wrap="square" lIns="0" tIns="0" rIns="0" bIns="0" rtlCol="0" anchor="ctr"/>
          <a:lstStyle/>
          <a:p>
            <a:pPr algn="ctr" indent="0" marL="0">
              <a:buNone/>
            </a:pPr>
            <a:r>
              <a:rPr lang="en-US" sz="1100" i="1" dirty="0">
                <a:solidFill>
                  <a:srgbClr val="6E747C"/>
                </a:solidFill>
                <a:latin typeface="Calibri" pitchFamily="34" charset="0"/>
                <a:ea typeface="Calibri" pitchFamily="34" charset="-122"/>
                <a:cs typeface="Calibri" pitchFamily="34" charset="-120"/>
              </a:rPr>
              <a:t>0,4625</a:t>
            </a:r>
            <a:endParaRPr lang="en-US" sz="1100" dirty="0"/>
          </a:p>
        </p:txBody>
      </p:sp>
      <p:sp>
        <p:nvSpPr>
          <p:cNvPr id="8" name="Text 6"/>
          <p:cNvSpPr/>
          <p:nvPr/>
        </p:nvSpPr>
        <p:spPr>
          <a:xfrm>
            <a:off x="7959852" y="3730752"/>
            <a:ext cx="1280160" cy="310896"/>
          </a:xfrm>
          <a:prstGeom prst="rect">
            <a:avLst/>
          </a:prstGeom>
          <a:noFill/>
          <a:ln/>
        </p:spPr>
        <p:txBody>
          <a:bodyPr wrap="square" lIns="0" tIns="0" rIns="0" bIns="0" rtlCol="0" anchor="ctr"/>
          <a:lstStyle/>
          <a:p>
            <a:pPr algn="ctr" indent="0" marL="0">
              <a:buNone/>
            </a:pPr>
            <a:r>
              <a:rPr lang="en-US" sz="1100" i="1" dirty="0">
                <a:solidFill>
                  <a:srgbClr val="6E747C"/>
                </a:solidFill>
                <a:latin typeface="Calibri" pitchFamily="34" charset="0"/>
                <a:ea typeface="Calibri" pitchFamily="34" charset="-122"/>
                <a:cs typeface="Calibri" pitchFamily="34" charset="-120"/>
              </a:rPr>
              <a:t>0,5027</a:t>
            </a:r>
            <a:endParaRPr lang="en-US" sz="1100" dirty="0"/>
          </a:p>
        </p:txBody>
      </p:sp>
      <p:sp>
        <p:nvSpPr>
          <p:cNvPr id="9" name="Text 7"/>
          <p:cNvSpPr/>
          <p:nvPr/>
        </p:nvSpPr>
        <p:spPr>
          <a:xfrm>
            <a:off x="4972050" y="2505456"/>
            <a:ext cx="2194560" cy="274320"/>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QWK kami  0,48425</a:t>
            </a:r>
            <a:endParaRPr lang="en-US" sz="1150" dirty="0"/>
          </a:p>
        </p:txBody>
      </p:sp>
      <p:sp>
        <p:nvSpPr>
          <p:cNvPr id="10" name="Shape 8"/>
          <p:cNvSpPr/>
          <p:nvPr/>
        </p:nvSpPr>
        <p:spPr>
          <a:xfrm>
            <a:off x="5554980" y="4206240"/>
            <a:ext cx="1028700" cy="292608"/>
          </a:xfrm>
          <a:prstGeom prst="rect">
            <a:avLst/>
          </a:prstGeom>
          <a:solidFill>
            <a:srgbClr val="A8442A"/>
          </a:solidFill>
          <a:ln/>
        </p:spPr>
      </p:sp>
      <p:sp>
        <p:nvSpPr>
          <p:cNvPr id="11" name="Text 9"/>
          <p:cNvSpPr/>
          <p:nvPr/>
        </p:nvSpPr>
        <p:spPr>
          <a:xfrm>
            <a:off x="6729984" y="4206240"/>
            <a:ext cx="5120640" cy="292608"/>
          </a:xfrm>
          <a:prstGeom prst="rect">
            <a:avLst/>
          </a:prstGeom>
          <a:noFill/>
          <a:ln/>
        </p:spPr>
        <p:txBody>
          <a:bodyPr wrap="square" lIns="0" tIns="0" rIns="0" bIns="0" rtlCol="0" anchor="ctr"/>
          <a:lstStyle/>
          <a:p>
            <a:pPr indent="0" marL="0">
              <a:buNone/>
            </a:pPr>
            <a:r>
              <a:rPr lang="en-US" sz="1200" b="1" dirty="0">
                <a:solidFill>
                  <a:srgbClr val="A8442A"/>
                </a:solidFill>
                <a:latin typeface="Calibri" pitchFamily="34" charset="0"/>
                <a:ea typeface="Calibri" pitchFamily="34" charset="-122"/>
                <a:cs typeface="Calibri" pitchFamily="34" charset="-120"/>
              </a:rPr>
              <a:t>selisih peringkat 4 sampai 9  =  0,0075</a:t>
            </a:r>
            <a:endParaRPr lang="en-US" sz="1200" dirty="0"/>
          </a:p>
        </p:txBody>
      </p:sp>
      <p:sp>
        <p:nvSpPr>
          <p:cNvPr id="12" name="Text 10"/>
          <p:cNvSpPr/>
          <p:nvPr/>
        </p:nvSpPr>
        <p:spPr>
          <a:xfrm>
            <a:off x="640080" y="5029200"/>
            <a:ext cx="3423818" cy="475488"/>
          </a:xfrm>
          <a:prstGeom prst="rect">
            <a:avLst/>
          </a:prstGeom>
          <a:noFill/>
          <a:ln/>
        </p:spPr>
        <p:txBody>
          <a:bodyPr wrap="square" lIns="0" tIns="0" rIns="0" bIns="0" rtlCol="0" anchor="b"/>
          <a:lstStyle/>
          <a:p>
            <a:pPr algn="l" indent="0" marL="0">
              <a:buNone/>
            </a:pPr>
            <a:r>
              <a:rPr lang="en-US" sz="2900" b="1" dirty="0">
                <a:solidFill>
                  <a:srgbClr val="16191D"/>
                </a:solidFill>
                <a:latin typeface="Cambria" pitchFamily="34" charset="0"/>
                <a:ea typeface="Cambria" pitchFamily="34" charset="-122"/>
                <a:cs typeface="Cambria" pitchFamily="34" charset="-120"/>
              </a:rPr>
              <a:t>0,0050</a:t>
            </a:r>
            <a:endParaRPr lang="en-US" sz="2900" dirty="0"/>
          </a:p>
        </p:txBody>
      </p:sp>
      <p:sp>
        <p:nvSpPr>
          <p:cNvPr id="13" name="Text 11"/>
          <p:cNvSpPr/>
          <p:nvPr/>
        </p:nvSpPr>
        <p:spPr>
          <a:xfrm>
            <a:off x="640080" y="5541264"/>
            <a:ext cx="3423818"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sd pada irisan seukuran data uji</a:t>
            </a:r>
            <a:endParaRPr lang="en-US" sz="1150" dirty="0"/>
          </a:p>
        </p:txBody>
      </p:sp>
      <p:sp>
        <p:nvSpPr>
          <p:cNvPr id="14" name="Text 12"/>
          <p:cNvSpPr/>
          <p:nvPr/>
        </p:nvSpPr>
        <p:spPr>
          <a:xfrm>
            <a:off x="4383938" y="5029200"/>
            <a:ext cx="3423818" cy="475488"/>
          </a:xfrm>
          <a:prstGeom prst="rect">
            <a:avLst/>
          </a:prstGeom>
          <a:noFill/>
          <a:ln/>
        </p:spPr>
        <p:txBody>
          <a:bodyPr wrap="square" lIns="0" tIns="0" rIns="0" bIns="0" rtlCol="0" anchor="b"/>
          <a:lstStyle/>
          <a:p>
            <a:pPr algn="l" indent="0" marL="0">
              <a:buNone/>
            </a:pPr>
            <a:r>
              <a:rPr lang="en-US" sz="2900" b="1" dirty="0">
                <a:solidFill>
                  <a:srgbClr val="16191D"/>
                </a:solidFill>
                <a:latin typeface="Cambria" pitchFamily="34" charset="0"/>
                <a:ea typeface="Cambria" pitchFamily="34" charset="-122"/>
                <a:cs typeface="Cambria" pitchFamily="34" charset="-120"/>
              </a:rPr>
              <a:t>0,0105</a:t>
            </a:r>
            <a:endParaRPr lang="en-US" sz="2900" dirty="0"/>
          </a:p>
        </p:txBody>
      </p:sp>
      <p:sp>
        <p:nvSpPr>
          <p:cNvPr id="15" name="Text 13"/>
          <p:cNvSpPr/>
          <p:nvPr/>
        </p:nvSpPr>
        <p:spPr>
          <a:xfrm>
            <a:off x="4383938" y="5541264"/>
            <a:ext cx="3423818"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sd pada irisan seukuran papan skor</a:t>
            </a:r>
            <a:endParaRPr lang="en-US" sz="1150" dirty="0"/>
          </a:p>
        </p:txBody>
      </p:sp>
      <p:sp>
        <p:nvSpPr>
          <p:cNvPr id="16" name="Text 14"/>
          <p:cNvSpPr/>
          <p:nvPr/>
        </p:nvSpPr>
        <p:spPr>
          <a:xfrm>
            <a:off x="8127797" y="5029200"/>
            <a:ext cx="3423818" cy="475488"/>
          </a:xfrm>
          <a:prstGeom prst="rect">
            <a:avLst/>
          </a:prstGeom>
          <a:noFill/>
          <a:ln/>
        </p:spPr>
        <p:txBody>
          <a:bodyPr wrap="square" lIns="0" tIns="0" rIns="0" bIns="0" rtlCol="0" anchor="b"/>
          <a:lstStyle/>
          <a:p>
            <a:pPr algn="l" indent="0" marL="0">
              <a:buNone/>
            </a:pPr>
            <a:r>
              <a:rPr lang="en-US" sz="2900" b="1" dirty="0">
                <a:solidFill>
                  <a:srgbClr val="A8442A"/>
                </a:solidFill>
                <a:latin typeface="Cambria" pitchFamily="34" charset="0"/>
                <a:ea typeface="Cambria" pitchFamily="34" charset="-122"/>
                <a:cs typeface="Cambria" pitchFamily="34" charset="-120"/>
              </a:rPr>
              <a:t>0,7 σ</a:t>
            </a:r>
            <a:endParaRPr lang="en-US" sz="2900" dirty="0"/>
          </a:p>
        </p:txBody>
      </p:sp>
      <p:sp>
        <p:nvSpPr>
          <p:cNvPr id="17" name="Text 15"/>
          <p:cNvSpPr/>
          <p:nvPr/>
        </p:nvSpPr>
        <p:spPr>
          <a:xfrm>
            <a:off x="8127797" y="5541264"/>
            <a:ext cx="3423818"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jarak enam peringkat berturut-turut</a:t>
            </a:r>
            <a:endParaRPr lang="en-US" sz="1150" dirty="0"/>
          </a:p>
        </p:txBody>
      </p:sp>
      <p:sp>
        <p:nvSpPr>
          <p:cNvPr id="19" name="Text 1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0" name="Text 1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Yang kami periksa sebelum menyebutnya selesai.</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Dua hal terpisah: apakah modelnya benar, dan apakah siapa pun bisa mengulanginya.</a:t>
            </a:r>
            <a:endParaRPr lang="en-US" sz="1400" dirty="0"/>
          </a:p>
        </p:txBody>
      </p:sp>
      <p:sp>
        <p:nvSpPr>
          <p:cNvPr id="4" name="Shape 2"/>
          <p:cNvSpPr/>
          <p:nvPr/>
        </p:nvSpPr>
        <p:spPr>
          <a:xfrm>
            <a:off x="640080" y="2377440"/>
            <a:ext cx="5272888" cy="3383280"/>
          </a:xfrm>
          <a:prstGeom prst="roundRect">
            <a:avLst>
              <a:gd name="adj" fmla="val 1622"/>
            </a:avLst>
          </a:prstGeom>
          <a:solidFill>
            <a:srgbClr val="F4F1EC"/>
          </a:solidFill>
          <a:ln w="9525">
            <a:solidFill>
              <a:srgbClr val="DCD8D1"/>
            </a:solidFill>
            <a:prstDash val="solid"/>
          </a:ln>
        </p:spPr>
      </p:sp>
      <p:sp>
        <p:nvSpPr>
          <p:cNvPr id="5" name="Text 3"/>
          <p:cNvSpPr/>
          <p:nvPr/>
        </p:nvSpPr>
        <p:spPr>
          <a:xfrm>
            <a:off x="950976" y="2606040"/>
            <a:ext cx="4651096" cy="310896"/>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Validasi</a:t>
            </a:r>
            <a:endParaRPr lang="en-US" sz="1500" dirty="0"/>
          </a:p>
        </p:txBody>
      </p:sp>
      <p:sp>
        <p:nvSpPr>
          <p:cNvPr id="6" name="Shape 4"/>
          <p:cNvSpPr/>
          <p:nvPr/>
        </p:nvSpPr>
        <p:spPr>
          <a:xfrm>
            <a:off x="950976" y="3136392"/>
            <a:ext cx="155448" cy="155448"/>
          </a:xfrm>
          <a:prstGeom prst="ellipse">
            <a:avLst/>
          </a:prstGeom>
          <a:solidFill>
            <a:srgbClr val="2F6B5F"/>
          </a:solidFill>
          <a:ln/>
        </p:spPr>
      </p:sp>
      <p:sp>
        <p:nvSpPr>
          <p:cNvPr id="7" name="Text 5"/>
          <p:cNvSpPr/>
          <p:nvPr/>
        </p:nvSpPr>
        <p:spPr>
          <a:xfrm>
            <a:off x="1207008" y="3063240"/>
            <a:ext cx="4395064"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35,8%</a:t>
            </a:r>
            <a:endParaRPr lang="en-US" sz="1350" dirty="0"/>
          </a:p>
        </p:txBody>
      </p:sp>
      <p:sp>
        <p:nvSpPr>
          <p:cNvPr id="8" name="Text 6"/>
          <p:cNvSpPr/>
          <p:nvPr/>
        </p:nvSpPr>
        <p:spPr>
          <a:xfrm>
            <a:off x="1207008" y="3355848"/>
            <a:ext cx="4395064" cy="54864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penalti berasal dari satu sel: aktual 2 diprediksi 1</a:t>
            </a:r>
            <a:endParaRPr lang="en-US" sz="1150" dirty="0"/>
          </a:p>
        </p:txBody>
      </p:sp>
      <p:sp>
        <p:nvSpPr>
          <p:cNvPr id="9" name="Shape 7"/>
          <p:cNvSpPr/>
          <p:nvPr/>
        </p:nvSpPr>
        <p:spPr>
          <a:xfrm>
            <a:off x="950976" y="4032504"/>
            <a:ext cx="155448" cy="155448"/>
          </a:xfrm>
          <a:prstGeom prst="ellipse">
            <a:avLst/>
          </a:prstGeom>
          <a:solidFill>
            <a:srgbClr val="8FB0A4"/>
          </a:solidFill>
          <a:ln/>
        </p:spPr>
      </p:sp>
      <p:sp>
        <p:nvSpPr>
          <p:cNvPr id="10" name="Text 8"/>
          <p:cNvSpPr/>
          <p:nvPr/>
        </p:nvSpPr>
        <p:spPr>
          <a:xfrm>
            <a:off x="1207008" y="3959352"/>
            <a:ext cx="4395064"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0,4839 / 0,4836</a:t>
            </a:r>
            <a:endParaRPr lang="en-US" sz="1350" dirty="0"/>
          </a:p>
        </p:txBody>
      </p:sp>
      <p:sp>
        <p:nvSpPr>
          <p:cNvPr id="11" name="Text 9"/>
          <p:cNvSpPr/>
          <p:nvPr/>
        </p:nvSpPr>
        <p:spPr>
          <a:xfrm>
            <a:off x="1207008" y="4251960"/>
            <a:ext cx="4395064" cy="54864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QWK per jenis kelamin, diperiksa juga per usia dan wilayah</a:t>
            </a:r>
            <a:endParaRPr lang="en-US" sz="1150" dirty="0"/>
          </a:p>
        </p:txBody>
      </p:sp>
      <p:sp>
        <p:nvSpPr>
          <p:cNvPr id="12" name="Shape 10"/>
          <p:cNvSpPr/>
          <p:nvPr/>
        </p:nvSpPr>
        <p:spPr>
          <a:xfrm>
            <a:off x="950976" y="4928616"/>
            <a:ext cx="155448" cy="155448"/>
          </a:xfrm>
          <a:prstGeom prst="ellipse">
            <a:avLst/>
          </a:prstGeom>
          <a:solidFill>
            <a:srgbClr val="D8A25E"/>
          </a:solidFill>
          <a:ln/>
        </p:spPr>
      </p:sp>
      <p:sp>
        <p:nvSpPr>
          <p:cNvPr id="13" name="Text 11"/>
          <p:cNvSpPr/>
          <p:nvPr/>
        </p:nvSpPr>
        <p:spPr>
          <a:xfrm>
            <a:off x="1207008" y="4855464"/>
            <a:ext cx="4395064"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0,4726</a:t>
            </a:r>
            <a:endParaRPr lang="en-US" sz="1350" dirty="0"/>
          </a:p>
        </p:txBody>
      </p:sp>
      <p:sp>
        <p:nvSpPr>
          <p:cNvPr id="14" name="Text 12"/>
          <p:cNvSpPr/>
          <p:nvPr/>
        </p:nvSpPr>
        <p:spPr>
          <a:xfrm>
            <a:off x="1207008" y="5148072"/>
            <a:ext cx="4395064" cy="54864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QWK saat survey_weight dipakai sebagai bobot latih, jadi tidak dipakai</a:t>
            </a:r>
            <a:endParaRPr lang="en-US" sz="1150" dirty="0"/>
          </a:p>
        </p:txBody>
      </p:sp>
      <p:sp>
        <p:nvSpPr>
          <p:cNvPr id="15" name="Shape 13"/>
          <p:cNvSpPr/>
          <p:nvPr/>
        </p:nvSpPr>
        <p:spPr>
          <a:xfrm>
            <a:off x="6278728" y="2377440"/>
            <a:ext cx="5272888" cy="3383280"/>
          </a:xfrm>
          <a:prstGeom prst="roundRect">
            <a:avLst>
              <a:gd name="adj" fmla="val 1622"/>
            </a:avLst>
          </a:prstGeom>
          <a:solidFill>
            <a:srgbClr val="F4F1EC"/>
          </a:solidFill>
          <a:ln w="9525">
            <a:solidFill>
              <a:srgbClr val="DCD8D1"/>
            </a:solidFill>
            <a:prstDash val="solid"/>
          </a:ln>
        </p:spPr>
      </p:sp>
      <p:sp>
        <p:nvSpPr>
          <p:cNvPr id="16" name="Text 14"/>
          <p:cNvSpPr/>
          <p:nvPr/>
        </p:nvSpPr>
        <p:spPr>
          <a:xfrm>
            <a:off x="6589624" y="2606040"/>
            <a:ext cx="4651096" cy="310896"/>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Reproduksibilitas</a:t>
            </a:r>
            <a:endParaRPr lang="en-US" sz="1500" dirty="0"/>
          </a:p>
        </p:txBody>
      </p:sp>
      <p:sp>
        <p:nvSpPr>
          <p:cNvPr id="17" name="Shape 15"/>
          <p:cNvSpPr/>
          <p:nvPr/>
        </p:nvSpPr>
        <p:spPr>
          <a:xfrm>
            <a:off x="6589624" y="3136392"/>
            <a:ext cx="155448" cy="155448"/>
          </a:xfrm>
          <a:prstGeom prst="ellipse">
            <a:avLst/>
          </a:prstGeom>
          <a:solidFill>
            <a:srgbClr val="2F6B5F"/>
          </a:solidFill>
          <a:ln/>
        </p:spPr>
      </p:sp>
      <p:sp>
        <p:nvSpPr>
          <p:cNvPr id="18" name="Text 16"/>
          <p:cNvSpPr/>
          <p:nvPr/>
        </p:nvSpPr>
        <p:spPr>
          <a:xfrm>
            <a:off x="6845656" y="3063240"/>
            <a:ext cx="4395064"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seed 42</a:t>
            </a:r>
            <a:endParaRPr lang="en-US" sz="1350" dirty="0"/>
          </a:p>
        </p:txBody>
      </p:sp>
      <p:sp>
        <p:nvSpPr>
          <p:cNvPr id="19" name="Text 17"/>
          <p:cNvSpPr/>
          <p:nvPr/>
        </p:nvSpPr>
        <p:spPr>
          <a:xfrm>
            <a:off x="6845656" y="3355848"/>
            <a:ext cx="4395064" cy="54864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dikunci di fold, enam model, bootstrap, dan kurva belajar</a:t>
            </a:r>
            <a:endParaRPr lang="en-US" sz="1150" dirty="0"/>
          </a:p>
        </p:txBody>
      </p:sp>
      <p:sp>
        <p:nvSpPr>
          <p:cNvPr id="20" name="Shape 18"/>
          <p:cNvSpPr/>
          <p:nvPr/>
        </p:nvSpPr>
        <p:spPr>
          <a:xfrm>
            <a:off x="6589624" y="4032504"/>
            <a:ext cx="155448" cy="155448"/>
          </a:xfrm>
          <a:prstGeom prst="ellipse">
            <a:avLst/>
          </a:prstGeom>
          <a:solidFill>
            <a:srgbClr val="8FB0A4"/>
          </a:solidFill>
          <a:ln/>
        </p:spPr>
      </p:sp>
      <p:sp>
        <p:nvSpPr>
          <p:cNvPr id="21" name="Text 19"/>
          <p:cNvSpPr/>
          <p:nvPr/>
        </p:nvSpPr>
        <p:spPr>
          <a:xfrm>
            <a:off x="6845656" y="3959352"/>
            <a:ext cx="4395064"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84 MB</a:t>
            </a:r>
            <a:endParaRPr lang="en-US" sz="1350" dirty="0"/>
          </a:p>
        </p:txBody>
      </p:sp>
      <p:sp>
        <p:nvSpPr>
          <p:cNvPr id="22" name="Text 20"/>
          <p:cNvSpPr/>
          <p:nvPr/>
        </p:nvSpPr>
        <p:spPr>
          <a:xfrm>
            <a:off x="6845656" y="4251960"/>
            <a:ext cx="4395064" cy="54864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joblib memuat model, meta, ambang, dan urutan 176 fitur</a:t>
            </a:r>
            <a:endParaRPr lang="en-US" sz="1150" dirty="0"/>
          </a:p>
        </p:txBody>
      </p:sp>
      <p:sp>
        <p:nvSpPr>
          <p:cNvPr id="23" name="Shape 21"/>
          <p:cNvSpPr/>
          <p:nvPr/>
        </p:nvSpPr>
        <p:spPr>
          <a:xfrm>
            <a:off x="6589624" y="4928616"/>
            <a:ext cx="155448" cy="155448"/>
          </a:xfrm>
          <a:prstGeom prst="ellipse">
            <a:avLst/>
          </a:prstGeom>
          <a:solidFill>
            <a:srgbClr val="D8A25E"/>
          </a:solidFill>
          <a:ln/>
        </p:spPr>
      </p:sp>
      <p:sp>
        <p:nvSpPr>
          <p:cNvPr id="24" name="Text 22"/>
          <p:cNvSpPr/>
          <p:nvPr/>
        </p:nvSpPr>
        <p:spPr>
          <a:xfrm>
            <a:off x="6845656" y="4855464"/>
            <a:ext cx="4395064"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135 menit</a:t>
            </a:r>
            <a:endParaRPr lang="en-US" sz="1350" dirty="0"/>
          </a:p>
        </p:txBody>
      </p:sp>
      <p:sp>
        <p:nvSpPr>
          <p:cNvPr id="25" name="Text 23"/>
          <p:cNvSpPr/>
          <p:nvPr/>
        </p:nvSpPr>
        <p:spPr>
          <a:xfrm>
            <a:off x="6845656" y="5148072"/>
            <a:ext cx="4395064" cy="54864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eksekusi penuh menghasilkan submission yang identik</a:t>
            </a:r>
            <a:endParaRPr lang="en-US" sz="1150" dirty="0"/>
          </a:p>
        </p:txBody>
      </p:sp>
      <p:sp>
        <p:nvSpPr>
          <p:cNvPr id="26" name="Text 24"/>
          <p:cNvSpPr/>
          <p:nvPr/>
        </p:nvSpPr>
        <p:spPr>
          <a:xfrm>
            <a:off x="640080" y="5870448"/>
            <a:ext cx="10911535" cy="310896"/>
          </a:xfrm>
          <a:prstGeom prst="rect">
            <a:avLst/>
          </a:prstGeom>
          <a:noFill/>
          <a:ln/>
        </p:spPr>
        <p:txBody>
          <a:bodyPr wrap="square" lIns="0" tIns="0" rIns="0" bIns="0" rtlCol="0" anchor="ctr"/>
          <a:lstStyle/>
          <a:p>
            <a:pPr algn="l" indent="0" marL="0">
              <a:buNone/>
            </a:pPr>
            <a:r>
              <a:rPr lang="en-US" sz="1150" i="1" dirty="0">
                <a:solidFill>
                  <a:srgbClr val="6E747C"/>
                </a:solidFill>
                <a:latin typeface="Calibri" pitchFamily="34" charset="0"/>
                <a:ea typeface="Calibri" pitchFamily="34" charset="-122"/>
                <a:cs typeface="Calibri" pitchFamily="34" charset="-120"/>
              </a:rPr>
              <a:t>Batasan yang kami akui: pustaka boosting multi-thread tidak menjamin hasil bit-identik, selisihnya terukur sekitar 0,001 QWK.</a:t>
            </a:r>
            <a:endParaRPr lang="en-US" sz="1150" dirty="0"/>
          </a:p>
        </p:txBody>
      </p:sp>
      <p:sp>
        <p:nvSpPr>
          <p:cNvPr id="28" name="Text 2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9" name="Text 2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584"/>
              </a:lnSpc>
              <a:buNone/>
            </a:pPr>
            <a:r>
              <a:rPr lang="en-US" sz="3200" b="1" dirty="0">
                <a:solidFill>
                  <a:srgbClr val="16191D"/>
                </a:solidFill>
                <a:latin typeface="Cambria" pitchFamily="34" charset="0"/>
                <a:ea typeface="Cambria" pitchFamily="34" charset="-122"/>
                <a:cs typeface="Cambria" pitchFamily="34" charset="-120"/>
              </a:rPr>
              <a:t>Dari notebook ke alat yang bisa dipakai.</a:t>
            </a:r>
            <a:endParaRPr lang="en-US" sz="32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Aturan keputusan yang sama, berjalan penuh di peramban, tanpa server.</a:t>
            </a:r>
            <a:endParaRPr lang="en-US" sz="1400" dirty="0"/>
          </a:p>
        </p:txBody>
      </p:sp>
      <p:sp>
        <p:nvSpPr>
          <p:cNvPr id="4" name="Shape 2"/>
          <p:cNvSpPr/>
          <p:nvPr/>
        </p:nvSpPr>
        <p:spPr>
          <a:xfrm>
            <a:off x="612648" y="2212848"/>
            <a:ext cx="6729984" cy="3758184"/>
          </a:xfrm>
          <a:prstGeom prst="rect">
            <a:avLst/>
          </a:prstGeom>
          <a:solidFill>
            <a:srgbClr val="DCD8D1"/>
          </a:solidFill>
          <a:ln/>
        </p:spPr>
      </p:sp>
      <p:pic>
        <p:nvPicPr>
          <p:cNvPr id="5" name="Image 0" descr="shot_lifescope.png">    </p:cNvPr>
          <p:cNvPicPr>
            <a:picLocks noChangeAspect="1"/>
          </p:cNvPicPr>
          <p:nvPr/>
        </p:nvPicPr>
        <p:blipFill>
          <a:blip r:embed="rId1"/>
          <a:stretch>
            <a:fillRect/>
          </a:stretch>
        </p:blipFill>
        <p:spPr>
          <a:xfrm>
            <a:off x="640080" y="2240280"/>
            <a:ext cx="6675120" cy="3703320"/>
          </a:xfrm>
          <a:prstGeom prst="rect">
            <a:avLst/>
          </a:prstGeom>
        </p:spPr>
      </p:pic>
      <p:sp>
        <p:nvSpPr>
          <p:cNvPr id="6" name="Text 3"/>
          <p:cNvSpPr/>
          <p:nvPr/>
        </p:nvSpPr>
        <p:spPr>
          <a:xfrm>
            <a:off x="640080" y="5998464"/>
            <a:ext cx="6675120" cy="310896"/>
          </a:xfrm>
          <a:prstGeom prst="rect">
            <a:avLst/>
          </a:prstGeom>
          <a:noFill/>
          <a:ln/>
        </p:spPr>
        <p:txBody>
          <a:bodyPr wrap="square" lIns="0" tIns="0" rIns="0" bIns="0" rtlCol="0" anchor="ctr"/>
          <a:lstStyle/>
          <a:p>
            <a:pPr algn="l" indent="0" marL="0">
              <a:buNone/>
            </a:pPr>
            <a:r>
              <a:rPr lang="en-US" sz="1100" i="1" dirty="0">
                <a:solidFill>
                  <a:srgbClr val="6E747C"/>
                </a:solidFill>
                <a:latin typeface="Calibri" pitchFamily="34" charset="0"/>
                <a:ea typeface="Calibri" pitchFamily="34" charset="-122"/>
                <a:cs typeface="Calibri" pitchFamily="34" charset="-120"/>
              </a:rPr>
              <a:t>Tiap kotak satu responden. Yang berwarna hangat adalah 4,7% yang dicari.</a:t>
            </a:r>
            <a:endParaRPr lang="en-US" sz="1100" dirty="0"/>
          </a:p>
        </p:txBody>
      </p:sp>
      <p:sp>
        <p:nvSpPr>
          <p:cNvPr id="7" name="Shape 4"/>
          <p:cNvSpPr/>
          <p:nvPr/>
        </p:nvSpPr>
        <p:spPr>
          <a:xfrm>
            <a:off x="7726680" y="2240280"/>
            <a:ext cx="3824935" cy="960120"/>
          </a:xfrm>
          <a:prstGeom prst="roundRect">
            <a:avLst>
              <a:gd name="adj" fmla="val 5714"/>
            </a:avLst>
          </a:prstGeom>
          <a:solidFill>
            <a:srgbClr val="16191D"/>
          </a:solidFill>
          <a:ln/>
        </p:spPr>
      </p:sp>
      <p:sp>
        <p:nvSpPr>
          <p:cNvPr id="8" name="Text 5"/>
          <p:cNvSpPr/>
          <p:nvPr/>
        </p:nvSpPr>
        <p:spPr>
          <a:xfrm>
            <a:off x="7964424" y="2359152"/>
            <a:ext cx="336773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COBA SAAT PITCHING</a:t>
            </a:r>
            <a:endParaRPr lang="en-US" sz="1050" dirty="0"/>
          </a:p>
        </p:txBody>
      </p:sp>
      <p:sp>
        <p:nvSpPr>
          <p:cNvPr id="9" name="Text 6">
            <a:hlinkClick r:id="rId2" tooltip=""/>
          </p:cNvPr>
          <p:cNvSpPr/>
          <p:nvPr/>
        </p:nvSpPr>
        <p:spPr>
          <a:xfrm>
            <a:off x="7964424" y="2615184"/>
            <a:ext cx="3349447" cy="457200"/>
          </a:xfrm>
          <a:prstGeom prst="rect">
            <a:avLst/>
          </a:prstGeom>
          <a:noFill/>
          <a:ln/>
        </p:spPr>
        <p:txBody>
          <a:bodyPr wrap="square" lIns="0" tIns="0" rIns="0" bIns="0" rtlCol="0" anchor="ctr"/>
          <a:lstStyle/>
          <a:p>
            <a:pPr indent="0" marL="0">
              <a:buNone/>
            </a:pPr>
            <a:r>
              <a:rPr lang="en-US" sz="115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150" dirty="0"/>
          </a:p>
        </p:txBody>
      </p:sp>
      <p:sp>
        <p:nvSpPr>
          <p:cNvPr id="10" name="Shape 7"/>
          <p:cNvSpPr/>
          <p:nvPr/>
        </p:nvSpPr>
        <p:spPr>
          <a:xfrm>
            <a:off x="7726680" y="3474720"/>
            <a:ext cx="182880" cy="182880"/>
          </a:xfrm>
          <a:prstGeom prst="ellipse">
            <a:avLst/>
          </a:prstGeom>
          <a:solidFill>
            <a:srgbClr val="2F6B5F"/>
          </a:solidFill>
          <a:ln/>
        </p:spPr>
      </p:sp>
      <p:sp>
        <p:nvSpPr>
          <p:cNvPr id="11" name="Text 8"/>
          <p:cNvSpPr/>
          <p:nvPr/>
        </p:nvSpPr>
        <p:spPr>
          <a:xfrm>
            <a:off x="8001000" y="3429000"/>
            <a:ext cx="3550615" cy="274320"/>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Tujuannya terbaca sekali lihat</a:t>
            </a:r>
            <a:endParaRPr lang="en-US" sz="1250" dirty="0"/>
          </a:p>
        </p:txBody>
      </p:sp>
      <p:sp>
        <p:nvSpPr>
          <p:cNvPr id="12" name="Text 9"/>
          <p:cNvSpPr/>
          <p:nvPr/>
        </p:nvSpPr>
        <p:spPr>
          <a:xfrm>
            <a:off x="8001000" y="3721608"/>
            <a:ext cx="3550615" cy="60350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Grid 200 kotak pada proporsi kelas sebenarnya.</a:t>
            </a:r>
            <a:endParaRPr lang="en-US" sz="1100" dirty="0"/>
          </a:p>
        </p:txBody>
      </p:sp>
      <p:sp>
        <p:nvSpPr>
          <p:cNvPr id="13" name="Shape 10"/>
          <p:cNvSpPr/>
          <p:nvPr/>
        </p:nvSpPr>
        <p:spPr>
          <a:xfrm>
            <a:off x="7726680" y="4434840"/>
            <a:ext cx="182880" cy="182880"/>
          </a:xfrm>
          <a:prstGeom prst="ellipse">
            <a:avLst/>
          </a:prstGeom>
          <a:solidFill>
            <a:srgbClr val="8FB0A4"/>
          </a:solidFill>
          <a:ln/>
        </p:spPr>
      </p:sp>
      <p:sp>
        <p:nvSpPr>
          <p:cNvPr id="14" name="Text 11"/>
          <p:cNvSpPr/>
          <p:nvPr/>
        </p:nvSpPr>
        <p:spPr>
          <a:xfrm>
            <a:off x="8001000" y="4389120"/>
            <a:ext cx="3550615" cy="274320"/>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Ambang dapat digeser langsung</a:t>
            </a:r>
            <a:endParaRPr lang="en-US" sz="1250" dirty="0"/>
          </a:p>
        </p:txBody>
      </p:sp>
      <p:sp>
        <p:nvSpPr>
          <p:cNvPr id="15" name="Text 12"/>
          <p:cNvSpPr/>
          <p:nvPr/>
        </p:nvSpPr>
        <p:spPr>
          <a:xfrm>
            <a:off x="8001000" y="4681728"/>
            <a:ext cx="3550615" cy="60350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Seret t₃ di histogram, jumlah tertangkap terhitung ulang.</a:t>
            </a:r>
            <a:endParaRPr lang="en-US" sz="1100" dirty="0"/>
          </a:p>
        </p:txBody>
      </p:sp>
      <p:sp>
        <p:nvSpPr>
          <p:cNvPr id="16" name="Shape 13"/>
          <p:cNvSpPr/>
          <p:nvPr/>
        </p:nvSpPr>
        <p:spPr>
          <a:xfrm>
            <a:off x="7726680" y="5394960"/>
            <a:ext cx="182880" cy="182880"/>
          </a:xfrm>
          <a:prstGeom prst="ellipse">
            <a:avLst/>
          </a:prstGeom>
          <a:solidFill>
            <a:srgbClr val="D8A25E"/>
          </a:solidFill>
          <a:ln/>
        </p:spPr>
      </p:sp>
      <p:sp>
        <p:nvSpPr>
          <p:cNvPr id="17" name="Text 14"/>
          <p:cNvSpPr/>
          <p:nvPr/>
        </p:nvSpPr>
        <p:spPr>
          <a:xfrm>
            <a:off x="8001000" y="5349240"/>
            <a:ext cx="3550615" cy="274320"/>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Tombol (i) di tiap istilah</a:t>
            </a:r>
            <a:endParaRPr lang="en-US" sz="1250" dirty="0"/>
          </a:p>
        </p:txBody>
      </p:sp>
      <p:sp>
        <p:nvSpPr>
          <p:cNvPr id="18" name="Text 15"/>
          <p:cNvSpPr/>
          <p:nvPr/>
        </p:nvSpPr>
        <p:spPr>
          <a:xfrm>
            <a:off x="8001000" y="5641848"/>
            <a:ext cx="3550615" cy="60350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Rumus dan definisi muncul saat diklik, siap untuk tanya jawab.</a:t>
            </a:r>
            <a:endParaRPr lang="en-US" sz="1100" dirty="0"/>
          </a:p>
        </p:txBody>
      </p:sp>
      <p:sp>
        <p:nvSpPr>
          <p:cNvPr id="20" name="Text 1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1" name="Text 1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Satu angka agregat berubah jadi daftar bernama.</a:t>
            </a:r>
            <a:endParaRPr lang="en-US" sz="34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Itu seluruh manfaatnya, dan itu yang selama ini hilang.</a:t>
            </a:r>
            <a:endParaRPr lang="en-US" sz="1400" dirty="0"/>
          </a:p>
        </p:txBody>
      </p:sp>
      <p:sp>
        <p:nvSpPr>
          <p:cNvPr id="4" name="Shape 2"/>
          <p:cNvSpPr/>
          <p:nvPr/>
        </p:nvSpPr>
        <p:spPr>
          <a:xfrm>
            <a:off x="640080" y="2377440"/>
            <a:ext cx="4861408" cy="3108960"/>
          </a:xfrm>
          <a:prstGeom prst="roundRect">
            <a:avLst>
              <a:gd name="adj" fmla="val 1765"/>
            </a:avLst>
          </a:prstGeom>
          <a:solidFill>
            <a:srgbClr val="F4F1EC"/>
          </a:solidFill>
          <a:ln w="9525">
            <a:solidFill>
              <a:srgbClr val="DCD8D1"/>
            </a:solidFill>
            <a:prstDash val="solid"/>
          </a:ln>
        </p:spPr>
      </p:sp>
      <p:sp>
        <p:nvSpPr>
          <p:cNvPr id="5" name="Text 3"/>
          <p:cNvSpPr/>
          <p:nvPr/>
        </p:nvSpPr>
        <p:spPr>
          <a:xfrm>
            <a:off x="950976" y="2615184"/>
            <a:ext cx="4239616"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TERSEDIA SEKARANG</a:t>
            </a:r>
            <a:endParaRPr lang="en-US" sz="1050" dirty="0"/>
          </a:p>
        </p:txBody>
      </p:sp>
      <p:sp>
        <p:nvSpPr>
          <p:cNvPr id="6" name="Text 4"/>
          <p:cNvSpPr/>
          <p:nvPr/>
        </p:nvSpPr>
        <p:spPr>
          <a:xfrm>
            <a:off x="950976" y="2926080"/>
            <a:ext cx="4239616" cy="914400"/>
          </a:xfrm>
          <a:prstGeom prst="rect">
            <a:avLst/>
          </a:prstGeom>
          <a:noFill/>
          <a:ln/>
        </p:spPr>
        <p:txBody>
          <a:bodyPr wrap="square" lIns="0" tIns="0" rIns="0" bIns="0" rtlCol="0" anchor="ctr"/>
          <a:lstStyle/>
          <a:p>
            <a:pPr indent="0" marL="0">
              <a:buNone/>
            </a:pPr>
            <a:r>
              <a:rPr lang="en-US" sz="5600" b="1" dirty="0">
                <a:solidFill>
                  <a:srgbClr val="3A4048"/>
                </a:solidFill>
                <a:latin typeface="Cambria" pitchFamily="34" charset="0"/>
                <a:ea typeface="Cambria" pitchFamily="34" charset="-122"/>
                <a:cs typeface="Cambria" pitchFamily="34" charset="-120"/>
              </a:rPr>
              <a:t>4,7%</a:t>
            </a:r>
            <a:endParaRPr lang="en-US" sz="5600" dirty="0"/>
          </a:p>
        </p:txBody>
      </p:sp>
      <p:sp>
        <p:nvSpPr>
          <p:cNvPr id="7" name="Text 5"/>
          <p:cNvSpPr/>
          <p:nvPr/>
        </p:nvSpPr>
        <p:spPr>
          <a:xfrm>
            <a:off x="950976" y="3931920"/>
            <a:ext cx="4239616" cy="914400"/>
          </a:xfrm>
          <a:prstGeom prst="rect">
            <a:avLst/>
          </a:prstGeom>
          <a:noFill/>
          <a:ln/>
        </p:spPr>
        <p:txBody>
          <a:bodyPr wrap="square" lIns="0" tIns="0" rIns="0" bIns="0" rtlCol="0" anchor="t"/>
          <a:lstStyle/>
          <a:p>
            <a:pPr indent="0" marL="0">
              <a:lnSpc>
                <a:spcPts val="1800"/>
              </a:lnSpc>
              <a:buNone/>
            </a:pPr>
            <a:r>
              <a:rPr lang="en-US" sz="1300" dirty="0">
                <a:solidFill>
                  <a:srgbClr val="3A4048"/>
                </a:solidFill>
                <a:latin typeface="Calibri" pitchFamily="34" charset="0"/>
                <a:ea typeface="Calibri" pitchFamily="34" charset="-122"/>
                <a:cs typeface="Calibri" pitchFamily="34" charset="-120"/>
              </a:rPr>
              <a:t>Satu baris di laporan survei. Tidak memberi tahu siapa orangnya, jadi tidak bisa ditindaklanjuti.</a:t>
            </a:r>
            <a:endParaRPr lang="en-US" sz="1300" dirty="0"/>
          </a:p>
        </p:txBody>
      </p:sp>
      <p:sp>
        <p:nvSpPr>
          <p:cNvPr id="8" name="Text 6"/>
          <p:cNvSpPr/>
          <p:nvPr/>
        </p:nvSpPr>
        <p:spPr>
          <a:xfrm>
            <a:off x="5501488" y="2377440"/>
            <a:ext cx="1188720" cy="3108960"/>
          </a:xfrm>
          <a:prstGeom prst="rect">
            <a:avLst/>
          </a:prstGeom>
          <a:noFill/>
          <a:ln/>
        </p:spPr>
        <p:txBody>
          <a:bodyPr wrap="square" lIns="0" tIns="0" rIns="0" bIns="0" rtlCol="0" anchor="ctr"/>
          <a:lstStyle/>
          <a:p>
            <a:pPr algn="ctr" indent="0" marL="0">
              <a:buNone/>
            </a:pPr>
            <a:r>
              <a:rPr lang="en-US" sz="2600" dirty="0">
                <a:solidFill>
                  <a:srgbClr val="6E747C"/>
                </a:solidFill>
                <a:latin typeface="Calibri" pitchFamily="34" charset="0"/>
                <a:ea typeface="Calibri" pitchFamily="34" charset="-122"/>
                <a:cs typeface="Calibri" pitchFamily="34" charset="-120"/>
              </a:rPr>
              <a:t>→</a:t>
            </a:r>
            <a:endParaRPr lang="en-US" sz="2600" dirty="0"/>
          </a:p>
        </p:txBody>
      </p:sp>
      <p:sp>
        <p:nvSpPr>
          <p:cNvPr id="9" name="Shape 7"/>
          <p:cNvSpPr/>
          <p:nvPr/>
        </p:nvSpPr>
        <p:spPr>
          <a:xfrm>
            <a:off x="6690208" y="2377440"/>
            <a:ext cx="4861408" cy="3108960"/>
          </a:xfrm>
          <a:prstGeom prst="roundRect">
            <a:avLst>
              <a:gd name="adj" fmla="val 1765"/>
            </a:avLst>
          </a:prstGeom>
          <a:solidFill>
            <a:srgbClr val="FFFFFF"/>
          </a:solidFill>
          <a:ln w="9525">
            <a:solidFill>
              <a:srgbClr val="DCD8D1"/>
            </a:solidFill>
            <a:prstDash val="solid"/>
          </a:ln>
        </p:spPr>
      </p:sp>
      <p:sp>
        <p:nvSpPr>
          <p:cNvPr id="10" name="Text 8"/>
          <p:cNvSpPr/>
          <p:nvPr/>
        </p:nvSpPr>
        <p:spPr>
          <a:xfrm>
            <a:off x="7001104" y="2615184"/>
            <a:ext cx="4239616"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LIFESCOPE HASILKAN</a:t>
            </a:r>
            <a:endParaRPr lang="en-US" sz="1050" dirty="0"/>
          </a:p>
        </p:txBody>
      </p:sp>
      <p:sp>
        <p:nvSpPr>
          <p:cNvPr id="11" name="Shape 9"/>
          <p:cNvSpPr/>
          <p:nvPr/>
        </p:nvSpPr>
        <p:spPr>
          <a:xfrm>
            <a:off x="7001104" y="3017520"/>
            <a:ext cx="310896" cy="310896"/>
          </a:xfrm>
          <a:prstGeom prst="roundRect">
            <a:avLst>
              <a:gd name="adj" fmla="val 23529"/>
            </a:avLst>
          </a:prstGeom>
          <a:solidFill>
            <a:srgbClr val="A8442A"/>
          </a:solidFill>
          <a:ln/>
        </p:spPr>
      </p:sp>
      <p:sp>
        <p:nvSpPr>
          <p:cNvPr id="12" name="Text 10"/>
          <p:cNvSpPr/>
          <p:nvPr/>
        </p:nvSpPr>
        <p:spPr>
          <a:xfrm>
            <a:off x="7001104" y="30175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3" name="Text 11"/>
          <p:cNvSpPr/>
          <p:nvPr/>
        </p:nvSpPr>
        <p:spPr>
          <a:xfrm>
            <a:off x="7421728" y="3017520"/>
            <a:ext cx="914400" cy="310896"/>
          </a:xfrm>
          <a:prstGeom prst="rect">
            <a:avLst/>
          </a:prstGeom>
          <a:noFill/>
          <a:ln/>
        </p:spPr>
        <p:txBody>
          <a:bodyPr wrap="square" lIns="0" tIns="0" rIns="0" bIns="0" rtlCol="0" anchor="ctr"/>
          <a:lstStyle/>
          <a:p>
            <a:pPr indent="0" marL="0">
              <a:buNone/>
            </a:pPr>
            <a:r>
              <a:rPr lang="en-US" sz="1300" b="1" dirty="0">
                <a:solidFill>
                  <a:srgbClr val="16191D"/>
                </a:solidFill>
                <a:latin typeface="Calibri" pitchFamily="34" charset="0"/>
                <a:ea typeface="Calibri" pitchFamily="34" charset="-122"/>
                <a:cs typeface="Calibri" pitchFamily="34" charset="-120"/>
              </a:rPr>
              <a:t>2,932</a:t>
            </a:r>
            <a:endParaRPr lang="en-US" sz="1300" dirty="0"/>
          </a:p>
        </p:txBody>
      </p:sp>
      <p:sp>
        <p:nvSpPr>
          <p:cNvPr id="14" name="Text 12"/>
          <p:cNvSpPr/>
          <p:nvPr/>
        </p:nvSpPr>
        <p:spPr>
          <a:xfrm>
            <a:off x="8381848" y="3017520"/>
            <a:ext cx="2849728" cy="310896"/>
          </a:xfrm>
          <a:prstGeom prst="rect">
            <a:avLst/>
          </a:prstGeom>
          <a:noFill/>
          <a:ln/>
        </p:spPr>
        <p:txBody>
          <a:bodyPr wrap="square" lIns="0" tIns="0" rIns="0" bIns="0" rtlCol="0" anchor="ctr"/>
          <a:lstStyle/>
          <a:p>
            <a:pPr indent="0" marL="0">
              <a:buNone/>
            </a:pPr>
            <a:r>
              <a:rPr lang="en-US" sz="1200" dirty="0">
                <a:solidFill>
                  <a:srgbClr val="6E747C"/>
                </a:solidFill>
                <a:latin typeface="Calibri" pitchFamily="34" charset="0"/>
                <a:ea typeface="Calibri" pitchFamily="34" charset="-122"/>
                <a:cs typeface="Calibri" pitchFamily="34" charset="-120"/>
              </a:rPr>
              <a:t>Responden #1</a:t>
            </a:r>
            <a:endParaRPr lang="en-US" sz="1200" dirty="0"/>
          </a:p>
        </p:txBody>
      </p:sp>
      <p:sp>
        <p:nvSpPr>
          <p:cNvPr id="15" name="Shape 13"/>
          <p:cNvSpPr/>
          <p:nvPr/>
        </p:nvSpPr>
        <p:spPr>
          <a:xfrm>
            <a:off x="7001104" y="3419856"/>
            <a:ext cx="310896" cy="310896"/>
          </a:xfrm>
          <a:prstGeom prst="roundRect">
            <a:avLst>
              <a:gd name="adj" fmla="val 23529"/>
            </a:avLst>
          </a:prstGeom>
          <a:solidFill>
            <a:srgbClr val="A8442A"/>
          </a:solidFill>
          <a:ln/>
        </p:spPr>
      </p:sp>
      <p:sp>
        <p:nvSpPr>
          <p:cNvPr id="16" name="Text 14"/>
          <p:cNvSpPr/>
          <p:nvPr/>
        </p:nvSpPr>
        <p:spPr>
          <a:xfrm>
            <a:off x="7001104" y="34198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p:nvPr/>
        </p:nvSpPr>
        <p:spPr>
          <a:xfrm>
            <a:off x="7421728" y="3419856"/>
            <a:ext cx="914400" cy="310896"/>
          </a:xfrm>
          <a:prstGeom prst="rect">
            <a:avLst/>
          </a:prstGeom>
          <a:noFill/>
          <a:ln/>
        </p:spPr>
        <p:txBody>
          <a:bodyPr wrap="square" lIns="0" tIns="0" rIns="0" bIns="0" rtlCol="0" anchor="ctr"/>
          <a:lstStyle/>
          <a:p>
            <a:pPr indent="0" marL="0">
              <a:buNone/>
            </a:pPr>
            <a:r>
              <a:rPr lang="en-US" sz="1300" b="1" dirty="0">
                <a:solidFill>
                  <a:srgbClr val="16191D"/>
                </a:solidFill>
                <a:latin typeface="Calibri" pitchFamily="34" charset="0"/>
                <a:ea typeface="Calibri" pitchFamily="34" charset="-122"/>
                <a:cs typeface="Calibri" pitchFamily="34" charset="-120"/>
              </a:rPr>
              <a:t>2,790</a:t>
            </a:r>
            <a:endParaRPr lang="en-US" sz="1300" dirty="0"/>
          </a:p>
        </p:txBody>
      </p:sp>
      <p:sp>
        <p:nvSpPr>
          <p:cNvPr id="18" name="Text 16"/>
          <p:cNvSpPr/>
          <p:nvPr/>
        </p:nvSpPr>
        <p:spPr>
          <a:xfrm>
            <a:off x="8381848" y="3419856"/>
            <a:ext cx="2849728" cy="310896"/>
          </a:xfrm>
          <a:prstGeom prst="rect">
            <a:avLst/>
          </a:prstGeom>
          <a:noFill/>
          <a:ln/>
        </p:spPr>
        <p:txBody>
          <a:bodyPr wrap="square" lIns="0" tIns="0" rIns="0" bIns="0" rtlCol="0" anchor="ctr"/>
          <a:lstStyle/>
          <a:p>
            <a:pPr indent="0" marL="0">
              <a:buNone/>
            </a:pPr>
            <a:r>
              <a:rPr lang="en-US" sz="1200" dirty="0">
                <a:solidFill>
                  <a:srgbClr val="6E747C"/>
                </a:solidFill>
                <a:latin typeface="Calibri" pitchFamily="34" charset="0"/>
                <a:ea typeface="Calibri" pitchFamily="34" charset="-122"/>
                <a:cs typeface="Calibri" pitchFamily="34" charset="-120"/>
              </a:rPr>
              <a:t>Responden #2</a:t>
            </a:r>
            <a:endParaRPr lang="en-US" sz="1200" dirty="0"/>
          </a:p>
        </p:txBody>
      </p:sp>
      <p:sp>
        <p:nvSpPr>
          <p:cNvPr id="19" name="Shape 17"/>
          <p:cNvSpPr/>
          <p:nvPr/>
        </p:nvSpPr>
        <p:spPr>
          <a:xfrm>
            <a:off x="7001104" y="3822192"/>
            <a:ext cx="310896" cy="310896"/>
          </a:xfrm>
          <a:prstGeom prst="roundRect">
            <a:avLst>
              <a:gd name="adj" fmla="val 23529"/>
            </a:avLst>
          </a:prstGeom>
          <a:solidFill>
            <a:srgbClr val="A8442A"/>
          </a:solidFill>
          <a:ln/>
        </p:spPr>
      </p:sp>
      <p:sp>
        <p:nvSpPr>
          <p:cNvPr id="20" name="Text 18"/>
          <p:cNvSpPr/>
          <p:nvPr/>
        </p:nvSpPr>
        <p:spPr>
          <a:xfrm>
            <a:off x="7001104" y="38221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7421728" y="3822192"/>
            <a:ext cx="914400" cy="310896"/>
          </a:xfrm>
          <a:prstGeom prst="rect">
            <a:avLst/>
          </a:prstGeom>
          <a:noFill/>
          <a:ln/>
        </p:spPr>
        <p:txBody>
          <a:bodyPr wrap="square" lIns="0" tIns="0" rIns="0" bIns="0" rtlCol="0" anchor="ctr"/>
          <a:lstStyle/>
          <a:p>
            <a:pPr indent="0" marL="0">
              <a:buNone/>
            </a:pPr>
            <a:r>
              <a:rPr lang="en-US" sz="1300" b="1" dirty="0">
                <a:solidFill>
                  <a:srgbClr val="16191D"/>
                </a:solidFill>
                <a:latin typeface="Calibri" pitchFamily="34" charset="0"/>
                <a:ea typeface="Calibri" pitchFamily="34" charset="-122"/>
                <a:cs typeface="Calibri" pitchFamily="34" charset="-120"/>
              </a:rPr>
              <a:t>2,738</a:t>
            </a:r>
            <a:endParaRPr lang="en-US" sz="1300" dirty="0"/>
          </a:p>
        </p:txBody>
      </p:sp>
      <p:sp>
        <p:nvSpPr>
          <p:cNvPr id="22" name="Text 20"/>
          <p:cNvSpPr/>
          <p:nvPr/>
        </p:nvSpPr>
        <p:spPr>
          <a:xfrm>
            <a:off x="8381848" y="3822192"/>
            <a:ext cx="2849728" cy="310896"/>
          </a:xfrm>
          <a:prstGeom prst="rect">
            <a:avLst/>
          </a:prstGeom>
          <a:noFill/>
          <a:ln/>
        </p:spPr>
        <p:txBody>
          <a:bodyPr wrap="square" lIns="0" tIns="0" rIns="0" bIns="0" rtlCol="0" anchor="ctr"/>
          <a:lstStyle/>
          <a:p>
            <a:pPr indent="0" marL="0">
              <a:buNone/>
            </a:pPr>
            <a:r>
              <a:rPr lang="en-US" sz="1200" dirty="0">
                <a:solidFill>
                  <a:srgbClr val="6E747C"/>
                </a:solidFill>
                <a:latin typeface="Calibri" pitchFamily="34" charset="0"/>
                <a:ea typeface="Calibri" pitchFamily="34" charset="-122"/>
                <a:cs typeface="Calibri" pitchFamily="34" charset="-120"/>
              </a:rPr>
              <a:t>Responden #3</a:t>
            </a:r>
            <a:endParaRPr lang="en-US" sz="1200" dirty="0"/>
          </a:p>
        </p:txBody>
      </p:sp>
      <p:sp>
        <p:nvSpPr>
          <p:cNvPr id="23" name="Shape 21"/>
          <p:cNvSpPr/>
          <p:nvPr/>
        </p:nvSpPr>
        <p:spPr>
          <a:xfrm>
            <a:off x="7001104" y="4224528"/>
            <a:ext cx="310896" cy="310896"/>
          </a:xfrm>
          <a:prstGeom prst="roundRect">
            <a:avLst>
              <a:gd name="adj" fmla="val 23529"/>
            </a:avLst>
          </a:prstGeom>
          <a:solidFill>
            <a:srgbClr val="D8A25E"/>
          </a:solidFill>
          <a:ln/>
        </p:spPr>
      </p:sp>
      <p:sp>
        <p:nvSpPr>
          <p:cNvPr id="24" name="Text 22"/>
          <p:cNvSpPr/>
          <p:nvPr/>
        </p:nvSpPr>
        <p:spPr>
          <a:xfrm>
            <a:off x="7001104" y="4224528"/>
            <a:ext cx="310896" cy="310896"/>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3</a:t>
            </a:r>
            <a:endParaRPr lang="en-US" sz="1100" dirty="0"/>
          </a:p>
        </p:txBody>
      </p:sp>
      <p:sp>
        <p:nvSpPr>
          <p:cNvPr id="25" name="Text 23"/>
          <p:cNvSpPr/>
          <p:nvPr/>
        </p:nvSpPr>
        <p:spPr>
          <a:xfrm>
            <a:off x="7421728" y="4224528"/>
            <a:ext cx="914400" cy="310896"/>
          </a:xfrm>
          <a:prstGeom prst="rect">
            <a:avLst/>
          </a:prstGeom>
          <a:noFill/>
          <a:ln/>
        </p:spPr>
        <p:txBody>
          <a:bodyPr wrap="square" lIns="0" tIns="0" rIns="0" bIns="0" rtlCol="0" anchor="ctr"/>
          <a:lstStyle/>
          <a:p>
            <a:pPr indent="0" marL="0">
              <a:buNone/>
            </a:pPr>
            <a:r>
              <a:rPr lang="en-US" sz="1300" b="1" dirty="0">
                <a:solidFill>
                  <a:srgbClr val="16191D"/>
                </a:solidFill>
                <a:latin typeface="Calibri" pitchFamily="34" charset="0"/>
                <a:ea typeface="Calibri" pitchFamily="34" charset="-122"/>
                <a:cs typeface="Calibri" pitchFamily="34" charset="-120"/>
              </a:rPr>
              <a:t>2,445</a:t>
            </a:r>
            <a:endParaRPr lang="en-US" sz="1300" dirty="0"/>
          </a:p>
        </p:txBody>
      </p:sp>
      <p:sp>
        <p:nvSpPr>
          <p:cNvPr id="26" name="Text 24"/>
          <p:cNvSpPr/>
          <p:nvPr/>
        </p:nvSpPr>
        <p:spPr>
          <a:xfrm>
            <a:off x="8381848" y="4224528"/>
            <a:ext cx="2849728" cy="310896"/>
          </a:xfrm>
          <a:prstGeom prst="rect">
            <a:avLst/>
          </a:prstGeom>
          <a:noFill/>
          <a:ln/>
        </p:spPr>
        <p:txBody>
          <a:bodyPr wrap="square" lIns="0" tIns="0" rIns="0" bIns="0" rtlCol="0" anchor="ctr"/>
          <a:lstStyle/>
          <a:p>
            <a:pPr indent="0" marL="0">
              <a:buNone/>
            </a:pPr>
            <a:r>
              <a:rPr lang="en-US" sz="1200" dirty="0">
                <a:solidFill>
                  <a:srgbClr val="6E747C"/>
                </a:solidFill>
                <a:latin typeface="Calibri" pitchFamily="34" charset="0"/>
                <a:ea typeface="Calibri" pitchFamily="34" charset="-122"/>
                <a:cs typeface="Calibri" pitchFamily="34" charset="-120"/>
              </a:rPr>
              <a:t>Responden #4</a:t>
            </a:r>
            <a:endParaRPr lang="en-US" sz="1200" dirty="0"/>
          </a:p>
        </p:txBody>
      </p:sp>
      <p:sp>
        <p:nvSpPr>
          <p:cNvPr id="27" name="Text 25"/>
          <p:cNvSpPr/>
          <p:nvPr/>
        </p:nvSpPr>
        <p:spPr>
          <a:xfrm>
            <a:off x="7001104" y="4809744"/>
            <a:ext cx="4239616" cy="548640"/>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Terurut menurut prioritas, siap dibagi ke petugas atau diekspor.</a:t>
            </a:r>
            <a:endParaRPr lang="en-US" sz="1250" dirty="0"/>
          </a:p>
        </p:txBody>
      </p:sp>
      <p:sp>
        <p:nvSpPr>
          <p:cNvPr id="28" name="Text 26"/>
          <p:cNvSpPr/>
          <p:nvPr/>
        </p:nvSpPr>
        <p:spPr>
          <a:xfrm>
            <a:off x="640080" y="5715000"/>
            <a:ext cx="10911535" cy="310896"/>
          </a:xfrm>
          <a:prstGeom prst="rect">
            <a:avLst/>
          </a:prstGeom>
          <a:noFill/>
          <a:ln/>
        </p:spPr>
        <p:txBody>
          <a:bodyPr wrap="square" lIns="0" tIns="0" rIns="0" bIns="0" rtlCol="0" anchor="ctr"/>
          <a:lstStyle/>
          <a:p>
            <a:pPr algn="ctr" indent="0" marL="0">
              <a:buNone/>
            </a:pPr>
            <a:r>
              <a:rPr lang="en-US" sz="1200" i="1" dirty="0">
                <a:solidFill>
                  <a:srgbClr val="6E747C"/>
                </a:solidFill>
                <a:latin typeface="Calibri" pitchFamily="34" charset="0"/>
                <a:ea typeface="Calibri" pitchFamily="34" charset="-122"/>
                <a:cs typeface="Calibri" pitchFamily="34" charset="-120"/>
              </a:rPr>
              <a:t>Model ini alat penapisan tingkat populasi, bukan diagnosis individual.</a:t>
            </a:r>
            <a:endParaRPr lang="en-US" sz="1200" dirty="0"/>
          </a:p>
        </p:txBody>
      </p:sp>
      <p:sp>
        <p:nvSpPr>
          <p:cNvPr id="30" name="Text 2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1"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584"/>
              </a:lnSpc>
              <a:buNone/>
            </a:pPr>
            <a:r>
              <a:rPr lang="en-US" sz="3200" b="1" dirty="0">
                <a:solidFill>
                  <a:srgbClr val="16191D"/>
                </a:solidFill>
                <a:latin typeface="Cambria" pitchFamily="34" charset="0"/>
                <a:ea typeface="Cambria" pitchFamily="34" charset="-122"/>
                <a:cs typeface="Cambria" pitchFamily="34" charset="-120"/>
              </a:rPr>
              <a:t>Empat langkah, masing-masing dengan syaratnya.</a:t>
            </a:r>
            <a:endParaRPr lang="en-US" sz="32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Kami menuliskan syaratnya karena melewatinya adalah cara model seperti ini gagal.</a:t>
            </a:r>
            <a:endParaRPr lang="en-US" sz="1400" dirty="0"/>
          </a:p>
        </p:txBody>
      </p:sp>
      <p:sp>
        <p:nvSpPr>
          <p:cNvPr id="4" name="Shape 2"/>
          <p:cNvSpPr/>
          <p:nvPr/>
        </p:nvSpPr>
        <p:spPr>
          <a:xfrm>
            <a:off x="640080" y="2377440"/>
            <a:ext cx="2522144" cy="3017520"/>
          </a:xfrm>
          <a:prstGeom prst="roundRect">
            <a:avLst>
              <a:gd name="adj" fmla="val 2175"/>
            </a:avLst>
          </a:prstGeom>
          <a:solidFill>
            <a:srgbClr val="F4F1EC"/>
          </a:solidFill>
          <a:ln w="9525">
            <a:solidFill>
              <a:srgbClr val="DCD8D1"/>
            </a:solidFill>
            <a:prstDash val="solid"/>
          </a:ln>
        </p:spPr>
      </p:sp>
      <p:sp>
        <p:nvSpPr>
          <p:cNvPr id="5" name="Shape 3"/>
          <p:cNvSpPr/>
          <p:nvPr/>
        </p:nvSpPr>
        <p:spPr>
          <a:xfrm>
            <a:off x="914400" y="2606040"/>
            <a:ext cx="347472" cy="347472"/>
          </a:xfrm>
          <a:prstGeom prst="ellipse">
            <a:avLst/>
          </a:prstGeom>
          <a:solidFill>
            <a:srgbClr val="2F6B5F"/>
          </a:solidFill>
          <a:ln/>
        </p:spPr>
      </p:sp>
      <p:sp>
        <p:nvSpPr>
          <p:cNvPr id="6" name="Text 4"/>
          <p:cNvSpPr/>
          <p:nvPr/>
        </p:nvSpPr>
        <p:spPr>
          <a:xfrm>
            <a:off x="914400" y="2606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914400" y="3090672"/>
            <a:ext cx="1973504" cy="566928"/>
          </a:xfrm>
          <a:prstGeom prst="rect">
            <a:avLst/>
          </a:prstGeom>
          <a:noFill/>
          <a:ln/>
        </p:spPr>
        <p:txBody>
          <a:bodyPr wrap="square" lIns="0" tIns="0" rIns="0" bIns="0" rtlCol="0" anchor="t"/>
          <a:lstStyle/>
          <a:p>
            <a:pPr indent="0" marL="0">
              <a:lnSpc>
                <a:spcPts val="1900"/>
              </a:lnSpc>
              <a:buNone/>
            </a:pPr>
            <a:r>
              <a:rPr lang="en-US" sz="1450" b="1" dirty="0">
                <a:solidFill>
                  <a:srgbClr val="16191D"/>
                </a:solidFill>
                <a:latin typeface="Cambria" pitchFamily="34" charset="0"/>
                <a:ea typeface="Cambria" pitchFamily="34" charset="-122"/>
                <a:cs typeface="Cambria" pitchFamily="34" charset="-120"/>
              </a:rPr>
              <a:t>Penapisan retrospektif</a:t>
            </a:r>
            <a:endParaRPr lang="en-US" sz="1450" dirty="0"/>
          </a:p>
        </p:txBody>
      </p:sp>
      <p:sp>
        <p:nvSpPr>
          <p:cNvPr id="8" name="Text 6"/>
          <p:cNvSpPr/>
          <p:nvPr/>
        </p:nvSpPr>
        <p:spPr>
          <a:xfrm>
            <a:off x="914400" y="3694176"/>
            <a:ext cx="1973504" cy="914400"/>
          </a:xfrm>
          <a:prstGeom prst="rect">
            <a:avLst/>
          </a:prstGeom>
          <a:noFill/>
          <a:ln/>
        </p:spPr>
        <p:txBody>
          <a:bodyPr wrap="square" lIns="0" tIns="0" rIns="0" bIns="0" rtlCol="0" anchor="t"/>
          <a:lstStyle/>
          <a:p>
            <a:pPr indent="0" marL="0">
              <a:lnSpc>
                <a:spcPts val="1600"/>
              </a:lnSpc>
              <a:buNone/>
            </a:pPr>
            <a:r>
              <a:rPr lang="en-US" sz="1200" dirty="0">
                <a:solidFill>
                  <a:srgbClr val="3A4048"/>
                </a:solidFill>
                <a:latin typeface="Calibri" pitchFamily="34" charset="0"/>
                <a:ea typeface="Calibri" pitchFamily="34" charset="-122"/>
                <a:cs typeface="Calibri" pitchFamily="34" charset="-120"/>
              </a:rPr>
              <a:t>Jalankan pada gelombang survei yang sudah ada.</a:t>
            </a:r>
            <a:endParaRPr lang="en-US" sz="1200" dirty="0"/>
          </a:p>
        </p:txBody>
      </p:sp>
      <p:sp>
        <p:nvSpPr>
          <p:cNvPr id="9" name="Text 7"/>
          <p:cNvSpPr/>
          <p:nvPr/>
        </p:nvSpPr>
        <p:spPr>
          <a:xfrm>
            <a:off x="914400" y="4663440"/>
            <a:ext cx="1973504" cy="640080"/>
          </a:xfrm>
          <a:prstGeom prst="rect">
            <a:avLst/>
          </a:prstGeom>
          <a:noFill/>
          <a:ln/>
        </p:spPr>
        <p:txBody>
          <a:bodyPr wrap="square" lIns="0" tIns="0" rIns="0" bIns="0" rtlCol="0" anchor="t"/>
          <a:lstStyle/>
          <a:p>
            <a:pPr indent="0" marL="0">
              <a:lnSpc>
                <a:spcPts val="1500"/>
              </a:lnSpc>
              <a:buNone/>
            </a:pPr>
            <a:r>
              <a:rPr lang="en-US" sz="1150" dirty="0">
                <a:solidFill>
                  <a:srgbClr val="A8442A"/>
                </a:solidFill>
                <a:latin typeface="Calibri" pitchFamily="34" charset="0"/>
                <a:ea typeface="Calibri" pitchFamily="34" charset="-122"/>
                <a:cs typeface="Calibri" pitchFamily="34" charset="-120"/>
              </a:rPr>
              <a:t>Syarat: tidak ada. Bisa hari ini.</a:t>
            </a:r>
            <a:endParaRPr lang="en-US" sz="1150" dirty="0"/>
          </a:p>
        </p:txBody>
      </p:sp>
      <p:sp>
        <p:nvSpPr>
          <p:cNvPr id="10" name="Shape 8"/>
          <p:cNvSpPr/>
          <p:nvPr/>
        </p:nvSpPr>
        <p:spPr>
          <a:xfrm>
            <a:off x="3436544" y="2377440"/>
            <a:ext cx="2522144" cy="3017520"/>
          </a:xfrm>
          <a:prstGeom prst="roundRect">
            <a:avLst>
              <a:gd name="adj" fmla="val 2175"/>
            </a:avLst>
          </a:prstGeom>
          <a:solidFill>
            <a:srgbClr val="F4F1EC"/>
          </a:solidFill>
          <a:ln w="9525">
            <a:solidFill>
              <a:srgbClr val="DCD8D1"/>
            </a:solidFill>
            <a:prstDash val="solid"/>
          </a:ln>
        </p:spPr>
      </p:sp>
      <p:sp>
        <p:nvSpPr>
          <p:cNvPr id="11" name="Shape 9"/>
          <p:cNvSpPr/>
          <p:nvPr/>
        </p:nvSpPr>
        <p:spPr>
          <a:xfrm>
            <a:off x="3710864" y="2606040"/>
            <a:ext cx="347472" cy="347472"/>
          </a:xfrm>
          <a:prstGeom prst="ellipse">
            <a:avLst/>
          </a:prstGeom>
          <a:solidFill>
            <a:srgbClr val="8FB0A4"/>
          </a:solidFill>
          <a:ln/>
        </p:spPr>
      </p:sp>
      <p:sp>
        <p:nvSpPr>
          <p:cNvPr id="12" name="Text 10"/>
          <p:cNvSpPr/>
          <p:nvPr/>
        </p:nvSpPr>
        <p:spPr>
          <a:xfrm>
            <a:off x="3710864" y="2606040"/>
            <a:ext cx="347472" cy="347472"/>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3710864" y="3090672"/>
            <a:ext cx="1973504" cy="566928"/>
          </a:xfrm>
          <a:prstGeom prst="rect">
            <a:avLst/>
          </a:prstGeom>
          <a:noFill/>
          <a:ln/>
        </p:spPr>
        <p:txBody>
          <a:bodyPr wrap="square" lIns="0" tIns="0" rIns="0" bIns="0" rtlCol="0" anchor="t"/>
          <a:lstStyle/>
          <a:p>
            <a:pPr indent="0" marL="0">
              <a:lnSpc>
                <a:spcPts val="1900"/>
              </a:lnSpc>
              <a:buNone/>
            </a:pPr>
            <a:r>
              <a:rPr lang="en-US" sz="1450" b="1" dirty="0">
                <a:solidFill>
                  <a:srgbClr val="16191D"/>
                </a:solidFill>
                <a:latin typeface="Cambria" pitchFamily="34" charset="0"/>
                <a:ea typeface="Cambria" pitchFamily="34" charset="-122"/>
                <a:cs typeface="Cambria" pitchFamily="34" charset="-120"/>
              </a:rPr>
              <a:t>Prioritisasi tindak lanjut</a:t>
            </a:r>
            <a:endParaRPr lang="en-US" sz="1450" dirty="0"/>
          </a:p>
        </p:txBody>
      </p:sp>
      <p:sp>
        <p:nvSpPr>
          <p:cNvPr id="14" name="Text 12"/>
          <p:cNvSpPr/>
          <p:nvPr/>
        </p:nvSpPr>
        <p:spPr>
          <a:xfrm>
            <a:off x="3710864" y="3694176"/>
            <a:ext cx="1973504" cy="914400"/>
          </a:xfrm>
          <a:prstGeom prst="rect">
            <a:avLst/>
          </a:prstGeom>
          <a:noFill/>
          <a:ln/>
        </p:spPr>
        <p:txBody>
          <a:bodyPr wrap="square" lIns="0" tIns="0" rIns="0" bIns="0" rtlCol="0" anchor="t"/>
          <a:lstStyle/>
          <a:p>
            <a:pPr indent="0" marL="0">
              <a:lnSpc>
                <a:spcPts val="1600"/>
              </a:lnSpc>
              <a:buNone/>
            </a:pPr>
            <a:r>
              <a:rPr lang="en-US" sz="1200" dirty="0">
                <a:solidFill>
                  <a:srgbClr val="3A4048"/>
                </a:solidFill>
                <a:latin typeface="Calibri" pitchFamily="34" charset="0"/>
                <a:ea typeface="Calibri" pitchFamily="34" charset="-122"/>
                <a:cs typeface="Calibri" pitchFamily="34" charset="-120"/>
              </a:rPr>
              <a:t>Pakai peringkat E[y], bukan label, untuk menyusun antrean.</a:t>
            </a:r>
            <a:endParaRPr lang="en-US" sz="1200" dirty="0"/>
          </a:p>
        </p:txBody>
      </p:sp>
      <p:sp>
        <p:nvSpPr>
          <p:cNvPr id="15" name="Text 13"/>
          <p:cNvSpPr/>
          <p:nvPr/>
        </p:nvSpPr>
        <p:spPr>
          <a:xfrm>
            <a:off x="3710864" y="4663440"/>
            <a:ext cx="1973504" cy="640080"/>
          </a:xfrm>
          <a:prstGeom prst="rect">
            <a:avLst/>
          </a:prstGeom>
          <a:noFill/>
          <a:ln/>
        </p:spPr>
        <p:txBody>
          <a:bodyPr wrap="square" lIns="0" tIns="0" rIns="0" bIns="0" rtlCol="0" anchor="t"/>
          <a:lstStyle/>
          <a:p>
            <a:pPr indent="0" marL="0">
              <a:lnSpc>
                <a:spcPts val="1500"/>
              </a:lnSpc>
              <a:buNone/>
            </a:pPr>
            <a:r>
              <a:rPr lang="en-US" sz="1150" dirty="0">
                <a:solidFill>
                  <a:srgbClr val="A8442A"/>
                </a:solidFill>
                <a:latin typeface="Calibri" pitchFamily="34" charset="0"/>
                <a:ea typeface="Calibri" pitchFamily="34" charset="-122"/>
                <a:cs typeface="Calibri" pitchFamily="34" charset="-120"/>
              </a:rPr>
              <a:t>Syarat: t₃ dikalibrasi untuk sensitivitas.</a:t>
            </a:r>
            <a:endParaRPr lang="en-US" sz="1150" dirty="0"/>
          </a:p>
        </p:txBody>
      </p:sp>
      <p:sp>
        <p:nvSpPr>
          <p:cNvPr id="16" name="Shape 14"/>
          <p:cNvSpPr/>
          <p:nvPr/>
        </p:nvSpPr>
        <p:spPr>
          <a:xfrm>
            <a:off x="6233008" y="2377440"/>
            <a:ext cx="2522144" cy="3017520"/>
          </a:xfrm>
          <a:prstGeom prst="roundRect">
            <a:avLst>
              <a:gd name="adj" fmla="val 2175"/>
            </a:avLst>
          </a:prstGeom>
          <a:solidFill>
            <a:srgbClr val="F4F1EC"/>
          </a:solidFill>
          <a:ln w="9525">
            <a:solidFill>
              <a:srgbClr val="DCD8D1"/>
            </a:solidFill>
            <a:prstDash val="solid"/>
          </a:ln>
        </p:spPr>
      </p:sp>
      <p:sp>
        <p:nvSpPr>
          <p:cNvPr id="17" name="Shape 15"/>
          <p:cNvSpPr/>
          <p:nvPr/>
        </p:nvSpPr>
        <p:spPr>
          <a:xfrm>
            <a:off x="6507328" y="2606040"/>
            <a:ext cx="347472" cy="347472"/>
          </a:xfrm>
          <a:prstGeom prst="ellipse">
            <a:avLst/>
          </a:prstGeom>
          <a:solidFill>
            <a:srgbClr val="D8A25E"/>
          </a:solidFill>
          <a:ln/>
        </p:spPr>
      </p:sp>
      <p:sp>
        <p:nvSpPr>
          <p:cNvPr id="18" name="Text 16"/>
          <p:cNvSpPr/>
          <p:nvPr/>
        </p:nvSpPr>
        <p:spPr>
          <a:xfrm>
            <a:off x="6507328" y="2606040"/>
            <a:ext cx="347472" cy="347472"/>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6507328" y="3090672"/>
            <a:ext cx="1973504" cy="566928"/>
          </a:xfrm>
          <a:prstGeom prst="rect">
            <a:avLst/>
          </a:prstGeom>
          <a:noFill/>
          <a:ln/>
        </p:spPr>
        <p:txBody>
          <a:bodyPr wrap="square" lIns="0" tIns="0" rIns="0" bIns="0" rtlCol="0" anchor="t"/>
          <a:lstStyle/>
          <a:p>
            <a:pPr indent="0" marL="0">
              <a:lnSpc>
                <a:spcPts val="1900"/>
              </a:lnSpc>
              <a:buNone/>
            </a:pPr>
            <a:r>
              <a:rPr lang="en-US" sz="1450" b="1" dirty="0">
                <a:solidFill>
                  <a:srgbClr val="16191D"/>
                </a:solidFill>
                <a:latin typeface="Cambria" pitchFamily="34" charset="0"/>
                <a:ea typeface="Cambria" pitchFamily="34" charset="-122"/>
                <a:cs typeface="Cambria" pitchFamily="34" charset="-120"/>
              </a:rPr>
              <a:t>Instrumen 17 pertanyaan</a:t>
            </a:r>
            <a:endParaRPr lang="en-US" sz="1450" dirty="0"/>
          </a:p>
        </p:txBody>
      </p:sp>
      <p:sp>
        <p:nvSpPr>
          <p:cNvPr id="20" name="Text 18"/>
          <p:cNvSpPr/>
          <p:nvPr/>
        </p:nvSpPr>
        <p:spPr>
          <a:xfrm>
            <a:off x="6507328" y="3694176"/>
            <a:ext cx="1973504" cy="914400"/>
          </a:xfrm>
          <a:prstGeom prst="rect">
            <a:avLst/>
          </a:prstGeom>
          <a:noFill/>
          <a:ln/>
        </p:spPr>
        <p:txBody>
          <a:bodyPr wrap="square" lIns="0" tIns="0" rIns="0" bIns="0" rtlCol="0" anchor="t"/>
          <a:lstStyle/>
          <a:p>
            <a:pPr indent="0" marL="0">
              <a:lnSpc>
                <a:spcPts val="1600"/>
              </a:lnSpc>
              <a:buNone/>
            </a:pPr>
            <a:r>
              <a:rPr lang="en-US" sz="1200" dirty="0">
                <a:solidFill>
                  <a:srgbClr val="3A4048"/>
                </a:solidFill>
                <a:latin typeface="Calibri" pitchFamily="34" charset="0"/>
                <a:ea typeface="Calibri" pitchFamily="34" charset="-122"/>
                <a:cs typeface="Calibri" pitchFamily="34" charset="-120"/>
              </a:rPr>
              <a:t>Wawancara singkat menggantikan kuesioner penuh.</a:t>
            </a:r>
            <a:endParaRPr lang="en-US" sz="1200" dirty="0"/>
          </a:p>
        </p:txBody>
      </p:sp>
      <p:sp>
        <p:nvSpPr>
          <p:cNvPr id="21" name="Text 19"/>
          <p:cNvSpPr/>
          <p:nvPr/>
        </p:nvSpPr>
        <p:spPr>
          <a:xfrm>
            <a:off x="6507328" y="4663440"/>
            <a:ext cx="1973504" cy="640080"/>
          </a:xfrm>
          <a:prstGeom prst="rect">
            <a:avLst/>
          </a:prstGeom>
          <a:noFill/>
          <a:ln/>
        </p:spPr>
        <p:txBody>
          <a:bodyPr wrap="square" lIns="0" tIns="0" rIns="0" bIns="0" rtlCol="0" anchor="t"/>
          <a:lstStyle/>
          <a:p>
            <a:pPr indent="0" marL="0">
              <a:lnSpc>
                <a:spcPts val="1500"/>
              </a:lnSpc>
              <a:buNone/>
            </a:pPr>
            <a:r>
              <a:rPr lang="en-US" sz="1150" dirty="0">
                <a:solidFill>
                  <a:srgbClr val="A8442A"/>
                </a:solidFill>
                <a:latin typeface="Calibri" pitchFamily="34" charset="0"/>
                <a:ea typeface="Calibri" pitchFamily="34" charset="-122"/>
                <a:cs typeface="Calibri" pitchFamily="34" charset="-120"/>
              </a:rPr>
              <a:t>Syarat: validasi ulang pada populasi sasaran.</a:t>
            </a:r>
            <a:endParaRPr lang="en-US" sz="1150" dirty="0"/>
          </a:p>
        </p:txBody>
      </p:sp>
      <p:sp>
        <p:nvSpPr>
          <p:cNvPr id="22" name="Shape 20"/>
          <p:cNvSpPr/>
          <p:nvPr/>
        </p:nvSpPr>
        <p:spPr>
          <a:xfrm>
            <a:off x="9029471" y="2377440"/>
            <a:ext cx="2522144" cy="3017520"/>
          </a:xfrm>
          <a:prstGeom prst="roundRect">
            <a:avLst>
              <a:gd name="adj" fmla="val 2175"/>
            </a:avLst>
          </a:prstGeom>
          <a:solidFill>
            <a:srgbClr val="ECE7DF"/>
          </a:solidFill>
          <a:ln w="9525">
            <a:solidFill>
              <a:srgbClr val="DCD8D1"/>
            </a:solidFill>
            <a:prstDash val="solid"/>
          </a:ln>
        </p:spPr>
      </p:sp>
      <p:sp>
        <p:nvSpPr>
          <p:cNvPr id="23" name="Shape 21"/>
          <p:cNvSpPr/>
          <p:nvPr/>
        </p:nvSpPr>
        <p:spPr>
          <a:xfrm>
            <a:off x="9303791" y="2606040"/>
            <a:ext cx="347472" cy="347472"/>
          </a:xfrm>
          <a:prstGeom prst="ellipse">
            <a:avLst/>
          </a:prstGeom>
          <a:solidFill>
            <a:srgbClr val="A8442A"/>
          </a:solidFill>
          <a:ln/>
        </p:spPr>
      </p:sp>
      <p:sp>
        <p:nvSpPr>
          <p:cNvPr id="24" name="Text 22"/>
          <p:cNvSpPr/>
          <p:nvPr/>
        </p:nvSpPr>
        <p:spPr>
          <a:xfrm>
            <a:off x="9303791" y="2606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p:nvPr/>
        </p:nvSpPr>
        <p:spPr>
          <a:xfrm>
            <a:off x="9303791" y="3090672"/>
            <a:ext cx="1973504" cy="566928"/>
          </a:xfrm>
          <a:prstGeom prst="rect">
            <a:avLst/>
          </a:prstGeom>
          <a:noFill/>
          <a:ln/>
        </p:spPr>
        <p:txBody>
          <a:bodyPr wrap="square" lIns="0" tIns="0" rIns="0" bIns="0" rtlCol="0" anchor="t"/>
          <a:lstStyle/>
          <a:p>
            <a:pPr indent="0" marL="0">
              <a:lnSpc>
                <a:spcPts val="1900"/>
              </a:lnSpc>
              <a:buNone/>
            </a:pPr>
            <a:r>
              <a:rPr lang="en-US" sz="1450" b="1" dirty="0">
                <a:solidFill>
                  <a:srgbClr val="16191D"/>
                </a:solidFill>
                <a:latin typeface="Cambria" pitchFamily="34" charset="0"/>
                <a:ea typeface="Cambria" pitchFamily="34" charset="-122"/>
                <a:cs typeface="Cambria" pitchFamily="34" charset="-120"/>
              </a:rPr>
              <a:t>Tambah variabel</a:t>
            </a:r>
            <a:endParaRPr lang="en-US" sz="1450" dirty="0"/>
          </a:p>
        </p:txBody>
      </p:sp>
      <p:sp>
        <p:nvSpPr>
          <p:cNvPr id="26" name="Text 24"/>
          <p:cNvSpPr/>
          <p:nvPr/>
        </p:nvSpPr>
        <p:spPr>
          <a:xfrm>
            <a:off x="9303791" y="3694176"/>
            <a:ext cx="1973504" cy="914400"/>
          </a:xfrm>
          <a:prstGeom prst="rect">
            <a:avLst/>
          </a:prstGeom>
          <a:noFill/>
          <a:ln/>
        </p:spPr>
        <p:txBody>
          <a:bodyPr wrap="square" lIns="0" tIns="0" rIns="0" bIns="0" rtlCol="0" anchor="t"/>
          <a:lstStyle/>
          <a:p>
            <a:pPr indent="0" marL="0">
              <a:lnSpc>
                <a:spcPts val="1600"/>
              </a:lnSpc>
              <a:buNone/>
            </a:pPr>
            <a:r>
              <a:rPr lang="en-US" sz="1200" dirty="0">
                <a:solidFill>
                  <a:srgbClr val="3A4048"/>
                </a:solidFill>
                <a:latin typeface="Calibri" pitchFamily="34" charset="0"/>
                <a:ea typeface="Calibri" pitchFamily="34" charset="-122"/>
                <a:cs typeface="Calibri" pitchFamily="34" charset="-120"/>
              </a:rPr>
              <a:t>Kepribadian dan hubungan sosial adalah yang hilang.</a:t>
            </a:r>
            <a:endParaRPr lang="en-US" sz="1200" dirty="0"/>
          </a:p>
        </p:txBody>
      </p:sp>
      <p:sp>
        <p:nvSpPr>
          <p:cNvPr id="27" name="Text 25"/>
          <p:cNvSpPr/>
          <p:nvPr/>
        </p:nvSpPr>
        <p:spPr>
          <a:xfrm>
            <a:off x="9303791" y="4663440"/>
            <a:ext cx="1973504" cy="640080"/>
          </a:xfrm>
          <a:prstGeom prst="rect">
            <a:avLst/>
          </a:prstGeom>
          <a:noFill/>
          <a:ln/>
        </p:spPr>
        <p:txBody>
          <a:bodyPr wrap="square" lIns="0" tIns="0" rIns="0" bIns="0" rtlCol="0" anchor="t"/>
          <a:lstStyle/>
          <a:p>
            <a:pPr indent="0" marL="0">
              <a:lnSpc>
                <a:spcPts val="1500"/>
              </a:lnSpc>
              <a:buNone/>
            </a:pPr>
            <a:r>
              <a:rPr lang="en-US" sz="1150" dirty="0">
                <a:solidFill>
                  <a:srgbClr val="A8442A"/>
                </a:solidFill>
                <a:latin typeface="Calibri" pitchFamily="34" charset="0"/>
                <a:ea typeface="Calibri" pitchFamily="34" charset="-122"/>
                <a:cs typeface="Calibri" pitchFamily="34" charset="-120"/>
              </a:rPr>
              <a:t>Syarat: pengumpulan data baru.</a:t>
            </a:r>
            <a:endParaRPr lang="en-US" sz="1150" dirty="0"/>
          </a:p>
        </p:txBody>
      </p:sp>
      <p:sp>
        <p:nvSpPr>
          <p:cNvPr id="28" name="Text 26"/>
          <p:cNvSpPr/>
          <p:nvPr/>
        </p:nvSpPr>
        <p:spPr>
          <a:xfrm>
            <a:off x="640080" y="5577840"/>
            <a:ext cx="10911535" cy="310896"/>
          </a:xfrm>
          <a:prstGeom prst="rect">
            <a:avLst/>
          </a:prstGeom>
          <a:noFill/>
          <a:ln/>
        </p:spPr>
        <p:txBody>
          <a:bodyPr wrap="square" lIns="0" tIns="0" rIns="0" bIns="0" rtlCol="0" anchor="ctr"/>
          <a:lstStyle/>
          <a:p>
            <a:pPr algn="l" indent="0" marL="0">
              <a:buNone/>
            </a:pPr>
            <a:r>
              <a:rPr lang="en-US" sz="1200" i="1" dirty="0">
                <a:solidFill>
                  <a:srgbClr val="6E747C"/>
                </a:solidFill>
                <a:latin typeface="Calibri" pitchFamily="34" charset="0"/>
                <a:ea typeface="Calibri" pitchFamily="34" charset="-122"/>
                <a:cs typeface="Calibri" pitchFamily="34" charset="-120"/>
              </a:rPr>
              <a:t>Langkah 1 bisa dilakukan hari ini. Langkah 4 tidak bisa dipercepat oleh algoritma apa pun.</a:t>
            </a:r>
            <a:endParaRPr lang="en-US" sz="1200" dirty="0"/>
          </a:p>
        </p:txBody>
      </p:sp>
      <p:sp>
        <p:nvSpPr>
          <p:cNvPr id="30" name="Text 2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1"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584"/>
              </a:lnSpc>
              <a:buNone/>
            </a:pPr>
            <a:r>
              <a:rPr lang="en-US" sz="3200" b="1" dirty="0">
                <a:solidFill>
                  <a:srgbClr val="16191D"/>
                </a:solidFill>
                <a:latin typeface="Cambria" pitchFamily="34" charset="0"/>
                <a:ea typeface="Cambria" pitchFamily="34" charset="-122"/>
                <a:cs typeface="Cambria" pitchFamily="34" charset="-120"/>
              </a:rPr>
              <a:t>Tiga saran yang kami pegang sendiri.</a:t>
            </a:r>
            <a:endParaRPr lang="en-US" sz="3200" dirty="0"/>
          </a:p>
        </p:txBody>
      </p:sp>
      <p:sp>
        <p:nvSpPr>
          <p:cNvPr id="3" name="Text 1"/>
          <p:cNvSpPr/>
          <p:nvPr/>
        </p:nvSpPr>
        <p:spPr>
          <a:xfrm>
            <a:off x="640080" y="1572768"/>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Untuk pemakaian, untuk pengembangan, dan untuk membaca papan skor.</a:t>
            </a:r>
            <a:endParaRPr lang="en-US" sz="1400" dirty="0"/>
          </a:p>
        </p:txBody>
      </p:sp>
      <p:sp>
        <p:nvSpPr>
          <p:cNvPr id="4" name="Shape 2"/>
          <p:cNvSpPr/>
          <p:nvPr/>
        </p:nvSpPr>
        <p:spPr>
          <a:xfrm>
            <a:off x="640080" y="2377440"/>
            <a:ext cx="10911535" cy="1170432"/>
          </a:xfrm>
          <a:prstGeom prst="roundRect">
            <a:avLst>
              <a:gd name="adj" fmla="val 4688"/>
            </a:avLst>
          </a:prstGeom>
          <a:solidFill>
            <a:srgbClr val="F4F1EC"/>
          </a:solidFill>
          <a:ln w="9525">
            <a:solidFill>
              <a:srgbClr val="DCD8D1"/>
            </a:solidFill>
            <a:prstDash val="solid"/>
          </a:ln>
        </p:spPr>
      </p:sp>
      <p:sp>
        <p:nvSpPr>
          <p:cNvPr id="5" name="Shape 3"/>
          <p:cNvSpPr/>
          <p:nvPr/>
        </p:nvSpPr>
        <p:spPr>
          <a:xfrm>
            <a:off x="950976" y="2779776"/>
            <a:ext cx="365760" cy="365760"/>
          </a:xfrm>
          <a:prstGeom prst="ellipse">
            <a:avLst/>
          </a:prstGeom>
          <a:solidFill>
            <a:srgbClr val="2F6B5F"/>
          </a:solidFill>
          <a:ln/>
        </p:spPr>
      </p:sp>
      <p:sp>
        <p:nvSpPr>
          <p:cNvPr id="6" name="Text 4"/>
          <p:cNvSpPr/>
          <p:nvPr/>
        </p:nvSpPr>
        <p:spPr>
          <a:xfrm>
            <a:off x="950976" y="2779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499616" y="2596896"/>
            <a:ext cx="9722815" cy="347472"/>
          </a:xfrm>
          <a:prstGeom prst="rect">
            <a:avLst/>
          </a:prstGeom>
          <a:noFill/>
          <a:ln/>
        </p:spPr>
        <p:txBody>
          <a:bodyPr wrap="square" lIns="0" tIns="0" rIns="0" bIns="0" rtlCol="0" anchor="ctr"/>
          <a:lstStyle/>
          <a:p>
            <a:pPr indent="0" marL="0">
              <a:buNone/>
            </a:pPr>
            <a:r>
              <a:rPr lang="en-US" sz="1600" b="1" dirty="0">
                <a:solidFill>
                  <a:srgbClr val="16191D"/>
                </a:solidFill>
                <a:latin typeface="Cambria" pitchFamily="34" charset="0"/>
                <a:ea typeface="Cambria" pitchFamily="34" charset="-122"/>
                <a:cs typeface="Cambria" pitchFamily="34" charset="-120"/>
              </a:rPr>
              <a:t>Pakai untuk populasi, bukan individu</a:t>
            </a:r>
            <a:endParaRPr lang="en-US" sz="1600" dirty="0"/>
          </a:p>
        </p:txBody>
      </p:sp>
      <p:sp>
        <p:nvSpPr>
          <p:cNvPr id="8" name="Text 6"/>
          <p:cNvSpPr/>
          <p:nvPr/>
        </p:nvSpPr>
        <p:spPr>
          <a:xfrm>
            <a:off x="1499616" y="2944368"/>
            <a:ext cx="9722815" cy="512064"/>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Sebaran E[y] kelas 1 dan 2 bertumpang tindih lebar. Untuk seribu orang agregatnya andal.</a:t>
            </a:r>
            <a:endParaRPr lang="en-US" sz="1250" dirty="0"/>
          </a:p>
        </p:txBody>
      </p:sp>
      <p:sp>
        <p:nvSpPr>
          <p:cNvPr id="9" name="Shape 7"/>
          <p:cNvSpPr/>
          <p:nvPr/>
        </p:nvSpPr>
        <p:spPr>
          <a:xfrm>
            <a:off x="640080" y="3675888"/>
            <a:ext cx="10911535" cy="1170432"/>
          </a:xfrm>
          <a:prstGeom prst="roundRect">
            <a:avLst>
              <a:gd name="adj" fmla="val 4688"/>
            </a:avLst>
          </a:prstGeom>
          <a:solidFill>
            <a:srgbClr val="F4F1EC"/>
          </a:solidFill>
          <a:ln w="9525">
            <a:solidFill>
              <a:srgbClr val="DCD8D1"/>
            </a:solidFill>
            <a:prstDash val="solid"/>
          </a:ln>
        </p:spPr>
      </p:sp>
      <p:sp>
        <p:nvSpPr>
          <p:cNvPr id="10" name="Shape 8"/>
          <p:cNvSpPr/>
          <p:nvPr/>
        </p:nvSpPr>
        <p:spPr>
          <a:xfrm>
            <a:off x="950976" y="4078224"/>
            <a:ext cx="365760" cy="365760"/>
          </a:xfrm>
          <a:prstGeom prst="ellipse">
            <a:avLst/>
          </a:prstGeom>
          <a:solidFill>
            <a:srgbClr val="8FB0A4"/>
          </a:solidFill>
          <a:ln/>
        </p:spPr>
      </p:sp>
      <p:sp>
        <p:nvSpPr>
          <p:cNvPr id="11" name="Text 9"/>
          <p:cNvSpPr/>
          <p:nvPr/>
        </p:nvSpPr>
        <p:spPr>
          <a:xfrm>
            <a:off x="950976" y="4078224"/>
            <a:ext cx="365760" cy="36576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499616" y="3895344"/>
            <a:ext cx="9722815" cy="347472"/>
          </a:xfrm>
          <a:prstGeom prst="rect">
            <a:avLst/>
          </a:prstGeom>
          <a:noFill/>
          <a:ln/>
        </p:spPr>
        <p:txBody>
          <a:bodyPr wrap="square" lIns="0" tIns="0" rIns="0" bIns="0" rtlCol="0" anchor="ctr"/>
          <a:lstStyle/>
          <a:p>
            <a:pPr indent="0" marL="0">
              <a:buNone/>
            </a:pPr>
            <a:r>
              <a:rPr lang="en-US" sz="1600" b="1" dirty="0">
                <a:solidFill>
                  <a:srgbClr val="16191D"/>
                </a:solidFill>
                <a:latin typeface="Cambria" pitchFamily="34" charset="0"/>
                <a:ea typeface="Cambria" pitchFamily="34" charset="-122"/>
                <a:cs typeface="Cambria" pitchFamily="34" charset="-120"/>
              </a:rPr>
              <a:t>Tambah variabel, bukan tambah model</a:t>
            </a:r>
            <a:endParaRPr lang="en-US" sz="1600" dirty="0"/>
          </a:p>
        </p:txBody>
      </p:sp>
      <p:sp>
        <p:nvSpPr>
          <p:cNvPr id="13" name="Text 11"/>
          <p:cNvSpPr/>
          <p:nvPr/>
        </p:nvSpPr>
        <p:spPr>
          <a:xfrm>
            <a:off x="1499616" y="4242816"/>
            <a:ext cx="9722815" cy="512064"/>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Kurva belajar menunjukkan pengembalian dari algoritma sudah habis. Satu instrumen kepribadian berpotensi melampaui seluruh notebook ini.</a:t>
            </a:r>
            <a:endParaRPr lang="en-US" sz="1250" dirty="0"/>
          </a:p>
        </p:txBody>
      </p:sp>
      <p:sp>
        <p:nvSpPr>
          <p:cNvPr id="14" name="Shape 12"/>
          <p:cNvSpPr/>
          <p:nvPr/>
        </p:nvSpPr>
        <p:spPr>
          <a:xfrm>
            <a:off x="640080" y="4974336"/>
            <a:ext cx="10911535" cy="1170432"/>
          </a:xfrm>
          <a:prstGeom prst="roundRect">
            <a:avLst>
              <a:gd name="adj" fmla="val 4688"/>
            </a:avLst>
          </a:prstGeom>
          <a:solidFill>
            <a:srgbClr val="F4F1EC"/>
          </a:solidFill>
          <a:ln w="9525">
            <a:solidFill>
              <a:srgbClr val="DCD8D1"/>
            </a:solidFill>
            <a:prstDash val="solid"/>
          </a:ln>
        </p:spPr>
      </p:sp>
      <p:sp>
        <p:nvSpPr>
          <p:cNvPr id="15" name="Shape 13"/>
          <p:cNvSpPr/>
          <p:nvPr/>
        </p:nvSpPr>
        <p:spPr>
          <a:xfrm>
            <a:off x="950976" y="5376672"/>
            <a:ext cx="365760" cy="365760"/>
          </a:xfrm>
          <a:prstGeom prst="ellipse">
            <a:avLst/>
          </a:prstGeom>
          <a:solidFill>
            <a:srgbClr val="D8A25E"/>
          </a:solidFill>
          <a:ln/>
        </p:spPr>
      </p:sp>
      <p:sp>
        <p:nvSpPr>
          <p:cNvPr id="16" name="Text 14"/>
          <p:cNvSpPr/>
          <p:nvPr/>
        </p:nvSpPr>
        <p:spPr>
          <a:xfrm>
            <a:off x="950976" y="53766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499616" y="5193792"/>
            <a:ext cx="9722815" cy="347472"/>
          </a:xfrm>
          <a:prstGeom prst="rect">
            <a:avLst/>
          </a:prstGeom>
          <a:noFill/>
          <a:ln/>
        </p:spPr>
        <p:txBody>
          <a:bodyPr wrap="square" lIns="0" tIns="0" rIns="0" bIns="0" rtlCol="0" anchor="ctr"/>
          <a:lstStyle/>
          <a:p>
            <a:pPr indent="0" marL="0">
              <a:buNone/>
            </a:pPr>
            <a:r>
              <a:rPr lang="en-US" sz="1600" b="1" dirty="0">
                <a:solidFill>
                  <a:srgbClr val="16191D"/>
                </a:solidFill>
                <a:latin typeface="Cambria" pitchFamily="34" charset="0"/>
                <a:ea typeface="Cambria" pitchFamily="34" charset="-122"/>
                <a:cs typeface="Cambria" pitchFamily="34" charset="-120"/>
              </a:rPr>
              <a:t>Baca 0,47 sampai 0,50 sebagai satu kelompok</a:t>
            </a:r>
            <a:endParaRPr lang="en-US" sz="1600" dirty="0"/>
          </a:p>
        </p:txBody>
      </p:sp>
      <p:sp>
        <p:nvSpPr>
          <p:cNvPr id="18" name="Text 16"/>
          <p:cNvSpPr/>
          <p:nvPr/>
        </p:nvSpPr>
        <p:spPr>
          <a:xfrm>
            <a:off x="1499616" y="5541264"/>
            <a:ext cx="9722815" cy="512064"/>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Selisih di dalam kisaran itu lebih mencerminkan derau sampling daripada kualitas metodologi.</a:t>
            </a:r>
            <a:endParaRPr lang="en-US" sz="1250" dirty="0"/>
          </a:p>
        </p:txBody>
      </p:sp>
      <p:sp>
        <p:nvSpPr>
          <p:cNvPr id="20" name="Text 1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1" name="Text 1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82296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PENUTUP</a:t>
            </a:r>
            <a:endParaRPr lang="en-US" sz="1050" dirty="0"/>
          </a:p>
        </p:txBody>
      </p:sp>
      <p:sp>
        <p:nvSpPr>
          <p:cNvPr id="3" name="Text 1"/>
          <p:cNvSpPr/>
          <p:nvPr/>
        </p:nvSpPr>
        <p:spPr>
          <a:xfrm>
            <a:off x="640080" y="1371600"/>
            <a:ext cx="7498080" cy="23774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Cambria" pitchFamily="34" charset="0"/>
                <a:ea typeface="Cambria" pitchFamily="34" charset="-122"/>
                <a:cs typeface="Cambria" pitchFamily="34" charset="-120"/>
              </a:rPr>
              <a:t>Kami tidak mengejar angka.</a:t>
            </a:r>
            <a:endParaRPr lang="en-US" sz="3800" dirty="0"/>
          </a:p>
          <a:p>
            <a:pPr indent="0" marL="0">
              <a:lnSpc>
                <a:spcPts val="5000"/>
              </a:lnSpc>
              <a:buNone/>
            </a:pPr>
            <a:r>
              <a:rPr lang="en-US" sz="3800" b="1" dirty="0">
                <a:solidFill>
                  <a:srgbClr val="FFFFFF"/>
                </a:solidFill>
                <a:latin typeface="Cambria" pitchFamily="34" charset="0"/>
                <a:ea typeface="Cambria" pitchFamily="34" charset="-122"/>
                <a:cs typeface="Cambria" pitchFamily="34" charset="-120"/>
              </a:rPr>
              <a:t>Kami memetakan batasnya,</a:t>
            </a:r>
            <a:endParaRPr lang="en-US" sz="3800" dirty="0"/>
          </a:p>
          <a:p>
            <a:pPr indent="0" marL="0">
              <a:lnSpc>
                <a:spcPts val="5000"/>
              </a:lnSpc>
              <a:buNone/>
            </a:pPr>
            <a:r>
              <a:rPr lang="en-US" sz="3800" b="1" dirty="0">
                <a:solidFill>
                  <a:srgbClr val="FFFFFF"/>
                </a:solidFill>
                <a:latin typeface="Cambria" pitchFamily="34" charset="0"/>
                <a:ea typeface="Cambria" pitchFamily="34" charset="-122"/>
                <a:cs typeface="Cambria" pitchFamily="34" charset="-120"/>
              </a:rPr>
              <a:t>lalu berhenti tepat di sana.</a:t>
            </a:r>
            <a:endParaRPr lang="en-US" sz="3800" dirty="0"/>
          </a:p>
        </p:txBody>
      </p:sp>
      <p:sp>
        <p:nvSpPr>
          <p:cNvPr id="4" name="Text 2"/>
          <p:cNvSpPr/>
          <p:nvPr/>
        </p:nvSpPr>
        <p:spPr>
          <a:xfrm>
            <a:off x="640080" y="3931920"/>
            <a:ext cx="6949440" cy="82296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Setiap keputusan punya angka yang mendasarinya, dan setiap angka dapat dijalankan ulang dari notebook yang kami kumpulkan.</a:t>
            </a:r>
            <a:endParaRPr lang="en-US" sz="1400" dirty="0"/>
          </a:p>
        </p:txBody>
      </p:sp>
      <p:sp>
        <p:nvSpPr>
          <p:cNvPr id="5" name="Text 3"/>
          <p:cNvSpPr/>
          <p:nvPr/>
        </p:nvSpPr>
        <p:spPr>
          <a:xfrm>
            <a:off x="8321040" y="1417320"/>
            <a:ext cx="323057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TIGA ANGKA UNTUK DIINGAT</a:t>
            </a:r>
            <a:endParaRPr lang="en-US" sz="1050" dirty="0"/>
          </a:p>
        </p:txBody>
      </p:sp>
      <p:sp>
        <p:nvSpPr>
          <p:cNvPr id="6" name="Text 4"/>
          <p:cNvSpPr/>
          <p:nvPr/>
        </p:nvSpPr>
        <p:spPr>
          <a:xfrm>
            <a:off x="8321040" y="1810512"/>
            <a:ext cx="3230575" cy="493776"/>
          </a:xfrm>
          <a:prstGeom prst="rect">
            <a:avLst/>
          </a:prstGeom>
          <a:noFill/>
          <a:ln/>
        </p:spPr>
        <p:txBody>
          <a:bodyPr wrap="square" lIns="0" tIns="0" rIns="0" bIns="0" rtlCol="0" anchor="ctr"/>
          <a:lstStyle/>
          <a:p>
            <a:pPr indent="0" marL="0">
              <a:buNone/>
            </a:pPr>
            <a:r>
              <a:rPr lang="en-US" sz="2700" b="1" dirty="0">
                <a:solidFill>
                  <a:srgbClr val="8FB0A4"/>
                </a:solidFill>
                <a:latin typeface="Cambria" pitchFamily="34" charset="0"/>
                <a:ea typeface="Cambria" pitchFamily="34" charset="-122"/>
                <a:cs typeface="Cambria" pitchFamily="34" charset="-120"/>
              </a:rPr>
              <a:t>+0,06269</a:t>
            </a:r>
            <a:endParaRPr lang="en-US" sz="2700" dirty="0"/>
          </a:p>
        </p:txBody>
      </p:sp>
      <p:sp>
        <p:nvSpPr>
          <p:cNvPr id="7" name="Text 5"/>
          <p:cNvSpPr/>
          <p:nvPr/>
        </p:nvSpPr>
        <p:spPr>
          <a:xfrm>
            <a:off x="8321040" y="2304288"/>
            <a:ext cx="3230575" cy="530352"/>
          </a:xfrm>
          <a:prstGeom prst="rect">
            <a:avLst/>
          </a:prstGeom>
          <a:noFill/>
          <a:ln/>
        </p:spPr>
        <p:txBody>
          <a:bodyPr wrap="square" lIns="0" tIns="0" rIns="0" bIns="0" rtlCol="0" anchor="t"/>
          <a:lstStyle/>
          <a:p>
            <a:pPr indent="0" marL="0">
              <a:lnSpc>
                <a:spcPts val="1500"/>
              </a:lnSpc>
              <a:buNone/>
            </a:pPr>
            <a:r>
              <a:rPr lang="en-US" sz="1100" dirty="0">
                <a:solidFill>
                  <a:srgbClr val="9AA0A7"/>
                </a:solidFill>
                <a:latin typeface="Calibri" pitchFamily="34" charset="0"/>
                <a:ea typeface="Calibri" pitchFamily="34" charset="-122"/>
                <a:cs typeface="Calibri" pitchFamily="34" charset="-120"/>
              </a:rPr>
              <a:t>dari aturan keputusan, tuas terbesar</a:t>
            </a:r>
            <a:endParaRPr lang="en-US" sz="1100" dirty="0"/>
          </a:p>
        </p:txBody>
      </p:sp>
      <p:sp>
        <p:nvSpPr>
          <p:cNvPr id="8" name="Text 6"/>
          <p:cNvSpPr/>
          <p:nvPr/>
        </p:nvSpPr>
        <p:spPr>
          <a:xfrm>
            <a:off x="8321040" y="2962656"/>
            <a:ext cx="3230575" cy="493776"/>
          </a:xfrm>
          <a:prstGeom prst="rect">
            <a:avLst/>
          </a:prstGeom>
          <a:noFill/>
          <a:ln/>
        </p:spPr>
        <p:txBody>
          <a:bodyPr wrap="square" lIns="0" tIns="0" rIns="0" bIns="0" rtlCol="0" anchor="ctr"/>
          <a:lstStyle/>
          <a:p>
            <a:pPr indent="0" marL="0">
              <a:buNone/>
            </a:pPr>
            <a:r>
              <a:rPr lang="en-US" sz="2700" b="1" dirty="0">
                <a:solidFill>
                  <a:srgbClr val="D8A25E"/>
                </a:solidFill>
                <a:latin typeface="Cambria" pitchFamily="34" charset="0"/>
                <a:ea typeface="Cambria" pitchFamily="34" charset="-122"/>
                <a:cs typeface="Cambria" pitchFamily="34" charset="-120"/>
              </a:rPr>
              <a:t>0,9143</a:t>
            </a:r>
            <a:endParaRPr lang="en-US" sz="2700" dirty="0"/>
          </a:p>
        </p:txBody>
      </p:sp>
      <p:sp>
        <p:nvSpPr>
          <p:cNvPr id="9" name="Text 7"/>
          <p:cNvSpPr/>
          <p:nvPr/>
        </p:nvSpPr>
        <p:spPr>
          <a:xfrm>
            <a:off x="8321040" y="3456432"/>
            <a:ext cx="3230575" cy="530352"/>
          </a:xfrm>
          <a:prstGeom prst="rect">
            <a:avLst/>
          </a:prstGeom>
          <a:noFill/>
          <a:ln/>
        </p:spPr>
        <p:txBody>
          <a:bodyPr wrap="square" lIns="0" tIns="0" rIns="0" bIns="0" rtlCol="0" anchor="t"/>
          <a:lstStyle/>
          <a:p>
            <a:pPr indent="0" marL="0">
              <a:lnSpc>
                <a:spcPts val="1500"/>
              </a:lnSpc>
              <a:buNone/>
            </a:pPr>
            <a:r>
              <a:rPr lang="en-US" sz="1100" dirty="0">
                <a:solidFill>
                  <a:srgbClr val="9AA0A7"/>
                </a:solidFill>
                <a:latin typeface="Calibri" pitchFamily="34" charset="0"/>
                <a:ea typeface="Calibri" pitchFamily="34" charset="-122"/>
                <a:cs typeface="Calibri" pitchFamily="34" charset="-120"/>
              </a:rPr>
              <a:t>R² kurva belajar yang membuktikan plafonnya</a:t>
            </a:r>
            <a:endParaRPr lang="en-US" sz="1100" dirty="0"/>
          </a:p>
        </p:txBody>
      </p:sp>
      <p:sp>
        <p:nvSpPr>
          <p:cNvPr id="10" name="Text 8"/>
          <p:cNvSpPr/>
          <p:nvPr/>
        </p:nvSpPr>
        <p:spPr>
          <a:xfrm>
            <a:off x="8321040" y="4114800"/>
            <a:ext cx="3230575" cy="493776"/>
          </a:xfrm>
          <a:prstGeom prst="rect">
            <a:avLst/>
          </a:prstGeom>
          <a:noFill/>
          <a:ln/>
        </p:spPr>
        <p:txBody>
          <a:bodyPr wrap="square" lIns="0" tIns="0" rIns="0" bIns="0" rtlCol="0" anchor="ctr"/>
          <a:lstStyle/>
          <a:p>
            <a:pPr indent="0" marL="0">
              <a:buNone/>
            </a:pPr>
            <a:r>
              <a:rPr lang="en-US" sz="2700" b="1" dirty="0">
                <a:solidFill>
                  <a:srgbClr val="A8442A"/>
                </a:solidFill>
                <a:latin typeface="Cambria" pitchFamily="34" charset="0"/>
                <a:ea typeface="Cambria" pitchFamily="34" charset="-122"/>
                <a:cs typeface="Cambria" pitchFamily="34" charset="-120"/>
              </a:rPr>
              <a:t>0,7 σ</a:t>
            </a:r>
            <a:endParaRPr lang="en-US" sz="2700" dirty="0"/>
          </a:p>
        </p:txBody>
      </p:sp>
      <p:sp>
        <p:nvSpPr>
          <p:cNvPr id="11" name="Text 9"/>
          <p:cNvSpPr/>
          <p:nvPr/>
        </p:nvSpPr>
        <p:spPr>
          <a:xfrm>
            <a:off x="8321040" y="4608576"/>
            <a:ext cx="3230575" cy="530352"/>
          </a:xfrm>
          <a:prstGeom prst="rect">
            <a:avLst/>
          </a:prstGeom>
          <a:noFill/>
          <a:ln/>
        </p:spPr>
        <p:txBody>
          <a:bodyPr wrap="square" lIns="0" tIns="0" rIns="0" bIns="0" rtlCol="0" anchor="t"/>
          <a:lstStyle/>
          <a:p>
            <a:pPr indent="0" marL="0">
              <a:lnSpc>
                <a:spcPts val="1500"/>
              </a:lnSpc>
              <a:buNone/>
            </a:pPr>
            <a:r>
              <a:rPr lang="en-US" sz="1100" dirty="0">
                <a:solidFill>
                  <a:srgbClr val="9AA0A7"/>
                </a:solidFill>
                <a:latin typeface="Calibri" pitchFamily="34" charset="0"/>
                <a:ea typeface="Calibri" pitchFamily="34" charset="-122"/>
                <a:cs typeface="Calibri" pitchFamily="34" charset="-120"/>
              </a:rPr>
              <a:t>jarak enam peringkat papan skor</a:t>
            </a:r>
            <a:endParaRPr lang="en-US" sz="1100" dirty="0"/>
          </a:p>
        </p:txBody>
      </p:sp>
      <p:sp>
        <p:nvSpPr>
          <p:cNvPr id="12" name="Shape 10"/>
          <p:cNvSpPr/>
          <p:nvPr/>
        </p:nvSpPr>
        <p:spPr>
          <a:xfrm>
            <a:off x="640080" y="5230368"/>
            <a:ext cx="10908792" cy="0"/>
          </a:xfrm>
          <a:prstGeom prst="line">
            <a:avLst/>
          </a:prstGeom>
          <a:noFill/>
          <a:ln w="12700">
            <a:solidFill>
              <a:srgbClr val="3A4048"/>
            </a:solidFill>
            <a:prstDash val="solid"/>
          </a:ln>
        </p:spPr>
      </p:sp>
      <p:sp>
        <p:nvSpPr>
          <p:cNvPr id="13" name="Text 11"/>
          <p:cNvSpPr/>
          <p:nvPr/>
        </p:nvSpPr>
        <p:spPr>
          <a:xfrm>
            <a:off x="640080" y="5413248"/>
            <a:ext cx="457200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Tim Warkab</a:t>
            </a:r>
            <a:endParaRPr lang="en-US" sz="1800" dirty="0"/>
          </a:p>
        </p:txBody>
      </p:sp>
      <p:sp>
        <p:nvSpPr>
          <p:cNvPr id="14" name="Text 12">
            <a:hlinkClick r:id="rId1" tooltip=""/>
          </p:cNvPr>
          <p:cNvSpPr/>
          <p:nvPr/>
        </p:nvSpPr>
        <p:spPr>
          <a:xfrm>
            <a:off x="640080" y="5760720"/>
            <a:ext cx="7315200" cy="274320"/>
          </a:xfrm>
          <a:prstGeom prst="rect">
            <a:avLst/>
          </a:prstGeom>
          <a:noFill/>
          <a:ln/>
        </p:spPr>
        <p:txBody>
          <a:bodyPr wrap="square" lIns="0" tIns="0" rIns="0" bIns="0" rtlCol="0" anchor="ctr"/>
          <a:lstStyle/>
          <a:p>
            <a:pPr indent="0" marL="0">
              <a:buNone/>
            </a:pPr>
            <a:r>
              <a:rPr lang="en-US" sz="1100" u="sng" dirty="0">
                <a:solidFill>
                  <a:srgbClr val="8FB0A4"/>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100" dirty="0"/>
          </a:p>
        </p:txBody>
      </p:sp>
      <p:sp>
        <p:nvSpPr>
          <p:cNvPr id="15" name="Text 13"/>
          <p:cNvSpPr/>
          <p:nvPr/>
        </p:nvSpPr>
        <p:spPr>
          <a:xfrm>
            <a:off x="6858000" y="5413248"/>
            <a:ext cx="4690872" cy="621792"/>
          </a:xfrm>
          <a:prstGeom prst="rect">
            <a:avLst/>
          </a:prstGeom>
          <a:noFill/>
          <a:ln/>
        </p:spPr>
        <p:txBody>
          <a:bodyPr wrap="square" lIns="0" tIns="0" rIns="0" bIns="0" rtlCol="0" anchor="ctr"/>
          <a:lstStyle/>
          <a:p>
            <a:pPr algn="r" indent="0" marL="0">
              <a:buNone/>
            </a:pPr>
            <a:r>
              <a:rPr lang="en-US" sz="1350" i="1" dirty="0">
                <a:solidFill>
                  <a:srgbClr val="8FB0A4"/>
                </a:solidFill>
                <a:latin typeface="Calibri" pitchFamily="34" charset="0"/>
                <a:ea typeface="Calibri" pitchFamily="34" charset="-122"/>
                <a:cs typeface="Calibri" pitchFamily="34" charset="-120"/>
              </a:rPr>
              <a:t>Terima kasih, kami siap menjawab pertanyaan.</a:t>
            </a:r>
            <a:endParaRPr lang="en-US" sz="1350" dirty="0"/>
          </a:p>
        </p:txBody>
      </p:sp>
      <p:sp>
        <p:nvSpPr>
          <p:cNvPr id="17"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Prediksi life_satisfaction dioptimalkan untuk Quadratic Weighted Kappa</dc:subject>
  <dc:creator>Tim Warkab</dc:creator>
  <cp:lastModifiedBy>Tim Warkab</cp:lastModifiedBy>
  <cp:revision>1</cp:revision>
  <dcterms:created xsi:type="dcterms:W3CDTF">2026-09-12T12:12:58Z</dcterms:created>
  <dcterms:modified xsi:type="dcterms:W3CDTF">2026-09-12T12:12:58Z</dcterms:modified>
</cp:coreProperties>
</file>