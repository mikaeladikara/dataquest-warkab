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QWK terukur</c:v>
                </c:pt>
              </c:strCache>
            </c:strRef>
          </c:tx>
          <c:spPr>
            <a:solidFill>
              <a:srgbClr val="A8442A"/>
            </a:solidFill>
            <a:ln w="27940" cap="flat">
              <a:solidFill>
                <a:srgbClr val="A8442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8442A"/>
              </a:solidFill>
              <a:ln w="9525" cap="flat">
                <a:solidFill>
                  <a:srgbClr val="A8442A"/>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Sheet1!$B$2:$B$6</c:f>
              <c:numCache>
                <c:formatCode>General</c:formatCode>
                <c:ptCount val="5"/>
                <c:pt idx="0">
                  <c:v>0.43883</c:v>
                </c:pt>
                <c:pt idx="1">
                  <c:v>0.46162</c:v>
                </c:pt>
                <c:pt idx="2">
                  <c:v>0.46391</c:v>
                </c:pt>
                <c:pt idx="3">
                  <c:v>0.46911</c:v>
                </c:pt>
                <c:pt idx="4">
                  <c:v>0.47669</c:v>
                </c:pt>
              </c:numCache>
            </c:numRef>
          </c:val>
          <c:smooth val="0"/>
        </c:ser>
        <c:ser>
          <c:idx val="1"/>
          <c:order val="1"/>
          <c:tx>
            <c:strRef>
              <c:f>Sheet1!$C$1</c:f>
              <c:strCache>
                <c:ptCount val="1"/>
                <c:pt idx="0">
                  <c:v>model log</c:v>
                </c:pt>
              </c:strCache>
            </c:strRef>
          </c:tx>
          <c:spPr>
            <a:solidFill>
              <a:srgbClr val="3A4048"/>
            </a:solidFill>
            <a:ln w="27940" cap="flat">
              <a:solidFill>
                <a:srgbClr val="3A40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A4048"/>
              </a:solidFill>
              <a:ln w="9525" cap="flat">
                <a:solidFill>
                  <a:srgbClr val="3A4048"/>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Sheet1!$C$2:$C$6</c:f>
              <c:numCache>
                <c:formatCode>General</c:formatCode>
                <c:ptCount val="5"/>
                <c:pt idx="0">
                  <c:v>0.44287</c:v>
                </c:pt>
                <c:pt idx="1">
                  <c:v>0.45471</c:v>
                </c:pt>
                <c:pt idx="2">
                  <c:v>0.46419</c:v>
                </c:pt>
                <c:pt idx="3">
                  <c:v>0.47132</c:v>
                </c:pt>
                <c:pt idx="4">
                  <c:v>0.47707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A4048"/>
                </a:solidFill>
                <a:latin typeface="Arial"/>
              </a:defRPr>
            </a:pPr>
            <a:endParaRPr lang="en-US"/>
          </a:p>
        </c:txPr>
        <c:crossAx val="2094734552"/>
        <c:crosses val="autoZero"/>
        <c:auto val="1"/>
        <c:lblAlgn val="ctr"/>
        <c:noMultiLvlLbl val="1"/>
      </c:catAx>
      <c:valAx>
        <c:axId val="2094734552"/>
        <c:scaling>
          <c:orientation val="minMax"/>
          <c:max val="0.485"/>
          <c:min val="0.43"/>
        </c:scaling>
        <c:delete val="0"/>
        <c:axPos val="l"/>
        <c:majorGridlines>
          <c:spPr>
            <a:ln w="6350" cap="flat">
              <a:solidFill>
                <a:srgbClr val="DCD8D1"/>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E747C"/>
                </a:solidFill>
                <a:latin typeface="Arial"/>
              </a:defRPr>
            </a:pPr>
            <a:endParaRPr lang="en-US"/>
          </a:p>
        </c:txPr>
        <c:crossAx val="2094734554"/>
        <c:crosses val="autoZero"/>
        <c:crossBetween val="between"/>
        <c:majorUnit val="0.01"/>
      </c:valAx>
      <c:spPr>
        <a:solidFill>
          <a:srgbClr val="F4F1EC"/>
        </a:solidFill>
        <a:ln>
          <a:noFill/>
        </a:ln>
        <a:effectLst/>
      </c:spPr>
    </c:plotArea>
    <c:legend>
      <c:legendPos val="b"/>
      <c:overlay val="0"/>
      <c:txPr>
        <a:bodyPr/>
        <a:lstStyle/>
        <a:p>
          <a:pPr>
            <a:defRPr sz="850">
              <a:solidFill>
                <a:srgbClr val="3A404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target dalam dua kalimat. Distribusi di kanan cukup satu kalimat: dua kelas terbawah hanya 4,7 persen dari data, dan merekalah yang menentukan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tanpa menyebut kompetisi. Bacakan judul, berhenti dua detik, lalu tunjuk tiga angka di kanan satu per satu. Tekankan angka 9 persen: di Indonesia, dari setiap sepuluh orang dengan depresi, kurang dari satu yang berobat. Kalimat bawah adalah pertanyaan proyek, bukan tugas lomba. Sumber lengkap ada di lampiran pustaka.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jantung storytelling. Angka 4,7 persen sudah ada di laporan survei mana pun, tetapi tidak ada yang bisa ditelepon dari sebuah persentase. Kontribusi proyek kami adalah mengubah persentase menjadi urutan nama. Tiga kartu bawah adalah siapa yang diuntungkan. Sebut bahwa ini alat penapisan, bukan diagnosis, dan keputusan akhir tetap di tangan tenaga kesehatan.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Jembatan dari dunia nyata ke teknis. Model yang menebak semua orang puas terdengar setengah benar, tetapi tidak menemukan satu pun orang yang butuh bantuan. QWK menilainya nol, dan itu justru benar. Kanan: kelas yang kami cari hanya 4,7 persen data. Ini alasan seluruh pipeline dirancang di sekitar kelas langka.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adalah janji; sisa presentasi membuktikannya. Jangan menyebut tim lain secara spesifik, sebut pendekatan standar. Setiap baris punya badge keunggulan yang sama di slide metodologinya, jadi juri bisa melacak janji ke bukti.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Matriks penalti adalah metrik kompetisi apa adanya: diagonal nol, penalti tumbuh kuadratik. Nilai harapan adalah penduga yang meminimalkan galat kuadratik, jadi ini konsekuensi teori keputusan, bukan trik. Ambang muncul karena keluaran harus berupa label diskret. Implementasi QWK sendiri dibuat karena pencarian ambang butuh puluhan ribu evaluasi, dan selisih 4,44 kali 10 pangkat minus 16 berarti identik secara numerik dengan scikit-learn.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jembatan antara latar belakang dan metodologi. Empat akar ini tidak dikarang setelah hasil keluar, masing-masing punya angka di kolom kedua. Setelah slide ini, sebut bahwa sisa presentasi adalah membuktikan kolom ketiga.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temuan dalam satu napas. Target: 893 responden kelas 4 hanya 0,93 persen, tetapi satu galat 4 ke 1 berbobot sembilan. Kosong: kolom tertinggi adalah pertanyaan bersyarat, misalnya kehamilan, jadi kosongnya terstruktur. Kode 7, 8, 9: muncul sebagai angka biasa di kolom berisi 1 dan 2, sehingga mudah disalahbaca sebagai nilai ordinal besar.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Monoton: angka 0,96 pada general_health_status berarti hampir satu kelas penuh bergeser dari satu pertanyaan. Tersebar: kondisi ini menguntungkan pohon dengan banyak percabangan dangkal, dan menjelaskan kenapa seleksi fitur tidak membantu. Stabil: kalau hubungan fitur dan target bergeser antar tahun, validasi acak akan menyembunyikannya, jadi kami memeriksanya lebih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urutan ini sejalan dengan literatur kesejahteraan subjektif. Kotak gelap adalah argumen substantif untuk plafon, bukan alasan. Jebakan rumah tangga adalah kebocoran semu yang paling menggoda: terlihat brilian, tetapi liftnya hanya 1,6 poin dan model teralihkan sinyal nyaris nol.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tulang punggung metodologi kami dan slide yang paling layak diberi waktu. Bacakan dua atau tiga baris saja, lalu katakan bahwa sepuluh baris ini adalah seluruh isi babak EDA dalam satu halaman. Kolom kanan adalah daftar keputusan yang akan dijalankan di babak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Kolom dasar di tabel adalah yang membedakan ini dari daftar langkah biasa. Ablasi: membuat fitur komposit terlihat rajin, membuangnya setelah terbukti tidak membantu adalah yang sulit. Hasilnya: matriks 95.609 kali 176 untuk pohon, dan versi ternormalisasi kuantil untuk MLP.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presisi mesin berarti kedua implementasi identik. Seed dipisah antara pembagian fold dan inisialisasi model, sehingga sensitivitas keduanya bisa diuji terpisah, dan itu kami lakukan di slide reproduksibilitas.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Kolom sudut pandang adalah alasan tiap model ada. ord memecah empat kelas menjadi tiga pertanyaan biner, y lebih dari 1, 2, 3, lalu menyusunnya kembali menjadi distribusi yang valid dan monoton. Konvergensi lima model pohon dalam 0,00267 adalah petunjuk pertama analisis plafon.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Memilih kombinasi dari skor OOF tertinggi adalah titik paling rawan di pipeline mana pun. Kami menetapkan pilihan dengan argumen tentang sifat penduga. Bahwa pilihan itu juga tertinggi adalah bonus, bukan dasarnya. Grid t3 paling jarang karena rentang wajarnya paling sempit dan sampelnya paling sedikit.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yang paling mungkin ditanya juri. Akurasi dan QWK mengukur hal berbeda. Tim yang mengoptimalkan akurasi akan sistematis tertinggal di papan peringkat meskipun modelnya sama persis. 0,06269 dibagi total perbaikan dari baseline 4 ke 6, yaitu 0,06977, memberi 89,9 persen.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 lima strategi 23,7 menit, split-half 19 menit. Korelasi 20 konfigurasi sempat tampak informatif ketika strategi pencocokan distribusi ikut dihitung, tetapi seluruhnya digerakkan satu strategi yang jelas buruk. Ini alasan struktural kenapa kombinasi dan ambang ditetapkan di muka. Kalau juri bertanya kegagalan terbesar, jawabannya ambang per segmen, dan kami menemukannya sebelum data uji menemukannya.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alatnya dan geser t3 di depan juri; jumlah orang tertangkap berubah seketika. Ambang batas bukan konsep abstrak melainkan tuas kebijakan yang bisa diputar sesuai kapasitas petugas. Angka 4,7 persen sudah ada di laporan mana pun; yang belum ada adalah daftar terurut siapa saja, dan nilai harapan memberi urutan itu secara alami.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matriks konfusi dari sudut penalti: dua pojok terjauh tinggal 60 dan 140 baris dari 95 ribu. Peta penalti menjawab ke mana memperbaiki, dan jawabannya ke tempat yang tidak bisa diperbaiki, yaitu kebingungan dua kelas teratas. Dengan argmax, prediksi kelas 4 hanya 0,02 persen dari seluruh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Pemeriksaan subkelompok penting kalau model dipakai untuk penapisan populasi. Permutation importance mengonfirmasi EDA dari arah berbeda: mencabut fitur teratas pun hanya menurunkan QWK 0,09 dari acuan 0,84. Angka Lykken dan Tellegen adalah konteks, bukan batas atas QWK yang presisi, jadi ucapkan sebagai konsisten, bukan sebagai bukti.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Kecocokan logaritmik R kuadrat 0,914 pada rentang data hampir sepuluh kali lipat adalah tanda kurva belajar di wilayah pengembalian menurun. Derau dihitung dari matriks konfusi kami sendiri: ambil irisan acak seukuran papan skor publik, hitung QWK, ulangi 400 kali. Ini konteks untuk membaca papan skor, bukan alasan.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seed menjawab apakah hasil bergantung pada pembagian data yang kebetulan menguntungkan: rentang 0,00029. Pasal D bernilai tiga puluh persen penilaian, dan submission kami dihasilkan pada eksekusi yang sama dengan berkas model. Menyebut keterbatasan lebih dulu adalah cara tercepat menutup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Menyebut keterbatasan lebih dulu adalah cara tercepat menutup tanya jawab. Poin terpenting baris pertama: plafon ini milik data, jadi perbaikan terbesar datang dari menambah pertanyaan yang tepat ke survei, bukan dari algoritma yang lebih rumit. Baris ketiga penting untuk juri yang bertanya soal penerapan di Indonesia: kami tidak mengklaim model ini langsung berlaku, kami menyebut syarat validasinya.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kolom, tiga pesan. Kiri: apa yang sudah terbukti. Tengah: bagaimana ini dijalankan di dunia nyata, dan kenapa siklusnya membuat model makin baik dari waktu ke waktu. Kanan: saran yang bisa langsung diikuti pengguna. Tutup dengan syarat etis supaya juri tahu kami memikirkan risiko penyalahgunaan.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tiga angka itu saja. Lalu buka sesi tanya jawab dan siapkan dua slide lampiran berikutnya, karena di situlah daftar eksperimen yang ditolak berada.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cadangan untuk tanya jawab. Kalau juri bertanya apakah kami sudah mencoba sesuatu, kemungkinan besar jawabannya ada di sini beserta nomor bagian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pustaka dipakai sebagai landasan metode dan konteks. Tidak ada data dari sumber ini yang masuk ke pelatihan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lifescope-mikaeladikara-5555s-projects.vercel.app"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lifescope-mikaeladikara-5555s-projects.vercel.app" TargetMode="External"/><Relationship Id="rId2" Type="http://schemas.openxmlformats.org/officeDocument/2006/relationships/hyperlink" Target="https://github.com/MikaelAdikara/DataQuest-Warkab" TargetMode="Externa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31520"/>
            <a:ext cx="73152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TIM WARKAB   ·   OBJECTIVE QUEST DATAQUEST 5.0</a:t>
            </a:r>
            <a:endParaRPr lang="en-US" sz="1050" dirty="0"/>
          </a:p>
        </p:txBody>
      </p:sp>
      <p:sp>
        <p:nvSpPr>
          <p:cNvPr id="3" name="Text 1"/>
          <p:cNvSpPr/>
          <p:nvPr/>
        </p:nvSpPr>
        <p:spPr>
          <a:xfrm>
            <a:off x="640080" y="1280160"/>
            <a:ext cx="6766560" cy="1920240"/>
          </a:xfrm>
          <a:prstGeom prst="rect">
            <a:avLst/>
          </a:prstGeom>
          <a:noFill/>
          <a:ln/>
        </p:spPr>
        <p:txBody>
          <a:bodyPr wrap="square" lIns="0" tIns="0" rIns="0" bIns="0" rtlCol="0" anchor="t"/>
          <a:lstStyle/>
          <a:p>
            <a:pPr indent="0" marL="0">
              <a:lnSpc>
                <a:spcPts val="5500"/>
              </a:lnSpc>
              <a:buNone/>
            </a:pPr>
            <a:r>
              <a:rPr lang="en-US" sz="4800" b="1" dirty="0">
                <a:solidFill>
                  <a:srgbClr val="FFFFFF"/>
                </a:solidFill>
                <a:latin typeface="Cambria" pitchFamily="34" charset="0"/>
                <a:ea typeface="Cambria" pitchFamily="34" charset="-122"/>
                <a:cs typeface="Cambria" pitchFamily="34" charset="-120"/>
              </a:rPr>
              <a:t>Membaca Skala,</a:t>
            </a:r>
            <a:endParaRPr lang="en-US" sz="4800" dirty="0"/>
          </a:p>
          <a:p>
            <a:pPr indent="0" marL="0">
              <a:lnSpc>
                <a:spcPts val="5500"/>
              </a:lnSpc>
              <a:buNone/>
            </a:pPr>
            <a:r>
              <a:rPr lang="en-US" sz="4800" b="1" dirty="0">
                <a:solidFill>
                  <a:srgbClr val="FFFFFF"/>
                </a:solidFill>
                <a:latin typeface="Cambria" pitchFamily="34" charset="0"/>
                <a:ea typeface="Cambria" pitchFamily="34" charset="-122"/>
                <a:cs typeface="Cambria" pitchFamily="34" charset="-120"/>
              </a:rPr>
              <a:t>Bukan Menebak Kelas</a:t>
            </a:r>
            <a:endParaRPr lang="en-US" sz="4800" dirty="0"/>
          </a:p>
        </p:txBody>
      </p:sp>
      <p:sp>
        <p:nvSpPr>
          <p:cNvPr id="4" name="Text 2"/>
          <p:cNvSpPr/>
          <p:nvPr/>
        </p:nvSpPr>
        <p:spPr>
          <a:xfrm>
            <a:off x="640080" y="3346704"/>
            <a:ext cx="6583680" cy="457200"/>
          </a:xfrm>
          <a:prstGeom prst="rect">
            <a:avLst/>
          </a:prstGeom>
          <a:noFill/>
          <a:ln/>
        </p:spPr>
        <p:txBody>
          <a:bodyPr wrap="square" lIns="0" tIns="0" rIns="0" bIns="0" rtlCol="0" anchor="ctr"/>
          <a:lstStyle/>
          <a:p>
            <a:pPr indent="0" marL="0">
              <a:buNone/>
            </a:pPr>
            <a:r>
              <a:rPr lang="en-US" sz="1500" dirty="0">
                <a:solidFill>
                  <a:srgbClr val="9AA0A7"/>
                </a:solidFill>
                <a:latin typeface="Calibri" pitchFamily="34" charset="0"/>
                <a:ea typeface="Calibri" pitchFamily="34" charset="-122"/>
                <a:cs typeface="Calibri" pitchFamily="34" charset="-120"/>
              </a:rPr>
              <a:t>Menemukan lebih awal siapa yang paling perlu ditolong, dari survei kesehatan yang sudah ada.</a:t>
            </a:r>
            <a:endParaRPr lang="en-US" sz="1500" dirty="0"/>
          </a:p>
        </p:txBody>
      </p:sp>
      <p:sp>
        <p:nvSpPr>
          <p:cNvPr id="5" name="Text 3"/>
          <p:cNvSpPr/>
          <p:nvPr/>
        </p:nvSpPr>
        <p:spPr>
          <a:xfrm>
            <a:off x="8138160" y="1280160"/>
            <a:ext cx="34290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DISTRIBUSI TARGET · 95.609 BARIS LATIH</a:t>
            </a:r>
            <a:endParaRPr lang="en-US" sz="1050" dirty="0"/>
          </a:p>
        </p:txBody>
      </p:sp>
      <p:sp>
        <p:nvSpPr>
          <p:cNvPr id="6" name="Shape 4"/>
          <p:cNvSpPr/>
          <p:nvPr/>
        </p:nvSpPr>
        <p:spPr>
          <a:xfrm>
            <a:off x="8138160" y="1664208"/>
            <a:ext cx="3429000" cy="201168"/>
          </a:xfrm>
          <a:prstGeom prst="rect">
            <a:avLst/>
          </a:prstGeom>
          <a:solidFill>
            <a:srgbClr val="2A2F36"/>
          </a:solidFill>
          <a:ln/>
        </p:spPr>
      </p:sp>
      <p:sp>
        <p:nvSpPr>
          <p:cNvPr id="7" name="Shape 5"/>
          <p:cNvSpPr/>
          <p:nvPr/>
        </p:nvSpPr>
        <p:spPr>
          <a:xfrm>
            <a:off x="8138160" y="1664208"/>
            <a:ext cx="1540993" cy="201168"/>
          </a:xfrm>
          <a:prstGeom prst="rect">
            <a:avLst/>
          </a:prstGeom>
          <a:solidFill>
            <a:srgbClr val="2F6B5F"/>
          </a:solidFill>
          <a:ln/>
        </p:spPr>
      </p:sp>
      <p:sp>
        <p:nvSpPr>
          <p:cNvPr id="8" name="Text 6"/>
          <p:cNvSpPr/>
          <p:nvPr/>
        </p:nvSpPr>
        <p:spPr>
          <a:xfrm>
            <a:off x="8138160" y="188366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1 · Sangat puas</a:t>
            </a:r>
            <a:endParaRPr lang="en-US" sz="1000" dirty="0"/>
          </a:p>
        </p:txBody>
      </p:sp>
      <p:sp>
        <p:nvSpPr>
          <p:cNvPr id="9" name="Text 7"/>
          <p:cNvSpPr/>
          <p:nvPr/>
        </p:nvSpPr>
        <p:spPr>
          <a:xfrm>
            <a:off x="10195560" y="188366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42.968</a:t>
            </a:r>
            <a:endParaRPr lang="en-US" sz="1000" dirty="0"/>
          </a:p>
        </p:txBody>
      </p:sp>
      <p:sp>
        <p:nvSpPr>
          <p:cNvPr id="10" name="Shape 8"/>
          <p:cNvSpPr/>
          <p:nvPr/>
        </p:nvSpPr>
        <p:spPr>
          <a:xfrm>
            <a:off x="8138160" y="2304288"/>
            <a:ext cx="3429000" cy="201168"/>
          </a:xfrm>
          <a:prstGeom prst="rect">
            <a:avLst/>
          </a:prstGeom>
          <a:solidFill>
            <a:srgbClr val="2A2F36"/>
          </a:solidFill>
          <a:ln/>
        </p:spPr>
      </p:sp>
      <p:sp>
        <p:nvSpPr>
          <p:cNvPr id="11" name="Shape 9"/>
          <p:cNvSpPr/>
          <p:nvPr/>
        </p:nvSpPr>
        <p:spPr>
          <a:xfrm>
            <a:off x="8138160" y="2304288"/>
            <a:ext cx="1728216" cy="201168"/>
          </a:xfrm>
          <a:prstGeom prst="rect">
            <a:avLst/>
          </a:prstGeom>
          <a:solidFill>
            <a:srgbClr val="8FB0A4"/>
          </a:solidFill>
          <a:ln/>
        </p:spPr>
      </p:sp>
      <p:sp>
        <p:nvSpPr>
          <p:cNvPr id="12" name="Text 10"/>
          <p:cNvSpPr/>
          <p:nvPr/>
        </p:nvSpPr>
        <p:spPr>
          <a:xfrm>
            <a:off x="8138160" y="252374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2 · Puas</a:t>
            </a:r>
            <a:endParaRPr lang="en-US" sz="1000" dirty="0"/>
          </a:p>
        </p:txBody>
      </p:sp>
      <p:sp>
        <p:nvSpPr>
          <p:cNvPr id="13" name="Text 11"/>
          <p:cNvSpPr/>
          <p:nvPr/>
        </p:nvSpPr>
        <p:spPr>
          <a:xfrm>
            <a:off x="10195560" y="252374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48.189</a:t>
            </a:r>
            <a:endParaRPr lang="en-US" sz="1000" dirty="0"/>
          </a:p>
        </p:txBody>
      </p:sp>
      <p:sp>
        <p:nvSpPr>
          <p:cNvPr id="14" name="Shape 12"/>
          <p:cNvSpPr/>
          <p:nvPr/>
        </p:nvSpPr>
        <p:spPr>
          <a:xfrm>
            <a:off x="8138160" y="2944368"/>
            <a:ext cx="3429000" cy="201168"/>
          </a:xfrm>
          <a:prstGeom prst="rect">
            <a:avLst/>
          </a:prstGeom>
          <a:solidFill>
            <a:srgbClr val="2A2F36"/>
          </a:solidFill>
          <a:ln/>
        </p:spPr>
      </p:sp>
      <p:sp>
        <p:nvSpPr>
          <p:cNvPr id="15" name="Shape 13"/>
          <p:cNvSpPr/>
          <p:nvPr/>
        </p:nvSpPr>
        <p:spPr>
          <a:xfrm>
            <a:off x="8138160" y="2944368"/>
            <a:ext cx="127559" cy="201168"/>
          </a:xfrm>
          <a:prstGeom prst="rect">
            <a:avLst/>
          </a:prstGeom>
          <a:solidFill>
            <a:srgbClr val="D8A25E"/>
          </a:solidFill>
          <a:ln/>
        </p:spPr>
      </p:sp>
      <p:sp>
        <p:nvSpPr>
          <p:cNvPr id="16" name="Text 14"/>
          <p:cNvSpPr/>
          <p:nvPr/>
        </p:nvSpPr>
        <p:spPr>
          <a:xfrm>
            <a:off x="8138160" y="316382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3 · Tidak puas</a:t>
            </a:r>
            <a:endParaRPr lang="en-US" sz="1000" dirty="0"/>
          </a:p>
        </p:txBody>
      </p:sp>
      <p:sp>
        <p:nvSpPr>
          <p:cNvPr id="17" name="Text 15"/>
          <p:cNvSpPr/>
          <p:nvPr/>
        </p:nvSpPr>
        <p:spPr>
          <a:xfrm>
            <a:off x="10195560" y="316382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3.559</a:t>
            </a:r>
            <a:endParaRPr lang="en-US" sz="1000" dirty="0"/>
          </a:p>
        </p:txBody>
      </p:sp>
      <p:sp>
        <p:nvSpPr>
          <p:cNvPr id="18" name="Shape 16"/>
          <p:cNvSpPr/>
          <p:nvPr/>
        </p:nvSpPr>
        <p:spPr>
          <a:xfrm>
            <a:off x="8138160" y="3584448"/>
            <a:ext cx="3429000" cy="201168"/>
          </a:xfrm>
          <a:prstGeom prst="rect">
            <a:avLst/>
          </a:prstGeom>
          <a:solidFill>
            <a:srgbClr val="2A2F36"/>
          </a:solidFill>
          <a:ln/>
        </p:spPr>
      </p:sp>
      <p:sp>
        <p:nvSpPr>
          <p:cNvPr id="19" name="Shape 17"/>
          <p:cNvSpPr/>
          <p:nvPr/>
        </p:nvSpPr>
        <p:spPr>
          <a:xfrm>
            <a:off x="8138160" y="3584448"/>
            <a:ext cx="36576" cy="201168"/>
          </a:xfrm>
          <a:prstGeom prst="rect">
            <a:avLst/>
          </a:prstGeom>
          <a:solidFill>
            <a:srgbClr val="A8442A"/>
          </a:solidFill>
          <a:ln/>
        </p:spPr>
      </p:sp>
      <p:sp>
        <p:nvSpPr>
          <p:cNvPr id="20" name="Text 18"/>
          <p:cNvSpPr/>
          <p:nvPr/>
        </p:nvSpPr>
        <p:spPr>
          <a:xfrm>
            <a:off x="8138160" y="380390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4 · Sangat tidak puas</a:t>
            </a:r>
            <a:endParaRPr lang="en-US" sz="1000" dirty="0"/>
          </a:p>
        </p:txBody>
      </p:sp>
      <p:sp>
        <p:nvSpPr>
          <p:cNvPr id="21" name="Text 19"/>
          <p:cNvSpPr/>
          <p:nvPr/>
        </p:nvSpPr>
        <p:spPr>
          <a:xfrm>
            <a:off x="10195560" y="380390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893</a:t>
            </a:r>
            <a:endParaRPr lang="en-US" sz="1000" dirty="0"/>
          </a:p>
        </p:txBody>
      </p:sp>
      <p:sp>
        <p:nvSpPr>
          <p:cNvPr id="22" name="Shape 20"/>
          <p:cNvSpPr/>
          <p:nvPr/>
        </p:nvSpPr>
        <p:spPr>
          <a:xfrm>
            <a:off x="640080" y="5212080"/>
            <a:ext cx="10908792" cy="0"/>
          </a:xfrm>
          <a:prstGeom prst="line">
            <a:avLst/>
          </a:prstGeom>
          <a:noFill/>
          <a:ln w="12700">
            <a:solidFill>
              <a:srgbClr val="3A4048"/>
            </a:solidFill>
            <a:prstDash val="solid"/>
          </a:ln>
        </p:spPr>
      </p:sp>
      <p:sp>
        <p:nvSpPr>
          <p:cNvPr id="23" name="Text 21"/>
          <p:cNvSpPr/>
          <p:nvPr/>
        </p:nvSpPr>
        <p:spPr>
          <a:xfrm>
            <a:off x="640080"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0,48425</a:t>
            </a:r>
            <a:endParaRPr lang="en-US" sz="2300" dirty="0"/>
          </a:p>
        </p:txBody>
      </p:sp>
      <p:sp>
        <p:nvSpPr>
          <p:cNvPr id="24" name="Text 22"/>
          <p:cNvSpPr/>
          <p:nvPr/>
        </p:nvSpPr>
        <p:spPr>
          <a:xfrm>
            <a:off x="640080"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QWK out-of-fold</a:t>
            </a:r>
            <a:endParaRPr lang="en-US" sz="1000" dirty="0"/>
          </a:p>
        </p:txBody>
      </p:sp>
      <p:sp>
        <p:nvSpPr>
          <p:cNvPr id="25" name="Text 23"/>
          <p:cNvSpPr/>
          <p:nvPr/>
        </p:nvSpPr>
        <p:spPr>
          <a:xfrm>
            <a:off x="2852928"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6</a:t>
            </a:r>
            <a:endParaRPr lang="en-US" sz="2300" dirty="0"/>
          </a:p>
        </p:txBody>
      </p:sp>
      <p:sp>
        <p:nvSpPr>
          <p:cNvPr id="26" name="Text 24"/>
          <p:cNvSpPr/>
          <p:nvPr/>
        </p:nvSpPr>
        <p:spPr>
          <a:xfrm>
            <a:off x="2852928"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Keluarga algoritma</a:t>
            </a:r>
            <a:endParaRPr lang="en-US" sz="1000" dirty="0"/>
          </a:p>
        </p:txBody>
      </p:sp>
      <p:sp>
        <p:nvSpPr>
          <p:cNvPr id="27" name="Text 25"/>
          <p:cNvSpPr/>
          <p:nvPr/>
        </p:nvSpPr>
        <p:spPr>
          <a:xfrm>
            <a:off x="5065776"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176</a:t>
            </a:r>
            <a:endParaRPr lang="en-US" sz="2300" dirty="0"/>
          </a:p>
        </p:txBody>
      </p:sp>
      <p:sp>
        <p:nvSpPr>
          <p:cNvPr id="28" name="Text 26"/>
          <p:cNvSpPr/>
          <p:nvPr/>
        </p:nvSpPr>
        <p:spPr>
          <a:xfrm>
            <a:off x="5065776"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Fitur mentah</a:t>
            </a:r>
            <a:endParaRPr lang="en-US" sz="1000" dirty="0"/>
          </a:p>
        </p:txBody>
      </p:sp>
      <p:sp>
        <p:nvSpPr>
          <p:cNvPr id="29" name="Text 27"/>
          <p:cNvSpPr/>
          <p:nvPr/>
        </p:nvSpPr>
        <p:spPr>
          <a:xfrm>
            <a:off x="7278624"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42</a:t>
            </a:r>
            <a:endParaRPr lang="en-US" sz="2300" dirty="0"/>
          </a:p>
        </p:txBody>
      </p:sp>
      <p:sp>
        <p:nvSpPr>
          <p:cNvPr id="30" name="Text 28"/>
          <p:cNvSpPr/>
          <p:nvPr/>
        </p:nvSpPr>
        <p:spPr>
          <a:xfrm>
            <a:off x="7278624"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Seed, dikunci</a:t>
            </a:r>
            <a:endParaRPr lang="en-US" sz="1000" dirty="0"/>
          </a:p>
        </p:txBody>
      </p:sp>
      <p:sp>
        <p:nvSpPr>
          <p:cNvPr id="31" name="Text 29"/>
          <p:cNvSpPr/>
          <p:nvPr/>
        </p:nvSpPr>
        <p:spPr>
          <a:xfrm>
            <a:off x="9491472"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a:t>
            </a:r>
            <a:endParaRPr lang="en-US" sz="2300" dirty="0"/>
          </a:p>
        </p:txBody>
      </p:sp>
      <p:sp>
        <p:nvSpPr>
          <p:cNvPr id="32" name="Text 30"/>
          <p:cNvSpPr/>
          <p:nvPr/>
        </p:nvSpPr>
        <p:spPr>
          <a:xfrm>
            <a:off x="9491472"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Baris data eksternal</a:t>
            </a:r>
            <a:endParaRPr lang="en-US" sz="1000" dirty="0"/>
          </a:p>
        </p:txBody>
      </p:sp>
      <p:sp>
        <p:nvSpPr>
          <p:cNvPr id="34" name="Text 3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640080"/>
            <a:ext cx="54864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SEBELUM ADA MODEL, ADA MANUSIA</a:t>
            </a:r>
            <a:endParaRPr lang="en-US" sz="1050" dirty="0"/>
          </a:p>
        </p:txBody>
      </p:sp>
      <p:sp>
        <p:nvSpPr>
          <p:cNvPr id="3" name="Text 1"/>
          <p:cNvSpPr/>
          <p:nvPr/>
        </p:nvSpPr>
        <p:spPr>
          <a:xfrm>
            <a:off x="640080" y="1051560"/>
            <a:ext cx="6400800" cy="2194560"/>
          </a:xfrm>
          <a:prstGeom prst="rect">
            <a:avLst/>
          </a:prstGeom>
          <a:noFill/>
          <a:ln/>
        </p:spPr>
        <p:txBody>
          <a:bodyPr wrap="square" lIns="0" tIns="0" rIns="0" bIns="0" rtlCol="0" anchor="t"/>
          <a:lstStyle/>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Orang yang tidak puas</a:t>
            </a:r>
            <a:endParaRPr lang="en-US" sz="3600" dirty="0"/>
          </a:p>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dengan hidupnya jarang</a:t>
            </a:r>
            <a:endParaRPr lang="en-US" sz="3600" dirty="0"/>
          </a:p>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terlihat, sampai terlambat.</a:t>
            </a:r>
            <a:endParaRPr lang="en-US" sz="3600" dirty="0"/>
          </a:p>
        </p:txBody>
      </p:sp>
      <p:sp>
        <p:nvSpPr>
          <p:cNvPr id="4" name="Text 2"/>
          <p:cNvSpPr/>
          <p:nvPr/>
        </p:nvSpPr>
        <p:spPr>
          <a:xfrm>
            <a:off x="640080" y="3429000"/>
            <a:ext cx="6309360" cy="1280160"/>
          </a:xfrm>
          <a:prstGeom prst="rect">
            <a:avLst/>
          </a:prstGeom>
          <a:noFill/>
          <a:ln/>
        </p:spPr>
        <p:txBody>
          <a:bodyPr wrap="square" lIns="0" tIns="0" rIns="0" bIns="0" rtlCol="0" anchor="t"/>
          <a:lstStyle/>
          <a:p>
            <a:pPr indent="0" marL="0">
              <a:lnSpc>
                <a:spcPts val="1900"/>
              </a:lnSpc>
              <a:buNone/>
            </a:pPr>
            <a:r>
              <a:rPr lang="en-US" sz="1300" dirty="0">
                <a:solidFill>
                  <a:srgbClr val="9AA0A7"/>
                </a:solidFill>
                <a:latin typeface="Calibri" pitchFamily="34" charset="0"/>
                <a:ea typeface="Calibri" pitchFamily="34" charset="-122"/>
                <a:cs typeface="Calibri" pitchFamily="34" charset="-120"/>
              </a:rPr>
              <a:t>Ketidakpuasan hidup yang rendah dan berkepanjangan memprediksi umur yang lebih pendek (Diener &amp; Chan, 2011) dan risiko bunuh diri hingga 20 tahun kemudian (Koivumaa-Honkanen dkk., 2001). Masalahnya bukan tidak bisa dideteksi. Masalahnya, tidak ada yang membacanya lebih awal.</a:t>
            </a:r>
            <a:endParaRPr lang="en-US" sz="1300" dirty="0"/>
          </a:p>
        </p:txBody>
      </p:sp>
      <p:sp>
        <p:nvSpPr>
          <p:cNvPr id="5" name="Shape 3"/>
          <p:cNvSpPr/>
          <p:nvPr/>
        </p:nvSpPr>
        <p:spPr>
          <a:xfrm>
            <a:off x="7406640" y="1005840"/>
            <a:ext cx="4144975" cy="1143000"/>
          </a:xfrm>
          <a:prstGeom prst="roundRect">
            <a:avLst>
              <a:gd name="adj" fmla="val 4800"/>
            </a:avLst>
          </a:prstGeom>
          <a:solidFill>
            <a:srgbClr val="20262C"/>
          </a:solidFill>
          <a:ln w="9525">
            <a:solidFill>
              <a:srgbClr val="20262C"/>
            </a:solidFill>
            <a:prstDash val="solid"/>
          </a:ln>
        </p:spPr>
      </p:sp>
      <p:sp>
        <p:nvSpPr>
          <p:cNvPr id="6" name="Text 4"/>
          <p:cNvSpPr/>
          <p:nvPr/>
        </p:nvSpPr>
        <p:spPr>
          <a:xfrm>
            <a:off x="7680960" y="1133856"/>
            <a:ext cx="3596335" cy="502920"/>
          </a:xfrm>
          <a:prstGeom prst="rect">
            <a:avLst/>
          </a:prstGeom>
          <a:noFill/>
          <a:ln/>
        </p:spPr>
        <p:txBody>
          <a:bodyPr wrap="square" lIns="0" tIns="0" rIns="0" bIns="0" rtlCol="0" anchor="t"/>
          <a:lstStyle/>
          <a:p>
            <a:pPr indent="0" marL="0">
              <a:lnSpc>
                <a:spcPts val="1400"/>
              </a:lnSpc>
              <a:buNone/>
            </a:pPr>
            <a:r>
              <a:rPr lang="en-US" sz="2800" b="1" dirty="0">
                <a:solidFill>
                  <a:srgbClr val="FFFFFF"/>
                </a:solidFill>
                <a:latin typeface="Cambria" pitchFamily="34" charset="0"/>
                <a:ea typeface="Cambria" pitchFamily="34" charset="-122"/>
                <a:cs typeface="Cambria" pitchFamily="34" charset="-120"/>
              </a:rPr>
              <a:t>± 280 juta</a:t>
            </a:r>
            <a:endParaRPr lang="en-US" sz="2800" dirty="0"/>
          </a:p>
        </p:txBody>
      </p:sp>
      <p:sp>
        <p:nvSpPr>
          <p:cNvPr id="7" name="Text 5"/>
          <p:cNvSpPr/>
          <p:nvPr/>
        </p:nvSpPr>
        <p:spPr>
          <a:xfrm>
            <a:off x="7680960" y="1645920"/>
            <a:ext cx="2407615" cy="457200"/>
          </a:xfrm>
          <a:prstGeom prst="rect">
            <a:avLst/>
          </a:prstGeom>
          <a:noFill/>
          <a:ln/>
        </p:spPr>
        <p:txBody>
          <a:bodyPr wrap="square" lIns="0" tIns="0" rIns="0" bIns="0" rtlCol="0" anchor="t"/>
          <a:lstStyle/>
          <a:p>
            <a:pPr indent="0" marL="0">
              <a:lnSpc>
                <a:spcPts val="1300"/>
              </a:lnSpc>
              <a:buNone/>
            </a:pPr>
            <a:r>
              <a:rPr lang="en-US" sz="1050" dirty="0">
                <a:solidFill>
                  <a:srgbClr val="9AA0A7"/>
                </a:solidFill>
                <a:latin typeface="Calibri" pitchFamily="34" charset="0"/>
                <a:ea typeface="Calibri" pitchFamily="34" charset="-122"/>
                <a:cs typeface="Calibri" pitchFamily="34" charset="-120"/>
              </a:rPr>
              <a:t>orang di dunia hidup dengan depresi</a:t>
            </a:r>
            <a:endParaRPr lang="en-US" sz="1050" dirty="0"/>
          </a:p>
        </p:txBody>
      </p:sp>
      <p:sp>
        <p:nvSpPr>
          <p:cNvPr id="8" name="Text 6"/>
          <p:cNvSpPr/>
          <p:nvPr/>
        </p:nvSpPr>
        <p:spPr>
          <a:xfrm>
            <a:off x="10088575" y="1719072"/>
            <a:ext cx="1188720" cy="274320"/>
          </a:xfrm>
          <a:prstGeom prst="rect">
            <a:avLst/>
          </a:prstGeom>
          <a:noFill/>
          <a:ln/>
        </p:spPr>
        <p:txBody>
          <a:bodyPr wrap="square" lIns="0" tIns="0" rIns="0" bIns="0" rtlCol="0" anchor="t"/>
          <a:lstStyle/>
          <a:p>
            <a:pPr algn="r" indent="0" marL="0">
              <a:lnSpc>
                <a:spcPts val="1400"/>
              </a:lnSpc>
              <a:buNone/>
            </a:pPr>
            <a:r>
              <a:rPr lang="en-US" sz="900" i="1" dirty="0">
                <a:solidFill>
                  <a:srgbClr val="6E747C"/>
                </a:solidFill>
                <a:latin typeface="Calibri" pitchFamily="34" charset="0"/>
                <a:ea typeface="Calibri" pitchFamily="34" charset="-122"/>
                <a:cs typeface="Calibri" pitchFamily="34" charset="-120"/>
              </a:rPr>
              <a:t>WHO, 2023</a:t>
            </a:r>
            <a:endParaRPr lang="en-US" sz="900" dirty="0"/>
          </a:p>
        </p:txBody>
      </p:sp>
      <p:sp>
        <p:nvSpPr>
          <p:cNvPr id="9" name="Shape 7"/>
          <p:cNvSpPr/>
          <p:nvPr/>
        </p:nvSpPr>
        <p:spPr>
          <a:xfrm>
            <a:off x="7406640" y="2304288"/>
            <a:ext cx="4144975" cy="1143000"/>
          </a:xfrm>
          <a:prstGeom prst="roundRect">
            <a:avLst>
              <a:gd name="adj" fmla="val 4800"/>
            </a:avLst>
          </a:prstGeom>
          <a:solidFill>
            <a:srgbClr val="20262C"/>
          </a:solidFill>
          <a:ln w="9525">
            <a:solidFill>
              <a:srgbClr val="20262C"/>
            </a:solidFill>
            <a:prstDash val="solid"/>
          </a:ln>
        </p:spPr>
      </p:sp>
      <p:sp>
        <p:nvSpPr>
          <p:cNvPr id="10" name="Text 8"/>
          <p:cNvSpPr/>
          <p:nvPr/>
        </p:nvSpPr>
        <p:spPr>
          <a:xfrm>
            <a:off x="7680960" y="2432304"/>
            <a:ext cx="3596335" cy="502920"/>
          </a:xfrm>
          <a:prstGeom prst="rect">
            <a:avLst/>
          </a:prstGeom>
          <a:noFill/>
          <a:ln/>
        </p:spPr>
        <p:txBody>
          <a:bodyPr wrap="square" lIns="0" tIns="0" rIns="0" bIns="0" rtlCol="0" anchor="t"/>
          <a:lstStyle/>
          <a:p>
            <a:pPr indent="0" marL="0">
              <a:lnSpc>
                <a:spcPts val="1400"/>
              </a:lnSpc>
              <a:buNone/>
            </a:pPr>
            <a:r>
              <a:rPr lang="en-US" sz="2800" b="1" dirty="0">
                <a:solidFill>
                  <a:srgbClr val="D8A25E"/>
                </a:solidFill>
                <a:latin typeface="Cambria" pitchFamily="34" charset="0"/>
                <a:ea typeface="Cambria" pitchFamily="34" charset="-122"/>
                <a:cs typeface="Cambria" pitchFamily="34" charset="-120"/>
              </a:rPr>
              <a:t>± 703.000</a:t>
            </a:r>
            <a:endParaRPr lang="en-US" sz="2800" dirty="0"/>
          </a:p>
        </p:txBody>
      </p:sp>
      <p:sp>
        <p:nvSpPr>
          <p:cNvPr id="11" name="Text 9"/>
          <p:cNvSpPr/>
          <p:nvPr/>
        </p:nvSpPr>
        <p:spPr>
          <a:xfrm>
            <a:off x="7680960" y="2944368"/>
            <a:ext cx="2407615" cy="457200"/>
          </a:xfrm>
          <a:prstGeom prst="rect">
            <a:avLst/>
          </a:prstGeom>
          <a:noFill/>
          <a:ln/>
        </p:spPr>
        <p:txBody>
          <a:bodyPr wrap="square" lIns="0" tIns="0" rIns="0" bIns="0" rtlCol="0" anchor="t"/>
          <a:lstStyle/>
          <a:p>
            <a:pPr indent="0" marL="0">
              <a:lnSpc>
                <a:spcPts val="1300"/>
              </a:lnSpc>
              <a:buNone/>
            </a:pPr>
            <a:r>
              <a:rPr lang="en-US" sz="1050" dirty="0">
                <a:solidFill>
                  <a:srgbClr val="9AA0A7"/>
                </a:solidFill>
                <a:latin typeface="Calibri" pitchFamily="34" charset="0"/>
                <a:ea typeface="Calibri" pitchFamily="34" charset="-122"/>
                <a:cs typeface="Calibri" pitchFamily="34" charset="-120"/>
              </a:rPr>
              <a:t>kematian akibat bunuh diri setiap tahun</a:t>
            </a:r>
            <a:endParaRPr lang="en-US" sz="1050" dirty="0"/>
          </a:p>
        </p:txBody>
      </p:sp>
      <p:sp>
        <p:nvSpPr>
          <p:cNvPr id="12" name="Text 10"/>
          <p:cNvSpPr/>
          <p:nvPr/>
        </p:nvSpPr>
        <p:spPr>
          <a:xfrm>
            <a:off x="10088575" y="3017520"/>
            <a:ext cx="1188720" cy="274320"/>
          </a:xfrm>
          <a:prstGeom prst="rect">
            <a:avLst/>
          </a:prstGeom>
          <a:noFill/>
          <a:ln/>
        </p:spPr>
        <p:txBody>
          <a:bodyPr wrap="square" lIns="0" tIns="0" rIns="0" bIns="0" rtlCol="0" anchor="t"/>
          <a:lstStyle/>
          <a:p>
            <a:pPr algn="r" indent="0" marL="0">
              <a:lnSpc>
                <a:spcPts val="1400"/>
              </a:lnSpc>
              <a:buNone/>
            </a:pPr>
            <a:r>
              <a:rPr lang="en-US" sz="900" i="1" dirty="0">
                <a:solidFill>
                  <a:srgbClr val="6E747C"/>
                </a:solidFill>
                <a:latin typeface="Calibri" pitchFamily="34" charset="0"/>
                <a:ea typeface="Calibri" pitchFamily="34" charset="-122"/>
                <a:cs typeface="Calibri" pitchFamily="34" charset="-120"/>
              </a:rPr>
              <a:t>WHO, 2021</a:t>
            </a:r>
            <a:endParaRPr lang="en-US" sz="900" dirty="0"/>
          </a:p>
        </p:txBody>
      </p:sp>
      <p:sp>
        <p:nvSpPr>
          <p:cNvPr id="13" name="Shape 11"/>
          <p:cNvSpPr/>
          <p:nvPr/>
        </p:nvSpPr>
        <p:spPr>
          <a:xfrm>
            <a:off x="7406640" y="3602736"/>
            <a:ext cx="4144975" cy="1143000"/>
          </a:xfrm>
          <a:prstGeom prst="roundRect">
            <a:avLst>
              <a:gd name="adj" fmla="val 4800"/>
            </a:avLst>
          </a:prstGeom>
          <a:solidFill>
            <a:srgbClr val="20262C"/>
          </a:solidFill>
          <a:ln w="9525">
            <a:solidFill>
              <a:srgbClr val="20262C"/>
            </a:solidFill>
            <a:prstDash val="solid"/>
          </a:ln>
        </p:spPr>
      </p:sp>
      <p:sp>
        <p:nvSpPr>
          <p:cNvPr id="14" name="Text 12"/>
          <p:cNvSpPr/>
          <p:nvPr/>
        </p:nvSpPr>
        <p:spPr>
          <a:xfrm>
            <a:off x="7680960" y="3730752"/>
            <a:ext cx="3596335" cy="502920"/>
          </a:xfrm>
          <a:prstGeom prst="rect">
            <a:avLst/>
          </a:prstGeom>
          <a:noFill/>
          <a:ln/>
        </p:spPr>
        <p:txBody>
          <a:bodyPr wrap="square" lIns="0" tIns="0" rIns="0" bIns="0" rtlCol="0" anchor="t"/>
          <a:lstStyle/>
          <a:p>
            <a:pPr indent="0" marL="0">
              <a:lnSpc>
                <a:spcPts val="1400"/>
              </a:lnSpc>
              <a:buNone/>
            </a:pPr>
            <a:r>
              <a:rPr lang="en-US" sz="2800" b="1" dirty="0">
                <a:solidFill>
                  <a:srgbClr val="A8442A"/>
                </a:solidFill>
                <a:latin typeface="Cambria" pitchFamily="34" charset="0"/>
                <a:ea typeface="Cambria" pitchFamily="34" charset="-122"/>
                <a:cs typeface="Cambria" pitchFamily="34" charset="-120"/>
              </a:rPr>
              <a:t>9%</a:t>
            </a:r>
            <a:endParaRPr lang="en-US" sz="2800" dirty="0"/>
          </a:p>
        </p:txBody>
      </p:sp>
      <p:sp>
        <p:nvSpPr>
          <p:cNvPr id="15" name="Text 13"/>
          <p:cNvSpPr/>
          <p:nvPr/>
        </p:nvSpPr>
        <p:spPr>
          <a:xfrm>
            <a:off x="7680960" y="4242816"/>
            <a:ext cx="2407615" cy="457200"/>
          </a:xfrm>
          <a:prstGeom prst="rect">
            <a:avLst/>
          </a:prstGeom>
          <a:noFill/>
          <a:ln/>
        </p:spPr>
        <p:txBody>
          <a:bodyPr wrap="square" lIns="0" tIns="0" rIns="0" bIns="0" rtlCol="0" anchor="t"/>
          <a:lstStyle/>
          <a:p>
            <a:pPr indent="0" marL="0">
              <a:lnSpc>
                <a:spcPts val="1300"/>
              </a:lnSpc>
              <a:buNone/>
            </a:pPr>
            <a:r>
              <a:rPr lang="en-US" sz="1050" dirty="0">
                <a:solidFill>
                  <a:srgbClr val="9AA0A7"/>
                </a:solidFill>
                <a:latin typeface="Calibri" pitchFamily="34" charset="0"/>
                <a:ea typeface="Calibri" pitchFamily="34" charset="-122"/>
                <a:cs typeface="Calibri" pitchFamily="34" charset="-120"/>
              </a:rPr>
              <a:t>penderita depresi di Indonesia yang berobat, dari prevalensi 6,1%</a:t>
            </a:r>
            <a:endParaRPr lang="en-US" sz="1050" dirty="0"/>
          </a:p>
        </p:txBody>
      </p:sp>
      <p:sp>
        <p:nvSpPr>
          <p:cNvPr id="16" name="Text 14"/>
          <p:cNvSpPr/>
          <p:nvPr/>
        </p:nvSpPr>
        <p:spPr>
          <a:xfrm>
            <a:off x="10088575" y="4315968"/>
            <a:ext cx="1188720" cy="274320"/>
          </a:xfrm>
          <a:prstGeom prst="rect">
            <a:avLst/>
          </a:prstGeom>
          <a:noFill/>
          <a:ln/>
        </p:spPr>
        <p:txBody>
          <a:bodyPr wrap="square" lIns="0" tIns="0" rIns="0" bIns="0" rtlCol="0" anchor="t"/>
          <a:lstStyle/>
          <a:p>
            <a:pPr algn="r" indent="0" marL="0">
              <a:lnSpc>
                <a:spcPts val="1400"/>
              </a:lnSpc>
              <a:buNone/>
            </a:pPr>
            <a:r>
              <a:rPr lang="en-US" sz="900" i="1" dirty="0">
                <a:solidFill>
                  <a:srgbClr val="6E747C"/>
                </a:solidFill>
                <a:latin typeface="Calibri" pitchFamily="34" charset="0"/>
                <a:ea typeface="Calibri" pitchFamily="34" charset="-122"/>
                <a:cs typeface="Calibri" pitchFamily="34" charset="-120"/>
              </a:rPr>
              <a:t>Riskesdas, 2018</a:t>
            </a:r>
            <a:endParaRPr lang="en-US" sz="900" dirty="0"/>
          </a:p>
        </p:txBody>
      </p:sp>
      <p:sp>
        <p:nvSpPr>
          <p:cNvPr id="17" name="Shape 15"/>
          <p:cNvSpPr/>
          <p:nvPr/>
        </p:nvSpPr>
        <p:spPr>
          <a:xfrm>
            <a:off x="640080" y="5074920"/>
            <a:ext cx="10911535" cy="0"/>
          </a:xfrm>
          <a:prstGeom prst="line">
            <a:avLst/>
          </a:prstGeom>
          <a:noFill/>
          <a:ln w="12700">
            <a:solidFill>
              <a:srgbClr val="3A4048"/>
            </a:solidFill>
            <a:prstDash val="solid"/>
          </a:ln>
        </p:spPr>
      </p:sp>
      <p:sp>
        <p:nvSpPr>
          <p:cNvPr id="18" name="Text 16"/>
          <p:cNvSpPr/>
          <p:nvPr/>
        </p:nvSpPr>
        <p:spPr>
          <a:xfrm>
            <a:off x="640080" y="5257800"/>
            <a:ext cx="10911535" cy="640080"/>
          </a:xfrm>
          <a:prstGeom prst="rect">
            <a:avLst/>
          </a:prstGeom>
          <a:noFill/>
          <a:ln/>
        </p:spPr>
        <p:txBody>
          <a:bodyPr wrap="square" lIns="0" tIns="0" rIns="0" bIns="0" rtlCol="0" anchor="t"/>
          <a:lstStyle/>
          <a:p>
            <a:pPr indent="0" marL="0">
              <a:lnSpc>
                <a:spcPts val="2300"/>
              </a:lnSpc>
              <a:buNone/>
            </a:pPr>
            <a:r>
              <a:rPr lang="en-US" sz="1700" b="1" dirty="0">
                <a:solidFill>
                  <a:srgbClr val="FFFFFF"/>
                </a:solidFill>
                <a:latin typeface="Cambria" pitchFamily="34" charset="0"/>
                <a:ea typeface="Cambria" pitchFamily="34" charset="-122"/>
                <a:cs typeface="Cambria" pitchFamily="34" charset="-120"/>
              </a:rPr>
              <a:t>Proyek ini dimulai dari satu pertanyaan: bisakah kita menemukan mereka lebih awal, dari data yang sudah rutin dikumpulkan?</a:t>
            </a:r>
            <a:endParaRPr lang="en-US" sz="1700" dirty="0"/>
          </a:p>
        </p:txBody>
      </p:sp>
      <p:sp>
        <p:nvSpPr>
          <p:cNvPr id="20" name="Text 1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1" name="Text 1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Datanya sudah ada. Yang belum ada adalah siapa orangnya.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Survei kesehatan rutin menanyakan kepuasan hidup, tetapi hasilnya hanya berakhir sebagai satu persentase.</a:t>
            </a:r>
            <a:endParaRPr lang="en-US" sz="1250" dirty="0"/>
          </a:p>
        </p:txBody>
      </p:sp>
      <p:sp>
        <p:nvSpPr>
          <p:cNvPr id="4" name="Shape 2"/>
          <p:cNvSpPr/>
          <p:nvPr/>
        </p:nvSpPr>
        <p:spPr>
          <a:xfrm>
            <a:off x="640080" y="1371600"/>
            <a:ext cx="4846320" cy="2514600"/>
          </a:xfrm>
          <a:prstGeom prst="roundRect">
            <a:avLst>
              <a:gd name="adj" fmla="val 2182"/>
            </a:avLst>
          </a:prstGeom>
          <a:solidFill>
            <a:srgbClr val="F4F1EC"/>
          </a:solidFill>
          <a:ln w="9525">
            <a:solidFill>
              <a:srgbClr val="DCD8D1"/>
            </a:solidFill>
            <a:prstDash val="solid"/>
          </a:ln>
        </p:spPr>
      </p:sp>
      <p:sp>
        <p:nvSpPr>
          <p:cNvPr id="5" name="Text 3"/>
          <p:cNvSpPr/>
          <p:nvPr/>
        </p:nvSpPr>
        <p:spPr>
          <a:xfrm>
            <a:off x="914400" y="1508760"/>
            <a:ext cx="27432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HARI INI</a:t>
            </a:r>
            <a:endParaRPr lang="en-US" sz="1050" dirty="0"/>
          </a:p>
        </p:txBody>
      </p:sp>
      <p:sp>
        <p:nvSpPr>
          <p:cNvPr id="6" name="Text 4"/>
          <p:cNvSpPr/>
          <p:nvPr/>
        </p:nvSpPr>
        <p:spPr>
          <a:xfrm>
            <a:off x="914400" y="1828800"/>
            <a:ext cx="4297680" cy="731520"/>
          </a:xfrm>
          <a:prstGeom prst="rect">
            <a:avLst/>
          </a:prstGeom>
          <a:noFill/>
          <a:ln/>
        </p:spPr>
        <p:txBody>
          <a:bodyPr wrap="square" lIns="0" tIns="0" rIns="0" bIns="0" rtlCol="0" anchor="b"/>
          <a:lstStyle/>
          <a:p>
            <a:pPr indent="0" marL="0">
              <a:lnSpc>
                <a:spcPts val="1400"/>
              </a:lnSpc>
              <a:buNone/>
            </a:pPr>
            <a:r>
              <a:rPr lang="en-US" sz="4000" b="1" dirty="0">
                <a:solidFill>
                  <a:srgbClr val="16191D"/>
                </a:solidFill>
                <a:latin typeface="Cambria" pitchFamily="34" charset="0"/>
                <a:ea typeface="Cambria" pitchFamily="34" charset="-122"/>
                <a:cs typeface="Cambria" pitchFamily="34" charset="-120"/>
              </a:rPr>
              <a:t>4,7%</a:t>
            </a:r>
            <a:endParaRPr lang="en-US" sz="4000" dirty="0"/>
          </a:p>
        </p:txBody>
      </p:sp>
      <p:sp>
        <p:nvSpPr>
          <p:cNvPr id="7" name="Text 5"/>
          <p:cNvSpPr/>
          <p:nvPr/>
        </p:nvSpPr>
        <p:spPr>
          <a:xfrm>
            <a:off x="914400" y="2697480"/>
            <a:ext cx="4297680" cy="109728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responden tidak puas atau sangat tidak puas. Artinya 4.452 orang dari 95.609, tanpa satu nama pun yang bisa dihubungi.</a:t>
            </a:r>
            <a:endParaRPr lang="en-US" sz="1200" dirty="0"/>
          </a:p>
        </p:txBody>
      </p:sp>
      <p:sp>
        <p:nvSpPr>
          <p:cNvPr id="8" name="Text 6"/>
          <p:cNvSpPr/>
          <p:nvPr/>
        </p:nvSpPr>
        <p:spPr>
          <a:xfrm>
            <a:off x="5486400" y="1371600"/>
            <a:ext cx="1218895" cy="2514600"/>
          </a:xfrm>
          <a:prstGeom prst="rect">
            <a:avLst/>
          </a:prstGeom>
          <a:noFill/>
          <a:ln/>
        </p:spPr>
        <p:txBody>
          <a:bodyPr wrap="square" lIns="0" tIns="0" rIns="0" bIns="0" rtlCol="0" anchor="ctr"/>
          <a:lstStyle/>
          <a:p>
            <a:pPr algn="ctr" indent="0" marL="0">
              <a:lnSpc>
                <a:spcPts val="1400"/>
              </a:lnSpc>
              <a:buNone/>
            </a:pPr>
            <a:r>
              <a:rPr lang="en-US" sz="3000" dirty="0">
                <a:solidFill>
                  <a:srgbClr val="9AA0A7"/>
                </a:solidFill>
                <a:latin typeface="Calibri" pitchFamily="34" charset="0"/>
                <a:ea typeface="Calibri" pitchFamily="34" charset="-122"/>
                <a:cs typeface="Calibri" pitchFamily="34" charset="-120"/>
              </a:rPr>
              <a:t>→</a:t>
            </a:r>
            <a:endParaRPr lang="en-US" sz="3000" dirty="0"/>
          </a:p>
        </p:txBody>
      </p:sp>
      <p:sp>
        <p:nvSpPr>
          <p:cNvPr id="9" name="Shape 7"/>
          <p:cNvSpPr/>
          <p:nvPr/>
        </p:nvSpPr>
        <p:spPr>
          <a:xfrm>
            <a:off x="6705295" y="1371600"/>
            <a:ext cx="4846320" cy="2514600"/>
          </a:xfrm>
          <a:prstGeom prst="roundRect">
            <a:avLst>
              <a:gd name="adj" fmla="val 2182"/>
            </a:avLst>
          </a:prstGeom>
          <a:solidFill>
            <a:srgbClr val="16191D"/>
          </a:solidFill>
          <a:ln w="9525">
            <a:solidFill>
              <a:srgbClr val="16191D"/>
            </a:solidFill>
            <a:prstDash val="solid"/>
          </a:ln>
        </p:spPr>
      </p:sp>
      <p:sp>
        <p:nvSpPr>
          <p:cNvPr id="10" name="Text 8"/>
          <p:cNvSpPr/>
          <p:nvPr/>
        </p:nvSpPr>
        <p:spPr>
          <a:xfrm>
            <a:off x="6979615" y="1508760"/>
            <a:ext cx="36576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DENGAN PROYEK INI</a:t>
            </a:r>
            <a:endParaRPr lang="en-US" sz="1050" dirty="0"/>
          </a:p>
        </p:txBody>
      </p:sp>
      <p:sp>
        <p:nvSpPr>
          <p:cNvPr id="11" name="Shape 9"/>
          <p:cNvSpPr/>
          <p:nvPr/>
        </p:nvSpPr>
        <p:spPr>
          <a:xfrm>
            <a:off x="6979615" y="1929384"/>
            <a:ext cx="237744" cy="237744"/>
          </a:xfrm>
          <a:prstGeom prst="rect">
            <a:avLst/>
          </a:prstGeom>
          <a:solidFill>
            <a:srgbClr val="A8442A"/>
          </a:solidFill>
          <a:ln/>
        </p:spPr>
      </p:sp>
      <p:sp>
        <p:nvSpPr>
          <p:cNvPr id="12" name="Text 10"/>
          <p:cNvSpPr/>
          <p:nvPr/>
        </p:nvSpPr>
        <p:spPr>
          <a:xfrm>
            <a:off x="7345375" y="1874520"/>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2,932   ·   prioritas #1</a:t>
            </a:r>
            <a:endParaRPr lang="en-US" sz="1200" dirty="0"/>
          </a:p>
        </p:txBody>
      </p:sp>
      <p:sp>
        <p:nvSpPr>
          <p:cNvPr id="13" name="Shape 11"/>
          <p:cNvSpPr/>
          <p:nvPr/>
        </p:nvSpPr>
        <p:spPr>
          <a:xfrm>
            <a:off x="6979615" y="2331720"/>
            <a:ext cx="237744" cy="237744"/>
          </a:xfrm>
          <a:prstGeom prst="rect">
            <a:avLst/>
          </a:prstGeom>
          <a:solidFill>
            <a:srgbClr val="A8442A"/>
          </a:solidFill>
          <a:ln/>
        </p:spPr>
      </p:sp>
      <p:sp>
        <p:nvSpPr>
          <p:cNvPr id="14" name="Text 12"/>
          <p:cNvSpPr/>
          <p:nvPr/>
        </p:nvSpPr>
        <p:spPr>
          <a:xfrm>
            <a:off x="7345375" y="2276856"/>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2,790   ·   prioritas #2</a:t>
            </a:r>
            <a:endParaRPr lang="en-US" sz="1200" dirty="0"/>
          </a:p>
        </p:txBody>
      </p:sp>
      <p:sp>
        <p:nvSpPr>
          <p:cNvPr id="15" name="Shape 13"/>
          <p:cNvSpPr/>
          <p:nvPr/>
        </p:nvSpPr>
        <p:spPr>
          <a:xfrm>
            <a:off x="6979615" y="2734056"/>
            <a:ext cx="237744" cy="237744"/>
          </a:xfrm>
          <a:prstGeom prst="rect">
            <a:avLst/>
          </a:prstGeom>
          <a:solidFill>
            <a:srgbClr val="A8442A"/>
          </a:solidFill>
          <a:ln/>
        </p:spPr>
      </p:sp>
      <p:sp>
        <p:nvSpPr>
          <p:cNvPr id="16" name="Text 14"/>
          <p:cNvSpPr/>
          <p:nvPr/>
        </p:nvSpPr>
        <p:spPr>
          <a:xfrm>
            <a:off x="7345375" y="2679192"/>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2,738   ·   prioritas #3</a:t>
            </a:r>
            <a:endParaRPr lang="en-US" sz="1200" dirty="0"/>
          </a:p>
        </p:txBody>
      </p:sp>
      <p:sp>
        <p:nvSpPr>
          <p:cNvPr id="17" name="Shape 15"/>
          <p:cNvSpPr/>
          <p:nvPr/>
        </p:nvSpPr>
        <p:spPr>
          <a:xfrm>
            <a:off x="6979615" y="3136392"/>
            <a:ext cx="237744" cy="237744"/>
          </a:xfrm>
          <a:prstGeom prst="rect">
            <a:avLst/>
          </a:prstGeom>
          <a:solidFill>
            <a:srgbClr val="D8A25E"/>
          </a:solidFill>
          <a:ln/>
        </p:spPr>
      </p:sp>
      <p:sp>
        <p:nvSpPr>
          <p:cNvPr id="18" name="Text 16"/>
          <p:cNvSpPr/>
          <p:nvPr/>
        </p:nvSpPr>
        <p:spPr>
          <a:xfrm>
            <a:off x="7345375" y="3081528"/>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2,445   ·   prioritas #4</a:t>
            </a:r>
            <a:endParaRPr lang="en-US" sz="1200" dirty="0"/>
          </a:p>
        </p:txBody>
      </p:sp>
      <p:sp>
        <p:nvSpPr>
          <p:cNvPr id="19" name="Text 17"/>
          <p:cNvSpPr/>
          <p:nvPr/>
        </p:nvSpPr>
        <p:spPr>
          <a:xfrm>
            <a:off x="6979615" y="3520440"/>
            <a:ext cx="4297680" cy="274320"/>
          </a:xfrm>
          <a:prstGeom prst="rect">
            <a:avLst/>
          </a:prstGeom>
          <a:noFill/>
          <a:ln/>
        </p:spPr>
        <p:txBody>
          <a:bodyPr wrap="square" lIns="0" tIns="0" rIns="0" bIns="0" rtlCol="0" anchor="t"/>
          <a:lstStyle/>
          <a:p>
            <a:pPr indent="0" marL="0">
              <a:lnSpc>
                <a:spcPts val="1400"/>
              </a:lnSpc>
              <a:buNone/>
            </a:pPr>
            <a:r>
              <a:rPr lang="en-US" sz="1050" b="1" dirty="0">
                <a:solidFill>
                  <a:srgbClr val="8FB0A4"/>
                </a:solidFill>
                <a:latin typeface="Calibri" pitchFamily="34" charset="0"/>
                <a:ea typeface="Calibri" pitchFamily="34" charset="-122"/>
                <a:cs typeface="Calibri" pitchFamily="34" charset="-120"/>
              </a:rPr>
              <a:t>Daftar terurut: siapa didahulukan untuk dihubungi.</a:t>
            </a:r>
            <a:endParaRPr lang="en-US" sz="1050" dirty="0"/>
          </a:p>
        </p:txBody>
      </p:sp>
      <p:sp>
        <p:nvSpPr>
          <p:cNvPr id="20" name="Shape 18"/>
          <p:cNvSpPr/>
          <p:nvPr/>
        </p:nvSpPr>
        <p:spPr>
          <a:xfrm>
            <a:off x="640080" y="4069080"/>
            <a:ext cx="10911535" cy="566928"/>
          </a:xfrm>
          <a:prstGeom prst="roundRect">
            <a:avLst>
              <a:gd name="adj" fmla="val 9677"/>
            </a:avLst>
          </a:prstGeom>
          <a:solidFill>
            <a:srgbClr val="ECE7DF"/>
          </a:solidFill>
          <a:ln w="9525">
            <a:solidFill>
              <a:srgbClr val="DCD8D1"/>
            </a:solidFill>
            <a:prstDash val="solid"/>
          </a:ln>
        </p:spPr>
      </p:sp>
      <p:sp>
        <p:nvSpPr>
          <p:cNvPr id="21" name="Text 19"/>
          <p:cNvSpPr/>
          <p:nvPr/>
        </p:nvSpPr>
        <p:spPr>
          <a:xfrm>
            <a:off x="914400" y="4069080"/>
            <a:ext cx="10362895" cy="566928"/>
          </a:xfrm>
          <a:prstGeom prst="rect">
            <a:avLst/>
          </a:prstGeom>
          <a:noFill/>
          <a:ln/>
        </p:spPr>
        <p:txBody>
          <a:bodyPr wrap="square" lIns="0" tIns="0" rIns="0" bIns="0" rtlCol="0" anchor="ctr"/>
          <a:lstStyle/>
          <a:p>
            <a:pPr indent="0" marL="0">
              <a:lnSpc>
                <a:spcPts val="1400"/>
              </a:lnSpc>
              <a:buNone/>
            </a:pPr>
            <a:r>
              <a:rPr lang="en-US" sz="1200" b="1" dirty="0">
                <a:solidFill>
                  <a:srgbClr val="A8442A"/>
                </a:solidFill>
                <a:latin typeface="Calibri" pitchFamily="34" charset="0"/>
                <a:ea typeface="Calibri" pitchFamily="34" charset="-122"/>
                <a:cs typeface="Calibri" pitchFamily="34" charset="-120"/>
              </a:rPr>
              <a:t>Tujuan proyek. </a:t>
            </a:r>
            <a:pPr indent="0" marL="0">
              <a:lnSpc>
                <a:spcPts val="1400"/>
              </a:lnSpc>
              <a:buNone/>
            </a:pPr>
            <a:r>
              <a:rPr lang="en-US" sz="1200" dirty="0">
                <a:solidFill>
                  <a:srgbClr val="16191D"/>
                </a:solidFill>
                <a:latin typeface="Calibri" pitchFamily="34" charset="0"/>
                <a:ea typeface="Calibri" pitchFamily="34" charset="-122"/>
                <a:cs typeface="Calibri" pitchFamily="34" charset="-120"/>
              </a:rPr>
              <a:t>Mengubah jawaban survei yang sudah ada menjadi daftar prioritas orang yang paling mungkin tidak puas dengan hidupnya, supaya bantuan datang lebih awal.</a:t>
            </a:r>
            <a:endParaRPr lang="en-US" sz="1200" dirty="0"/>
          </a:p>
        </p:txBody>
      </p:sp>
      <p:sp>
        <p:nvSpPr>
          <p:cNvPr id="22" name="Shape 20"/>
          <p:cNvSpPr/>
          <p:nvPr/>
        </p:nvSpPr>
        <p:spPr>
          <a:xfrm>
            <a:off x="640080" y="4800600"/>
            <a:ext cx="3484778" cy="1417320"/>
          </a:xfrm>
          <a:prstGeom prst="roundRect">
            <a:avLst>
              <a:gd name="adj" fmla="val 3871"/>
            </a:avLst>
          </a:prstGeom>
          <a:solidFill>
            <a:srgbClr val="FFFFFF"/>
          </a:solidFill>
          <a:ln w="9525">
            <a:solidFill>
              <a:srgbClr val="DCD8D1"/>
            </a:solidFill>
            <a:prstDash val="solid"/>
          </a:ln>
        </p:spPr>
      </p:sp>
      <p:sp>
        <p:nvSpPr>
          <p:cNvPr id="23" name="Shape 21"/>
          <p:cNvSpPr/>
          <p:nvPr/>
        </p:nvSpPr>
        <p:spPr>
          <a:xfrm>
            <a:off x="868680" y="4956048"/>
            <a:ext cx="274320" cy="274320"/>
          </a:xfrm>
          <a:prstGeom prst="ellipse">
            <a:avLst/>
          </a:prstGeom>
          <a:solidFill>
            <a:srgbClr val="2F6B5F"/>
          </a:solidFill>
          <a:ln/>
        </p:spPr>
      </p:sp>
      <p:sp>
        <p:nvSpPr>
          <p:cNvPr id="24" name="Text 22"/>
          <p:cNvSpPr/>
          <p:nvPr/>
        </p:nvSpPr>
        <p:spPr>
          <a:xfrm>
            <a:off x="1261872" y="4937760"/>
            <a:ext cx="2661818" cy="320040"/>
          </a:xfrm>
          <a:prstGeom prst="rect">
            <a:avLst/>
          </a:prstGeom>
          <a:noFill/>
          <a:ln/>
        </p:spPr>
        <p:txBody>
          <a:bodyPr wrap="square" lIns="0" tIns="0" rIns="0" bIns="0" rtlCol="0" anchor="t"/>
          <a:lstStyle/>
          <a:p>
            <a:pPr indent="0" marL="0">
              <a:lnSpc>
                <a:spcPts val="1400"/>
              </a:lnSpc>
              <a:buNone/>
            </a:pPr>
            <a:r>
              <a:rPr lang="en-US" sz="1250" b="1" dirty="0">
                <a:solidFill>
                  <a:srgbClr val="16191D"/>
                </a:solidFill>
                <a:latin typeface="Cambria" pitchFamily="34" charset="0"/>
                <a:ea typeface="Cambria" pitchFamily="34" charset="-122"/>
                <a:cs typeface="Cambria" pitchFamily="34" charset="-120"/>
              </a:rPr>
              <a:t>Layanan kesehatan primer</a:t>
            </a:r>
            <a:endParaRPr lang="en-US" sz="1250" dirty="0"/>
          </a:p>
        </p:txBody>
      </p:sp>
      <p:sp>
        <p:nvSpPr>
          <p:cNvPr id="25" name="Text 23"/>
          <p:cNvSpPr/>
          <p:nvPr/>
        </p:nvSpPr>
        <p:spPr>
          <a:xfrm>
            <a:off x="868680" y="5349240"/>
            <a:ext cx="3027578" cy="82296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Puskesmas dan dinas kesehatan memprioritaskan kunjungan dan rujukan konseling dari survei yang sudah berjalan.</a:t>
            </a:r>
            <a:endParaRPr lang="en-US" sz="1000" dirty="0"/>
          </a:p>
        </p:txBody>
      </p:sp>
      <p:sp>
        <p:nvSpPr>
          <p:cNvPr id="26" name="Shape 24"/>
          <p:cNvSpPr/>
          <p:nvPr/>
        </p:nvSpPr>
        <p:spPr>
          <a:xfrm>
            <a:off x="4353458" y="4800600"/>
            <a:ext cx="3484778" cy="1417320"/>
          </a:xfrm>
          <a:prstGeom prst="roundRect">
            <a:avLst>
              <a:gd name="adj" fmla="val 3871"/>
            </a:avLst>
          </a:prstGeom>
          <a:solidFill>
            <a:srgbClr val="FFFFFF"/>
          </a:solidFill>
          <a:ln w="9525">
            <a:solidFill>
              <a:srgbClr val="DCD8D1"/>
            </a:solidFill>
            <a:prstDash val="solid"/>
          </a:ln>
        </p:spPr>
      </p:sp>
      <p:sp>
        <p:nvSpPr>
          <p:cNvPr id="27" name="Shape 25"/>
          <p:cNvSpPr/>
          <p:nvPr/>
        </p:nvSpPr>
        <p:spPr>
          <a:xfrm>
            <a:off x="4582058" y="4956048"/>
            <a:ext cx="274320" cy="274320"/>
          </a:xfrm>
          <a:prstGeom prst="ellipse">
            <a:avLst/>
          </a:prstGeom>
          <a:solidFill>
            <a:srgbClr val="8FB0A4"/>
          </a:solidFill>
          <a:ln/>
        </p:spPr>
      </p:sp>
      <p:sp>
        <p:nvSpPr>
          <p:cNvPr id="28" name="Text 26"/>
          <p:cNvSpPr/>
          <p:nvPr/>
        </p:nvSpPr>
        <p:spPr>
          <a:xfrm>
            <a:off x="4975250" y="4937760"/>
            <a:ext cx="2661818" cy="320040"/>
          </a:xfrm>
          <a:prstGeom prst="rect">
            <a:avLst/>
          </a:prstGeom>
          <a:noFill/>
          <a:ln/>
        </p:spPr>
        <p:txBody>
          <a:bodyPr wrap="square" lIns="0" tIns="0" rIns="0" bIns="0" rtlCol="0" anchor="t"/>
          <a:lstStyle/>
          <a:p>
            <a:pPr indent="0" marL="0">
              <a:lnSpc>
                <a:spcPts val="1400"/>
              </a:lnSpc>
              <a:buNone/>
            </a:pPr>
            <a:r>
              <a:rPr lang="en-US" sz="1250" b="1" dirty="0">
                <a:solidFill>
                  <a:srgbClr val="16191D"/>
                </a:solidFill>
                <a:latin typeface="Cambria" pitchFamily="34" charset="0"/>
                <a:ea typeface="Cambria" pitchFamily="34" charset="-122"/>
                <a:cs typeface="Cambria" pitchFamily="34" charset="-120"/>
              </a:rPr>
              <a:t>Program kesejahteraan</a:t>
            </a:r>
            <a:endParaRPr lang="en-US" sz="1250" dirty="0"/>
          </a:p>
        </p:txBody>
      </p:sp>
      <p:sp>
        <p:nvSpPr>
          <p:cNvPr id="29" name="Text 27"/>
          <p:cNvSpPr/>
          <p:nvPr/>
        </p:nvSpPr>
        <p:spPr>
          <a:xfrm>
            <a:off x="4582058" y="5349240"/>
            <a:ext cx="3027578" cy="82296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HR perusahaan dan penyedia asuransi menjangkau peserta berisiko lebih awal lewat program wellbeing.</a:t>
            </a:r>
            <a:endParaRPr lang="en-US" sz="1000" dirty="0"/>
          </a:p>
        </p:txBody>
      </p:sp>
      <p:sp>
        <p:nvSpPr>
          <p:cNvPr id="30" name="Shape 28"/>
          <p:cNvSpPr/>
          <p:nvPr/>
        </p:nvSpPr>
        <p:spPr>
          <a:xfrm>
            <a:off x="8066837" y="4800600"/>
            <a:ext cx="3484778" cy="1417320"/>
          </a:xfrm>
          <a:prstGeom prst="roundRect">
            <a:avLst>
              <a:gd name="adj" fmla="val 3871"/>
            </a:avLst>
          </a:prstGeom>
          <a:solidFill>
            <a:srgbClr val="FFFFFF"/>
          </a:solidFill>
          <a:ln w="9525">
            <a:solidFill>
              <a:srgbClr val="DCD8D1"/>
            </a:solidFill>
            <a:prstDash val="solid"/>
          </a:ln>
        </p:spPr>
      </p:sp>
      <p:sp>
        <p:nvSpPr>
          <p:cNvPr id="31" name="Shape 29"/>
          <p:cNvSpPr/>
          <p:nvPr/>
        </p:nvSpPr>
        <p:spPr>
          <a:xfrm>
            <a:off x="8295437" y="4956048"/>
            <a:ext cx="274320" cy="274320"/>
          </a:xfrm>
          <a:prstGeom prst="ellipse">
            <a:avLst/>
          </a:prstGeom>
          <a:solidFill>
            <a:srgbClr val="D8A25E"/>
          </a:solidFill>
          <a:ln/>
        </p:spPr>
      </p:sp>
      <p:sp>
        <p:nvSpPr>
          <p:cNvPr id="32" name="Text 30"/>
          <p:cNvSpPr/>
          <p:nvPr/>
        </p:nvSpPr>
        <p:spPr>
          <a:xfrm>
            <a:off x="8688629" y="4937760"/>
            <a:ext cx="2661818" cy="320040"/>
          </a:xfrm>
          <a:prstGeom prst="rect">
            <a:avLst/>
          </a:prstGeom>
          <a:noFill/>
          <a:ln/>
        </p:spPr>
        <p:txBody>
          <a:bodyPr wrap="square" lIns="0" tIns="0" rIns="0" bIns="0" rtlCol="0" anchor="t"/>
          <a:lstStyle/>
          <a:p>
            <a:pPr indent="0" marL="0">
              <a:lnSpc>
                <a:spcPts val="1400"/>
              </a:lnSpc>
              <a:buNone/>
            </a:pPr>
            <a:r>
              <a:rPr lang="en-US" sz="1250" b="1" dirty="0">
                <a:solidFill>
                  <a:srgbClr val="16191D"/>
                </a:solidFill>
                <a:latin typeface="Cambria" pitchFamily="34" charset="0"/>
                <a:ea typeface="Cambria" pitchFamily="34" charset="-122"/>
                <a:cs typeface="Cambria" pitchFamily="34" charset="-120"/>
              </a:rPr>
              <a:t>Kebijakan dan riset</a:t>
            </a:r>
            <a:endParaRPr lang="en-US" sz="1250" dirty="0"/>
          </a:p>
        </p:txBody>
      </p:sp>
      <p:sp>
        <p:nvSpPr>
          <p:cNvPr id="33" name="Text 31"/>
          <p:cNvSpPr/>
          <p:nvPr/>
        </p:nvSpPr>
        <p:spPr>
          <a:xfrm>
            <a:off x="8295437" y="5349240"/>
            <a:ext cx="3027578" cy="82296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Instrumen 17 pertanyaan yang murah untuk memetakan kesejahteraan per wilayah dan memantau intervensi.</a:t>
            </a:r>
            <a:endParaRPr lang="en-US" sz="1000" dirty="0"/>
          </a:p>
        </p:txBody>
      </p:sp>
      <p:sp>
        <p:nvSpPr>
          <p:cNvPr id="35" name="Shape 32"/>
          <p:cNvSpPr/>
          <p:nvPr/>
        </p:nvSpPr>
        <p:spPr>
          <a:xfrm>
            <a:off x="640080" y="6400800"/>
            <a:ext cx="1572768" cy="45720"/>
          </a:xfrm>
          <a:prstGeom prst="rect">
            <a:avLst/>
          </a:prstGeom>
          <a:solidFill>
            <a:srgbClr val="A8442A"/>
          </a:solidFill>
          <a:ln/>
        </p:spPr>
      </p:sp>
      <p:sp>
        <p:nvSpPr>
          <p:cNvPr id="36" name="Text 3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37" name="Shape 34"/>
          <p:cNvSpPr/>
          <p:nvPr/>
        </p:nvSpPr>
        <p:spPr>
          <a:xfrm>
            <a:off x="2304288" y="6400800"/>
            <a:ext cx="1572768" cy="45720"/>
          </a:xfrm>
          <a:prstGeom prst="rect">
            <a:avLst/>
          </a:prstGeom>
          <a:solidFill>
            <a:srgbClr val="DCD8D1"/>
          </a:solidFill>
          <a:ln/>
        </p:spPr>
      </p:sp>
      <p:sp>
        <p:nvSpPr>
          <p:cNvPr id="38" name="Text 3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9" name="Shape 36"/>
          <p:cNvSpPr/>
          <p:nvPr/>
        </p:nvSpPr>
        <p:spPr>
          <a:xfrm>
            <a:off x="3968496" y="6400800"/>
            <a:ext cx="1572768" cy="45720"/>
          </a:xfrm>
          <a:prstGeom prst="rect">
            <a:avLst/>
          </a:prstGeom>
          <a:solidFill>
            <a:srgbClr val="DCD8D1"/>
          </a:solidFill>
          <a:ln/>
        </p:spPr>
      </p:sp>
      <p:sp>
        <p:nvSpPr>
          <p:cNvPr id="40" name="Text 3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1" name="Shape 38"/>
          <p:cNvSpPr/>
          <p:nvPr/>
        </p:nvSpPr>
        <p:spPr>
          <a:xfrm>
            <a:off x="5632704" y="6400800"/>
            <a:ext cx="1572768" cy="45720"/>
          </a:xfrm>
          <a:prstGeom prst="rect">
            <a:avLst/>
          </a:prstGeom>
          <a:solidFill>
            <a:srgbClr val="DCD8D1"/>
          </a:solidFill>
          <a:ln/>
        </p:spPr>
      </p:sp>
      <p:sp>
        <p:nvSpPr>
          <p:cNvPr id="42" name="Text 3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3" name="Shape 40"/>
          <p:cNvSpPr/>
          <p:nvPr/>
        </p:nvSpPr>
        <p:spPr>
          <a:xfrm>
            <a:off x="7296912" y="6400800"/>
            <a:ext cx="1572768" cy="45720"/>
          </a:xfrm>
          <a:prstGeom prst="rect">
            <a:avLst/>
          </a:prstGeom>
          <a:solidFill>
            <a:srgbClr val="DCD8D1"/>
          </a:solidFill>
          <a:ln/>
        </p:spPr>
      </p:sp>
      <p:sp>
        <p:nvSpPr>
          <p:cNvPr id="44" name="Text 4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5" name="Shape 42"/>
          <p:cNvSpPr/>
          <p:nvPr/>
        </p:nvSpPr>
        <p:spPr>
          <a:xfrm>
            <a:off x="8961120" y="6400800"/>
            <a:ext cx="1572768" cy="45720"/>
          </a:xfrm>
          <a:prstGeom prst="rect">
            <a:avLst/>
          </a:prstGeom>
          <a:solidFill>
            <a:srgbClr val="DCD8D1"/>
          </a:solidFill>
          <a:ln/>
        </p:spPr>
      </p:sp>
      <p:sp>
        <p:nvSpPr>
          <p:cNvPr id="46" name="Text 4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7" name="Text 4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"Semua baik-baik saja": akurasi 50,4%, tak menemukan siapa pun.</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Karena itu kami tidak mengejar akurasi. Metrik harus menghukum kesalahan yang paling mahal di dunia nyata.</a:t>
            </a:r>
            <a:endParaRPr lang="en-US" sz="1250" dirty="0"/>
          </a:p>
        </p:txBody>
      </p:sp>
      <p:sp>
        <p:nvSpPr>
          <p:cNvPr id="4" name="Shape 2"/>
          <p:cNvSpPr/>
          <p:nvPr/>
        </p:nvSpPr>
        <p:spPr>
          <a:xfrm>
            <a:off x="640080" y="1371600"/>
            <a:ext cx="5760720" cy="2377440"/>
          </a:xfrm>
          <a:prstGeom prst="roundRect">
            <a:avLst>
              <a:gd name="adj" fmla="val 2308"/>
            </a:avLst>
          </a:prstGeom>
          <a:solidFill>
            <a:srgbClr val="16191D"/>
          </a:solidFill>
          <a:ln w="9525">
            <a:solidFill>
              <a:srgbClr val="16191D"/>
            </a:solidFill>
            <a:prstDash val="solid"/>
          </a:ln>
        </p:spPr>
      </p:sp>
      <p:sp>
        <p:nvSpPr>
          <p:cNvPr id="5" name="Text 3"/>
          <p:cNvSpPr/>
          <p:nvPr/>
        </p:nvSpPr>
        <p:spPr>
          <a:xfrm>
            <a:off x="914400" y="1600200"/>
            <a:ext cx="1783080" cy="548640"/>
          </a:xfrm>
          <a:prstGeom prst="rect">
            <a:avLst/>
          </a:prstGeom>
          <a:noFill/>
          <a:ln/>
        </p:spPr>
        <p:txBody>
          <a:bodyPr wrap="square" lIns="0" tIns="0" rIns="0" bIns="0" rtlCol="0" anchor="b"/>
          <a:lstStyle/>
          <a:p>
            <a:pPr indent="0" marL="0">
              <a:lnSpc>
                <a:spcPts val="1400"/>
              </a:lnSpc>
              <a:buNone/>
            </a:pPr>
            <a:r>
              <a:rPr lang="en-US" sz="2400" b="1" dirty="0">
                <a:solidFill>
                  <a:srgbClr val="FFFFFF"/>
                </a:solidFill>
                <a:latin typeface="Cambria" pitchFamily="34" charset="0"/>
                <a:ea typeface="Cambria" pitchFamily="34" charset="-122"/>
                <a:cs typeface="Cambria" pitchFamily="34" charset="-120"/>
              </a:rPr>
              <a:t>50,402%</a:t>
            </a:r>
            <a:endParaRPr lang="en-US" sz="2400" dirty="0"/>
          </a:p>
        </p:txBody>
      </p:sp>
      <p:sp>
        <p:nvSpPr>
          <p:cNvPr id="6" name="Text 4"/>
          <p:cNvSpPr/>
          <p:nvPr/>
        </p:nvSpPr>
        <p:spPr>
          <a:xfrm>
            <a:off x="914400" y="2212848"/>
            <a:ext cx="1645920" cy="64008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akurasi jika semua ditebak "Puas"</a:t>
            </a:r>
            <a:endParaRPr lang="en-US" sz="1000" dirty="0"/>
          </a:p>
        </p:txBody>
      </p:sp>
      <p:sp>
        <p:nvSpPr>
          <p:cNvPr id="7" name="Text 5"/>
          <p:cNvSpPr/>
          <p:nvPr/>
        </p:nvSpPr>
        <p:spPr>
          <a:xfrm>
            <a:off x="2743200" y="1600200"/>
            <a:ext cx="1783080" cy="548640"/>
          </a:xfrm>
          <a:prstGeom prst="rect">
            <a:avLst/>
          </a:prstGeom>
          <a:noFill/>
          <a:ln/>
        </p:spPr>
        <p:txBody>
          <a:bodyPr wrap="square" lIns="0" tIns="0" rIns="0" bIns="0" rtlCol="0" anchor="b"/>
          <a:lstStyle/>
          <a:p>
            <a:pPr indent="0" marL="0">
              <a:lnSpc>
                <a:spcPts val="1400"/>
              </a:lnSpc>
              <a:buNone/>
            </a:pPr>
            <a:r>
              <a:rPr lang="en-US" sz="2000" b="1" dirty="0">
                <a:solidFill>
                  <a:srgbClr val="D8A25E"/>
                </a:solidFill>
                <a:latin typeface="Cambria" pitchFamily="34" charset="0"/>
                <a:ea typeface="Cambria" pitchFamily="34" charset="-122"/>
                <a:cs typeface="Cambria" pitchFamily="34" charset="-120"/>
              </a:rPr>
              <a:t>0 dari 4.452</a:t>
            </a:r>
            <a:endParaRPr lang="en-US" sz="2000" dirty="0"/>
          </a:p>
        </p:txBody>
      </p:sp>
      <p:sp>
        <p:nvSpPr>
          <p:cNvPr id="8" name="Text 6"/>
          <p:cNvSpPr/>
          <p:nvPr/>
        </p:nvSpPr>
        <p:spPr>
          <a:xfrm>
            <a:off x="2743200" y="2212848"/>
            <a:ext cx="1645920" cy="64008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orang tidak puas yang ditemukan</a:t>
            </a:r>
            <a:endParaRPr lang="en-US" sz="1000" dirty="0"/>
          </a:p>
        </p:txBody>
      </p:sp>
      <p:sp>
        <p:nvSpPr>
          <p:cNvPr id="9" name="Text 7"/>
          <p:cNvSpPr/>
          <p:nvPr/>
        </p:nvSpPr>
        <p:spPr>
          <a:xfrm>
            <a:off x="4572000" y="1600200"/>
            <a:ext cx="1783080" cy="548640"/>
          </a:xfrm>
          <a:prstGeom prst="rect">
            <a:avLst/>
          </a:prstGeom>
          <a:noFill/>
          <a:ln/>
        </p:spPr>
        <p:txBody>
          <a:bodyPr wrap="square" lIns="0" tIns="0" rIns="0" bIns="0" rtlCol="0" anchor="b"/>
          <a:lstStyle/>
          <a:p>
            <a:pPr indent="0" marL="0">
              <a:lnSpc>
                <a:spcPts val="1400"/>
              </a:lnSpc>
              <a:buNone/>
            </a:pPr>
            <a:r>
              <a:rPr lang="en-US" sz="2400" b="1" dirty="0">
                <a:solidFill>
                  <a:srgbClr val="A8442A"/>
                </a:solidFill>
                <a:latin typeface="Cambria" pitchFamily="34" charset="0"/>
                <a:ea typeface="Cambria" pitchFamily="34" charset="-122"/>
                <a:cs typeface="Cambria" pitchFamily="34" charset="-120"/>
              </a:rPr>
              <a:t>0,00000</a:t>
            </a:r>
            <a:endParaRPr lang="en-US" sz="2400" dirty="0"/>
          </a:p>
        </p:txBody>
      </p:sp>
      <p:sp>
        <p:nvSpPr>
          <p:cNvPr id="10" name="Text 8"/>
          <p:cNvSpPr/>
          <p:nvPr/>
        </p:nvSpPr>
        <p:spPr>
          <a:xfrm>
            <a:off x="4572000" y="2212848"/>
            <a:ext cx="1645920" cy="64008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nilai QWK untuk tebakan itu</a:t>
            </a:r>
            <a:endParaRPr lang="en-US" sz="1000" dirty="0"/>
          </a:p>
        </p:txBody>
      </p:sp>
      <p:sp>
        <p:nvSpPr>
          <p:cNvPr id="11" name="Text 9"/>
          <p:cNvSpPr/>
          <p:nvPr/>
        </p:nvSpPr>
        <p:spPr>
          <a:xfrm>
            <a:off x="914400" y="2971800"/>
            <a:ext cx="5212080" cy="640080"/>
          </a:xfrm>
          <a:prstGeom prst="rect">
            <a:avLst/>
          </a:prstGeom>
          <a:noFill/>
          <a:ln/>
        </p:spPr>
        <p:txBody>
          <a:bodyPr wrap="square" lIns="0" tIns="0" rIns="0" bIns="0" rtlCol="0" anchor="t"/>
          <a:lstStyle/>
          <a:p>
            <a:pPr indent="0" marL="0">
              <a:lnSpc>
                <a:spcPts val="1600"/>
              </a:lnSpc>
              <a:buNone/>
            </a:pPr>
            <a:r>
              <a:rPr lang="en-US" sz="1150" dirty="0">
                <a:solidFill>
                  <a:srgbClr val="FFFFFF"/>
                </a:solidFill>
                <a:latin typeface="Calibri" pitchFamily="34" charset="0"/>
                <a:ea typeface="Calibri" pitchFamily="34" charset="-122"/>
                <a:cs typeface="Calibri" pitchFamily="34" charset="-120"/>
              </a:rPr>
              <a:t>Akurasi memberi nilai tinggi pada model yang tidak berguna. Quadratic Weighted Kappa, metrik yang kami optimalkan, memberinya nol.</a:t>
            </a:r>
            <a:endParaRPr lang="en-US" sz="1150" dirty="0"/>
          </a:p>
        </p:txBody>
      </p:sp>
      <p:sp>
        <p:nvSpPr>
          <p:cNvPr id="12" name="Shape 10"/>
          <p:cNvSpPr/>
          <p:nvPr/>
        </p:nvSpPr>
        <p:spPr>
          <a:xfrm>
            <a:off x="640080" y="3931920"/>
            <a:ext cx="5760720" cy="2286000"/>
          </a:xfrm>
          <a:prstGeom prst="roundRect">
            <a:avLst>
              <a:gd name="adj" fmla="val 2400"/>
            </a:avLst>
          </a:prstGeom>
          <a:solidFill>
            <a:srgbClr val="F4F1EC"/>
          </a:solidFill>
          <a:ln w="9525">
            <a:solidFill>
              <a:srgbClr val="DCD8D1"/>
            </a:solidFill>
            <a:prstDash val="solid"/>
          </a:ln>
        </p:spPr>
      </p:sp>
      <p:sp>
        <p:nvSpPr>
          <p:cNvPr id="13" name="Text 11"/>
          <p:cNvSpPr/>
          <p:nvPr/>
        </p:nvSpPr>
        <p:spPr>
          <a:xfrm>
            <a:off x="914400" y="4041648"/>
            <a:ext cx="521208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KENAPA QWK COCOK DENGAN DUNIA NYATA</a:t>
            </a:r>
            <a:endParaRPr lang="en-US" sz="1050" dirty="0"/>
          </a:p>
        </p:txBody>
      </p:sp>
      <p:sp>
        <p:nvSpPr>
          <p:cNvPr id="14" name="Text 12"/>
          <p:cNvSpPr/>
          <p:nvPr/>
        </p:nvSpPr>
        <p:spPr>
          <a:xfrm>
            <a:off x="914400" y="4389120"/>
            <a:ext cx="5212080" cy="118872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Menempatkan orang yang sangat tidak puas sebagai sangat puas </a:t>
            </a:r>
            <a:pPr indent="0" marL="0">
              <a:lnSpc>
                <a:spcPts val="1700"/>
              </a:lnSpc>
              <a:buNone/>
            </a:pPr>
            <a:r>
              <a:rPr lang="en-US" sz="1200" b="1" dirty="0">
                <a:solidFill>
                  <a:srgbClr val="A8442A"/>
                </a:solidFill>
                <a:latin typeface="Calibri" pitchFamily="34" charset="0"/>
                <a:ea typeface="Calibri" pitchFamily="34" charset="-122"/>
                <a:cs typeface="Calibri" pitchFamily="34" charset="-120"/>
              </a:rPr>
              <a:t>dihukum 9 kali</a:t>
            </a:r>
            <a:pPr indent="0" marL="0">
              <a:lnSpc>
                <a:spcPts val="1700"/>
              </a:lnSpc>
              <a:buNone/>
            </a:pPr>
            <a:r>
              <a:rPr lang="en-US" sz="1200" dirty="0">
                <a:solidFill>
                  <a:srgbClr val="3A4048"/>
                </a:solidFill>
                <a:latin typeface="Calibri" pitchFamily="34" charset="0"/>
                <a:ea typeface="Calibri" pitchFamily="34" charset="-122"/>
                <a:cs typeface="Calibri" pitchFamily="34" charset="-120"/>
              </a:rPr>
              <a:t> lebih berat daripada meleset satu tingkat. Itu persis biaya sebuah skrining yang meloloskan kasus berat, dibanding sekadar salah menilai orang yang cukup puas sebagai puas.</a:t>
            </a:r>
            <a:endParaRPr lang="en-US" sz="1200" dirty="0"/>
          </a:p>
        </p:txBody>
      </p:sp>
      <p:sp>
        <p:nvSpPr>
          <p:cNvPr id="15" name="Text 13"/>
          <p:cNvSpPr/>
          <p:nvPr/>
        </p:nvSpPr>
        <p:spPr>
          <a:xfrm>
            <a:off x="914400" y="5596128"/>
            <a:ext cx="5212080" cy="502920"/>
          </a:xfrm>
          <a:prstGeom prst="rect">
            <a:avLst/>
          </a:prstGeom>
          <a:noFill/>
          <a:ln/>
        </p:spPr>
        <p:txBody>
          <a:bodyPr wrap="square" lIns="0" tIns="0" rIns="0" bIns="0" rtlCol="0" anchor="t"/>
          <a:lstStyle/>
          <a:p>
            <a:pPr indent="0" marL="0">
              <a:lnSpc>
                <a:spcPts val="1400"/>
              </a:lnSpc>
              <a:buNone/>
            </a:pPr>
            <a:r>
              <a:rPr lang="en-US" sz="1050" i="1" dirty="0">
                <a:solidFill>
                  <a:srgbClr val="6E747C"/>
                </a:solidFill>
                <a:latin typeface="Calibri" pitchFamily="34" charset="0"/>
                <a:ea typeface="Calibri" pitchFamily="34" charset="-122"/>
                <a:cs typeface="Calibri" pitchFamily="34" charset="-120"/>
              </a:rPr>
              <a:t>Kappa ini juga mengoreksi kebetulan, jadi model tidak bisa menang dengan menebak proporsi.</a:t>
            </a:r>
            <a:endParaRPr lang="en-US" sz="1050" dirty="0"/>
          </a:p>
        </p:txBody>
      </p:sp>
      <p:sp>
        <p:nvSpPr>
          <p:cNvPr id="16" name="Shape 14"/>
          <p:cNvSpPr/>
          <p:nvPr/>
        </p:nvSpPr>
        <p:spPr>
          <a:xfrm>
            <a:off x="6675120" y="1371600"/>
            <a:ext cx="4876495" cy="4846320"/>
          </a:xfrm>
          <a:prstGeom prst="roundRect">
            <a:avLst>
              <a:gd name="adj" fmla="val 1132"/>
            </a:avLst>
          </a:prstGeom>
          <a:solidFill>
            <a:srgbClr val="FFFFFF"/>
          </a:solidFill>
          <a:ln w="9525">
            <a:solidFill>
              <a:srgbClr val="DCD8D1"/>
            </a:solidFill>
            <a:prstDash val="solid"/>
          </a:ln>
        </p:spPr>
      </p:sp>
      <p:sp>
        <p:nvSpPr>
          <p:cNvPr id="17" name="Text 15"/>
          <p:cNvSpPr/>
          <p:nvPr/>
        </p:nvSpPr>
        <p:spPr>
          <a:xfrm>
            <a:off x="6949440" y="1508760"/>
            <a:ext cx="4876495"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DATA YANG KAMI OLAH</a:t>
            </a:r>
            <a:endParaRPr lang="en-US" sz="1050" dirty="0"/>
          </a:p>
        </p:txBody>
      </p:sp>
      <p:sp>
        <p:nvSpPr>
          <p:cNvPr id="18" name="Text 16"/>
          <p:cNvSpPr/>
          <p:nvPr/>
        </p:nvSpPr>
        <p:spPr>
          <a:xfrm>
            <a:off x="6949440" y="1874520"/>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Sangat puas</a:t>
            </a:r>
            <a:endParaRPr lang="en-US" sz="1050" dirty="0"/>
          </a:p>
        </p:txBody>
      </p:sp>
      <p:sp>
        <p:nvSpPr>
          <p:cNvPr id="19" name="Shape 17"/>
          <p:cNvSpPr/>
          <p:nvPr/>
        </p:nvSpPr>
        <p:spPr>
          <a:xfrm>
            <a:off x="8549640" y="1947672"/>
            <a:ext cx="1611496" cy="164592"/>
          </a:xfrm>
          <a:prstGeom prst="rect">
            <a:avLst/>
          </a:prstGeom>
          <a:solidFill>
            <a:srgbClr val="2F6B5F"/>
          </a:solidFill>
          <a:ln/>
        </p:spPr>
      </p:sp>
      <p:sp>
        <p:nvSpPr>
          <p:cNvPr id="20" name="Text 18"/>
          <p:cNvSpPr/>
          <p:nvPr/>
        </p:nvSpPr>
        <p:spPr>
          <a:xfrm>
            <a:off x="10545775" y="1874520"/>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42.968</a:t>
            </a:r>
            <a:endParaRPr lang="en-US" sz="1050" dirty="0"/>
          </a:p>
        </p:txBody>
      </p:sp>
      <p:sp>
        <p:nvSpPr>
          <p:cNvPr id="21" name="Text 19"/>
          <p:cNvSpPr/>
          <p:nvPr/>
        </p:nvSpPr>
        <p:spPr>
          <a:xfrm>
            <a:off x="6949440" y="2295144"/>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Puas</a:t>
            </a:r>
            <a:endParaRPr lang="en-US" sz="1050" dirty="0"/>
          </a:p>
        </p:txBody>
      </p:sp>
      <p:sp>
        <p:nvSpPr>
          <p:cNvPr id="22" name="Shape 20"/>
          <p:cNvSpPr/>
          <p:nvPr/>
        </p:nvSpPr>
        <p:spPr>
          <a:xfrm>
            <a:off x="8549640" y="2368296"/>
            <a:ext cx="1807285" cy="164592"/>
          </a:xfrm>
          <a:prstGeom prst="rect">
            <a:avLst/>
          </a:prstGeom>
          <a:solidFill>
            <a:srgbClr val="8FB0A4"/>
          </a:solidFill>
          <a:ln/>
        </p:spPr>
      </p:sp>
      <p:sp>
        <p:nvSpPr>
          <p:cNvPr id="23" name="Text 21"/>
          <p:cNvSpPr/>
          <p:nvPr/>
        </p:nvSpPr>
        <p:spPr>
          <a:xfrm>
            <a:off x="10545775" y="2295144"/>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48.189</a:t>
            </a:r>
            <a:endParaRPr lang="en-US" sz="1050" dirty="0"/>
          </a:p>
        </p:txBody>
      </p:sp>
      <p:sp>
        <p:nvSpPr>
          <p:cNvPr id="24" name="Text 22"/>
          <p:cNvSpPr/>
          <p:nvPr/>
        </p:nvSpPr>
        <p:spPr>
          <a:xfrm>
            <a:off x="6949440" y="2715768"/>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Tidak puas</a:t>
            </a:r>
            <a:endParaRPr lang="en-US" sz="1050" dirty="0"/>
          </a:p>
        </p:txBody>
      </p:sp>
      <p:sp>
        <p:nvSpPr>
          <p:cNvPr id="25" name="Shape 23"/>
          <p:cNvSpPr/>
          <p:nvPr/>
        </p:nvSpPr>
        <p:spPr>
          <a:xfrm>
            <a:off x="8549640" y="2788920"/>
            <a:ext cx="133395" cy="164592"/>
          </a:xfrm>
          <a:prstGeom prst="rect">
            <a:avLst/>
          </a:prstGeom>
          <a:solidFill>
            <a:srgbClr val="D8A25E"/>
          </a:solidFill>
          <a:ln/>
        </p:spPr>
      </p:sp>
      <p:sp>
        <p:nvSpPr>
          <p:cNvPr id="26" name="Text 24"/>
          <p:cNvSpPr/>
          <p:nvPr/>
        </p:nvSpPr>
        <p:spPr>
          <a:xfrm>
            <a:off x="10545775" y="2715768"/>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3.559</a:t>
            </a:r>
            <a:endParaRPr lang="en-US" sz="1050" dirty="0"/>
          </a:p>
        </p:txBody>
      </p:sp>
      <p:sp>
        <p:nvSpPr>
          <p:cNvPr id="27" name="Text 25"/>
          <p:cNvSpPr/>
          <p:nvPr/>
        </p:nvSpPr>
        <p:spPr>
          <a:xfrm>
            <a:off x="6949440" y="3136392"/>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Sangat tidak puas</a:t>
            </a:r>
            <a:endParaRPr lang="en-US" sz="1050" dirty="0"/>
          </a:p>
        </p:txBody>
      </p:sp>
      <p:sp>
        <p:nvSpPr>
          <p:cNvPr id="28" name="Shape 26"/>
          <p:cNvSpPr/>
          <p:nvPr/>
        </p:nvSpPr>
        <p:spPr>
          <a:xfrm>
            <a:off x="8549640" y="3209544"/>
            <a:ext cx="45720" cy="164592"/>
          </a:xfrm>
          <a:prstGeom prst="rect">
            <a:avLst/>
          </a:prstGeom>
          <a:solidFill>
            <a:srgbClr val="A8442A"/>
          </a:solidFill>
          <a:ln/>
        </p:spPr>
      </p:sp>
      <p:sp>
        <p:nvSpPr>
          <p:cNvPr id="29" name="Text 27"/>
          <p:cNvSpPr/>
          <p:nvPr/>
        </p:nvSpPr>
        <p:spPr>
          <a:xfrm>
            <a:off x="10545775" y="3136392"/>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893</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949440" y="3657600"/>
          <a:ext cx="4327855" cy="914400"/>
        </p:xfrm>
        <a:graphic>
          <a:graphicData uri="http://schemas.openxmlformats.org/drawingml/2006/table">
            <a:tbl>
              <a:tblPr/>
              <a:tblGrid>
                <a:gridCol w="2011680"/>
                <a:gridCol w="2316175"/>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Berkas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Ukuran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train_final.csv</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95.609 × 179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test_final.csv</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23.902 × 178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Fitur numerik</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Tahun survei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2021 sampai 2024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id unik di uji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23.666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Data eksternal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 baris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2" name="Shape 28"/>
          <p:cNvSpPr/>
          <p:nvPr/>
        </p:nvSpPr>
        <p:spPr>
          <a:xfrm>
            <a:off x="640080" y="6400800"/>
            <a:ext cx="1572768" cy="45720"/>
          </a:xfrm>
          <a:prstGeom prst="rect">
            <a:avLst/>
          </a:prstGeom>
          <a:solidFill>
            <a:srgbClr val="A8442A"/>
          </a:solidFill>
          <a:ln/>
        </p:spPr>
      </p:sp>
      <p:sp>
        <p:nvSpPr>
          <p:cNvPr id="33" name="Text 2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34" name="Shape 30"/>
          <p:cNvSpPr/>
          <p:nvPr/>
        </p:nvSpPr>
        <p:spPr>
          <a:xfrm>
            <a:off x="2304288" y="6400800"/>
            <a:ext cx="1572768" cy="45720"/>
          </a:xfrm>
          <a:prstGeom prst="rect">
            <a:avLst/>
          </a:prstGeom>
          <a:solidFill>
            <a:srgbClr val="DCD8D1"/>
          </a:solidFill>
          <a:ln/>
        </p:spPr>
      </p:sp>
      <p:sp>
        <p:nvSpPr>
          <p:cNvPr id="35" name="Text 3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6" name="Shape 32"/>
          <p:cNvSpPr/>
          <p:nvPr/>
        </p:nvSpPr>
        <p:spPr>
          <a:xfrm>
            <a:off x="3968496" y="6400800"/>
            <a:ext cx="1572768" cy="45720"/>
          </a:xfrm>
          <a:prstGeom prst="rect">
            <a:avLst/>
          </a:prstGeom>
          <a:solidFill>
            <a:srgbClr val="DCD8D1"/>
          </a:solidFill>
          <a:ln/>
        </p:spPr>
      </p:sp>
      <p:sp>
        <p:nvSpPr>
          <p:cNvPr id="37" name="Text 3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38" name="Shape 34"/>
          <p:cNvSpPr/>
          <p:nvPr/>
        </p:nvSpPr>
        <p:spPr>
          <a:xfrm>
            <a:off x="5632704" y="6400800"/>
            <a:ext cx="1572768" cy="45720"/>
          </a:xfrm>
          <a:prstGeom prst="rect">
            <a:avLst/>
          </a:prstGeom>
          <a:solidFill>
            <a:srgbClr val="DCD8D1"/>
          </a:solidFill>
          <a:ln/>
        </p:spPr>
      </p:sp>
      <p:sp>
        <p:nvSpPr>
          <p:cNvPr id="39" name="Text 3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0" name="Shape 36"/>
          <p:cNvSpPr/>
          <p:nvPr/>
        </p:nvSpPr>
        <p:spPr>
          <a:xfrm>
            <a:off x="7296912" y="6400800"/>
            <a:ext cx="1572768" cy="45720"/>
          </a:xfrm>
          <a:prstGeom prst="rect">
            <a:avLst/>
          </a:prstGeom>
          <a:solidFill>
            <a:srgbClr val="DCD8D1"/>
          </a:solidFill>
          <a:ln/>
        </p:spPr>
      </p:sp>
      <p:sp>
        <p:nvSpPr>
          <p:cNvPr id="41" name="Text 3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2" name="Shape 38"/>
          <p:cNvSpPr/>
          <p:nvPr/>
        </p:nvSpPr>
        <p:spPr>
          <a:xfrm>
            <a:off x="8961120" y="6400800"/>
            <a:ext cx="1572768" cy="45720"/>
          </a:xfrm>
          <a:prstGeom prst="rect">
            <a:avLst/>
          </a:prstGeom>
          <a:solidFill>
            <a:srgbClr val="DCD8D1"/>
          </a:solidFill>
          <a:ln/>
        </p:spPr>
      </p:sp>
      <p:sp>
        <p:nvSpPr>
          <p:cNvPr id="43" name="Text 3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4" name="Text 4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Enam hal yang membedakan pipeline kami dari pendekatan standar.</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Setiap keunggulan punya angka pembuktian, dan setiap angka akan muncul lagi di slide berikutnya.</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920240"/>
                <a:gridCol w="2651760"/>
                <a:gridCol w="3383280"/>
                <a:gridCol w="2953512"/>
              </a:tblGrid>
              <a:tr h="548640">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Aspek</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Pendekatan standar</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Pipeline kami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Bukti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Aturan keputusan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argmax, mengejar akurasi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Nilai harapan + 3 ambang ordinal</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3A4048"/>
                          </a:solidFill>
                          <a:latin typeface="Calibri" pitchFamily="34" charset="0"/>
                          <a:ea typeface="Calibri" pitchFamily="34" charset="-122"/>
                          <a:cs typeface="Calibri" pitchFamily="34" charset="-120"/>
                        </a:rPr>
                        <a:t>+0,06269 QWK pada model yang sama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Dasar keputusan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Fitur ditambah tanpa uji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10 temuan EDA → 10 keputusan, lewat ablasi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13 fitur komposit dibuang, selisih −0,00090</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Kebocoran data</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Sinyal menggiurkan langsung dipakai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Diukur dulu, lalu ditolak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Encoding rumah tangga: lift hanya +1,6pp</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Pemilihan konfigurasi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Skor validasi tertinggi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Paling stabil lewat uji split-half</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Held-out 0,48106 vs titik tunggal 0,48083</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Kapan berhenti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Terus tuning tanpa batas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Plafon dikuantifikasi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R² 0,9143; QWK 0,60 butuh 195 juta baris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Siap dipakai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Berhenti di notebook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Reproduksibel dan ada produknya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Rentang seed 0,00029; demo jalan di peramban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5394960"/>
            <a:ext cx="10911535" cy="822960"/>
          </a:xfrm>
          <a:prstGeom prst="roundRect">
            <a:avLst>
              <a:gd name="adj" fmla="val 6667"/>
            </a:avLst>
          </a:prstGeom>
          <a:solidFill>
            <a:srgbClr val="16191D"/>
          </a:solidFill>
          <a:ln w="9525">
            <a:solidFill>
              <a:srgbClr val="16191D"/>
            </a:solidFill>
            <a:prstDash val="solid"/>
          </a:ln>
        </p:spPr>
      </p:sp>
      <p:sp>
        <p:nvSpPr>
          <p:cNvPr id="6" name="Text 3"/>
          <p:cNvSpPr/>
          <p:nvPr/>
        </p:nvSpPr>
        <p:spPr>
          <a:xfrm>
            <a:off x="914400" y="5394960"/>
            <a:ext cx="10362895" cy="822960"/>
          </a:xfrm>
          <a:prstGeom prst="rect">
            <a:avLst/>
          </a:prstGeom>
          <a:noFill/>
          <a:ln/>
        </p:spPr>
        <p:txBody>
          <a:bodyPr wrap="square" lIns="0" tIns="0" rIns="0" bIns="0" rtlCol="0" anchor="ctr"/>
          <a:lstStyle/>
          <a:p>
            <a:pPr indent="0" marL="0">
              <a:lnSpc>
                <a:spcPts val="1600"/>
              </a:lnSpc>
              <a:buNone/>
            </a:pPr>
            <a:r>
              <a:rPr lang="en-US" sz="1200" b="1" dirty="0">
                <a:solidFill>
                  <a:srgbClr val="8FB0A4"/>
                </a:solidFill>
                <a:latin typeface="Calibri" pitchFamily="34" charset="0"/>
                <a:ea typeface="Calibri" pitchFamily="34" charset="-122"/>
                <a:cs typeface="Calibri" pitchFamily="34" charset="-120"/>
              </a:rPr>
              <a:t>Keunggulan terbesarnya bukan skor, melainkan kepercayaan. </a:t>
            </a:r>
            <a:pPr indent="0" marL="0">
              <a:lnSpc>
                <a:spcPts val="1600"/>
              </a:lnSpc>
              <a:buNone/>
            </a:pPr>
            <a:r>
              <a:rPr lang="en-US" sz="1200" dirty="0">
                <a:solidFill>
                  <a:srgbClr val="FFFFFF"/>
                </a:solidFill>
                <a:latin typeface="Calibri" pitchFamily="34" charset="0"/>
                <a:ea typeface="Calibri" pitchFamily="34" charset="-122"/>
                <a:cs typeface="Calibri" pitchFamily="34" charset="-120"/>
              </a:rPr>
              <a:t>Selisih enam peringkat teratas papan skor hanya 0,7 simpangan baku. Di rentang itu, yang membedakan tim adalah apakah hasilnya stabil di data baru, bisa diulang, dan bisa dipakai.</a:t>
            </a:r>
            <a:endParaRPr lang="en-US" sz="1200" dirty="0"/>
          </a:p>
        </p:txBody>
      </p:sp>
      <p:sp>
        <p:nvSpPr>
          <p:cNvPr id="8" name="Shape 4"/>
          <p:cNvSpPr/>
          <p:nvPr/>
        </p:nvSpPr>
        <p:spPr>
          <a:xfrm>
            <a:off x="640080" y="6400800"/>
            <a:ext cx="1572768" cy="45720"/>
          </a:xfrm>
          <a:prstGeom prst="rect">
            <a:avLst/>
          </a:prstGeom>
          <a:solidFill>
            <a:srgbClr val="A8442A"/>
          </a:solidFill>
          <a:ln/>
        </p:spPr>
      </p:sp>
      <p:sp>
        <p:nvSpPr>
          <p:cNvPr id="9" name="Text 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10" name="Shape 6"/>
          <p:cNvSpPr/>
          <p:nvPr/>
        </p:nvSpPr>
        <p:spPr>
          <a:xfrm>
            <a:off x="2304288" y="6400800"/>
            <a:ext cx="1572768" cy="45720"/>
          </a:xfrm>
          <a:prstGeom prst="rect">
            <a:avLst/>
          </a:prstGeom>
          <a:solidFill>
            <a:srgbClr val="DCD8D1"/>
          </a:solidFill>
          <a:ln/>
        </p:spPr>
      </p:sp>
      <p:sp>
        <p:nvSpPr>
          <p:cNvPr id="11" name="Text 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2" name="Shape 8"/>
          <p:cNvSpPr/>
          <p:nvPr/>
        </p:nvSpPr>
        <p:spPr>
          <a:xfrm>
            <a:off x="3968496" y="6400800"/>
            <a:ext cx="1572768" cy="45720"/>
          </a:xfrm>
          <a:prstGeom prst="rect">
            <a:avLst/>
          </a:prstGeom>
          <a:solidFill>
            <a:srgbClr val="DCD8D1"/>
          </a:solidFill>
          <a:ln/>
        </p:spPr>
      </p:sp>
      <p:sp>
        <p:nvSpPr>
          <p:cNvPr id="13" name="Text 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4" name="Shape 10"/>
          <p:cNvSpPr/>
          <p:nvPr/>
        </p:nvSpPr>
        <p:spPr>
          <a:xfrm>
            <a:off x="5632704" y="6400800"/>
            <a:ext cx="1572768" cy="45720"/>
          </a:xfrm>
          <a:prstGeom prst="rect">
            <a:avLst/>
          </a:prstGeom>
          <a:solidFill>
            <a:srgbClr val="DCD8D1"/>
          </a:solidFill>
          <a:ln/>
        </p:spPr>
      </p:sp>
      <p:sp>
        <p:nvSpPr>
          <p:cNvPr id="15" name="Text 1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6" name="Shape 12"/>
          <p:cNvSpPr/>
          <p:nvPr/>
        </p:nvSpPr>
        <p:spPr>
          <a:xfrm>
            <a:off x="7296912" y="6400800"/>
            <a:ext cx="1572768" cy="45720"/>
          </a:xfrm>
          <a:prstGeom prst="rect">
            <a:avLst/>
          </a:prstGeom>
          <a:solidFill>
            <a:srgbClr val="DCD8D1"/>
          </a:solidFill>
          <a:ln/>
        </p:spPr>
      </p:sp>
      <p:sp>
        <p:nvSpPr>
          <p:cNvPr id="17" name="Text 1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18" name="Shape 14"/>
          <p:cNvSpPr/>
          <p:nvPr/>
        </p:nvSpPr>
        <p:spPr>
          <a:xfrm>
            <a:off x="8961120" y="6400800"/>
            <a:ext cx="1572768" cy="45720"/>
          </a:xfrm>
          <a:prstGeom prst="rect">
            <a:avLst/>
          </a:prstGeom>
          <a:solidFill>
            <a:srgbClr val="DCD8D1"/>
          </a:solidFill>
          <a:ln/>
        </p:spPr>
      </p:sp>
      <p:sp>
        <p:nvSpPr>
          <p:cNvPr id="19" name="Text 1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20"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81798" y="91440"/>
            <a:ext cx="3569818" cy="237744"/>
          </a:xfrm>
          <a:prstGeom prst="roundRect">
            <a:avLst>
              <a:gd name="adj" fmla="val 50000"/>
            </a:avLst>
          </a:prstGeom>
          <a:solidFill>
            <a:srgbClr val="2F6B5F"/>
          </a:solidFill>
          <a:ln/>
        </p:spPr>
      </p:sp>
      <p:sp>
        <p:nvSpPr>
          <p:cNvPr id="3" name="Text 1"/>
          <p:cNvSpPr/>
          <p:nvPr/>
        </p:nvSpPr>
        <p:spPr>
          <a:xfrm>
            <a:off x="7981798" y="91440"/>
            <a:ext cx="3569818"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aturan keputusan ordinal, bukan argmax</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QWK menghitung jarak, jadi targetnya skala, bukan empat kotak.</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Bobot penaltinya kuadratik. Keputusan optimal untuk galat kuadratik adalah nilai harapan, bukan modus.</a:t>
            </a:r>
            <a:endParaRPr lang="en-US" sz="1250" dirty="0"/>
          </a:p>
        </p:txBody>
      </p:sp>
      <p:sp>
        <p:nvSpPr>
          <p:cNvPr id="6" name="Shape 4"/>
          <p:cNvSpPr/>
          <p:nvPr/>
        </p:nvSpPr>
        <p:spPr>
          <a:xfrm>
            <a:off x="640080" y="1371600"/>
            <a:ext cx="4206240" cy="1243584"/>
          </a:xfrm>
          <a:prstGeom prst="roundRect">
            <a:avLst>
              <a:gd name="adj" fmla="val 4412"/>
            </a:avLst>
          </a:prstGeom>
          <a:solidFill>
            <a:srgbClr val="16191D"/>
          </a:solidFill>
          <a:ln w="9525">
            <a:solidFill>
              <a:srgbClr val="16191D"/>
            </a:solidFill>
            <a:prstDash val="solid"/>
          </a:ln>
        </p:spPr>
      </p:sp>
      <p:sp>
        <p:nvSpPr>
          <p:cNvPr id="7" name="Text 5"/>
          <p:cNvSpPr/>
          <p:nvPr/>
        </p:nvSpPr>
        <p:spPr>
          <a:xfrm>
            <a:off x="640080" y="1536192"/>
            <a:ext cx="42062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κ  =  1  −  Σ wᵢⱼ Oᵢⱼ  /  Σ wᵢⱼ Eᵢⱼ</a:t>
            </a:r>
            <a:endParaRPr lang="en-US" sz="1600" dirty="0"/>
          </a:p>
        </p:txBody>
      </p:sp>
      <p:sp>
        <p:nvSpPr>
          <p:cNvPr id="8" name="Text 6"/>
          <p:cNvSpPr/>
          <p:nvPr/>
        </p:nvSpPr>
        <p:spPr>
          <a:xfrm>
            <a:off x="640080" y="2029968"/>
            <a:ext cx="4206240" cy="402336"/>
          </a:xfrm>
          <a:prstGeom prst="rect">
            <a:avLst/>
          </a:prstGeom>
          <a:noFill/>
          <a:ln/>
        </p:spPr>
        <p:txBody>
          <a:bodyPr wrap="square" lIns="0" tIns="0" rIns="0" bIns="0" rtlCol="0" anchor="ctr"/>
          <a:lstStyle/>
          <a:p>
            <a:pPr algn="ctr" indent="0" marL="0">
              <a:buNone/>
            </a:pPr>
            <a:r>
              <a:rPr lang="en-US" sz="1600" b="1" dirty="0">
                <a:solidFill>
                  <a:srgbClr val="8FB0A4"/>
                </a:solidFill>
                <a:latin typeface="Cambria" pitchFamily="34" charset="0"/>
                <a:ea typeface="Cambria" pitchFamily="34" charset="-122"/>
                <a:cs typeface="Cambria" pitchFamily="34" charset="-120"/>
              </a:rPr>
              <a:t>wᵢⱼ  =  (i − j)²  /  9</a:t>
            </a:r>
            <a:endParaRPr lang="en-US" sz="1600" dirty="0"/>
          </a:p>
        </p:txBody>
      </p:sp>
      <p:sp>
        <p:nvSpPr>
          <p:cNvPr id="9" name="Text 7"/>
          <p:cNvSpPr/>
          <p:nvPr/>
        </p:nvSpPr>
        <p:spPr>
          <a:xfrm>
            <a:off x="640080" y="2743200"/>
            <a:ext cx="4206240" cy="822960"/>
          </a:xfrm>
          <a:prstGeom prst="rect">
            <a:avLst/>
          </a:prstGeom>
          <a:noFill/>
          <a:ln/>
        </p:spPr>
        <p:txBody>
          <a:bodyPr wrap="square" lIns="0" tIns="0" rIns="0" bIns="0" rtlCol="0" anchor="t"/>
          <a:lstStyle/>
          <a:p>
            <a:pPr algn="l" indent="0" marL="0">
              <a:lnSpc>
                <a:spcPts val="1418"/>
              </a:lnSpc>
              <a:buNone/>
            </a:pPr>
            <a:r>
              <a:rPr lang="en-US" sz="1050" dirty="0">
                <a:solidFill>
                  <a:srgbClr val="3A4048"/>
                </a:solidFill>
                <a:latin typeface="Calibri" pitchFamily="34" charset="0"/>
                <a:ea typeface="Calibri" pitchFamily="34" charset="-122"/>
                <a:cs typeface="Calibri" pitchFamily="34" charset="-120"/>
              </a:rPr>
              <a:t>O matriks konfusi teramati, E matriks ekspektasi di bawah independensi. Diimplementasikan ulang secara tervektorisasi, 47 kali lebih cepat, selisih terhadap scikit-learn 4,44 × 10⁻¹⁶ pada 200 uji acak.</a:t>
            </a:r>
            <a:endParaRPr lang="en-US" sz="1050" dirty="0"/>
          </a:p>
        </p:txBody>
      </p:sp>
      <p:sp>
        <p:nvSpPr>
          <p:cNvPr id="10" name="Text 8"/>
          <p:cNvSpPr/>
          <p:nvPr/>
        </p:nvSpPr>
        <p:spPr>
          <a:xfrm>
            <a:off x="6583680" y="1216152"/>
            <a:ext cx="3474720"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prediksi</a:t>
            </a:r>
            <a:endParaRPr lang="en-US" sz="1050" dirty="0"/>
          </a:p>
        </p:txBody>
      </p:sp>
      <p:sp>
        <p:nvSpPr>
          <p:cNvPr id="11" name="Text 9"/>
          <p:cNvSpPr/>
          <p:nvPr/>
        </p:nvSpPr>
        <p:spPr>
          <a:xfrm>
            <a:off x="658368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2" name="Text 10"/>
          <p:cNvSpPr/>
          <p:nvPr/>
        </p:nvSpPr>
        <p:spPr>
          <a:xfrm>
            <a:off x="745236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832104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18972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15" name="Text 13"/>
          <p:cNvSpPr/>
          <p:nvPr/>
        </p:nvSpPr>
        <p:spPr>
          <a:xfrm>
            <a:off x="5102352" y="2578608"/>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aktual</a:t>
            </a:r>
            <a:endParaRPr lang="en-US" sz="1050" dirty="0"/>
          </a:p>
        </p:txBody>
      </p:sp>
      <p:sp>
        <p:nvSpPr>
          <p:cNvPr id="16" name="Text 14"/>
          <p:cNvSpPr/>
          <p:nvPr/>
        </p:nvSpPr>
        <p:spPr>
          <a:xfrm>
            <a:off x="6144768" y="1874520"/>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7" name="Shape 15"/>
          <p:cNvSpPr/>
          <p:nvPr/>
        </p:nvSpPr>
        <p:spPr>
          <a:xfrm>
            <a:off x="6583680" y="1874520"/>
            <a:ext cx="822960" cy="374904"/>
          </a:xfrm>
          <a:prstGeom prst="rect">
            <a:avLst/>
          </a:prstGeom>
          <a:solidFill>
            <a:srgbClr val="F4F1EC"/>
          </a:solidFill>
          <a:ln w="15240">
            <a:solidFill>
              <a:srgbClr val="FFFFFF"/>
            </a:solidFill>
            <a:prstDash val="solid"/>
          </a:ln>
        </p:spPr>
      </p:sp>
      <p:sp>
        <p:nvSpPr>
          <p:cNvPr id="18" name="Text 16"/>
          <p:cNvSpPr/>
          <p:nvPr/>
        </p:nvSpPr>
        <p:spPr>
          <a:xfrm>
            <a:off x="6583680" y="1874520"/>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19" name="Shape 17"/>
          <p:cNvSpPr/>
          <p:nvPr/>
        </p:nvSpPr>
        <p:spPr>
          <a:xfrm>
            <a:off x="7452360" y="1874520"/>
            <a:ext cx="822960" cy="374904"/>
          </a:xfrm>
          <a:prstGeom prst="rect">
            <a:avLst/>
          </a:prstGeom>
          <a:solidFill>
            <a:srgbClr val="8FB0A4"/>
          </a:solidFill>
          <a:ln w="15240">
            <a:solidFill>
              <a:srgbClr val="FFFFFF"/>
            </a:solidFill>
            <a:prstDash val="solid"/>
          </a:ln>
        </p:spPr>
      </p:sp>
      <p:sp>
        <p:nvSpPr>
          <p:cNvPr id="20" name="Text 18"/>
          <p:cNvSpPr/>
          <p:nvPr/>
        </p:nvSpPr>
        <p:spPr>
          <a:xfrm>
            <a:off x="7452360" y="1874520"/>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21" name="Shape 19"/>
          <p:cNvSpPr/>
          <p:nvPr/>
        </p:nvSpPr>
        <p:spPr>
          <a:xfrm>
            <a:off x="8321040" y="1874520"/>
            <a:ext cx="822960" cy="374904"/>
          </a:xfrm>
          <a:prstGeom prst="rect">
            <a:avLst/>
          </a:prstGeom>
          <a:solidFill>
            <a:srgbClr val="D8A25E"/>
          </a:solidFill>
          <a:ln w="15240">
            <a:solidFill>
              <a:srgbClr val="FFFFFF"/>
            </a:solidFill>
            <a:prstDash val="solid"/>
          </a:ln>
        </p:spPr>
      </p:sp>
      <p:sp>
        <p:nvSpPr>
          <p:cNvPr id="22" name="Text 20"/>
          <p:cNvSpPr/>
          <p:nvPr/>
        </p:nvSpPr>
        <p:spPr>
          <a:xfrm>
            <a:off x="8321040" y="1874520"/>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3" name="Shape 21"/>
          <p:cNvSpPr/>
          <p:nvPr/>
        </p:nvSpPr>
        <p:spPr>
          <a:xfrm>
            <a:off x="9189720" y="1874520"/>
            <a:ext cx="822960" cy="374904"/>
          </a:xfrm>
          <a:prstGeom prst="rect">
            <a:avLst/>
          </a:prstGeom>
          <a:solidFill>
            <a:srgbClr val="A8442A"/>
          </a:solidFill>
          <a:ln w="15240">
            <a:solidFill>
              <a:srgbClr val="FFFFFF"/>
            </a:solidFill>
            <a:prstDash val="solid"/>
          </a:ln>
        </p:spPr>
      </p:sp>
      <p:sp>
        <p:nvSpPr>
          <p:cNvPr id="24" name="Text 22"/>
          <p:cNvSpPr/>
          <p:nvPr/>
        </p:nvSpPr>
        <p:spPr>
          <a:xfrm>
            <a:off x="9189720" y="1874520"/>
            <a:ext cx="822960" cy="3749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25" name="Text 23"/>
          <p:cNvSpPr/>
          <p:nvPr/>
        </p:nvSpPr>
        <p:spPr>
          <a:xfrm>
            <a:off x="6144768" y="2295144"/>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6" name="Shape 24"/>
          <p:cNvSpPr/>
          <p:nvPr/>
        </p:nvSpPr>
        <p:spPr>
          <a:xfrm>
            <a:off x="6583680" y="2295144"/>
            <a:ext cx="822960" cy="374904"/>
          </a:xfrm>
          <a:prstGeom prst="rect">
            <a:avLst/>
          </a:prstGeom>
          <a:solidFill>
            <a:srgbClr val="8FB0A4"/>
          </a:solidFill>
          <a:ln w="15240">
            <a:solidFill>
              <a:srgbClr val="FFFFFF"/>
            </a:solidFill>
            <a:prstDash val="solid"/>
          </a:ln>
        </p:spPr>
      </p:sp>
      <p:sp>
        <p:nvSpPr>
          <p:cNvPr id="27" name="Text 25"/>
          <p:cNvSpPr/>
          <p:nvPr/>
        </p:nvSpPr>
        <p:spPr>
          <a:xfrm>
            <a:off x="658368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28" name="Shape 26"/>
          <p:cNvSpPr/>
          <p:nvPr/>
        </p:nvSpPr>
        <p:spPr>
          <a:xfrm>
            <a:off x="7452360" y="2295144"/>
            <a:ext cx="822960" cy="374904"/>
          </a:xfrm>
          <a:prstGeom prst="rect">
            <a:avLst/>
          </a:prstGeom>
          <a:solidFill>
            <a:srgbClr val="F4F1EC"/>
          </a:solidFill>
          <a:ln w="15240">
            <a:solidFill>
              <a:srgbClr val="FFFFFF"/>
            </a:solidFill>
            <a:prstDash val="solid"/>
          </a:ln>
        </p:spPr>
      </p:sp>
      <p:sp>
        <p:nvSpPr>
          <p:cNvPr id="29" name="Text 27"/>
          <p:cNvSpPr/>
          <p:nvPr/>
        </p:nvSpPr>
        <p:spPr>
          <a:xfrm>
            <a:off x="7452360" y="2295144"/>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30" name="Shape 28"/>
          <p:cNvSpPr/>
          <p:nvPr/>
        </p:nvSpPr>
        <p:spPr>
          <a:xfrm>
            <a:off x="8321040" y="2295144"/>
            <a:ext cx="822960" cy="374904"/>
          </a:xfrm>
          <a:prstGeom prst="rect">
            <a:avLst/>
          </a:prstGeom>
          <a:solidFill>
            <a:srgbClr val="8FB0A4"/>
          </a:solidFill>
          <a:ln w="15240">
            <a:solidFill>
              <a:srgbClr val="FFFFFF"/>
            </a:solidFill>
            <a:prstDash val="solid"/>
          </a:ln>
        </p:spPr>
      </p:sp>
      <p:sp>
        <p:nvSpPr>
          <p:cNvPr id="31" name="Text 29"/>
          <p:cNvSpPr/>
          <p:nvPr/>
        </p:nvSpPr>
        <p:spPr>
          <a:xfrm>
            <a:off x="832104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32" name="Shape 30"/>
          <p:cNvSpPr/>
          <p:nvPr/>
        </p:nvSpPr>
        <p:spPr>
          <a:xfrm>
            <a:off x="9189720" y="2295144"/>
            <a:ext cx="822960" cy="374904"/>
          </a:xfrm>
          <a:prstGeom prst="rect">
            <a:avLst/>
          </a:prstGeom>
          <a:solidFill>
            <a:srgbClr val="D8A25E"/>
          </a:solidFill>
          <a:ln w="15240">
            <a:solidFill>
              <a:srgbClr val="FFFFFF"/>
            </a:solidFill>
            <a:prstDash val="solid"/>
          </a:ln>
        </p:spPr>
      </p:sp>
      <p:sp>
        <p:nvSpPr>
          <p:cNvPr id="33" name="Text 31"/>
          <p:cNvSpPr/>
          <p:nvPr/>
        </p:nvSpPr>
        <p:spPr>
          <a:xfrm>
            <a:off x="918972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34" name="Text 32"/>
          <p:cNvSpPr/>
          <p:nvPr/>
        </p:nvSpPr>
        <p:spPr>
          <a:xfrm>
            <a:off x="6144768" y="2715768"/>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35" name="Shape 33"/>
          <p:cNvSpPr/>
          <p:nvPr/>
        </p:nvSpPr>
        <p:spPr>
          <a:xfrm>
            <a:off x="6583680" y="2715768"/>
            <a:ext cx="822960" cy="374904"/>
          </a:xfrm>
          <a:prstGeom prst="rect">
            <a:avLst/>
          </a:prstGeom>
          <a:solidFill>
            <a:srgbClr val="D8A25E"/>
          </a:solidFill>
          <a:ln w="15240">
            <a:solidFill>
              <a:srgbClr val="FFFFFF"/>
            </a:solidFill>
            <a:prstDash val="solid"/>
          </a:ln>
        </p:spPr>
      </p:sp>
      <p:sp>
        <p:nvSpPr>
          <p:cNvPr id="36" name="Text 34"/>
          <p:cNvSpPr/>
          <p:nvPr/>
        </p:nvSpPr>
        <p:spPr>
          <a:xfrm>
            <a:off x="658368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37" name="Shape 35"/>
          <p:cNvSpPr/>
          <p:nvPr/>
        </p:nvSpPr>
        <p:spPr>
          <a:xfrm>
            <a:off x="7452360" y="2715768"/>
            <a:ext cx="822960" cy="374904"/>
          </a:xfrm>
          <a:prstGeom prst="rect">
            <a:avLst/>
          </a:prstGeom>
          <a:solidFill>
            <a:srgbClr val="8FB0A4"/>
          </a:solidFill>
          <a:ln w="15240">
            <a:solidFill>
              <a:srgbClr val="FFFFFF"/>
            </a:solidFill>
            <a:prstDash val="solid"/>
          </a:ln>
        </p:spPr>
      </p:sp>
      <p:sp>
        <p:nvSpPr>
          <p:cNvPr id="38" name="Text 36"/>
          <p:cNvSpPr/>
          <p:nvPr/>
        </p:nvSpPr>
        <p:spPr>
          <a:xfrm>
            <a:off x="745236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39" name="Shape 37"/>
          <p:cNvSpPr/>
          <p:nvPr/>
        </p:nvSpPr>
        <p:spPr>
          <a:xfrm>
            <a:off x="8321040" y="2715768"/>
            <a:ext cx="822960" cy="374904"/>
          </a:xfrm>
          <a:prstGeom prst="rect">
            <a:avLst/>
          </a:prstGeom>
          <a:solidFill>
            <a:srgbClr val="F4F1EC"/>
          </a:solidFill>
          <a:ln w="15240">
            <a:solidFill>
              <a:srgbClr val="FFFFFF"/>
            </a:solidFill>
            <a:prstDash val="solid"/>
          </a:ln>
        </p:spPr>
      </p:sp>
      <p:sp>
        <p:nvSpPr>
          <p:cNvPr id="40" name="Text 38"/>
          <p:cNvSpPr/>
          <p:nvPr/>
        </p:nvSpPr>
        <p:spPr>
          <a:xfrm>
            <a:off x="8321040" y="2715768"/>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41" name="Shape 39"/>
          <p:cNvSpPr/>
          <p:nvPr/>
        </p:nvSpPr>
        <p:spPr>
          <a:xfrm>
            <a:off x="9189720" y="2715768"/>
            <a:ext cx="822960" cy="374904"/>
          </a:xfrm>
          <a:prstGeom prst="rect">
            <a:avLst/>
          </a:prstGeom>
          <a:solidFill>
            <a:srgbClr val="8FB0A4"/>
          </a:solidFill>
          <a:ln w="15240">
            <a:solidFill>
              <a:srgbClr val="FFFFFF"/>
            </a:solidFill>
            <a:prstDash val="solid"/>
          </a:ln>
        </p:spPr>
      </p:sp>
      <p:sp>
        <p:nvSpPr>
          <p:cNvPr id="42" name="Text 40"/>
          <p:cNvSpPr/>
          <p:nvPr/>
        </p:nvSpPr>
        <p:spPr>
          <a:xfrm>
            <a:off x="918972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43" name="Text 41"/>
          <p:cNvSpPr/>
          <p:nvPr/>
        </p:nvSpPr>
        <p:spPr>
          <a:xfrm>
            <a:off x="6144768" y="3136392"/>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44" name="Shape 42"/>
          <p:cNvSpPr/>
          <p:nvPr/>
        </p:nvSpPr>
        <p:spPr>
          <a:xfrm>
            <a:off x="6583680" y="3136392"/>
            <a:ext cx="822960" cy="374904"/>
          </a:xfrm>
          <a:prstGeom prst="rect">
            <a:avLst/>
          </a:prstGeom>
          <a:solidFill>
            <a:srgbClr val="A8442A"/>
          </a:solidFill>
          <a:ln w="15240">
            <a:solidFill>
              <a:srgbClr val="FFFFFF"/>
            </a:solidFill>
            <a:prstDash val="solid"/>
          </a:ln>
        </p:spPr>
      </p:sp>
      <p:sp>
        <p:nvSpPr>
          <p:cNvPr id="45" name="Text 43"/>
          <p:cNvSpPr/>
          <p:nvPr/>
        </p:nvSpPr>
        <p:spPr>
          <a:xfrm>
            <a:off x="6583680" y="3136392"/>
            <a:ext cx="822960" cy="3749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6" name="Shape 44"/>
          <p:cNvSpPr/>
          <p:nvPr/>
        </p:nvSpPr>
        <p:spPr>
          <a:xfrm>
            <a:off x="7452360" y="3136392"/>
            <a:ext cx="822960" cy="374904"/>
          </a:xfrm>
          <a:prstGeom prst="rect">
            <a:avLst/>
          </a:prstGeom>
          <a:solidFill>
            <a:srgbClr val="D8A25E"/>
          </a:solidFill>
          <a:ln w="15240">
            <a:solidFill>
              <a:srgbClr val="FFFFFF"/>
            </a:solidFill>
            <a:prstDash val="solid"/>
          </a:ln>
        </p:spPr>
      </p:sp>
      <p:sp>
        <p:nvSpPr>
          <p:cNvPr id="47" name="Text 45"/>
          <p:cNvSpPr/>
          <p:nvPr/>
        </p:nvSpPr>
        <p:spPr>
          <a:xfrm>
            <a:off x="7452360" y="3136392"/>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48" name="Shape 46"/>
          <p:cNvSpPr/>
          <p:nvPr/>
        </p:nvSpPr>
        <p:spPr>
          <a:xfrm>
            <a:off x="8321040" y="3136392"/>
            <a:ext cx="822960" cy="374904"/>
          </a:xfrm>
          <a:prstGeom prst="rect">
            <a:avLst/>
          </a:prstGeom>
          <a:solidFill>
            <a:srgbClr val="8FB0A4"/>
          </a:solidFill>
          <a:ln w="15240">
            <a:solidFill>
              <a:srgbClr val="FFFFFF"/>
            </a:solidFill>
            <a:prstDash val="solid"/>
          </a:ln>
        </p:spPr>
      </p:sp>
      <p:sp>
        <p:nvSpPr>
          <p:cNvPr id="49" name="Text 47"/>
          <p:cNvSpPr/>
          <p:nvPr/>
        </p:nvSpPr>
        <p:spPr>
          <a:xfrm>
            <a:off x="8321040" y="3136392"/>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50" name="Shape 48"/>
          <p:cNvSpPr/>
          <p:nvPr/>
        </p:nvSpPr>
        <p:spPr>
          <a:xfrm>
            <a:off x="9189720" y="3136392"/>
            <a:ext cx="822960" cy="374904"/>
          </a:xfrm>
          <a:prstGeom prst="rect">
            <a:avLst/>
          </a:prstGeom>
          <a:solidFill>
            <a:srgbClr val="F4F1EC"/>
          </a:solidFill>
          <a:ln w="15240">
            <a:solidFill>
              <a:srgbClr val="FFFFFF"/>
            </a:solidFill>
            <a:prstDash val="solid"/>
          </a:ln>
        </p:spPr>
      </p:sp>
      <p:sp>
        <p:nvSpPr>
          <p:cNvPr id="51" name="Text 49"/>
          <p:cNvSpPr/>
          <p:nvPr/>
        </p:nvSpPr>
        <p:spPr>
          <a:xfrm>
            <a:off x="9189720" y="3136392"/>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52" name="Text 50"/>
          <p:cNvSpPr/>
          <p:nvPr/>
        </p:nvSpPr>
        <p:spPr>
          <a:xfrm>
            <a:off x="10195560" y="1965960"/>
            <a:ext cx="1371600" cy="1463040"/>
          </a:xfrm>
          <a:prstGeom prst="rect">
            <a:avLst/>
          </a:prstGeom>
          <a:noFill/>
          <a:ln/>
        </p:spPr>
        <p:txBody>
          <a:bodyPr wrap="square" lIns="0" tIns="0" rIns="0" bIns="0" rtlCol="0" anchor="t"/>
          <a:lstStyle/>
          <a:p>
            <a:pPr algn="l" indent="0" marL="0">
              <a:lnSpc>
                <a:spcPts val="1418"/>
              </a:lnSpc>
              <a:buNone/>
            </a:pPr>
            <a:r>
              <a:rPr lang="en-US" sz="1050" b="1" dirty="0">
                <a:solidFill>
                  <a:srgbClr val="A8442A"/>
                </a:solidFill>
                <a:latin typeface="Calibri" pitchFamily="34" charset="0"/>
                <a:ea typeface="Calibri" pitchFamily="34" charset="-122"/>
                <a:cs typeface="Calibri" pitchFamily="34" charset="-120"/>
              </a:rPr>
              <a:t>Menebak kelas 4 sebagai 1 dihukum 9 kali lebih berat daripada menebak 2 sebagai 1.</a:t>
            </a:r>
            <a:endParaRPr lang="en-US" sz="1050" dirty="0"/>
          </a:p>
        </p:txBody>
      </p:sp>
      <p:sp>
        <p:nvSpPr>
          <p:cNvPr id="53" name="Text 51"/>
          <p:cNvSpPr/>
          <p:nvPr/>
        </p:nvSpPr>
        <p:spPr>
          <a:xfrm>
            <a:off x="640080" y="3767328"/>
            <a:ext cx="10911535" cy="411480"/>
          </a:xfrm>
          <a:prstGeom prst="rect">
            <a:avLst/>
          </a:prstGeom>
          <a:noFill/>
          <a:ln/>
        </p:spPr>
        <p:txBody>
          <a:bodyPr wrap="square" lIns="0" tIns="0" rIns="0" bIns="0" rtlCol="0" anchor="ctr"/>
          <a:lstStyle/>
          <a:p>
            <a:pPr algn="ctr" indent="0" marL="0">
              <a:buNone/>
            </a:pPr>
            <a:r>
              <a:rPr lang="en-US" sz="2000" b="1" dirty="0">
                <a:solidFill>
                  <a:srgbClr val="16191D"/>
                </a:solidFill>
                <a:latin typeface="Cambria" pitchFamily="34" charset="0"/>
                <a:ea typeface="Cambria" pitchFamily="34" charset="-122"/>
                <a:cs typeface="Cambria" pitchFamily="34" charset="-120"/>
              </a:rPr>
              <a:t>E[y]  =  Σ pₖ · k</a:t>
            </a:r>
            <a:endParaRPr lang="en-US" sz="2000" dirty="0"/>
          </a:p>
        </p:txBody>
      </p:sp>
      <p:sp>
        <p:nvSpPr>
          <p:cNvPr id="54" name="Shape 52"/>
          <p:cNvSpPr/>
          <p:nvPr/>
        </p:nvSpPr>
        <p:spPr>
          <a:xfrm>
            <a:off x="1005840" y="4315968"/>
            <a:ext cx="2797803" cy="658368"/>
          </a:xfrm>
          <a:prstGeom prst="rect">
            <a:avLst/>
          </a:prstGeom>
          <a:solidFill>
            <a:srgbClr val="2F6B5F"/>
          </a:solidFill>
          <a:ln w="19050">
            <a:solidFill>
              <a:srgbClr val="FFFFFF"/>
            </a:solidFill>
            <a:prstDash val="solid"/>
          </a:ln>
        </p:spPr>
      </p:sp>
      <p:sp>
        <p:nvSpPr>
          <p:cNvPr id="55" name="Text 53"/>
          <p:cNvSpPr/>
          <p:nvPr/>
        </p:nvSpPr>
        <p:spPr>
          <a:xfrm>
            <a:off x="1005840" y="4315968"/>
            <a:ext cx="2797803"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1</a:t>
            </a:r>
            <a:endParaRPr lang="en-US" sz="1200" dirty="0"/>
          </a:p>
        </p:txBody>
      </p:sp>
      <p:sp>
        <p:nvSpPr>
          <p:cNvPr id="56" name="Shape 54"/>
          <p:cNvSpPr/>
          <p:nvPr/>
        </p:nvSpPr>
        <p:spPr>
          <a:xfrm>
            <a:off x="3803643" y="4315968"/>
            <a:ext cx="2302999" cy="658368"/>
          </a:xfrm>
          <a:prstGeom prst="rect">
            <a:avLst/>
          </a:prstGeom>
          <a:solidFill>
            <a:srgbClr val="8FB0A4"/>
          </a:solidFill>
          <a:ln w="19050">
            <a:solidFill>
              <a:srgbClr val="FFFFFF"/>
            </a:solidFill>
            <a:prstDash val="solid"/>
          </a:ln>
        </p:spPr>
      </p:sp>
      <p:sp>
        <p:nvSpPr>
          <p:cNvPr id="57" name="Text 55"/>
          <p:cNvSpPr/>
          <p:nvPr/>
        </p:nvSpPr>
        <p:spPr>
          <a:xfrm>
            <a:off x="3803643" y="4315968"/>
            <a:ext cx="2302999" cy="65836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kelas 2</a:t>
            </a:r>
            <a:endParaRPr lang="en-US" sz="1200" dirty="0"/>
          </a:p>
        </p:txBody>
      </p:sp>
      <p:sp>
        <p:nvSpPr>
          <p:cNvPr id="58" name="Shape 56"/>
          <p:cNvSpPr/>
          <p:nvPr/>
        </p:nvSpPr>
        <p:spPr>
          <a:xfrm>
            <a:off x="6106642" y="4315968"/>
            <a:ext cx="1974651" cy="658368"/>
          </a:xfrm>
          <a:prstGeom prst="rect">
            <a:avLst/>
          </a:prstGeom>
          <a:solidFill>
            <a:srgbClr val="D8A25E"/>
          </a:solidFill>
          <a:ln w="19050">
            <a:solidFill>
              <a:srgbClr val="FFFFFF"/>
            </a:solidFill>
            <a:prstDash val="solid"/>
          </a:ln>
        </p:spPr>
      </p:sp>
      <p:sp>
        <p:nvSpPr>
          <p:cNvPr id="59" name="Text 57"/>
          <p:cNvSpPr/>
          <p:nvPr/>
        </p:nvSpPr>
        <p:spPr>
          <a:xfrm>
            <a:off x="6106642" y="4315968"/>
            <a:ext cx="1974651"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3</a:t>
            </a:r>
            <a:endParaRPr lang="en-US" sz="1200" dirty="0"/>
          </a:p>
        </p:txBody>
      </p:sp>
      <p:sp>
        <p:nvSpPr>
          <p:cNvPr id="60" name="Shape 58"/>
          <p:cNvSpPr/>
          <p:nvPr/>
        </p:nvSpPr>
        <p:spPr>
          <a:xfrm>
            <a:off x="8081293" y="4315968"/>
            <a:ext cx="3074387" cy="658368"/>
          </a:xfrm>
          <a:prstGeom prst="rect">
            <a:avLst/>
          </a:prstGeom>
          <a:solidFill>
            <a:srgbClr val="A8442A"/>
          </a:solidFill>
          <a:ln w="19050">
            <a:solidFill>
              <a:srgbClr val="FFFFFF"/>
            </a:solidFill>
            <a:prstDash val="solid"/>
          </a:ln>
        </p:spPr>
      </p:sp>
      <p:sp>
        <p:nvSpPr>
          <p:cNvPr id="61" name="Text 59"/>
          <p:cNvSpPr/>
          <p:nvPr/>
        </p:nvSpPr>
        <p:spPr>
          <a:xfrm>
            <a:off x="8081293" y="4315968"/>
            <a:ext cx="3074387"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4</a:t>
            </a:r>
            <a:endParaRPr lang="en-US" sz="1200" dirty="0"/>
          </a:p>
        </p:txBody>
      </p:sp>
      <p:sp>
        <p:nvSpPr>
          <p:cNvPr id="62" name="Shape 60"/>
          <p:cNvSpPr/>
          <p:nvPr/>
        </p:nvSpPr>
        <p:spPr>
          <a:xfrm>
            <a:off x="3803643" y="4315968"/>
            <a:ext cx="0" cy="841248"/>
          </a:xfrm>
          <a:prstGeom prst="line">
            <a:avLst/>
          </a:prstGeom>
          <a:noFill/>
          <a:ln w="17780">
            <a:solidFill>
              <a:srgbClr val="16191D"/>
            </a:solidFill>
            <a:prstDash val="solid"/>
          </a:ln>
        </p:spPr>
      </p:sp>
      <p:sp>
        <p:nvSpPr>
          <p:cNvPr id="63" name="Text 61"/>
          <p:cNvSpPr/>
          <p:nvPr/>
        </p:nvSpPr>
        <p:spPr>
          <a:xfrm>
            <a:off x="3026403"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t1  1,5513</a:t>
            </a:r>
            <a:endParaRPr lang="en-US" sz="1050" dirty="0"/>
          </a:p>
        </p:txBody>
      </p:sp>
      <p:sp>
        <p:nvSpPr>
          <p:cNvPr id="64" name="Shape 62"/>
          <p:cNvSpPr/>
          <p:nvPr/>
        </p:nvSpPr>
        <p:spPr>
          <a:xfrm>
            <a:off x="6106642" y="4315968"/>
            <a:ext cx="0" cy="841248"/>
          </a:xfrm>
          <a:prstGeom prst="line">
            <a:avLst/>
          </a:prstGeom>
          <a:noFill/>
          <a:ln w="17780">
            <a:solidFill>
              <a:srgbClr val="16191D"/>
            </a:solidFill>
            <a:prstDash val="solid"/>
          </a:ln>
        </p:spPr>
      </p:sp>
      <p:sp>
        <p:nvSpPr>
          <p:cNvPr id="65" name="Text 63"/>
          <p:cNvSpPr/>
          <p:nvPr/>
        </p:nvSpPr>
        <p:spPr>
          <a:xfrm>
            <a:off x="5329402"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t2  2,0051</a:t>
            </a:r>
            <a:endParaRPr lang="en-US" sz="1050" dirty="0"/>
          </a:p>
        </p:txBody>
      </p:sp>
      <p:sp>
        <p:nvSpPr>
          <p:cNvPr id="66" name="Shape 64"/>
          <p:cNvSpPr/>
          <p:nvPr/>
        </p:nvSpPr>
        <p:spPr>
          <a:xfrm>
            <a:off x="8081293" y="4315968"/>
            <a:ext cx="0" cy="841248"/>
          </a:xfrm>
          <a:prstGeom prst="line">
            <a:avLst/>
          </a:prstGeom>
          <a:noFill/>
          <a:ln w="17780">
            <a:solidFill>
              <a:srgbClr val="16191D"/>
            </a:solidFill>
            <a:prstDash val="solid"/>
          </a:ln>
        </p:spPr>
      </p:sp>
      <p:sp>
        <p:nvSpPr>
          <p:cNvPr id="67" name="Text 65"/>
          <p:cNvSpPr/>
          <p:nvPr/>
        </p:nvSpPr>
        <p:spPr>
          <a:xfrm>
            <a:off x="7304053"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t3  2,3942</a:t>
            </a:r>
            <a:endParaRPr lang="en-US" sz="1050" dirty="0"/>
          </a:p>
        </p:txBody>
      </p:sp>
      <p:sp>
        <p:nvSpPr>
          <p:cNvPr id="68" name="Text 66"/>
          <p:cNvSpPr/>
          <p:nvPr/>
        </p:nvSpPr>
        <p:spPr>
          <a:xfrm>
            <a:off x="640080" y="5742432"/>
            <a:ext cx="10911535" cy="365760"/>
          </a:xfrm>
          <a:prstGeom prst="rect">
            <a:avLst/>
          </a:prstGeom>
          <a:noFill/>
          <a:ln/>
        </p:spPr>
        <p:txBody>
          <a:bodyPr wrap="square" lIns="0" tIns="0" rIns="0" bIns="0" rtlCol="0" anchor="t"/>
          <a:lstStyle/>
          <a:p>
            <a:pPr algn="ctr" indent="0" marL="0">
              <a:lnSpc>
                <a:spcPts val="1553"/>
              </a:lnSpc>
              <a:buNone/>
            </a:pPr>
            <a:r>
              <a:rPr lang="en-US" sz="1150" dirty="0">
                <a:solidFill>
                  <a:srgbClr val="3A4048"/>
                </a:solidFill>
                <a:latin typeface="Calibri" pitchFamily="34" charset="0"/>
                <a:ea typeface="Calibri" pitchFamily="34" charset="-122"/>
                <a:cs typeface="Calibri" pitchFamily="34" charset="-120"/>
              </a:rPr>
              <a:t>Tiga ambang itulah keputusan akhir pipeline. Seluruhnya diestimasi dari prediksi out-of-fold data latih, tidak pernah dari data uji.</a:t>
            </a:r>
            <a:endParaRPr lang="en-US" sz="1150" dirty="0"/>
          </a:p>
        </p:txBody>
      </p:sp>
      <p:sp>
        <p:nvSpPr>
          <p:cNvPr id="70" name="Shape 67"/>
          <p:cNvSpPr/>
          <p:nvPr/>
        </p:nvSpPr>
        <p:spPr>
          <a:xfrm>
            <a:off x="640080" y="6400800"/>
            <a:ext cx="1572768" cy="45720"/>
          </a:xfrm>
          <a:prstGeom prst="rect">
            <a:avLst/>
          </a:prstGeom>
          <a:solidFill>
            <a:srgbClr val="A8442A"/>
          </a:solidFill>
          <a:ln/>
        </p:spPr>
      </p:sp>
      <p:sp>
        <p:nvSpPr>
          <p:cNvPr id="71" name="Text 6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72" name="Shape 69"/>
          <p:cNvSpPr/>
          <p:nvPr/>
        </p:nvSpPr>
        <p:spPr>
          <a:xfrm>
            <a:off x="2304288" y="6400800"/>
            <a:ext cx="1572768" cy="45720"/>
          </a:xfrm>
          <a:prstGeom prst="rect">
            <a:avLst/>
          </a:prstGeom>
          <a:solidFill>
            <a:srgbClr val="DCD8D1"/>
          </a:solidFill>
          <a:ln/>
        </p:spPr>
      </p:sp>
      <p:sp>
        <p:nvSpPr>
          <p:cNvPr id="73" name="Text 7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74" name="Shape 71"/>
          <p:cNvSpPr/>
          <p:nvPr/>
        </p:nvSpPr>
        <p:spPr>
          <a:xfrm>
            <a:off x="3968496" y="6400800"/>
            <a:ext cx="1572768" cy="45720"/>
          </a:xfrm>
          <a:prstGeom prst="rect">
            <a:avLst/>
          </a:prstGeom>
          <a:solidFill>
            <a:srgbClr val="DCD8D1"/>
          </a:solidFill>
          <a:ln/>
        </p:spPr>
      </p:sp>
      <p:sp>
        <p:nvSpPr>
          <p:cNvPr id="75" name="Text 7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6" name="Shape 73"/>
          <p:cNvSpPr/>
          <p:nvPr/>
        </p:nvSpPr>
        <p:spPr>
          <a:xfrm>
            <a:off x="5632704" y="6400800"/>
            <a:ext cx="1572768" cy="45720"/>
          </a:xfrm>
          <a:prstGeom prst="rect">
            <a:avLst/>
          </a:prstGeom>
          <a:solidFill>
            <a:srgbClr val="DCD8D1"/>
          </a:solidFill>
          <a:ln/>
        </p:spPr>
      </p:sp>
      <p:sp>
        <p:nvSpPr>
          <p:cNvPr id="77" name="Text 7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8" name="Shape 75"/>
          <p:cNvSpPr/>
          <p:nvPr/>
        </p:nvSpPr>
        <p:spPr>
          <a:xfrm>
            <a:off x="7296912" y="6400800"/>
            <a:ext cx="1572768" cy="45720"/>
          </a:xfrm>
          <a:prstGeom prst="rect">
            <a:avLst/>
          </a:prstGeom>
          <a:solidFill>
            <a:srgbClr val="DCD8D1"/>
          </a:solidFill>
          <a:ln/>
        </p:spPr>
      </p:sp>
      <p:sp>
        <p:nvSpPr>
          <p:cNvPr id="79" name="Text 7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80" name="Shape 77"/>
          <p:cNvSpPr/>
          <p:nvPr/>
        </p:nvSpPr>
        <p:spPr>
          <a:xfrm>
            <a:off x="8961120" y="6400800"/>
            <a:ext cx="1572768" cy="45720"/>
          </a:xfrm>
          <a:prstGeom prst="rect">
            <a:avLst/>
          </a:prstGeom>
          <a:solidFill>
            <a:srgbClr val="DCD8D1"/>
          </a:solidFill>
          <a:ln/>
        </p:spPr>
      </p:sp>
      <p:sp>
        <p:nvSpPr>
          <p:cNvPr id="81" name="Text 7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2" name="Text 7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Kenapa masalah ini sulit: empat akar, empat jawaban.</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Setiap akar menentukan satu babak berikutnya. Deck ini disusun mengikuti pohon ini.</a:t>
            </a:r>
            <a:endParaRPr lang="en-US" sz="1400" dirty="0"/>
          </a:p>
        </p:txBody>
      </p:sp>
      <p:sp>
        <p:nvSpPr>
          <p:cNvPr id="4" name="Shape 2"/>
          <p:cNvSpPr/>
          <p:nvPr/>
        </p:nvSpPr>
        <p:spPr>
          <a:xfrm>
            <a:off x="640080" y="2926080"/>
            <a:ext cx="2011680" cy="2103120"/>
          </a:xfrm>
          <a:prstGeom prst="roundRect">
            <a:avLst>
              <a:gd name="adj" fmla="val 2727"/>
            </a:avLst>
          </a:prstGeom>
          <a:solidFill>
            <a:srgbClr val="16191D"/>
          </a:solidFill>
          <a:ln w="9525">
            <a:solidFill>
              <a:srgbClr val="16191D"/>
            </a:solidFill>
            <a:prstDash val="solid"/>
          </a:ln>
        </p:spPr>
      </p:sp>
      <p:sp>
        <p:nvSpPr>
          <p:cNvPr id="5" name="Text 3"/>
          <p:cNvSpPr/>
          <p:nvPr/>
        </p:nvSpPr>
        <p:spPr>
          <a:xfrm>
            <a:off x="822960" y="2926080"/>
            <a:ext cx="1645920" cy="2103120"/>
          </a:xfrm>
          <a:prstGeom prst="rect">
            <a:avLst/>
          </a:prstGeom>
          <a:noFill/>
          <a:ln/>
        </p:spPr>
        <p:txBody>
          <a:bodyPr wrap="square" lIns="0" tIns="0" rIns="0" bIns="0" rtlCol="0" anchor="ctr"/>
          <a:lstStyle/>
          <a:p>
            <a:pPr algn="ctr" indent="0" marL="0">
              <a:lnSpc>
                <a:spcPts val="1900"/>
              </a:lnSpc>
              <a:buNone/>
            </a:pPr>
            <a:r>
              <a:rPr lang="en-US" sz="1450" b="1" dirty="0">
                <a:solidFill>
                  <a:srgbClr val="FFFFFF"/>
                </a:solidFill>
                <a:latin typeface="Cambria" pitchFamily="34" charset="0"/>
                <a:ea typeface="Cambria" pitchFamily="34" charset="-122"/>
                <a:cs typeface="Cambria" pitchFamily="34" charset="-120"/>
              </a:rPr>
              <a:t>Prediksi kepuasan hidup yang naif gagal</a:t>
            </a:r>
            <a:endParaRPr lang="en-US" sz="1450" dirty="0"/>
          </a:p>
        </p:txBody>
      </p:sp>
      <p:sp>
        <p:nvSpPr>
          <p:cNvPr id="6" name="Shape 4"/>
          <p:cNvSpPr/>
          <p:nvPr/>
        </p:nvSpPr>
        <p:spPr>
          <a:xfrm>
            <a:off x="2651760" y="3977640"/>
            <a:ext cx="301752" cy="0"/>
          </a:xfrm>
          <a:prstGeom prst="line">
            <a:avLst/>
          </a:prstGeom>
          <a:noFill/>
          <a:ln w="17780">
            <a:solidFill>
              <a:srgbClr val="16191D"/>
            </a:solidFill>
            <a:prstDash val="solid"/>
          </a:ln>
        </p:spPr>
      </p:sp>
      <p:sp>
        <p:nvSpPr>
          <p:cNvPr id="7" name="Shape 5"/>
          <p:cNvSpPr/>
          <p:nvPr/>
        </p:nvSpPr>
        <p:spPr>
          <a:xfrm>
            <a:off x="2953512" y="2487168"/>
            <a:ext cx="0" cy="2980944"/>
          </a:xfrm>
          <a:prstGeom prst="line">
            <a:avLst/>
          </a:prstGeom>
          <a:noFill/>
          <a:ln w="17780">
            <a:solidFill>
              <a:srgbClr val="16191D"/>
            </a:solidFill>
            <a:prstDash val="solid"/>
          </a:ln>
        </p:spPr>
      </p:sp>
      <p:sp>
        <p:nvSpPr>
          <p:cNvPr id="8" name="Text 6"/>
          <p:cNvSpPr/>
          <p:nvPr/>
        </p:nvSpPr>
        <p:spPr>
          <a:xfrm>
            <a:off x="306324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AKAR</a:t>
            </a:r>
            <a:endParaRPr lang="en-US" sz="900" dirty="0"/>
          </a:p>
        </p:txBody>
      </p:sp>
      <p:sp>
        <p:nvSpPr>
          <p:cNvPr id="9" name="Text 7"/>
          <p:cNvSpPr/>
          <p:nvPr/>
        </p:nvSpPr>
        <p:spPr>
          <a:xfrm>
            <a:off x="562356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GEJALA DI DATA</a:t>
            </a:r>
            <a:endParaRPr lang="en-US" sz="900" dirty="0"/>
          </a:p>
        </p:txBody>
      </p:sp>
      <p:sp>
        <p:nvSpPr>
          <p:cNvPr id="10" name="Text 8"/>
          <p:cNvSpPr/>
          <p:nvPr/>
        </p:nvSpPr>
        <p:spPr>
          <a:xfrm>
            <a:off x="800100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JAWABAN KAMI</a:t>
            </a:r>
            <a:endParaRPr lang="en-US" sz="900" dirty="0"/>
          </a:p>
        </p:txBody>
      </p:sp>
      <p:sp>
        <p:nvSpPr>
          <p:cNvPr id="11" name="Text 9"/>
          <p:cNvSpPr/>
          <p:nvPr/>
        </p:nvSpPr>
        <p:spPr>
          <a:xfrm>
            <a:off x="1037844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DIBAHAS DI</a:t>
            </a:r>
            <a:endParaRPr lang="en-US" sz="900" dirty="0"/>
          </a:p>
        </p:txBody>
      </p:sp>
      <p:sp>
        <p:nvSpPr>
          <p:cNvPr id="12" name="Shape 10"/>
          <p:cNvSpPr/>
          <p:nvPr/>
        </p:nvSpPr>
        <p:spPr>
          <a:xfrm>
            <a:off x="2953512" y="2487168"/>
            <a:ext cx="109728" cy="0"/>
          </a:xfrm>
          <a:prstGeom prst="line">
            <a:avLst/>
          </a:prstGeom>
          <a:noFill/>
          <a:ln w="17780">
            <a:solidFill>
              <a:srgbClr val="16191D"/>
            </a:solidFill>
            <a:prstDash val="solid"/>
          </a:ln>
        </p:spPr>
      </p:sp>
      <p:sp>
        <p:nvSpPr>
          <p:cNvPr id="13" name="Shape 11"/>
          <p:cNvSpPr/>
          <p:nvPr/>
        </p:nvSpPr>
        <p:spPr>
          <a:xfrm>
            <a:off x="3063240" y="2304288"/>
            <a:ext cx="365760" cy="365760"/>
          </a:xfrm>
          <a:prstGeom prst="ellipse">
            <a:avLst/>
          </a:prstGeom>
          <a:solidFill>
            <a:srgbClr val="2F6B5F"/>
          </a:solidFill>
          <a:ln/>
        </p:spPr>
      </p:sp>
      <p:sp>
        <p:nvSpPr>
          <p:cNvPr id="14" name="Text 12"/>
          <p:cNvSpPr/>
          <p:nvPr/>
        </p:nvSpPr>
        <p:spPr>
          <a:xfrm>
            <a:off x="3063240" y="230428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5" name="Shape 13"/>
          <p:cNvSpPr/>
          <p:nvPr/>
        </p:nvSpPr>
        <p:spPr>
          <a:xfrm>
            <a:off x="3538728" y="2185416"/>
            <a:ext cx="1993392" cy="603504"/>
          </a:xfrm>
          <a:prstGeom prst="roundRect">
            <a:avLst>
              <a:gd name="adj" fmla="val 9091"/>
            </a:avLst>
          </a:prstGeom>
          <a:solidFill>
            <a:srgbClr val="F4F1EC"/>
          </a:solidFill>
          <a:ln w="9525">
            <a:solidFill>
              <a:srgbClr val="DCD8D1"/>
            </a:solidFill>
            <a:prstDash val="solid"/>
          </a:ln>
        </p:spPr>
      </p:sp>
      <p:sp>
        <p:nvSpPr>
          <p:cNvPr id="16" name="Text 14"/>
          <p:cNvSpPr/>
          <p:nvPr/>
        </p:nvSpPr>
        <p:spPr>
          <a:xfrm>
            <a:off x="3630168" y="218541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Metrik menghukum jarak</a:t>
            </a:r>
            <a:endParaRPr lang="en-US" sz="1150" dirty="0"/>
          </a:p>
        </p:txBody>
      </p:sp>
      <p:sp>
        <p:nvSpPr>
          <p:cNvPr id="17" name="Text 15"/>
          <p:cNvSpPr/>
          <p:nvPr/>
        </p:nvSpPr>
        <p:spPr>
          <a:xfrm>
            <a:off x="5623560" y="218541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Akurasi 50,4% bernilai QWK nol</a:t>
            </a:r>
            <a:endParaRPr lang="en-US" sz="1050" dirty="0"/>
          </a:p>
        </p:txBody>
      </p:sp>
      <p:sp>
        <p:nvSpPr>
          <p:cNvPr id="18" name="Text 16"/>
          <p:cNvSpPr/>
          <p:nvPr/>
        </p:nvSpPr>
        <p:spPr>
          <a:xfrm>
            <a:off x="7726680" y="218541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19" name="Shape 17"/>
          <p:cNvSpPr/>
          <p:nvPr/>
        </p:nvSpPr>
        <p:spPr>
          <a:xfrm>
            <a:off x="8001000" y="2185416"/>
            <a:ext cx="2240280" cy="603504"/>
          </a:xfrm>
          <a:prstGeom prst="roundRect">
            <a:avLst>
              <a:gd name="adj" fmla="val 9091"/>
            </a:avLst>
          </a:prstGeom>
          <a:solidFill>
            <a:srgbClr val="FFFFFF"/>
          </a:solidFill>
          <a:ln w="9525">
            <a:solidFill>
              <a:srgbClr val="DCD8D1"/>
            </a:solidFill>
            <a:prstDash val="solid"/>
          </a:ln>
        </p:spPr>
      </p:sp>
      <p:sp>
        <p:nvSpPr>
          <p:cNvPr id="20" name="Text 18"/>
          <p:cNvSpPr/>
          <p:nvPr/>
        </p:nvSpPr>
        <p:spPr>
          <a:xfrm>
            <a:off x="8110728" y="218541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Nilai harapan + 3 ambang</a:t>
            </a:r>
            <a:endParaRPr lang="en-US" sz="1050" dirty="0"/>
          </a:p>
        </p:txBody>
      </p:sp>
      <p:sp>
        <p:nvSpPr>
          <p:cNvPr id="21" name="Text 19"/>
          <p:cNvSpPr/>
          <p:nvPr/>
        </p:nvSpPr>
        <p:spPr>
          <a:xfrm>
            <a:off x="10378440" y="218541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 dan III</a:t>
            </a:r>
            <a:endParaRPr lang="en-US" sz="1050" dirty="0"/>
          </a:p>
        </p:txBody>
      </p:sp>
      <p:sp>
        <p:nvSpPr>
          <p:cNvPr id="22" name="Shape 20"/>
          <p:cNvSpPr/>
          <p:nvPr/>
        </p:nvSpPr>
        <p:spPr>
          <a:xfrm>
            <a:off x="2953512" y="3355848"/>
            <a:ext cx="109728" cy="0"/>
          </a:xfrm>
          <a:prstGeom prst="line">
            <a:avLst/>
          </a:prstGeom>
          <a:noFill/>
          <a:ln w="17780">
            <a:solidFill>
              <a:srgbClr val="16191D"/>
            </a:solidFill>
            <a:prstDash val="solid"/>
          </a:ln>
        </p:spPr>
      </p:sp>
      <p:sp>
        <p:nvSpPr>
          <p:cNvPr id="23" name="Shape 21"/>
          <p:cNvSpPr/>
          <p:nvPr/>
        </p:nvSpPr>
        <p:spPr>
          <a:xfrm>
            <a:off x="3063240" y="3172968"/>
            <a:ext cx="365760" cy="365760"/>
          </a:xfrm>
          <a:prstGeom prst="ellipse">
            <a:avLst/>
          </a:prstGeom>
          <a:solidFill>
            <a:srgbClr val="8FB0A4"/>
          </a:solidFill>
          <a:ln/>
        </p:spPr>
      </p:sp>
      <p:sp>
        <p:nvSpPr>
          <p:cNvPr id="24" name="Text 22"/>
          <p:cNvSpPr/>
          <p:nvPr/>
        </p:nvSpPr>
        <p:spPr>
          <a:xfrm>
            <a:off x="3063240" y="3172968"/>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2</a:t>
            </a:r>
            <a:endParaRPr lang="en-US" sz="1100" dirty="0"/>
          </a:p>
        </p:txBody>
      </p:sp>
      <p:sp>
        <p:nvSpPr>
          <p:cNvPr id="25" name="Shape 23"/>
          <p:cNvSpPr/>
          <p:nvPr/>
        </p:nvSpPr>
        <p:spPr>
          <a:xfrm>
            <a:off x="3538728" y="3054096"/>
            <a:ext cx="1993392" cy="603504"/>
          </a:xfrm>
          <a:prstGeom prst="roundRect">
            <a:avLst>
              <a:gd name="adj" fmla="val 9091"/>
            </a:avLst>
          </a:prstGeom>
          <a:solidFill>
            <a:srgbClr val="F4F1EC"/>
          </a:solidFill>
          <a:ln w="9525">
            <a:solidFill>
              <a:srgbClr val="DCD8D1"/>
            </a:solidFill>
            <a:prstDash val="solid"/>
          </a:ln>
        </p:spPr>
      </p:sp>
      <p:sp>
        <p:nvSpPr>
          <p:cNvPr id="26" name="Text 24"/>
          <p:cNvSpPr/>
          <p:nvPr/>
        </p:nvSpPr>
        <p:spPr>
          <a:xfrm>
            <a:off x="3630168" y="305409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Kelas penentu sangat langka</a:t>
            </a:r>
            <a:endParaRPr lang="en-US" sz="1150" dirty="0"/>
          </a:p>
        </p:txBody>
      </p:sp>
      <p:sp>
        <p:nvSpPr>
          <p:cNvPr id="27" name="Text 25"/>
          <p:cNvSpPr/>
          <p:nvPr/>
        </p:nvSpPr>
        <p:spPr>
          <a:xfrm>
            <a:off x="5623560" y="305409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Kelas 3 dan 4 hanya 4,7% data</a:t>
            </a:r>
            <a:endParaRPr lang="en-US" sz="1050" dirty="0"/>
          </a:p>
        </p:txBody>
      </p:sp>
      <p:sp>
        <p:nvSpPr>
          <p:cNvPr id="28" name="Text 26"/>
          <p:cNvSpPr/>
          <p:nvPr/>
        </p:nvSpPr>
        <p:spPr>
          <a:xfrm>
            <a:off x="7726680" y="305409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29" name="Shape 27"/>
          <p:cNvSpPr/>
          <p:nvPr/>
        </p:nvSpPr>
        <p:spPr>
          <a:xfrm>
            <a:off x="8001000" y="3054096"/>
            <a:ext cx="2240280" cy="603504"/>
          </a:xfrm>
          <a:prstGeom prst="roundRect">
            <a:avLst>
              <a:gd name="adj" fmla="val 9091"/>
            </a:avLst>
          </a:prstGeom>
          <a:solidFill>
            <a:srgbClr val="FFFFFF"/>
          </a:solidFill>
          <a:ln w="9525">
            <a:solidFill>
              <a:srgbClr val="DCD8D1"/>
            </a:solidFill>
            <a:prstDash val="solid"/>
          </a:ln>
        </p:spPr>
      </p:sp>
      <p:sp>
        <p:nvSpPr>
          <p:cNvPr id="30" name="Text 28"/>
          <p:cNvSpPr/>
          <p:nvPr/>
        </p:nvSpPr>
        <p:spPr>
          <a:xfrm>
            <a:off x="8110728" y="305409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Ambang dioptimalkan, bukan argmax</a:t>
            </a:r>
            <a:endParaRPr lang="en-US" sz="1050" dirty="0"/>
          </a:p>
        </p:txBody>
      </p:sp>
      <p:sp>
        <p:nvSpPr>
          <p:cNvPr id="31" name="Text 29"/>
          <p:cNvSpPr/>
          <p:nvPr/>
        </p:nvSpPr>
        <p:spPr>
          <a:xfrm>
            <a:off x="10378440" y="305409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III</a:t>
            </a:r>
            <a:endParaRPr lang="en-US" sz="1050" dirty="0"/>
          </a:p>
        </p:txBody>
      </p:sp>
      <p:sp>
        <p:nvSpPr>
          <p:cNvPr id="32" name="Shape 30"/>
          <p:cNvSpPr/>
          <p:nvPr/>
        </p:nvSpPr>
        <p:spPr>
          <a:xfrm>
            <a:off x="2953512" y="4224528"/>
            <a:ext cx="109728" cy="0"/>
          </a:xfrm>
          <a:prstGeom prst="line">
            <a:avLst/>
          </a:prstGeom>
          <a:noFill/>
          <a:ln w="17780">
            <a:solidFill>
              <a:srgbClr val="16191D"/>
            </a:solidFill>
            <a:prstDash val="solid"/>
          </a:ln>
        </p:spPr>
      </p:sp>
      <p:sp>
        <p:nvSpPr>
          <p:cNvPr id="33" name="Shape 31"/>
          <p:cNvSpPr/>
          <p:nvPr/>
        </p:nvSpPr>
        <p:spPr>
          <a:xfrm>
            <a:off x="3063240" y="4041648"/>
            <a:ext cx="365760" cy="365760"/>
          </a:xfrm>
          <a:prstGeom prst="ellipse">
            <a:avLst/>
          </a:prstGeom>
          <a:solidFill>
            <a:srgbClr val="D8A25E"/>
          </a:solidFill>
          <a:ln/>
        </p:spPr>
      </p:sp>
      <p:sp>
        <p:nvSpPr>
          <p:cNvPr id="34" name="Text 32"/>
          <p:cNvSpPr/>
          <p:nvPr/>
        </p:nvSpPr>
        <p:spPr>
          <a:xfrm>
            <a:off x="3063240" y="404164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5" name="Shape 33"/>
          <p:cNvSpPr/>
          <p:nvPr/>
        </p:nvSpPr>
        <p:spPr>
          <a:xfrm>
            <a:off x="3538728" y="3922776"/>
            <a:ext cx="1993392" cy="603504"/>
          </a:xfrm>
          <a:prstGeom prst="roundRect">
            <a:avLst>
              <a:gd name="adj" fmla="val 9091"/>
            </a:avLst>
          </a:prstGeom>
          <a:solidFill>
            <a:srgbClr val="F4F1EC"/>
          </a:solidFill>
          <a:ln w="9525">
            <a:solidFill>
              <a:srgbClr val="DCD8D1"/>
            </a:solidFill>
            <a:prstDash val="solid"/>
          </a:ln>
        </p:spPr>
      </p:sp>
      <p:sp>
        <p:nvSpPr>
          <p:cNvPr id="36" name="Text 34"/>
          <p:cNvSpPr/>
          <p:nvPr/>
        </p:nvSpPr>
        <p:spPr>
          <a:xfrm>
            <a:off x="3630168" y="392277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Ruang pilihan lebar, selisih tipis</a:t>
            </a:r>
            <a:endParaRPr lang="en-US" sz="1150" dirty="0"/>
          </a:p>
        </p:txBody>
      </p:sp>
      <p:sp>
        <p:nvSpPr>
          <p:cNvPr id="37" name="Text 35"/>
          <p:cNvSpPr/>
          <p:nvPr/>
        </p:nvSpPr>
        <p:spPr>
          <a:xfrm>
            <a:off x="5623560" y="392277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20 konfigurasi hanya terpaut 0,003</a:t>
            </a:r>
            <a:endParaRPr lang="en-US" sz="1050" dirty="0"/>
          </a:p>
        </p:txBody>
      </p:sp>
      <p:sp>
        <p:nvSpPr>
          <p:cNvPr id="38" name="Text 36"/>
          <p:cNvSpPr/>
          <p:nvPr/>
        </p:nvSpPr>
        <p:spPr>
          <a:xfrm>
            <a:off x="7726680" y="392277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39" name="Shape 37"/>
          <p:cNvSpPr/>
          <p:nvPr/>
        </p:nvSpPr>
        <p:spPr>
          <a:xfrm>
            <a:off x="8001000" y="3922776"/>
            <a:ext cx="2240280" cy="603504"/>
          </a:xfrm>
          <a:prstGeom prst="roundRect">
            <a:avLst>
              <a:gd name="adj" fmla="val 9091"/>
            </a:avLst>
          </a:prstGeom>
          <a:solidFill>
            <a:srgbClr val="FFFFFF"/>
          </a:solidFill>
          <a:ln w="9525">
            <a:solidFill>
              <a:srgbClr val="DCD8D1"/>
            </a:solidFill>
            <a:prstDash val="solid"/>
          </a:ln>
        </p:spPr>
      </p:sp>
      <p:sp>
        <p:nvSpPr>
          <p:cNvPr id="40" name="Text 38"/>
          <p:cNvSpPr/>
          <p:nvPr/>
        </p:nvSpPr>
        <p:spPr>
          <a:xfrm>
            <a:off x="8110728" y="392277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Reduksi variansi, pilihan a priori</a:t>
            </a:r>
            <a:endParaRPr lang="en-US" sz="1050" dirty="0"/>
          </a:p>
        </p:txBody>
      </p:sp>
      <p:sp>
        <p:nvSpPr>
          <p:cNvPr id="41" name="Text 39"/>
          <p:cNvSpPr/>
          <p:nvPr/>
        </p:nvSpPr>
        <p:spPr>
          <a:xfrm>
            <a:off x="10378440" y="392277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III</a:t>
            </a:r>
            <a:endParaRPr lang="en-US" sz="1050" dirty="0"/>
          </a:p>
        </p:txBody>
      </p:sp>
      <p:sp>
        <p:nvSpPr>
          <p:cNvPr id="42" name="Shape 40"/>
          <p:cNvSpPr/>
          <p:nvPr/>
        </p:nvSpPr>
        <p:spPr>
          <a:xfrm>
            <a:off x="2953512" y="5093208"/>
            <a:ext cx="109728" cy="0"/>
          </a:xfrm>
          <a:prstGeom prst="line">
            <a:avLst/>
          </a:prstGeom>
          <a:noFill/>
          <a:ln w="17780">
            <a:solidFill>
              <a:srgbClr val="16191D"/>
            </a:solidFill>
            <a:prstDash val="solid"/>
          </a:ln>
        </p:spPr>
      </p:sp>
      <p:sp>
        <p:nvSpPr>
          <p:cNvPr id="43" name="Shape 41"/>
          <p:cNvSpPr/>
          <p:nvPr/>
        </p:nvSpPr>
        <p:spPr>
          <a:xfrm>
            <a:off x="3063240" y="4910328"/>
            <a:ext cx="365760" cy="365760"/>
          </a:xfrm>
          <a:prstGeom prst="ellipse">
            <a:avLst/>
          </a:prstGeom>
          <a:solidFill>
            <a:srgbClr val="A8442A"/>
          </a:solidFill>
          <a:ln/>
        </p:spPr>
      </p:sp>
      <p:sp>
        <p:nvSpPr>
          <p:cNvPr id="44" name="Text 42"/>
          <p:cNvSpPr/>
          <p:nvPr/>
        </p:nvSpPr>
        <p:spPr>
          <a:xfrm>
            <a:off x="3063240" y="49103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5" name="Shape 43"/>
          <p:cNvSpPr/>
          <p:nvPr/>
        </p:nvSpPr>
        <p:spPr>
          <a:xfrm>
            <a:off x="3538728" y="4791456"/>
            <a:ext cx="1993392" cy="603504"/>
          </a:xfrm>
          <a:prstGeom prst="roundRect">
            <a:avLst>
              <a:gd name="adj" fmla="val 9091"/>
            </a:avLst>
          </a:prstGeom>
          <a:solidFill>
            <a:srgbClr val="F4F1EC"/>
          </a:solidFill>
          <a:ln w="9525">
            <a:solidFill>
              <a:srgbClr val="DCD8D1"/>
            </a:solidFill>
            <a:prstDash val="solid"/>
          </a:ln>
        </p:spPr>
      </p:sp>
      <p:sp>
        <p:nvSpPr>
          <p:cNvPr id="46" name="Text 44"/>
          <p:cNvSpPr/>
          <p:nvPr/>
        </p:nvSpPr>
        <p:spPr>
          <a:xfrm>
            <a:off x="3630168" y="479145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Penentu utamanya tak terekam</a:t>
            </a:r>
            <a:endParaRPr lang="en-US" sz="1150" dirty="0"/>
          </a:p>
        </p:txBody>
      </p:sp>
      <p:sp>
        <p:nvSpPr>
          <p:cNvPr id="47" name="Text 45"/>
          <p:cNvSpPr/>
          <p:nvPr/>
        </p:nvSpPr>
        <p:spPr>
          <a:xfrm>
            <a:off x="5623560" y="479145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Kepribadian dan relasi sosial absen</a:t>
            </a:r>
            <a:endParaRPr lang="en-US" sz="1050" dirty="0"/>
          </a:p>
        </p:txBody>
      </p:sp>
      <p:sp>
        <p:nvSpPr>
          <p:cNvPr id="48" name="Text 46"/>
          <p:cNvSpPr/>
          <p:nvPr/>
        </p:nvSpPr>
        <p:spPr>
          <a:xfrm>
            <a:off x="7726680" y="479145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49" name="Shape 47"/>
          <p:cNvSpPr/>
          <p:nvPr/>
        </p:nvSpPr>
        <p:spPr>
          <a:xfrm>
            <a:off x="8001000" y="4791456"/>
            <a:ext cx="2240280" cy="603504"/>
          </a:xfrm>
          <a:prstGeom prst="roundRect">
            <a:avLst>
              <a:gd name="adj" fmla="val 9091"/>
            </a:avLst>
          </a:prstGeom>
          <a:solidFill>
            <a:srgbClr val="FFFFFF"/>
          </a:solidFill>
          <a:ln w="9525">
            <a:solidFill>
              <a:srgbClr val="DCD8D1"/>
            </a:solidFill>
            <a:prstDash val="solid"/>
          </a:ln>
        </p:spPr>
      </p:sp>
      <p:sp>
        <p:nvSpPr>
          <p:cNvPr id="50" name="Text 48"/>
          <p:cNvSpPr/>
          <p:nvPr/>
        </p:nvSpPr>
        <p:spPr>
          <a:xfrm>
            <a:off x="8110728" y="479145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Analisis plafon kuantitatif</a:t>
            </a:r>
            <a:endParaRPr lang="en-US" sz="1050" dirty="0"/>
          </a:p>
        </p:txBody>
      </p:sp>
      <p:sp>
        <p:nvSpPr>
          <p:cNvPr id="51" name="Text 49"/>
          <p:cNvSpPr/>
          <p:nvPr/>
        </p:nvSpPr>
        <p:spPr>
          <a:xfrm>
            <a:off x="10378440" y="479145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V</a:t>
            </a:r>
            <a:endParaRPr lang="en-US" sz="1050" dirty="0"/>
          </a:p>
        </p:txBody>
      </p:sp>
      <p:sp>
        <p:nvSpPr>
          <p:cNvPr id="53" name="Shape 50"/>
          <p:cNvSpPr/>
          <p:nvPr/>
        </p:nvSpPr>
        <p:spPr>
          <a:xfrm>
            <a:off x="640080" y="6400800"/>
            <a:ext cx="1572768" cy="45720"/>
          </a:xfrm>
          <a:prstGeom prst="rect">
            <a:avLst/>
          </a:prstGeom>
          <a:solidFill>
            <a:srgbClr val="A8442A"/>
          </a:solidFill>
          <a:ln/>
        </p:spPr>
      </p:sp>
      <p:sp>
        <p:nvSpPr>
          <p:cNvPr id="54" name="Text 5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55" name="Shape 52"/>
          <p:cNvSpPr/>
          <p:nvPr/>
        </p:nvSpPr>
        <p:spPr>
          <a:xfrm>
            <a:off x="2304288" y="6400800"/>
            <a:ext cx="1572768" cy="45720"/>
          </a:xfrm>
          <a:prstGeom prst="rect">
            <a:avLst/>
          </a:prstGeom>
          <a:solidFill>
            <a:srgbClr val="DCD8D1"/>
          </a:solidFill>
          <a:ln/>
        </p:spPr>
      </p:sp>
      <p:sp>
        <p:nvSpPr>
          <p:cNvPr id="56" name="Text 5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57" name="Shape 54"/>
          <p:cNvSpPr/>
          <p:nvPr/>
        </p:nvSpPr>
        <p:spPr>
          <a:xfrm>
            <a:off x="3968496" y="6400800"/>
            <a:ext cx="1572768" cy="45720"/>
          </a:xfrm>
          <a:prstGeom prst="rect">
            <a:avLst/>
          </a:prstGeom>
          <a:solidFill>
            <a:srgbClr val="DCD8D1"/>
          </a:solidFill>
          <a:ln/>
        </p:spPr>
      </p:sp>
      <p:sp>
        <p:nvSpPr>
          <p:cNvPr id="58" name="Text 5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9" name="Shape 56"/>
          <p:cNvSpPr/>
          <p:nvPr/>
        </p:nvSpPr>
        <p:spPr>
          <a:xfrm>
            <a:off x="5632704" y="6400800"/>
            <a:ext cx="1572768" cy="45720"/>
          </a:xfrm>
          <a:prstGeom prst="rect">
            <a:avLst/>
          </a:prstGeom>
          <a:solidFill>
            <a:srgbClr val="DCD8D1"/>
          </a:solidFill>
          <a:ln/>
        </p:spPr>
      </p:sp>
      <p:sp>
        <p:nvSpPr>
          <p:cNvPr id="60" name="Text 5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61" name="Shape 58"/>
          <p:cNvSpPr/>
          <p:nvPr/>
        </p:nvSpPr>
        <p:spPr>
          <a:xfrm>
            <a:off x="7296912" y="6400800"/>
            <a:ext cx="1572768" cy="45720"/>
          </a:xfrm>
          <a:prstGeom prst="rect">
            <a:avLst/>
          </a:prstGeom>
          <a:solidFill>
            <a:srgbClr val="DCD8D1"/>
          </a:solidFill>
          <a:ln/>
        </p:spPr>
      </p:sp>
      <p:sp>
        <p:nvSpPr>
          <p:cNvPr id="62" name="Text 5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63" name="Shape 60"/>
          <p:cNvSpPr/>
          <p:nvPr/>
        </p:nvSpPr>
        <p:spPr>
          <a:xfrm>
            <a:off x="8961120" y="6400800"/>
            <a:ext cx="1572768" cy="45720"/>
          </a:xfrm>
          <a:prstGeom prst="rect">
            <a:avLst/>
          </a:prstGeom>
          <a:solidFill>
            <a:srgbClr val="DCD8D1"/>
          </a:solidFill>
          <a:ln/>
        </p:spPr>
      </p:sp>
      <p:sp>
        <p:nvSpPr>
          <p:cNvPr id="64" name="Text 6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65" name="Text 6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1 · Target timpang, kosong merata, kode 7/8/9 bermakna.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Tiga temuan pertama, masing-masing langsung menjadi keputusan desain.</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3.1 · DISTRIBUSI TARGET</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Dua kelas menguasai 95,3%, bukan penentu skor</a:t>
            </a:r>
            <a:endParaRPr lang="en-US" sz="1300" dirty="0"/>
          </a:p>
        </p:txBody>
      </p:sp>
      <p:sp>
        <p:nvSpPr>
          <p:cNvPr id="7" name="Text 5"/>
          <p:cNvSpPr/>
          <p:nvPr/>
        </p:nvSpPr>
        <p:spPr>
          <a:xfrm>
            <a:off x="841248" y="22128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Sangat puas</a:t>
            </a:r>
            <a:endParaRPr lang="en-US" sz="1000" dirty="0"/>
          </a:p>
        </p:txBody>
      </p:sp>
      <p:sp>
        <p:nvSpPr>
          <p:cNvPr id="8" name="Shape 6"/>
          <p:cNvSpPr/>
          <p:nvPr/>
        </p:nvSpPr>
        <p:spPr>
          <a:xfrm>
            <a:off x="2240280" y="2267712"/>
            <a:ext cx="1047472" cy="164592"/>
          </a:xfrm>
          <a:prstGeom prst="rect">
            <a:avLst/>
          </a:prstGeom>
          <a:solidFill>
            <a:srgbClr val="2F6B5F"/>
          </a:solidFill>
          <a:ln/>
        </p:spPr>
      </p:sp>
      <p:sp>
        <p:nvSpPr>
          <p:cNvPr id="9" name="Text 7"/>
          <p:cNvSpPr/>
          <p:nvPr/>
        </p:nvSpPr>
        <p:spPr>
          <a:xfrm>
            <a:off x="3256178" y="22128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44,94%</a:t>
            </a:r>
            <a:endParaRPr lang="en-US" sz="1000" dirty="0"/>
          </a:p>
        </p:txBody>
      </p:sp>
      <p:sp>
        <p:nvSpPr>
          <p:cNvPr id="10" name="Text 8"/>
          <p:cNvSpPr/>
          <p:nvPr/>
        </p:nvSpPr>
        <p:spPr>
          <a:xfrm>
            <a:off x="841248" y="26700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Puas</a:t>
            </a:r>
            <a:endParaRPr lang="en-US" sz="1000" dirty="0"/>
          </a:p>
        </p:txBody>
      </p:sp>
      <p:sp>
        <p:nvSpPr>
          <p:cNvPr id="11" name="Shape 9"/>
          <p:cNvSpPr/>
          <p:nvPr/>
        </p:nvSpPr>
        <p:spPr>
          <a:xfrm>
            <a:off x="2240280" y="2724912"/>
            <a:ext cx="1174735" cy="164592"/>
          </a:xfrm>
          <a:prstGeom prst="rect">
            <a:avLst/>
          </a:prstGeom>
          <a:solidFill>
            <a:srgbClr val="8FB0A4"/>
          </a:solidFill>
          <a:ln/>
        </p:spPr>
      </p:sp>
      <p:sp>
        <p:nvSpPr>
          <p:cNvPr id="12" name="Text 10"/>
          <p:cNvSpPr/>
          <p:nvPr/>
        </p:nvSpPr>
        <p:spPr>
          <a:xfrm>
            <a:off x="3256178" y="26700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50,40%</a:t>
            </a:r>
            <a:endParaRPr lang="en-US" sz="1000" dirty="0"/>
          </a:p>
        </p:txBody>
      </p:sp>
      <p:sp>
        <p:nvSpPr>
          <p:cNvPr id="13" name="Text 11"/>
          <p:cNvSpPr/>
          <p:nvPr/>
        </p:nvSpPr>
        <p:spPr>
          <a:xfrm>
            <a:off x="841248" y="31272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Tidak puas</a:t>
            </a:r>
            <a:endParaRPr lang="en-US" sz="1000" dirty="0"/>
          </a:p>
        </p:txBody>
      </p:sp>
      <p:sp>
        <p:nvSpPr>
          <p:cNvPr id="14" name="Shape 12"/>
          <p:cNvSpPr/>
          <p:nvPr/>
        </p:nvSpPr>
        <p:spPr>
          <a:xfrm>
            <a:off x="2240280" y="3182112"/>
            <a:ext cx="86707" cy="164592"/>
          </a:xfrm>
          <a:prstGeom prst="rect">
            <a:avLst/>
          </a:prstGeom>
          <a:solidFill>
            <a:srgbClr val="D8A25E"/>
          </a:solidFill>
          <a:ln/>
        </p:spPr>
      </p:sp>
      <p:sp>
        <p:nvSpPr>
          <p:cNvPr id="15" name="Text 13"/>
          <p:cNvSpPr/>
          <p:nvPr/>
        </p:nvSpPr>
        <p:spPr>
          <a:xfrm>
            <a:off x="3256178" y="31272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3,72%</a:t>
            </a:r>
            <a:endParaRPr lang="en-US" sz="1000" dirty="0"/>
          </a:p>
        </p:txBody>
      </p:sp>
      <p:sp>
        <p:nvSpPr>
          <p:cNvPr id="16" name="Text 14"/>
          <p:cNvSpPr/>
          <p:nvPr/>
        </p:nvSpPr>
        <p:spPr>
          <a:xfrm>
            <a:off x="841248" y="35844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Sangat tidak puas</a:t>
            </a:r>
            <a:endParaRPr lang="en-US" sz="1000" dirty="0"/>
          </a:p>
        </p:txBody>
      </p:sp>
      <p:sp>
        <p:nvSpPr>
          <p:cNvPr id="17" name="Shape 15"/>
          <p:cNvSpPr/>
          <p:nvPr/>
        </p:nvSpPr>
        <p:spPr>
          <a:xfrm>
            <a:off x="2240280" y="3639312"/>
            <a:ext cx="36576" cy="164592"/>
          </a:xfrm>
          <a:prstGeom prst="rect">
            <a:avLst/>
          </a:prstGeom>
          <a:solidFill>
            <a:srgbClr val="A8442A"/>
          </a:solidFill>
          <a:ln/>
        </p:spPr>
      </p:sp>
      <p:sp>
        <p:nvSpPr>
          <p:cNvPr id="18" name="Text 16"/>
          <p:cNvSpPr/>
          <p:nvPr/>
        </p:nvSpPr>
        <p:spPr>
          <a:xfrm>
            <a:off x="3256178" y="35844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0,93%</a:t>
            </a:r>
            <a:endParaRPr lang="en-US" sz="1000" dirty="0"/>
          </a:p>
        </p:txBody>
      </p:sp>
      <p:sp>
        <p:nvSpPr>
          <p:cNvPr id="19" name="Text 17"/>
          <p:cNvSpPr/>
          <p:nvPr/>
        </p:nvSpPr>
        <p:spPr>
          <a:xfrm>
            <a:off x="841248" y="3995928"/>
            <a:ext cx="3082442" cy="365760"/>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50,4% → QWK 0</a:t>
            </a:r>
            <a:endParaRPr lang="en-US" sz="1700" dirty="0"/>
          </a:p>
        </p:txBody>
      </p:sp>
      <p:sp>
        <p:nvSpPr>
          <p:cNvPr id="20" name="Text 18"/>
          <p:cNvSpPr/>
          <p:nvPr/>
        </p:nvSpPr>
        <p:spPr>
          <a:xfrm>
            <a:off x="841248" y="4398264"/>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Tebak kelas mayoritas: akurasi separuh, kappa nol</a:t>
            </a:r>
            <a:endParaRPr lang="en-US" sz="950" dirty="0"/>
          </a:p>
        </p:txBody>
      </p:sp>
      <p:sp>
        <p:nvSpPr>
          <p:cNvPr id="21" name="Text 19"/>
          <p:cNvSpPr/>
          <p:nvPr/>
        </p:nvSpPr>
        <p:spPr>
          <a:xfrm>
            <a:off x="841248" y="4727448"/>
            <a:ext cx="3082442" cy="365760"/>
          </a:xfrm>
          <a:prstGeom prst="rect">
            <a:avLst/>
          </a:prstGeom>
          <a:noFill/>
          <a:ln/>
        </p:spPr>
        <p:txBody>
          <a:bodyPr wrap="square" lIns="0" tIns="0" rIns="0" bIns="0" rtlCol="0" anchor="b"/>
          <a:lstStyle/>
          <a:p>
            <a:pPr algn="l" indent="0" marL="0">
              <a:buNone/>
            </a:pPr>
            <a:r>
              <a:rPr lang="en-US" sz="1700" b="1" dirty="0">
                <a:solidFill>
                  <a:srgbClr val="A8442A"/>
                </a:solidFill>
                <a:latin typeface="Cambria" pitchFamily="34" charset="0"/>
                <a:ea typeface="Cambria" pitchFamily="34" charset="-122"/>
                <a:cs typeface="Cambria" pitchFamily="34" charset="-120"/>
              </a:rPr>
              <a:t>4,7%</a:t>
            </a:r>
            <a:endParaRPr lang="en-US" sz="1700" dirty="0"/>
          </a:p>
        </p:txBody>
      </p:sp>
      <p:sp>
        <p:nvSpPr>
          <p:cNvPr id="22" name="Text 20"/>
          <p:cNvSpPr/>
          <p:nvPr/>
        </p:nvSpPr>
        <p:spPr>
          <a:xfrm>
            <a:off x="841248" y="5129784"/>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kelas 3 + 4, dengan penalti galat terjauh 9 kali</a:t>
            </a:r>
            <a:endParaRPr lang="en-US" sz="950" dirty="0"/>
          </a:p>
        </p:txBody>
      </p:sp>
      <p:sp>
        <p:nvSpPr>
          <p:cNvPr id="23" name="Text 21"/>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model harus berani menebak kelas langka, jadi ambang batas dioptimalkan, bukan argmax.</a:t>
            </a:r>
            <a:endParaRPr lang="en-US" sz="1000" dirty="0"/>
          </a:p>
        </p:txBody>
      </p:sp>
      <p:sp>
        <p:nvSpPr>
          <p:cNvPr id="24" name="Shape 22"/>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25" name="Text 23"/>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3.2 · NILAI KOSONG</a:t>
            </a:r>
            <a:endParaRPr lang="en-US" sz="850" dirty="0"/>
          </a:p>
        </p:txBody>
      </p:sp>
      <p:sp>
        <p:nvSpPr>
          <p:cNvPr id="26" name="Text 24"/>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Setiap kolom punya kosong, tidak satu pun diimputasi</a:t>
            </a:r>
            <a:endParaRPr lang="en-US" sz="1300" dirty="0"/>
          </a:p>
        </p:txBody>
      </p:sp>
      <p:sp>
        <p:nvSpPr>
          <p:cNvPr id="27" name="Text 25"/>
          <p:cNvSpPr/>
          <p:nvPr/>
        </p:nvSpPr>
        <p:spPr>
          <a:xfrm>
            <a:off x="4554626"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14,41%</a:t>
            </a:r>
            <a:endParaRPr lang="en-US" sz="1400" dirty="0"/>
          </a:p>
        </p:txBody>
      </p:sp>
      <p:sp>
        <p:nvSpPr>
          <p:cNvPr id="28" name="Text 26"/>
          <p:cNvSpPr/>
          <p:nvPr/>
        </p:nvSpPr>
        <p:spPr>
          <a:xfrm>
            <a:off x="4554626"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sel kosong</a:t>
            </a:r>
            <a:endParaRPr lang="en-US" sz="900" dirty="0"/>
          </a:p>
        </p:txBody>
      </p:sp>
      <p:sp>
        <p:nvSpPr>
          <p:cNvPr id="29" name="Text 27"/>
          <p:cNvSpPr/>
          <p:nvPr/>
        </p:nvSpPr>
        <p:spPr>
          <a:xfrm>
            <a:off x="5578754"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0 / 176</a:t>
            </a:r>
            <a:endParaRPr lang="en-US" sz="1400" dirty="0"/>
          </a:p>
        </p:txBody>
      </p:sp>
      <p:sp>
        <p:nvSpPr>
          <p:cNvPr id="30" name="Text 28"/>
          <p:cNvSpPr/>
          <p:nvPr/>
        </p:nvSpPr>
        <p:spPr>
          <a:xfrm>
            <a:off x="5578754"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kolom bersih</a:t>
            </a:r>
            <a:endParaRPr lang="en-US" sz="900" dirty="0"/>
          </a:p>
        </p:txBody>
      </p:sp>
      <p:sp>
        <p:nvSpPr>
          <p:cNvPr id="31" name="Text 29"/>
          <p:cNvSpPr/>
          <p:nvPr/>
        </p:nvSpPr>
        <p:spPr>
          <a:xfrm>
            <a:off x="6602882"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25,4</a:t>
            </a:r>
            <a:endParaRPr lang="en-US" sz="1400" dirty="0"/>
          </a:p>
        </p:txBody>
      </p:sp>
      <p:sp>
        <p:nvSpPr>
          <p:cNvPr id="32" name="Text 30"/>
          <p:cNvSpPr/>
          <p:nvPr/>
        </p:nvSpPr>
        <p:spPr>
          <a:xfrm>
            <a:off x="6602882"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kosong per baris</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54626" y="3081528"/>
          <a:ext cx="3082442" cy="914400"/>
        </p:xfrm>
        <a:graphic>
          <a:graphicData uri="http://schemas.openxmlformats.org/drawingml/2006/table">
            <a:tbl>
              <a:tblPr/>
              <a:tblGrid>
                <a:gridCol w="1691640"/>
                <a:gridCol w="694944"/>
                <a:gridCol w="694944"/>
              </a:tblGrid>
              <a:tr h="256032">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Kolom</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latih</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uji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flu_vaccine_year</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53,85%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54,28%</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ever_married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52,11%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52,09%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gestational_diabetes_ever</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50,02%</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49,21%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works_full_time</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48,57%</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hours_worked_per_week</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48,41%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4" name="Text 31"/>
          <p:cNvSpPr/>
          <p:nvPr/>
        </p:nvSpPr>
        <p:spPr>
          <a:xfrm>
            <a:off x="4554626" y="4727448"/>
            <a:ext cx="3082442" cy="100584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Pola kosong latih dan uji hampir identik, dan kosong tertinggi adalah pertanyaan bersyarat. Boosting mempelajari arah cabang NaN sendiri, sementara imputasi median menciptakan massa buatan.</a:t>
            </a:r>
            <a:endParaRPr lang="en-US" sz="950" dirty="0"/>
          </a:p>
        </p:txBody>
      </p:sp>
      <p:sp>
        <p:nvSpPr>
          <p:cNvPr id="35" name="Text 32"/>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tanpa imputasi. Diuji ulang lewat ablasi, bukan diasumsikan.</a:t>
            </a:r>
            <a:endParaRPr lang="en-US" sz="1000" dirty="0"/>
          </a:p>
        </p:txBody>
      </p:sp>
      <p:sp>
        <p:nvSpPr>
          <p:cNvPr id="36" name="Shape 33"/>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37" name="Text 34"/>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3.3 · KODE 7 / 8 / 9</a:t>
            </a:r>
            <a:endParaRPr lang="en-US" sz="850" dirty="0"/>
          </a:p>
        </p:txBody>
      </p:sp>
      <p:sp>
        <p:nvSpPr>
          <p:cNvPr id="38" name="Text 35"/>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Menolak, tidak terjawab, tidak tahu: bukan sampah</a:t>
            </a:r>
            <a:endParaRPr lang="en-US" sz="1300" dirty="0"/>
          </a:p>
        </p:txBody>
      </p:sp>
      <p:sp>
        <p:nvSpPr>
          <p:cNvPr id="39" name="Text 36"/>
          <p:cNvSpPr/>
          <p:nvPr/>
        </p:nvSpPr>
        <p:spPr>
          <a:xfrm>
            <a:off x="8268005" y="2212848"/>
            <a:ext cx="3082442" cy="347472"/>
          </a:xfrm>
          <a:prstGeom prst="rect">
            <a:avLst/>
          </a:prstGeom>
          <a:noFill/>
          <a:ln/>
        </p:spPr>
        <p:txBody>
          <a:bodyPr wrap="square" lIns="0" tIns="0" rIns="0" bIns="0" rtlCol="0" anchor="b"/>
          <a:lstStyle/>
          <a:p>
            <a:pPr algn="l" indent="0" marL="0">
              <a:buNone/>
            </a:pPr>
            <a:r>
              <a:rPr lang="en-US" sz="1600" b="1" dirty="0">
                <a:solidFill>
                  <a:srgbClr val="16191D"/>
                </a:solidFill>
                <a:latin typeface="Cambria" pitchFamily="34" charset="0"/>
                <a:ea typeface="Cambria" pitchFamily="34" charset="-122"/>
                <a:cs typeface="Cambria" pitchFamily="34" charset="-120"/>
              </a:rPr>
              <a:t>84 kolom</a:t>
            </a:r>
            <a:endParaRPr lang="en-US" sz="1600" dirty="0"/>
          </a:p>
        </p:txBody>
      </p:sp>
      <p:sp>
        <p:nvSpPr>
          <p:cNvPr id="40" name="Text 37"/>
          <p:cNvSpPr/>
          <p:nvPr/>
        </p:nvSpPr>
        <p:spPr>
          <a:xfrm>
            <a:off x="8268005" y="2596896"/>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biner Ya/Tidak memuat kode 7, 8, atau 9 (tertinggi 8,12%)</a:t>
            </a:r>
            <a:endParaRPr lang="en-US" sz="950" dirty="0"/>
          </a:p>
        </p:txBody>
      </p:sp>
      <p:sp>
        <p:nvSpPr>
          <p:cNvPr id="41" name="Text 38"/>
          <p:cNvSpPr/>
          <p:nvPr/>
        </p:nvSpPr>
        <p:spPr>
          <a:xfrm>
            <a:off x="8268005" y="3081528"/>
            <a:ext cx="3082442" cy="219456"/>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Rata-rata target menurut general_health_status</a:t>
            </a:r>
            <a:endParaRPr lang="en-US" sz="950" dirty="0"/>
          </a:p>
        </p:txBody>
      </p:sp>
      <p:sp>
        <p:nvSpPr>
          <p:cNvPr id="42" name="Text 39"/>
          <p:cNvSpPr/>
          <p:nvPr/>
        </p:nvSpPr>
        <p:spPr>
          <a:xfrm>
            <a:off x="8268005" y="3364992"/>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1 Sangat baik</a:t>
            </a:r>
            <a:endParaRPr lang="en-US" sz="950" dirty="0"/>
          </a:p>
        </p:txBody>
      </p:sp>
      <p:sp>
        <p:nvSpPr>
          <p:cNvPr id="43" name="Shape 40"/>
          <p:cNvSpPr/>
          <p:nvPr/>
        </p:nvSpPr>
        <p:spPr>
          <a:xfrm>
            <a:off x="9301277" y="3419856"/>
            <a:ext cx="162154" cy="146304"/>
          </a:xfrm>
          <a:prstGeom prst="rect">
            <a:avLst/>
          </a:prstGeom>
          <a:solidFill>
            <a:srgbClr val="2F6B5F"/>
          </a:solidFill>
          <a:ln/>
        </p:spPr>
      </p:sp>
      <p:sp>
        <p:nvSpPr>
          <p:cNvPr id="44" name="Text 41"/>
          <p:cNvSpPr/>
          <p:nvPr/>
        </p:nvSpPr>
        <p:spPr>
          <a:xfrm>
            <a:off x="10820095" y="3364992"/>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1,333</a:t>
            </a:r>
            <a:endParaRPr lang="en-US" sz="950" dirty="0"/>
          </a:p>
        </p:txBody>
      </p:sp>
      <p:sp>
        <p:nvSpPr>
          <p:cNvPr id="45" name="Text 42"/>
          <p:cNvSpPr/>
          <p:nvPr/>
        </p:nvSpPr>
        <p:spPr>
          <a:xfrm>
            <a:off x="8268005" y="3694176"/>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2 Baik</a:t>
            </a:r>
            <a:endParaRPr lang="en-US" sz="950" dirty="0"/>
          </a:p>
        </p:txBody>
      </p:sp>
      <p:sp>
        <p:nvSpPr>
          <p:cNvPr id="46" name="Shape 43"/>
          <p:cNvSpPr/>
          <p:nvPr/>
        </p:nvSpPr>
        <p:spPr>
          <a:xfrm>
            <a:off x="9301277" y="3749040"/>
            <a:ext cx="357226" cy="146304"/>
          </a:xfrm>
          <a:prstGeom prst="rect">
            <a:avLst/>
          </a:prstGeom>
          <a:solidFill>
            <a:srgbClr val="8FB0A4"/>
          </a:solidFill>
          <a:ln/>
        </p:spPr>
      </p:sp>
      <p:sp>
        <p:nvSpPr>
          <p:cNvPr id="47" name="Text 44"/>
          <p:cNvSpPr/>
          <p:nvPr/>
        </p:nvSpPr>
        <p:spPr>
          <a:xfrm>
            <a:off x="10820095" y="3694176"/>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1,493</a:t>
            </a:r>
            <a:endParaRPr lang="en-US" sz="950" dirty="0"/>
          </a:p>
        </p:txBody>
      </p:sp>
      <p:sp>
        <p:nvSpPr>
          <p:cNvPr id="48" name="Text 45"/>
          <p:cNvSpPr/>
          <p:nvPr/>
        </p:nvSpPr>
        <p:spPr>
          <a:xfrm>
            <a:off x="8268005" y="4023360"/>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3 Cukup</a:t>
            </a:r>
            <a:endParaRPr lang="en-US" sz="950" dirty="0"/>
          </a:p>
        </p:txBody>
      </p:sp>
      <p:sp>
        <p:nvSpPr>
          <p:cNvPr id="49" name="Shape 46"/>
          <p:cNvSpPr/>
          <p:nvPr/>
        </p:nvSpPr>
        <p:spPr>
          <a:xfrm>
            <a:off x="9301277" y="4078224"/>
            <a:ext cx="631546" cy="146304"/>
          </a:xfrm>
          <a:prstGeom prst="rect">
            <a:avLst/>
          </a:prstGeom>
          <a:solidFill>
            <a:srgbClr val="D8A25E"/>
          </a:solidFill>
          <a:ln/>
        </p:spPr>
      </p:sp>
      <p:sp>
        <p:nvSpPr>
          <p:cNvPr id="50" name="Text 47"/>
          <p:cNvSpPr/>
          <p:nvPr/>
        </p:nvSpPr>
        <p:spPr>
          <a:xfrm>
            <a:off x="10820095" y="4023360"/>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1,718</a:t>
            </a:r>
            <a:endParaRPr lang="en-US" sz="950" dirty="0"/>
          </a:p>
        </p:txBody>
      </p:sp>
      <p:sp>
        <p:nvSpPr>
          <p:cNvPr id="51" name="Text 48"/>
          <p:cNvSpPr/>
          <p:nvPr/>
        </p:nvSpPr>
        <p:spPr>
          <a:xfrm>
            <a:off x="8268005" y="4352544"/>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4 Kurang</a:t>
            </a:r>
            <a:endParaRPr lang="en-US" sz="950" dirty="0"/>
          </a:p>
        </p:txBody>
      </p:sp>
      <p:sp>
        <p:nvSpPr>
          <p:cNvPr id="52" name="Shape 49"/>
          <p:cNvSpPr/>
          <p:nvPr/>
        </p:nvSpPr>
        <p:spPr>
          <a:xfrm>
            <a:off x="9301277" y="4407408"/>
            <a:ext cx="880262" cy="146304"/>
          </a:xfrm>
          <a:prstGeom prst="rect">
            <a:avLst/>
          </a:prstGeom>
          <a:solidFill>
            <a:srgbClr val="A8442A"/>
          </a:solidFill>
          <a:ln/>
        </p:spPr>
      </p:sp>
      <p:sp>
        <p:nvSpPr>
          <p:cNvPr id="53" name="Text 50"/>
          <p:cNvSpPr/>
          <p:nvPr/>
        </p:nvSpPr>
        <p:spPr>
          <a:xfrm>
            <a:off x="10820095" y="4352544"/>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1,922</a:t>
            </a:r>
            <a:endParaRPr lang="en-US" sz="950" dirty="0"/>
          </a:p>
        </p:txBody>
      </p:sp>
      <p:sp>
        <p:nvSpPr>
          <p:cNvPr id="54" name="Text 51"/>
          <p:cNvSpPr/>
          <p:nvPr/>
        </p:nvSpPr>
        <p:spPr>
          <a:xfrm>
            <a:off x="8268005" y="4681728"/>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5 Buruk</a:t>
            </a:r>
            <a:endParaRPr lang="en-US" sz="950" dirty="0"/>
          </a:p>
        </p:txBody>
      </p:sp>
      <p:sp>
        <p:nvSpPr>
          <p:cNvPr id="55" name="Shape 52"/>
          <p:cNvSpPr/>
          <p:nvPr/>
        </p:nvSpPr>
        <p:spPr>
          <a:xfrm>
            <a:off x="9301277" y="4736592"/>
            <a:ext cx="1330147" cy="146304"/>
          </a:xfrm>
          <a:prstGeom prst="rect">
            <a:avLst/>
          </a:prstGeom>
          <a:solidFill>
            <a:srgbClr val="A8442A"/>
          </a:solidFill>
          <a:ln/>
        </p:spPr>
      </p:sp>
      <p:sp>
        <p:nvSpPr>
          <p:cNvPr id="56" name="Text 53"/>
          <p:cNvSpPr/>
          <p:nvPr/>
        </p:nvSpPr>
        <p:spPr>
          <a:xfrm>
            <a:off x="10820095" y="4681728"/>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2,291</a:t>
            </a:r>
            <a:endParaRPr lang="en-US" sz="950" dirty="0"/>
          </a:p>
        </p:txBody>
      </p:sp>
      <p:sp>
        <p:nvSpPr>
          <p:cNvPr id="57" name="Text 54"/>
          <p:cNvSpPr/>
          <p:nvPr/>
        </p:nvSpPr>
        <p:spPr>
          <a:xfrm>
            <a:off x="8268005" y="5047488"/>
            <a:ext cx="3082442" cy="4572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Monoton di lima tingkat. Yang menolak menjawab cenderung sedikit lebih tidak puas.</a:t>
            </a:r>
            <a:endParaRPr lang="en-US" sz="950" dirty="0"/>
          </a:p>
        </p:txBody>
      </p:sp>
      <p:sp>
        <p:nvSpPr>
          <p:cNvPr id="58" name="Text 55"/>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kode dipertahankan, pohon mengisolasinya sebagai cabang. Konversi ke NaN diuji dan tidak membantu.</a:t>
            </a:r>
            <a:endParaRPr lang="en-US" sz="1000" dirty="0"/>
          </a:p>
        </p:txBody>
      </p:sp>
      <p:sp>
        <p:nvSpPr>
          <p:cNvPr id="60" name="Shape 56"/>
          <p:cNvSpPr/>
          <p:nvPr/>
        </p:nvSpPr>
        <p:spPr>
          <a:xfrm>
            <a:off x="640080" y="6400800"/>
            <a:ext cx="1572768" cy="45720"/>
          </a:xfrm>
          <a:prstGeom prst="rect">
            <a:avLst/>
          </a:prstGeom>
          <a:solidFill>
            <a:srgbClr val="DCD8D1"/>
          </a:solidFill>
          <a:ln/>
        </p:spPr>
      </p:sp>
      <p:sp>
        <p:nvSpPr>
          <p:cNvPr id="61" name="Text 5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62" name="Shape 58"/>
          <p:cNvSpPr/>
          <p:nvPr/>
        </p:nvSpPr>
        <p:spPr>
          <a:xfrm>
            <a:off x="2304288" y="6400800"/>
            <a:ext cx="1572768" cy="45720"/>
          </a:xfrm>
          <a:prstGeom prst="rect">
            <a:avLst/>
          </a:prstGeom>
          <a:solidFill>
            <a:srgbClr val="A8442A"/>
          </a:solidFill>
          <a:ln/>
        </p:spPr>
      </p:sp>
      <p:sp>
        <p:nvSpPr>
          <p:cNvPr id="63" name="Text 5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64" name="Shape 60"/>
          <p:cNvSpPr/>
          <p:nvPr/>
        </p:nvSpPr>
        <p:spPr>
          <a:xfrm>
            <a:off x="3968496" y="6400800"/>
            <a:ext cx="1572768" cy="45720"/>
          </a:xfrm>
          <a:prstGeom prst="rect">
            <a:avLst/>
          </a:prstGeom>
          <a:solidFill>
            <a:srgbClr val="DCD8D1"/>
          </a:solidFill>
          <a:ln/>
        </p:spPr>
      </p:sp>
      <p:sp>
        <p:nvSpPr>
          <p:cNvPr id="65" name="Text 6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66" name="Shape 62"/>
          <p:cNvSpPr/>
          <p:nvPr/>
        </p:nvSpPr>
        <p:spPr>
          <a:xfrm>
            <a:off x="5632704" y="6400800"/>
            <a:ext cx="1572768" cy="45720"/>
          </a:xfrm>
          <a:prstGeom prst="rect">
            <a:avLst/>
          </a:prstGeom>
          <a:solidFill>
            <a:srgbClr val="DCD8D1"/>
          </a:solidFill>
          <a:ln/>
        </p:spPr>
      </p:sp>
      <p:sp>
        <p:nvSpPr>
          <p:cNvPr id="67" name="Text 6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68" name="Shape 64"/>
          <p:cNvSpPr/>
          <p:nvPr/>
        </p:nvSpPr>
        <p:spPr>
          <a:xfrm>
            <a:off x="7296912" y="6400800"/>
            <a:ext cx="1572768" cy="45720"/>
          </a:xfrm>
          <a:prstGeom prst="rect">
            <a:avLst/>
          </a:prstGeom>
          <a:solidFill>
            <a:srgbClr val="DCD8D1"/>
          </a:solidFill>
          <a:ln/>
        </p:spPr>
      </p:sp>
      <p:sp>
        <p:nvSpPr>
          <p:cNvPr id="69" name="Text 6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0" name="Shape 66"/>
          <p:cNvSpPr/>
          <p:nvPr/>
        </p:nvSpPr>
        <p:spPr>
          <a:xfrm>
            <a:off x="8961120" y="6400800"/>
            <a:ext cx="1572768" cy="45720"/>
          </a:xfrm>
          <a:prstGeom prst="rect">
            <a:avLst/>
          </a:prstGeom>
          <a:solidFill>
            <a:srgbClr val="DCD8D1"/>
          </a:solidFill>
          <a:ln/>
        </p:spPr>
      </p:sp>
      <p:sp>
        <p:nvSpPr>
          <p:cNvPr id="71" name="Text 6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72" name="Text 6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2 · Sinyalnya monoton, tersebar tipis, dan stabil empat tahun.</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Tiga temuan yang menentukan jenis model, jumlah fitur, dan cakupan waktu.</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3.4 · PREDIKTOR TERKUAT</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Monoton, jadi layak dibaca sebagai skala</a:t>
            </a:r>
            <a:endParaRPr lang="en-US" sz="1300" dirty="0"/>
          </a:p>
        </p:txBody>
      </p:sp>
      <p:sp>
        <p:nvSpPr>
          <p:cNvPr id="7" name="Text 5"/>
          <p:cNvSpPr/>
          <p:nvPr/>
        </p:nvSpPr>
        <p:spPr>
          <a:xfrm>
            <a:off x="731520" y="2212848"/>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general_health_status</a:t>
            </a:r>
            <a:endParaRPr lang="en-US" sz="900" dirty="0"/>
          </a:p>
        </p:txBody>
      </p:sp>
      <p:sp>
        <p:nvSpPr>
          <p:cNvPr id="8" name="Shape 6"/>
          <p:cNvSpPr/>
          <p:nvPr/>
        </p:nvSpPr>
        <p:spPr>
          <a:xfrm>
            <a:off x="2441448" y="2276856"/>
            <a:ext cx="1025042" cy="164592"/>
          </a:xfrm>
          <a:prstGeom prst="rect">
            <a:avLst/>
          </a:prstGeom>
          <a:solidFill>
            <a:srgbClr val="F4F1EC"/>
          </a:solidFill>
          <a:ln/>
        </p:spPr>
      </p:sp>
      <p:sp>
        <p:nvSpPr>
          <p:cNvPr id="9" name="Shape 7"/>
          <p:cNvSpPr/>
          <p:nvPr/>
        </p:nvSpPr>
        <p:spPr>
          <a:xfrm>
            <a:off x="2441448" y="2276856"/>
            <a:ext cx="982811" cy="164592"/>
          </a:xfrm>
          <a:prstGeom prst="rect">
            <a:avLst/>
          </a:prstGeom>
          <a:solidFill>
            <a:srgbClr val="2F6B5F"/>
          </a:solidFill>
          <a:ln/>
        </p:spPr>
      </p:sp>
      <p:sp>
        <p:nvSpPr>
          <p:cNvPr id="10" name="Text 8"/>
          <p:cNvSpPr/>
          <p:nvPr/>
        </p:nvSpPr>
        <p:spPr>
          <a:xfrm>
            <a:off x="3557930" y="2212848"/>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0,959</a:t>
            </a:r>
            <a:endParaRPr lang="en-US" sz="900" dirty="0"/>
          </a:p>
        </p:txBody>
      </p:sp>
      <p:sp>
        <p:nvSpPr>
          <p:cNvPr id="11" name="Text 9"/>
          <p:cNvSpPr/>
          <p:nvPr/>
        </p:nvSpPr>
        <p:spPr>
          <a:xfrm>
            <a:off x="731520" y="2560320"/>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depression_frequency</a:t>
            </a:r>
            <a:endParaRPr lang="en-US" sz="900" dirty="0"/>
          </a:p>
        </p:txBody>
      </p:sp>
      <p:sp>
        <p:nvSpPr>
          <p:cNvPr id="12" name="Shape 10"/>
          <p:cNvSpPr/>
          <p:nvPr/>
        </p:nvSpPr>
        <p:spPr>
          <a:xfrm>
            <a:off x="2441448" y="2624328"/>
            <a:ext cx="1025042" cy="164592"/>
          </a:xfrm>
          <a:prstGeom prst="rect">
            <a:avLst/>
          </a:prstGeom>
          <a:solidFill>
            <a:srgbClr val="F4F1EC"/>
          </a:solidFill>
          <a:ln/>
        </p:spPr>
      </p:sp>
      <p:sp>
        <p:nvSpPr>
          <p:cNvPr id="13" name="Shape 11"/>
          <p:cNvSpPr/>
          <p:nvPr/>
        </p:nvSpPr>
        <p:spPr>
          <a:xfrm>
            <a:off x="2441448" y="2624328"/>
            <a:ext cx="918233" cy="164592"/>
          </a:xfrm>
          <a:prstGeom prst="rect">
            <a:avLst/>
          </a:prstGeom>
          <a:solidFill>
            <a:srgbClr val="2F6B5F"/>
          </a:solidFill>
          <a:ln/>
        </p:spPr>
      </p:sp>
      <p:sp>
        <p:nvSpPr>
          <p:cNvPr id="14" name="Text 12"/>
          <p:cNvSpPr/>
          <p:nvPr/>
        </p:nvSpPr>
        <p:spPr>
          <a:xfrm>
            <a:off x="3557930" y="2560320"/>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0,896</a:t>
            </a:r>
            <a:endParaRPr lang="en-US" sz="900" dirty="0"/>
          </a:p>
        </p:txBody>
      </p:sp>
      <p:sp>
        <p:nvSpPr>
          <p:cNvPr id="15" name="Text 13"/>
          <p:cNvSpPr/>
          <p:nvPr/>
        </p:nvSpPr>
        <p:spPr>
          <a:xfrm>
            <a:off x="731520" y="2907792"/>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difficulty_self_care</a:t>
            </a:r>
            <a:endParaRPr lang="en-US" sz="900" dirty="0"/>
          </a:p>
        </p:txBody>
      </p:sp>
      <p:sp>
        <p:nvSpPr>
          <p:cNvPr id="16" name="Shape 14"/>
          <p:cNvSpPr/>
          <p:nvPr/>
        </p:nvSpPr>
        <p:spPr>
          <a:xfrm>
            <a:off x="2441448" y="2971800"/>
            <a:ext cx="1025042" cy="164592"/>
          </a:xfrm>
          <a:prstGeom prst="rect">
            <a:avLst/>
          </a:prstGeom>
          <a:solidFill>
            <a:srgbClr val="F4F1EC"/>
          </a:solidFill>
          <a:ln/>
        </p:spPr>
      </p:sp>
      <p:sp>
        <p:nvSpPr>
          <p:cNvPr id="17" name="Shape 15"/>
          <p:cNvSpPr/>
          <p:nvPr/>
        </p:nvSpPr>
        <p:spPr>
          <a:xfrm>
            <a:off x="2441448" y="2971800"/>
            <a:ext cx="694979" cy="164592"/>
          </a:xfrm>
          <a:prstGeom prst="rect">
            <a:avLst/>
          </a:prstGeom>
          <a:solidFill>
            <a:srgbClr val="8FB0A4"/>
          </a:solidFill>
          <a:ln/>
        </p:spPr>
      </p:sp>
      <p:sp>
        <p:nvSpPr>
          <p:cNvPr id="18" name="Text 16"/>
          <p:cNvSpPr/>
          <p:nvPr/>
        </p:nvSpPr>
        <p:spPr>
          <a:xfrm>
            <a:off x="3557930" y="2907792"/>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0,678</a:t>
            </a:r>
            <a:endParaRPr lang="en-US" sz="900" dirty="0"/>
          </a:p>
        </p:txBody>
      </p:sp>
      <p:sp>
        <p:nvSpPr>
          <p:cNvPr id="19" name="Text 17"/>
          <p:cNvSpPr/>
          <p:nvPr/>
        </p:nvSpPr>
        <p:spPr>
          <a:xfrm>
            <a:off x="731520" y="3255264"/>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difficulty_using_hands</a:t>
            </a:r>
            <a:endParaRPr lang="en-US" sz="900" dirty="0"/>
          </a:p>
        </p:txBody>
      </p:sp>
      <p:sp>
        <p:nvSpPr>
          <p:cNvPr id="20" name="Shape 18"/>
          <p:cNvSpPr/>
          <p:nvPr/>
        </p:nvSpPr>
        <p:spPr>
          <a:xfrm>
            <a:off x="2441448" y="3319272"/>
            <a:ext cx="1025042" cy="164592"/>
          </a:xfrm>
          <a:prstGeom prst="rect">
            <a:avLst/>
          </a:prstGeom>
          <a:solidFill>
            <a:srgbClr val="F4F1EC"/>
          </a:solidFill>
          <a:ln/>
        </p:spPr>
      </p:sp>
      <p:sp>
        <p:nvSpPr>
          <p:cNvPr id="21" name="Shape 19"/>
          <p:cNvSpPr/>
          <p:nvPr/>
        </p:nvSpPr>
        <p:spPr>
          <a:xfrm>
            <a:off x="2441448" y="3319272"/>
            <a:ext cx="692929" cy="164592"/>
          </a:xfrm>
          <a:prstGeom prst="rect">
            <a:avLst/>
          </a:prstGeom>
          <a:solidFill>
            <a:srgbClr val="8FB0A4"/>
          </a:solidFill>
          <a:ln/>
        </p:spPr>
      </p:sp>
      <p:sp>
        <p:nvSpPr>
          <p:cNvPr id="22" name="Text 20"/>
          <p:cNvSpPr/>
          <p:nvPr/>
        </p:nvSpPr>
        <p:spPr>
          <a:xfrm>
            <a:off x="3557930" y="3255264"/>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0,676</a:t>
            </a:r>
            <a:endParaRPr lang="en-US" sz="900" dirty="0"/>
          </a:p>
        </p:txBody>
      </p:sp>
      <p:sp>
        <p:nvSpPr>
          <p:cNvPr id="23" name="Text 21"/>
          <p:cNvSpPr/>
          <p:nvPr/>
        </p:nvSpPr>
        <p:spPr>
          <a:xfrm>
            <a:off x="731520" y="3602736"/>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difficulty_social_activ.</a:t>
            </a:r>
            <a:endParaRPr lang="en-US" sz="900" dirty="0"/>
          </a:p>
        </p:txBody>
      </p:sp>
      <p:sp>
        <p:nvSpPr>
          <p:cNvPr id="24" name="Shape 22"/>
          <p:cNvSpPr/>
          <p:nvPr/>
        </p:nvSpPr>
        <p:spPr>
          <a:xfrm>
            <a:off x="2441448" y="3666744"/>
            <a:ext cx="1025042" cy="164592"/>
          </a:xfrm>
          <a:prstGeom prst="rect">
            <a:avLst/>
          </a:prstGeom>
          <a:solidFill>
            <a:srgbClr val="F4F1EC"/>
          </a:solidFill>
          <a:ln/>
        </p:spPr>
      </p:sp>
      <p:sp>
        <p:nvSpPr>
          <p:cNvPr id="25" name="Shape 23"/>
          <p:cNvSpPr/>
          <p:nvPr/>
        </p:nvSpPr>
        <p:spPr>
          <a:xfrm>
            <a:off x="2441448" y="3666744"/>
            <a:ext cx="681243" cy="164592"/>
          </a:xfrm>
          <a:prstGeom prst="rect">
            <a:avLst/>
          </a:prstGeom>
          <a:solidFill>
            <a:srgbClr val="8FB0A4"/>
          </a:solidFill>
          <a:ln/>
        </p:spPr>
      </p:sp>
      <p:sp>
        <p:nvSpPr>
          <p:cNvPr id="26" name="Text 24"/>
          <p:cNvSpPr/>
          <p:nvPr/>
        </p:nvSpPr>
        <p:spPr>
          <a:xfrm>
            <a:off x="3557930" y="3602736"/>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0,665</a:t>
            </a:r>
            <a:endParaRPr lang="en-US" sz="900" dirty="0"/>
          </a:p>
        </p:txBody>
      </p:sp>
      <p:sp>
        <p:nvSpPr>
          <p:cNvPr id="27" name="Text 25"/>
          <p:cNvSpPr/>
          <p:nvPr/>
        </p:nvSpPr>
        <p:spPr>
          <a:xfrm>
            <a:off x="731520" y="3950208"/>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anxiety_frequency</a:t>
            </a:r>
            <a:endParaRPr lang="en-US" sz="900" dirty="0"/>
          </a:p>
        </p:txBody>
      </p:sp>
      <p:sp>
        <p:nvSpPr>
          <p:cNvPr id="28" name="Shape 26"/>
          <p:cNvSpPr/>
          <p:nvPr/>
        </p:nvSpPr>
        <p:spPr>
          <a:xfrm>
            <a:off x="2441448" y="4014216"/>
            <a:ext cx="1025042" cy="164592"/>
          </a:xfrm>
          <a:prstGeom prst="rect">
            <a:avLst/>
          </a:prstGeom>
          <a:solidFill>
            <a:srgbClr val="F4F1EC"/>
          </a:solidFill>
          <a:ln/>
        </p:spPr>
      </p:sp>
      <p:sp>
        <p:nvSpPr>
          <p:cNvPr id="29" name="Shape 27"/>
          <p:cNvSpPr/>
          <p:nvPr/>
        </p:nvSpPr>
        <p:spPr>
          <a:xfrm>
            <a:off x="2441448" y="4014216"/>
            <a:ext cx="574331" cy="164592"/>
          </a:xfrm>
          <a:prstGeom prst="rect">
            <a:avLst/>
          </a:prstGeom>
          <a:solidFill>
            <a:srgbClr val="D8A25E"/>
          </a:solidFill>
          <a:ln/>
        </p:spPr>
      </p:sp>
      <p:sp>
        <p:nvSpPr>
          <p:cNvPr id="30" name="Text 28"/>
          <p:cNvSpPr/>
          <p:nvPr/>
        </p:nvSpPr>
        <p:spPr>
          <a:xfrm>
            <a:off x="3557930" y="3950208"/>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0,560</a:t>
            </a:r>
            <a:endParaRPr lang="en-US" sz="900" dirty="0"/>
          </a:p>
        </p:txBody>
      </p:sp>
      <p:sp>
        <p:nvSpPr>
          <p:cNvPr id="31" name="Text 29"/>
          <p:cNvSpPr/>
          <p:nvPr/>
        </p:nvSpPr>
        <p:spPr>
          <a:xfrm>
            <a:off x="731520" y="4297680"/>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food_security_4cat</a:t>
            </a:r>
            <a:endParaRPr lang="en-US" sz="900" dirty="0"/>
          </a:p>
        </p:txBody>
      </p:sp>
      <p:sp>
        <p:nvSpPr>
          <p:cNvPr id="32" name="Shape 30"/>
          <p:cNvSpPr/>
          <p:nvPr/>
        </p:nvSpPr>
        <p:spPr>
          <a:xfrm>
            <a:off x="2441448" y="4361688"/>
            <a:ext cx="1025042" cy="164592"/>
          </a:xfrm>
          <a:prstGeom prst="rect">
            <a:avLst/>
          </a:prstGeom>
          <a:solidFill>
            <a:srgbClr val="F4F1EC"/>
          </a:solidFill>
          <a:ln/>
        </p:spPr>
      </p:sp>
      <p:sp>
        <p:nvSpPr>
          <p:cNvPr id="33" name="Shape 31"/>
          <p:cNvSpPr/>
          <p:nvPr/>
        </p:nvSpPr>
        <p:spPr>
          <a:xfrm>
            <a:off x="2441448" y="4361688"/>
            <a:ext cx="551575" cy="164592"/>
          </a:xfrm>
          <a:prstGeom prst="rect">
            <a:avLst/>
          </a:prstGeom>
          <a:solidFill>
            <a:srgbClr val="D8A25E"/>
          </a:solidFill>
          <a:ln/>
        </p:spPr>
      </p:sp>
      <p:sp>
        <p:nvSpPr>
          <p:cNvPr id="34" name="Text 32"/>
          <p:cNvSpPr/>
          <p:nvPr/>
        </p:nvSpPr>
        <p:spPr>
          <a:xfrm>
            <a:off x="3557930" y="4297680"/>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0,538</a:t>
            </a:r>
            <a:endParaRPr lang="en-US" sz="900" dirty="0"/>
          </a:p>
        </p:txBody>
      </p:sp>
      <p:sp>
        <p:nvSpPr>
          <p:cNvPr id="35" name="Text 33"/>
          <p:cNvSpPr/>
          <p:nvPr/>
        </p:nvSpPr>
        <p:spPr>
          <a:xfrm>
            <a:off x="841248" y="4700016"/>
            <a:ext cx="3082442" cy="310896"/>
          </a:xfrm>
          <a:prstGeom prst="rect">
            <a:avLst/>
          </a:prstGeom>
          <a:noFill/>
          <a:ln/>
        </p:spPr>
        <p:txBody>
          <a:bodyPr wrap="square" lIns="0" tIns="0" rIns="0" bIns="0" rtlCol="0" anchor="ctr"/>
          <a:lstStyle/>
          <a:p>
            <a:pPr algn="l" indent="0" marL="0">
              <a:buNone/>
            </a:pPr>
            <a:r>
              <a:rPr lang="en-US" sz="900" i="1" dirty="0">
                <a:solidFill>
                  <a:srgbClr val="6E747C"/>
                </a:solidFill>
                <a:latin typeface="Calibri" pitchFamily="34" charset="0"/>
                <a:ea typeface="Calibri" pitchFamily="34" charset="-122"/>
                <a:cs typeface="Calibri" pitchFamily="34" charset="-120"/>
              </a:rPr>
              <a:t>Rentang rata-rata target antar tingkat variabel.</a:t>
            </a:r>
            <a:endParaRPr lang="en-US" sz="900" dirty="0"/>
          </a:p>
        </p:txBody>
      </p:sp>
      <p:sp>
        <p:nvSpPr>
          <p:cNvPr id="36" name="Text 34"/>
          <p:cNvSpPr/>
          <p:nvPr/>
        </p:nvSpPr>
        <p:spPr>
          <a:xfrm>
            <a:off x="841248" y="5001768"/>
            <a:ext cx="3082442" cy="6400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Kesehatan memburuk, depresi makin sering, pangan makin rapuh: rata-rata target naik konsisten tanpa pembalikan.</a:t>
            </a:r>
            <a:endParaRPr lang="en-US" sz="950" dirty="0"/>
          </a:p>
        </p:txBody>
      </p:sp>
      <p:sp>
        <p:nvSpPr>
          <p:cNvPr id="37" name="Text 35"/>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tambah regresi Huber dan dekomposisi biner kumulatif di samping klasifikasi.</a:t>
            </a:r>
            <a:endParaRPr lang="en-US" sz="1000" dirty="0"/>
          </a:p>
        </p:txBody>
      </p:sp>
      <p:sp>
        <p:nvSpPr>
          <p:cNvPr id="38" name="Shape 36"/>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39" name="Text 37"/>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3.7 · STRUKTUR KORELASI</a:t>
            </a:r>
            <a:endParaRPr lang="en-US" sz="850" dirty="0"/>
          </a:p>
        </p:txBody>
      </p:sp>
      <p:sp>
        <p:nvSpPr>
          <p:cNvPr id="40" name="Text 38"/>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Tidak ada fitur dominan</a:t>
            </a:r>
            <a:endParaRPr lang="en-US" sz="1300" dirty="0"/>
          </a:p>
        </p:txBody>
      </p:sp>
      <p:sp>
        <p:nvSpPr>
          <p:cNvPr id="41" name="Text 39"/>
          <p:cNvSpPr/>
          <p:nvPr/>
        </p:nvSpPr>
        <p:spPr>
          <a:xfrm>
            <a:off x="4554626" y="2212848"/>
            <a:ext cx="1463040" cy="347472"/>
          </a:xfrm>
          <a:prstGeom prst="rect">
            <a:avLst/>
          </a:prstGeom>
          <a:noFill/>
          <a:ln/>
        </p:spPr>
        <p:txBody>
          <a:bodyPr wrap="square" lIns="0" tIns="0" rIns="0" bIns="0" rtlCol="0" anchor="b"/>
          <a:lstStyle/>
          <a:p>
            <a:pPr algn="l" indent="0" marL="0">
              <a:buNone/>
            </a:pPr>
            <a:r>
              <a:rPr lang="en-US" sz="1700" b="1" dirty="0">
                <a:solidFill>
                  <a:srgbClr val="A8442A"/>
                </a:solidFill>
                <a:latin typeface="Cambria" pitchFamily="34" charset="0"/>
                <a:ea typeface="Cambria" pitchFamily="34" charset="-122"/>
                <a:cs typeface="Cambria" pitchFamily="34" charset="-120"/>
              </a:rPr>
              <a:t>0,361</a:t>
            </a:r>
            <a:endParaRPr lang="en-US" sz="1700" dirty="0"/>
          </a:p>
        </p:txBody>
      </p:sp>
      <p:sp>
        <p:nvSpPr>
          <p:cNvPr id="42" name="Text 40"/>
          <p:cNvSpPr/>
          <p:nvPr/>
        </p:nvSpPr>
        <p:spPr>
          <a:xfrm>
            <a:off x="4554626" y="259689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korelasi tertinggi</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satu fitur ke target</a:t>
            </a:r>
            <a:endParaRPr lang="en-US" sz="900" dirty="0"/>
          </a:p>
        </p:txBody>
      </p:sp>
      <p:sp>
        <p:nvSpPr>
          <p:cNvPr id="43" name="Text 41"/>
          <p:cNvSpPr/>
          <p:nvPr/>
        </p:nvSpPr>
        <p:spPr>
          <a:xfrm>
            <a:off x="6109106" y="221284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0,037</a:t>
            </a:r>
            <a:endParaRPr lang="en-US" sz="1700" dirty="0"/>
          </a:p>
        </p:txBody>
      </p:sp>
      <p:sp>
        <p:nvSpPr>
          <p:cNvPr id="44" name="Text 42"/>
          <p:cNvSpPr/>
          <p:nvPr/>
        </p:nvSpPr>
        <p:spPr>
          <a:xfrm>
            <a:off x="6109106" y="259689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median korelasi</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antar fitur</a:t>
            </a:r>
            <a:endParaRPr lang="en-US" sz="900" dirty="0"/>
          </a:p>
        </p:txBody>
      </p:sp>
      <p:sp>
        <p:nvSpPr>
          <p:cNvPr id="45" name="Text 43"/>
          <p:cNvSpPr/>
          <p:nvPr/>
        </p:nvSpPr>
        <p:spPr>
          <a:xfrm>
            <a:off x="4554626" y="308152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17</a:t>
            </a:r>
            <a:endParaRPr lang="en-US" sz="1700" dirty="0"/>
          </a:p>
        </p:txBody>
      </p:sp>
      <p:sp>
        <p:nvSpPr>
          <p:cNvPr id="46" name="Text 44"/>
          <p:cNvSpPr/>
          <p:nvPr/>
        </p:nvSpPr>
        <p:spPr>
          <a:xfrm>
            <a:off x="4554626" y="346557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pasangan fitur</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|ρ| &gt; 0,9</a:t>
            </a:r>
            <a:endParaRPr lang="en-US" sz="900" dirty="0"/>
          </a:p>
        </p:txBody>
      </p:sp>
      <p:sp>
        <p:nvSpPr>
          <p:cNvPr id="47" name="Text 45"/>
          <p:cNvSpPr/>
          <p:nvPr/>
        </p:nvSpPr>
        <p:spPr>
          <a:xfrm>
            <a:off x="6109106" y="308152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14.667</a:t>
            </a:r>
            <a:endParaRPr lang="en-US" sz="1700" dirty="0"/>
          </a:p>
        </p:txBody>
      </p:sp>
      <p:sp>
        <p:nvSpPr>
          <p:cNvPr id="48" name="Text 46"/>
          <p:cNvSpPr/>
          <p:nvPr/>
        </p:nvSpPr>
        <p:spPr>
          <a:xfrm>
            <a:off x="6109106" y="346557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pasangan</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diperiksa</a:t>
            </a:r>
            <a:endParaRPr lang="en-US" sz="900" dirty="0"/>
          </a:p>
        </p:txBody>
      </p:sp>
      <p:sp>
        <p:nvSpPr>
          <p:cNvPr id="49" name="Text 47"/>
          <p:cNvSpPr/>
          <p:nvPr/>
        </p:nvSpPr>
        <p:spPr>
          <a:xfrm>
            <a:off x="4554626" y="404164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data_year · survey_year</a:t>
            </a:r>
            <a:endParaRPr lang="en-US" sz="900" dirty="0"/>
          </a:p>
        </p:txBody>
      </p:sp>
      <p:sp>
        <p:nvSpPr>
          <p:cNvPr id="50" name="Text 48"/>
          <p:cNvSpPr/>
          <p:nvPr/>
        </p:nvSpPr>
        <p:spPr>
          <a:xfrm>
            <a:off x="6958931" y="404164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1,000</a:t>
            </a:r>
            <a:endParaRPr lang="en-US" sz="900" dirty="0"/>
          </a:p>
        </p:txBody>
      </p:sp>
      <p:sp>
        <p:nvSpPr>
          <p:cNvPr id="51" name="Shape 49"/>
          <p:cNvSpPr/>
          <p:nvPr/>
        </p:nvSpPr>
        <p:spPr>
          <a:xfrm>
            <a:off x="4554626" y="4315968"/>
            <a:ext cx="3082442" cy="0"/>
          </a:xfrm>
          <a:prstGeom prst="line">
            <a:avLst/>
          </a:prstGeom>
          <a:noFill/>
          <a:ln w="7620">
            <a:solidFill>
              <a:srgbClr val="DCD8D1"/>
            </a:solidFill>
            <a:prstDash val="solid"/>
          </a:ln>
        </p:spPr>
      </p:sp>
      <p:sp>
        <p:nvSpPr>
          <p:cNvPr id="52" name="Text 50"/>
          <p:cNvSpPr/>
          <p:nvPr/>
        </p:nvSpPr>
        <p:spPr>
          <a:xfrm>
            <a:off x="4554626" y="431596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children_in_family · _household</a:t>
            </a:r>
            <a:endParaRPr lang="en-US" sz="900" dirty="0"/>
          </a:p>
        </p:txBody>
      </p:sp>
      <p:sp>
        <p:nvSpPr>
          <p:cNvPr id="53" name="Text 51"/>
          <p:cNvSpPr/>
          <p:nvPr/>
        </p:nvSpPr>
        <p:spPr>
          <a:xfrm>
            <a:off x="6958931" y="431596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0,998</a:t>
            </a:r>
            <a:endParaRPr lang="en-US" sz="900" dirty="0"/>
          </a:p>
        </p:txBody>
      </p:sp>
      <p:sp>
        <p:nvSpPr>
          <p:cNvPr id="54" name="Shape 52"/>
          <p:cNvSpPr/>
          <p:nvPr/>
        </p:nvSpPr>
        <p:spPr>
          <a:xfrm>
            <a:off x="4554626" y="4590288"/>
            <a:ext cx="3082442" cy="0"/>
          </a:xfrm>
          <a:prstGeom prst="line">
            <a:avLst/>
          </a:prstGeom>
          <a:noFill/>
          <a:ln w="7620">
            <a:solidFill>
              <a:srgbClr val="DCD8D1"/>
            </a:solidFill>
            <a:prstDash val="solid"/>
          </a:ln>
        </p:spPr>
      </p:sp>
      <p:sp>
        <p:nvSpPr>
          <p:cNvPr id="55" name="Text 53"/>
          <p:cNvSpPr/>
          <p:nvPr/>
        </p:nvSpPr>
        <p:spPr>
          <a:xfrm>
            <a:off x="4554626" y="459028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ever_used_ecigarette · status</a:t>
            </a:r>
            <a:endParaRPr lang="en-US" sz="900" dirty="0"/>
          </a:p>
        </p:txBody>
      </p:sp>
      <p:sp>
        <p:nvSpPr>
          <p:cNvPr id="56" name="Text 54"/>
          <p:cNvSpPr/>
          <p:nvPr/>
        </p:nvSpPr>
        <p:spPr>
          <a:xfrm>
            <a:off x="6958931" y="459028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0,997</a:t>
            </a:r>
            <a:endParaRPr lang="en-US" sz="900" dirty="0"/>
          </a:p>
        </p:txBody>
      </p:sp>
      <p:sp>
        <p:nvSpPr>
          <p:cNvPr id="57" name="Shape 55"/>
          <p:cNvSpPr/>
          <p:nvPr/>
        </p:nvSpPr>
        <p:spPr>
          <a:xfrm>
            <a:off x="4554626" y="4864608"/>
            <a:ext cx="3082442" cy="0"/>
          </a:xfrm>
          <a:prstGeom prst="line">
            <a:avLst/>
          </a:prstGeom>
          <a:noFill/>
          <a:ln w="7620">
            <a:solidFill>
              <a:srgbClr val="DCD8D1"/>
            </a:solidFill>
            <a:prstDash val="solid"/>
          </a:ln>
        </p:spPr>
      </p:sp>
      <p:sp>
        <p:nvSpPr>
          <p:cNvPr id="58" name="Text 56"/>
          <p:cNvSpPr/>
          <p:nvPr/>
        </p:nvSpPr>
        <p:spPr>
          <a:xfrm>
            <a:off x="4554626" y="486460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cancer_ever · types_count</a:t>
            </a:r>
            <a:endParaRPr lang="en-US" sz="900" dirty="0"/>
          </a:p>
        </p:txBody>
      </p:sp>
      <p:sp>
        <p:nvSpPr>
          <p:cNvPr id="59" name="Text 57"/>
          <p:cNvSpPr/>
          <p:nvPr/>
        </p:nvSpPr>
        <p:spPr>
          <a:xfrm>
            <a:off x="6958931" y="486460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0,981</a:t>
            </a:r>
            <a:endParaRPr lang="en-US" sz="900" dirty="0"/>
          </a:p>
        </p:txBody>
      </p:sp>
      <p:sp>
        <p:nvSpPr>
          <p:cNvPr id="60" name="Text 58"/>
          <p:cNvSpPr/>
          <p:nvPr/>
        </p:nvSpPr>
        <p:spPr>
          <a:xfrm>
            <a:off x="4554626" y="5212080"/>
            <a:ext cx="3082442" cy="411480"/>
          </a:xfrm>
          <a:prstGeom prst="rect">
            <a:avLst/>
          </a:prstGeom>
          <a:noFill/>
          <a:ln/>
        </p:spPr>
        <p:txBody>
          <a:bodyPr wrap="square" lIns="0" tIns="0" rIns="0" bIns="0" rtlCol="0" anchor="t"/>
          <a:lstStyle/>
          <a:p>
            <a:pPr algn="l" indent="0" marL="0">
              <a:lnSpc>
                <a:spcPts val="1215"/>
              </a:lnSpc>
              <a:buNone/>
            </a:pPr>
            <a:r>
              <a:rPr lang="en-US" sz="900" dirty="0">
                <a:solidFill>
                  <a:srgbClr val="3A4048"/>
                </a:solidFill>
                <a:latin typeface="Calibri" pitchFamily="34" charset="0"/>
                <a:ea typeface="Calibri" pitchFamily="34" charset="-122"/>
                <a:cs typeface="Calibri" pitchFamily="34" charset="-120"/>
              </a:rPr>
              <a:t>Redundansi terpusat pada pasangan yang memang kembar. Sisanya membawa sinyal kecil masing-masing.</a:t>
            </a:r>
            <a:endParaRPr lang="en-US" sz="900" dirty="0"/>
          </a:p>
        </p:txBody>
      </p:sp>
      <p:sp>
        <p:nvSpPr>
          <p:cNvPr id="61" name="Text 59"/>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seleksi fitur agresif ditolak, seluruh 176 fitur dipertahankan.</a:t>
            </a:r>
            <a:endParaRPr lang="en-US" sz="1000" dirty="0"/>
          </a:p>
        </p:txBody>
      </p:sp>
      <p:sp>
        <p:nvSpPr>
          <p:cNvPr id="62" name="Shape 60"/>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63" name="Text 61"/>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3.8 · STABILITAS ANTAR TAHUN</a:t>
            </a:r>
            <a:endParaRPr lang="en-US" sz="850" dirty="0"/>
          </a:p>
        </p:txBody>
      </p:sp>
      <p:sp>
        <p:nvSpPr>
          <p:cNvPr id="64" name="Text 62"/>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Melintasi pandemi, perilakunya sama</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68005" y="2212848"/>
          <a:ext cx="3082442" cy="914400"/>
        </p:xfrm>
        <a:graphic>
          <a:graphicData uri="http://schemas.openxmlformats.org/drawingml/2006/table">
            <a:tbl>
              <a:tblPr/>
              <a:tblGrid>
                <a:gridCol w="594360"/>
                <a:gridCol w="777240"/>
                <a:gridCol w="822960"/>
                <a:gridCol w="886968"/>
              </a:tblGrid>
              <a:tr h="274320">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Tahun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rata-rata</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 kls 3+4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2021</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21.464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1,5914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5,25%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2022</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20.417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1,6105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4,53%</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2023</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21.849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1,6153</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4,49%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2024</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24.230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1,6070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4,35%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6" name="Text 63"/>
          <p:cNvSpPr/>
          <p:nvPr/>
        </p:nvSpPr>
        <p:spPr>
          <a:xfrm>
            <a:off x="8268005" y="3813048"/>
            <a:ext cx="3082442" cy="420624"/>
          </a:xfrm>
          <a:prstGeom prst="rect">
            <a:avLst/>
          </a:prstGeom>
          <a:noFill/>
          <a:ln/>
        </p:spPr>
        <p:txBody>
          <a:bodyPr wrap="square" lIns="0" tIns="0" rIns="0" bIns="0" rtlCol="0" anchor="b"/>
          <a:lstStyle/>
          <a:p>
            <a:pPr algn="l" indent="0" marL="0">
              <a:buNone/>
            </a:pPr>
            <a:r>
              <a:rPr lang="en-US" sz="2200" b="1" dirty="0">
                <a:solidFill>
                  <a:srgbClr val="2F6B5F"/>
                </a:solidFill>
                <a:latin typeface="Cambria" pitchFamily="34" charset="0"/>
                <a:ea typeface="Cambria" pitchFamily="34" charset="-122"/>
                <a:cs typeface="Cambria" pitchFamily="34" charset="-120"/>
              </a:rPr>
              <a:t>0,0239</a:t>
            </a:r>
            <a:endParaRPr lang="en-US" sz="2200" dirty="0"/>
          </a:p>
        </p:txBody>
      </p:sp>
      <p:sp>
        <p:nvSpPr>
          <p:cNvPr id="67" name="Text 64"/>
          <p:cNvSpPr/>
          <p:nvPr/>
        </p:nvSpPr>
        <p:spPr>
          <a:xfrm>
            <a:off x="8268005" y="4270248"/>
            <a:ext cx="3082442" cy="60350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total pergerakan rata-rata target selama empat tahun; proporsi tahun di latih dan uji nyaris identik</a:t>
            </a:r>
            <a:endParaRPr lang="en-US" sz="950" dirty="0"/>
          </a:p>
        </p:txBody>
      </p:sp>
      <p:sp>
        <p:nvSpPr>
          <p:cNvPr id="68" name="Text 65"/>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satu model untuk seluruh periode. Indikator tahun dan model per tahun diuji lalu ditolak.</a:t>
            </a:r>
            <a:endParaRPr lang="en-US" sz="1000" dirty="0"/>
          </a:p>
        </p:txBody>
      </p:sp>
      <p:sp>
        <p:nvSpPr>
          <p:cNvPr id="70" name="Shape 66"/>
          <p:cNvSpPr/>
          <p:nvPr/>
        </p:nvSpPr>
        <p:spPr>
          <a:xfrm>
            <a:off x="640080" y="6400800"/>
            <a:ext cx="1572768" cy="45720"/>
          </a:xfrm>
          <a:prstGeom prst="rect">
            <a:avLst/>
          </a:prstGeom>
          <a:solidFill>
            <a:srgbClr val="DCD8D1"/>
          </a:solidFill>
          <a:ln/>
        </p:spPr>
      </p:sp>
      <p:sp>
        <p:nvSpPr>
          <p:cNvPr id="71" name="Text 6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72" name="Shape 68"/>
          <p:cNvSpPr/>
          <p:nvPr/>
        </p:nvSpPr>
        <p:spPr>
          <a:xfrm>
            <a:off x="2304288" y="6400800"/>
            <a:ext cx="1572768" cy="45720"/>
          </a:xfrm>
          <a:prstGeom prst="rect">
            <a:avLst/>
          </a:prstGeom>
          <a:solidFill>
            <a:srgbClr val="A8442A"/>
          </a:solidFill>
          <a:ln/>
        </p:spPr>
      </p:sp>
      <p:sp>
        <p:nvSpPr>
          <p:cNvPr id="73" name="Text 6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4" name="Shape 70"/>
          <p:cNvSpPr/>
          <p:nvPr/>
        </p:nvSpPr>
        <p:spPr>
          <a:xfrm>
            <a:off x="3968496" y="6400800"/>
            <a:ext cx="1572768" cy="45720"/>
          </a:xfrm>
          <a:prstGeom prst="rect">
            <a:avLst/>
          </a:prstGeom>
          <a:solidFill>
            <a:srgbClr val="DCD8D1"/>
          </a:solidFill>
          <a:ln/>
        </p:spPr>
      </p:sp>
      <p:sp>
        <p:nvSpPr>
          <p:cNvPr id="75" name="Text 7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6" name="Shape 72"/>
          <p:cNvSpPr/>
          <p:nvPr/>
        </p:nvSpPr>
        <p:spPr>
          <a:xfrm>
            <a:off x="5632704" y="6400800"/>
            <a:ext cx="1572768" cy="45720"/>
          </a:xfrm>
          <a:prstGeom prst="rect">
            <a:avLst/>
          </a:prstGeom>
          <a:solidFill>
            <a:srgbClr val="DCD8D1"/>
          </a:solidFill>
          <a:ln/>
        </p:spPr>
      </p:sp>
      <p:sp>
        <p:nvSpPr>
          <p:cNvPr id="77" name="Text 7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8" name="Shape 74"/>
          <p:cNvSpPr/>
          <p:nvPr/>
        </p:nvSpPr>
        <p:spPr>
          <a:xfrm>
            <a:off x="7296912" y="6400800"/>
            <a:ext cx="1572768" cy="45720"/>
          </a:xfrm>
          <a:prstGeom prst="rect">
            <a:avLst/>
          </a:prstGeom>
          <a:solidFill>
            <a:srgbClr val="DCD8D1"/>
          </a:solidFill>
          <a:ln/>
        </p:spPr>
      </p:sp>
      <p:sp>
        <p:nvSpPr>
          <p:cNvPr id="79" name="Text 7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80" name="Shape 76"/>
          <p:cNvSpPr/>
          <p:nvPr/>
        </p:nvSpPr>
        <p:spPr>
          <a:xfrm>
            <a:off x="8961120" y="6400800"/>
            <a:ext cx="1572768" cy="45720"/>
          </a:xfrm>
          <a:prstGeom prst="rect">
            <a:avLst/>
          </a:prstGeom>
          <a:solidFill>
            <a:srgbClr val="DCD8D1"/>
          </a:solidFill>
          <a:ln/>
        </p:spPr>
      </p:sp>
      <p:sp>
        <p:nvSpPr>
          <p:cNvPr id="81" name="Text 7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2" name="Text 7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41410" y="91440"/>
            <a:ext cx="3010205" cy="237744"/>
          </a:xfrm>
          <a:prstGeom prst="roundRect">
            <a:avLst>
              <a:gd name="adj" fmla="val 50000"/>
            </a:avLst>
          </a:prstGeom>
          <a:solidFill>
            <a:srgbClr val="2F6B5F"/>
          </a:solidFill>
          <a:ln/>
        </p:spPr>
      </p:sp>
      <p:sp>
        <p:nvSpPr>
          <p:cNvPr id="3" name="Text 1"/>
          <p:cNvSpPr/>
          <p:nvPr/>
        </p:nvSpPr>
        <p:spPr>
          <a:xfrm>
            <a:off x="8541410" y="91440"/>
            <a:ext cx="3010205"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kebocoran diukur lalu ditolak</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3 · Penentu terbesar tak terekam, dua kebocoran ditolak.</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Peta kekuatan sinyal per domain, lalu dua jebakan yang diukur sebelum dibuang.</a:t>
            </a:r>
            <a:endParaRPr lang="en-US" sz="1250" dirty="0"/>
          </a:p>
        </p:txBody>
      </p:sp>
      <p:sp>
        <p:nvSpPr>
          <p:cNvPr id="6" name="Shape 4"/>
          <p:cNvSpPr/>
          <p:nvPr/>
        </p:nvSpPr>
        <p:spPr>
          <a:xfrm>
            <a:off x="640080" y="1371600"/>
            <a:ext cx="5806440" cy="4846320"/>
          </a:xfrm>
          <a:prstGeom prst="roundRect">
            <a:avLst>
              <a:gd name="adj" fmla="val 1132"/>
            </a:avLst>
          </a:prstGeom>
          <a:solidFill>
            <a:srgbClr val="F4F1EC"/>
          </a:solidFill>
          <a:ln w="9525">
            <a:solidFill>
              <a:srgbClr val="DCD8D1"/>
            </a:solidFill>
            <a:prstDash val="solid"/>
          </a:ln>
        </p:spPr>
      </p:sp>
      <p:sp>
        <p:nvSpPr>
          <p:cNvPr id="7" name="Text 5"/>
          <p:cNvSpPr/>
          <p:nvPr/>
        </p:nvSpPr>
        <p:spPr>
          <a:xfrm>
            <a:off x="841248" y="1499616"/>
            <a:ext cx="540410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3.9 · PETA SINYAL PER DOMAIN</a:t>
            </a:r>
            <a:endParaRPr lang="en-US" sz="850" dirty="0"/>
          </a:p>
        </p:txBody>
      </p:sp>
      <p:sp>
        <p:nvSpPr>
          <p:cNvPr id="8" name="Text 6"/>
          <p:cNvSpPr/>
          <p:nvPr/>
        </p:nvSpPr>
        <p:spPr>
          <a:xfrm>
            <a:off x="841248" y="1700784"/>
            <a:ext cx="540410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Korelasi Spearman maksimum terhadap target</a:t>
            </a:r>
            <a:endParaRPr lang="en-US" sz="1300" dirty="0"/>
          </a:p>
        </p:txBody>
      </p:sp>
      <p:sp>
        <p:nvSpPr>
          <p:cNvPr id="9" name="Text 7"/>
          <p:cNvSpPr/>
          <p:nvPr/>
        </p:nvSpPr>
        <p:spPr>
          <a:xfrm>
            <a:off x="731520" y="221284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Kesehatan fisik (10)</a:t>
            </a:r>
            <a:endParaRPr lang="en-US" sz="900" dirty="0"/>
          </a:p>
        </p:txBody>
      </p:sp>
      <p:sp>
        <p:nvSpPr>
          <p:cNvPr id="10" name="Shape 8"/>
          <p:cNvSpPr/>
          <p:nvPr/>
        </p:nvSpPr>
        <p:spPr>
          <a:xfrm>
            <a:off x="2304288" y="2276856"/>
            <a:ext cx="1197864" cy="182880"/>
          </a:xfrm>
          <a:prstGeom prst="rect">
            <a:avLst/>
          </a:prstGeom>
          <a:solidFill>
            <a:srgbClr val="F4F1EC"/>
          </a:solidFill>
          <a:ln/>
        </p:spPr>
      </p:sp>
      <p:sp>
        <p:nvSpPr>
          <p:cNvPr id="11" name="Shape 9"/>
          <p:cNvSpPr/>
          <p:nvPr/>
        </p:nvSpPr>
        <p:spPr>
          <a:xfrm>
            <a:off x="2304288" y="2276856"/>
            <a:ext cx="1082270" cy="182880"/>
          </a:xfrm>
          <a:prstGeom prst="rect">
            <a:avLst/>
          </a:prstGeom>
          <a:solidFill>
            <a:srgbClr val="2F6B5F"/>
          </a:solidFill>
          <a:ln/>
        </p:spPr>
      </p:sp>
      <p:sp>
        <p:nvSpPr>
          <p:cNvPr id="12" name="Text 10"/>
          <p:cNvSpPr/>
          <p:nvPr/>
        </p:nvSpPr>
        <p:spPr>
          <a:xfrm>
            <a:off x="3593592" y="221284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0,3614</a:t>
            </a:r>
            <a:endParaRPr lang="en-US" sz="900" dirty="0"/>
          </a:p>
        </p:txBody>
      </p:sp>
      <p:sp>
        <p:nvSpPr>
          <p:cNvPr id="13" name="Text 11"/>
          <p:cNvSpPr/>
          <p:nvPr/>
        </p:nvSpPr>
        <p:spPr>
          <a:xfrm>
            <a:off x="731520" y="257860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Kesehatan mental (9)</a:t>
            </a:r>
            <a:endParaRPr lang="en-US" sz="900" dirty="0"/>
          </a:p>
        </p:txBody>
      </p:sp>
      <p:sp>
        <p:nvSpPr>
          <p:cNvPr id="14" name="Shape 12"/>
          <p:cNvSpPr/>
          <p:nvPr/>
        </p:nvSpPr>
        <p:spPr>
          <a:xfrm>
            <a:off x="2304288" y="2642616"/>
            <a:ext cx="1197864" cy="182880"/>
          </a:xfrm>
          <a:prstGeom prst="rect">
            <a:avLst/>
          </a:prstGeom>
          <a:solidFill>
            <a:srgbClr val="F4F1EC"/>
          </a:solidFill>
          <a:ln/>
        </p:spPr>
      </p:sp>
      <p:sp>
        <p:nvSpPr>
          <p:cNvPr id="15" name="Shape 13"/>
          <p:cNvSpPr/>
          <p:nvPr/>
        </p:nvSpPr>
        <p:spPr>
          <a:xfrm>
            <a:off x="2304288" y="2642616"/>
            <a:ext cx="965778" cy="182880"/>
          </a:xfrm>
          <a:prstGeom prst="rect">
            <a:avLst/>
          </a:prstGeom>
          <a:solidFill>
            <a:srgbClr val="2F6B5F"/>
          </a:solidFill>
          <a:ln/>
        </p:spPr>
      </p:sp>
      <p:sp>
        <p:nvSpPr>
          <p:cNvPr id="16" name="Text 14"/>
          <p:cNvSpPr/>
          <p:nvPr/>
        </p:nvSpPr>
        <p:spPr>
          <a:xfrm>
            <a:off x="3593592" y="257860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0,3225</a:t>
            </a:r>
            <a:endParaRPr lang="en-US" sz="900" dirty="0"/>
          </a:p>
        </p:txBody>
      </p:sp>
      <p:sp>
        <p:nvSpPr>
          <p:cNvPr id="17" name="Text 15"/>
          <p:cNvSpPr/>
          <p:nvPr/>
        </p:nvSpPr>
        <p:spPr>
          <a:xfrm>
            <a:off x="731520" y="294436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Disabilitas (16)</a:t>
            </a:r>
            <a:endParaRPr lang="en-US" sz="900" dirty="0"/>
          </a:p>
        </p:txBody>
      </p:sp>
      <p:sp>
        <p:nvSpPr>
          <p:cNvPr id="18" name="Shape 16"/>
          <p:cNvSpPr/>
          <p:nvPr/>
        </p:nvSpPr>
        <p:spPr>
          <a:xfrm>
            <a:off x="2304288" y="3008376"/>
            <a:ext cx="1197864" cy="182880"/>
          </a:xfrm>
          <a:prstGeom prst="rect">
            <a:avLst/>
          </a:prstGeom>
          <a:solidFill>
            <a:srgbClr val="F4F1EC"/>
          </a:solidFill>
          <a:ln/>
        </p:spPr>
      </p:sp>
      <p:sp>
        <p:nvSpPr>
          <p:cNvPr id="19" name="Shape 17"/>
          <p:cNvSpPr/>
          <p:nvPr/>
        </p:nvSpPr>
        <p:spPr>
          <a:xfrm>
            <a:off x="2304288" y="3008376"/>
            <a:ext cx="686077" cy="182880"/>
          </a:xfrm>
          <a:prstGeom prst="rect">
            <a:avLst/>
          </a:prstGeom>
          <a:solidFill>
            <a:srgbClr val="8FB0A4"/>
          </a:solidFill>
          <a:ln/>
        </p:spPr>
      </p:sp>
      <p:sp>
        <p:nvSpPr>
          <p:cNvPr id="20" name="Text 18"/>
          <p:cNvSpPr/>
          <p:nvPr/>
        </p:nvSpPr>
        <p:spPr>
          <a:xfrm>
            <a:off x="3593592" y="294436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0,2291</a:t>
            </a:r>
            <a:endParaRPr lang="en-US" sz="900" dirty="0"/>
          </a:p>
        </p:txBody>
      </p:sp>
      <p:sp>
        <p:nvSpPr>
          <p:cNvPr id="21" name="Text 19"/>
          <p:cNvSpPr/>
          <p:nvPr/>
        </p:nvSpPr>
        <p:spPr>
          <a:xfrm>
            <a:off x="731520" y="331012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Ekonomi dan pangan (7)</a:t>
            </a:r>
            <a:endParaRPr lang="en-US" sz="900" dirty="0"/>
          </a:p>
        </p:txBody>
      </p:sp>
      <p:sp>
        <p:nvSpPr>
          <p:cNvPr id="22" name="Shape 20"/>
          <p:cNvSpPr/>
          <p:nvPr/>
        </p:nvSpPr>
        <p:spPr>
          <a:xfrm>
            <a:off x="2304288" y="3374136"/>
            <a:ext cx="1197864" cy="182880"/>
          </a:xfrm>
          <a:prstGeom prst="rect">
            <a:avLst/>
          </a:prstGeom>
          <a:solidFill>
            <a:srgbClr val="F4F1EC"/>
          </a:solidFill>
          <a:ln/>
        </p:spPr>
      </p:sp>
      <p:sp>
        <p:nvSpPr>
          <p:cNvPr id="23" name="Shape 21"/>
          <p:cNvSpPr/>
          <p:nvPr/>
        </p:nvSpPr>
        <p:spPr>
          <a:xfrm>
            <a:off x="2304288" y="3374136"/>
            <a:ext cx="654633" cy="182880"/>
          </a:xfrm>
          <a:prstGeom prst="rect">
            <a:avLst/>
          </a:prstGeom>
          <a:solidFill>
            <a:srgbClr val="8FB0A4"/>
          </a:solidFill>
          <a:ln/>
        </p:spPr>
      </p:sp>
      <p:sp>
        <p:nvSpPr>
          <p:cNvPr id="24" name="Text 22"/>
          <p:cNvSpPr/>
          <p:nvPr/>
        </p:nvSpPr>
        <p:spPr>
          <a:xfrm>
            <a:off x="3593592" y="331012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0,2186</a:t>
            </a:r>
            <a:endParaRPr lang="en-US" sz="900" dirty="0"/>
          </a:p>
        </p:txBody>
      </p:sp>
      <p:sp>
        <p:nvSpPr>
          <p:cNvPr id="25" name="Text 23"/>
          <p:cNvSpPr/>
          <p:nvPr/>
        </p:nvSpPr>
        <p:spPr>
          <a:xfrm>
            <a:off x="731520" y="367588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Demografi (7)</a:t>
            </a:r>
            <a:endParaRPr lang="en-US" sz="900" dirty="0"/>
          </a:p>
        </p:txBody>
      </p:sp>
      <p:sp>
        <p:nvSpPr>
          <p:cNvPr id="26" name="Shape 24"/>
          <p:cNvSpPr/>
          <p:nvPr/>
        </p:nvSpPr>
        <p:spPr>
          <a:xfrm>
            <a:off x="2304288" y="3739896"/>
            <a:ext cx="1197864" cy="182880"/>
          </a:xfrm>
          <a:prstGeom prst="rect">
            <a:avLst/>
          </a:prstGeom>
          <a:solidFill>
            <a:srgbClr val="F4F1EC"/>
          </a:solidFill>
          <a:ln/>
        </p:spPr>
      </p:sp>
      <p:sp>
        <p:nvSpPr>
          <p:cNvPr id="27" name="Shape 25"/>
          <p:cNvSpPr/>
          <p:nvPr/>
        </p:nvSpPr>
        <p:spPr>
          <a:xfrm>
            <a:off x="2304288" y="3739896"/>
            <a:ext cx="589649" cy="182880"/>
          </a:xfrm>
          <a:prstGeom prst="rect">
            <a:avLst/>
          </a:prstGeom>
          <a:solidFill>
            <a:srgbClr val="D8A25E"/>
          </a:solidFill>
          <a:ln/>
        </p:spPr>
      </p:sp>
      <p:sp>
        <p:nvSpPr>
          <p:cNvPr id="28" name="Text 26"/>
          <p:cNvSpPr/>
          <p:nvPr/>
        </p:nvSpPr>
        <p:spPr>
          <a:xfrm>
            <a:off x="3593592" y="367588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0,1969</a:t>
            </a:r>
            <a:endParaRPr lang="en-US" sz="900" dirty="0"/>
          </a:p>
        </p:txBody>
      </p:sp>
      <p:sp>
        <p:nvSpPr>
          <p:cNvPr id="29" name="Text 27"/>
          <p:cNvSpPr/>
          <p:nvPr/>
        </p:nvSpPr>
        <p:spPr>
          <a:xfrm>
            <a:off x="731520" y="404164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Akses layanan (6)</a:t>
            </a:r>
            <a:endParaRPr lang="en-US" sz="900" dirty="0"/>
          </a:p>
        </p:txBody>
      </p:sp>
      <p:sp>
        <p:nvSpPr>
          <p:cNvPr id="30" name="Shape 28"/>
          <p:cNvSpPr/>
          <p:nvPr/>
        </p:nvSpPr>
        <p:spPr>
          <a:xfrm>
            <a:off x="2304288" y="4105656"/>
            <a:ext cx="1197864" cy="182880"/>
          </a:xfrm>
          <a:prstGeom prst="rect">
            <a:avLst/>
          </a:prstGeom>
          <a:solidFill>
            <a:srgbClr val="F4F1EC"/>
          </a:solidFill>
          <a:ln/>
        </p:spPr>
      </p:sp>
      <p:sp>
        <p:nvSpPr>
          <p:cNvPr id="31" name="Shape 29"/>
          <p:cNvSpPr/>
          <p:nvPr/>
        </p:nvSpPr>
        <p:spPr>
          <a:xfrm>
            <a:off x="2304288" y="4105656"/>
            <a:ext cx="540836" cy="182880"/>
          </a:xfrm>
          <a:prstGeom prst="rect">
            <a:avLst/>
          </a:prstGeom>
          <a:solidFill>
            <a:srgbClr val="D8A25E"/>
          </a:solidFill>
          <a:ln/>
        </p:spPr>
      </p:sp>
      <p:sp>
        <p:nvSpPr>
          <p:cNvPr id="32" name="Text 30"/>
          <p:cNvSpPr/>
          <p:nvPr/>
        </p:nvSpPr>
        <p:spPr>
          <a:xfrm>
            <a:off x="3593592" y="404164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0,1806</a:t>
            </a:r>
            <a:endParaRPr lang="en-US" sz="900" dirty="0"/>
          </a:p>
        </p:txBody>
      </p:sp>
      <p:sp>
        <p:nvSpPr>
          <p:cNvPr id="33" name="Text 31"/>
          <p:cNvSpPr/>
          <p:nvPr/>
        </p:nvSpPr>
        <p:spPr>
          <a:xfrm>
            <a:off x="731520" y="440740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Tempat tinggal (3)</a:t>
            </a:r>
            <a:endParaRPr lang="en-US" sz="900" dirty="0"/>
          </a:p>
        </p:txBody>
      </p:sp>
      <p:sp>
        <p:nvSpPr>
          <p:cNvPr id="34" name="Shape 32"/>
          <p:cNvSpPr/>
          <p:nvPr/>
        </p:nvSpPr>
        <p:spPr>
          <a:xfrm>
            <a:off x="2304288" y="4471416"/>
            <a:ext cx="1197864" cy="182880"/>
          </a:xfrm>
          <a:prstGeom prst="rect">
            <a:avLst/>
          </a:prstGeom>
          <a:solidFill>
            <a:srgbClr val="F4F1EC"/>
          </a:solidFill>
          <a:ln/>
        </p:spPr>
      </p:sp>
      <p:sp>
        <p:nvSpPr>
          <p:cNvPr id="35" name="Shape 33"/>
          <p:cNvSpPr/>
          <p:nvPr/>
        </p:nvSpPr>
        <p:spPr>
          <a:xfrm>
            <a:off x="2304288" y="4471416"/>
            <a:ext cx="422247" cy="182880"/>
          </a:xfrm>
          <a:prstGeom prst="rect">
            <a:avLst/>
          </a:prstGeom>
          <a:solidFill>
            <a:srgbClr val="9AA0A7"/>
          </a:solidFill>
          <a:ln/>
        </p:spPr>
      </p:sp>
      <p:sp>
        <p:nvSpPr>
          <p:cNvPr id="36" name="Text 34"/>
          <p:cNvSpPr/>
          <p:nvPr/>
        </p:nvSpPr>
        <p:spPr>
          <a:xfrm>
            <a:off x="3593592" y="440740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0,1410</a:t>
            </a:r>
            <a:endParaRPr lang="en-US" sz="900" dirty="0"/>
          </a:p>
        </p:txBody>
      </p:sp>
      <p:sp>
        <p:nvSpPr>
          <p:cNvPr id="37" name="Text 35"/>
          <p:cNvSpPr/>
          <p:nvPr/>
        </p:nvSpPr>
        <p:spPr>
          <a:xfrm>
            <a:off x="731520" y="477316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Pekerjaan (6)</a:t>
            </a:r>
            <a:endParaRPr lang="en-US" sz="900" dirty="0"/>
          </a:p>
        </p:txBody>
      </p:sp>
      <p:sp>
        <p:nvSpPr>
          <p:cNvPr id="38" name="Shape 36"/>
          <p:cNvSpPr/>
          <p:nvPr/>
        </p:nvSpPr>
        <p:spPr>
          <a:xfrm>
            <a:off x="2304288" y="4837176"/>
            <a:ext cx="1197864" cy="182880"/>
          </a:xfrm>
          <a:prstGeom prst="rect">
            <a:avLst/>
          </a:prstGeom>
          <a:solidFill>
            <a:srgbClr val="F4F1EC"/>
          </a:solidFill>
          <a:ln/>
        </p:spPr>
      </p:sp>
      <p:sp>
        <p:nvSpPr>
          <p:cNvPr id="39" name="Shape 37"/>
          <p:cNvSpPr/>
          <p:nvPr/>
        </p:nvSpPr>
        <p:spPr>
          <a:xfrm>
            <a:off x="2304288" y="4837176"/>
            <a:ext cx="312942" cy="182880"/>
          </a:xfrm>
          <a:prstGeom prst="rect">
            <a:avLst/>
          </a:prstGeom>
          <a:solidFill>
            <a:srgbClr val="9AA0A7"/>
          </a:solidFill>
          <a:ln/>
        </p:spPr>
      </p:sp>
      <p:sp>
        <p:nvSpPr>
          <p:cNvPr id="40" name="Text 38"/>
          <p:cNvSpPr/>
          <p:nvPr/>
        </p:nvSpPr>
        <p:spPr>
          <a:xfrm>
            <a:off x="3593592" y="477316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0,1045</a:t>
            </a:r>
            <a:endParaRPr lang="en-US" sz="900" dirty="0"/>
          </a:p>
        </p:txBody>
      </p:sp>
      <p:sp>
        <p:nvSpPr>
          <p:cNvPr id="41" name="Shape 39"/>
          <p:cNvSpPr/>
          <p:nvPr/>
        </p:nvSpPr>
        <p:spPr>
          <a:xfrm>
            <a:off x="4297680" y="2212848"/>
            <a:ext cx="1947672" cy="2926080"/>
          </a:xfrm>
          <a:prstGeom prst="roundRect">
            <a:avLst>
              <a:gd name="adj" fmla="val 2817"/>
            </a:avLst>
          </a:prstGeom>
          <a:solidFill>
            <a:srgbClr val="16191D"/>
          </a:solidFill>
          <a:ln w="9525">
            <a:solidFill>
              <a:srgbClr val="16191D"/>
            </a:solidFill>
            <a:prstDash val="solid"/>
          </a:ln>
        </p:spPr>
      </p:sp>
      <p:sp>
        <p:nvSpPr>
          <p:cNvPr id="42" name="Text 40"/>
          <p:cNvSpPr/>
          <p:nvPr/>
        </p:nvSpPr>
        <p:spPr>
          <a:xfrm>
            <a:off x="4434840" y="2322576"/>
            <a:ext cx="1828800" cy="25603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Tidak terekam survei</a:t>
            </a:r>
            <a:endParaRPr lang="en-US" sz="1150" dirty="0"/>
          </a:p>
        </p:txBody>
      </p:sp>
      <p:sp>
        <p:nvSpPr>
          <p:cNvPr id="43" name="Shape 41"/>
          <p:cNvSpPr/>
          <p:nvPr/>
        </p:nvSpPr>
        <p:spPr>
          <a:xfrm>
            <a:off x="4453128" y="2807208"/>
            <a:ext cx="91440" cy="91440"/>
          </a:xfrm>
          <a:prstGeom prst="rect">
            <a:avLst/>
          </a:prstGeom>
          <a:solidFill>
            <a:srgbClr val="A8442A"/>
          </a:solidFill>
          <a:ln/>
        </p:spPr>
      </p:sp>
      <p:sp>
        <p:nvSpPr>
          <p:cNvPr id="44" name="Text 42"/>
          <p:cNvSpPr/>
          <p:nvPr/>
        </p:nvSpPr>
        <p:spPr>
          <a:xfrm>
            <a:off x="4617720" y="2715768"/>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Kepribadian</a:t>
            </a:r>
            <a:endParaRPr lang="en-US" sz="1000" dirty="0"/>
          </a:p>
        </p:txBody>
      </p:sp>
      <p:sp>
        <p:nvSpPr>
          <p:cNvPr id="45" name="Shape 43"/>
          <p:cNvSpPr/>
          <p:nvPr/>
        </p:nvSpPr>
        <p:spPr>
          <a:xfrm>
            <a:off x="4453128" y="3154680"/>
            <a:ext cx="91440" cy="91440"/>
          </a:xfrm>
          <a:prstGeom prst="rect">
            <a:avLst/>
          </a:prstGeom>
          <a:solidFill>
            <a:srgbClr val="A8442A"/>
          </a:solidFill>
          <a:ln/>
        </p:spPr>
      </p:sp>
      <p:sp>
        <p:nvSpPr>
          <p:cNvPr id="46" name="Text 44"/>
          <p:cNvSpPr/>
          <p:nvPr/>
        </p:nvSpPr>
        <p:spPr>
          <a:xfrm>
            <a:off x="4617720" y="3063240"/>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Hubungan sosial</a:t>
            </a:r>
            <a:endParaRPr lang="en-US" sz="1000" dirty="0"/>
          </a:p>
        </p:txBody>
      </p:sp>
      <p:sp>
        <p:nvSpPr>
          <p:cNvPr id="47" name="Shape 45"/>
          <p:cNvSpPr/>
          <p:nvPr/>
        </p:nvSpPr>
        <p:spPr>
          <a:xfrm>
            <a:off x="4453128" y="3502152"/>
            <a:ext cx="91440" cy="91440"/>
          </a:xfrm>
          <a:prstGeom prst="rect">
            <a:avLst/>
          </a:prstGeom>
          <a:solidFill>
            <a:srgbClr val="A8442A"/>
          </a:solidFill>
          <a:ln/>
        </p:spPr>
      </p:sp>
      <p:sp>
        <p:nvSpPr>
          <p:cNvPr id="48" name="Text 46"/>
          <p:cNvSpPr/>
          <p:nvPr/>
        </p:nvSpPr>
        <p:spPr>
          <a:xfrm>
            <a:off x="4617720" y="3410712"/>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Rasa bermakna</a:t>
            </a:r>
            <a:endParaRPr lang="en-US" sz="1000" dirty="0"/>
          </a:p>
        </p:txBody>
      </p:sp>
      <p:sp>
        <p:nvSpPr>
          <p:cNvPr id="49" name="Shape 47"/>
          <p:cNvSpPr/>
          <p:nvPr/>
        </p:nvSpPr>
        <p:spPr>
          <a:xfrm>
            <a:off x="4453128" y="3849624"/>
            <a:ext cx="91440" cy="91440"/>
          </a:xfrm>
          <a:prstGeom prst="rect">
            <a:avLst/>
          </a:prstGeom>
          <a:solidFill>
            <a:srgbClr val="A8442A"/>
          </a:solidFill>
          <a:ln/>
        </p:spPr>
      </p:sp>
      <p:sp>
        <p:nvSpPr>
          <p:cNvPr id="50" name="Text 48"/>
          <p:cNvSpPr/>
          <p:nvPr/>
        </p:nvSpPr>
        <p:spPr>
          <a:xfrm>
            <a:off x="4617720" y="3758184"/>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Adaptasi hedonik</a:t>
            </a:r>
            <a:endParaRPr lang="en-US" sz="1000" dirty="0"/>
          </a:p>
        </p:txBody>
      </p:sp>
      <p:sp>
        <p:nvSpPr>
          <p:cNvPr id="51" name="Text 49"/>
          <p:cNvSpPr/>
          <p:nvPr/>
        </p:nvSpPr>
        <p:spPr>
          <a:xfrm>
            <a:off x="4434840" y="4133088"/>
            <a:ext cx="1783080" cy="960120"/>
          </a:xfrm>
          <a:prstGeom prst="rect">
            <a:avLst/>
          </a:prstGeom>
          <a:noFill/>
          <a:ln/>
        </p:spPr>
        <p:txBody>
          <a:bodyPr wrap="square" lIns="0" tIns="0" rIns="0" bIns="0" rtlCol="0" anchor="t"/>
          <a:lstStyle/>
          <a:p>
            <a:pPr algn="l" indent="0" marL="0">
              <a:lnSpc>
                <a:spcPts val="1148"/>
              </a:lnSpc>
              <a:buNone/>
            </a:pPr>
            <a:r>
              <a:rPr lang="en-US" sz="850" dirty="0">
                <a:solidFill>
                  <a:srgbClr val="9AA0A7"/>
                </a:solidFill>
                <a:latin typeface="Calibri" pitchFamily="34" charset="0"/>
                <a:ea typeface="Calibri" pitchFamily="34" charset="-122"/>
                <a:cs typeface="Calibri" pitchFamily="34" charset="-120"/>
              </a:rPr>
              <a:t>Literatur menempatkan keempatnya di depan. Lykken &amp; Tellegen (1996): sekitar separuh variasi kesejahteraan terkait faktor bawaan.</a:t>
            </a:r>
            <a:endParaRPr lang="en-US" sz="850" dirty="0"/>
          </a:p>
        </p:txBody>
      </p:sp>
      <p:sp>
        <p:nvSpPr>
          <p:cNvPr id="52" name="Text 50"/>
          <p:cNvSpPr/>
          <p:nvPr/>
        </p:nvSpPr>
        <p:spPr>
          <a:xfrm>
            <a:off x="841248" y="5559552"/>
            <a:ext cx="5404104"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sebagian besar variasi target berada di luar jangkauan instrumen, bukan algoritma. Ini landasan analisis plafon.</a:t>
            </a:r>
            <a:endParaRPr lang="en-US" sz="1000" dirty="0"/>
          </a:p>
        </p:txBody>
      </p:sp>
      <p:sp>
        <p:nvSpPr>
          <p:cNvPr id="53" name="Shape 51"/>
          <p:cNvSpPr/>
          <p:nvPr/>
        </p:nvSpPr>
        <p:spPr>
          <a:xfrm>
            <a:off x="6675120" y="1371600"/>
            <a:ext cx="4876495" cy="4846320"/>
          </a:xfrm>
          <a:prstGeom prst="roundRect">
            <a:avLst>
              <a:gd name="adj" fmla="val 1132"/>
            </a:avLst>
          </a:prstGeom>
          <a:solidFill>
            <a:srgbClr val="FFFFFF"/>
          </a:solidFill>
          <a:ln w="9525">
            <a:solidFill>
              <a:srgbClr val="DCD8D1"/>
            </a:solidFill>
            <a:prstDash val="solid"/>
          </a:ln>
        </p:spPr>
      </p:sp>
      <p:sp>
        <p:nvSpPr>
          <p:cNvPr id="54" name="Text 52"/>
          <p:cNvSpPr/>
          <p:nvPr/>
        </p:nvSpPr>
        <p:spPr>
          <a:xfrm>
            <a:off x="6876288" y="1499616"/>
            <a:ext cx="44741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3.5 DAN 3.6 · DUA JEBAKAN KEBOCORAN</a:t>
            </a:r>
            <a:endParaRPr lang="en-US" sz="850" dirty="0"/>
          </a:p>
        </p:txBody>
      </p:sp>
      <p:sp>
        <p:nvSpPr>
          <p:cNvPr id="55" name="Text 53"/>
          <p:cNvSpPr/>
          <p:nvPr/>
        </p:nvSpPr>
        <p:spPr>
          <a:xfrm>
            <a:off x="6876288" y="1700784"/>
            <a:ext cx="44741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Diukur dulu, lalu dibuang sebelum melihat skor</a:t>
            </a:r>
            <a:endParaRPr lang="en-US" sz="1300" dirty="0"/>
          </a:p>
        </p:txBody>
      </p:sp>
      <p:sp>
        <p:nvSpPr>
          <p:cNvPr id="56" name="Text 54"/>
          <p:cNvSpPr/>
          <p:nvPr/>
        </p:nvSpPr>
        <p:spPr>
          <a:xfrm>
            <a:off x="6876288" y="2212848"/>
            <a:ext cx="4474159" cy="365760"/>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Target encoding rumah tangga · 61,3% baris uji punya anggota berlabel di data latih</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76288" y="2615184"/>
          <a:ext cx="4474159" cy="914400"/>
        </p:xfrm>
        <a:graphic>
          <a:graphicData uri="http://schemas.openxmlformats.org/drawingml/2006/table">
            <a:tbl>
              <a:tblPr/>
              <a:tblGrid>
                <a:gridCol w="3017520"/>
                <a:gridCol w="1456639"/>
              </a:tblGrid>
              <a:tr h="246888">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Anggota lain menjawab</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P(y = 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1 Sangat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b="1" dirty="0">
                          <a:solidFill>
                            <a:srgbClr val="A8442A"/>
                          </a:solidFill>
                          <a:latin typeface="Calibri" pitchFamily="34" charset="0"/>
                          <a:ea typeface="Calibri" pitchFamily="34" charset="-122"/>
                          <a:cs typeface="Calibri" pitchFamily="34" charset="-120"/>
                        </a:rPr>
                        <a:t>0,4654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0,4347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 Tidak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0,4280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4 Sangat tidak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0,4294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8" name="Text 55"/>
          <p:cNvSpPr/>
          <p:nvPr/>
        </p:nvSpPr>
        <p:spPr>
          <a:xfrm>
            <a:off x="6876288" y="3950208"/>
            <a:ext cx="4474159" cy="411480"/>
          </a:xfrm>
          <a:prstGeom prst="rect">
            <a:avLst/>
          </a:prstGeom>
          <a:noFill/>
          <a:ln/>
        </p:spPr>
        <p:txBody>
          <a:bodyPr wrap="square" lIns="0" tIns="0" rIns="0" bIns="0" rtlCol="0" anchor="t"/>
          <a:lstStyle/>
          <a:p>
            <a:pPr algn="l" indent="0" marL="0">
              <a:lnSpc>
                <a:spcPts val="1350"/>
              </a:lnSpc>
              <a:buNone/>
            </a:pPr>
            <a:r>
              <a:rPr lang="en-US" sz="1000" b="1" dirty="0">
                <a:solidFill>
                  <a:srgbClr val="16191D"/>
                </a:solidFill>
                <a:latin typeface="Calibri" pitchFamily="34" charset="0"/>
                <a:ea typeface="Calibri" pitchFamily="34" charset="-122"/>
                <a:cs typeface="Calibri" pitchFamily="34" charset="-120"/>
              </a:rPr>
              <a:t>44,9% → 46,5%: lift hanya +1,6 poin. Encoding OOF lengkap justru menurunkan QWK.</a:t>
            </a:r>
            <a:endParaRPr lang="en-US" sz="1000" dirty="0"/>
          </a:p>
        </p:txBody>
      </p:sp>
      <p:sp>
        <p:nvSpPr>
          <p:cNvPr id="59" name="Shape 56"/>
          <p:cNvSpPr/>
          <p:nvPr/>
        </p:nvSpPr>
        <p:spPr>
          <a:xfrm>
            <a:off x="6876288" y="4425696"/>
            <a:ext cx="4474159" cy="0"/>
          </a:xfrm>
          <a:prstGeom prst="line">
            <a:avLst/>
          </a:prstGeom>
          <a:noFill/>
          <a:ln w="7620">
            <a:solidFill>
              <a:srgbClr val="DCD8D1"/>
            </a:solidFill>
            <a:prstDash val="solid"/>
          </a:ln>
        </p:spPr>
      </p:sp>
      <p:sp>
        <p:nvSpPr>
          <p:cNvPr id="60" name="Text 57"/>
          <p:cNvSpPr/>
          <p:nvPr/>
        </p:nvSpPr>
        <p:spPr>
          <a:xfrm>
            <a:off x="6876288" y="4498848"/>
            <a:ext cx="4474159" cy="237744"/>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Kolom id sebagai fitur</a:t>
            </a:r>
            <a:endParaRPr lang="en-US" sz="950" dirty="0"/>
          </a:p>
        </p:txBody>
      </p:sp>
      <p:sp>
        <p:nvSpPr>
          <p:cNvPr id="61" name="Text 58"/>
          <p:cNvSpPr/>
          <p:nvPr/>
        </p:nvSpPr>
        <p:spPr>
          <a:xfrm>
            <a:off x="6876288" y="4754880"/>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Spearman(id, target)</a:t>
            </a:r>
            <a:endParaRPr lang="en-US" sz="950" dirty="0"/>
          </a:p>
        </p:txBody>
      </p:sp>
      <p:sp>
        <p:nvSpPr>
          <p:cNvPr id="62" name="Text 59"/>
          <p:cNvSpPr/>
          <p:nvPr/>
        </p:nvSpPr>
        <p:spPr>
          <a:xfrm>
            <a:off x="9337076" y="4754880"/>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0,00595</a:t>
            </a:r>
            <a:endParaRPr lang="en-US" sz="950" dirty="0"/>
          </a:p>
        </p:txBody>
      </p:sp>
      <p:sp>
        <p:nvSpPr>
          <p:cNvPr id="63" name="Shape 60"/>
          <p:cNvSpPr/>
          <p:nvPr/>
        </p:nvSpPr>
        <p:spPr>
          <a:xfrm>
            <a:off x="6876288" y="5010912"/>
            <a:ext cx="4474159" cy="0"/>
          </a:xfrm>
          <a:prstGeom prst="line">
            <a:avLst/>
          </a:prstGeom>
          <a:noFill/>
          <a:ln w="7620">
            <a:solidFill>
              <a:srgbClr val="DCD8D1"/>
            </a:solidFill>
            <a:prstDash val="solid"/>
          </a:ln>
        </p:spPr>
      </p:sp>
      <p:sp>
        <p:nvSpPr>
          <p:cNvPr id="64" name="Text 61"/>
          <p:cNvSpPr/>
          <p:nvPr/>
        </p:nvSpPr>
        <p:spPr>
          <a:xfrm>
            <a:off x="6876288" y="5010912"/>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Rata-rata per 20 bin id</a:t>
            </a:r>
            <a:endParaRPr lang="en-US" sz="950" dirty="0"/>
          </a:p>
        </p:txBody>
      </p:sp>
      <p:sp>
        <p:nvSpPr>
          <p:cNvPr id="65" name="Text 62"/>
          <p:cNvSpPr/>
          <p:nvPr/>
        </p:nvSpPr>
        <p:spPr>
          <a:xfrm>
            <a:off x="9337076" y="5010912"/>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1,5925 – 1,6251</a:t>
            </a:r>
            <a:endParaRPr lang="en-US" sz="950" dirty="0"/>
          </a:p>
        </p:txBody>
      </p:sp>
      <p:sp>
        <p:nvSpPr>
          <p:cNvPr id="66" name="Shape 63"/>
          <p:cNvSpPr/>
          <p:nvPr/>
        </p:nvSpPr>
        <p:spPr>
          <a:xfrm>
            <a:off x="6876288" y="5266944"/>
            <a:ext cx="4474159" cy="0"/>
          </a:xfrm>
          <a:prstGeom prst="line">
            <a:avLst/>
          </a:prstGeom>
          <a:noFill/>
          <a:ln w="7620">
            <a:solidFill>
              <a:srgbClr val="DCD8D1"/>
            </a:solidFill>
            <a:prstDash val="solid"/>
          </a:ln>
        </p:spPr>
      </p:sp>
      <p:sp>
        <p:nvSpPr>
          <p:cNvPr id="67" name="Text 64"/>
          <p:cNvSpPr/>
          <p:nvPr/>
        </p:nvSpPr>
        <p:spPr>
          <a:xfrm>
            <a:off x="6876288" y="5266944"/>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Marginal</a:t>
            </a:r>
            <a:endParaRPr lang="en-US" sz="950" dirty="0"/>
          </a:p>
        </p:txBody>
      </p:sp>
      <p:sp>
        <p:nvSpPr>
          <p:cNvPr id="68" name="Text 65"/>
          <p:cNvSpPr/>
          <p:nvPr/>
        </p:nvSpPr>
        <p:spPr>
          <a:xfrm>
            <a:off x="9337076" y="5266944"/>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1,6065</a:t>
            </a:r>
            <a:endParaRPr lang="en-US" sz="950" dirty="0"/>
          </a:p>
        </p:txBody>
      </p:sp>
      <p:sp>
        <p:nvSpPr>
          <p:cNvPr id="69" name="Text 66"/>
          <p:cNvSpPr/>
          <p:nvPr/>
        </p:nvSpPr>
        <p:spPr>
          <a:xfrm>
            <a:off x="6876288" y="5559552"/>
            <a:ext cx="4474159"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household_id dan id dibuang. Temuan sampingan: id uji tidak unik, submission harus 23.666 baris.</a:t>
            </a:r>
            <a:endParaRPr lang="en-US" sz="1000" dirty="0"/>
          </a:p>
        </p:txBody>
      </p:sp>
      <p:sp>
        <p:nvSpPr>
          <p:cNvPr id="71" name="Shape 67"/>
          <p:cNvSpPr/>
          <p:nvPr/>
        </p:nvSpPr>
        <p:spPr>
          <a:xfrm>
            <a:off x="640080" y="6400800"/>
            <a:ext cx="1572768" cy="45720"/>
          </a:xfrm>
          <a:prstGeom prst="rect">
            <a:avLst/>
          </a:prstGeom>
          <a:solidFill>
            <a:srgbClr val="DCD8D1"/>
          </a:solidFill>
          <a:ln/>
        </p:spPr>
      </p:sp>
      <p:sp>
        <p:nvSpPr>
          <p:cNvPr id="72" name="Text 6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73" name="Shape 69"/>
          <p:cNvSpPr/>
          <p:nvPr/>
        </p:nvSpPr>
        <p:spPr>
          <a:xfrm>
            <a:off x="2304288" y="6400800"/>
            <a:ext cx="1572768" cy="45720"/>
          </a:xfrm>
          <a:prstGeom prst="rect">
            <a:avLst/>
          </a:prstGeom>
          <a:solidFill>
            <a:srgbClr val="A8442A"/>
          </a:solidFill>
          <a:ln/>
        </p:spPr>
      </p:sp>
      <p:sp>
        <p:nvSpPr>
          <p:cNvPr id="74" name="Text 7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5" name="Shape 71"/>
          <p:cNvSpPr/>
          <p:nvPr/>
        </p:nvSpPr>
        <p:spPr>
          <a:xfrm>
            <a:off x="3968496" y="6400800"/>
            <a:ext cx="1572768" cy="45720"/>
          </a:xfrm>
          <a:prstGeom prst="rect">
            <a:avLst/>
          </a:prstGeom>
          <a:solidFill>
            <a:srgbClr val="DCD8D1"/>
          </a:solidFill>
          <a:ln/>
        </p:spPr>
      </p:sp>
      <p:sp>
        <p:nvSpPr>
          <p:cNvPr id="76" name="Text 7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7" name="Shape 73"/>
          <p:cNvSpPr/>
          <p:nvPr/>
        </p:nvSpPr>
        <p:spPr>
          <a:xfrm>
            <a:off x="5632704" y="6400800"/>
            <a:ext cx="1572768" cy="45720"/>
          </a:xfrm>
          <a:prstGeom prst="rect">
            <a:avLst/>
          </a:prstGeom>
          <a:solidFill>
            <a:srgbClr val="DCD8D1"/>
          </a:solidFill>
          <a:ln/>
        </p:spPr>
      </p:sp>
      <p:sp>
        <p:nvSpPr>
          <p:cNvPr id="78" name="Text 7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9" name="Shape 75"/>
          <p:cNvSpPr/>
          <p:nvPr/>
        </p:nvSpPr>
        <p:spPr>
          <a:xfrm>
            <a:off x="7296912" y="6400800"/>
            <a:ext cx="1572768" cy="45720"/>
          </a:xfrm>
          <a:prstGeom prst="rect">
            <a:avLst/>
          </a:prstGeom>
          <a:solidFill>
            <a:srgbClr val="DCD8D1"/>
          </a:solidFill>
          <a:ln/>
        </p:spPr>
      </p:sp>
      <p:sp>
        <p:nvSpPr>
          <p:cNvPr id="80" name="Text 7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81" name="Shape 77"/>
          <p:cNvSpPr/>
          <p:nvPr/>
        </p:nvSpPr>
        <p:spPr>
          <a:xfrm>
            <a:off x="8961120" y="6400800"/>
            <a:ext cx="1572768" cy="45720"/>
          </a:xfrm>
          <a:prstGeom prst="rect">
            <a:avLst/>
          </a:prstGeom>
          <a:solidFill>
            <a:srgbClr val="DCD8D1"/>
          </a:solidFill>
          <a:ln/>
        </p:spPr>
      </p:sp>
      <p:sp>
        <p:nvSpPr>
          <p:cNvPr id="82" name="Text 7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3" name="Text 7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548640"/>
          </a:xfrm>
          <a:prstGeom prst="rect">
            <a:avLst/>
          </a:prstGeom>
          <a:noFill/>
          <a:ln/>
        </p:spPr>
        <p:txBody>
          <a:bodyPr wrap="square" lIns="0" tIns="0" rIns="0" bIns="0" rtlCol="0" anchor="t"/>
          <a:lstStyle/>
          <a:p>
            <a:pPr indent="0" marL="0">
              <a:lnSpc>
                <a:spcPts val="3360"/>
              </a:lnSpc>
              <a:buNone/>
            </a:pPr>
            <a:r>
              <a:rPr lang="en-US" sz="3000" b="1" dirty="0">
                <a:solidFill>
                  <a:srgbClr val="16191D"/>
                </a:solidFill>
                <a:latin typeface="Cambria" pitchFamily="34" charset="0"/>
                <a:ea typeface="Cambria" pitchFamily="34" charset="-122"/>
                <a:cs typeface="Cambria" pitchFamily="34" charset="-120"/>
              </a:rPr>
              <a:t>Tiap keputusan desain terlacak ke satu temuan EDA.</a:t>
            </a:r>
            <a:endParaRPr lang="en-US" sz="3000" dirty="0"/>
          </a:p>
        </p:txBody>
      </p:sp>
      <p:sp>
        <p:nvSpPr>
          <p:cNvPr id="3" name="Text 1"/>
          <p:cNvSpPr/>
          <p:nvPr/>
        </p:nvSpPr>
        <p:spPr>
          <a:xfrm>
            <a:off x="640080" y="1225296"/>
            <a:ext cx="10911535" cy="384048"/>
          </a:xfrm>
          <a:prstGeom prst="rect">
            <a:avLst/>
          </a:prstGeom>
          <a:noFill/>
          <a:ln/>
        </p:spPr>
        <p:txBody>
          <a:bodyPr wrap="square" lIns="0" tIns="0" rIns="0" bIns="0" rtlCol="0" anchor="t"/>
          <a:lstStyle/>
          <a:p>
            <a:pPr indent="0" marL="0">
              <a:lnSpc>
                <a:spcPts val="1900"/>
              </a:lnSpc>
              <a:buNone/>
            </a:pPr>
            <a:r>
              <a:rPr lang="en-US" sz="1350" dirty="0">
                <a:solidFill>
                  <a:srgbClr val="6E747C"/>
                </a:solidFill>
                <a:latin typeface="Calibri" pitchFamily="34" charset="0"/>
                <a:ea typeface="Calibri" pitchFamily="34" charset="-122"/>
                <a:cs typeface="Calibri" pitchFamily="34" charset="-120"/>
              </a:rPr>
              <a:t>Tidak ada keputusan yang diambil karena kebiasaan.</a:t>
            </a:r>
            <a:endParaRPr lang="en-US" sz="1350" dirty="0"/>
          </a:p>
        </p:txBody>
      </p:sp>
      <p:sp>
        <p:nvSpPr>
          <p:cNvPr id="4" name="Text 2"/>
          <p:cNvSpPr/>
          <p:nvPr/>
        </p:nvSpPr>
        <p:spPr>
          <a:xfrm>
            <a:off x="640080"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TEMUAN EDA</a:t>
            </a:r>
            <a:endParaRPr lang="en-US" sz="950" dirty="0"/>
          </a:p>
        </p:txBody>
      </p:sp>
      <p:sp>
        <p:nvSpPr>
          <p:cNvPr id="5" name="Text 3"/>
          <p:cNvSpPr/>
          <p:nvPr/>
        </p:nvSpPr>
        <p:spPr>
          <a:xfrm>
            <a:off x="4414418"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ARTINYA</a:t>
            </a:r>
            <a:endParaRPr lang="en-US" sz="950" dirty="0"/>
          </a:p>
        </p:txBody>
      </p:sp>
      <p:sp>
        <p:nvSpPr>
          <p:cNvPr id="6" name="Text 4"/>
          <p:cNvSpPr/>
          <p:nvPr/>
        </p:nvSpPr>
        <p:spPr>
          <a:xfrm>
            <a:off x="8188757"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KEPUTUSAN DESAIN</a:t>
            </a:r>
            <a:endParaRPr lang="en-US" sz="950" dirty="0"/>
          </a:p>
        </p:txBody>
      </p:sp>
      <p:sp>
        <p:nvSpPr>
          <p:cNvPr id="7" name="Shape 5"/>
          <p:cNvSpPr/>
          <p:nvPr/>
        </p:nvSpPr>
        <p:spPr>
          <a:xfrm>
            <a:off x="640080" y="2103120"/>
            <a:ext cx="10911535" cy="0"/>
          </a:xfrm>
          <a:prstGeom prst="line">
            <a:avLst/>
          </a:prstGeom>
          <a:noFill/>
          <a:ln w="15240">
            <a:solidFill>
              <a:srgbClr val="16191D"/>
            </a:solidFill>
            <a:prstDash val="solid"/>
          </a:ln>
        </p:spPr>
      </p:sp>
      <p:sp>
        <p:nvSpPr>
          <p:cNvPr id="8" name="Text 6"/>
          <p:cNvSpPr/>
          <p:nvPr/>
        </p:nvSpPr>
        <p:spPr>
          <a:xfrm>
            <a:off x="640080" y="21945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Target timpang 44,9 / 50,4 / 3,7 / 0,9</a:t>
            </a:r>
            <a:endParaRPr lang="en-US" sz="1000" dirty="0"/>
          </a:p>
        </p:txBody>
      </p:sp>
      <p:sp>
        <p:nvSpPr>
          <p:cNvPr id="9" name="Text 7"/>
          <p:cNvSpPr/>
          <p:nvPr/>
        </p:nvSpPr>
        <p:spPr>
          <a:xfrm>
            <a:off x="4057802" y="21945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0" name="Text 8"/>
          <p:cNvSpPr/>
          <p:nvPr/>
        </p:nvSpPr>
        <p:spPr>
          <a:xfrm>
            <a:off x="4414418" y="21945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Baseline QWK nol meski akurasi 50,4%</a:t>
            </a:r>
            <a:endParaRPr lang="en-US" sz="1000" dirty="0"/>
          </a:p>
        </p:txBody>
      </p:sp>
      <p:sp>
        <p:nvSpPr>
          <p:cNvPr id="11" name="Text 9"/>
          <p:cNvSpPr/>
          <p:nvPr/>
        </p:nvSpPr>
        <p:spPr>
          <a:xfrm>
            <a:off x="7832141" y="21945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2" name="Text 10"/>
          <p:cNvSpPr/>
          <p:nvPr/>
        </p:nvSpPr>
        <p:spPr>
          <a:xfrm>
            <a:off x="8188757" y="219456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Optimasi ambang, bukan argmax</a:t>
            </a:r>
            <a:endParaRPr lang="en-US" sz="1000" dirty="0"/>
          </a:p>
        </p:txBody>
      </p:sp>
      <p:sp>
        <p:nvSpPr>
          <p:cNvPr id="13" name="Shape 11"/>
          <p:cNvSpPr/>
          <p:nvPr/>
        </p:nvSpPr>
        <p:spPr>
          <a:xfrm>
            <a:off x="640080" y="2505456"/>
            <a:ext cx="10911535" cy="0"/>
          </a:xfrm>
          <a:prstGeom prst="line">
            <a:avLst/>
          </a:prstGeom>
          <a:noFill/>
          <a:ln w="7620">
            <a:solidFill>
              <a:srgbClr val="DCD8D1"/>
            </a:solidFill>
            <a:prstDash val="solid"/>
          </a:ln>
        </p:spPr>
      </p:sp>
      <p:sp>
        <p:nvSpPr>
          <p:cNvPr id="14" name="Text 12"/>
          <p:cNvSpPr/>
          <p:nvPr/>
        </p:nvSpPr>
        <p:spPr>
          <a:xfrm>
            <a:off x="640080" y="25603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QWK berbobot kuadratik</a:t>
            </a:r>
            <a:endParaRPr lang="en-US" sz="1000" dirty="0"/>
          </a:p>
        </p:txBody>
      </p:sp>
      <p:sp>
        <p:nvSpPr>
          <p:cNvPr id="15" name="Text 13"/>
          <p:cNvSpPr/>
          <p:nvPr/>
        </p:nvSpPr>
        <p:spPr>
          <a:xfrm>
            <a:off x="4057802" y="25603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4414418" y="25603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Galat berjarak jauh dihukum 9 kali</a:t>
            </a:r>
            <a:endParaRPr lang="en-US" sz="1000" dirty="0"/>
          </a:p>
        </p:txBody>
      </p:sp>
      <p:sp>
        <p:nvSpPr>
          <p:cNvPr id="17" name="Text 15"/>
          <p:cNvSpPr/>
          <p:nvPr/>
        </p:nvSpPr>
        <p:spPr>
          <a:xfrm>
            <a:off x="7832141" y="25603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8" name="Text 16"/>
          <p:cNvSpPr/>
          <p:nvPr/>
        </p:nvSpPr>
        <p:spPr>
          <a:xfrm>
            <a:off x="8188757" y="256032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Perlakuan ordinal lewat nilai harapan</a:t>
            </a:r>
            <a:endParaRPr lang="en-US" sz="1000" dirty="0"/>
          </a:p>
        </p:txBody>
      </p:sp>
      <p:sp>
        <p:nvSpPr>
          <p:cNvPr id="19" name="Shape 17"/>
          <p:cNvSpPr/>
          <p:nvPr/>
        </p:nvSpPr>
        <p:spPr>
          <a:xfrm>
            <a:off x="640080" y="2871216"/>
            <a:ext cx="10911535" cy="0"/>
          </a:xfrm>
          <a:prstGeom prst="line">
            <a:avLst/>
          </a:prstGeom>
          <a:noFill/>
          <a:ln w="7620">
            <a:solidFill>
              <a:srgbClr val="DCD8D1"/>
            </a:solidFill>
            <a:prstDash val="solid"/>
          </a:ln>
        </p:spPr>
      </p:sp>
      <p:sp>
        <p:nvSpPr>
          <p:cNvPr id="20" name="Text 18"/>
          <p:cNvSpPr/>
          <p:nvPr/>
        </p:nvSpPr>
        <p:spPr>
          <a:xfrm>
            <a:off x="640080" y="29260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Kosong 14,4% sel, pola latih sama dengan uji</a:t>
            </a:r>
            <a:endParaRPr lang="en-US" sz="1000" dirty="0"/>
          </a:p>
        </p:txBody>
      </p:sp>
      <p:sp>
        <p:nvSpPr>
          <p:cNvPr id="21" name="Text 19"/>
          <p:cNvSpPr/>
          <p:nvPr/>
        </p:nvSpPr>
        <p:spPr>
          <a:xfrm>
            <a:off x="4057802" y="29260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2" name="Text 20"/>
          <p:cNvSpPr/>
          <p:nvPr/>
        </p:nvSpPr>
        <p:spPr>
          <a:xfrm>
            <a:off x="4414418" y="29260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pergeseran distribusi</a:t>
            </a:r>
            <a:endParaRPr lang="en-US" sz="1000" dirty="0"/>
          </a:p>
        </p:txBody>
      </p:sp>
      <p:sp>
        <p:nvSpPr>
          <p:cNvPr id="23" name="Text 21"/>
          <p:cNvSpPr/>
          <p:nvPr/>
        </p:nvSpPr>
        <p:spPr>
          <a:xfrm>
            <a:off x="7832141" y="29260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4" name="Text 22"/>
          <p:cNvSpPr/>
          <p:nvPr/>
        </p:nvSpPr>
        <p:spPr>
          <a:xfrm>
            <a:off x="8188757" y="292608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Tanpa imputasi, pohon menangani NaN</a:t>
            </a:r>
            <a:endParaRPr lang="en-US" sz="1000" dirty="0"/>
          </a:p>
        </p:txBody>
      </p:sp>
      <p:sp>
        <p:nvSpPr>
          <p:cNvPr id="25" name="Shape 23"/>
          <p:cNvSpPr/>
          <p:nvPr/>
        </p:nvSpPr>
        <p:spPr>
          <a:xfrm>
            <a:off x="640080" y="3236976"/>
            <a:ext cx="10911535" cy="0"/>
          </a:xfrm>
          <a:prstGeom prst="line">
            <a:avLst/>
          </a:prstGeom>
          <a:noFill/>
          <a:ln w="7620">
            <a:solidFill>
              <a:srgbClr val="DCD8D1"/>
            </a:solidFill>
            <a:prstDash val="solid"/>
          </a:ln>
        </p:spPr>
      </p:sp>
      <p:sp>
        <p:nvSpPr>
          <p:cNvPr id="26" name="Text 24"/>
          <p:cNvSpPr/>
          <p:nvPr/>
        </p:nvSpPr>
        <p:spPr>
          <a:xfrm>
            <a:off x="640080" y="32918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Kode 7/8/9 punya rata-rata target berbeda</a:t>
            </a:r>
            <a:endParaRPr lang="en-US" sz="1000" dirty="0"/>
          </a:p>
        </p:txBody>
      </p:sp>
      <p:sp>
        <p:nvSpPr>
          <p:cNvPr id="27" name="Text 25"/>
          <p:cNvSpPr/>
          <p:nvPr/>
        </p:nvSpPr>
        <p:spPr>
          <a:xfrm>
            <a:off x="4057802" y="32918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8" name="Text 26"/>
          <p:cNvSpPr/>
          <p:nvPr/>
        </p:nvSpPr>
        <p:spPr>
          <a:xfrm>
            <a:off x="4414418" y="32918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Non-respons membawa sinyal</a:t>
            </a:r>
            <a:endParaRPr lang="en-US" sz="1000" dirty="0"/>
          </a:p>
        </p:txBody>
      </p:sp>
      <p:sp>
        <p:nvSpPr>
          <p:cNvPr id="29" name="Text 27"/>
          <p:cNvSpPr/>
          <p:nvPr/>
        </p:nvSpPr>
        <p:spPr>
          <a:xfrm>
            <a:off x="7832141" y="32918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0" name="Text 28"/>
          <p:cNvSpPr/>
          <p:nvPr/>
        </p:nvSpPr>
        <p:spPr>
          <a:xfrm>
            <a:off x="8188757" y="329184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Kode dipertahankan apa adanya</a:t>
            </a:r>
            <a:endParaRPr lang="en-US" sz="1000" dirty="0"/>
          </a:p>
        </p:txBody>
      </p:sp>
      <p:sp>
        <p:nvSpPr>
          <p:cNvPr id="31" name="Shape 29"/>
          <p:cNvSpPr/>
          <p:nvPr/>
        </p:nvSpPr>
        <p:spPr>
          <a:xfrm>
            <a:off x="640080" y="3602736"/>
            <a:ext cx="10911535" cy="0"/>
          </a:xfrm>
          <a:prstGeom prst="line">
            <a:avLst/>
          </a:prstGeom>
          <a:noFill/>
          <a:ln w="7620">
            <a:solidFill>
              <a:srgbClr val="DCD8D1"/>
            </a:solidFill>
            <a:prstDash val="solid"/>
          </a:ln>
        </p:spPr>
      </p:sp>
      <p:sp>
        <p:nvSpPr>
          <p:cNvPr id="32" name="Text 30"/>
          <p:cNvSpPr/>
          <p:nvPr/>
        </p:nvSpPr>
        <p:spPr>
          <a:xfrm>
            <a:off x="640080" y="36576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Prediktor kuat bersifat monoton</a:t>
            </a:r>
            <a:endParaRPr lang="en-US" sz="1000" dirty="0"/>
          </a:p>
        </p:txBody>
      </p:sp>
      <p:sp>
        <p:nvSpPr>
          <p:cNvPr id="33" name="Text 31"/>
          <p:cNvSpPr/>
          <p:nvPr/>
        </p:nvSpPr>
        <p:spPr>
          <a:xfrm>
            <a:off x="4057802" y="36576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4" name="Text 32"/>
          <p:cNvSpPr/>
          <p:nvPr/>
        </p:nvSpPr>
        <p:spPr>
          <a:xfrm>
            <a:off x="4414418" y="36576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Struktur ordinal nyata pada fitur</a:t>
            </a:r>
            <a:endParaRPr lang="en-US" sz="1000" dirty="0"/>
          </a:p>
        </p:txBody>
      </p:sp>
      <p:sp>
        <p:nvSpPr>
          <p:cNvPr id="35" name="Text 33"/>
          <p:cNvSpPr/>
          <p:nvPr/>
        </p:nvSpPr>
        <p:spPr>
          <a:xfrm>
            <a:off x="7832141" y="36576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6" name="Text 34"/>
          <p:cNvSpPr/>
          <p:nvPr/>
        </p:nvSpPr>
        <p:spPr>
          <a:xfrm>
            <a:off x="8188757" y="365760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Regresi Huber dan dekomposisi kumulatif</a:t>
            </a:r>
            <a:endParaRPr lang="en-US" sz="1000" dirty="0"/>
          </a:p>
        </p:txBody>
      </p:sp>
      <p:sp>
        <p:nvSpPr>
          <p:cNvPr id="37" name="Shape 35"/>
          <p:cNvSpPr/>
          <p:nvPr/>
        </p:nvSpPr>
        <p:spPr>
          <a:xfrm>
            <a:off x="640080" y="3968496"/>
            <a:ext cx="10911535" cy="0"/>
          </a:xfrm>
          <a:prstGeom prst="line">
            <a:avLst/>
          </a:prstGeom>
          <a:noFill/>
          <a:ln w="7620">
            <a:solidFill>
              <a:srgbClr val="DCD8D1"/>
            </a:solidFill>
            <a:prstDash val="solid"/>
          </a:ln>
        </p:spPr>
      </p:sp>
      <p:sp>
        <p:nvSpPr>
          <p:cNvPr id="38" name="Text 36"/>
          <p:cNvSpPr/>
          <p:nvPr/>
        </p:nvSpPr>
        <p:spPr>
          <a:xfrm>
            <a:off x="640080" y="40233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Lift antar anggota rumah tangga +1,6pp</a:t>
            </a:r>
            <a:endParaRPr lang="en-US" sz="1000" dirty="0"/>
          </a:p>
        </p:txBody>
      </p:sp>
      <p:sp>
        <p:nvSpPr>
          <p:cNvPr id="39" name="Text 37"/>
          <p:cNvSpPr/>
          <p:nvPr/>
        </p:nvSpPr>
        <p:spPr>
          <a:xfrm>
            <a:off x="4057802" y="40233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0" name="Text 38"/>
          <p:cNvSpPr/>
          <p:nvPr/>
        </p:nvSpPr>
        <p:spPr>
          <a:xfrm>
            <a:off x="4414418" y="40233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Kepuasan hidup sangat individual</a:t>
            </a:r>
            <a:endParaRPr lang="en-US" sz="1000" dirty="0"/>
          </a:p>
        </p:txBody>
      </p:sp>
      <p:sp>
        <p:nvSpPr>
          <p:cNvPr id="41" name="Text 39"/>
          <p:cNvSpPr/>
          <p:nvPr/>
        </p:nvSpPr>
        <p:spPr>
          <a:xfrm>
            <a:off x="7832141" y="40233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2" name="Text 40"/>
          <p:cNvSpPr/>
          <p:nvPr/>
        </p:nvSpPr>
        <p:spPr>
          <a:xfrm>
            <a:off x="8188757" y="402336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household_id dibuang</a:t>
            </a:r>
            <a:endParaRPr lang="en-US" sz="1000" dirty="0"/>
          </a:p>
        </p:txBody>
      </p:sp>
      <p:sp>
        <p:nvSpPr>
          <p:cNvPr id="43" name="Shape 41"/>
          <p:cNvSpPr/>
          <p:nvPr/>
        </p:nvSpPr>
        <p:spPr>
          <a:xfrm>
            <a:off x="640080" y="4334256"/>
            <a:ext cx="10911535" cy="0"/>
          </a:xfrm>
          <a:prstGeom prst="line">
            <a:avLst/>
          </a:prstGeom>
          <a:noFill/>
          <a:ln w="7620">
            <a:solidFill>
              <a:srgbClr val="DCD8D1"/>
            </a:solidFill>
            <a:prstDash val="solid"/>
          </a:ln>
        </p:spPr>
      </p:sp>
      <p:sp>
        <p:nvSpPr>
          <p:cNvPr id="44" name="Text 42"/>
          <p:cNvSpPr/>
          <p:nvPr/>
        </p:nvSpPr>
        <p:spPr>
          <a:xfrm>
            <a:off x="640080" y="43891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Spearman(id, target) = 0,006</a:t>
            </a:r>
            <a:endParaRPr lang="en-US" sz="1000" dirty="0"/>
          </a:p>
        </p:txBody>
      </p:sp>
      <p:sp>
        <p:nvSpPr>
          <p:cNvPr id="45" name="Text 43"/>
          <p:cNvSpPr/>
          <p:nvPr/>
        </p:nvSpPr>
        <p:spPr>
          <a:xfrm>
            <a:off x="4057802" y="43891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4414418" y="43891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kebocoran urutan</a:t>
            </a:r>
            <a:endParaRPr lang="en-US" sz="1000" dirty="0"/>
          </a:p>
        </p:txBody>
      </p:sp>
      <p:sp>
        <p:nvSpPr>
          <p:cNvPr id="47" name="Text 45"/>
          <p:cNvSpPr/>
          <p:nvPr/>
        </p:nvSpPr>
        <p:spPr>
          <a:xfrm>
            <a:off x="7832141" y="43891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8" name="Text 46"/>
          <p:cNvSpPr/>
          <p:nvPr/>
        </p:nvSpPr>
        <p:spPr>
          <a:xfrm>
            <a:off x="8188757" y="438912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id dibuang dari fitur</a:t>
            </a:r>
            <a:endParaRPr lang="en-US" sz="1000" dirty="0"/>
          </a:p>
        </p:txBody>
      </p:sp>
      <p:sp>
        <p:nvSpPr>
          <p:cNvPr id="49" name="Shape 47"/>
          <p:cNvSpPr/>
          <p:nvPr/>
        </p:nvSpPr>
        <p:spPr>
          <a:xfrm>
            <a:off x="640080" y="4700016"/>
            <a:ext cx="10911535" cy="0"/>
          </a:xfrm>
          <a:prstGeom prst="line">
            <a:avLst/>
          </a:prstGeom>
          <a:noFill/>
          <a:ln w="7620">
            <a:solidFill>
              <a:srgbClr val="DCD8D1"/>
            </a:solidFill>
            <a:prstDash val="solid"/>
          </a:ln>
        </p:spPr>
      </p:sp>
      <p:sp>
        <p:nvSpPr>
          <p:cNvPr id="50" name="Text 48"/>
          <p:cNvSpPr/>
          <p:nvPr/>
        </p:nvSpPr>
        <p:spPr>
          <a:xfrm>
            <a:off x="640080" y="47548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Median korelasi antar fitur 0,037</a:t>
            </a:r>
            <a:endParaRPr lang="en-US" sz="1000" dirty="0"/>
          </a:p>
        </p:txBody>
      </p:sp>
      <p:sp>
        <p:nvSpPr>
          <p:cNvPr id="51" name="Text 49"/>
          <p:cNvSpPr/>
          <p:nvPr/>
        </p:nvSpPr>
        <p:spPr>
          <a:xfrm>
            <a:off x="4057802" y="47548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2" name="Text 50"/>
          <p:cNvSpPr/>
          <p:nvPr/>
        </p:nvSpPr>
        <p:spPr>
          <a:xfrm>
            <a:off x="4414418" y="47548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Seleksi fitur agresif merugikan</a:t>
            </a:r>
            <a:endParaRPr lang="en-US" sz="1000" dirty="0"/>
          </a:p>
        </p:txBody>
      </p:sp>
      <p:sp>
        <p:nvSpPr>
          <p:cNvPr id="53" name="Text 51"/>
          <p:cNvSpPr/>
          <p:nvPr/>
        </p:nvSpPr>
        <p:spPr>
          <a:xfrm>
            <a:off x="7832141" y="47548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4" name="Text 52"/>
          <p:cNvSpPr/>
          <p:nvPr/>
        </p:nvSpPr>
        <p:spPr>
          <a:xfrm>
            <a:off x="8188757" y="475488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Seluruh 176 fitur dipertahankan</a:t>
            </a:r>
            <a:endParaRPr lang="en-US" sz="1000" dirty="0"/>
          </a:p>
        </p:txBody>
      </p:sp>
      <p:sp>
        <p:nvSpPr>
          <p:cNvPr id="55" name="Shape 53"/>
          <p:cNvSpPr/>
          <p:nvPr/>
        </p:nvSpPr>
        <p:spPr>
          <a:xfrm>
            <a:off x="640080" y="5065776"/>
            <a:ext cx="10911535" cy="0"/>
          </a:xfrm>
          <a:prstGeom prst="line">
            <a:avLst/>
          </a:prstGeom>
          <a:noFill/>
          <a:ln w="7620">
            <a:solidFill>
              <a:srgbClr val="DCD8D1"/>
            </a:solidFill>
            <a:prstDash val="solid"/>
          </a:ln>
        </p:spPr>
      </p:sp>
      <p:sp>
        <p:nvSpPr>
          <p:cNvPr id="56" name="Text 54"/>
          <p:cNvSpPr/>
          <p:nvPr/>
        </p:nvSpPr>
        <p:spPr>
          <a:xfrm>
            <a:off x="640080" y="51206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Rata-rata target bergerak 0,0239 antar tahun</a:t>
            </a:r>
            <a:endParaRPr lang="en-US" sz="1000" dirty="0"/>
          </a:p>
        </p:txBody>
      </p:sp>
      <p:sp>
        <p:nvSpPr>
          <p:cNvPr id="57" name="Text 55"/>
          <p:cNvSpPr/>
          <p:nvPr/>
        </p:nvSpPr>
        <p:spPr>
          <a:xfrm>
            <a:off x="4057802" y="51206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8" name="Text 56"/>
          <p:cNvSpPr/>
          <p:nvPr/>
        </p:nvSpPr>
        <p:spPr>
          <a:xfrm>
            <a:off x="4414418" y="51206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pergeseran temporal</a:t>
            </a:r>
            <a:endParaRPr lang="en-US" sz="1000" dirty="0"/>
          </a:p>
        </p:txBody>
      </p:sp>
      <p:sp>
        <p:nvSpPr>
          <p:cNvPr id="59" name="Text 57"/>
          <p:cNvSpPr/>
          <p:nvPr/>
        </p:nvSpPr>
        <p:spPr>
          <a:xfrm>
            <a:off x="7832141" y="51206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0" name="Text 58"/>
          <p:cNvSpPr/>
          <p:nvPr/>
        </p:nvSpPr>
        <p:spPr>
          <a:xfrm>
            <a:off x="8188757" y="512064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Satu model untuk seluruh periode</a:t>
            </a:r>
            <a:endParaRPr lang="en-US" sz="1000" dirty="0"/>
          </a:p>
        </p:txBody>
      </p:sp>
      <p:sp>
        <p:nvSpPr>
          <p:cNvPr id="61" name="Shape 59"/>
          <p:cNvSpPr/>
          <p:nvPr/>
        </p:nvSpPr>
        <p:spPr>
          <a:xfrm>
            <a:off x="640080" y="5431536"/>
            <a:ext cx="10911535" cy="0"/>
          </a:xfrm>
          <a:prstGeom prst="line">
            <a:avLst/>
          </a:prstGeom>
          <a:noFill/>
          <a:ln w="7620">
            <a:solidFill>
              <a:srgbClr val="DCD8D1"/>
            </a:solidFill>
            <a:prstDash val="solid"/>
          </a:ln>
        </p:spPr>
      </p:sp>
      <p:sp>
        <p:nvSpPr>
          <p:cNvPr id="62" name="Text 60"/>
          <p:cNvSpPr/>
          <p:nvPr/>
        </p:nvSpPr>
        <p:spPr>
          <a:xfrm>
            <a:off x="640080" y="54864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Domain psikososial tidak terekam</a:t>
            </a:r>
            <a:endParaRPr lang="en-US" sz="1000" dirty="0"/>
          </a:p>
        </p:txBody>
      </p:sp>
      <p:sp>
        <p:nvSpPr>
          <p:cNvPr id="63" name="Text 61"/>
          <p:cNvSpPr/>
          <p:nvPr/>
        </p:nvSpPr>
        <p:spPr>
          <a:xfrm>
            <a:off x="4057802" y="54864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4" name="Text 62"/>
          <p:cNvSpPr/>
          <p:nvPr/>
        </p:nvSpPr>
        <p:spPr>
          <a:xfrm>
            <a:off x="4414418" y="54864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Sebagian besar variasi tak teramati</a:t>
            </a:r>
            <a:endParaRPr lang="en-US" sz="1000" dirty="0"/>
          </a:p>
        </p:txBody>
      </p:sp>
      <p:sp>
        <p:nvSpPr>
          <p:cNvPr id="65" name="Text 63"/>
          <p:cNvSpPr/>
          <p:nvPr/>
        </p:nvSpPr>
        <p:spPr>
          <a:xfrm>
            <a:off x="7832141" y="54864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6" name="Text 64"/>
          <p:cNvSpPr/>
          <p:nvPr/>
        </p:nvSpPr>
        <p:spPr>
          <a:xfrm>
            <a:off x="8188757" y="548640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Landasan analisis plafon</a:t>
            </a:r>
            <a:endParaRPr lang="en-US" sz="1000" dirty="0"/>
          </a:p>
        </p:txBody>
      </p:sp>
      <p:sp>
        <p:nvSpPr>
          <p:cNvPr id="67" name="Shape 65"/>
          <p:cNvSpPr/>
          <p:nvPr/>
        </p:nvSpPr>
        <p:spPr>
          <a:xfrm>
            <a:off x="640080" y="5797296"/>
            <a:ext cx="10911535" cy="0"/>
          </a:xfrm>
          <a:prstGeom prst="line">
            <a:avLst/>
          </a:prstGeom>
          <a:noFill/>
          <a:ln w="7620">
            <a:solidFill>
              <a:srgbClr val="DCD8D1"/>
            </a:solidFill>
            <a:prstDash val="solid"/>
          </a:ln>
        </p:spPr>
      </p:sp>
      <p:sp>
        <p:nvSpPr>
          <p:cNvPr id="69" name="Shape 66"/>
          <p:cNvSpPr/>
          <p:nvPr/>
        </p:nvSpPr>
        <p:spPr>
          <a:xfrm>
            <a:off x="640080" y="6400800"/>
            <a:ext cx="1572768" cy="45720"/>
          </a:xfrm>
          <a:prstGeom prst="rect">
            <a:avLst/>
          </a:prstGeom>
          <a:solidFill>
            <a:srgbClr val="DCD8D1"/>
          </a:solidFill>
          <a:ln/>
        </p:spPr>
      </p:sp>
      <p:sp>
        <p:nvSpPr>
          <p:cNvPr id="70" name="Text 6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71" name="Shape 68"/>
          <p:cNvSpPr/>
          <p:nvPr/>
        </p:nvSpPr>
        <p:spPr>
          <a:xfrm>
            <a:off x="2304288" y="6400800"/>
            <a:ext cx="1572768" cy="45720"/>
          </a:xfrm>
          <a:prstGeom prst="rect">
            <a:avLst/>
          </a:prstGeom>
          <a:solidFill>
            <a:srgbClr val="A8442A"/>
          </a:solidFill>
          <a:ln/>
        </p:spPr>
      </p:sp>
      <p:sp>
        <p:nvSpPr>
          <p:cNvPr id="72" name="Text 6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3" name="Shape 70"/>
          <p:cNvSpPr/>
          <p:nvPr/>
        </p:nvSpPr>
        <p:spPr>
          <a:xfrm>
            <a:off x="3968496" y="6400800"/>
            <a:ext cx="1572768" cy="45720"/>
          </a:xfrm>
          <a:prstGeom prst="rect">
            <a:avLst/>
          </a:prstGeom>
          <a:solidFill>
            <a:srgbClr val="DCD8D1"/>
          </a:solidFill>
          <a:ln/>
        </p:spPr>
      </p:sp>
      <p:sp>
        <p:nvSpPr>
          <p:cNvPr id="74" name="Text 7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5" name="Shape 72"/>
          <p:cNvSpPr/>
          <p:nvPr/>
        </p:nvSpPr>
        <p:spPr>
          <a:xfrm>
            <a:off x="5632704" y="6400800"/>
            <a:ext cx="1572768" cy="45720"/>
          </a:xfrm>
          <a:prstGeom prst="rect">
            <a:avLst/>
          </a:prstGeom>
          <a:solidFill>
            <a:srgbClr val="DCD8D1"/>
          </a:solidFill>
          <a:ln/>
        </p:spPr>
      </p:sp>
      <p:sp>
        <p:nvSpPr>
          <p:cNvPr id="76" name="Text 7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7" name="Shape 74"/>
          <p:cNvSpPr/>
          <p:nvPr/>
        </p:nvSpPr>
        <p:spPr>
          <a:xfrm>
            <a:off x="7296912" y="6400800"/>
            <a:ext cx="1572768" cy="45720"/>
          </a:xfrm>
          <a:prstGeom prst="rect">
            <a:avLst/>
          </a:prstGeom>
          <a:solidFill>
            <a:srgbClr val="DCD8D1"/>
          </a:solidFill>
          <a:ln/>
        </p:spPr>
      </p:sp>
      <p:sp>
        <p:nvSpPr>
          <p:cNvPr id="78" name="Text 7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9" name="Shape 76"/>
          <p:cNvSpPr/>
          <p:nvPr/>
        </p:nvSpPr>
        <p:spPr>
          <a:xfrm>
            <a:off x="8961120" y="6400800"/>
            <a:ext cx="1572768" cy="45720"/>
          </a:xfrm>
          <a:prstGeom prst="rect">
            <a:avLst/>
          </a:prstGeom>
          <a:solidFill>
            <a:srgbClr val="DCD8D1"/>
          </a:solidFill>
          <a:ln/>
        </p:spPr>
      </p:sp>
      <p:sp>
        <p:nvSpPr>
          <p:cNvPr id="80" name="Text 7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1" name="Text 7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43977" y="91440"/>
            <a:ext cx="3507638" cy="237744"/>
          </a:xfrm>
          <a:prstGeom prst="roundRect">
            <a:avLst>
              <a:gd name="adj" fmla="val 50000"/>
            </a:avLst>
          </a:prstGeom>
          <a:solidFill>
            <a:srgbClr val="2F6B5F"/>
          </a:solidFill>
          <a:ln/>
        </p:spPr>
      </p:sp>
      <p:sp>
        <p:nvSpPr>
          <p:cNvPr id="3" name="Text 1"/>
          <p:cNvSpPr/>
          <p:nvPr/>
        </p:nvSpPr>
        <p:spPr>
          <a:xfrm>
            <a:off x="8043977" y="91440"/>
            <a:ext cx="3507638"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fitur dipakai hanya jika lolos ablasi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Tujuh keputusan preprocessing, lalu 13 fitur komposit yang kami buang.</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Setiap keputusan punya dasar yang bisa diperiksa. Fitur tambahan harus lolos ablasi dulu.</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400800" cy="914400"/>
        </p:xfrm>
        <a:graphic>
          <a:graphicData uri="http://schemas.openxmlformats.org/drawingml/2006/table">
            <a:tbl>
              <a:tblPr/>
              <a:tblGrid>
                <a:gridCol w="1737360"/>
                <a:gridCol w="1600200"/>
                <a:gridCol w="3063240"/>
              </a:tblGrid>
              <a:tr h="347472">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Keputusan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Pilihan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Dasarnya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Nilai kosong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Tetap NaN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Pohon belajar arah cabang sendiri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Kode 7 / 8 / 9</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Apa adanya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Non-respons membawa sinyal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Skala model pohon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Tidak ada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Invarian transformasi monoton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Skala untuk MLP</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Quantile + median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Jaringan saraf butuh input normal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household_id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A8442A"/>
                          </a:solidFill>
                          <a:latin typeface="Calibri" pitchFamily="34" charset="0"/>
                          <a:ea typeface="Calibri" pitchFamily="34" charset="-122"/>
                          <a:cs typeface="Calibri" pitchFamily="34" charset="-120"/>
                        </a:rPr>
                        <a:t>Dibuang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Lift antar anggota +1,6pp</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A8442A"/>
                          </a:solidFill>
                          <a:latin typeface="Calibri" pitchFamily="34" charset="0"/>
                          <a:ea typeface="Calibri" pitchFamily="34" charset="-122"/>
                          <a:cs typeface="Calibri" pitchFamily="34" charset="-120"/>
                        </a:rPr>
                        <a:t>Dibuang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Spearman ke target 0,006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Encoding kategorikal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Tidak perlu</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Semua kolom sudah kode numerik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4343400"/>
            <a:ext cx="6400800" cy="1874520"/>
          </a:xfrm>
          <a:prstGeom prst="roundRect">
            <a:avLst>
              <a:gd name="adj" fmla="val 2927"/>
            </a:avLst>
          </a:prstGeom>
          <a:solidFill>
            <a:srgbClr val="F4F1EC"/>
          </a:solidFill>
          <a:ln w="9525">
            <a:solidFill>
              <a:srgbClr val="DCD8D1"/>
            </a:solidFill>
            <a:prstDash val="solid"/>
          </a:ln>
        </p:spPr>
      </p:sp>
      <p:sp>
        <p:nvSpPr>
          <p:cNvPr id="8" name="Text 5"/>
          <p:cNvSpPr/>
          <p:nvPr/>
        </p:nvSpPr>
        <p:spPr>
          <a:xfrm>
            <a:off x="841248" y="4462272"/>
            <a:ext cx="6400800"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13 FITUR KOMPOSIT YANG DIBANGUN</a:t>
            </a:r>
            <a:endParaRPr lang="en-US" sz="850" dirty="0"/>
          </a:p>
        </p:txBody>
      </p:sp>
      <p:sp>
        <p:nvSpPr>
          <p:cNvPr id="9" name="Text 6"/>
          <p:cNvSpPr/>
          <p:nvPr/>
        </p:nvSpPr>
        <p:spPr>
          <a:xfrm>
            <a:off x="841248" y="4718304"/>
            <a:ext cx="5998464" cy="731520"/>
          </a:xfrm>
          <a:prstGeom prst="rect">
            <a:avLst/>
          </a:prstGeom>
          <a:noFill/>
          <a:ln/>
        </p:spPr>
        <p:txBody>
          <a:bodyPr wrap="square" lIns="0" tIns="0" rIns="0" bIns="0" rtlCol="0" anchor="t"/>
          <a:lstStyle/>
          <a:p>
            <a:pPr algn="l" indent="0" marL="0">
              <a:lnSpc>
                <a:spcPts val="1418"/>
              </a:lnSpc>
              <a:buNone/>
            </a:pPr>
            <a:r>
              <a:rPr lang="en-US" sz="1050" dirty="0">
                <a:solidFill>
                  <a:srgbClr val="16191D"/>
                </a:solidFill>
                <a:latin typeface="Calibri" pitchFamily="34" charset="0"/>
                <a:ea typeface="Calibri" pitchFamily="34" charset="-122"/>
                <a:cs typeface="Calibri" pitchFamily="34" charset="-120"/>
              </a:rPr>
              <a:t>n_disease · n_difficulty · n_cost_barrier · n_mental · n_income_src · n_missing · sev_anxiety · sev_depression · sev_mental · sev_food · health_x_mental · poverty_x_health · bmi</a:t>
            </a:r>
            <a:endParaRPr lang="en-US" sz="1050" dirty="0"/>
          </a:p>
        </p:txBody>
      </p:sp>
      <p:sp>
        <p:nvSpPr>
          <p:cNvPr id="10" name="Text 7"/>
          <p:cNvSpPr/>
          <p:nvPr/>
        </p:nvSpPr>
        <p:spPr>
          <a:xfrm>
            <a:off x="841248" y="5468112"/>
            <a:ext cx="5998464" cy="640080"/>
          </a:xfrm>
          <a:prstGeom prst="rect">
            <a:avLst/>
          </a:prstGeom>
          <a:noFill/>
          <a:ln/>
        </p:spPr>
        <p:txBody>
          <a:bodyPr wrap="square" lIns="0" tIns="0" rIns="0" bIns="0" rtlCol="0" anchor="t"/>
          <a:lstStyle/>
          <a:p>
            <a:pPr algn="l" indent="0" marL="0">
              <a:lnSpc>
                <a:spcPts val="1283"/>
              </a:lnSpc>
              <a:buNone/>
            </a:pPr>
            <a:r>
              <a:rPr lang="en-US" sz="950" i="1" dirty="0">
                <a:solidFill>
                  <a:srgbClr val="6E747C"/>
                </a:solidFill>
                <a:latin typeface="Calibri" pitchFamily="34" charset="0"/>
                <a:ea typeface="Calibri" pitchFamily="34" charset="-122"/>
                <a:cs typeface="Calibri" pitchFamily="34" charset="-120"/>
              </a:rPr>
              <a:t>Beban penyakit, keterbatasan fungsional, hambatan biaya, keparahan mental, ketahanan pangan, disusun dari pengelompokan data dictionary.</a:t>
            </a:r>
            <a:endParaRPr lang="en-US" sz="950" dirty="0"/>
          </a:p>
        </p:txBody>
      </p:sp>
      <p:sp>
        <p:nvSpPr>
          <p:cNvPr id="11" name="Shape 8"/>
          <p:cNvSpPr/>
          <p:nvPr/>
        </p:nvSpPr>
        <p:spPr>
          <a:xfrm>
            <a:off x="7315200" y="1371600"/>
            <a:ext cx="4236415" cy="3291840"/>
          </a:xfrm>
          <a:prstGeom prst="roundRect">
            <a:avLst>
              <a:gd name="adj" fmla="val 1667"/>
            </a:avLst>
          </a:prstGeom>
          <a:solidFill>
            <a:srgbClr val="FFFFFF"/>
          </a:solidFill>
          <a:ln w="9525">
            <a:solidFill>
              <a:srgbClr val="DCD8D1"/>
            </a:solidFill>
            <a:prstDash val="solid"/>
          </a:ln>
        </p:spPr>
      </p:sp>
      <p:sp>
        <p:nvSpPr>
          <p:cNvPr id="12" name="Text 9"/>
          <p:cNvSpPr/>
          <p:nvPr/>
        </p:nvSpPr>
        <p:spPr>
          <a:xfrm>
            <a:off x="7516368" y="1499616"/>
            <a:ext cx="383407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5.1 · ABLASI, CV 3-FOLD IDENTIK, 297 DETIK</a:t>
            </a:r>
            <a:endParaRPr lang="en-US" sz="850" dirty="0"/>
          </a:p>
        </p:txBody>
      </p:sp>
      <p:sp>
        <p:nvSpPr>
          <p:cNvPr id="13" name="Text 10"/>
          <p:cNvSpPr/>
          <p:nvPr/>
        </p:nvSpPr>
        <p:spPr>
          <a:xfrm>
            <a:off x="7516368" y="1700784"/>
            <a:ext cx="383407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Selisih terhadap fitur mentah saja</a:t>
            </a:r>
            <a:endParaRPr lang="en-US" sz="1300" dirty="0"/>
          </a:p>
        </p:txBody>
      </p:sp>
      <p:sp>
        <p:nvSpPr>
          <p:cNvPr id="14" name="Shape 11"/>
          <p:cNvSpPr/>
          <p:nvPr/>
        </p:nvSpPr>
        <p:spPr>
          <a:xfrm>
            <a:off x="10393528" y="2167128"/>
            <a:ext cx="0" cy="1783080"/>
          </a:xfrm>
          <a:prstGeom prst="line">
            <a:avLst/>
          </a:prstGeom>
          <a:noFill/>
          <a:ln w="13970">
            <a:solidFill>
              <a:srgbClr val="16191D"/>
            </a:solidFill>
            <a:prstDash val="solid"/>
          </a:ln>
        </p:spPr>
      </p:sp>
      <p:sp>
        <p:nvSpPr>
          <p:cNvPr id="15" name="Text 12"/>
          <p:cNvSpPr/>
          <p:nvPr/>
        </p:nvSpPr>
        <p:spPr>
          <a:xfrm>
            <a:off x="7452360" y="2212848"/>
            <a:ext cx="1920240"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A. Fitur mentah</a:t>
            </a:r>
            <a:endParaRPr lang="en-US" sz="1000" dirty="0"/>
          </a:p>
        </p:txBody>
      </p:sp>
      <p:sp>
        <p:nvSpPr>
          <p:cNvPr id="16" name="Shape 13"/>
          <p:cNvSpPr/>
          <p:nvPr/>
        </p:nvSpPr>
        <p:spPr>
          <a:xfrm>
            <a:off x="10393528" y="2267712"/>
            <a:ext cx="36576" cy="182880"/>
          </a:xfrm>
          <a:prstGeom prst="rect">
            <a:avLst/>
          </a:prstGeom>
          <a:solidFill>
            <a:srgbClr val="2F6B5F"/>
          </a:solidFill>
          <a:ln/>
        </p:spPr>
      </p:sp>
      <p:sp>
        <p:nvSpPr>
          <p:cNvPr id="17" name="Text 14"/>
          <p:cNvSpPr/>
          <p:nvPr/>
        </p:nvSpPr>
        <p:spPr>
          <a:xfrm>
            <a:off x="9464040" y="2487168"/>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0,46577 · acuan</a:t>
            </a:r>
            <a:endParaRPr lang="en-US" sz="900" dirty="0"/>
          </a:p>
        </p:txBody>
      </p:sp>
      <p:sp>
        <p:nvSpPr>
          <p:cNvPr id="18" name="Text 15"/>
          <p:cNvSpPr/>
          <p:nvPr/>
        </p:nvSpPr>
        <p:spPr>
          <a:xfrm>
            <a:off x="7452360" y="2779776"/>
            <a:ext cx="192024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B. + 13 komposit</a:t>
            </a:r>
            <a:endParaRPr lang="en-US" sz="1000" dirty="0"/>
          </a:p>
        </p:txBody>
      </p:sp>
      <p:sp>
        <p:nvSpPr>
          <p:cNvPr id="19" name="Shape 16"/>
          <p:cNvSpPr/>
          <p:nvPr/>
        </p:nvSpPr>
        <p:spPr>
          <a:xfrm>
            <a:off x="9799282" y="2834640"/>
            <a:ext cx="594246" cy="182880"/>
          </a:xfrm>
          <a:prstGeom prst="rect">
            <a:avLst/>
          </a:prstGeom>
          <a:solidFill>
            <a:srgbClr val="A8442A"/>
          </a:solidFill>
          <a:ln/>
        </p:spPr>
      </p:sp>
      <p:sp>
        <p:nvSpPr>
          <p:cNvPr id="20" name="Text 17"/>
          <p:cNvSpPr/>
          <p:nvPr/>
        </p:nvSpPr>
        <p:spPr>
          <a:xfrm>
            <a:off x="9464040" y="3054096"/>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0,46487 · −0,00090</a:t>
            </a:r>
            <a:endParaRPr lang="en-US" sz="900" dirty="0"/>
          </a:p>
        </p:txBody>
      </p:sp>
      <p:sp>
        <p:nvSpPr>
          <p:cNvPr id="21" name="Text 18"/>
          <p:cNvSpPr/>
          <p:nvPr/>
        </p:nvSpPr>
        <p:spPr>
          <a:xfrm>
            <a:off x="7452360" y="3346704"/>
            <a:ext cx="192024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C. Kode 7/8/9 → NaN</a:t>
            </a:r>
            <a:endParaRPr lang="en-US" sz="1000" dirty="0"/>
          </a:p>
        </p:txBody>
      </p:sp>
      <p:sp>
        <p:nvSpPr>
          <p:cNvPr id="22" name="Shape 19"/>
          <p:cNvSpPr/>
          <p:nvPr/>
        </p:nvSpPr>
        <p:spPr>
          <a:xfrm>
            <a:off x="10393528" y="3401568"/>
            <a:ext cx="732903" cy="182880"/>
          </a:xfrm>
          <a:prstGeom prst="rect">
            <a:avLst/>
          </a:prstGeom>
          <a:solidFill>
            <a:srgbClr val="D8A25E"/>
          </a:solidFill>
          <a:ln/>
        </p:spPr>
      </p:sp>
      <p:sp>
        <p:nvSpPr>
          <p:cNvPr id="23" name="Text 20"/>
          <p:cNvSpPr/>
          <p:nvPr/>
        </p:nvSpPr>
        <p:spPr>
          <a:xfrm>
            <a:off x="9464040" y="3621024"/>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0,46688 · +0,00111</a:t>
            </a:r>
            <a:endParaRPr lang="en-US" sz="900" dirty="0"/>
          </a:p>
        </p:txBody>
      </p:sp>
      <p:sp>
        <p:nvSpPr>
          <p:cNvPr id="24" name="Text 21"/>
          <p:cNvSpPr/>
          <p:nvPr/>
        </p:nvSpPr>
        <p:spPr>
          <a:xfrm>
            <a:off x="7516368" y="4041648"/>
            <a:ext cx="3834079" cy="310896"/>
          </a:xfrm>
          <a:prstGeom prst="rect">
            <a:avLst/>
          </a:prstGeom>
          <a:noFill/>
          <a:ln/>
        </p:spPr>
        <p:txBody>
          <a:bodyPr wrap="square" lIns="0" tIns="0" rIns="0" bIns="0" rtlCol="0" anchor="ctr"/>
          <a:lstStyle/>
          <a:p>
            <a:pPr algn="l" indent="0" marL="0">
              <a:buNone/>
            </a:pPr>
            <a:r>
              <a:rPr lang="en-US" sz="950" i="1" dirty="0">
                <a:solidFill>
                  <a:srgbClr val="6E747C"/>
                </a:solidFill>
                <a:latin typeface="Calibri" pitchFamily="34" charset="0"/>
                <a:ea typeface="Calibri" pitchFamily="34" charset="-122"/>
                <a:cs typeface="Calibri" pitchFamily="34" charset="-120"/>
              </a:rPr>
              <a:t>Kedua selisih lebih kecil dari 0,0012 QWK, setara derau antar fold.</a:t>
            </a:r>
            <a:endParaRPr lang="en-US" sz="950" dirty="0"/>
          </a:p>
        </p:txBody>
      </p:sp>
      <p:sp>
        <p:nvSpPr>
          <p:cNvPr id="25" name="Shape 22"/>
          <p:cNvSpPr/>
          <p:nvPr/>
        </p:nvSpPr>
        <p:spPr>
          <a:xfrm>
            <a:off x="7315200" y="4846320"/>
            <a:ext cx="4236415" cy="1371600"/>
          </a:xfrm>
          <a:prstGeom prst="roundRect">
            <a:avLst>
              <a:gd name="adj" fmla="val 4000"/>
            </a:avLst>
          </a:prstGeom>
          <a:solidFill>
            <a:srgbClr val="16191D"/>
          </a:solidFill>
          <a:ln w="9525">
            <a:solidFill>
              <a:srgbClr val="16191D"/>
            </a:solidFill>
            <a:prstDash val="solid"/>
          </a:ln>
        </p:spPr>
      </p:sp>
      <p:sp>
        <p:nvSpPr>
          <p:cNvPr id="26" name="Text 23"/>
          <p:cNvSpPr/>
          <p:nvPr/>
        </p:nvSpPr>
        <p:spPr>
          <a:xfrm>
            <a:off x="7543800" y="4846320"/>
            <a:ext cx="3779215" cy="1371600"/>
          </a:xfrm>
          <a:prstGeom prst="rect">
            <a:avLst/>
          </a:prstGeom>
          <a:noFill/>
          <a:ln/>
        </p:spPr>
        <p:txBody>
          <a:bodyPr wrap="square" lIns="0" tIns="0" rIns="0" bIns="0" rtlCol="0" anchor="ctr"/>
          <a:lstStyle/>
          <a:p>
            <a:pPr indent="0" marL="0">
              <a:lnSpc>
                <a:spcPts val="1500"/>
              </a:lnSpc>
              <a:buNone/>
            </a:pPr>
            <a:r>
              <a:rPr lang="en-US" sz="1100" b="1" dirty="0">
                <a:solidFill>
                  <a:srgbClr val="8FB0A4"/>
                </a:solidFill>
                <a:latin typeface="Calibri" pitchFamily="34" charset="0"/>
                <a:ea typeface="Calibri" pitchFamily="34" charset="-122"/>
                <a:cs typeface="Calibri" pitchFamily="34" charset="-120"/>
              </a:rPr>
              <a:t>Keputusan: fitur mentah saja. </a:t>
            </a:r>
            <a:pPr indent="0" marL="0">
              <a:lnSpc>
                <a:spcPts val="1500"/>
              </a:lnSpc>
              <a:buNone/>
            </a:pPr>
            <a:r>
              <a:rPr lang="en-US" sz="1100" dirty="0">
                <a:solidFill>
                  <a:srgbClr val="FFFFFF"/>
                </a:solidFill>
                <a:latin typeface="Calibri" pitchFamily="34" charset="0"/>
                <a:ea typeface="Calibri" pitchFamily="34" charset="-122"/>
                <a:cs typeface="Calibri" pitchFamily="34" charset="-120"/>
              </a:rPr>
              <a:t>Pohon dengan 176 fitur sudah merekonstruksi sendiri interaksi semacam jumlah penyakit lewat kombinasi percabangan. Fitur komposit hanya mengulang informasi dan memperbesar risiko overfitting.</a:t>
            </a:r>
            <a:endParaRPr lang="en-US" sz="1100" dirty="0"/>
          </a:p>
        </p:txBody>
      </p:sp>
      <p:sp>
        <p:nvSpPr>
          <p:cNvPr id="28" name="Shape 24"/>
          <p:cNvSpPr/>
          <p:nvPr/>
        </p:nvSpPr>
        <p:spPr>
          <a:xfrm>
            <a:off x="640080" y="6400800"/>
            <a:ext cx="1572768" cy="45720"/>
          </a:xfrm>
          <a:prstGeom prst="rect">
            <a:avLst/>
          </a:prstGeom>
          <a:solidFill>
            <a:srgbClr val="DCD8D1"/>
          </a:solidFill>
          <a:ln/>
        </p:spPr>
      </p:sp>
      <p:sp>
        <p:nvSpPr>
          <p:cNvPr id="29" name="Text 2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0" name="Shape 26"/>
          <p:cNvSpPr/>
          <p:nvPr/>
        </p:nvSpPr>
        <p:spPr>
          <a:xfrm>
            <a:off x="2304288" y="6400800"/>
            <a:ext cx="1572768" cy="45720"/>
          </a:xfrm>
          <a:prstGeom prst="rect">
            <a:avLst/>
          </a:prstGeom>
          <a:solidFill>
            <a:srgbClr val="DCD8D1"/>
          </a:solidFill>
          <a:ln/>
        </p:spPr>
      </p:sp>
      <p:sp>
        <p:nvSpPr>
          <p:cNvPr id="31" name="Text 2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2" name="Shape 28"/>
          <p:cNvSpPr/>
          <p:nvPr/>
        </p:nvSpPr>
        <p:spPr>
          <a:xfrm>
            <a:off x="3968496" y="6400800"/>
            <a:ext cx="1572768" cy="45720"/>
          </a:xfrm>
          <a:prstGeom prst="rect">
            <a:avLst/>
          </a:prstGeom>
          <a:solidFill>
            <a:srgbClr val="A8442A"/>
          </a:solidFill>
          <a:ln/>
        </p:spPr>
      </p:sp>
      <p:sp>
        <p:nvSpPr>
          <p:cNvPr id="33" name="Text 2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34" name="Shape 30"/>
          <p:cNvSpPr/>
          <p:nvPr/>
        </p:nvSpPr>
        <p:spPr>
          <a:xfrm>
            <a:off x="5632704" y="6400800"/>
            <a:ext cx="1572768" cy="45720"/>
          </a:xfrm>
          <a:prstGeom prst="rect">
            <a:avLst/>
          </a:prstGeom>
          <a:solidFill>
            <a:srgbClr val="DCD8D1"/>
          </a:solidFill>
          <a:ln/>
        </p:spPr>
      </p:sp>
      <p:sp>
        <p:nvSpPr>
          <p:cNvPr id="35" name="Text 3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36" name="Shape 32"/>
          <p:cNvSpPr/>
          <p:nvPr/>
        </p:nvSpPr>
        <p:spPr>
          <a:xfrm>
            <a:off x="7296912" y="6400800"/>
            <a:ext cx="1572768" cy="45720"/>
          </a:xfrm>
          <a:prstGeom prst="rect">
            <a:avLst/>
          </a:prstGeom>
          <a:solidFill>
            <a:srgbClr val="DCD8D1"/>
          </a:solidFill>
          <a:ln/>
        </p:spPr>
      </p:sp>
      <p:sp>
        <p:nvSpPr>
          <p:cNvPr id="37" name="Text 3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38" name="Shape 34"/>
          <p:cNvSpPr/>
          <p:nvPr/>
        </p:nvSpPr>
        <p:spPr>
          <a:xfrm>
            <a:off x="8961120" y="6400800"/>
            <a:ext cx="1572768" cy="45720"/>
          </a:xfrm>
          <a:prstGeom prst="rect">
            <a:avLst/>
          </a:prstGeom>
          <a:solidFill>
            <a:srgbClr val="DCD8D1"/>
          </a:solidFill>
          <a:ln/>
        </p:spPr>
      </p:sp>
      <p:sp>
        <p:nvSpPr>
          <p:cNvPr id="39" name="Text 3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0" name="Text 3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43977" y="91440"/>
            <a:ext cx="3507638" cy="237744"/>
          </a:xfrm>
          <a:prstGeom prst="roundRect">
            <a:avLst>
              <a:gd name="adj" fmla="val 50000"/>
            </a:avLst>
          </a:prstGeom>
          <a:solidFill>
            <a:srgbClr val="2F6B5F"/>
          </a:solidFill>
          <a:ln/>
        </p:spPr>
      </p:sp>
      <p:sp>
        <p:nvSpPr>
          <p:cNvPr id="3" name="Text 1"/>
          <p:cNvSpPr/>
          <p:nvPr/>
        </p:nvSpPr>
        <p:spPr>
          <a:xfrm>
            <a:off x="8043977" y="91440"/>
            <a:ext cx="3507638"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metrik terverifikasi, 47× lebih cepat</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Satu pembagian fold untuk semua model, satu metrik yang terverifikasi.</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Fondasi yang membuat stacking sah dan estimasi out-of-fold tetap tak bias.</a:t>
            </a:r>
            <a:endParaRPr lang="en-US" sz="1250" dirty="0"/>
          </a:p>
        </p:txBody>
      </p:sp>
      <p:sp>
        <p:nvSpPr>
          <p:cNvPr id="6" name="Shape 4"/>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7" name="Text 5"/>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6.2 · IMPLEMENTASI QWK</a:t>
            </a:r>
            <a:endParaRPr lang="en-US" sz="850" dirty="0"/>
          </a:p>
        </p:txBody>
      </p:sp>
      <p:sp>
        <p:nvSpPr>
          <p:cNvPr id="8" name="Text 6"/>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Ditulis ulang, dibuktikan setara</a:t>
            </a:r>
            <a:endParaRPr lang="en-US" sz="1300" dirty="0"/>
          </a:p>
        </p:txBody>
      </p:sp>
      <p:sp>
        <p:nvSpPr>
          <p:cNvPr id="9" name="Text 7"/>
          <p:cNvSpPr/>
          <p:nvPr/>
        </p:nvSpPr>
        <p:spPr>
          <a:xfrm>
            <a:off x="841248" y="2212848"/>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Selisih maks. vs sklearn</a:t>
            </a:r>
            <a:endParaRPr lang="en-US" sz="1000" dirty="0"/>
          </a:p>
        </p:txBody>
      </p:sp>
      <p:sp>
        <p:nvSpPr>
          <p:cNvPr id="10" name="Text 8"/>
          <p:cNvSpPr/>
          <p:nvPr/>
        </p:nvSpPr>
        <p:spPr>
          <a:xfrm>
            <a:off x="2752362" y="2212848"/>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4,44 × 10⁻¹⁶</a:t>
            </a:r>
            <a:endParaRPr lang="en-US" sz="1000" dirty="0"/>
          </a:p>
        </p:txBody>
      </p:sp>
      <p:sp>
        <p:nvSpPr>
          <p:cNvPr id="11" name="Shape 9"/>
          <p:cNvSpPr/>
          <p:nvPr/>
        </p:nvSpPr>
        <p:spPr>
          <a:xfrm>
            <a:off x="841248" y="2523744"/>
            <a:ext cx="3082442" cy="0"/>
          </a:xfrm>
          <a:prstGeom prst="line">
            <a:avLst/>
          </a:prstGeom>
          <a:noFill/>
          <a:ln w="7620">
            <a:solidFill>
              <a:srgbClr val="DCD8D1"/>
            </a:solidFill>
            <a:prstDash val="solid"/>
          </a:ln>
        </p:spPr>
      </p:sp>
      <p:sp>
        <p:nvSpPr>
          <p:cNvPr id="12" name="Text 10"/>
          <p:cNvSpPr/>
          <p:nvPr/>
        </p:nvSpPr>
        <p:spPr>
          <a:xfrm>
            <a:off x="841248" y="2523744"/>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Uji acak</a:t>
            </a:r>
            <a:endParaRPr lang="en-US" sz="1000" dirty="0"/>
          </a:p>
        </p:txBody>
      </p:sp>
      <p:sp>
        <p:nvSpPr>
          <p:cNvPr id="13" name="Text 11"/>
          <p:cNvSpPr/>
          <p:nvPr/>
        </p:nvSpPr>
        <p:spPr>
          <a:xfrm>
            <a:off x="2752362" y="2523744"/>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200</a:t>
            </a:r>
            <a:endParaRPr lang="en-US" sz="1000" dirty="0"/>
          </a:p>
        </p:txBody>
      </p:sp>
      <p:sp>
        <p:nvSpPr>
          <p:cNvPr id="14" name="Shape 12"/>
          <p:cNvSpPr/>
          <p:nvPr/>
        </p:nvSpPr>
        <p:spPr>
          <a:xfrm>
            <a:off x="841248" y="2834640"/>
            <a:ext cx="3082442" cy="0"/>
          </a:xfrm>
          <a:prstGeom prst="line">
            <a:avLst/>
          </a:prstGeom>
          <a:noFill/>
          <a:ln w="7620">
            <a:solidFill>
              <a:srgbClr val="DCD8D1"/>
            </a:solidFill>
            <a:prstDash val="solid"/>
          </a:ln>
        </p:spPr>
      </p:sp>
      <p:sp>
        <p:nvSpPr>
          <p:cNvPr id="15" name="Text 13"/>
          <p:cNvSpPr/>
          <p:nvPr/>
        </p:nvSpPr>
        <p:spPr>
          <a:xfrm>
            <a:off x="841248" y="2834640"/>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qwk_fast</a:t>
            </a:r>
            <a:endParaRPr lang="en-US" sz="1000" dirty="0"/>
          </a:p>
        </p:txBody>
      </p:sp>
      <p:sp>
        <p:nvSpPr>
          <p:cNvPr id="16" name="Text 14"/>
          <p:cNvSpPr/>
          <p:nvPr/>
        </p:nvSpPr>
        <p:spPr>
          <a:xfrm>
            <a:off x="2752362" y="2834640"/>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43 µs</a:t>
            </a:r>
            <a:endParaRPr lang="en-US" sz="1000" dirty="0"/>
          </a:p>
        </p:txBody>
      </p:sp>
      <p:sp>
        <p:nvSpPr>
          <p:cNvPr id="17" name="Shape 15"/>
          <p:cNvSpPr/>
          <p:nvPr/>
        </p:nvSpPr>
        <p:spPr>
          <a:xfrm>
            <a:off x="841248" y="3145536"/>
            <a:ext cx="3082442" cy="0"/>
          </a:xfrm>
          <a:prstGeom prst="line">
            <a:avLst/>
          </a:prstGeom>
          <a:noFill/>
          <a:ln w="7620">
            <a:solidFill>
              <a:srgbClr val="DCD8D1"/>
            </a:solidFill>
            <a:prstDash val="solid"/>
          </a:ln>
        </p:spPr>
      </p:sp>
      <p:sp>
        <p:nvSpPr>
          <p:cNvPr id="18" name="Text 16"/>
          <p:cNvSpPr/>
          <p:nvPr/>
        </p:nvSpPr>
        <p:spPr>
          <a:xfrm>
            <a:off x="841248" y="3145536"/>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cohen_kappa_score</a:t>
            </a:r>
            <a:endParaRPr lang="en-US" sz="1000" dirty="0"/>
          </a:p>
        </p:txBody>
      </p:sp>
      <p:sp>
        <p:nvSpPr>
          <p:cNvPr id="19" name="Text 17"/>
          <p:cNvSpPr/>
          <p:nvPr/>
        </p:nvSpPr>
        <p:spPr>
          <a:xfrm>
            <a:off x="2752362" y="3145536"/>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2.029 µs</a:t>
            </a:r>
            <a:endParaRPr lang="en-US" sz="1000" dirty="0"/>
          </a:p>
        </p:txBody>
      </p:sp>
      <p:sp>
        <p:nvSpPr>
          <p:cNvPr id="20" name="Shape 18"/>
          <p:cNvSpPr/>
          <p:nvPr/>
        </p:nvSpPr>
        <p:spPr>
          <a:xfrm>
            <a:off x="841248" y="3630168"/>
            <a:ext cx="3082442" cy="1234440"/>
          </a:xfrm>
          <a:prstGeom prst="roundRect">
            <a:avLst>
              <a:gd name="adj" fmla="val 4444"/>
            </a:avLst>
          </a:prstGeom>
          <a:solidFill>
            <a:srgbClr val="16191D"/>
          </a:solidFill>
          <a:ln w="9525">
            <a:solidFill>
              <a:srgbClr val="16191D"/>
            </a:solidFill>
            <a:prstDash val="solid"/>
          </a:ln>
        </p:spPr>
      </p:sp>
      <p:sp>
        <p:nvSpPr>
          <p:cNvPr id="21" name="Text 19"/>
          <p:cNvSpPr/>
          <p:nvPr/>
        </p:nvSpPr>
        <p:spPr>
          <a:xfrm>
            <a:off x="1005840" y="3721608"/>
            <a:ext cx="2753258" cy="502920"/>
          </a:xfrm>
          <a:prstGeom prst="rect">
            <a:avLst/>
          </a:prstGeom>
          <a:noFill/>
          <a:ln/>
        </p:spPr>
        <p:txBody>
          <a:bodyPr wrap="square" lIns="0" tIns="0" rIns="0" bIns="0" rtlCol="0" anchor="b"/>
          <a:lstStyle/>
          <a:p>
            <a:pPr algn="l" indent="0" marL="0">
              <a:buNone/>
            </a:pPr>
            <a:r>
              <a:rPr lang="en-US" sz="2800" b="1" dirty="0">
                <a:solidFill>
                  <a:srgbClr val="8FB0A4"/>
                </a:solidFill>
                <a:latin typeface="Cambria" pitchFamily="34" charset="0"/>
                <a:ea typeface="Cambria" pitchFamily="34" charset="-122"/>
                <a:cs typeface="Cambria" pitchFamily="34" charset="-120"/>
              </a:rPr>
              <a:t>47 ×</a:t>
            </a:r>
            <a:endParaRPr lang="en-US" sz="2800" dirty="0"/>
          </a:p>
        </p:txBody>
      </p:sp>
      <p:sp>
        <p:nvSpPr>
          <p:cNvPr id="22" name="Text 20"/>
          <p:cNvSpPr/>
          <p:nvPr/>
        </p:nvSpPr>
        <p:spPr>
          <a:xfrm>
            <a:off x="1005840" y="4261104"/>
            <a:ext cx="2753258"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lebih cepat, yang membuat studi ambang 25 menit menjadi mungkin</a:t>
            </a:r>
            <a:endParaRPr lang="en-US" sz="950" dirty="0"/>
          </a:p>
        </p:txBody>
      </p:sp>
      <p:sp>
        <p:nvSpPr>
          <p:cNvPr id="23" name="Text 21"/>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metrik yang dioptimalkan identik dengan metrik panitia.</a:t>
            </a:r>
            <a:endParaRPr lang="en-US" sz="1000" dirty="0"/>
          </a:p>
        </p:txBody>
      </p:sp>
      <p:sp>
        <p:nvSpPr>
          <p:cNvPr id="24" name="Shape 22"/>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25" name="Text 23"/>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7 · DESAIN VALIDASI</a:t>
            </a:r>
            <a:endParaRPr lang="en-US" sz="850" dirty="0"/>
          </a:p>
        </p:txBody>
      </p:sp>
      <p:sp>
        <p:nvSpPr>
          <p:cNvPr id="26" name="Text 24"/>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StratifiedKFold 5, random_state 42</a:t>
            </a:r>
            <a:endParaRPr lang="en-US" sz="1300" dirty="0"/>
          </a:p>
        </p:txBody>
      </p:sp>
      <p:sp>
        <p:nvSpPr>
          <p:cNvPr id="27" name="Text 25"/>
          <p:cNvSpPr/>
          <p:nvPr/>
        </p:nvSpPr>
        <p:spPr>
          <a:xfrm>
            <a:off x="4554626" y="2212848"/>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Seed model per fold</a:t>
            </a:r>
            <a:endParaRPr lang="en-US" sz="1000" dirty="0"/>
          </a:p>
        </p:txBody>
      </p:sp>
      <p:sp>
        <p:nvSpPr>
          <p:cNvPr id="28" name="Text 26"/>
          <p:cNvSpPr/>
          <p:nvPr/>
        </p:nvSpPr>
        <p:spPr>
          <a:xfrm>
            <a:off x="6465741" y="2212848"/>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0, 1, 2, 3, 4</a:t>
            </a:r>
            <a:endParaRPr lang="en-US" sz="1000" dirty="0"/>
          </a:p>
        </p:txBody>
      </p:sp>
      <p:sp>
        <p:nvSpPr>
          <p:cNvPr id="29" name="Shape 27"/>
          <p:cNvSpPr/>
          <p:nvPr/>
        </p:nvSpPr>
        <p:spPr>
          <a:xfrm>
            <a:off x="4554626" y="2505456"/>
            <a:ext cx="3082442" cy="0"/>
          </a:xfrm>
          <a:prstGeom prst="line">
            <a:avLst/>
          </a:prstGeom>
          <a:noFill/>
          <a:ln w="7620">
            <a:solidFill>
              <a:srgbClr val="DCD8D1"/>
            </a:solidFill>
            <a:prstDash val="solid"/>
          </a:ln>
        </p:spPr>
      </p:sp>
      <p:sp>
        <p:nvSpPr>
          <p:cNvPr id="30" name="Text 28"/>
          <p:cNvSpPr/>
          <p:nvPr/>
        </p:nvSpPr>
        <p:spPr>
          <a:xfrm>
            <a:off x="4554626" y="2505456"/>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Latih per fold</a:t>
            </a:r>
            <a:endParaRPr lang="en-US" sz="1000" dirty="0"/>
          </a:p>
        </p:txBody>
      </p:sp>
      <p:sp>
        <p:nvSpPr>
          <p:cNvPr id="31" name="Text 29"/>
          <p:cNvSpPr/>
          <p:nvPr/>
        </p:nvSpPr>
        <p:spPr>
          <a:xfrm>
            <a:off x="6465741" y="2505456"/>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76.487 / 76.488</a:t>
            </a:r>
            <a:endParaRPr lang="en-US" sz="1000" dirty="0"/>
          </a:p>
        </p:txBody>
      </p:sp>
      <p:sp>
        <p:nvSpPr>
          <p:cNvPr id="32" name="Shape 30"/>
          <p:cNvSpPr/>
          <p:nvPr/>
        </p:nvSpPr>
        <p:spPr>
          <a:xfrm>
            <a:off x="4554626" y="2798064"/>
            <a:ext cx="3082442" cy="0"/>
          </a:xfrm>
          <a:prstGeom prst="line">
            <a:avLst/>
          </a:prstGeom>
          <a:noFill/>
          <a:ln w="7620">
            <a:solidFill>
              <a:srgbClr val="DCD8D1"/>
            </a:solidFill>
            <a:prstDash val="solid"/>
          </a:ln>
        </p:spPr>
      </p:sp>
      <p:sp>
        <p:nvSpPr>
          <p:cNvPr id="33" name="Text 31"/>
          <p:cNvSpPr/>
          <p:nvPr/>
        </p:nvSpPr>
        <p:spPr>
          <a:xfrm>
            <a:off x="4554626" y="2798064"/>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Validasi per fold</a:t>
            </a:r>
            <a:endParaRPr lang="en-US" sz="1000" dirty="0"/>
          </a:p>
        </p:txBody>
      </p:sp>
      <p:sp>
        <p:nvSpPr>
          <p:cNvPr id="34" name="Text 32"/>
          <p:cNvSpPr/>
          <p:nvPr/>
        </p:nvSpPr>
        <p:spPr>
          <a:xfrm>
            <a:off x="6465741" y="2798064"/>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19.121 / 19.122</a:t>
            </a:r>
            <a:endParaRPr lang="en-US" sz="1000" dirty="0"/>
          </a:p>
        </p:txBody>
      </p:sp>
      <p:sp>
        <p:nvSpPr>
          <p:cNvPr id="35" name="Text 33"/>
          <p:cNvSpPr/>
          <p:nvPr/>
        </p:nvSpPr>
        <p:spPr>
          <a:xfrm>
            <a:off x="4554626" y="326440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0</a:t>
            </a:r>
            <a:endParaRPr lang="en-US" sz="900" dirty="0"/>
          </a:p>
        </p:txBody>
      </p:sp>
      <p:sp>
        <p:nvSpPr>
          <p:cNvPr id="36" name="Shape 34"/>
          <p:cNvSpPr/>
          <p:nvPr/>
        </p:nvSpPr>
        <p:spPr>
          <a:xfrm>
            <a:off x="5084978" y="3291840"/>
            <a:ext cx="457200" cy="164592"/>
          </a:xfrm>
          <a:prstGeom prst="rect">
            <a:avLst/>
          </a:prstGeom>
          <a:solidFill>
            <a:srgbClr val="A8442A"/>
          </a:solidFill>
          <a:ln/>
        </p:spPr>
      </p:sp>
      <p:sp>
        <p:nvSpPr>
          <p:cNvPr id="37" name="Shape 35"/>
          <p:cNvSpPr/>
          <p:nvPr/>
        </p:nvSpPr>
        <p:spPr>
          <a:xfrm>
            <a:off x="5578754" y="3291840"/>
            <a:ext cx="457200" cy="164592"/>
          </a:xfrm>
          <a:prstGeom prst="rect">
            <a:avLst/>
          </a:prstGeom>
          <a:solidFill>
            <a:srgbClr val="ECE7DF"/>
          </a:solidFill>
          <a:ln/>
        </p:spPr>
      </p:sp>
      <p:sp>
        <p:nvSpPr>
          <p:cNvPr id="38" name="Shape 36"/>
          <p:cNvSpPr/>
          <p:nvPr/>
        </p:nvSpPr>
        <p:spPr>
          <a:xfrm>
            <a:off x="6072530" y="3291840"/>
            <a:ext cx="457200" cy="164592"/>
          </a:xfrm>
          <a:prstGeom prst="rect">
            <a:avLst/>
          </a:prstGeom>
          <a:solidFill>
            <a:srgbClr val="ECE7DF"/>
          </a:solidFill>
          <a:ln/>
        </p:spPr>
      </p:sp>
      <p:sp>
        <p:nvSpPr>
          <p:cNvPr id="39" name="Shape 37"/>
          <p:cNvSpPr/>
          <p:nvPr/>
        </p:nvSpPr>
        <p:spPr>
          <a:xfrm>
            <a:off x="6566306" y="3291840"/>
            <a:ext cx="457200" cy="164592"/>
          </a:xfrm>
          <a:prstGeom prst="rect">
            <a:avLst/>
          </a:prstGeom>
          <a:solidFill>
            <a:srgbClr val="ECE7DF"/>
          </a:solidFill>
          <a:ln/>
        </p:spPr>
      </p:sp>
      <p:sp>
        <p:nvSpPr>
          <p:cNvPr id="40" name="Shape 38"/>
          <p:cNvSpPr/>
          <p:nvPr/>
        </p:nvSpPr>
        <p:spPr>
          <a:xfrm>
            <a:off x="7060082" y="3291840"/>
            <a:ext cx="457200" cy="164592"/>
          </a:xfrm>
          <a:prstGeom prst="rect">
            <a:avLst/>
          </a:prstGeom>
          <a:solidFill>
            <a:srgbClr val="ECE7DF"/>
          </a:solidFill>
          <a:ln/>
        </p:spPr>
      </p:sp>
      <p:sp>
        <p:nvSpPr>
          <p:cNvPr id="41" name="Text 39"/>
          <p:cNvSpPr/>
          <p:nvPr/>
        </p:nvSpPr>
        <p:spPr>
          <a:xfrm>
            <a:off x="4554626" y="353872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1</a:t>
            </a:r>
            <a:endParaRPr lang="en-US" sz="900" dirty="0"/>
          </a:p>
        </p:txBody>
      </p:sp>
      <p:sp>
        <p:nvSpPr>
          <p:cNvPr id="42" name="Shape 40"/>
          <p:cNvSpPr/>
          <p:nvPr/>
        </p:nvSpPr>
        <p:spPr>
          <a:xfrm>
            <a:off x="5084978" y="3566160"/>
            <a:ext cx="457200" cy="164592"/>
          </a:xfrm>
          <a:prstGeom prst="rect">
            <a:avLst/>
          </a:prstGeom>
          <a:solidFill>
            <a:srgbClr val="ECE7DF"/>
          </a:solidFill>
          <a:ln/>
        </p:spPr>
      </p:sp>
      <p:sp>
        <p:nvSpPr>
          <p:cNvPr id="43" name="Shape 41"/>
          <p:cNvSpPr/>
          <p:nvPr/>
        </p:nvSpPr>
        <p:spPr>
          <a:xfrm>
            <a:off x="5578754" y="3566160"/>
            <a:ext cx="457200" cy="164592"/>
          </a:xfrm>
          <a:prstGeom prst="rect">
            <a:avLst/>
          </a:prstGeom>
          <a:solidFill>
            <a:srgbClr val="A8442A"/>
          </a:solidFill>
          <a:ln/>
        </p:spPr>
      </p:sp>
      <p:sp>
        <p:nvSpPr>
          <p:cNvPr id="44" name="Shape 42"/>
          <p:cNvSpPr/>
          <p:nvPr/>
        </p:nvSpPr>
        <p:spPr>
          <a:xfrm>
            <a:off x="6072530" y="3566160"/>
            <a:ext cx="457200" cy="164592"/>
          </a:xfrm>
          <a:prstGeom prst="rect">
            <a:avLst/>
          </a:prstGeom>
          <a:solidFill>
            <a:srgbClr val="ECE7DF"/>
          </a:solidFill>
          <a:ln/>
        </p:spPr>
      </p:sp>
      <p:sp>
        <p:nvSpPr>
          <p:cNvPr id="45" name="Shape 43"/>
          <p:cNvSpPr/>
          <p:nvPr/>
        </p:nvSpPr>
        <p:spPr>
          <a:xfrm>
            <a:off x="6566306" y="3566160"/>
            <a:ext cx="457200" cy="164592"/>
          </a:xfrm>
          <a:prstGeom prst="rect">
            <a:avLst/>
          </a:prstGeom>
          <a:solidFill>
            <a:srgbClr val="ECE7DF"/>
          </a:solidFill>
          <a:ln/>
        </p:spPr>
      </p:sp>
      <p:sp>
        <p:nvSpPr>
          <p:cNvPr id="46" name="Shape 44"/>
          <p:cNvSpPr/>
          <p:nvPr/>
        </p:nvSpPr>
        <p:spPr>
          <a:xfrm>
            <a:off x="7060082" y="3566160"/>
            <a:ext cx="457200" cy="164592"/>
          </a:xfrm>
          <a:prstGeom prst="rect">
            <a:avLst/>
          </a:prstGeom>
          <a:solidFill>
            <a:srgbClr val="ECE7DF"/>
          </a:solidFill>
          <a:ln/>
        </p:spPr>
      </p:sp>
      <p:sp>
        <p:nvSpPr>
          <p:cNvPr id="47" name="Text 45"/>
          <p:cNvSpPr/>
          <p:nvPr/>
        </p:nvSpPr>
        <p:spPr>
          <a:xfrm>
            <a:off x="4554626" y="381304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2</a:t>
            </a:r>
            <a:endParaRPr lang="en-US" sz="900" dirty="0"/>
          </a:p>
        </p:txBody>
      </p:sp>
      <p:sp>
        <p:nvSpPr>
          <p:cNvPr id="48" name="Shape 46"/>
          <p:cNvSpPr/>
          <p:nvPr/>
        </p:nvSpPr>
        <p:spPr>
          <a:xfrm>
            <a:off x="5084978" y="3840480"/>
            <a:ext cx="457200" cy="164592"/>
          </a:xfrm>
          <a:prstGeom prst="rect">
            <a:avLst/>
          </a:prstGeom>
          <a:solidFill>
            <a:srgbClr val="ECE7DF"/>
          </a:solidFill>
          <a:ln/>
        </p:spPr>
      </p:sp>
      <p:sp>
        <p:nvSpPr>
          <p:cNvPr id="49" name="Shape 47"/>
          <p:cNvSpPr/>
          <p:nvPr/>
        </p:nvSpPr>
        <p:spPr>
          <a:xfrm>
            <a:off x="5578754" y="3840480"/>
            <a:ext cx="457200" cy="164592"/>
          </a:xfrm>
          <a:prstGeom prst="rect">
            <a:avLst/>
          </a:prstGeom>
          <a:solidFill>
            <a:srgbClr val="ECE7DF"/>
          </a:solidFill>
          <a:ln/>
        </p:spPr>
      </p:sp>
      <p:sp>
        <p:nvSpPr>
          <p:cNvPr id="50" name="Shape 48"/>
          <p:cNvSpPr/>
          <p:nvPr/>
        </p:nvSpPr>
        <p:spPr>
          <a:xfrm>
            <a:off x="6072530" y="3840480"/>
            <a:ext cx="457200" cy="164592"/>
          </a:xfrm>
          <a:prstGeom prst="rect">
            <a:avLst/>
          </a:prstGeom>
          <a:solidFill>
            <a:srgbClr val="A8442A"/>
          </a:solidFill>
          <a:ln/>
        </p:spPr>
      </p:sp>
      <p:sp>
        <p:nvSpPr>
          <p:cNvPr id="51" name="Shape 49"/>
          <p:cNvSpPr/>
          <p:nvPr/>
        </p:nvSpPr>
        <p:spPr>
          <a:xfrm>
            <a:off x="6566306" y="3840480"/>
            <a:ext cx="457200" cy="164592"/>
          </a:xfrm>
          <a:prstGeom prst="rect">
            <a:avLst/>
          </a:prstGeom>
          <a:solidFill>
            <a:srgbClr val="ECE7DF"/>
          </a:solidFill>
          <a:ln/>
        </p:spPr>
      </p:sp>
      <p:sp>
        <p:nvSpPr>
          <p:cNvPr id="52" name="Shape 50"/>
          <p:cNvSpPr/>
          <p:nvPr/>
        </p:nvSpPr>
        <p:spPr>
          <a:xfrm>
            <a:off x="7060082" y="3840480"/>
            <a:ext cx="457200" cy="164592"/>
          </a:xfrm>
          <a:prstGeom prst="rect">
            <a:avLst/>
          </a:prstGeom>
          <a:solidFill>
            <a:srgbClr val="ECE7DF"/>
          </a:solidFill>
          <a:ln/>
        </p:spPr>
      </p:sp>
      <p:sp>
        <p:nvSpPr>
          <p:cNvPr id="53" name="Text 51"/>
          <p:cNvSpPr/>
          <p:nvPr/>
        </p:nvSpPr>
        <p:spPr>
          <a:xfrm>
            <a:off x="4554626" y="408736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3</a:t>
            </a:r>
            <a:endParaRPr lang="en-US" sz="900" dirty="0"/>
          </a:p>
        </p:txBody>
      </p:sp>
      <p:sp>
        <p:nvSpPr>
          <p:cNvPr id="54" name="Shape 52"/>
          <p:cNvSpPr/>
          <p:nvPr/>
        </p:nvSpPr>
        <p:spPr>
          <a:xfrm>
            <a:off x="5084978" y="4114800"/>
            <a:ext cx="457200" cy="164592"/>
          </a:xfrm>
          <a:prstGeom prst="rect">
            <a:avLst/>
          </a:prstGeom>
          <a:solidFill>
            <a:srgbClr val="ECE7DF"/>
          </a:solidFill>
          <a:ln/>
        </p:spPr>
      </p:sp>
      <p:sp>
        <p:nvSpPr>
          <p:cNvPr id="55" name="Shape 53"/>
          <p:cNvSpPr/>
          <p:nvPr/>
        </p:nvSpPr>
        <p:spPr>
          <a:xfrm>
            <a:off x="5578754" y="4114800"/>
            <a:ext cx="457200" cy="164592"/>
          </a:xfrm>
          <a:prstGeom prst="rect">
            <a:avLst/>
          </a:prstGeom>
          <a:solidFill>
            <a:srgbClr val="ECE7DF"/>
          </a:solidFill>
          <a:ln/>
        </p:spPr>
      </p:sp>
      <p:sp>
        <p:nvSpPr>
          <p:cNvPr id="56" name="Shape 54"/>
          <p:cNvSpPr/>
          <p:nvPr/>
        </p:nvSpPr>
        <p:spPr>
          <a:xfrm>
            <a:off x="6072530" y="4114800"/>
            <a:ext cx="457200" cy="164592"/>
          </a:xfrm>
          <a:prstGeom prst="rect">
            <a:avLst/>
          </a:prstGeom>
          <a:solidFill>
            <a:srgbClr val="ECE7DF"/>
          </a:solidFill>
          <a:ln/>
        </p:spPr>
      </p:sp>
      <p:sp>
        <p:nvSpPr>
          <p:cNvPr id="57" name="Shape 55"/>
          <p:cNvSpPr/>
          <p:nvPr/>
        </p:nvSpPr>
        <p:spPr>
          <a:xfrm>
            <a:off x="6566306" y="4114800"/>
            <a:ext cx="457200" cy="164592"/>
          </a:xfrm>
          <a:prstGeom prst="rect">
            <a:avLst/>
          </a:prstGeom>
          <a:solidFill>
            <a:srgbClr val="A8442A"/>
          </a:solidFill>
          <a:ln/>
        </p:spPr>
      </p:sp>
      <p:sp>
        <p:nvSpPr>
          <p:cNvPr id="58" name="Shape 56"/>
          <p:cNvSpPr/>
          <p:nvPr/>
        </p:nvSpPr>
        <p:spPr>
          <a:xfrm>
            <a:off x="7060082" y="4114800"/>
            <a:ext cx="457200" cy="164592"/>
          </a:xfrm>
          <a:prstGeom prst="rect">
            <a:avLst/>
          </a:prstGeom>
          <a:solidFill>
            <a:srgbClr val="ECE7DF"/>
          </a:solidFill>
          <a:ln/>
        </p:spPr>
      </p:sp>
      <p:sp>
        <p:nvSpPr>
          <p:cNvPr id="59" name="Text 57"/>
          <p:cNvSpPr/>
          <p:nvPr/>
        </p:nvSpPr>
        <p:spPr>
          <a:xfrm>
            <a:off x="4554626" y="436168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4</a:t>
            </a:r>
            <a:endParaRPr lang="en-US" sz="900" dirty="0"/>
          </a:p>
        </p:txBody>
      </p:sp>
      <p:sp>
        <p:nvSpPr>
          <p:cNvPr id="60" name="Shape 58"/>
          <p:cNvSpPr/>
          <p:nvPr/>
        </p:nvSpPr>
        <p:spPr>
          <a:xfrm>
            <a:off x="5084978" y="4389120"/>
            <a:ext cx="457200" cy="164592"/>
          </a:xfrm>
          <a:prstGeom prst="rect">
            <a:avLst/>
          </a:prstGeom>
          <a:solidFill>
            <a:srgbClr val="ECE7DF"/>
          </a:solidFill>
          <a:ln/>
        </p:spPr>
      </p:sp>
      <p:sp>
        <p:nvSpPr>
          <p:cNvPr id="61" name="Shape 59"/>
          <p:cNvSpPr/>
          <p:nvPr/>
        </p:nvSpPr>
        <p:spPr>
          <a:xfrm>
            <a:off x="5578754" y="4389120"/>
            <a:ext cx="457200" cy="164592"/>
          </a:xfrm>
          <a:prstGeom prst="rect">
            <a:avLst/>
          </a:prstGeom>
          <a:solidFill>
            <a:srgbClr val="ECE7DF"/>
          </a:solidFill>
          <a:ln/>
        </p:spPr>
      </p:sp>
      <p:sp>
        <p:nvSpPr>
          <p:cNvPr id="62" name="Shape 60"/>
          <p:cNvSpPr/>
          <p:nvPr/>
        </p:nvSpPr>
        <p:spPr>
          <a:xfrm>
            <a:off x="6072530" y="4389120"/>
            <a:ext cx="457200" cy="164592"/>
          </a:xfrm>
          <a:prstGeom prst="rect">
            <a:avLst/>
          </a:prstGeom>
          <a:solidFill>
            <a:srgbClr val="ECE7DF"/>
          </a:solidFill>
          <a:ln/>
        </p:spPr>
      </p:sp>
      <p:sp>
        <p:nvSpPr>
          <p:cNvPr id="63" name="Shape 61"/>
          <p:cNvSpPr/>
          <p:nvPr/>
        </p:nvSpPr>
        <p:spPr>
          <a:xfrm>
            <a:off x="6566306" y="4389120"/>
            <a:ext cx="457200" cy="164592"/>
          </a:xfrm>
          <a:prstGeom prst="rect">
            <a:avLst/>
          </a:prstGeom>
          <a:solidFill>
            <a:srgbClr val="ECE7DF"/>
          </a:solidFill>
          <a:ln/>
        </p:spPr>
      </p:sp>
      <p:sp>
        <p:nvSpPr>
          <p:cNvPr id="64" name="Shape 62"/>
          <p:cNvSpPr/>
          <p:nvPr/>
        </p:nvSpPr>
        <p:spPr>
          <a:xfrm>
            <a:off x="7060082" y="4389120"/>
            <a:ext cx="457200" cy="164592"/>
          </a:xfrm>
          <a:prstGeom prst="rect">
            <a:avLst/>
          </a:prstGeom>
          <a:solidFill>
            <a:srgbClr val="A8442A"/>
          </a:solidFill>
          <a:ln/>
        </p:spPr>
      </p:sp>
      <p:sp>
        <p:nvSpPr>
          <p:cNvPr id="65" name="Text 63"/>
          <p:cNvSpPr/>
          <p:nvPr/>
        </p:nvSpPr>
        <p:spPr>
          <a:xfrm>
            <a:off x="4554626" y="4727448"/>
            <a:ext cx="3082442" cy="73152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Fold identik untuk keenam model adalah prasyarat stacking. Stratifikasi menjaga proporsi kelas langka di setiap fold.</a:t>
            </a:r>
            <a:endParaRPr lang="en-US" sz="950" dirty="0"/>
          </a:p>
        </p:txBody>
      </p:sp>
      <p:sp>
        <p:nvSpPr>
          <p:cNvPr id="66" name="Text 64"/>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ambang dan pemilihan model hanya dari OOF latih, memenuhi larangan probing B.1.c.</a:t>
            </a:r>
            <a:endParaRPr lang="en-US" sz="1000" dirty="0"/>
          </a:p>
        </p:txBody>
      </p:sp>
      <p:sp>
        <p:nvSpPr>
          <p:cNvPr id="67" name="Shape 65"/>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68" name="Text 66"/>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6.3 · DARI PROBABILITAS KE LABEL</a:t>
            </a:r>
            <a:endParaRPr lang="en-US" sz="850" dirty="0"/>
          </a:p>
        </p:txBody>
      </p:sp>
      <p:sp>
        <p:nvSpPr>
          <p:cNvPr id="69" name="Text 67"/>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Tiga langkah deterministik</a:t>
            </a:r>
            <a:endParaRPr lang="en-US" sz="1300" dirty="0"/>
          </a:p>
        </p:txBody>
      </p:sp>
      <p:sp>
        <p:nvSpPr>
          <p:cNvPr id="70" name="Shape 68"/>
          <p:cNvSpPr/>
          <p:nvPr/>
        </p:nvSpPr>
        <p:spPr>
          <a:xfrm>
            <a:off x="8268005" y="2249424"/>
            <a:ext cx="310896" cy="310896"/>
          </a:xfrm>
          <a:prstGeom prst="ellipse">
            <a:avLst/>
          </a:prstGeom>
          <a:solidFill>
            <a:srgbClr val="2F6B5F"/>
          </a:solidFill>
          <a:ln/>
        </p:spPr>
      </p:sp>
      <p:sp>
        <p:nvSpPr>
          <p:cNvPr id="71" name="Text 69"/>
          <p:cNvSpPr/>
          <p:nvPr/>
        </p:nvSpPr>
        <p:spPr>
          <a:xfrm>
            <a:off x="8268005" y="22494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2" name="Text 70"/>
          <p:cNvSpPr/>
          <p:nvPr/>
        </p:nvSpPr>
        <p:spPr>
          <a:xfrm>
            <a:off x="8688629" y="221284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Rata-ratakan p</a:t>
            </a:r>
            <a:endParaRPr lang="en-US" sz="1150" dirty="0"/>
          </a:p>
        </p:txBody>
      </p:sp>
      <p:sp>
        <p:nvSpPr>
          <p:cNvPr id="73" name="Text 71"/>
          <p:cNvSpPr/>
          <p:nvPr/>
        </p:nvSpPr>
        <p:spPr>
          <a:xfrm>
            <a:off x="8688629" y="250545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lima model pohon × lima fold, matriks 4 kelas</a:t>
            </a:r>
            <a:endParaRPr lang="en-US" sz="950" dirty="0"/>
          </a:p>
        </p:txBody>
      </p:sp>
      <p:sp>
        <p:nvSpPr>
          <p:cNvPr id="74" name="Shape 72"/>
          <p:cNvSpPr/>
          <p:nvPr/>
        </p:nvSpPr>
        <p:spPr>
          <a:xfrm>
            <a:off x="8268005" y="3072384"/>
            <a:ext cx="310896" cy="310896"/>
          </a:xfrm>
          <a:prstGeom prst="ellipse">
            <a:avLst/>
          </a:prstGeom>
          <a:solidFill>
            <a:srgbClr val="8FB0A4"/>
          </a:solidFill>
          <a:ln/>
        </p:spPr>
      </p:sp>
      <p:sp>
        <p:nvSpPr>
          <p:cNvPr id="75" name="Text 73"/>
          <p:cNvSpPr/>
          <p:nvPr/>
        </p:nvSpPr>
        <p:spPr>
          <a:xfrm>
            <a:off x="8268005" y="307238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6" name="Text 74"/>
          <p:cNvSpPr/>
          <p:nvPr/>
        </p:nvSpPr>
        <p:spPr>
          <a:xfrm>
            <a:off x="8688629" y="303580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Hitung E[y] = Σ pₖ · k</a:t>
            </a:r>
            <a:endParaRPr lang="en-US" sz="1150" dirty="0"/>
          </a:p>
        </p:txBody>
      </p:sp>
      <p:sp>
        <p:nvSpPr>
          <p:cNvPr id="77" name="Text 75"/>
          <p:cNvSpPr/>
          <p:nvPr/>
        </p:nvSpPr>
        <p:spPr>
          <a:xfrm>
            <a:off x="8688629" y="332841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satu bilangan kontinu per responden</a:t>
            </a:r>
            <a:endParaRPr lang="en-US" sz="950" dirty="0"/>
          </a:p>
        </p:txBody>
      </p:sp>
      <p:sp>
        <p:nvSpPr>
          <p:cNvPr id="78" name="Shape 76"/>
          <p:cNvSpPr/>
          <p:nvPr/>
        </p:nvSpPr>
        <p:spPr>
          <a:xfrm>
            <a:off x="8268005" y="3895344"/>
            <a:ext cx="310896" cy="310896"/>
          </a:xfrm>
          <a:prstGeom prst="ellipse">
            <a:avLst/>
          </a:prstGeom>
          <a:solidFill>
            <a:srgbClr val="D8A25E"/>
          </a:solidFill>
          <a:ln/>
        </p:spPr>
      </p:sp>
      <p:sp>
        <p:nvSpPr>
          <p:cNvPr id="79" name="Text 77"/>
          <p:cNvSpPr/>
          <p:nvPr/>
        </p:nvSpPr>
        <p:spPr>
          <a:xfrm>
            <a:off x="8268005" y="389534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80" name="Text 78"/>
          <p:cNvSpPr/>
          <p:nvPr/>
        </p:nvSpPr>
        <p:spPr>
          <a:xfrm>
            <a:off x="8688629" y="385876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Potong dengan t₁ &lt; t₂ &lt; t₃</a:t>
            </a:r>
            <a:endParaRPr lang="en-US" sz="1150" dirty="0"/>
          </a:p>
        </p:txBody>
      </p:sp>
      <p:sp>
        <p:nvSpPr>
          <p:cNvPr id="81" name="Text 79"/>
          <p:cNvSpPr/>
          <p:nvPr/>
        </p:nvSpPr>
        <p:spPr>
          <a:xfrm>
            <a:off x="8688629" y="415137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label akhir 1, 2, 3, atau 4</a:t>
            </a:r>
            <a:endParaRPr lang="en-US" sz="950" dirty="0"/>
          </a:p>
        </p:txBody>
      </p:sp>
      <p:sp>
        <p:nvSpPr>
          <p:cNvPr id="82" name="Text 80"/>
          <p:cNvSpPr/>
          <p:nvPr/>
        </p:nvSpPr>
        <p:spPr>
          <a:xfrm>
            <a:off x="8268005" y="4773168"/>
            <a:ext cx="3082442" cy="73152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E[y] juga memberi urutan prioritas kontinu, yang nanti dipakai prototipe untuk menyusun daftar tindak lanjut.</a:t>
            </a:r>
            <a:endParaRPr lang="en-US" sz="950" dirty="0"/>
          </a:p>
        </p:txBody>
      </p:sp>
      <p:sp>
        <p:nvSpPr>
          <p:cNvPr id="83" name="Text 81"/>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keluaran tetap label diskret, tetapi keputusannya menghormati jarak antar kelas.</a:t>
            </a:r>
            <a:endParaRPr lang="en-US" sz="1000" dirty="0"/>
          </a:p>
        </p:txBody>
      </p:sp>
      <p:sp>
        <p:nvSpPr>
          <p:cNvPr id="85" name="Shape 82"/>
          <p:cNvSpPr/>
          <p:nvPr/>
        </p:nvSpPr>
        <p:spPr>
          <a:xfrm>
            <a:off x="640080" y="6400800"/>
            <a:ext cx="1572768" cy="45720"/>
          </a:xfrm>
          <a:prstGeom prst="rect">
            <a:avLst/>
          </a:prstGeom>
          <a:solidFill>
            <a:srgbClr val="DCD8D1"/>
          </a:solidFill>
          <a:ln/>
        </p:spPr>
      </p:sp>
      <p:sp>
        <p:nvSpPr>
          <p:cNvPr id="86" name="Text 8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87" name="Shape 84"/>
          <p:cNvSpPr/>
          <p:nvPr/>
        </p:nvSpPr>
        <p:spPr>
          <a:xfrm>
            <a:off x="2304288" y="6400800"/>
            <a:ext cx="1572768" cy="45720"/>
          </a:xfrm>
          <a:prstGeom prst="rect">
            <a:avLst/>
          </a:prstGeom>
          <a:solidFill>
            <a:srgbClr val="DCD8D1"/>
          </a:solidFill>
          <a:ln/>
        </p:spPr>
      </p:sp>
      <p:sp>
        <p:nvSpPr>
          <p:cNvPr id="88" name="Text 8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89" name="Shape 86"/>
          <p:cNvSpPr/>
          <p:nvPr/>
        </p:nvSpPr>
        <p:spPr>
          <a:xfrm>
            <a:off x="3968496" y="6400800"/>
            <a:ext cx="1572768" cy="45720"/>
          </a:xfrm>
          <a:prstGeom prst="rect">
            <a:avLst/>
          </a:prstGeom>
          <a:solidFill>
            <a:srgbClr val="A8442A"/>
          </a:solidFill>
          <a:ln/>
        </p:spPr>
      </p:sp>
      <p:sp>
        <p:nvSpPr>
          <p:cNvPr id="90" name="Text 8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91" name="Shape 88"/>
          <p:cNvSpPr/>
          <p:nvPr/>
        </p:nvSpPr>
        <p:spPr>
          <a:xfrm>
            <a:off x="5632704" y="6400800"/>
            <a:ext cx="1572768" cy="45720"/>
          </a:xfrm>
          <a:prstGeom prst="rect">
            <a:avLst/>
          </a:prstGeom>
          <a:solidFill>
            <a:srgbClr val="DCD8D1"/>
          </a:solidFill>
          <a:ln/>
        </p:spPr>
      </p:sp>
      <p:sp>
        <p:nvSpPr>
          <p:cNvPr id="92" name="Text 8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93" name="Shape 90"/>
          <p:cNvSpPr/>
          <p:nvPr/>
        </p:nvSpPr>
        <p:spPr>
          <a:xfrm>
            <a:off x="7296912" y="6400800"/>
            <a:ext cx="1572768" cy="45720"/>
          </a:xfrm>
          <a:prstGeom prst="rect">
            <a:avLst/>
          </a:prstGeom>
          <a:solidFill>
            <a:srgbClr val="DCD8D1"/>
          </a:solidFill>
          <a:ln/>
        </p:spPr>
      </p:sp>
      <p:sp>
        <p:nvSpPr>
          <p:cNvPr id="94" name="Text 9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95" name="Shape 92"/>
          <p:cNvSpPr/>
          <p:nvPr/>
        </p:nvSpPr>
        <p:spPr>
          <a:xfrm>
            <a:off x="8961120" y="6400800"/>
            <a:ext cx="1572768" cy="45720"/>
          </a:xfrm>
          <a:prstGeom prst="rect">
            <a:avLst/>
          </a:prstGeom>
          <a:solidFill>
            <a:srgbClr val="DCD8D1"/>
          </a:solidFill>
          <a:ln/>
        </p:spPr>
      </p:sp>
      <p:sp>
        <p:nvSpPr>
          <p:cNvPr id="96" name="Text 9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97" name="Text 9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84364" y="91440"/>
            <a:ext cx="4067251" cy="237744"/>
          </a:xfrm>
          <a:prstGeom prst="roundRect">
            <a:avLst>
              <a:gd name="adj" fmla="val 50000"/>
            </a:avLst>
          </a:prstGeom>
          <a:solidFill>
            <a:srgbClr val="2F6B5F"/>
          </a:solidFill>
          <a:ln/>
        </p:spPr>
      </p:sp>
      <p:sp>
        <p:nvSpPr>
          <p:cNvPr id="3" name="Text 1"/>
          <p:cNvSpPr/>
          <p:nvPr/>
        </p:nvSpPr>
        <p:spPr>
          <a:xfrm>
            <a:off x="7484364" y="91440"/>
            <a:ext cx="4067251"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enam sudut pandang, termasuk ordinal eksplisit</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Enam keluarga algoritma, dipilih berbeda, mendarat di titik yang sama.</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Spesifikasi, landasan literatur, dan QWK out-of-fold masing-masing, dengan fold yang identik.</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640080"/>
                <a:gridCol w="1783080"/>
                <a:gridCol w="1737360"/>
                <a:gridCol w="2468880"/>
                <a:gridCol w="2011680"/>
                <a:gridCol w="1097280"/>
                <a:gridCol w="1170432"/>
              </a:tblGrid>
              <a:tr h="365760">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Keluarga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Sudut pandang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Konfigurasi inti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Landasan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Akurasi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65760">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ord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Dekomposisi kumulatif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Tiga model P(y &gt; 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3 × 1.200 pohon, lr 0,03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Frank &amp; Hall 2001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0,48114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0,62820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xgb</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Boosting level-wise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Regularisasi berbeda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1.200 pohon, lr 0,04, depth 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Chen &amp; Guestrin 2016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0,48067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0,62518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cat</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Ordered boosting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Bias prediksi berbeda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1.800 iterasi, lr 0,05, depth 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Prokhorenkova dkk. 2018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0,47982</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0,62364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reg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Regresi Huber</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Target skala kontinu</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1.500 pohon, lr 0,03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Huber 1964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0,47918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0,62929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lgb</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Boosting leaf-wise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Klasifikasi 4 kelas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1.500 pohon, lr 0,028, 127 daun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Ke dkk. 2017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0,47847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0,63121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D8A25E"/>
                          </a:solidFill>
                          <a:latin typeface="Calibri" pitchFamily="34" charset="0"/>
                          <a:ea typeface="Calibri" pitchFamily="34" charset="-122"/>
                          <a:cs typeface="Calibri" pitchFamily="34" charset="-120"/>
                        </a:rPr>
                        <a:t>mlp</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Jaringan saraf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Batas keputusan mulus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Input ternormalisasi kuantil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MLP scikit-learn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D8A25E"/>
                          </a:solidFill>
                          <a:latin typeface="Calibri" pitchFamily="34" charset="0"/>
                          <a:ea typeface="Calibri" pitchFamily="34" charset="-122"/>
                          <a:cs typeface="Calibri" pitchFamily="34" charset="-120"/>
                        </a:rPr>
                        <a:t>0,44466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0,59741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4160520"/>
            <a:ext cx="2556434" cy="1097280"/>
          </a:xfrm>
          <a:prstGeom prst="roundRect">
            <a:avLst>
              <a:gd name="adj" fmla="val 5000"/>
            </a:avLst>
          </a:prstGeom>
          <a:solidFill>
            <a:srgbClr val="F4F1EC"/>
          </a:solidFill>
          <a:ln w="9525">
            <a:solidFill>
              <a:srgbClr val="DCD8D1"/>
            </a:solidFill>
            <a:prstDash val="solid"/>
          </a:ln>
        </p:spPr>
      </p:sp>
      <p:sp>
        <p:nvSpPr>
          <p:cNvPr id="8" name="Text 5"/>
          <p:cNvSpPr/>
          <p:nvPr/>
        </p:nvSpPr>
        <p:spPr>
          <a:xfrm>
            <a:off x="841248"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0,00267</a:t>
            </a:r>
            <a:endParaRPr lang="en-US" sz="2200" dirty="0"/>
          </a:p>
        </p:txBody>
      </p:sp>
      <p:sp>
        <p:nvSpPr>
          <p:cNvPr id="9" name="Text 6"/>
          <p:cNvSpPr/>
          <p:nvPr/>
        </p:nvSpPr>
        <p:spPr>
          <a:xfrm>
            <a:off x="841248"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rentang QWK kelima model pohon</a:t>
            </a:r>
            <a:endParaRPr lang="en-US" sz="950" dirty="0"/>
          </a:p>
        </p:txBody>
      </p:sp>
      <p:sp>
        <p:nvSpPr>
          <p:cNvPr id="10" name="Shape 7"/>
          <p:cNvSpPr/>
          <p:nvPr/>
        </p:nvSpPr>
        <p:spPr>
          <a:xfrm>
            <a:off x="3425114" y="4160520"/>
            <a:ext cx="2556434" cy="1097280"/>
          </a:xfrm>
          <a:prstGeom prst="roundRect">
            <a:avLst>
              <a:gd name="adj" fmla="val 5000"/>
            </a:avLst>
          </a:prstGeom>
          <a:solidFill>
            <a:srgbClr val="F4F1EC"/>
          </a:solidFill>
          <a:ln w="9525">
            <a:solidFill>
              <a:srgbClr val="DCD8D1"/>
            </a:solidFill>
            <a:prstDash val="solid"/>
          </a:ln>
        </p:spPr>
      </p:sp>
      <p:sp>
        <p:nvSpPr>
          <p:cNvPr id="11" name="Text 8"/>
          <p:cNvSpPr/>
          <p:nvPr/>
        </p:nvSpPr>
        <p:spPr>
          <a:xfrm>
            <a:off x="3626282"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0,974</a:t>
            </a:r>
            <a:endParaRPr lang="en-US" sz="2200" dirty="0"/>
          </a:p>
        </p:txBody>
      </p:sp>
      <p:sp>
        <p:nvSpPr>
          <p:cNvPr id="12" name="Text 9"/>
          <p:cNvSpPr/>
          <p:nvPr/>
        </p:nvSpPr>
        <p:spPr>
          <a:xfrm>
            <a:off x="3626282"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korelasi rata-rata prediksi antar model pohon</a:t>
            </a:r>
            <a:endParaRPr lang="en-US" sz="950" dirty="0"/>
          </a:p>
        </p:txBody>
      </p:sp>
      <p:sp>
        <p:nvSpPr>
          <p:cNvPr id="13" name="Shape 10"/>
          <p:cNvSpPr/>
          <p:nvPr/>
        </p:nvSpPr>
        <p:spPr>
          <a:xfrm>
            <a:off x="6210148" y="4160520"/>
            <a:ext cx="2556434" cy="1097280"/>
          </a:xfrm>
          <a:prstGeom prst="roundRect">
            <a:avLst>
              <a:gd name="adj" fmla="val 5000"/>
            </a:avLst>
          </a:prstGeom>
          <a:solidFill>
            <a:srgbClr val="F4F1EC"/>
          </a:solidFill>
          <a:ln w="9525">
            <a:solidFill>
              <a:srgbClr val="DCD8D1"/>
            </a:solidFill>
            <a:prstDash val="solid"/>
          </a:ln>
        </p:spPr>
      </p:sp>
      <p:sp>
        <p:nvSpPr>
          <p:cNvPr id="14" name="Text 11"/>
          <p:cNvSpPr/>
          <p:nvPr/>
        </p:nvSpPr>
        <p:spPr>
          <a:xfrm>
            <a:off x="6411316"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52,2 menit</a:t>
            </a:r>
            <a:endParaRPr lang="en-US" sz="2200" dirty="0"/>
          </a:p>
        </p:txBody>
      </p:sp>
      <p:sp>
        <p:nvSpPr>
          <p:cNvPr id="15" name="Text 12"/>
          <p:cNvSpPr/>
          <p:nvPr/>
        </p:nvSpPr>
        <p:spPr>
          <a:xfrm>
            <a:off x="6411316"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melatih 6 model × 5 fold, CPU 12 core</a:t>
            </a:r>
            <a:endParaRPr lang="en-US" sz="950" dirty="0"/>
          </a:p>
        </p:txBody>
      </p:sp>
      <p:sp>
        <p:nvSpPr>
          <p:cNvPr id="16" name="Shape 13"/>
          <p:cNvSpPr/>
          <p:nvPr/>
        </p:nvSpPr>
        <p:spPr>
          <a:xfrm>
            <a:off x="8995181" y="4160520"/>
            <a:ext cx="2556434" cy="1097280"/>
          </a:xfrm>
          <a:prstGeom prst="roundRect">
            <a:avLst>
              <a:gd name="adj" fmla="val 5000"/>
            </a:avLst>
          </a:prstGeom>
          <a:solidFill>
            <a:srgbClr val="16191D"/>
          </a:solidFill>
          <a:ln w="9525">
            <a:solidFill>
              <a:srgbClr val="16191D"/>
            </a:solidFill>
            <a:prstDash val="solid"/>
          </a:ln>
        </p:spPr>
      </p:sp>
      <p:sp>
        <p:nvSpPr>
          <p:cNvPr id="17" name="Text 14"/>
          <p:cNvSpPr/>
          <p:nvPr/>
        </p:nvSpPr>
        <p:spPr>
          <a:xfrm>
            <a:off x="9196349" y="4160520"/>
            <a:ext cx="2154098" cy="1097280"/>
          </a:xfrm>
          <a:prstGeom prst="rect">
            <a:avLst/>
          </a:prstGeom>
          <a:noFill/>
          <a:ln/>
        </p:spPr>
        <p:txBody>
          <a:bodyPr wrap="square" lIns="0" tIns="0" rIns="0" bIns="0" rtlCol="0" anchor="ctr"/>
          <a:lstStyle/>
          <a:p>
            <a:pPr algn="l" indent="0" marL="0">
              <a:lnSpc>
                <a:spcPts val="1485"/>
              </a:lnSpc>
              <a:buNone/>
            </a:pPr>
            <a:r>
              <a:rPr lang="en-US" sz="1100" i="1" dirty="0">
                <a:solidFill>
                  <a:srgbClr val="FFFFFF"/>
                </a:solidFill>
                <a:latin typeface="Calibri" pitchFamily="34" charset="0"/>
                <a:ea typeface="Calibri" pitchFamily="34" charset="-122"/>
                <a:cs typeface="Calibri" pitchFamily="34" charset="-120"/>
              </a:rPr>
              <a:t>Ketika kelas fungsi berbeda mendarat di titik sama, dindingnya milik data.</a:t>
            </a:r>
            <a:endParaRPr lang="en-US" sz="1100" dirty="0"/>
          </a:p>
        </p:txBody>
      </p:sp>
      <p:sp>
        <p:nvSpPr>
          <p:cNvPr id="18" name="Shape 15"/>
          <p:cNvSpPr/>
          <p:nvPr/>
        </p:nvSpPr>
        <p:spPr>
          <a:xfrm>
            <a:off x="640080" y="5440680"/>
            <a:ext cx="10911535" cy="777240"/>
          </a:xfrm>
          <a:prstGeom prst="roundRect">
            <a:avLst>
              <a:gd name="adj" fmla="val 7059"/>
            </a:avLst>
          </a:prstGeom>
          <a:solidFill>
            <a:srgbClr val="ECE7DF"/>
          </a:solidFill>
          <a:ln w="9525">
            <a:solidFill>
              <a:srgbClr val="DCD8D1"/>
            </a:solidFill>
            <a:prstDash val="solid"/>
          </a:ln>
        </p:spPr>
      </p:sp>
      <p:sp>
        <p:nvSpPr>
          <p:cNvPr id="19" name="Text 16"/>
          <p:cNvSpPr/>
          <p:nvPr/>
        </p:nvSpPr>
        <p:spPr>
          <a:xfrm>
            <a:off x="868680" y="5440680"/>
            <a:ext cx="10454335" cy="777240"/>
          </a:xfrm>
          <a:prstGeom prst="rect">
            <a:avLst/>
          </a:prstGeom>
          <a:noFill/>
          <a:ln/>
        </p:spPr>
        <p:txBody>
          <a:bodyPr wrap="square" lIns="0" tIns="0" rIns="0" bIns="0" rtlCol="0" anchor="ctr"/>
          <a:lstStyle/>
          <a:p>
            <a:pPr algn="l" indent="0" marL="0">
              <a:lnSpc>
                <a:spcPts val="1418"/>
              </a:lnSpc>
              <a:buNone/>
            </a:pPr>
            <a:r>
              <a:rPr lang="en-US" sz="1050" dirty="0">
                <a:solidFill>
                  <a:srgbClr val="3A4048"/>
                </a:solidFill>
                <a:latin typeface="Calibri" pitchFamily="34" charset="0"/>
                <a:ea typeface="Calibri" pitchFamily="34" charset="-122"/>
                <a:cs typeface="Calibri" pitchFamily="34" charset="-120"/>
              </a:rPr>
              <a:t>reg dan ord ada karena temuan monotonisitas EDA. Gradient boosting berakar pada Friedman (2001); seluruh pohon memakai subsample 0,8, colsample 0,4, reg_lambda 10. MLP tertinggal, wajar untuk data tabular berdimensi menengah, sehingga hanya dipakai sebagai pembanding keragaman.</a:t>
            </a:r>
            <a:endParaRPr lang="en-US" sz="1050" dirty="0"/>
          </a:p>
        </p:txBody>
      </p:sp>
      <p:sp>
        <p:nvSpPr>
          <p:cNvPr id="21" name="Shape 17"/>
          <p:cNvSpPr/>
          <p:nvPr/>
        </p:nvSpPr>
        <p:spPr>
          <a:xfrm>
            <a:off x="640080" y="6400800"/>
            <a:ext cx="1572768" cy="45720"/>
          </a:xfrm>
          <a:prstGeom prst="rect">
            <a:avLst/>
          </a:prstGeom>
          <a:solidFill>
            <a:srgbClr val="DCD8D1"/>
          </a:solidFill>
          <a:ln/>
        </p:spPr>
      </p:sp>
      <p:sp>
        <p:nvSpPr>
          <p:cNvPr id="22" name="Text 1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23" name="Shape 19"/>
          <p:cNvSpPr/>
          <p:nvPr/>
        </p:nvSpPr>
        <p:spPr>
          <a:xfrm>
            <a:off x="2304288" y="6400800"/>
            <a:ext cx="1572768" cy="45720"/>
          </a:xfrm>
          <a:prstGeom prst="rect">
            <a:avLst/>
          </a:prstGeom>
          <a:solidFill>
            <a:srgbClr val="DCD8D1"/>
          </a:solidFill>
          <a:ln/>
        </p:spPr>
      </p:sp>
      <p:sp>
        <p:nvSpPr>
          <p:cNvPr id="24" name="Text 2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25" name="Shape 21"/>
          <p:cNvSpPr/>
          <p:nvPr/>
        </p:nvSpPr>
        <p:spPr>
          <a:xfrm>
            <a:off x="3968496" y="6400800"/>
            <a:ext cx="1572768" cy="45720"/>
          </a:xfrm>
          <a:prstGeom prst="rect">
            <a:avLst/>
          </a:prstGeom>
          <a:solidFill>
            <a:srgbClr val="A8442A"/>
          </a:solidFill>
          <a:ln/>
        </p:spPr>
      </p:sp>
      <p:sp>
        <p:nvSpPr>
          <p:cNvPr id="26" name="Text 2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27" name="Shape 23"/>
          <p:cNvSpPr/>
          <p:nvPr/>
        </p:nvSpPr>
        <p:spPr>
          <a:xfrm>
            <a:off x="5632704" y="6400800"/>
            <a:ext cx="1572768" cy="45720"/>
          </a:xfrm>
          <a:prstGeom prst="rect">
            <a:avLst/>
          </a:prstGeom>
          <a:solidFill>
            <a:srgbClr val="DCD8D1"/>
          </a:solidFill>
          <a:ln/>
        </p:spPr>
      </p:sp>
      <p:sp>
        <p:nvSpPr>
          <p:cNvPr id="28" name="Text 2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29" name="Shape 25"/>
          <p:cNvSpPr/>
          <p:nvPr/>
        </p:nvSpPr>
        <p:spPr>
          <a:xfrm>
            <a:off x="7296912" y="6400800"/>
            <a:ext cx="1572768" cy="45720"/>
          </a:xfrm>
          <a:prstGeom prst="rect">
            <a:avLst/>
          </a:prstGeom>
          <a:solidFill>
            <a:srgbClr val="DCD8D1"/>
          </a:solidFill>
          <a:ln/>
        </p:spPr>
      </p:sp>
      <p:sp>
        <p:nvSpPr>
          <p:cNvPr id="30" name="Text 2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31" name="Shape 27"/>
          <p:cNvSpPr/>
          <p:nvPr/>
        </p:nvSpPr>
        <p:spPr>
          <a:xfrm>
            <a:off x="8961120" y="6400800"/>
            <a:ext cx="1572768" cy="45720"/>
          </a:xfrm>
          <a:prstGeom prst="rect">
            <a:avLst/>
          </a:prstGeom>
          <a:solidFill>
            <a:srgbClr val="DCD8D1"/>
          </a:solidFill>
          <a:ln/>
        </p:spPr>
      </p:sp>
      <p:sp>
        <p:nvSpPr>
          <p:cNvPr id="32" name="Text 2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33" name="Text 2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41410" y="91440"/>
            <a:ext cx="3010205" cy="237744"/>
          </a:xfrm>
          <a:prstGeom prst="roundRect">
            <a:avLst>
              <a:gd name="adj" fmla="val 50000"/>
            </a:avLst>
          </a:prstGeom>
          <a:solidFill>
            <a:srgbClr val="2F6B5F"/>
          </a:solidFill>
          <a:ln/>
        </p:spPr>
      </p:sp>
      <p:sp>
        <p:nvSpPr>
          <p:cNvPr id="3" name="Text 1"/>
          <p:cNvSpPr/>
          <p:nvPr/>
        </p:nvSpPr>
        <p:spPr>
          <a:xfrm>
            <a:off x="8541410" y="91440"/>
            <a:ext cx="3010205"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kombinasi ditetapkan a priori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Kombinasi ditetapkan di muka, ambang dicari dua tahap.</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Empat kandidat pada matriks probabilitas OOF 95.609 × 24, lalu tiga bilangan yang menjadi keputusan akhir.</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583680" cy="914400"/>
        </p:xfrm>
        <a:graphic>
          <a:graphicData uri="http://schemas.openxmlformats.org/drawingml/2006/table">
            <a:tbl>
              <a:tblPr/>
              <a:tblGrid>
                <a:gridCol w="2651760"/>
                <a:gridCol w="1051560"/>
                <a:gridCol w="960120"/>
                <a:gridCol w="960120"/>
                <a:gridCol w="960120"/>
              </a:tblGrid>
              <a:tr h="347472">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Kandidat kombinasi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t₁</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t₂</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t₃</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rata-rata lima model pohon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1,5543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2,0027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2,3936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regresi logistik sebagai meta</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0,48398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1,5601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2,0033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2,5525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rata-rata keenam model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0,48361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1,5524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2,0067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2,4103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LightGBM sebagai meta</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0,48307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1,5591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2,0525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2,5309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3246120"/>
            <a:ext cx="6583680" cy="2971800"/>
          </a:xfrm>
          <a:prstGeom prst="roundRect">
            <a:avLst>
              <a:gd name="adj" fmla="val 1846"/>
            </a:avLst>
          </a:prstGeom>
          <a:solidFill>
            <a:srgbClr val="F4F1EC"/>
          </a:solidFill>
          <a:ln w="9525">
            <a:solidFill>
              <a:srgbClr val="DCD8D1"/>
            </a:solidFill>
            <a:prstDash val="solid"/>
          </a:ln>
        </p:spPr>
      </p:sp>
      <p:sp>
        <p:nvSpPr>
          <p:cNvPr id="8" name="Text 5"/>
          <p:cNvSpPr/>
          <p:nvPr/>
        </p:nvSpPr>
        <p:spPr>
          <a:xfrm>
            <a:off x="841248" y="3364992"/>
            <a:ext cx="6583680"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8.1 · DUA ALASAN, DITETAPKAN SEBELUM HASIL DILIHAT</a:t>
            </a:r>
            <a:endParaRPr lang="en-US" sz="850" dirty="0"/>
          </a:p>
        </p:txBody>
      </p:sp>
      <p:sp>
        <p:nvSpPr>
          <p:cNvPr id="9" name="Text 6"/>
          <p:cNvSpPr/>
          <p:nvPr/>
        </p:nvSpPr>
        <p:spPr>
          <a:xfrm>
            <a:off x="841248" y="3657600"/>
            <a:ext cx="6181344" cy="822960"/>
          </a:xfrm>
          <a:prstGeom prst="rect">
            <a:avLst/>
          </a:prstGeom>
          <a:noFill/>
          <a:ln/>
        </p:spPr>
        <p:txBody>
          <a:bodyPr wrap="square" lIns="0" tIns="0" rIns="0" bIns="0" rtlCol="0" anchor="t"/>
          <a:lstStyle/>
          <a:p>
            <a:pPr indent="0" marL="0">
              <a:lnSpc>
                <a:spcPts val="1400"/>
              </a:lnSpc>
              <a:buNone/>
            </a:pPr>
            <a:r>
              <a:rPr lang="en-US" sz="1050" b="1" dirty="0">
                <a:solidFill>
                  <a:srgbClr val="16191D"/>
                </a:solidFill>
                <a:latin typeface="Calibri" pitchFamily="34" charset="0"/>
                <a:ea typeface="Calibri" pitchFamily="34" charset="-122"/>
                <a:cs typeface="Calibri" pitchFamily="34" charset="-120"/>
              </a:rPr>
              <a:t>1.  Rata-rata sederhana, bukan meta-learner. </a:t>
            </a:r>
            <a:pPr indent="0" marL="0">
              <a:lnSpc>
                <a:spcPts val="1400"/>
              </a:lnSpc>
              <a:buNone/>
            </a:pPr>
            <a:r>
              <a:rPr lang="en-US" sz="1050" dirty="0">
                <a:solidFill>
                  <a:srgbClr val="3A4048"/>
                </a:solidFill>
                <a:latin typeface="Calibri" pitchFamily="34" charset="0"/>
                <a:ea typeface="Calibri" pitchFamily="34" charset="-122"/>
                <a:cs typeface="Calibri" pitchFamily="34" charset="-120"/>
              </a:rPr>
              <a:t>Tidak punya parameter yang bisa menempel pada derau, dan model dasar sudah berkorelasi 0,974. Meta-learner menambah risiko tanpa menambah informasi.</a:t>
            </a:r>
            <a:endParaRPr lang="en-US" sz="1050" dirty="0"/>
          </a:p>
        </p:txBody>
      </p:sp>
      <p:sp>
        <p:nvSpPr>
          <p:cNvPr id="10" name="Text 7"/>
          <p:cNvSpPr/>
          <p:nvPr/>
        </p:nvSpPr>
        <p:spPr>
          <a:xfrm>
            <a:off x="841248" y="4526280"/>
            <a:ext cx="6181344" cy="822960"/>
          </a:xfrm>
          <a:prstGeom prst="rect">
            <a:avLst/>
          </a:prstGeom>
          <a:noFill/>
          <a:ln/>
        </p:spPr>
        <p:txBody>
          <a:bodyPr wrap="square" lIns="0" tIns="0" rIns="0" bIns="0" rtlCol="0" anchor="t"/>
          <a:lstStyle/>
          <a:p>
            <a:pPr indent="0" marL="0">
              <a:lnSpc>
                <a:spcPts val="1400"/>
              </a:lnSpc>
              <a:buNone/>
            </a:pPr>
            <a:r>
              <a:rPr lang="en-US" sz="1050" b="1" dirty="0">
                <a:solidFill>
                  <a:srgbClr val="16191D"/>
                </a:solidFill>
                <a:latin typeface="Calibri" pitchFamily="34" charset="0"/>
                <a:ea typeface="Calibri" pitchFamily="34" charset="-122"/>
                <a:cs typeface="Calibri" pitchFamily="34" charset="-120"/>
              </a:rPr>
              <a:t>2.  MLP dikeluarkan. </a:t>
            </a:r>
            <a:pPr indent="0" marL="0">
              <a:lnSpc>
                <a:spcPts val="1400"/>
              </a:lnSpc>
              <a:buNone/>
            </a:pPr>
            <a:r>
              <a:rPr lang="en-US" sz="1050" dirty="0">
                <a:solidFill>
                  <a:srgbClr val="3A4048"/>
                </a:solidFill>
                <a:latin typeface="Calibri" pitchFamily="34" charset="0"/>
                <a:ea typeface="Calibri" pitchFamily="34" charset="-122"/>
                <a:cs typeface="Calibri" pitchFamily="34" charset="-120"/>
              </a:rPr>
              <a:t>QWK tunggalnya jelas di bawah lima model pohon, dan rata-rata tanpa bobot memberi porsi sama ke tiap anggota.</a:t>
            </a:r>
            <a:endParaRPr lang="en-US" sz="1050" dirty="0"/>
          </a:p>
        </p:txBody>
      </p:sp>
      <p:sp>
        <p:nvSpPr>
          <p:cNvPr id="11" name="Text 8"/>
          <p:cNvSpPr/>
          <p:nvPr/>
        </p:nvSpPr>
        <p:spPr>
          <a:xfrm>
            <a:off x="841248" y="5413248"/>
            <a:ext cx="6181344" cy="777240"/>
          </a:xfrm>
          <a:prstGeom prst="rect">
            <a:avLst/>
          </a:prstGeom>
          <a:noFill/>
          <a:ln/>
        </p:spPr>
        <p:txBody>
          <a:bodyPr wrap="square" lIns="0" tIns="0" rIns="0" bIns="0" rtlCol="0" anchor="t"/>
          <a:lstStyle/>
          <a:p>
            <a:pPr algn="l" indent="0" marL="0">
              <a:lnSpc>
                <a:spcPts val="1350"/>
              </a:lnSpc>
              <a:buNone/>
            </a:pPr>
            <a:r>
              <a:rPr lang="en-US" sz="1000" b="1" dirty="0">
                <a:solidFill>
                  <a:srgbClr val="2F6B5F"/>
                </a:solidFill>
                <a:latin typeface="Calibri" pitchFamily="34" charset="0"/>
                <a:ea typeface="Calibri" pitchFamily="34" charset="-122"/>
                <a:cs typeface="Calibri" pitchFamily="34" charset="-120"/>
              </a:rPr>
              <a:t>Keduanya dapat diperiksa tanpa data uji. Setelah dihitung, pilihan itu juga tertinggi di OOF, jadi disiplin a priori tidak mengorbankan skor. Sumbangan di atas model dasar terbaik: +0,00403 (Wolpert 1992, stacked generalization).</a:t>
            </a:r>
            <a:endParaRPr lang="en-US" sz="1000" dirty="0"/>
          </a:p>
        </p:txBody>
      </p:sp>
      <p:sp>
        <p:nvSpPr>
          <p:cNvPr id="12" name="Shape 9"/>
          <p:cNvSpPr/>
          <p:nvPr/>
        </p:nvSpPr>
        <p:spPr>
          <a:xfrm>
            <a:off x="7498080" y="1371600"/>
            <a:ext cx="4053535" cy="2148840"/>
          </a:xfrm>
          <a:prstGeom prst="roundRect">
            <a:avLst>
              <a:gd name="adj" fmla="val 2553"/>
            </a:avLst>
          </a:prstGeom>
          <a:solidFill>
            <a:srgbClr val="FFFFFF"/>
          </a:solidFill>
          <a:ln w="9525">
            <a:solidFill>
              <a:srgbClr val="DCD8D1"/>
            </a:solidFill>
            <a:prstDash val="solid"/>
          </a:ln>
        </p:spPr>
      </p:sp>
      <p:sp>
        <p:nvSpPr>
          <p:cNvPr id="13" name="Text 10"/>
          <p:cNvSpPr/>
          <p:nvPr/>
        </p:nvSpPr>
        <p:spPr>
          <a:xfrm>
            <a:off x="7699248" y="1499616"/>
            <a:ext cx="365119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9 · OPTIMASI AMBANG</a:t>
            </a:r>
            <a:endParaRPr lang="en-US" sz="850" dirty="0"/>
          </a:p>
        </p:txBody>
      </p:sp>
      <p:sp>
        <p:nvSpPr>
          <p:cNvPr id="14" name="Text 11"/>
          <p:cNvSpPr/>
          <p:nvPr/>
        </p:nvSpPr>
        <p:spPr>
          <a:xfrm>
            <a:off x="7699248" y="1700784"/>
            <a:ext cx="365119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Grid kuantil, lalu pencarian koordinat</a:t>
            </a:r>
            <a:endParaRPr lang="en-US" sz="1300" dirty="0"/>
          </a:p>
        </p:txBody>
      </p:sp>
      <p:sp>
        <p:nvSpPr>
          <p:cNvPr id="15" name="Text 12"/>
          <p:cNvSpPr/>
          <p:nvPr/>
        </p:nvSpPr>
        <p:spPr>
          <a:xfrm>
            <a:off x="7699248" y="221284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Grid 45 × 32 × 26 titik</a:t>
            </a:r>
            <a:endParaRPr lang="en-US" sz="1050" dirty="0"/>
          </a:p>
        </p:txBody>
      </p:sp>
      <p:sp>
        <p:nvSpPr>
          <p:cNvPr id="16" name="Text 13"/>
          <p:cNvSpPr/>
          <p:nvPr/>
        </p:nvSpPr>
        <p:spPr>
          <a:xfrm>
            <a:off x="10109039" y="221284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0,48446</a:t>
            </a:r>
            <a:endParaRPr lang="en-US" sz="1050" dirty="0"/>
          </a:p>
        </p:txBody>
      </p:sp>
      <p:sp>
        <p:nvSpPr>
          <p:cNvPr id="17" name="Shape 14"/>
          <p:cNvSpPr/>
          <p:nvPr/>
        </p:nvSpPr>
        <p:spPr>
          <a:xfrm>
            <a:off x="7699248" y="2578608"/>
            <a:ext cx="3651199" cy="0"/>
          </a:xfrm>
          <a:prstGeom prst="line">
            <a:avLst/>
          </a:prstGeom>
          <a:noFill/>
          <a:ln w="7620">
            <a:solidFill>
              <a:srgbClr val="DCD8D1"/>
            </a:solidFill>
            <a:prstDash val="solid"/>
          </a:ln>
        </p:spPr>
      </p:sp>
      <p:sp>
        <p:nvSpPr>
          <p:cNvPr id="18" name="Text 15"/>
          <p:cNvSpPr/>
          <p:nvPr/>
        </p:nvSpPr>
        <p:spPr>
          <a:xfrm>
            <a:off x="7699248" y="257860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Setelah pencarian koordinat</a:t>
            </a:r>
            <a:endParaRPr lang="en-US" sz="1050" dirty="0"/>
          </a:p>
        </p:txBody>
      </p:sp>
      <p:sp>
        <p:nvSpPr>
          <p:cNvPr id="19" name="Text 16"/>
          <p:cNvSpPr/>
          <p:nvPr/>
        </p:nvSpPr>
        <p:spPr>
          <a:xfrm>
            <a:off x="10109039" y="257860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0,48517</a:t>
            </a:r>
            <a:endParaRPr lang="en-US" sz="1050" dirty="0"/>
          </a:p>
        </p:txBody>
      </p:sp>
      <p:sp>
        <p:nvSpPr>
          <p:cNvPr id="20" name="Shape 17"/>
          <p:cNvSpPr/>
          <p:nvPr/>
        </p:nvSpPr>
        <p:spPr>
          <a:xfrm>
            <a:off x="7699248" y="2944368"/>
            <a:ext cx="3651199" cy="0"/>
          </a:xfrm>
          <a:prstGeom prst="line">
            <a:avLst/>
          </a:prstGeom>
          <a:noFill/>
          <a:ln w="7620">
            <a:solidFill>
              <a:srgbClr val="DCD8D1"/>
            </a:solidFill>
            <a:prstDash val="solid"/>
          </a:ln>
        </p:spPr>
      </p:sp>
      <p:sp>
        <p:nvSpPr>
          <p:cNvPr id="21" name="Text 18"/>
          <p:cNvSpPr/>
          <p:nvPr/>
        </p:nvSpPr>
        <p:spPr>
          <a:xfrm>
            <a:off x="7699248" y="294436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Waktu penghalusan</a:t>
            </a:r>
            <a:endParaRPr lang="en-US" sz="1050" dirty="0"/>
          </a:p>
        </p:txBody>
      </p:sp>
      <p:sp>
        <p:nvSpPr>
          <p:cNvPr id="22" name="Text 19"/>
          <p:cNvSpPr/>
          <p:nvPr/>
        </p:nvSpPr>
        <p:spPr>
          <a:xfrm>
            <a:off x="10109039" y="294436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48 detik</a:t>
            </a:r>
            <a:endParaRPr lang="en-US" sz="1050" dirty="0"/>
          </a:p>
        </p:txBody>
      </p:sp>
      <p:sp>
        <p:nvSpPr>
          <p:cNvPr id="23" name="Shape 20"/>
          <p:cNvSpPr/>
          <p:nvPr/>
        </p:nvSpPr>
        <p:spPr>
          <a:xfrm>
            <a:off x="7498080" y="3703320"/>
            <a:ext cx="4053535" cy="1234440"/>
          </a:xfrm>
          <a:prstGeom prst="roundRect">
            <a:avLst>
              <a:gd name="adj" fmla="val 4444"/>
            </a:avLst>
          </a:prstGeom>
          <a:solidFill>
            <a:srgbClr val="16191D"/>
          </a:solidFill>
          <a:ln w="9525">
            <a:solidFill>
              <a:srgbClr val="16191D"/>
            </a:solidFill>
            <a:prstDash val="solid"/>
          </a:ln>
        </p:spPr>
      </p:sp>
      <p:sp>
        <p:nvSpPr>
          <p:cNvPr id="24" name="Text 21"/>
          <p:cNvSpPr/>
          <p:nvPr/>
        </p:nvSpPr>
        <p:spPr>
          <a:xfrm>
            <a:off x="7699248"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t₁</a:t>
            </a:r>
            <a:endParaRPr lang="en-US" sz="1000" dirty="0"/>
          </a:p>
        </p:txBody>
      </p:sp>
      <p:sp>
        <p:nvSpPr>
          <p:cNvPr id="25" name="Text 22"/>
          <p:cNvSpPr/>
          <p:nvPr/>
        </p:nvSpPr>
        <p:spPr>
          <a:xfrm>
            <a:off x="7699248"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1,5543</a:t>
            </a:r>
            <a:endParaRPr lang="en-US" sz="1800" dirty="0"/>
          </a:p>
        </p:txBody>
      </p:sp>
      <p:sp>
        <p:nvSpPr>
          <p:cNvPr id="26" name="Text 23"/>
          <p:cNvSpPr/>
          <p:nvPr/>
        </p:nvSpPr>
        <p:spPr>
          <a:xfrm>
            <a:off x="7699248"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1 | 2</a:t>
            </a:r>
            <a:endParaRPr lang="en-US" sz="900" dirty="0"/>
          </a:p>
        </p:txBody>
      </p:sp>
      <p:sp>
        <p:nvSpPr>
          <p:cNvPr id="27" name="Text 24"/>
          <p:cNvSpPr/>
          <p:nvPr/>
        </p:nvSpPr>
        <p:spPr>
          <a:xfrm>
            <a:off x="8916314"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t₂</a:t>
            </a:r>
            <a:endParaRPr lang="en-US" sz="1000" dirty="0"/>
          </a:p>
        </p:txBody>
      </p:sp>
      <p:sp>
        <p:nvSpPr>
          <p:cNvPr id="28" name="Text 25"/>
          <p:cNvSpPr/>
          <p:nvPr/>
        </p:nvSpPr>
        <p:spPr>
          <a:xfrm>
            <a:off x="8916314"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2,0027</a:t>
            </a:r>
            <a:endParaRPr lang="en-US" sz="1800" dirty="0"/>
          </a:p>
        </p:txBody>
      </p:sp>
      <p:sp>
        <p:nvSpPr>
          <p:cNvPr id="29" name="Text 26"/>
          <p:cNvSpPr/>
          <p:nvPr/>
        </p:nvSpPr>
        <p:spPr>
          <a:xfrm>
            <a:off x="8916314"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2 | 3</a:t>
            </a:r>
            <a:endParaRPr lang="en-US" sz="900" dirty="0"/>
          </a:p>
        </p:txBody>
      </p:sp>
      <p:sp>
        <p:nvSpPr>
          <p:cNvPr id="30" name="Text 27"/>
          <p:cNvSpPr/>
          <p:nvPr/>
        </p:nvSpPr>
        <p:spPr>
          <a:xfrm>
            <a:off x="10133381"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t₃</a:t>
            </a:r>
            <a:endParaRPr lang="en-US" sz="1000" dirty="0"/>
          </a:p>
        </p:txBody>
      </p:sp>
      <p:sp>
        <p:nvSpPr>
          <p:cNvPr id="31" name="Text 28"/>
          <p:cNvSpPr/>
          <p:nvPr/>
        </p:nvSpPr>
        <p:spPr>
          <a:xfrm>
            <a:off x="10133381"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2,3936</a:t>
            </a:r>
            <a:endParaRPr lang="en-US" sz="1800" dirty="0"/>
          </a:p>
        </p:txBody>
      </p:sp>
      <p:sp>
        <p:nvSpPr>
          <p:cNvPr id="32" name="Text 29"/>
          <p:cNvSpPr/>
          <p:nvPr/>
        </p:nvSpPr>
        <p:spPr>
          <a:xfrm>
            <a:off x="10133381"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3 | 4</a:t>
            </a:r>
            <a:endParaRPr lang="en-US" sz="900" dirty="0"/>
          </a:p>
        </p:txBody>
      </p:sp>
      <p:sp>
        <p:nvSpPr>
          <p:cNvPr id="33" name="Shape 30"/>
          <p:cNvSpPr/>
          <p:nvPr/>
        </p:nvSpPr>
        <p:spPr>
          <a:xfrm>
            <a:off x="7498080" y="5074920"/>
            <a:ext cx="4053535" cy="1143000"/>
          </a:xfrm>
          <a:prstGeom prst="roundRect">
            <a:avLst>
              <a:gd name="adj" fmla="val 4800"/>
            </a:avLst>
          </a:prstGeom>
          <a:solidFill>
            <a:srgbClr val="ECE7DF"/>
          </a:solidFill>
          <a:ln w="9525">
            <a:solidFill>
              <a:srgbClr val="DCD8D1"/>
            </a:solidFill>
            <a:prstDash val="solid"/>
          </a:ln>
        </p:spPr>
      </p:sp>
      <p:sp>
        <p:nvSpPr>
          <p:cNvPr id="34" name="Text 31"/>
          <p:cNvSpPr/>
          <p:nvPr/>
        </p:nvSpPr>
        <p:spPr>
          <a:xfrm>
            <a:off x="7699248" y="5074920"/>
            <a:ext cx="3651199" cy="1143000"/>
          </a:xfrm>
          <a:prstGeom prst="rect">
            <a:avLst/>
          </a:prstGeom>
          <a:noFill/>
          <a:ln/>
        </p:spPr>
        <p:txBody>
          <a:bodyPr wrap="square" lIns="0" tIns="0" rIns="0" bIns="0" rtlCol="0" anchor="ctr"/>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Grid kuantil menjamin cakupan seluruh rentang, pencarian koordinat menajamkan di sekitar optimum. Ambang final memakai rata-rata bootstrap dari studi estimasi, bukan titik tunggal ini.</a:t>
            </a:r>
            <a:endParaRPr lang="en-US" sz="1000" dirty="0"/>
          </a:p>
        </p:txBody>
      </p:sp>
      <p:sp>
        <p:nvSpPr>
          <p:cNvPr id="36" name="Shape 32"/>
          <p:cNvSpPr/>
          <p:nvPr/>
        </p:nvSpPr>
        <p:spPr>
          <a:xfrm>
            <a:off x="640080" y="6400800"/>
            <a:ext cx="1572768" cy="45720"/>
          </a:xfrm>
          <a:prstGeom prst="rect">
            <a:avLst/>
          </a:prstGeom>
          <a:solidFill>
            <a:srgbClr val="DCD8D1"/>
          </a:solidFill>
          <a:ln/>
        </p:spPr>
      </p:sp>
      <p:sp>
        <p:nvSpPr>
          <p:cNvPr id="37" name="Text 3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8" name="Shape 34"/>
          <p:cNvSpPr/>
          <p:nvPr/>
        </p:nvSpPr>
        <p:spPr>
          <a:xfrm>
            <a:off x="2304288" y="6400800"/>
            <a:ext cx="1572768" cy="45720"/>
          </a:xfrm>
          <a:prstGeom prst="rect">
            <a:avLst/>
          </a:prstGeom>
          <a:solidFill>
            <a:srgbClr val="DCD8D1"/>
          </a:solidFill>
          <a:ln/>
        </p:spPr>
      </p:sp>
      <p:sp>
        <p:nvSpPr>
          <p:cNvPr id="39" name="Text 3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0" name="Shape 36"/>
          <p:cNvSpPr/>
          <p:nvPr/>
        </p:nvSpPr>
        <p:spPr>
          <a:xfrm>
            <a:off x="3968496" y="6400800"/>
            <a:ext cx="1572768" cy="45720"/>
          </a:xfrm>
          <a:prstGeom prst="rect">
            <a:avLst/>
          </a:prstGeom>
          <a:solidFill>
            <a:srgbClr val="A8442A"/>
          </a:solidFill>
          <a:ln/>
        </p:spPr>
      </p:sp>
      <p:sp>
        <p:nvSpPr>
          <p:cNvPr id="41" name="Text 3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42" name="Shape 38"/>
          <p:cNvSpPr/>
          <p:nvPr/>
        </p:nvSpPr>
        <p:spPr>
          <a:xfrm>
            <a:off x="5632704" y="6400800"/>
            <a:ext cx="1572768" cy="45720"/>
          </a:xfrm>
          <a:prstGeom prst="rect">
            <a:avLst/>
          </a:prstGeom>
          <a:solidFill>
            <a:srgbClr val="DCD8D1"/>
          </a:solidFill>
          <a:ln/>
        </p:spPr>
      </p:sp>
      <p:sp>
        <p:nvSpPr>
          <p:cNvPr id="43" name="Text 3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4" name="Shape 40"/>
          <p:cNvSpPr/>
          <p:nvPr/>
        </p:nvSpPr>
        <p:spPr>
          <a:xfrm>
            <a:off x="7296912" y="6400800"/>
            <a:ext cx="1572768" cy="45720"/>
          </a:xfrm>
          <a:prstGeom prst="rect">
            <a:avLst/>
          </a:prstGeom>
          <a:solidFill>
            <a:srgbClr val="DCD8D1"/>
          </a:solidFill>
          <a:ln/>
        </p:spPr>
      </p:sp>
      <p:sp>
        <p:nvSpPr>
          <p:cNvPr id="45" name="Text 4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6" name="Shape 42"/>
          <p:cNvSpPr/>
          <p:nvPr/>
        </p:nvSpPr>
        <p:spPr>
          <a:xfrm>
            <a:off x="8961120" y="6400800"/>
            <a:ext cx="1572768" cy="45720"/>
          </a:xfrm>
          <a:prstGeom prst="rect">
            <a:avLst/>
          </a:prstGeom>
          <a:solidFill>
            <a:srgbClr val="DCD8D1"/>
          </a:solidFill>
          <a:ln/>
        </p:spPr>
      </p:sp>
      <p:sp>
        <p:nvSpPr>
          <p:cNvPr id="47" name="Text 4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8" name="Text 4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603590" y="91440"/>
            <a:ext cx="2948026" cy="237744"/>
          </a:xfrm>
          <a:prstGeom prst="roundRect">
            <a:avLst>
              <a:gd name="adj" fmla="val 50000"/>
            </a:avLst>
          </a:prstGeom>
          <a:solidFill>
            <a:srgbClr val="2F6B5F"/>
          </a:solidFill>
          <a:ln/>
        </p:spPr>
      </p:sp>
      <p:sp>
        <p:nvSpPr>
          <p:cNvPr id="3" name="Text 1"/>
          <p:cNvSpPr/>
          <p:nvPr/>
        </p:nvSpPr>
        <p:spPr>
          <a:xfrm>
            <a:off x="8603590" y="91440"/>
            <a:ext cx="2948026"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+0,06269 dari satu keputusan</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89,9% perbaikan datang dari aturan keputusan, bukan dari model.</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Akurasi turun, QWK naik. Enam baseline dijalankan penuh agar tiap komponen terpisah.</a:t>
            </a:r>
            <a:endParaRPr lang="en-US" sz="1250" dirty="0"/>
          </a:p>
        </p:txBody>
      </p:sp>
      <p:sp>
        <p:nvSpPr>
          <p:cNvPr id="6" name="Shape 4"/>
          <p:cNvSpPr/>
          <p:nvPr/>
        </p:nvSpPr>
        <p:spPr>
          <a:xfrm>
            <a:off x="640080" y="1371600"/>
            <a:ext cx="5120640" cy="4846320"/>
          </a:xfrm>
          <a:prstGeom prst="roundRect">
            <a:avLst>
              <a:gd name="adj" fmla="val 1132"/>
            </a:avLst>
          </a:prstGeom>
          <a:solidFill>
            <a:srgbClr val="F4F1EC"/>
          </a:solidFill>
          <a:ln w="9525">
            <a:solidFill>
              <a:srgbClr val="DCD8D1"/>
            </a:solidFill>
            <a:prstDash val="solid"/>
          </a:ln>
        </p:spPr>
      </p:sp>
      <p:sp>
        <p:nvSpPr>
          <p:cNvPr id="7" name="Text 5"/>
          <p:cNvSpPr/>
          <p:nvPr/>
        </p:nvSpPr>
        <p:spPr>
          <a:xfrm>
            <a:off x="841248" y="1499616"/>
            <a:ext cx="471830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MODEL SAMA, ATURAN BERBEDA</a:t>
            </a:r>
            <a:endParaRPr lang="en-US" sz="850" dirty="0"/>
          </a:p>
        </p:txBody>
      </p:sp>
      <p:sp>
        <p:nvSpPr>
          <p:cNvPr id="8" name="Text 6"/>
          <p:cNvSpPr/>
          <p:nvPr/>
        </p:nvSpPr>
        <p:spPr>
          <a:xfrm>
            <a:off x="841248" y="1700784"/>
            <a:ext cx="471830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argmax lawan nilai harapan + ambang</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41248" y="2212848"/>
          <a:ext cx="4718304" cy="914400"/>
        </p:xfrm>
        <a:graphic>
          <a:graphicData uri="http://schemas.openxmlformats.org/drawingml/2006/table">
            <a:tbl>
              <a:tblPr/>
              <a:tblGrid>
                <a:gridCol w="2194560"/>
                <a:gridCol w="1170432"/>
                <a:gridCol w="1353312"/>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Strategi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Akurasi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argmax probabilitas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0,42460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3A4048"/>
                          </a:solidFill>
                          <a:latin typeface="Calibri" pitchFamily="34" charset="0"/>
                          <a:ea typeface="Calibri" pitchFamily="34" charset="-122"/>
                          <a:cs typeface="Calibri" pitchFamily="34" charset="-120"/>
                        </a:rPr>
                        <a:t>0,66943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E[y] + ambang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0,63258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0" name="Text 7"/>
          <p:cNvSpPr/>
          <p:nvPr/>
        </p:nvSpPr>
        <p:spPr>
          <a:xfrm>
            <a:off x="841248" y="3401568"/>
            <a:ext cx="5120640" cy="201168"/>
          </a:xfrm>
          <a:prstGeom prst="rect">
            <a:avLst/>
          </a:prstGeom>
          <a:noFill/>
          <a:ln/>
        </p:spPr>
        <p:txBody>
          <a:bodyPr wrap="square" lIns="0" tIns="0" rIns="0" bIns="0" rtlCol="0" anchor="ctr"/>
          <a:lstStyle/>
          <a:p>
            <a:pPr indent="0" marL="0">
              <a:buNone/>
            </a:pPr>
            <a:r>
              <a:rPr lang="en-US" sz="850" b="1" spc="110" kern="0" dirty="0">
                <a:solidFill>
                  <a:srgbClr val="6E747C"/>
                </a:solidFill>
                <a:latin typeface="Calibri" pitchFamily="34" charset="0"/>
                <a:ea typeface="Calibri" pitchFamily="34" charset="-122"/>
                <a:cs typeface="Calibri" pitchFamily="34" charset="-120"/>
              </a:rPr>
              <a:t>PORSI LABEL KELAS 3 (ORANYE) DAN 4 (MERAH)</a:t>
            </a:r>
            <a:endParaRPr lang="en-US" sz="850" dirty="0"/>
          </a:p>
        </p:txBody>
      </p:sp>
      <p:sp>
        <p:nvSpPr>
          <p:cNvPr id="11" name="Text 8"/>
          <p:cNvSpPr/>
          <p:nvPr/>
        </p:nvSpPr>
        <p:spPr>
          <a:xfrm>
            <a:off x="841248" y="3694176"/>
            <a:ext cx="114300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aktual</a:t>
            </a:r>
            <a:endParaRPr lang="en-US" sz="1000" dirty="0"/>
          </a:p>
        </p:txBody>
      </p:sp>
      <p:sp>
        <p:nvSpPr>
          <p:cNvPr id="12" name="Shape 9"/>
          <p:cNvSpPr/>
          <p:nvPr/>
        </p:nvSpPr>
        <p:spPr>
          <a:xfrm>
            <a:off x="2057400" y="3739896"/>
            <a:ext cx="1133856" cy="182880"/>
          </a:xfrm>
          <a:prstGeom prst="rect">
            <a:avLst/>
          </a:prstGeom>
          <a:solidFill>
            <a:srgbClr val="D8A25E"/>
          </a:solidFill>
          <a:ln/>
        </p:spPr>
      </p:sp>
      <p:sp>
        <p:nvSpPr>
          <p:cNvPr id="13" name="Shape 10"/>
          <p:cNvSpPr/>
          <p:nvPr/>
        </p:nvSpPr>
        <p:spPr>
          <a:xfrm>
            <a:off x="3191256" y="3739896"/>
            <a:ext cx="283464" cy="182880"/>
          </a:xfrm>
          <a:prstGeom prst="rect">
            <a:avLst/>
          </a:prstGeom>
          <a:solidFill>
            <a:srgbClr val="A8442A"/>
          </a:solidFill>
          <a:ln/>
        </p:spPr>
      </p:sp>
      <p:sp>
        <p:nvSpPr>
          <p:cNvPr id="14" name="Text 11"/>
          <p:cNvSpPr/>
          <p:nvPr/>
        </p:nvSpPr>
        <p:spPr>
          <a:xfrm>
            <a:off x="3547872" y="369417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4,65%</a:t>
            </a:r>
            <a:endParaRPr lang="en-US" sz="1000" dirty="0"/>
          </a:p>
        </p:txBody>
      </p:sp>
      <p:sp>
        <p:nvSpPr>
          <p:cNvPr id="15" name="Text 12"/>
          <p:cNvSpPr/>
          <p:nvPr/>
        </p:nvSpPr>
        <p:spPr>
          <a:xfrm>
            <a:off x="841248" y="4105656"/>
            <a:ext cx="114300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argmax</a:t>
            </a:r>
            <a:endParaRPr lang="en-US" sz="1000" dirty="0"/>
          </a:p>
        </p:txBody>
      </p:sp>
      <p:sp>
        <p:nvSpPr>
          <p:cNvPr id="16" name="Shape 13"/>
          <p:cNvSpPr/>
          <p:nvPr/>
        </p:nvSpPr>
        <p:spPr>
          <a:xfrm>
            <a:off x="2057400" y="4151376"/>
            <a:ext cx="286512" cy="182880"/>
          </a:xfrm>
          <a:prstGeom prst="rect">
            <a:avLst/>
          </a:prstGeom>
          <a:solidFill>
            <a:srgbClr val="D8A25E"/>
          </a:solidFill>
          <a:ln/>
        </p:spPr>
      </p:sp>
      <p:sp>
        <p:nvSpPr>
          <p:cNvPr id="17" name="Shape 14"/>
          <p:cNvSpPr/>
          <p:nvPr/>
        </p:nvSpPr>
        <p:spPr>
          <a:xfrm>
            <a:off x="2343912" y="4151376"/>
            <a:ext cx="27432" cy="182880"/>
          </a:xfrm>
          <a:prstGeom prst="rect">
            <a:avLst/>
          </a:prstGeom>
          <a:solidFill>
            <a:srgbClr val="A8442A"/>
          </a:solidFill>
          <a:ln/>
        </p:spPr>
      </p:sp>
      <p:sp>
        <p:nvSpPr>
          <p:cNvPr id="18" name="Text 15"/>
          <p:cNvSpPr/>
          <p:nvPr/>
        </p:nvSpPr>
        <p:spPr>
          <a:xfrm>
            <a:off x="2423160" y="410565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0,96%</a:t>
            </a:r>
            <a:endParaRPr lang="en-US" sz="1000" dirty="0"/>
          </a:p>
        </p:txBody>
      </p:sp>
      <p:sp>
        <p:nvSpPr>
          <p:cNvPr id="19" name="Text 16"/>
          <p:cNvSpPr/>
          <p:nvPr/>
        </p:nvSpPr>
        <p:spPr>
          <a:xfrm>
            <a:off x="841248" y="4517136"/>
            <a:ext cx="1143000"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E[y] + ambang</a:t>
            </a:r>
            <a:endParaRPr lang="en-US" sz="1000" dirty="0"/>
          </a:p>
        </p:txBody>
      </p:sp>
      <p:sp>
        <p:nvSpPr>
          <p:cNvPr id="20" name="Shape 17"/>
          <p:cNvSpPr/>
          <p:nvPr/>
        </p:nvSpPr>
        <p:spPr>
          <a:xfrm>
            <a:off x="2057400" y="4562856"/>
            <a:ext cx="2133600" cy="182880"/>
          </a:xfrm>
          <a:prstGeom prst="rect">
            <a:avLst/>
          </a:prstGeom>
          <a:solidFill>
            <a:srgbClr val="D8A25E"/>
          </a:solidFill>
          <a:ln/>
        </p:spPr>
      </p:sp>
      <p:sp>
        <p:nvSpPr>
          <p:cNvPr id="21" name="Shape 18"/>
          <p:cNvSpPr/>
          <p:nvPr/>
        </p:nvSpPr>
        <p:spPr>
          <a:xfrm>
            <a:off x="4191000" y="4562856"/>
            <a:ext cx="481584" cy="182880"/>
          </a:xfrm>
          <a:prstGeom prst="rect">
            <a:avLst/>
          </a:prstGeom>
          <a:solidFill>
            <a:srgbClr val="A8442A"/>
          </a:solidFill>
          <a:ln/>
        </p:spPr>
      </p:sp>
      <p:sp>
        <p:nvSpPr>
          <p:cNvPr id="22" name="Text 19"/>
          <p:cNvSpPr/>
          <p:nvPr/>
        </p:nvSpPr>
        <p:spPr>
          <a:xfrm>
            <a:off x="4745736" y="451713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8,58%</a:t>
            </a:r>
            <a:endParaRPr lang="en-US" sz="1000" dirty="0"/>
          </a:p>
        </p:txBody>
      </p:sp>
      <p:sp>
        <p:nvSpPr>
          <p:cNvPr id="23" name="Text 20"/>
          <p:cNvSpPr/>
          <p:nvPr/>
        </p:nvSpPr>
        <p:spPr>
          <a:xfrm>
            <a:off x="841248" y="4864608"/>
            <a:ext cx="4718304" cy="457200"/>
          </a:xfrm>
          <a:prstGeom prst="rect">
            <a:avLst/>
          </a:prstGeom>
          <a:noFill/>
          <a:ln/>
        </p:spPr>
        <p:txBody>
          <a:bodyPr wrap="square" lIns="0" tIns="0" rIns="0" bIns="0" rtlCol="0" anchor="b"/>
          <a:lstStyle/>
          <a:p>
            <a:pPr algn="l" indent="0" marL="0">
              <a:buNone/>
            </a:pPr>
            <a:r>
              <a:rPr lang="en-US" sz="2600" b="1" dirty="0">
                <a:solidFill>
                  <a:srgbClr val="A8442A"/>
                </a:solidFill>
                <a:latin typeface="Cambria" pitchFamily="34" charset="0"/>
                <a:ea typeface="Cambria" pitchFamily="34" charset="-122"/>
                <a:cs typeface="Cambria" pitchFamily="34" charset="-120"/>
              </a:rPr>
              <a:t>+0,06057</a:t>
            </a:r>
            <a:endParaRPr lang="en-US" sz="2600" dirty="0"/>
          </a:p>
        </p:txBody>
      </p:sp>
      <p:sp>
        <p:nvSpPr>
          <p:cNvPr id="24" name="Text 21"/>
          <p:cNvSpPr/>
          <p:nvPr/>
        </p:nvSpPr>
        <p:spPr>
          <a:xfrm>
            <a:off x="841248" y="5358384"/>
            <a:ext cx="4718304" cy="420624"/>
          </a:xfrm>
          <a:prstGeom prst="rect">
            <a:avLst/>
          </a:prstGeom>
          <a:noFill/>
          <a:ln/>
        </p:spPr>
        <p:txBody>
          <a:bodyPr wrap="square" lIns="0" tIns="0" rIns="0" bIns="0" rtlCol="0" anchor="t"/>
          <a:lstStyle/>
          <a:p>
            <a:pPr algn="l" indent="0" marL="0">
              <a:lnSpc>
                <a:spcPts val="1300"/>
              </a:lnSpc>
              <a:buNone/>
            </a:pPr>
            <a:r>
              <a:rPr lang="en-US" sz="1000" dirty="0">
                <a:solidFill>
                  <a:srgbClr val="6E747C"/>
                </a:solidFill>
                <a:latin typeface="Calibri" pitchFamily="34" charset="0"/>
                <a:ea typeface="Calibri" pitchFamily="34" charset="-122"/>
                <a:cs typeface="Calibri" pitchFamily="34" charset="-120"/>
              </a:rPr>
              <a:t>dari satu perubahan aturan keputusan pada stacking</a:t>
            </a:r>
            <a:endParaRPr lang="en-US" sz="1000" dirty="0"/>
          </a:p>
        </p:txBody>
      </p:sp>
      <p:sp>
        <p:nvSpPr>
          <p:cNvPr id="25" name="Text 22"/>
          <p:cNvSpPr/>
          <p:nvPr/>
        </p:nvSpPr>
        <p:spPr>
          <a:xfrm>
            <a:off x="841248" y="5614416"/>
            <a:ext cx="4718304" cy="54864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argmax nyaris tidak pernah memilih kelas 3 dan 4 karena posteriornya jarang tertinggi, sehingga setiap responden sangat tidak puas menjadi galat penalti 9.</a:t>
            </a:r>
            <a:endParaRPr lang="en-US" sz="950" dirty="0"/>
          </a:p>
        </p:txBody>
      </p:sp>
      <p:sp>
        <p:nvSpPr>
          <p:cNvPr id="26" name="Shape 23"/>
          <p:cNvSpPr/>
          <p:nvPr/>
        </p:nvSpPr>
        <p:spPr>
          <a:xfrm>
            <a:off x="6035040" y="1371600"/>
            <a:ext cx="5516575" cy="4846320"/>
          </a:xfrm>
          <a:prstGeom prst="roundRect">
            <a:avLst>
              <a:gd name="adj" fmla="val 1132"/>
            </a:avLst>
          </a:prstGeom>
          <a:solidFill>
            <a:srgbClr val="FFFFFF"/>
          </a:solidFill>
          <a:ln w="9525">
            <a:solidFill>
              <a:srgbClr val="DCD8D1"/>
            </a:solidFill>
            <a:prstDash val="solid"/>
          </a:ln>
        </p:spPr>
      </p:sp>
      <p:sp>
        <p:nvSpPr>
          <p:cNvPr id="27" name="Text 24"/>
          <p:cNvSpPr/>
          <p:nvPr/>
        </p:nvSpPr>
        <p:spPr>
          <a:xfrm>
            <a:off x="6236208" y="1499616"/>
            <a:ext cx="511423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10.4 · DEKOMPOSISI BASELINE</a:t>
            </a:r>
            <a:endParaRPr lang="en-US" sz="850" dirty="0"/>
          </a:p>
        </p:txBody>
      </p:sp>
      <p:sp>
        <p:nvSpPr>
          <p:cNvPr id="28" name="Text 25"/>
          <p:cNvSpPr/>
          <p:nvPr/>
        </p:nvSpPr>
        <p:spPr>
          <a:xfrm>
            <a:off x="6236208" y="1700784"/>
            <a:ext cx="511423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Dari mana perbaikan sebenarnya datang</a:t>
            </a:r>
            <a:endParaRPr lang="en-US" sz="1300" dirty="0"/>
          </a:p>
        </p:txBody>
      </p:sp>
      <p:sp>
        <p:nvSpPr>
          <p:cNvPr id="29" name="Text 26"/>
          <p:cNvSpPr/>
          <p:nvPr/>
        </p:nvSpPr>
        <p:spPr>
          <a:xfrm>
            <a:off x="6126480" y="2212848"/>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1. Kelas mayoritas</a:t>
            </a:r>
            <a:endParaRPr lang="en-US" sz="1000" dirty="0"/>
          </a:p>
        </p:txBody>
      </p:sp>
      <p:sp>
        <p:nvSpPr>
          <p:cNvPr id="30" name="Shape 27"/>
          <p:cNvSpPr/>
          <p:nvPr/>
        </p:nvSpPr>
        <p:spPr>
          <a:xfrm>
            <a:off x="7973568" y="2276856"/>
            <a:ext cx="2691079" cy="201168"/>
          </a:xfrm>
          <a:prstGeom prst="rect">
            <a:avLst/>
          </a:prstGeom>
          <a:solidFill>
            <a:srgbClr val="F4F1EC"/>
          </a:solidFill>
          <a:ln/>
        </p:spPr>
      </p:sp>
      <p:sp>
        <p:nvSpPr>
          <p:cNvPr id="31" name="Shape 28"/>
          <p:cNvSpPr/>
          <p:nvPr/>
        </p:nvSpPr>
        <p:spPr>
          <a:xfrm>
            <a:off x="7973568" y="2276856"/>
            <a:ext cx="18288" cy="201168"/>
          </a:xfrm>
          <a:prstGeom prst="rect">
            <a:avLst/>
          </a:prstGeom>
          <a:solidFill>
            <a:srgbClr val="F4F1EC"/>
          </a:solidFill>
          <a:ln/>
        </p:spPr>
      </p:sp>
      <p:sp>
        <p:nvSpPr>
          <p:cNvPr id="32" name="Text 29"/>
          <p:cNvSpPr/>
          <p:nvPr/>
        </p:nvSpPr>
        <p:spPr>
          <a:xfrm>
            <a:off x="10756087" y="2212848"/>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0,00000</a:t>
            </a:r>
            <a:endParaRPr lang="en-US" sz="1000" dirty="0"/>
          </a:p>
        </p:txBody>
      </p:sp>
      <p:sp>
        <p:nvSpPr>
          <p:cNvPr id="33" name="Text 30"/>
          <p:cNvSpPr/>
          <p:nvPr/>
        </p:nvSpPr>
        <p:spPr>
          <a:xfrm>
            <a:off x="6126480" y="2615184"/>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2. Acak ikut proporsi</a:t>
            </a:r>
            <a:endParaRPr lang="en-US" sz="1000" dirty="0"/>
          </a:p>
        </p:txBody>
      </p:sp>
      <p:sp>
        <p:nvSpPr>
          <p:cNvPr id="34" name="Shape 31"/>
          <p:cNvSpPr/>
          <p:nvPr/>
        </p:nvSpPr>
        <p:spPr>
          <a:xfrm>
            <a:off x="7973568" y="2679192"/>
            <a:ext cx="2691079" cy="201168"/>
          </a:xfrm>
          <a:prstGeom prst="rect">
            <a:avLst/>
          </a:prstGeom>
          <a:solidFill>
            <a:srgbClr val="F4F1EC"/>
          </a:solidFill>
          <a:ln/>
        </p:spPr>
      </p:sp>
      <p:sp>
        <p:nvSpPr>
          <p:cNvPr id="35" name="Shape 32"/>
          <p:cNvSpPr/>
          <p:nvPr/>
        </p:nvSpPr>
        <p:spPr>
          <a:xfrm>
            <a:off x="7973568" y="2679192"/>
            <a:ext cx="20129" cy="201168"/>
          </a:xfrm>
          <a:prstGeom prst="rect">
            <a:avLst/>
          </a:prstGeom>
          <a:solidFill>
            <a:srgbClr val="9AA0A7"/>
          </a:solidFill>
          <a:ln/>
        </p:spPr>
      </p:sp>
      <p:sp>
        <p:nvSpPr>
          <p:cNvPr id="36" name="Text 33"/>
          <p:cNvSpPr/>
          <p:nvPr/>
        </p:nvSpPr>
        <p:spPr>
          <a:xfrm>
            <a:off x="10756087" y="2615184"/>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0,00374</a:t>
            </a:r>
            <a:endParaRPr lang="en-US" sz="1000" dirty="0"/>
          </a:p>
        </p:txBody>
      </p:sp>
      <p:sp>
        <p:nvSpPr>
          <p:cNvPr id="37" name="Text 34"/>
          <p:cNvSpPr/>
          <p:nvPr/>
        </p:nvSpPr>
        <p:spPr>
          <a:xfrm>
            <a:off x="6126480" y="3017520"/>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3. Logistik + ambang</a:t>
            </a:r>
            <a:endParaRPr lang="en-US" sz="1000" dirty="0"/>
          </a:p>
        </p:txBody>
      </p:sp>
      <p:sp>
        <p:nvSpPr>
          <p:cNvPr id="38" name="Shape 35"/>
          <p:cNvSpPr/>
          <p:nvPr/>
        </p:nvSpPr>
        <p:spPr>
          <a:xfrm>
            <a:off x="7973568" y="3081528"/>
            <a:ext cx="2691079" cy="201168"/>
          </a:xfrm>
          <a:prstGeom prst="rect">
            <a:avLst/>
          </a:prstGeom>
          <a:solidFill>
            <a:srgbClr val="F4F1EC"/>
          </a:solidFill>
          <a:ln/>
        </p:spPr>
      </p:sp>
      <p:sp>
        <p:nvSpPr>
          <p:cNvPr id="39" name="Shape 36"/>
          <p:cNvSpPr/>
          <p:nvPr/>
        </p:nvSpPr>
        <p:spPr>
          <a:xfrm>
            <a:off x="7973568" y="3081528"/>
            <a:ext cx="2415513" cy="201168"/>
          </a:xfrm>
          <a:prstGeom prst="rect">
            <a:avLst/>
          </a:prstGeom>
          <a:solidFill>
            <a:srgbClr val="3A4048"/>
          </a:solidFill>
          <a:ln/>
        </p:spPr>
      </p:sp>
      <p:sp>
        <p:nvSpPr>
          <p:cNvPr id="40" name="Text 37"/>
          <p:cNvSpPr/>
          <p:nvPr/>
        </p:nvSpPr>
        <p:spPr>
          <a:xfrm>
            <a:off x="10756087" y="3017520"/>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0,44880</a:t>
            </a:r>
            <a:endParaRPr lang="en-US" sz="1000" dirty="0"/>
          </a:p>
        </p:txBody>
      </p:sp>
      <p:sp>
        <p:nvSpPr>
          <p:cNvPr id="41" name="Text 38"/>
          <p:cNvSpPr/>
          <p:nvPr/>
        </p:nvSpPr>
        <p:spPr>
          <a:xfrm>
            <a:off x="6126480" y="3419856"/>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4. LightGBM + argmax</a:t>
            </a:r>
            <a:endParaRPr lang="en-US" sz="1000" dirty="0"/>
          </a:p>
        </p:txBody>
      </p:sp>
      <p:sp>
        <p:nvSpPr>
          <p:cNvPr id="42" name="Shape 39"/>
          <p:cNvSpPr/>
          <p:nvPr/>
        </p:nvSpPr>
        <p:spPr>
          <a:xfrm>
            <a:off x="7973568" y="3483864"/>
            <a:ext cx="2691079" cy="201168"/>
          </a:xfrm>
          <a:prstGeom prst="rect">
            <a:avLst/>
          </a:prstGeom>
          <a:solidFill>
            <a:srgbClr val="F4F1EC"/>
          </a:solidFill>
          <a:ln/>
        </p:spPr>
      </p:sp>
      <p:sp>
        <p:nvSpPr>
          <p:cNvPr id="43" name="Shape 40"/>
          <p:cNvSpPr/>
          <p:nvPr/>
        </p:nvSpPr>
        <p:spPr>
          <a:xfrm>
            <a:off x="7973568" y="3483864"/>
            <a:ext cx="2230797" cy="201168"/>
          </a:xfrm>
          <a:prstGeom prst="rect">
            <a:avLst/>
          </a:prstGeom>
          <a:solidFill>
            <a:srgbClr val="D8A25E"/>
          </a:solidFill>
          <a:ln/>
        </p:spPr>
      </p:sp>
      <p:sp>
        <p:nvSpPr>
          <p:cNvPr id="44" name="Text 41"/>
          <p:cNvSpPr/>
          <p:nvPr/>
        </p:nvSpPr>
        <p:spPr>
          <a:xfrm>
            <a:off x="10756087" y="3419856"/>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0,41448</a:t>
            </a:r>
            <a:endParaRPr lang="en-US" sz="1000" dirty="0"/>
          </a:p>
        </p:txBody>
      </p:sp>
      <p:sp>
        <p:nvSpPr>
          <p:cNvPr id="45" name="Text 42"/>
          <p:cNvSpPr/>
          <p:nvPr/>
        </p:nvSpPr>
        <p:spPr>
          <a:xfrm>
            <a:off x="6126480" y="3822192"/>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5. LightGBM + ambang</a:t>
            </a:r>
            <a:endParaRPr lang="en-US" sz="1000" dirty="0"/>
          </a:p>
        </p:txBody>
      </p:sp>
      <p:sp>
        <p:nvSpPr>
          <p:cNvPr id="46" name="Shape 43"/>
          <p:cNvSpPr/>
          <p:nvPr/>
        </p:nvSpPr>
        <p:spPr>
          <a:xfrm>
            <a:off x="7973568" y="3886200"/>
            <a:ext cx="2691079" cy="201168"/>
          </a:xfrm>
          <a:prstGeom prst="rect">
            <a:avLst/>
          </a:prstGeom>
          <a:solidFill>
            <a:srgbClr val="F4F1EC"/>
          </a:solidFill>
          <a:ln/>
        </p:spPr>
      </p:sp>
      <p:sp>
        <p:nvSpPr>
          <p:cNvPr id="47" name="Shape 44"/>
          <p:cNvSpPr/>
          <p:nvPr/>
        </p:nvSpPr>
        <p:spPr>
          <a:xfrm>
            <a:off x="7973568" y="3886200"/>
            <a:ext cx="2568205" cy="201168"/>
          </a:xfrm>
          <a:prstGeom prst="rect">
            <a:avLst/>
          </a:prstGeom>
          <a:solidFill>
            <a:srgbClr val="2F6B5F"/>
          </a:solidFill>
          <a:ln/>
        </p:spPr>
      </p:sp>
      <p:sp>
        <p:nvSpPr>
          <p:cNvPr id="48" name="Text 45"/>
          <p:cNvSpPr/>
          <p:nvPr/>
        </p:nvSpPr>
        <p:spPr>
          <a:xfrm>
            <a:off x="10756087" y="3822192"/>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0,47717</a:t>
            </a:r>
            <a:endParaRPr lang="en-US" sz="1000" dirty="0"/>
          </a:p>
        </p:txBody>
      </p:sp>
      <p:sp>
        <p:nvSpPr>
          <p:cNvPr id="49" name="Text 46"/>
          <p:cNvSpPr/>
          <p:nvPr/>
        </p:nvSpPr>
        <p:spPr>
          <a:xfrm>
            <a:off x="6126480" y="4224528"/>
            <a:ext cx="1737360" cy="329184"/>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6. Pipeline final</a:t>
            </a:r>
            <a:endParaRPr lang="en-US" sz="1000" dirty="0"/>
          </a:p>
        </p:txBody>
      </p:sp>
      <p:sp>
        <p:nvSpPr>
          <p:cNvPr id="50" name="Shape 47"/>
          <p:cNvSpPr/>
          <p:nvPr/>
        </p:nvSpPr>
        <p:spPr>
          <a:xfrm>
            <a:off x="7973568" y="4288536"/>
            <a:ext cx="2691079" cy="201168"/>
          </a:xfrm>
          <a:prstGeom prst="rect">
            <a:avLst/>
          </a:prstGeom>
          <a:solidFill>
            <a:srgbClr val="F4F1EC"/>
          </a:solidFill>
          <a:ln/>
        </p:spPr>
      </p:sp>
      <p:sp>
        <p:nvSpPr>
          <p:cNvPr id="51" name="Shape 48"/>
          <p:cNvSpPr/>
          <p:nvPr/>
        </p:nvSpPr>
        <p:spPr>
          <a:xfrm>
            <a:off x="7973568" y="4288536"/>
            <a:ext cx="2606310" cy="201168"/>
          </a:xfrm>
          <a:prstGeom prst="rect">
            <a:avLst/>
          </a:prstGeom>
          <a:solidFill>
            <a:srgbClr val="A8442A"/>
          </a:solidFill>
          <a:ln/>
        </p:spPr>
      </p:sp>
      <p:sp>
        <p:nvSpPr>
          <p:cNvPr id="52" name="Text 49"/>
          <p:cNvSpPr/>
          <p:nvPr/>
        </p:nvSpPr>
        <p:spPr>
          <a:xfrm>
            <a:off x="10756087" y="4224528"/>
            <a:ext cx="685800" cy="329184"/>
          </a:xfrm>
          <a:prstGeom prst="rect">
            <a:avLst/>
          </a:prstGeom>
          <a:noFill/>
          <a:ln/>
        </p:spPr>
        <p:txBody>
          <a:bodyPr wrap="square" lIns="0" tIns="0" rIns="0" bIns="0" rtlCol="0" anchor="ctr"/>
          <a:lstStyle/>
          <a:p>
            <a:pPr algn="l" indent="0" marL="0">
              <a:buNone/>
            </a:pPr>
            <a:r>
              <a:rPr lang="en-US" sz="1000" b="1" dirty="0">
                <a:solidFill>
                  <a:srgbClr val="A8442A"/>
                </a:solidFill>
                <a:latin typeface="Calibri" pitchFamily="34" charset="0"/>
                <a:ea typeface="Calibri" pitchFamily="34" charset="-122"/>
                <a:cs typeface="Calibri" pitchFamily="34" charset="-120"/>
              </a:rPr>
              <a:t>0,48425</a:t>
            </a:r>
            <a:endParaRPr lang="en-US" sz="1000" dirty="0"/>
          </a:p>
        </p:txBody>
      </p:sp>
      <p:sp>
        <p:nvSpPr>
          <p:cNvPr id="53" name="Shape 50"/>
          <p:cNvSpPr/>
          <p:nvPr/>
        </p:nvSpPr>
        <p:spPr>
          <a:xfrm>
            <a:off x="6236208" y="4818888"/>
            <a:ext cx="2442820" cy="1005840"/>
          </a:xfrm>
          <a:prstGeom prst="roundRect">
            <a:avLst>
              <a:gd name="adj" fmla="val 5455"/>
            </a:avLst>
          </a:prstGeom>
          <a:solidFill>
            <a:srgbClr val="F4F1EC"/>
          </a:solidFill>
          <a:ln w="9525">
            <a:solidFill>
              <a:srgbClr val="DCD8D1"/>
            </a:solidFill>
            <a:prstDash val="solid"/>
          </a:ln>
        </p:spPr>
      </p:sp>
      <p:sp>
        <p:nvSpPr>
          <p:cNvPr id="54" name="Text 51"/>
          <p:cNvSpPr/>
          <p:nvPr/>
        </p:nvSpPr>
        <p:spPr>
          <a:xfrm>
            <a:off x="6364224" y="4882896"/>
            <a:ext cx="2186788" cy="365760"/>
          </a:xfrm>
          <a:prstGeom prst="rect">
            <a:avLst/>
          </a:prstGeom>
          <a:noFill/>
          <a:ln/>
        </p:spPr>
        <p:txBody>
          <a:bodyPr wrap="square" lIns="0" tIns="0" rIns="0" bIns="0" rtlCol="0" anchor="b"/>
          <a:lstStyle/>
          <a:p>
            <a:pPr algn="l" indent="0" marL="0">
              <a:buNone/>
            </a:pPr>
            <a:r>
              <a:rPr lang="en-US" sz="1800" b="1" dirty="0">
                <a:solidFill>
                  <a:srgbClr val="2F6B5F"/>
                </a:solidFill>
                <a:latin typeface="Cambria" pitchFamily="34" charset="0"/>
                <a:ea typeface="Cambria" pitchFamily="34" charset="-122"/>
                <a:cs typeface="Cambria" pitchFamily="34" charset="-120"/>
              </a:rPr>
              <a:t>+0,06269</a:t>
            </a:r>
            <a:endParaRPr lang="en-US" sz="1800" dirty="0"/>
          </a:p>
        </p:txBody>
      </p:sp>
      <p:sp>
        <p:nvSpPr>
          <p:cNvPr id="55" name="Text 52"/>
          <p:cNvSpPr/>
          <p:nvPr/>
        </p:nvSpPr>
        <p:spPr>
          <a:xfrm>
            <a:off x="6364224" y="5285232"/>
            <a:ext cx="218678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4 → 5: hanya aturan berubah</a:t>
            </a:r>
            <a:endParaRPr lang="en-US" sz="950" dirty="0"/>
          </a:p>
        </p:txBody>
      </p:sp>
      <p:sp>
        <p:nvSpPr>
          <p:cNvPr id="56" name="Shape 53"/>
          <p:cNvSpPr/>
          <p:nvPr/>
        </p:nvSpPr>
        <p:spPr>
          <a:xfrm>
            <a:off x="8907628" y="4818888"/>
            <a:ext cx="2442820" cy="1005840"/>
          </a:xfrm>
          <a:prstGeom prst="roundRect">
            <a:avLst>
              <a:gd name="adj" fmla="val 5455"/>
            </a:avLst>
          </a:prstGeom>
          <a:solidFill>
            <a:srgbClr val="F4F1EC"/>
          </a:solidFill>
          <a:ln w="9525">
            <a:solidFill>
              <a:srgbClr val="DCD8D1"/>
            </a:solidFill>
            <a:prstDash val="solid"/>
          </a:ln>
        </p:spPr>
      </p:sp>
      <p:sp>
        <p:nvSpPr>
          <p:cNvPr id="57" name="Text 54"/>
          <p:cNvSpPr/>
          <p:nvPr/>
        </p:nvSpPr>
        <p:spPr>
          <a:xfrm>
            <a:off x="9035644" y="4882896"/>
            <a:ext cx="2186788" cy="365760"/>
          </a:xfrm>
          <a:prstGeom prst="rect">
            <a:avLst/>
          </a:prstGeom>
          <a:noFill/>
          <a:ln/>
        </p:spPr>
        <p:txBody>
          <a:bodyPr wrap="square" lIns="0" tIns="0" rIns="0" bIns="0" rtlCol="0" anchor="b"/>
          <a:lstStyle/>
          <a:p>
            <a:pPr algn="l" indent="0" marL="0">
              <a:buNone/>
            </a:pPr>
            <a:r>
              <a:rPr lang="en-US" sz="1800" b="1" dirty="0">
                <a:solidFill>
                  <a:srgbClr val="16191D"/>
                </a:solidFill>
                <a:latin typeface="Cambria" pitchFamily="34" charset="0"/>
                <a:ea typeface="Cambria" pitchFamily="34" charset="-122"/>
                <a:cs typeface="Cambria" pitchFamily="34" charset="-120"/>
              </a:rPr>
              <a:t>+0,00708</a:t>
            </a:r>
            <a:endParaRPr lang="en-US" sz="1800" dirty="0"/>
          </a:p>
        </p:txBody>
      </p:sp>
      <p:sp>
        <p:nvSpPr>
          <p:cNvPr id="58" name="Text 55"/>
          <p:cNvSpPr/>
          <p:nvPr/>
        </p:nvSpPr>
        <p:spPr>
          <a:xfrm>
            <a:off x="9035644" y="5285232"/>
            <a:ext cx="218678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5 → 6: lima model, stacking, studi ambang</a:t>
            </a:r>
            <a:endParaRPr lang="en-US" sz="950" dirty="0"/>
          </a:p>
        </p:txBody>
      </p:sp>
      <p:sp>
        <p:nvSpPr>
          <p:cNvPr id="59" name="Text 56"/>
          <p:cNvSpPr/>
          <p:nvPr/>
        </p:nvSpPr>
        <p:spPr>
          <a:xfrm>
            <a:off x="6236208" y="5870448"/>
            <a:ext cx="5114239" cy="384048"/>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Baris 3 di bawah pohon menandakan hubungan fitur dan target memang non-linear, jadi model pohon bukan pilihan gaya.</a:t>
            </a:r>
            <a:endParaRPr lang="en-US" sz="950" dirty="0"/>
          </a:p>
        </p:txBody>
      </p:sp>
      <p:sp>
        <p:nvSpPr>
          <p:cNvPr id="61" name="Shape 57"/>
          <p:cNvSpPr/>
          <p:nvPr/>
        </p:nvSpPr>
        <p:spPr>
          <a:xfrm>
            <a:off x="640080" y="6400800"/>
            <a:ext cx="1572768" cy="45720"/>
          </a:xfrm>
          <a:prstGeom prst="rect">
            <a:avLst/>
          </a:prstGeom>
          <a:solidFill>
            <a:srgbClr val="DCD8D1"/>
          </a:solidFill>
          <a:ln/>
        </p:spPr>
      </p:sp>
      <p:sp>
        <p:nvSpPr>
          <p:cNvPr id="62" name="Text 5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63" name="Shape 59"/>
          <p:cNvSpPr/>
          <p:nvPr/>
        </p:nvSpPr>
        <p:spPr>
          <a:xfrm>
            <a:off x="2304288" y="6400800"/>
            <a:ext cx="1572768" cy="45720"/>
          </a:xfrm>
          <a:prstGeom prst="rect">
            <a:avLst/>
          </a:prstGeom>
          <a:solidFill>
            <a:srgbClr val="DCD8D1"/>
          </a:solidFill>
          <a:ln/>
        </p:spPr>
      </p:sp>
      <p:sp>
        <p:nvSpPr>
          <p:cNvPr id="64" name="Text 6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65" name="Shape 61"/>
          <p:cNvSpPr/>
          <p:nvPr/>
        </p:nvSpPr>
        <p:spPr>
          <a:xfrm>
            <a:off x="3968496" y="6400800"/>
            <a:ext cx="1572768" cy="45720"/>
          </a:xfrm>
          <a:prstGeom prst="rect">
            <a:avLst/>
          </a:prstGeom>
          <a:solidFill>
            <a:srgbClr val="A8442A"/>
          </a:solidFill>
          <a:ln/>
        </p:spPr>
      </p:sp>
      <p:sp>
        <p:nvSpPr>
          <p:cNvPr id="66" name="Text 6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67" name="Shape 63"/>
          <p:cNvSpPr/>
          <p:nvPr/>
        </p:nvSpPr>
        <p:spPr>
          <a:xfrm>
            <a:off x="5632704" y="6400800"/>
            <a:ext cx="1572768" cy="45720"/>
          </a:xfrm>
          <a:prstGeom prst="rect">
            <a:avLst/>
          </a:prstGeom>
          <a:solidFill>
            <a:srgbClr val="DCD8D1"/>
          </a:solidFill>
          <a:ln/>
        </p:spPr>
      </p:sp>
      <p:sp>
        <p:nvSpPr>
          <p:cNvPr id="68" name="Text 6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69" name="Shape 65"/>
          <p:cNvSpPr/>
          <p:nvPr/>
        </p:nvSpPr>
        <p:spPr>
          <a:xfrm>
            <a:off x="7296912" y="6400800"/>
            <a:ext cx="1572768" cy="45720"/>
          </a:xfrm>
          <a:prstGeom prst="rect">
            <a:avLst/>
          </a:prstGeom>
          <a:solidFill>
            <a:srgbClr val="DCD8D1"/>
          </a:solidFill>
          <a:ln/>
        </p:spPr>
      </p:sp>
      <p:sp>
        <p:nvSpPr>
          <p:cNvPr id="70" name="Text 6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1" name="Shape 67"/>
          <p:cNvSpPr/>
          <p:nvPr/>
        </p:nvSpPr>
        <p:spPr>
          <a:xfrm>
            <a:off x="8961120" y="6400800"/>
            <a:ext cx="1572768" cy="45720"/>
          </a:xfrm>
          <a:prstGeom prst="rect">
            <a:avLst/>
          </a:prstGeom>
          <a:solidFill>
            <a:srgbClr val="DCD8D1"/>
          </a:solidFill>
          <a:ln/>
        </p:spPr>
      </p:sp>
      <p:sp>
        <p:nvSpPr>
          <p:cNvPr id="72" name="Text 6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73" name="Text 6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670902" y="91440"/>
            <a:ext cx="3880714" cy="237744"/>
          </a:xfrm>
          <a:prstGeom prst="roundRect">
            <a:avLst>
              <a:gd name="adj" fmla="val 50000"/>
            </a:avLst>
          </a:prstGeom>
          <a:solidFill>
            <a:srgbClr val="2F6B5F"/>
          </a:solidFill>
          <a:ln/>
        </p:spPr>
      </p:sp>
      <p:sp>
        <p:nvSpPr>
          <p:cNvPr id="3" name="Text 1"/>
          <p:cNvSpPr/>
          <p:nvPr/>
        </p:nvSpPr>
        <p:spPr>
          <a:xfrm>
            <a:off x="7670902" y="91440"/>
            <a:ext cx="3880714"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dipilih paling stabil, bukan skor tertinggi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Kriteria yang benar bukan skor tertinggi, melainkan yang paling stabil.</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Lima strategi estimasi ambang, uji split-half sebagai wasit, dan satu ide kami sendiri yang terbukti overfit.</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675120" cy="914400"/>
        </p:xfrm>
        <a:graphic>
          <a:graphicData uri="http://schemas.openxmlformats.org/drawingml/2006/table">
            <a:tbl>
              <a:tblPr/>
              <a:tblGrid>
                <a:gridCol w="2468880"/>
                <a:gridCol w="1051560"/>
                <a:gridCol w="1051560"/>
                <a:gridCol w="1051560"/>
                <a:gridCol w="1051560"/>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Strategi ambang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in-sample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held-out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selisih</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 titik tunggal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3A4048"/>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0,48688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0,48083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A8442A"/>
                          </a:solidFill>
                          <a:latin typeface="Calibri" pitchFamily="34" charset="0"/>
                          <a:ea typeface="Calibri" pitchFamily="34" charset="-122"/>
                          <a:cs typeface="Calibri" pitchFamily="34" charset="-120"/>
                        </a:rPr>
                        <a:t>0,00606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b. rata-rata bootstrap (final)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0,48106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0,00519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 rata-rata subsample 80%</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0,48419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0,48654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0,48100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0,00554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 cocok distribusi kelas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0,47413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0,47650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0,47206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0,00444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e. objektif dihaluskan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0,48435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3520440"/>
            <a:ext cx="6675120" cy="1325880"/>
          </a:xfrm>
          <a:prstGeom prst="roundRect">
            <a:avLst>
              <a:gd name="adj" fmla="val 4138"/>
            </a:avLst>
          </a:prstGeom>
          <a:solidFill>
            <a:srgbClr val="F4F1EC"/>
          </a:solidFill>
          <a:ln w="9525">
            <a:solidFill>
              <a:srgbClr val="DCD8D1"/>
            </a:solidFill>
            <a:prstDash val="solid"/>
          </a:ln>
        </p:spPr>
      </p:sp>
      <p:sp>
        <p:nvSpPr>
          <p:cNvPr id="8" name="Text 5"/>
          <p:cNvSpPr/>
          <p:nvPr/>
        </p:nvSpPr>
        <p:spPr>
          <a:xfrm>
            <a:off x="841248" y="3611880"/>
            <a:ext cx="6675120" cy="201168"/>
          </a:xfrm>
          <a:prstGeom prst="rect">
            <a:avLst/>
          </a:prstGeom>
          <a:noFill/>
          <a:ln/>
        </p:spPr>
        <p:txBody>
          <a:bodyPr wrap="square" lIns="0" tIns="0" rIns="0" bIns="0" rtlCol="0" anchor="ctr"/>
          <a:lstStyle/>
          <a:p>
            <a:pPr indent="0" marL="0">
              <a:buNone/>
            </a:pPr>
            <a:r>
              <a:rPr lang="en-US" sz="850" b="1" spc="110" kern="0" dirty="0">
                <a:solidFill>
                  <a:srgbClr val="6E747C"/>
                </a:solidFill>
                <a:latin typeface="Calibri" pitchFamily="34" charset="0"/>
                <a:ea typeface="Calibri" pitchFamily="34" charset="-122"/>
                <a:cs typeface="Calibri" pitchFamily="34" charset="-120"/>
              </a:rPr>
              <a:t>SIMPANGAN BAKU AMBANG ANTAR 25 BOOTSTRAP</a:t>
            </a:r>
            <a:endParaRPr lang="en-US" sz="850" dirty="0"/>
          </a:p>
        </p:txBody>
      </p:sp>
      <p:sp>
        <p:nvSpPr>
          <p:cNvPr id="9" name="Text 6"/>
          <p:cNvSpPr/>
          <p:nvPr/>
        </p:nvSpPr>
        <p:spPr>
          <a:xfrm>
            <a:off x="841248" y="3877056"/>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t₁</a:t>
            </a:r>
            <a:endParaRPr lang="en-US" sz="1000" dirty="0"/>
          </a:p>
        </p:txBody>
      </p:sp>
      <p:sp>
        <p:nvSpPr>
          <p:cNvPr id="10" name="Shape 7"/>
          <p:cNvSpPr/>
          <p:nvPr/>
        </p:nvSpPr>
        <p:spPr>
          <a:xfrm>
            <a:off x="1188720" y="3922776"/>
            <a:ext cx="1135685" cy="146304"/>
          </a:xfrm>
          <a:prstGeom prst="rect">
            <a:avLst/>
          </a:prstGeom>
          <a:solidFill>
            <a:srgbClr val="2F6B5F"/>
          </a:solidFill>
          <a:ln/>
        </p:spPr>
      </p:sp>
      <p:sp>
        <p:nvSpPr>
          <p:cNvPr id="11" name="Text 8"/>
          <p:cNvSpPr/>
          <p:nvPr/>
        </p:nvSpPr>
        <p:spPr>
          <a:xfrm>
            <a:off x="5532120" y="3877056"/>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0,0108</a:t>
            </a:r>
            <a:endParaRPr lang="en-US" sz="1000" dirty="0"/>
          </a:p>
        </p:txBody>
      </p:sp>
      <p:sp>
        <p:nvSpPr>
          <p:cNvPr id="12" name="Text 9"/>
          <p:cNvSpPr/>
          <p:nvPr/>
        </p:nvSpPr>
        <p:spPr>
          <a:xfrm>
            <a:off x="841248" y="4178808"/>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t₂</a:t>
            </a:r>
            <a:endParaRPr lang="en-US" sz="1000" dirty="0"/>
          </a:p>
        </p:txBody>
      </p:sp>
      <p:sp>
        <p:nvSpPr>
          <p:cNvPr id="13" name="Shape 10"/>
          <p:cNvSpPr/>
          <p:nvPr/>
        </p:nvSpPr>
        <p:spPr>
          <a:xfrm>
            <a:off x="1188720" y="4224528"/>
            <a:ext cx="1409090" cy="146304"/>
          </a:xfrm>
          <a:prstGeom prst="rect">
            <a:avLst/>
          </a:prstGeom>
          <a:solidFill>
            <a:srgbClr val="8FB0A4"/>
          </a:solidFill>
          <a:ln/>
        </p:spPr>
      </p:sp>
      <p:sp>
        <p:nvSpPr>
          <p:cNvPr id="14" name="Text 11"/>
          <p:cNvSpPr/>
          <p:nvPr/>
        </p:nvSpPr>
        <p:spPr>
          <a:xfrm>
            <a:off x="5532120" y="4178808"/>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0,0134</a:t>
            </a:r>
            <a:endParaRPr lang="en-US" sz="1000" dirty="0"/>
          </a:p>
        </p:txBody>
      </p:sp>
      <p:sp>
        <p:nvSpPr>
          <p:cNvPr id="15" name="Text 12"/>
          <p:cNvSpPr/>
          <p:nvPr/>
        </p:nvSpPr>
        <p:spPr>
          <a:xfrm>
            <a:off x="841248" y="4480560"/>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t₃</a:t>
            </a:r>
            <a:endParaRPr lang="en-US" sz="1000" dirty="0"/>
          </a:p>
        </p:txBody>
      </p:sp>
      <p:sp>
        <p:nvSpPr>
          <p:cNvPr id="16" name="Shape 13"/>
          <p:cNvSpPr/>
          <p:nvPr/>
        </p:nvSpPr>
        <p:spPr>
          <a:xfrm>
            <a:off x="1188720" y="4526280"/>
            <a:ext cx="4122115" cy="146304"/>
          </a:xfrm>
          <a:prstGeom prst="rect">
            <a:avLst/>
          </a:prstGeom>
          <a:solidFill>
            <a:srgbClr val="A8442A"/>
          </a:solidFill>
          <a:ln/>
        </p:spPr>
      </p:sp>
      <p:sp>
        <p:nvSpPr>
          <p:cNvPr id="17" name="Text 14"/>
          <p:cNvSpPr/>
          <p:nvPr/>
        </p:nvSpPr>
        <p:spPr>
          <a:xfrm>
            <a:off x="5532120" y="4480560"/>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0,0392</a:t>
            </a:r>
            <a:endParaRPr lang="en-US" sz="1000" dirty="0"/>
          </a:p>
        </p:txBody>
      </p:sp>
      <p:sp>
        <p:nvSpPr>
          <p:cNvPr id="18" name="Shape 15"/>
          <p:cNvSpPr/>
          <p:nvPr/>
        </p:nvSpPr>
        <p:spPr>
          <a:xfrm>
            <a:off x="640080" y="4983480"/>
            <a:ext cx="6675120" cy="1234440"/>
          </a:xfrm>
          <a:prstGeom prst="roundRect">
            <a:avLst>
              <a:gd name="adj" fmla="val 4444"/>
            </a:avLst>
          </a:prstGeom>
          <a:solidFill>
            <a:srgbClr val="16191D"/>
          </a:solidFill>
          <a:ln w="9525">
            <a:solidFill>
              <a:srgbClr val="16191D"/>
            </a:solidFill>
            <a:prstDash val="solid"/>
          </a:ln>
        </p:spPr>
      </p:sp>
      <p:sp>
        <p:nvSpPr>
          <p:cNvPr id="19" name="Text 16"/>
          <p:cNvSpPr/>
          <p:nvPr/>
        </p:nvSpPr>
        <p:spPr>
          <a:xfrm>
            <a:off x="841248" y="4983480"/>
            <a:ext cx="6272784" cy="1234440"/>
          </a:xfrm>
          <a:prstGeom prst="rect">
            <a:avLst/>
          </a:prstGeom>
          <a:noFill/>
          <a:ln/>
        </p:spPr>
        <p:txBody>
          <a:bodyPr wrap="square" lIns="0" tIns="0" rIns="0" bIns="0" rtlCol="0" anchor="ctr"/>
          <a:lstStyle/>
          <a:p>
            <a:pPr indent="0" marL="0">
              <a:lnSpc>
                <a:spcPts val="1400"/>
              </a:lnSpc>
              <a:buNone/>
            </a:pPr>
            <a:r>
              <a:rPr lang="en-US" sz="1050" b="1" dirty="0">
                <a:solidFill>
                  <a:srgbClr val="8FB0A4"/>
                </a:solidFill>
                <a:latin typeface="Calibri" pitchFamily="34" charset="0"/>
                <a:ea typeface="Calibri" pitchFamily="34" charset="-122"/>
                <a:cs typeface="Calibri" pitchFamily="34" charset="-120"/>
              </a:rPr>
              <a:t>Keputusan: rata-rata bootstrap (Efron 1979). </a:t>
            </a:r>
            <a:pPr indent="0" marL="0">
              <a:lnSpc>
                <a:spcPts val="1400"/>
              </a:lnSpc>
              <a:buNone/>
            </a:pPr>
            <a:r>
              <a:rPr lang="en-US" sz="1050" dirty="0">
                <a:solidFill>
                  <a:srgbClr val="FFFFFF"/>
                </a:solidFill>
                <a:latin typeface="Calibri" pitchFamily="34" charset="0"/>
                <a:ea typeface="Calibri" pitchFamily="34" charset="-122"/>
                <a:cs typeface="Calibri" pitchFamily="34" charset="-120"/>
              </a:rPr>
              <a:t>Strategi a menang di OOF karena memang itu definisinya, lalu kalah di held-out. Bootstrap menaruh ambang di pusat dataran tinggi. t₃ hampir 4 kali lebih goyah dari t₁ karena kelas 4 hanya 893 sampel. Kami melepas 0,0009 pada angka yang dilaporkan demi +0,00023 di held-out.</a:t>
            </a:r>
            <a:endParaRPr lang="en-US" sz="1050" dirty="0"/>
          </a:p>
        </p:txBody>
      </p:sp>
      <p:sp>
        <p:nvSpPr>
          <p:cNvPr id="20" name="Shape 17"/>
          <p:cNvSpPr/>
          <p:nvPr/>
        </p:nvSpPr>
        <p:spPr>
          <a:xfrm>
            <a:off x="7589520" y="1371600"/>
            <a:ext cx="3962095" cy="2514600"/>
          </a:xfrm>
          <a:prstGeom prst="roundRect">
            <a:avLst>
              <a:gd name="adj" fmla="val 2182"/>
            </a:avLst>
          </a:prstGeom>
          <a:solidFill>
            <a:srgbClr val="ECE7DF"/>
          </a:solidFill>
          <a:ln w="9525">
            <a:solidFill>
              <a:srgbClr val="DCD8D1"/>
            </a:solidFill>
            <a:prstDash val="solid"/>
          </a:ln>
        </p:spPr>
      </p:sp>
      <p:sp>
        <p:nvSpPr>
          <p:cNvPr id="21" name="Text 18"/>
          <p:cNvSpPr/>
          <p:nvPr/>
        </p:nvSpPr>
        <p:spPr>
          <a:xfrm>
            <a:off x="7790688" y="1499616"/>
            <a:ext cx="35597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OVERFIT YANG KAMI TANGKAP SENDIRI</a:t>
            </a:r>
            <a:endParaRPr lang="en-US" sz="850" dirty="0"/>
          </a:p>
        </p:txBody>
      </p:sp>
      <p:sp>
        <p:nvSpPr>
          <p:cNvPr id="22" name="Text 19"/>
          <p:cNvSpPr/>
          <p:nvPr/>
        </p:nvSpPr>
        <p:spPr>
          <a:xfrm>
            <a:off x="7790688" y="1700784"/>
            <a:ext cx="35597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Ambang per segmen: QWK naik, held-out turun</a:t>
            </a:r>
            <a:endParaRPr lang="en-US" sz="1300" dirty="0"/>
          </a:p>
        </p:txBody>
      </p:sp>
      <p:sp>
        <p:nvSpPr>
          <p:cNvPr id="23" name="Text 20"/>
          <p:cNvSpPr/>
          <p:nvPr/>
        </p:nvSpPr>
        <p:spPr>
          <a:xfrm>
            <a:off x="7790688" y="2212848"/>
            <a:ext cx="3559759" cy="118872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Segmentasi per tahun, status kesehatan, usia, dan silangannya. Tiap parameter tambahan menaikkan in-sample dan menurunkan held-out secara monoton. Tanpa split-half, ini tampak sebagai perbaikan terbesar kedua.</a:t>
            </a:r>
            <a:endParaRPr lang="en-US" sz="1000" dirty="0"/>
          </a:p>
        </p:txBody>
      </p:sp>
      <p:sp>
        <p:nvSpPr>
          <p:cNvPr id="24" name="Text 21"/>
          <p:cNvSpPr/>
          <p:nvPr/>
        </p:nvSpPr>
        <p:spPr>
          <a:xfrm>
            <a:off x="7790688" y="3447288"/>
            <a:ext cx="1828800" cy="256032"/>
          </a:xfrm>
          <a:prstGeom prst="rect">
            <a:avLst/>
          </a:prstGeom>
          <a:noFill/>
          <a:ln/>
        </p:spPr>
        <p:txBody>
          <a:bodyPr wrap="square" lIns="0" tIns="0" rIns="0" bIns="0" rtlCol="0" anchor="ctr"/>
          <a:lstStyle/>
          <a:p>
            <a:pPr indent="0" marL="0">
              <a:buNone/>
            </a:pPr>
            <a:r>
              <a:rPr lang="en-US" sz="1200" b="1" dirty="0">
                <a:solidFill>
                  <a:srgbClr val="A8442A"/>
                </a:solidFill>
                <a:latin typeface="Cambria" pitchFamily="34" charset="0"/>
                <a:ea typeface="Cambria" pitchFamily="34" charset="-122"/>
                <a:cs typeface="Cambria" pitchFamily="34" charset="-120"/>
              </a:rPr>
              <a:t>Ditolak.</a:t>
            </a:r>
            <a:endParaRPr lang="en-US" sz="1200" dirty="0"/>
          </a:p>
        </p:txBody>
      </p:sp>
      <p:sp>
        <p:nvSpPr>
          <p:cNvPr id="25" name="Shape 22"/>
          <p:cNvSpPr/>
          <p:nvPr/>
        </p:nvSpPr>
        <p:spPr>
          <a:xfrm>
            <a:off x="7589520" y="4023360"/>
            <a:ext cx="3962095" cy="2194560"/>
          </a:xfrm>
          <a:prstGeom prst="roundRect">
            <a:avLst>
              <a:gd name="adj" fmla="val 2500"/>
            </a:avLst>
          </a:prstGeom>
          <a:solidFill>
            <a:srgbClr val="FFFFFF"/>
          </a:solidFill>
          <a:ln w="9525">
            <a:solidFill>
              <a:srgbClr val="DCD8D1"/>
            </a:solidFill>
            <a:prstDash val="solid"/>
          </a:ln>
        </p:spPr>
      </p:sp>
      <p:sp>
        <p:nvSpPr>
          <p:cNvPr id="26" name="Text 23"/>
          <p:cNvSpPr/>
          <p:nvPr/>
        </p:nvSpPr>
        <p:spPr>
          <a:xfrm>
            <a:off x="7790688" y="4151376"/>
            <a:ext cx="35597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A.3 · 20 KONFIGURASI MASUK AKAL</a:t>
            </a:r>
            <a:endParaRPr lang="en-US" sz="850" dirty="0"/>
          </a:p>
        </p:txBody>
      </p:sp>
      <p:sp>
        <p:nvSpPr>
          <p:cNvPr id="27" name="Text 24"/>
          <p:cNvSpPr/>
          <p:nvPr/>
        </p:nvSpPr>
        <p:spPr>
          <a:xfrm>
            <a:off x="7790688" y="4352544"/>
            <a:ext cx="35597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Tidak ada kriteria latih yang memandu</a:t>
            </a:r>
            <a:endParaRPr lang="en-US" sz="1300" dirty="0"/>
          </a:p>
        </p:txBody>
      </p:sp>
      <p:sp>
        <p:nvSpPr>
          <p:cNvPr id="28" name="Text 25"/>
          <p:cNvSpPr/>
          <p:nvPr/>
        </p:nvSpPr>
        <p:spPr>
          <a:xfrm>
            <a:off x="7790688" y="4864608"/>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Korelasi QWK OOF ke kinerja uji</a:t>
            </a:r>
            <a:endParaRPr lang="en-US" sz="1000" dirty="0"/>
          </a:p>
        </p:txBody>
      </p:sp>
      <p:sp>
        <p:nvSpPr>
          <p:cNvPr id="29" name="Text 26"/>
          <p:cNvSpPr/>
          <p:nvPr/>
        </p:nvSpPr>
        <p:spPr>
          <a:xfrm>
            <a:off x="10353715" y="4864608"/>
            <a:ext cx="996733" cy="310896"/>
          </a:xfrm>
          <a:prstGeom prst="rect">
            <a:avLst/>
          </a:prstGeom>
          <a:noFill/>
          <a:ln/>
        </p:spPr>
        <p:txBody>
          <a:bodyPr wrap="square" lIns="0" tIns="0" rIns="0" bIns="0" rtlCol="0" anchor="ctr"/>
          <a:lstStyle/>
          <a:p>
            <a:pPr algn="r" indent="0" marL="0">
              <a:buNone/>
            </a:pPr>
            <a:r>
              <a:rPr lang="en-US" sz="1000" b="1" dirty="0">
                <a:solidFill>
                  <a:srgbClr val="A8442A"/>
                </a:solidFill>
                <a:latin typeface="Calibri" pitchFamily="34" charset="0"/>
                <a:ea typeface="Calibri" pitchFamily="34" charset="-122"/>
                <a:cs typeface="Calibri" pitchFamily="34" charset="-120"/>
              </a:rPr>
              <a:t>≈ 0,08</a:t>
            </a:r>
            <a:endParaRPr lang="en-US" sz="1000" dirty="0"/>
          </a:p>
        </p:txBody>
      </p:sp>
      <p:sp>
        <p:nvSpPr>
          <p:cNvPr id="30" name="Shape 27"/>
          <p:cNvSpPr/>
          <p:nvPr/>
        </p:nvSpPr>
        <p:spPr>
          <a:xfrm>
            <a:off x="7790688" y="5175504"/>
            <a:ext cx="3559759" cy="0"/>
          </a:xfrm>
          <a:prstGeom prst="line">
            <a:avLst/>
          </a:prstGeom>
          <a:noFill/>
          <a:ln w="7620">
            <a:solidFill>
              <a:srgbClr val="DCD8D1"/>
            </a:solidFill>
            <a:prstDash val="solid"/>
          </a:ln>
        </p:spPr>
      </p:sp>
      <p:sp>
        <p:nvSpPr>
          <p:cNvPr id="31" name="Text 28"/>
          <p:cNvSpPr/>
          <p:nvPr/>
        </p:nvSpPr>
        <p:spPr>
          <a:xfrm>
            <a:off x="7790688" y="5175504"/>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Korelasi held-out ke kinerja uji</a:t>
            </a:r>
            <a:endParaRPr lang="en-US" sz="1000" dirty="0"/>
          </a:p>
        </p:txBody>
      </p:sp>
      <p:sp>
        <p:nvSpPr>
          <p:cNvPr id="32" name="Text 29"/>
          <p:cNvSpPr/>
          <p:nvPr/>
        </p:nvSpPr>
        <p:spPr>
          <a:xfrm>
            <a:off x="10353715" y="5175504"/>
            <a:ext cx="996733" cy="310896"/>
          </a:xfrm>
          <a:prstGeom prst="rect">
            <a:avLst/>
          </a:prstGeom>
          <a:noFill/>
          <a:ln/>
        </p:spPr>
        <p:txBody>
          <a:bodyPr wrap="square" lIns="0" tIns="0" rIns="0" bIns="0" rtlCol="0" anchor="ctr"/>
          <a:lstStyle/>
          <a:p>
            <a:pPr algn="r" indent="0" marL="0">
              <a:buNone/>
            </a:pPr>
            <a:r>
              <a:rPr lang="en-US" sz="1000" b="1" dirty="0">
                <a:solidFill>
                  <a:srgbClr val="A8442A"/>
                </a:solidFill>
                <a:latin typeface="Calibri" pitchFamily="34" charset="0"/>
                <a:ea typeface="Calibri" pitchFamily="34" charset="-122"/>
                <a:cs typeface="Calibri" pitchFamily="34" charset="-120"/>
              </a:rPr>
              <a:t>≈ 0,16</a:t>
            </a:r>
            <a:endParaRPr lang="en-US" sz="1000" dirty="0"/>
          </a:p>
        </p:txBody>
      </p:sp>
      <p:sp>
        <p:nvSpPr>
          <p:cNvPr id="33" name="Shape 30"/>
          <p:cNvSpPr/>
          <p:nvPr/>
        </p:nvSpPr>
        <p:spPr>
          <a:xfrm>
            <a:off x="7790688" y="5486400"/>
            <a:ext cx="3559759" cy="0"/>
          </a:xfrm>
          <a:prstGeom prst="line">
            <a:avLst/>
          </a:prstGeom>
          <a:noFill/>
          <a:ln w="7620">
            <a:solidFill>
              <a:srgbClr val="DCD8D1"/>
            </a:solidFill>
            <a:prstDash val="solid"/>
          </a:ln>
        </p:spPr>
      </p:sp>
      <p:sp>
        <p:nvSpPr>
          <p:cNvPr id="34" name="Text 31"/>
          <p:cNvSpPr/>
          <p:nvPr/>
        </p:nvSpPr>
        <p:spPr>
          <a:xfrm>
            <a:off x="7790688" y="5486400"/>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Rentang QWK 20 konfigurasi</a:t>
            </a:r>
            <a:endParaRPr lang="en-US" sz="1000" dirty="0"/>
          </a:p>
        </p:txBody>
      </p:sp>
      <p:sp>
        <p:nvSpPr>
          <p:cNvPr id="35" name="Text 32"/>
          <p:cNvSpPr/>
          <p:nvPr/>
        </p:nvSpPr>
        <p:spPr>
          <a:xfrm>
            <a:off x="10353715" y="5486400"/>
            <a:ext cx="996733"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0,003</a:t>
            </a:r>
            <a:endParaRPr lang="en-US" sz="1000" dirty="0"/>
          </a:p>
        </p:txBody>
      </p:sp>
      <p:sp>
        <p:nvSpPr>
          <p:cNvPr id="36" name="Text 33"/>
          <p:cNvSpPr/>
          <p:nvPr/>
        </p:nvSpPr>
        <p:spPr>
          <a:xfrm>
            <a:off x="7790688" y="5852160"/>
            <a:ext cx="3559759" cy="320040"/>
          </a:xfrm>
          <a:prstGeom prst="rect">
            <a:avLst/>
          </a:prstGeom>
          <a:noFill/>
          <a:ln/>
        </p:spPr>
        <p:txBody>
          <a:bodyPr wrap="square" lIns="0" tIns="0" rIns="0" bIns="0" rtlCol="0" anchor="t"/>
          <a:lstStyle/>
          <a:p>
            <a:pPr algn="l" indent="0" marL="0">
              <a:lnSpc>
                <a:spcPts val="1350"/>
              </a:lnSpc>
              <a:buNone/>
            </a:pPr>
            <a:r>
              <a:rPr lang="en-US" sz="1000" b="1" dirty="0">
                <a:solidFill>
                  <a:srgbClr val="16191D"/>
                </a:solidFill>
                <a:latin typeface="Calibri" pitchFamily="34" charset="0"/>
                <a:ea typeface="Calibri" pitchFamily="34" charset="-122"/>
                <a:cs typeface="Calibri" pitchFamily="34" charset="-120"/>
              </a:rPr>
              <a:t>Mengejar skor tertinggi di rentang ini adalah memilih derau.</a:t>
            </a:r>
            <a:endParaRPr lang="en-US" sz="1000" dirty="0"/>
          </a:p>
        </p:txBody>
      </p:sp>
      <p:sp>
        <p:nvSpPr>
          <p:cNvPr id="38" name="Shape 34"/>
          <p:cNvSpPr/>
          <p:nvPr/>
        </p:nvSpPr>
        <p:spPr>
          <a:xfrm>
            <a:off x="640080" y="6400800"/>
            <a:ext cx="1572768" cy="45720"/>
          </a:xfrm>
          <a:prstGeom prst="rect">
            <a:avLst/>
          </a:prstGeom>
          <a:solidFill>
            <a:srgbClr val="DCD8D1"/>
          </a:solidFill>
          <a:ln/>
        </p:spPr>
      </p:sp>
      <p:sp>
        <p:nvSpPr>
          <p:cNvPr id="39" name="Text 3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40" name="Shape 36"/>
          <p:cNvSpPr/>
          <p:nvPr/>
        </p:nvSpPr>
        <p:spPr>
          <a:xfrm>
            <a:off x="2304288" y="6400800"/>
            <a:ext cx="1572768" cy="45720"/>
          </a:xfrm>
          <a:prstGeom prst="rect">
            <a:avLst/>
          </a:prstGeom>
          <a:solidFill>
            <a:srgbClr val="DCD8D1"/>
          </a:solidFill>
          <a:ln/>
        </p:spPr>
      </p:sp>
      <p:sp>
        <p:nvSpPr>
          <p:cNvPr id="41" name="Text 3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2" name="Shape 38"/>
          <p:cNvSpPr/>
          <p:nvPr/>
        </p:nvSpPr>
        <p:spPr>
          <a:xfrm>
            <a:off x="3968496" y="6400800"/>
            <a:ext cx="1572768" cy="45720"/>
          </a:xfrm>
          <a:prstGeom prst="rect">
            <a:avLst/>
          </a:prstGeom>
          <a:solidFill>
            <a:srgbClr val="A8442A"/>
          </a:solidFill>
          <a:ln/>
        </p:spPr>
      </p:sp>
      <p:sp>
        <p:nvSpPr>
          <p:cNvPr id="43" name="Text 3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44" name="Shape 40"/>
          <p:cNvSpPr/>
          <p:nvPr/>
        </p:nvSpPr>
        <p:spPr>
          <a:xfrm>
            <a:off x="5632704" y="6400800"/>
            <a:ext cx="1572768" cy="45720"/>
          </a:xfrm>
          <a:prstGeom prst="rect">
            <a:avLst/>
          </a:prstGeom>
          <a:solidFill>
            <a:srgbClr val="DCD8D1"/>
          </a:solidFill>
          <a:ln/>
        </p:spPr>
      </p:sp>
      <p:sp>
        <p:nvSpPr>
          <p:cNvPr id="45" name="Text 4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6" name="Shape 42"/>
          <p:cNvSpPr/>
          <p:nvPr/>
        </p:nvSpPr>
        <p:spPr>
          <a:xfrm>
            <a:off x="7296912" y="6400800"/>
            <a:ext cx="1572768" cy="45720"/>
          </a:xfrm>
          <a:prstGeom prst="rect">
            <a:avLst/>
          </a:prstGeom>
          <a:solidFill>
            <a:srgbClr val="DCD8D1"/>
          </a:solidFill>
          <a:ln/>
        </p:spPr>
      </p:sp>
      <p:sp>
        <p:nvSpPr>
          <p:cNvPr id="47" name="Text 4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8" name="Shape 44"/>
          <p:cNvSpPr/>
          <p:nvPr/>
        </p:nvSpPr>
        <p:spPr>
          <a:xfrm>
            <a:off x="8961120" y="6400800"/>
            <a:ext cx="1572768" cy="45720"/>
          </a:xfrm>
          <a:prstGeom prst="rect">
            <a:avLst/>
          </a:prstGeom>
          <a:solidFill>
            <a:srgbClr val="DCD8D1"/>
          </a:solidFill>
          <a:ln/>
        </p:spPr>
      </p:sp>
      <p:sp>
        <p:nvSpPr>
          <p:cNvPr id="49" name="Text 4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50" name="Text 4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57439" y="91440"/>
            <a:ext cx="3694176" cy="237744"/>
          </a:xfrm>
          <a:prstGeom prst="roundRect">
            <a:avLst>
              <a:gd name="adj" fmla="val 50000"/>
            </a:avLst>
          </a:prstGeom>
          <a:solidFill>
            <a:srgbClr val="2F6B5F"/>
          </a:solidFill>
          <a:ln/>
        </p:spPr>
      </p:sp>
      <p:sp>
        <p:nvSpPr>
          <p:cNvPr id="3" name="Text 1"/>
          <p:cNvSpPr/>
          <p:nvPr/>
        </p:nvSpPr>
        <p:spPr>
          <a:xfrm>
            <a:off x="7857439" y="91440"/>
            <a:ext cx="3694176"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model berjalan di peramban, tanpa server</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Demo · LifeScope mengubah jawaban survei menjadi daftar prioritas.</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Metodologi tadi, kini bekerja: skrining satu orang, nilai satu kohort, dan geser ambang sesuai kapasitas layanan.</a:t>
            </a:r>
            <a:endParaRPr lang="en-US" sz="1250" dirty="0"/>
          </a:p>
        </p:txBody>
      </p:sp>
      <p:pic>
        <p:nvPicPr>
          <p:cNvPr id="6" name="Image 0" descr="shot_lifescope.png">    </p:cNvPr>
          <p:cNvPicPr>
            <a:picLocks noChangeAspect="1"/>
          </p:cNvPicPr>
          <p:nvPr/>
        </p:nvPicPr>
        <p:blipFill>
          <a:blip r:embed="rId1"/>
          <a:stretch>
            <a:fillRect/>
          </a:stretch>
        </p:blipFill>
        <p:spPr>
          <a:xfrm>
            <a:off x="640080" y="1371600"/>
            <a:ext cx="5852160" cy="3253801"/>
          </a:xfrm>
          <a:prstGeom prst="rect">
            <a:avLst/>
          </a:prstGeom>
        </p:spPr>
      </p:pic>
      <p:sp>
        <p:nvSpPr>
          <p:cNvPr id="7" name="Shape 4"/>
          <p:cNvSpPr/>
          <p:nvPr/>
        </p:nvSpPr>
        <p:spPr>
          <a:xfrm>
            <a:off x="640080" y="4754880"/>
            <a:ext cx="5852160" cy="1463040"/>
          </a:xfrm>
          <a:prstGeom prst="roundRect">
            <a:avLst>
              <a:gd name="adj" fmla="val 3750"/>
            </a:avLst>
          </a:prstGeom>
          <a:solidFill>
            <a:srgbClr val="16191D"/>
          </a:solidFill>
          <a:ln w="9525">
            <a:solidFill>
              <a:srgbClr val="16191D"/>
            </a:solidFill>
            <a:prstDash val="solid"/>
          </a:ln>
        </p:spPr>
      </p:sp>
      <p:sp>
        <p:nvSpPr>
          <p:cNvPr id="8" name="Text 5"/>
          <p:cNvSpPr/>
          <p:nvPr/>
        </p:nvSpPr>
        <p:spPr>
          <a:xfrm>
            <a:off x="868680" y="4864608"/>
            <a:ext cx="539496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COBA SAAT PITCHING</a:t>
            </a:r>
            <a:endParaRPr lang="en-US" sz="1050" dirty="0"/>
          </a:p>
        </p:txBody>
      </p:sp>
      <p:sp>
        <p:nvSpPr>
          <p:cNvPr id="9" name="Text 6">
            <a:hlinkClick r:id="rId2" tooltip=""/>
          </p:cNvPr>
          <p:cNvSpPr/>
          <p:nvPr/>
        </p:nvSpPr>
        <p:spPr>
          <a:xfrm>
            <a:off x="868680" y="5138928"/>
            <a:ext cx="5394960" cy="310896"/>
          </a:xfrm>
          <a:prstGeom prst="rect">
            <a:avLst/>
          </a:prstGeom>
          <a:noFill/>
          <a:ln/>
        </p:spPr>
        <p:txBody>
          <a:bodyPr wrap="square" lIns="0" tIns="0" rIns="0" bIns="0" rtlCol="0" anchor="ctr"/>
          <a:lstStyle/>
          <a:p>
            <a:pPr indent="0" marL="0">
              <a:buNone/>
            </a:pPr>
            <a:r>
              <a:rPr lang="en-US" sz="12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200" dirty="0"/>
          </a:p>
        </p:txBody>
      </p:sp>
      <p:sp>
        <p:nvSpPr>
          <p:cNvPr id="10" name="Text 7"/>
          <p:cNvSpPr/>
          <p:nvPr/>
        </p:nvSpPr>
        <p:spPr>
          <a:xfrm>
            <a:off x="868680" y="5486400"/>
            <a:ext cx="5394960" cy="640080"/>
          </a:xfrm>
          <a:prstGeom prst="rect">
            <a:avLst/>
          </a:prstGeom>
          <a:noFill/>
          <a:ln/>
        </p:spPr>
        <p:txBody>
          <a:bodyPr wrap="square" lIns="0" tIns="0" rIns="0" bIns="0" rtlCol="0" anchor="t"/>
          <a:lstStyle/>
          <a:p>
            <a:pPr algn="l" indent="0" marL="0">
              <a:lnSpc>
                <a:spcPts val="1350"/>
              </a:lnSpc>
              <a:buNone/>
            </a:pPr>
            <a:r>
              <a:rPr lang="en-US" sz="1000" dirty="0">
                <a:solidFill>
                  <a:srgbClr val="9AA0A7"/>
                </a:solidFill>
                <a:latin typeface="Calibri" pitchFamily="34" charset="0"/>
                <a:ea typeface="Calibri" pitchFamily="34" charset="-122"/>
                <a:cs typeface="Calibri" pitchFamily="34" charset="-120"/>
              </a:rPr>
              <a:t>Surrogate 440 pohon, 17 fitur: QWK 0,46752, atau 96,5% dari pipeline penuh. +0,06931 di antaranya berasal dari aturan keputusan saja.</a:t>
            </a:r>
            <a:endParaRPr lang="en-US" sz="1000" dirty="0"/>
          </a:p>
        </p:txBody>
      </p:sp>
      <p:sp>
        <p:nvSpPr>
          <p:cNvPr id="11" name="Shape 8"/>
          <p:cNvSpPr/>
          <p:nvPr/>
        </p:nvSpPr>
        <p:spPr>
          <a:xfrm>
            <a:off x="6766560" y="1371600"/>
            <a:ext cx="2163928" cy="2377440"/>
          </a:xfrm>
          <a:prstGeom prst="roundRect">
            <a:avLst>
              <a:gd name="adj" fmla="val 2535"/>
            </a:avLst>
          </a:prstGeom>
          <a:solidFill>
            <a:srgbClr val="F4F1EC"/>
          </a:solidFill>
          <a:ln w="9525">
            <a:solidFill>
              <a:srgbClr val="DCD8D1"/>
            </a:solidFill>
            <a:prstDash val="solid"/>
          </a:ln>
        </p:spPr>
      </p:sp>
      <p:sp>
        <p:nvSpPr>
          <p:cNvPr id="12" name="Text 9"/>
          <p:cNvSpPr/>
          <p:nvPr/>
        </p:nvSpPr>
        <p:spPr>
          <a:xfrm>
            <a:off x="6967728" y="1499616"/>
            <a:ext cx="216392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SEKARANG</a:t>
            </a:r>
            <a:endParaRPr lang="en-US" sz="1050" dirty="0"/>
          </a:p>
        </p:txBody>
      </p:sp>
      <p:sp>
        <p:nvSpPr>
          <p:cNvPr id="13" name="Text 10"/>
          <p:cNvSpPr/>
          <p:nvPr/>
        </p:nvSpPr>
        <p:spPr>
          <a:xfrm>
            <a:off x="6967728" y="1783080"/>
            <a:ext cx="1761592" cy="594360"/>
          </a:xfrm>
          <a:prstGeom prst="rect">
            <a:avLst/>
          </a:prstGeom>
          <a:noFill/>
          <a:ln/>
        </p:spPr>
        <p:txBody>
          <a:bodyPr wrap="square" lIns="0" tIns="0" rIns="0" bIns="0" rtlCol="0" anchor="ctr"/>
          <a:lstStyle/>
          <a:p>
            <a:pPr indent="0" marL="0">
              <a:buNone/>
            </a:pPr>
            <a:r>
              <a:rPr lang="en-US" sz="3200" b="1" dirty="0">
                <a:solidFill>
                  <a:srgbClr val="16191D"/>
                </a:solidFill>
                <a:latin typeface="Cambria" pitchFamily="34" charset="0"/>
                <a:ea typeface="Cambria" pitchFamily="34" charset="-122"/>
                <a:cs typeface="Cambria" pitchFamily="34" charset="-120"/>
              </a:rPr>
              <a:t>4,7%</a:t>
            </a:r>
            <a:endParaRPr lang="en-US" sz="3200" dirty="0"/>
          </a:p>
        </p:txBody>
      </p:sp>
      <p:sp>
        <p:nvSpPr>
          <p:cNvPr id="14" name="Text 11"/>
          <p:cNvSpPr/>
          <p:nvPr/>
        </p:nvSpPr>
        <p:spPr>
          <a:xfrm>
            <a:off x="6967728" y="2468880"/>
            <a:ext cx="1761592" cy="109728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Angka agregat laporan survei. Tidak memberi tahu siapa orangnya.</a:t>
            </a:r>
            <a:endParaRPr lang="en-US" sz="1000" dirty="0"/>
          </a:p>
        </p:txBody>
      </p:sp>
      <p:sp>
        <p:nvSpPr>
          <p:cNvPr id="15" name="Text 12"/>
          <p:cNvSpPr/>
          <p:nvPr/>
        </p:nvSpPr>
        <p:spPr>
          <a:xfrm>
            <a:off x="8930488" y="1371600"/>
            <a:ext cx="457200" cy="2377440"/>
          </a:xfrm>
          <a:prstGeom prst="rect">
            <a:avLst/>
          </a:prstGeom>
          <a:noFill/>
          <a:ln/>
        </p:spPr>
        <p:txBody>
          <a:bodyPr wrap="square" lIns="0" tIns="0" rIns="0" bIns="0" rtlCol="0" anchor="ctr"/>
          <a:lstStyle/>
          <a:p>
            <a:pPr algn="ctr" indent="0" marL="0">
              <a:buNone/>
            </a:pPr>
            <a:r>
              <a:rPr lang="en-US" sz="2000" dirty="0">
                <a:solidFill>
                  <a:srgbClr val="9AA0A7"/>
                </a:solidFill>
                <a:latin typeface="Calibri" pitchFamily="34" charset="0"/>
                <a:ea typeface="Calibri" pitchFamily="34" charset="-122"/>
                <a:cs typeface="Calibri" pitchFamily="34" charset="-120"/>
              </a:rPr>
              <a:t>→</a:t>
            </a:r>
            <a:endParaRPr lang="en-US" sz="2000" dirty="0"/>
          </a:p>
        </p:txBody>
      </p:sp>
      <p:sp>
        <p:nvSpPr>
          <p:cNvPr id="16" name="Shape 13"/>
          <p:cNvSpPr/>
          <p:nvPr/>
        </p:nvSpPr>
        <p:spPr>
          <a:xfrm>
            <a:off x="9387688" y="1371600"/>
            <a:ext cx="2163928" cy="2377440"/>
          </a:xfrm>
          <a:prstGeom prst="roundRect">
            <a:avLst>
              <a:gd name="adj" fmla="val 2535"/>
            </a:avLst>
          </a:prstGeom>
          <a:solidFill>
            <a:srgbClr val="FFFFFF"/>
          </a:solidFill>
          <a:ln w="9525">
            <a:solidFill>
              <a:srgbClr val="DCD8D1"/>
            </a:solidFill>
            <a:prstDash val="solid"/>
          </a:ln>
        </p:spPr>
      </p:sp>
      <p:sp>
        <p:nvSpPr>
          <p:cNvPr id="17" name="Text 14"/>
          <p:cNvSpPr/>
          <p:nvPr/>
        </p:nvSpPr>
        <p:spPr>
          <a:xfrm>
            <a:off x="9588856" y="1499616"/>
            <a:ext cx="216392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DENGAN LIFESCOPE</a:t>
            </a:r>
            <a:endParaRPr lang="en-US" sz="1050" dirty="0"/>
          </a:p>
        </p:txBody>
      </p:sp>
      <p:sp>
        <p:nvSpPr>
          <p:cNvPr id="18" name="Shape 15"/>
          <p:cNvSpPr/>
          <p:nvPr/>
        </p:nvSpPr>
        <p:spPr>
          <a:xfrm>
            <a:off x="9588856" y="1874520"/>
            <a:ext cx="219456" cy="219456"/>
          </a:xfrm>
          <a:prstGeom prst="rect">
            <a:avLst/>
          </a:prstGeom>
          <a:solidFill>
            <a:srgbClr val="A8442A"/>
          </a:solidFill>
          <a:ln/>
        </p:spPr>
      </p:sp>
      <p:sp>
        <p:nvSpPr>
          <p:cNvPr id="19" name="Text 16"/>
          <p:cNvSpPr/>
          <p:nvPr/>
        </p:nvSpPr>
        <p:spPr>
          <a:xfrm>
            <a:off x="9890608" y="182880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2,932   Responden #1</a:t>
            </a:r>
            <a:endParaRPr lang="en-US" sz="1000" dirty="0"/>
          </a:p>
        </p:txBody>
      </p:sp>
      <p:sp>
        <p:nvSpPr>
          <p:cNvPr id="20" name="Shape 17"/>
          <p:cNvSpPr/>
          <p:nvPr/>
        </p:nvSpPr>
        <p:spPr>
          <a:xfrm>
            <a:off x="9588856" y="2240280"/>
            <a:ext cx="219456" cy="219456"/>
          </a:xfrm>
          <a:prstGeom prst="rect">
            <a:avLst/>
          </a:prstGeom>
          <a:solidFill>
            <a:srgbClr val="A8442A"/>
          </a:solidFill>
          <a:ln/>
        </p:spPr>
      </p:sp>
      <p:sp>
        <p:nvSpPr>
          <p:cNvPr id="21" name="Text 18"/>
          <p:cNvSpPr/>
          <p:nvPr/>
        </p:nvSpPr>
        <p:spPr>
          <a:xfrm>
            <a:off x="9890608" y="219456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2,790   Responden #2</a:t>
            </a:r>
            <a:endParaRPr lang="en-US" sz="1000" dirty="0"/>
          </a:p>
        </p:txBody>
      </p:sp>
      <p:sp>
        <p:nvSpPr>
          <p:cNvPr id="22" name="Shape 19"/>
          <p:cNvSpPr/>
          <p:nvPr/>
        </p:nvSpPr>
        <p:spPr>
          <a:xfrm>
            <a:off x="9588856" y="2606040"/>
            <a:ext cx="219456" cy="219456"/>
          </a:xfrm>
          <a:prstGeom prst="rect">
            <a:avLst/>
          </a:prstGeom>
          <a:solidFill>
            <a:srgbClr val="A8442A"/>
          </a:solidFill>
          <a:ln/>
        </p:spPr>
      </p:sp>
      <p:sp>
        <p:nvSpPr>
          <p:cNvPr id="23" name="Text 20"/>
          <p:cNvSpPr/>
          <p:nvPr/>
        </p:nvSpPr>
        <p:spPr>
          <a:xfrm>
            <a:off x="9890608" y="256032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2,738   Responden #3</a:t>
            </a:r>
            <a:endParaRPr lang="en-US" sz="1000" dirty="0"/>
          </a:p>
        </p:txBody>
      </p:sp>
      <p:sp>
        <p:nvSpPr>
          <p:cNvPr id="24" name="Shape 21"/>
          <p:cNvSpPr/>
          <p:nvPr/>
        </p:nvSpPr>
        <p:spPr>
          <a:xfrm>
            <a:off x="9588856" y="2971800"/>
            <a:ext cx="219456" cy="219456"/>
          </a:xfrm>
          <a:prstGeom prst="rect">
            <a:avLst/>
          </a:prstGeom>
          <a:solidFill>
            <a:srgbClr val="D8A25E"/>
          </a:solidFill>
          <a:ln/>
        </p:spPr>
      </p:sp>
      <p:sp>
        <p:nvSpPr>
          <p:cNvPr id="25" name="Text 22"/>
          <p:cNvSpPr/>
          <p:nvPr/>
        </p:nvSpPr>
        <p:spPr>
          <a:xfrm>
            <a:off x="9890608" y="292608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2,445   Responden #4</a:t>
            </a:r>
            <a:endParaRPr lang="en-US" sz="1000" dirty="0"/>
          </a:p>
        </p:txBody>
      </p:sp>
      <p:sp>
        <p:nvSpPr>
          <p:cNvPr id="26" name="Text 23"/>
          <p:cNvSpPr/>
          <p:nvPr/>
        </p:nvSpPr>
        <p:spPr>
          <a:xfrm>
            <a:off x="9588856" y="3310128"/>
            <a:ext cx="1761592" cy="36576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Terurut menurut E[y], siap dibagi atau diekspor.</a:t>
            </a:r>
            <a:endParaRPr lang="en-US" sz="950" dirty="0"/>
          </a:p>
        </p:txBody>
      </p:sp>
      <p:sp>
        <p:nvSpPr>
          <p:cNvPr id="27" name="Shape 24"/>
          <p:cNvSpPr/>
          <p:nvPr/>
        </p:nvSpPr>
        <p:spPr>
          <a:xfrm>
            <a:off x="6766560" y="3986784"/>
            <a:ext cx="201168" cy="201168"/>
          </a:xfrm>
          <a:prstGeom prst="ellipse">
            <a:avLst/>
          </a:prstGeom>
          <a:solidFill>
            <a:srgbClr val="2F6B5F"/>
          </a:solidFill>
          <a:ln/>
        </p:spPr>
      </p:sp>
      <p:sp>
        <p:nvSpPr>
          <p:cNvPr id="28" name="Text 25"/>
          <p:cNvSpPr/>
          <p:nvPr/>
        </p:nvSpPr>
        <p:spPr>
          <a:xfrm>
            <a:off x="7086600" y="3931920"/>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Skrining satu orang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17 pertanyaan, gauge E[y], dan pendorong utama</a:t>
            </a:r>
            <a:endParaRPr lang="en-US" sz="1050" dirty="0"/>
          </a:p>
        </p:txBody>
      </p:sp>
      <p:sp>
        <p:nvSpPr>
          <p:cNvPr id="29" name="Shape 26"/>
          <p:cNvSpPr/>
          <p:nvPr/>
        </p:nvSpPr>
        <p:spPr>
          <a:xfrm>
            <a:off x="6766560" y="4553712"/>
            <a:ext cx="201168" cy="201168"/>
          </a:xfrm>
          <a:prstGeom prst="ellipse">
            <a:avLst/>
          </a:prstGeom>
          <a:solidFill>
            <a:srgbClr val="8FB0A4"/>
          </a:solidFill>
          <a:ln/>
        </p:spPr>
      </p:sp>
      <p:sp>
        <p:nvSpPr>
          <p:cNvPr id="30" name="Text 27"/>
          <p:cNvSpPr/>
          <p:nvPr/>
        </p:nvSpPr>
        <p:spPr>
          <a:xfrm>
            <a:off x="7086600" y="4498848"/>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Nilai kohort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800 baris contoh dinilai di peramban, hasil diekspor CSV</a:t>
            </a:r>
            <a:endParaRPr lang="en-US" sz="1050" dirty="0"/>
          </a:p>
        </p:txBody>
      </p:sp>
      <p:sp>
        <p:nvSpPr>
          <p:cNvPr id="31" name="Shape 28"/>
          <p:cNvSpPr/>
          <p:nvPr/>
        </p:nvSpPr>
        <p:spPr>
          <a:xfrm>
            <a:off x="6766560" y="5120640"/>
            <a:ext cx="201168" cy="201168"/>
          </a:xfrm>
          <a:prstGeom prst="ellipse">
            <a:avLst/>
          </a:prstGeom>
          <a:solidFill>
            <a:srgbClr val="D8A25E"/>
          </a:solidFill>
          <a:ln/>
        </p:spPr>
      </p:sp>
      <p:sp>
        <p:nvSpPr>
          <p:cNvPr id="32" name="Text 29"/>
          <p:cNvSpPr/>
          <p:nvPr/>
        </p:nvSpPr>
        <p:spPr>
          <a:xfrm>
            <a:off x="7086600" y="5065776"/>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Ambang dapat digeser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seret t₃, jumlah tertangkap dihitung ulang</a:t>
            </a:r>
            <a:endParaRPr lang="en-US" sz="1050" dirty="0"/>
          </a:p>
        </p:txBody>
      </p:sp>
      <p:sp>
        <p:nvSpPr>
          <p:cNvPr id="33" name="Shape 30"/>
          <p:cNvSpPr/>
          <p:nvPr/>
        </p:nvSpPr>
        <p:spPr>
          <a:xfrm>
            <a:off x="6766560" y="5687568"/>
            <a:ext cx="201168" cy="201168"/>
          </a:xfrm>
          <a:prstGeom prst="ellipse">
            <a:avLst/>
          </a:prstGeom>
          <a:solidFill>
            <a:srgbClr val="A8442A"/>
          </a:solidFill>
          <a:ln/>
        </p:spPr>
      </p:sp>
      <p:sp>
        <p:nvSpPr>
          <p:cNvPr id="34" name="Text 31"/>
          <p:cNvSpPr/>
          <p:nvPr/>
        </p:nvSpPr>
        <p:spPr>
          <a:xfrm>
            <a:off x="7086600" y="5632704"/>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Tombol (i) di tiap istilah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rumus dan definisi untuk tanya jawab</a:t>
            </a:r>
            <a:endParaRPr lang="en-US" sz="1050" dirty="0"/>
          </a:p>
        </p:txBody>
      </p:sp>
      <p:sp>
        <p:nvSpPr>
          <p:cNvPr id="35" name="Text 32"/>
          <p:cNvSpPr/>
          <p:nvPr/>
        </p:nvSpPr>
        <p:spPr>
          <a:xfrm>
            <a:off x="6766560" y="5943600"/>
            <a:ext cx="4785055" cy="310896"/>
          </a:xfrm>
          <a:prstGeom prst="rect">
            <a:avLst/>
          </a:prstGeom>
          <a:noFill/>
          <a:ln/>
        </p:spPr>
        <p:txBody>
          <a:bodyPr wrap="square" lIns="0" tIns="0" rIns="0" bIns="0" rtlCol="0" anchor="ctr"/>
          <a:lstStyle/>
          <a:p>
            <a:pPr algn="l" indent="0" marL="0">
              <a:buNone/>
            </a:pPr>
            <a:r>
              <a:rPr lang="en-US" sz="1000" i="1" dirty="0">
                <a:solidFill>
                  <a:srgbClr val="6E747C"/>
                </a:solidFill>
                <a:latin typeface="Calibri" pitchFamily="34" charset="0"/>
                <a:ea typeface="Calibri" pitchFamily="34" charset="-122"/>
                <a:cs typeface="Calibri" pitchFamily="34" charset="-120"/>
              </a:rPr>
              <a:t>Alat penapisan tingkat populasi, bukan diagnosis individual.</a:t>
            </a:r>
            <a:endParaRPr lang="en-US" sz="1000" dirty="0"/>
          </a:p>
        </p:txBody>
      </p:sp>
      <p:sp>
        <p:nvSpPr>
          <p:cNvPr id="37" name="Shape 33"/>
          <p:cNvSpPr/>
          <p:nvPr/>
        </p:nvSpPr>
        <p:spPr>
          <a:xfrm>
            <a:off x="640080" y="6400800"/>
            <a:ext cx="1572768" cy="45720"/>
          </a:xfrm>
          <a:prstGeom prst="rect">
            <a:avLst/>
          </a:prstGeom>
          <a:solidFill>
            <a:srgbClr val="DCD8D1"/>
          </a:solidFill>
          <a:ln/>
        </p:spPr>
      </p:sp>
      <p:sp>
        <p:nvSpPr>
          <p:cNvPr id="38" name="Text 3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9" name="Shape 35"/>
          <p:cNvSpPr/>
          <p:nvPr/>
        </p:nvSpPr>
        <p:spPr>
          <a:xfrm>
            <a:off x="2304288" y="6400800"/>
            <a:ext cx="1572768" cy="45720"/>
          </a:xfrm>
          <a:prstGeom prst="rect">
            <a:avLst/>
          </a:prstGeom>
          <a:solidFill>
            <a:srgbClr val="DCD8D1"/>
          </a:solidFill>
          <a:ln/>
        </p:spPr>
      </p:sp>
      <p:sp>
        <p:nvSpPr>
          <p:cNvPr id="40" name="Text 3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1" name="Shape 37"/>
          <p:cNvSpPr/>
          <p:nvPr/>
        </p:nvSpPr>
        <p:spPr>
          <a:xfrm>
            <a:off x="3968496" y="6400800"/>
            <a:ext cx="1572768" cy="45720"/>
          </a:xfrm>
          <a:prstGeom prst="rect">
            <a:avLst/>
          </a:prstGeom>
          <a:solidFill>
            <a:srgbClr val="DCD8D1"/>
          </a:solidFill>
          <a:ln/>
        </p:spPr>
      </p:sp>
      <p:sp>
        <p:nvSpPr>
          <p:cNvPr id="42" name="Text 3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3" name="Shape 39"/>
          <p:cNvSpPr/>
          <p:nvPr/>
        </p:nvSpPr>
        <p:spPr>
          <a:xfrm>
            <a:off x="5632704" y="6400800"/>
            <a:ext cx="1572768" cy="45720"/>
          </a:xfrm>
          <a:prstGeom prst="rect">
            <a:avLst/>
          </a:prstGeom>
          <a:solidFill>
            <a:srgbClr val="A8442A"/>
          </a:solidFill>
          <a:ln/>
        </p:spPr>
      </p:sp>
      <p:sp>
        <p:nvSpPr>
          <p:cNvPr id="44" name="Text 4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IV · Demo</a:t>
            </a:r>
            <a:endParaRPr lang="en-US" sz="850" dirty="0"/>
          </a:p>
        </p:txBody>
      </p:sp>
      <p:sp>
        <p:nvSpPr>
          <p:cNvPr id="45" name="Shape 41"/>
          <p:cNvSpPr/>
          <p:nvPr/>
        </p:nvSpPr>
        <p:spPr>
          <a:xfrm>
            <a:off x="7296912" y="6400800"/>
            <a:ext cx="1572768" cy="45720"/>
          </a:xfrm>
          <a:prstGeom prst="rect">
            <a:avLst/>
          </a:prstGeom>
          <a:solidFill>
            <a:srgbClr val="DCD8D1"/>
          </a:solidFill>
          <a:ln/>
        </p:spPr>
      </p:sp>
      <p:sp>
        <p:nvSpPr>
          <p:cNvPr id="46" name="Text 4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7" name="Shape 43"/>
          <p:cNvSpPr/>
          <p:nvPr/>
        </p:nvSpPr>
        <p:spPr>
          <a:xfrm>
            <a:off x="8961120" y="6400800"/>
            <a:ext cx="1572768" cy="45720"/>
          </a:xfrm>
          <a:prstGeom prst="rect">
            <a:avLst/>
          </a:prstGeom>
          <a:solidFill>
            <a:srgbClr val="DCD8D1"/>
          </a:solidFill>
          <a:ln/>
        </p:spPr>
      </p:sp>
      <p:sp>
        <p:nvSpPr>
          <p:cNvPr id="48" name="Text 4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9" name="Text 4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68335" y="91440"/>
            <a:ext cx="3383280" cy="237744"/>
          </a:xfrm>
          <a:prstGeom prst="roundRect">
            <a:avLst>
              <a:gd name="adj" fmla="val 50000"/>
            </a:avLst>
          </a:prstGeom>
          <a:solidFill>
            <a:srgbClr val="2F6B5F"/>
          </a:solidFill>
          <a:ln/>
        </p:spPr>
      </p:sp>
      <p:sp>
        <p:nvSpPr>
          <p:cNvPr id="3" name="Text 1"/>
          <p:cNvSpPr/>
          <p:nvPr/>
        </p:nvSpPr>
        <p:spPr>
          <a:xfrm>
            <a:off x="8168335" y="91440"/>
            <a:ext cx="3383280"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kelas langka benar-benar tertangkap</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QWK out-of-fold 0,48425. Satu sel memikul 35,8% seluruh penalti.</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Matriks konfusi dan sumbangan penalti atas 95.609 baris latih, lalu metrik per kelas.</a:t>
            </a:r>
            <a:endParaRPr lang="en-US" sz="1250" dirty="0"/>
          </a:p>
        </p:txBody>
      </p:sp>
      <p:sp>
        <p:nvSpPr>
          <p:cNvPr id="6" name="Text 4"/>
          <p:cNvSpPr/>
          <p:nvPr/>
        </p:nvSpPr>
        <p:spPr>
          <a:xfrm>
            <a:off x="1143000" y="1536192"/>
            <a:ext cx="2999232"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Konfusi · prediksi →</a:t>
            </a:r>
            <a:endParaRPr lang="en-US" sz="1050" dirty="0"/>
          </a:p>
        </p:txBody>
      </p:sp>
      <p:sp>
        <p:nvSpPr>
          <p:cNvPr id="7" name="Text 5"/>
          <p:cNvSpPr/>
          <p:nvPr/>
        </p:nvSpPr>
        <p:spPr>
          <a:xfrm>
            <a:off x="1143000"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892808"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2642616"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10" name="Text 8"/>
          <p:cNvSpPr/>
          <p:nvPr/>
        </p:nvSpPr>
        <p:spPr>
          <a:xfrm>
            <a:off x="3392424"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11" name="Text 9"/>
          <p:cNvSpPr/>
          <p:nvPr/>
        </p:nvSpPr>
        <p:spPr>
          <a:xfrm>
            <a:off x="-338328" y="3044952"/>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 </a:t>
            </a:r>
            <a:endParaRPr lang="en-US" sz="1050" dirty="0"/>
          </a:p>
        </p:txBody>
      </p:sp>
      <p:sp>
        <p:nvSpPr>
          <p:cNvPr id="12" name="Text 10"/>
          <p:cNvSpPr/>
          <p:nvPr/>
        </p:nvSpPr>
        <p:spPr>
          <a:xfrm>
            <a:off x="704088" y="2194560"/>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3" name="Shape 11"/>
          <p:cNvSpPr/>
          <p:nvPr/>
        </p:nvSpPr>
        <p:spPr>
          <a:xfrm>
            <a:off x="1143000" y="2194560"/>
            <a:ext cx="704088" cy="448056"/>
          </a:xfrm>
          <a:prstGeom prst="rect">
            <a:avLst/>
          </a:prstGeom>
          <a:solidFill>
            <a:srgbClr val="ECE7DF"/>
          </a:solidFill>
          <a:ln w="15240">
            <a:solidFill>
              <a:srgbClr val="FFFFFF"/>
            </a:solidFill>
            <a:prstDash val="solid"/>
          </a:ln>
        </p:spPr>
      </p:sp>
      <p:sp>
        <p:nvSpPr>
          <p:cNvPr id="14" name="Text 12"/>
          <p:cNvSpPr/>
          <p:nvPr/>
        </p:nvSpPr>
        <p:spPr>
          <a:xfrm>
            <a:off x="1143000" y="2194560"/>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30.414</a:t>
            </a:r>
            <a:endParaRPr lang="en-US" sz="950" dirty="0"/>
          </a:p>
        </p:txBody>
      </p:sp>
      <p:sp>
        <p:nvSpPr>
          <p:cNvPr id="15" name="Shape 13"/>
          <p:cNvSpPr/>
          <p:nvPr/>
        </p:nvSpPr>
        <p:spPr>
          <a:xfrm>
            <a:off x="1892808" y="2194560"/>
            <a:ext cx="704088" cy="448056"/>
          </a:xfrm>
          <a:prstGeom prst="rect">
            <a:avLst/>
          </a:prstGeom>
          <a:solidFill>
            <a:srgbClr val="C68573"/>
          </a:solidFill>
          <a:ln w="15240">
            <a:solidFill>
              <a:srgbClr val="FFFFFF"/>
            </a:solidFill>
            <a:prstDash val="solid"/>
          </a:ln>
        </p:spPr>
      </p:sp>
      <p:sp>
        <p:nvSpPr>
          <p:cNvPr id="16" name="Text 14"/>
          <p:cNvSpPr/>
          <p:nvPr/>
        </p:nvSpPr>
        <p:spPr>
          <a:xfrm>
            <a:off x="1892808" y="2194560"/>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11.918</a:t>
            </a:r>
            <a:endParaRPr lang="en-US" sz="950" dirty="0"/>
          </a:p>
        </p:txBody>
      </p:sp>
      <p:sp>
        <p:nvSpPr>
          <p:cNvPr id="17" name="Shape 15"/>
          <p:cNvSpPr/>
          <p:nvPr/>
        </p:nvSpPr>
        <p:spPr>
          <a:xfrm>
            <a:off x="2642616" y="2194560"/>
            <a:ext cx="704088" cy="448056"/>
          </a:xfrm>
          <a:prstGeom prst="rect">
            <a:avLst/>
          </a:prstGeom>
          <a:solidFill>
            <a:srgbClr val="F1E1DB"/>
          </a:solidFill>
          <a:ln w="15240">
            <a:solidFill>
              <a:srgbClr val="FFFFFF"/>
            </a:solidFill>
            <a:prstDash val="solid"/>
          </a:ln>
        </p:spPr>
      </p:sp>
      <p:sp>
        <p:nvSpPr>
          <p:cNvPr id="18" name="Text 16"/>
          <p:cNvSpPr/>
          <p:nvPr/>
        </p:nvSpPr>
        <p:spPr>
          <a:xfrm>
            <a:off x="2642616"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576</a:t>
            </a:r>
            <a:endParaRPr lang="en-US" sz="950" dirty="0"/>
          </a:p>
        </p:txBody>
      </p:sp>
      <p:sp>
        <p:nvSpPr>
          <p:cNvPr id="19" name="Shape 17"/>
          <p:cNvSpPr/>
          <p:nvPr/>
        </p:nvSpPr>
        <p:spPr>
          <a:xfrm>
            <a:off x="3392424" y="2194560"/>
            <a:ext cx="704088" cy="448056"/>
          </a:xfrm>
          <a:prstGeom prst="rect">
            <a:avLst/>
          </a:prstGeom>
          <a:solidFill>
            <a:srgbClr val="F2E6DF"/>
          </a:solidFill>
          <a:ln w="15240">
            <a:solidFill>
              <a:srgbClr val="FFFFFF"/>
            </a:solidFill>
            <a:prstDash val="solid"/>
          </a:ln>
        </p:spPr>
      </p:sp>
      <p:sp>
        <p:nvSpPr>
          <p:cNvPr id="20" name="Text 18"/>
          <p:cNvSpPr/>
          <p:nvPr/>
        </p:nvSpPr>
        <p:spPr>
          <a:xfrm>
            <a:off x="3392424"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60</a:t>
            </a:r>
            <a:endParaRPr lang="en-US" sz="950" dirty="0"/>
          </a:p>
        </p:txBody>
      </p:sp>
      <p:sp>
        <p:nvSpPr>
          <p:cNvPr id="21" name="Text 19"/>
          <p:cNvSpPr/>
          <p:nvPr/>
        </p:nvSpPr>
        <p:spPr>
          <a:xfrm>
            <a:off x="704088" y="2688336"/>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2" name="Shape 20"/>
          <p:cNvSpPr/>
          <p:nvPr/>
        </p:nvSpPr>
        <p:spPr>
          <a:xfrm>
            <a:off x="1143000" y="2688336"/>
            <a:ext cx="704088" cy="448056"/>
          </a:xfrm>
          <a:prstGeom prst="rect">
            <a:avLst/>
          </a:prstGeom>
          <a:solidFill>
            <a:srgbClr val="BC6E5A"/>
          </a:solidFill>
          <a:ln w="15240">
            <a:solidFill>
              <a:srgbClr val="FFFFFF"/>
            </a:solidFill>
            <a:prstDash val="solid"/>
          </a:ln>
        </p:spPr>
      </p:sp>
      <p:sp>
        <p:nvSpPr>
          <p:cNvPr id="23" name="Text 21"/>
          <p:cNvSpPr/>
          <p:nvPr/>
        </p:nvSpPr>
        <p:spPr>
          <a:xfrm>
            <a:off x="1143000" y="2688336"/>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14.757</a:t>
            </a:r>
            <a:endParaRPr lang="en-US" sz="950" dirty="0"/>
          </a:p>
        </p:txBody>
      </p:sp>
      <p:sp>
        <p:nvSpPr>
          <p:cNvPr id="24" name="Shape 22"/>
          <p:cNvSpPr/>
          <p:nvPr/>
        </p:nvSpPr>
        <p:spPr>
          <a:xfrm>
            <a:off x="1892808" y="2688336"/>
            <a:ext cx="704088" cy="448056"/>
          </a:xfrm>
          <a:prstGeom prst="rect">
            <a:avLst/>
          </a:prstGeom>
          <a:solidFill>
            <a:srgbClr val="ECE7DF"/>
          </a:solidFill>
          <a:ln w="15240">
            <a:solidFill>
              <a:srgbClr val="FFFFFF"/>
            </a:solidFill>
            <a:prstDash val="solid"/>
          </a:ln>
        </p:spPr>
      </p:sp>
      <p:sp>
        <p:nvSpPr>
          <p:cNvPr id="25" name="Text 23"/>
          <p:cNvSpPr/>
          <p:nvPr/>
        </p:nvSpPr>
        <p:spPr>
          <a:xfrm>
            <a:off x="1892808" y="2688336"/>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28.477</a:t>
            </a:r>
            <a:endParaRPr lang="en-US" sz="950" dirty="0"/>
          </a:p>
        </p:txBody>
      </p:sp>
      <p:sp>
        <p:nvSpPr>
          <p:cNvPr id="26" name="Shape 24"/>
          <p:cNvSpPr/>
          <p:nvPr/>
        </p:nvSpPr>
        <p:spPr>
          <a:xfrm>
            <a:off x="2642616" y="2688336"/>
            <a:ext cx="704088" cy="448056"/>
          </a:xfrm>
          <a:prstGeom prst="rect">
            <a:avLst/>
          </a:prstGeom>
          <a:solidFill>
            <a:srgbClr val="E2C2B8"/>
          </a:solidFill>
          <a:ln w="15240">
            <a:solidFill>
              <a:srgbClr val="FFFFFF"/>
            </a:solidFill>
            <a:prstDash val="solid"/>
          </a:ln>
        </p:spPr>
      </p:sp>
      <p:sp>
        <p:nvSpPr>
          <p:cNvPr id="27" name="Text 25"/>
          <p:cNvSpPr/>
          <p:nvPr/>
        </p:nvSpPr>
        <p:spPr>
          <a:xfrm>
            <a:off x="2642616"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4.389</a:t>
            </a:r>
            <a:endParaRPr lang="en-US" sz="950" dirty="0"/>
          </a:p>
        </p:txBody>
      </p:sp>
      <p:sp>
        <p:nvSpPr>
          <p:cNvPr id="28" name="Shape 26"/>
          <p:cNvSpPr/>
          <p:nvPr/>
        </p:nvSpPr>
        <p:spPr>
          <a:xfrm>
            <a:off x="3392424" y="2688336"/>
            <a:ext cx="704088" cy="448056"/>
          </a:xfrm>
          <a:prstGeom prst="rect">
            <a:avLst/>
          </a:prstGeom>
          <a:solidFill>
            <a:srgbClr val="F1E1DB"/>
          </a:solidFill>
          <a:ln w="15240">
            <a:solidFill>
              <a:srgbClr val="FFFFFF"/>
            </a:solidFill>
            <a:prstDash val="solid"/>
          </a:ln>
        </p:spPr>
      </p:sp>
      <p:sp>
        <p:nvSpPr>
          <p:cNvPr id="29" name="Text 27"/>
          <p:cNvSpPr/>
          <p:nvPr/>
        </p:nvSpPr>
        <p:spPr>
          <a:xfrm>
            <a:off x="3392424"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566</a:t>
            </a:r>
            <a:endParaRPr lang="en-US" sz="950" dirty="0"/>
          </a:p>
        </p:txBody>
      </p:sp>
      <p:sp>
        <p:nvSpPr>
          <p:cNvPr id="30" name="Text 28"/>
          <p:cNvSpPr/>
          <p:nvPr/>
        </p:nvSpPr>
        <p:spPr>
          <a:xfrm>
            <a:off x="704088" y="3182112"/>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31" name="Shape 29"/>
          <p:cNvSpPr/>
          <p:nvPr/>
        </p:nvSpPr>
        <p:spPr>
          <a:xfrm>
            <a:off x="1143000" y="3182112"/>
            <a:ext cx="704088" cy="448056"/>
          </a:xfrm>
          <a:prstGeom prst="rect">
            <a:avLst/>
          </a:prstGeom>
          <a:solidFill>
            <a:srgbClr val="F2E5DE"/>
          </a:solidFill>
          <a:ln w="15240">
            <a:solidFill>
              <a:srgbClr val="FFFFFF"/>
            </a:solidFill>
            <a:prstDash val="solid"/>
          </a:ln>
        </p:spPr>
      </p:sp>
      <p:sp>
        <p:nvSpPr>
          <p:cNvPr id="32" name="Text 30"/>
          <p:cNvSpPr/>
          <p:nvPr/>
        </p:nvSpPr>
        <p:spPr>
          <a:xfrm>
            <a:off x="1143000"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157</a:t>
            </a:r>
            <a:endParaRPr lang="en-US" sz="950" dirty="0"/>
          </a:p>
        </p:txBody>
      </p:sp>
      <p:sp>
        <p:nvSpPr>
          <p:cNvPr id="33" name="Shape 31"/>
          <p:cNvSpPr/>
          <p:nvPr/>
        </p:nvSpPr>
        <p:spPr>
          <a:xfrm>
            <a:off x="1892808" y="3182112"/>
            <a:ext cx="704088" cy="448056"/>
          </a:xfrm>
          <a:prstGeom prst="rect">
            <a:avLst/>
          </a:prstGeom>
          <a:solidFill>
            <a:srgbClr val="EDDBD3"/>
          </a:solidFill>
          <a:ln w="15240">
            <a:solidFill>
              <a:srgbClr val="FFFFFF"/>
            </a:solidFill>
            <a:prstDash val="solid"/>
          </a:ln>
        </p:spPr>
      </p:sp>
      <p:sp>
        <p:nvSpPr>
          <p:cNvPr id="34" name="Text 32"/>
          <p:cNvSpPr/>
          <p:nvPr/>
        </p:nvSpPr>
        <p:spPr>
          <a:xfrm>
            <a:off x="1892808"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1.412</a:t>
            </a:r>
            <a:endParaRPr lang="en-US" sz="950" dirty="0"/>
          </a:p>
        </p:txBody>
      </p:sp>
      <p:sp>
        <p:nvSpPr>
          <p:cNvPr id="35" name="Shape 33"/>
          <p:cNvSpPr/>
          <p:nvPr/>
        </p:nvSpPr>
        <p:spPr>
          <a:xfrm>
            <a:off x="2642616" y="3182112"/>
            <a:ext cx="704088" cy="448056"/>
          </a:xfrm>
          <a:prstGeom prst="rect">
            <a:avLst/>
          </a:prstGeom>
          <a:solidFill>
            <a:srgbClr val="ECE7DF"/>
          </a:solidFill>
          <a:ln w="15240">
            <a:solidFill>
              <a:srgbClr val="FFFFFF"/>
            </a:solidFill>
            <a:prstDash val="solid"/>
          </a:ln>
        </p:spPr>
      </p:sp>
      <p:sp>
        <p:nvSpPr>
          <p:cNvPr id="36" name="Text 34"/>
          <p:cNvSpPr/>
          <p:nvPr/>
        </p:nvSpPr>
        <p:spPr>
          <a:xfrm>
            <a:off x="2642616" y="3182112"/>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1.369</a:t>
            </a:r>
            <a:endParaRPr lang="en-US" sz="950" dirty="0"/>
          </a:p>
        </p:txBody>
      </p:sp>
      <p:sp>
        <p:nvSpPr>
          <p:cNvPr id="37" name="Shape 35"/>
          <p:cNvSpPr/>
          <p:nvPr/>
        </p:nvSpPr>
        <p:spPr>
          <a:xfrm>
            <a:off x="3392424" y="3182112"/>
            <a:ext cx="704088" cy="448056"/>
          </a:xfrm>
          <a:prstGeom prst="rect">
            <a:avLst/>
          </a:prstGeom>
          <a:solidFill>
            <a:srgbClr val="F0E1DA"/>
          </a:solidFill>
          <a:ln w="15240">
            <a:solidFill>
              <a:srgbClr val="FFFFFF"/>
            </a:solidFill>
            <a:prstDash val="solid"/>
          </a:ln>
        </p:spPr>
      </p:sp>
      <p:sp>
        <p:nvSpPr>
          <p:cNvPr id="38" name="Text 36"/>
          <p:cNvSpPr/>
          <p:nvPr/>
        </p:nvSpPr>
        <p:spPr>
          <a:xfrm>
            <a:off x="3392424"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621</a:t>
            </a:r>
            <a:endParaRPr lang="en-US" sz="950" dirty="0"/>
          </a:p>
        </p:txBody>
      </p:sp>
      <p:sp>
        <p:nvSpPr>
          <p:cNvPr id="39" name="Text 37"/>
          <p:cNvSpPr/>
          <p:nvPr/>
        </p:nvSpPr>
        <p:spPr>
          <a:xfrm>
            <a:off x="704088" y="3675888"/>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40" name="Shape 38"/>
          <p:cNvSpPr/>
          <p:nvPr/>
        </p:nvSpPr>
        <p:spPr>
          <a:xfrm>
            <a:off x="1143000" y="3675888"/>
            <a:ext cx="704088" cy="448056"/>
          </a:xfrm>
          <a:prstGeom prst="rect">
            <a:avLst/>
          </a:prstGeom>
          <a:solidFill>
            <a:srgbClr val="F2E5DF"/>
          </a:solidFill>
          <a:ln w="15240">
            <a:solidFill>
              <a:srgbClr val="FFFFFF"/>
            </a:solidFill>
            <a:prstDash val="solid"/>
          </a:ln>
        </p:spPr>
      </p:sp>
      <p:sp>
        <p:nvSpPr>
          <p:cNvPr id="41" name="Text 39"/>
          <p:cNvSpPr/>
          <p:nvPr/>
        </p:nvSpPr>
        <p:spPr>
          <a:xfrm>
            <a:off x="1143000"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140</a:t>
            </a:r>
            <a:endParaRPr lang="en-US" sz="950" dirty="0"/>
          </a:p>
        </p:txBody>
      </p:sp>
      <p:sp>
        <p:nvSpPr>
          <p:cNvPr id="42" name="Shape 40"/>
          <p:cNvSpPr/>
          <p:nvPr/>
        </p:nvSpPr>
        <p:spPr>
          <a:xfrm>
            <a:off x="1892808" y="3675888"/>
            <a:ext cx="704088" cy="448056"/>
          </a:xfrm>
          <a:prstGeom prst="rect">
            <a:avLst/>
          </a:prstGeom>
          <a:solidFill>
            <a:srgbClr val="F2E4DE"/>
          </a:solidFill>
          <a:ln w="15240">
            <a:solidFill>
              <a:srgbClr val="FFFFFF"/>
            </a:solidFill>
            <a:prstDash val="solid"/>
          </a:ln>
        </p:spPr>
      </p:sp>
      <p:sp>
        <p:nvSpPr>
          <p:cNvPr id="43" name="Text 41"/>
          <p:cNvSpPr/>
          <p:nvPr/>
        </p:nvSpPr>
        <p:spPr>
          <a:xfrm>
            <a:off x="1892808"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226</a:t>
            </a:r>
            <a:endParaRPr lang="en-US" sz="950" dirty="0"/>
          </a:p>
        </p:txBody>
      </p:sp>
      <p:sp>
        <p:nvSpPr>
          <p:cNvPr id="44" name="Shape 42"/>
          <p:cNvSpPr/>
          <p:nvPr/>
        </p:nvSpPr>
        <p:spPr>
          <a:xfrm>
            <a:off x="2642616" y="3675888"/>
            <a:ext cx="704088" cy="448056"/>
          </a:xfrm>
          <a:prstGeom prst="rect">
            <a:avLst/>
          </a:prstGeom>
          <a:solidFill>
            <a:srgbClr val="F2E4DD"/>
          </a:solidFill>
          <a:ln w="15240">
            <a:solidFill>
              <a:srgbClr val="FFFFFF"/>
            </a:solidFill>
            <a:prstDash val="solid"/>
          </a:ln>
        </p:spPr>
      </p:sp>
      <p:sp>
        <p:nvSpPr>
          <p:cNvPr id="45" name="Text 43"/>
          <p:cNvSpPr/>
          <p:nvPr/>
        </p:nvSpPr>
        <p:spPr>
          <a:xfrm>
            <a:off x="2642616"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262</a:t>
            </a:r>
            <a:endParaRPr lang="en-US" sz="950" dirty="0"/>
          </a:p>
        </p:txBody>
      </p:sp>
      <p:sp>
        <p:nvSpPr>
          <p:cNvPr id="46" name="Shape 44"/>
          <p:cNvSpPr/>
          <p:nvPr/>
        </p:nvSpPr>
        <p:spPr>
          <a:xfrm>
            <a:off x="3392424" y="3675888"/>
            <a:ext cx="704088" cy="448056"/>
          </a:xfrm>
          <a:prstGeom prst="rect">
            <a:avLst/>
          </a:prstGeom>
          <a:solidFill>
            <a:srgbClr val="ECE7DF"/>
          </a:solidFill>
          <a:ln w="15240">
            <a:solidFill>
              <a:srgbClr val="FFFFFF"/>
            </a:solidFill>
            <a:prstDash val="solid"/>
          </a:ln>
        </p:spPr>
      </p:sp>
      <p:sp>
        <p:nvSpPr>
          <p:cNvPr id="47" name="Text 45"/>
          <p:cNvSpPr/>
          <p:nvPr/>
        </p:nvSpPr>
        <p:spPr>
          <a:xfrm>
            <a:off x="3392424" y="3675888"/>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265</a:t>
            </a:r>
            <a:endParaRPr lang="en-US" sz="950" dirty="0"/>
          </a:p>
        </p:txBody>
      </p:sp>
      <p:sp>
        <p:nvSpPr>
          <p:cNvPr id="48" name="Text 46"/>
          <p:cNvSpPr/>
          <p:nvPr/>
        </p:nvSpPr>
        <p:spPr>
          <a:xfrm>
            <a:off x="4846320" y="1536192"/>
            <a:ext cx="2999232"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Penalti (%) · prediksi →</a:t>
            </a:r>
            <a:endParaRPr lang="en-US" sz="1050" dirty="0"/>
          </a:p>
        </p:txBody>
      </p:sp>
      <p:sp>
        <p:nvSpPr>
          <p:cNvPr id="49" name="Text 47"/>
          <p:cNvSpPr/>
          <p:nvPr/>
        </p:nvSpPr>
        <p:spPr>
          <a:xfrm>
            <a:off x="4846320"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50" name="Text 48"/>
          <p:cNvSpPr/>
          <p:nvPr/>
        </p:nvSpPr>
        <p:spPr>
          <a:xfrm>
            <a:off x="5596128"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51" name="Text 49"/>
          <p:cNvSpPr/>
          <p:nvPr/>
        </p:nvSpPr>
        <p:spPr>
          <a:xfrm>
            <a:off x="6345936"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52" name="Text 50"/>
          <p:cNvSpPr/>
          <p:nvPr/>
        </p:nvSpPr>
        <p:spPr>
          <a:xfrm>
            <a:off x="7095744"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53" name="Text 51"/>
          <p:cNvSpPr/>
          <p:nvPr/>
        </p:nvSpPr>
        <p:spPr>
          <a:xfrm>
            <a:off x="3364992" y="3044952"/>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 </a:t>
            </a:r>
            <a:endParaRPr lang="en-US" sz="1050" dirty="0"/>
          </a:p>
        </p:txBody>
      </p:sp>
      <p:sp>
        <p:nvSpPr>
          <p:cNvPr id="54" name="Text 52"/>
          <p:cNvSpPr/>
          <p:nvPr/>
        </p:nvSpPr>
        <p:spPr>
          <a:xfrm>
            <a:off x="4407408" y="2194560"/>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55" name="Shape 53"/>
          <p:cNvSpPr/>
          <p:nvPr/>
        </p:nvSpPr>
        <p:spPr>
          <a:xfrm>
            <a:off x="4846320" y="2194560"/>
            <a:ext cx="704088" cy="448056"/>
          </a:xfrm>
          <a:prstGeom prst="rect">
            <a:avLst/>
          </a:prstGeom>
          <a:solidFill>
            <a:srgbClr val="ECE7DF"/>
          </a:solidFill>
          <a:ln w="15240">
            <a:solidFill>
              <a:srgbClr val="FFFFFF"/>
            </a:solidFill>
            <a:prstDash val="solid"/>
          </a:ln>
        </p:spPr>
      </p:sp>
      <p:sp>
        <p:nvSpPr>
          <p:cNvPr id="56" name="Text 54"/>
          <p:cNvSpPr/>
          <p:nvPr/>
        </p:nvSpPr>
        <p:spPr>
          <a:xfrm>
            <a:off x="4846320" y="2194560"/>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57" name="Shape 55"/>
          <p:cNvSpPr/>
          <p:nvPr/>
        </p:nvSpPr>
        <p:spPr>
          <a:xfrm>
            <a:off x="5596128" y="2194560"/>
            <a:ext cx="704088" cy="448056"/>
          </a:xfrm>
          <a:prstGeom prst="rect">
            <a:avLst/>
          </a:prstGeom>
          <a:solidFill>
            <a:srgbClr val="B7644E"/>
          </a:solidFill>
          <a:ln w="15240">
            <a:solidFill>
              <a:srgbClr val="FFFFFF"/>
            </a:solidFill>
            <a:prstDash val="solid"/>
          </a:ln>
        </p:spPr>
      </p:sp>
      <p:sp>
        <p:nvSpPr>
          <p:cNvPr id="58" name="Text 56"/>
          <p:cNvSpPr/>
          <p:nvPr/>
        </p:nvSpPr>
        <p:spPr>
          <a:xfrm>
            <a:off x="5596128" y="2194560"/>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28,89</a:t>
            </a:r>
            <a:endParaRPr lang="en-US" sz="950" dirty="0"/>
          </a:p>
        </p:txBody>
      </p:sp>
      <p:sp>
        <p:nvSpPr>
          <p:cNvPr id="59" name="Shape 57"/>
          <p:cNvSpPr/>
          <p:nvPr/>
        </p:nvSpPr>
        <p:spPr>
          <a:xfrm>
            <a:off x="6345936" y="2194560"/>
            <a:ext cx="704088" cy="448056"/>
          </a:xfrm>
          <a:prstGeom prst="rect">
            <a:avLst/>
          </a:prstGeom>
          <a:solidFill>
            <a:srgbClr val="E7CDC4"/>
          </a:solidFill>
          <a:ln w="15240">
            <a:solidFill>
              <a:srgbClr val="FFFFFF"/>
            </a:solidFill>
            <a:prstDash val="solid"/>
          </a:ln>
        </p:spPr>
      </p:sp>
      <p:sp>
        <p:nvSpPr>
          <p:cNvPr id="60" name="Text 58"/>
          <p:cNvSpPr/>
          <p:nvPr/>
        </p:nvSpPr>
        <p:spPr>
          <a:xfrm>
            <a:off x="6345936"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5,58</a:t>
            </a:r>
            <a:endParaRPr lang="en-US" sz="950" dirty="0"/>
          </a:p>
        </p:txBody>
      </p:sp>
      <p:sp>
        <p:nvSpPr>
          <p:cNvPr id="61" name="Shape 59"/>
          <p:cNvSpPr/>
          <p:nvPr/>
        </p:nvSpPr>
        <p:spPr>
          <a:xfrm>
            <a:off x="7095744" y="2194560"/>
            <a:ext cx="704088" cy="448056"/>
          </a:xfrm>
          <a:prstGeom prst="rect">
            <a:avLst/>
          </a:prstGeom>
          <a:solidFill>
            <a:srgbClr val="F0E0D9"/>
          </a:solidFill>
          <a:ln w="15240">
            <a:solidFill>
              <a:srgbClr val="FFFFFF"/>
            </a:solidFill>
            <a:prstDash val="solid"/>
          </a:ln>
        </p:spPr>
      </p:sp>
      <p:sp>
        <p:nvSpPr>
          <p:cNvPr id="62" name="Text 60"/>
          <p:cNvSpPr/>
          <p:nvPr/>
        </p:nvSpPr>
        <p:spPr>
          <a:xfrm>
            <a:off x="7095744"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1,31</a:t>
            </a:r>
            <a:endParaRPr lang="en-US" sz="950" dirty="0"/>
          </a:p>
        </p:txBody>
      </p:sp>
      <p:sp>
        <p:nvSpPr>
          <p:cNvPr id="63" name="Text 61"/>
          <p:cNvSpPr/>
          <p:nvPr/>
        </p:nvSpPr>
        <p:spPr>
          <a:xfrm>
            <a:off x="4407408" y="2688336"/>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64" name="Shape 62"/>
          <p:cNvSpPr/>
          <p:nvPr/>
        </p:nvSpPr>
        <p:spPr>
          <a:xfrm>
            <a:off x="4846320" y="2688336"/>
            <a:ext cx="704088" cy="448056"/>
          </a:xfrm>
          <a:prstGeom prst="rect">
            <a:avLst/>
          </a:prstGeom>
          <a:solidFill>
            <a:srgbClr val="A8442A"/>
          </a:solidFill>
          <a:ln w="15240">
            <a:solidFill>
              <a:srgbClr val="FFFFFF"/>
            </a:solidFill>
            <a:prstDash val="solid"/>
          </a:ln>
        </p:spPr>
      </p:sp>
      <p:sp>
        <p:nvSpPr>
          <p:cNvPr id="65" name="Text 63"/>
          <p:cNvSpPr/>
          <p:nvPr/>
        </p:nvSpPr>
        <p:spPr>
          <a:xfrm>
            <a:off x="4846320" y="2688336"/>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35,77</a:t>
            </a:r>
            <a:endParaRPr lang="en-US" sz="950" dirty="0"/>
          </a:p>
        </p:txBody>
      </p:sp>
      <p:sp>
        <p:nvSpPr>
          <p:cNvPr id="66" name="Shape 64"/>
          <p:cNvSpPr/>
          <p:nvPr/>
        </p:nvSpPr>
        <p:spPr>
          <a:xfrm>
            <a:off x="5596128" y="2688336"/>
            <a:ext cx="704088" cy="448056"/>
          </a:xfrm>
          <a:prstGeom prst="rect">
            <a:avLst/>
          </a:prstGeom>
          <a:solidFill>
            <a:srgbClr val="ECE7DF"/>
          </a:solidFill>
          <a:ln w="15240">
            <a:solidFill>
              <a:srgbClr val="FFFFFF"/>
            </a:solidFill>
            <a:prstDash val="solid"/>
          </a:ln>
        </p:spPr>
      </p:sp>
      <p:sp>
        <p:nvSpPr>
          <p:cNvPr id="67" name="Text 65"/>
          <p:cNvSpPr/>
          <p:nvPr/>
        </p:nvSpPr>
        <p:spPr>
          <a:xfrm>
            <a:off x="5596128" y="2688336"/>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68" name="Shape 66"/>
          <p:cNvSpPr/>
          <p:nvPr/>
        </p:nvSpPr>
        <p:spPr>
          <a:xfrm>
            <a:off x="6345936" y="2688336"/>
            <a:ext cx="704088" cy="448056"/>
          </a:xfrm>
          <a:prstGeom prst="rect">
            <a:avLst/>
          </a:prstGeom>
          <a:solidFill>
            <a:srgbClr val="DDB6AA"/>
          </a:solidFill>
          <a:ln w="15240">
            <a:solidFill>
              <a:srgbClr val="FFFFFF"/>
            </a:solidFill>
            <a:prstDash val="solid"/>
          </a:ln>
        </p:spPr>
      </p:sp>
      <p:sp>
        <p:nvSpPr>
          <p:cNvPr id="69" name="Text 67"/>
          <p:cNvSpPr/>
          <p:nvPr/>
        </p:nvSpPr>
        <p:spPr>
          <a:xfrm>
            <a:off x="6345936"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10,64</a:t>
            </a:r>
            <a:endParaRPr lang="en-US" sz="950" dirty="0"/>
          </a:p>
        </p:txBody>
      </p:sp>
      <p:sp>
        <p:nvSpPr>
          <p:cNvPr id="70" name="Shape 68"/>
          <p:cNvSpPr/>
          <p:nvPr/>
        </p:nvSpPr>
        <p:spPr>
          <a:xfrm>
            <a:off x="7095744" y="2688336"/>
            <a:ext cx="704088" cy="448056"/>
          </a:xfrm>
          <a:prstGeom prst="rect">
            <a:avLst/>
          </a:prstGeom>
          <a:solidFill>
            <a:srgbClr val="E7CDC4"/>
          </a:solidFill>
          <a:ln w="15240">
            <a:solidFill>
              <a:srgbClr val="FFFFFF"/>
            </a:solidFill>
            <a:prstDash val="solid"/>
          </a:ln>
        </p:spPr>
      </p:sp>
      <p:sp>
        <p:nvSpPr>
          <p:cNvPr id="71" name="Text 69"/>
          <p:cNvSpPr/>
          <p:nvPr/>
        </p:nvSpPr>
        <p:spPr>
          <a:xfrm>
            <a:off x="7095744"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5,49</a:t>
            </a:r>
            <a:endParaRPr lang="en-US" sz="950" dirty="0"/>
          </a:p>
        </p:txBody>
      </p:sp>
      <p:sp>
        <p:nvSpPr>
          <p:cNvPr id="72" name="Text 70"/>
          <p:cNvSpPr/>
          <p:nvPr/>
        </p:nvSpPr>
        <p:spPr>
          <a:xfrm>
            <a:off x="4407408" y="3182112"/>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73" name="Shape 71"/>
          <p:cNvSpPr/>
          <p:nvPr/>
        </p:nvSpPr>
        <p:spPr>
          <a:xfrm>
            <a:off x="4846320" y="3182112"/>
            <a:ext cx="704088" cy="448056"/>
          </a:xfrm>
          <a:prstGeom prst="rect">
            <a:avLst/>
          </a:prstGeom>
          <a:solidFill>
            <a:srgbClr val="F0DFD8"/>
          </a:solidFill>
          <a:ln w="15240">
            <a:solidFill>
              <a:srgbClr val="FFFFFF"/>
            </a:solidFill>
            <a:prstDash val="solid"/>
          </a:ln>
        </p:spPr>
      </p:sp>
      <p:sp>
        <p:nvSpPr>
          <p:cNvPr id="74" name="Text 72"/>
          <p:cNvSpPr/>
          <p:nvPr/>
        </p:nvSpPr>
        <p:spPr>
          <a:xfrm>
            <a:off x="4846320"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1,52</a:t>
            </a:r>
            <a:endParaRPr lang="en-US" sz="950" dirty="0"/>
          </a:p>
        </p:txBody>
      </p:sp>
      <p:sp>
        <p:nvSpPr>
          <p:cNvPr id="75" name="Shape 73"/>
          <p:cNvSpPr/>
          <p:nvPr/>
        </p:nvSpPr>
        <p:spPr>
          <a:xfrm>
            <a:off x="5596128" y="3182112"/>
            <a:ext cx="704088" cy="448056"/>
          </a:xfrm>
          <a:prstGeom prst="rect">
            <a:avLst/>
          </a:prstGeom>
          <a:solidFill>
            <a:srgbClr val="ECD7CF"/>
          </a:solidFill>
          <a:ln w="15240">
            <a:solidFill>
              <a:srgbClr val="FFFFFF"/>
            </a:solidFill>
            <a:prstDash val="solid"/>
          </a:ln>
        </p:spPr>
      </p:sp>
      <p:sp>
        <p:nvSpPr>
          <p:cNvPr id="76" name="Text 74"/>
          <p:cNvSpPr/>
          <p:nvPr/>
        </p:nvSpPr>
        <p:spPr>
          <a:xfrm>
            <a:off x="5596128"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3,42</a:t>
            </a:r>
            <a:endParaRPr lang="en-US" sz="950" dirty="0"/>
          </a:p>
        </p:txBody>
      </p:sp>
      <p:sp>
        <p:nvSpPr>
          <p:cNvPr id="77" name="Shape 75"/>
          <p:cNvSpPr/>
          <p:nvPr/>
        </p:nvSpPr>
        <p:spPr>
          <a:xfrm>
            <a:off x="6345936" y="3182112"/>
            <a:ext cx="704088" cy="448056"/>
          </a:xfrm>
          <a:prstGeom prst="rect">
            <a:avLst/>
          </a:prstGeom>
          <a:solidFill>
            <a:srgbClr val="ECE7DF"/>
          </a:solidFill>
          <a:ln w="15240">
            <a:solidFill>
              <a:srgbClr val="FFFFFF"/>
            </a:solidFill>
            <a:prstDash val="solid"/>
          </a:ln>
        </p:spPr>
      </p:sp>
      <p:sp>
        <p:nvSpPr>
          <p:cNvPr id="78" name="Text 76"/>
          <p:cNvSpPr/>
          <p:nvPr/>
        </p:nvSpPr>
        <p:spPr>
          <a:xfrm>
            <a:off x="6345936" y="3182112"/>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79" name="Shape 77"/>
          <p:cNvSpPr/>
          <p:nvPr/>
        </p:nvSpPr>
        <p:spPr>
          <a:xfrm>
            <a:off x="7095744" y="3182112"/>
            <a:ext cx="704088" cy="448056"/>
          </a:xfrm>
          <a:prstGeom prst="rect">
            <a:avLst/>
          </a:prstGeom>
          <a:solidFill>
            <a:srgbClr val="F0DFD8"/>
          </a:solidFill>
          <a:ln w="15240">
            <a:solidFill>
              <a:srgbClr val="FFFFFF"/>
            </a:solidFill>
            <a:prstDash val="solid"/>
          </a:ln>
        </p:spPr>
      </p:sp>
      <p:sp>
        <p:nvSpPr>
          <p:cNvPr id="80" name="Text 78"/>
          <p:cNvSpPr/>
          <p:nvPr/>
        </p:nvSpPr>
        <p:spPr>
          <a:xfrm>
            <a:off x="7095744"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1,51</a:t>
            </a:r>
            <a:endParaRPr lang="en-US" sz="950" dirty="0"/>
          </a:p>
        </p:txBody>
      </p:sp>
      <p:sp>
        <p:nvSpPr>
          <p:cNvPr id="81" name="Text 79"/>
          <p:cNvSpPr/>
          <p:nvPr/>
        </p:nvSpPr>
        <p:spPr>
          <a:xfrm>
            <a:off x="4407408" y="3675888"/>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82" name="Shape 80"/>
          <p:cNvSpPr/>
          <p:nvPr/>
        </p:nvSpPr>
        <p:spPr>
          <a:xfrm>
            <a:off x="4846320" y="3675888"/>
            <a:ext cx="704088" cy="448056"/>
          </a:xfrm>
          <a:prstGeom prst="rect">
            <a:avLst/>
          </a:prstGeom>
          <a:solidFill>
            <a:srgbClr val="ECD8D0"/>
          </a:solidFill>
          <a:ln w="15240">
            <a:solidFill>
              <a:srgbClr val="FFFFFF"/>
            </a:solidFill>
            <a:prstDash val="solid"/>
          </a:ln>
        </p:spPr>
      </p:sp>
      <p:sp>
        <p:nvSpPr>
          <p:cNvPr id="83" name="Text 81"/>
          <p:cNvSpPr/>
          <p:nvPr/>
        </p:nvSpPr>
        <p:spPr>
          <a:xfrm>
            <a:off x="4846320"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3,05</a:t>
            </a:r>
            <a:endParaRPr lang="en-US" sz="950" dirty="0"/>
          </a:p>
        </p:txBody>
      </p:sp>
      <p:sp>
        <p:nvSpPr>
          <p:cNvPr id="84" name="Shape 82"/>
          <p:cNvSpPr/>
          <p:nvPr/>
        </p:nvSpPr>
        <p:spPr>
          <a:xfrm>
            <a:off x="5596128" y="3675888"/>
            <a:ext cx="704088" cy="448056"/>
          </a:xfrm>
          <a:prstGeom prst="rect">
            <a:avLst/>
          </a:prstGeom>
          <a:solidFill>
            <a:srgbClr val="EEDCD5"/>
          </a:solidFill>
          <a:ln w="15240">
            <a:solidFill>
              <a:srgbClr val="FFFFFF"/>
            </a:solidFill>
            <a:prstDash val="solid"/>
          </a:ln>
        </p:spPr>
      </p:sp>
      <p:sp>
        <p:nvSpPr>
          <p:cNvPr id="85" name="Text 83"/>
          <p:cNvSpPr/>
          <p:nvPr/>
        </p:nvSpPr>
        <p:spPr>
          <a:xfrm>
            <a:off x="5596128"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2,19</a:t>
            </a:r>
            <a:endParaRPr lang="en-US" sz="950" dirty="0"/>
          </a:p>
        </p:txBody>
      </p:sp>
      <p:sp>
        <p:nvSpPr>
          <p:cNvPr id="86" name="Shape 84"/>
          <p:cNvSpPr/>
          <p:nvPr/>
        </p:nvSpPr>
        <p:spPr>
          <a:xfrm>
            <a:off x="6345936" y="3675888"/>
            <a:ext cx="704088" cy="448056"/>
          </a:xfrm>
          <a:prstGeom prst="rect">
            <a:avLst/>
          </a:prstGeom>
          <a:solidFill>
            <a:srgbClr val="F1E3DD"/>
          </a:solidFill>
          <a:ln w="15240">
            <a:solidFill>
              <a:srgbClr val="FFFFFF"/>
            </a:solidFill>
            <a:prstDash val="solid"/>
          </a:ln>
        </p:spPr>
      </p:sp>
      <p:sp>
        <p:nvSpPr>
          <p:cNvPr id="87" name="Text 85"/>
          <p:cNvSpPr/>
          <p:nvPr/>
        </p:nvSpPr>
        <p:spPr>
          <a:xfrm>
            <a:off x="6345936"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0,64</a:t>
            </a:r>
            <a:endParaRPr lang="en-US" sz="950" dirty="0"/>
          </a:p>
        </p:txBody>
      </p:sp>
      <p:sp>
        <p:nvSpPr>
          <p:cNvPr id="88" name="Shape 86"/>
          <p:cNvSpPr/>
          <p:nvPr/>
        </p:nvSpPr>
        <p:spPr>
          <a:xfrm>
            <a:off x="7095744" y="3675888"/>
            <a:ext cx="704088" cy="448056"/>
          </a:xfrm>
          <a:prstGeom prst="rect">
            <a:avLst/>
          </a:prstGeom>
          <a:solidFill>
            <a:srgbClr val="ECE7DF"/>
          </a:solidFill>
          <a:ln w="15240">
            <a:solidFill>
              <a:srgbClr val="FFFFFF"/>
            </a:solidFill>
            <a:prstDash val="solid"/>
          </a:ln>
        </p:spPr>
      </p:sp>
      <p:sp>
        <p:nvSpPr>
          <p:cNvPr id="89" name="Text 87"/>
          <p:cNvSpPr/>
          <p:nvPr/>
        </p:nvSpPr>
        <p:spPr>
          <a:xfrm>
            <a:off x="7095744" y="3675888"/>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90" name="Text 88"/>
          <p:cNvSpPr/>
          <p:nvPr/>
        </p:nvSpPr>
        <p:spPr>
          <a:xfrm>
            <a:off x="731520" y="4224528"/>
            <a:ext cx="3291840" cy="310896"/>
          </a:xfrm>
          <a:prstGeom prst="rect">
            <a:avLst/>
          </a:prstGeom>
          <a:noFill/>
          <a:ln/>
        </p:spPr>
        <p:txBody>
          <a:bodyPr wrap="square" lIns="0" tIns="0" rIns="0" bIns="0" rtlCol="0" anchor="ctr"/>
          <a:lstStyle/>
          <a:p>
            <a:pPr algn="l" indent="0" marL="0">
              <a:buNone/>
            </a:pPr>
            <a:r>
              <a:rPr lang="en-US" sz="900" i="1" dirty="0">
                <a:solidFill>
                  <a:srgbClr val="6E747C"/>
                </a:solidFill>
                <a:latin typeface="Calibri" pitchFamily="34" charset="0"/>
                <a:ea typeface="Calibri" pitchFamily="34" charset="-122"/>
                <a:cs typeface="Calibri" pitchFamily="34" charset="-120"/>
              </a:rPr>
              <a:t>Baris: kelas aktual 1 sampai 4.</a:t>
            </a:r>
            <a:endParaRPr lang="en-US" sz="900" dirty="0"/>
          </a:p>
        </p:txBody>
      </p:sp>
      <p:sp>
        <p:nvSpPr>
          <p:cNvPr id="91" name="Shape 89"/>
          <p:cNvSpPr/>
          <p:nvPr/>
        </p:nvSpPr>
        <p:spPr>
          <a:xfrm>
            <a:off x="640080" y="4572000"/>
            <a:ext cx="7269480" cy="1645920"/>
          </a:xfrm>
          <a:prstGeom prst="roundRect">
            <a:avLst>
              <a:gd name="adj" fmla="val 3333"/>
            </a:avLst>
          </a:prstGeom>
          <a:solidFill>
            <a:srgbClr val="ECE7DF"/>
          </a:solidFill>
          <a:ln w="9525">
            <a:solidFill>
              <a:srgbClr val="DCD8D1"/>
            </a:solidFill>
            <a:prstDash val="solid"/>
          </a:ln>
        </p:spPr>
      </p:sp>
      <p:sp>
        <p:nvSpPr>
          <p:cNvPr id="92" name="Text 90"/>
          <p:cNvSpPr/>
          <p:nvPr/>
        </p:nvSpPr>
        <p:spPr>
          <a:xfrm>
            <a:off x="841248" y="4681728"/>
            <a:ext cx="1691640" cy="384048"/>
          </a:xfrm>
          <a:prstGeom prst="rect">
            <a:avLst/>
          </a:prstGeom>
          <a:noFill/>
          <a:ln/>
        </p:spPr>
        <p:txBody>
          <a:bodyPr wrap="square" lIns="0" tIns="0" rIns="0" bIns="0" rtlCol="0" anchor="b"/>
          <a:lstStyle/>
          <a:p>
            <a:pPr algn="l" indent="0" marL="0">
              <a:buNone/>
            </a:pPr>
            <a:r>
              <a:rPr lang="en-US" sz="2000" b="1" dirty="0">
                <a:solidFill>
                  <a:srgbClr val="16191D"/>
                </a:solidFill>
                <a:latin typeface="Cambria" pitchFamily="34" charset="0"/>
                <a:ea typeface="Cambria" pitchFamily="34" charset="-122"/>
                <a:cs typeface="Cambria" pitchFamily="34" charset="-120"/>
              </a:rPr>
              <a:t>0,48425</a:t>
            </a:r>
            <a:endParaRPr lang="en-US" sz="2000" dirty="0"/>
          </a:p>
        </p:txBody>
      </p:sp>
      <p:sp>
        <p:nvSpPr>
          <p:cNvPr id="93" name="Text 91"/>
          <p:cNvSpPr/>
          <p:nvPr/>
        </p:nvSpPr>
        <p:spPr>
          <a:xfrm>
            <a:off x="84124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QWK OOF</a:t>
            </a:r>
            <a:endParaRPr lang="en-US" sz="950" dirty="0"/>
          </a:p>
        </p:txBody>
      </p:sp>
      <p:sp>
        <p:nvSpPr>
          <p:cNvPr id="94" name="Text 92"/>
          <p:cNvSpPr/>
          <p:nvPr/>
        </p:nvSpPr>
        <p:spPr>
          <a:xfrm>
            <a:off x="2624328" y="4681728"/>
            <a:ext cx="1691640" cy="384048"/>
          </a:xfrm>
          <a:prstGeom prst="rect">
            <a:avLst/>
          </a:prstGeom>
          <a:noFill/>
          <a:ln/>
        </p:spPr>
        <p:txBody>
          <a:bodyPr wrap="square" lIns="0" tIns="0" rIns="0" bIns="0" rtlCol="0" anchor="b"/>
          <a:lstStyle/>
          <a:p>
            <a:pPr algn="l" indent="0" marL="0">
              <a:buNone/>
            </a:pPr>
            <a:r>
              <a:rPr lang="en-US" sz="2000" b="1" dirty="0">
                <a:solidFill>
                  <a:srgbClr val="16191D"/>
                </a:solidFill>
                <a:latin typeface="Cambria" pitchFamily="34" charset="0"/>
                <a:ea typeface="Cambria" pitchFamily="34" charset="-122"/>
                <a:cs typeface="Cambria" pitchFamily="34" charset="-120"/>
              </a:rPr>
              <a:t>0,63305</a:t>
            </a:r>
            <a:endParaRPr lang="en-US" sz="2000" dirty="0"/>
          </a:p>
        </p:txBody>
      </p:sp>
      <p:sp>
        <p:nvSpPr>
          <p:cNvPr id="95" name="Text 93"/>
          <p:cNvSpPr/>
          <p:nvPr/>
        </p:nvSpPr>
        <p:spPr>
          <a:xfrm>
            <a:off x="262432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akurasi OOF</a:t>
            </a:r>
            <a:endParaRPr lang="en-US" sz="950" dirty="0"/>
          </a:p>
        </p:txBody>
      </p:sp>
      <p:sp>
        <p:nvSpPr>
          <p:cNvPr id="96" name="Text 94"/>
          <p:cNvSpPr/>
          <p:nvPr/>
        </p:nvSpPr>
        <p:spPr>
          <a:xfrm>
            <a:off x="4407408" y="4681728"/>
            <a:ext cx="1691640" cy="384048"/>
          </a:xfrm>
          <a:prstGeom prst="rect">
            <a:avLst/>
          </a:prstGeom>
          <a:noFill/>
          <a:ln/>
        </p:spPr>
        <p:txBody>
          <a:bodyPr wrap="square" lIns="0" tIns="0" rIns="0" bIns="0" rtlCol="0" anchor="b"/>
          <a:lstStyle/>
          <a:p>
            <a:pPr algn="l" indent="0" marL="0">
              <a:buNone/>
            </a:pPr>
            <a:r>
              <a:rPr lang="en-US" sz="2000" b="1" dirty="0">
                <a:solidFill>
                  <a:srgbClr val="A8442A"/>
                </a:solidFill>
                <a:latin typeface="Cambria" pitchFamily="34" charset="0"/>
                <a:ea typeface="Cambria" pitchFamily="34" charset="-122"/>
                <a:cs typeface="Cambria" pitchFamily="34" charset="-120"/>
              </a:rPr>
              <a:t>64,7%</a:t>
            </a:r>
            <a:endParaRPr lang="en-US" sz="2000" dirty="0"/>
          </a:p>
        </p:txBody>
      </p:sp>
      <p:sp>
        <p:nvSpPr>
          <p:cNvPr id="97" name="Text 95"/>
          <p:cNvSpPr/>
          <p:nvPr/>
        </p:nvSpPr>
        <p:spPr>
          <a:xfrm>
            <a:off x="440740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penalti dari kebingungan kelas 1 dan 2</a:t>
            </a:r>
            <a:endParaRPr lang="en-US" sz="950" dirty="0"/>
          </a:p>
        </p:txBody>
      </p:sp>
      <p:sp>
        <p:nvSpPr>
          <p:cNvPr id="98" name="Text 96"/>
          <p:cNvSpPr/>
          <p:nvPr/>
        </p:nvSpPr>
        <p:spPr>
          <a:xfrm>
            <a:off x="6190488" y="4681728"/>
            <a:ext cx="1691640" cy="384048"/>
          </a:xfrm>
          <a:prstGeom prst="rect">
            <a:avLst/>
          </a:prstGeom>
          <a:noFill/>
          <a:ln/>
        </p:spPr>
        <p:txBody>
          <a:bodyPr wrap="square" lIns="0" tIns="0" rIns="0" bIns="0" rtlCol="0" anchor="b"/>
          <a:lstStyle/>
          <a:p>
            <a:pPr algn="l" indent="0" marL="0">
              <a:buNone/>
            </a:pPr>
            <a:r>
              <a:rPr lang="en-US" sz="2000" b="1" dirty="0">
                <a:solidFill>
                  <a:srgbClr val="2F6B5F"/>
                </a:solidFill>
                <a:latin typeface="Cambria" pitchFamily="34" charset="0"/>
                <a:ea typeface="Cambria" pitchFamily="34" charset="-122"/>
                <a:cs typeface="Cambria" pitchFamily="34" charset="-120"/>
              </a:rPr>
              <a:t>4,36%</a:t>
            </a:r>
            <a:endParaRPr lang="en-US" sz="2000" dirty="0"/>
          </a:p>
        </p:txBody>
      </p:sp>
      <p:sp>
        <p:nvSpPr>
          <p:cNvPr id="99" name="Text 97"/>
          <p:cNvSpPr/>
          <p:nvPr/>
        </p:nvSpPr>
        <p:spPr>
          <a:xfrm>
            <a:off x="619048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penalti dari galat berjarak tiga</a:t>
            </a:r>
            <a:endParaRPr lang="en-US" sz="950" dirty="0"/>
          </a:p>
        </p:txBody>
      </p:sp>
      <p:sp>
        <p:nvSpPr>
          <p:cNvPr id="100" name="Text 98"/>
          <p:cNvSpPr/>
          <p:nvPr/>
        </p:nvSpPr>
        <p:spPr>
          <a:xfrm>
            <a:off x="841248" y="5623560"/>
            <a:ext cx="6858000" cy="54864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"Sangat puas" dan "Puas" berdekatan secara substantif, sebagian subjektif pada tingkat responden. Galat terjauh, yang penaltinya 9 kali, sudah ditekan di bawah 5%.</a:t>
            </a:r>
            <a:endParaRPr lang="en-US" sz="1000" dirty="0"/>
          </a:p>
        </p:txBody>
      </p:sp>
      <p:sp>
        <p:nvSpPr>
          <p:cNvPr id="101" name="Shape 99"/>
          <p:cNvSpPr/>
          <p:nvPr/>
        </p:nvSpPr>
        <p:spPr>
          <a:xfrm>
            <a:off x="8183880" y="1371600"/>
            <a:ext cx="3367735" cy="4846320"/>
          </a:xfrm>
          <a:prstGeom prst="roundRect">
            <a:avLst>
              <a:gd name="adj" fmla="val 1629"/>
            </a:avLst>
          </a:prstGeom>
          <a:solidFill>
            <a:srgbClr val="FFFFFF"/>
          </a:solidFill>
          <a:ln w="9525">
            <a:solidFill>
              <a:srgbClr val="DCD8D1"/>
            </a:solidFill>
            <a:prstDash val="solid"/>
          </a:ln>
        </p:spPr>
      </p:sp>
      <p:sp>
        <p:nvSpPr>
          <p:cNvPr id="102" name="Text 100"/>
          <p:cNvSpPr/>
          <p:nvPr/>
        </p:nvSpPr>
        <p:spPr>
          <a:xfrm>
            <a:off x="8385048" y="1499616"/>
            <a:ext cx="296539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 · METRIK PER KELAS</a:t>
            </a:r>
            <a:endParaRPr lang="en-US" sz="850" dirty="0"/>
          </a:p>
        </p:txBody>
      </p:sp>
      <p:sp>
        <p:nvSpPr>
          <p:cNvPr id="103" name="Text 101"/>
          <p:cNvSpPr/>
          <p:nvPr/>
        </p:nvSpPr>
        <p:spPr>
          <a:xfrm>
            <a:off x="8385048" y="1700784"/>
            <a:ext cx="296539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Kelas langka tertangkap</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385048" y="2212848"/>
          <a:ext cx="2965399" cy="914400"/>
        </p:xfrm>
        <a:graphic>
          <a:graphicData uri="http://schemas.openxmlformats.org/drawingml/2006/table">
            <a:tbl>
              <a:tblPr/>
              <a:tblGrid>
                <a:gridCol w="548640"/>
                <a:gridCol w="859536"/>
                <a:gridCol w="859536"/>
                <a:gridCol w="694944"/>
              </a:tblGrid>
              <a:tr h="292608">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Kelas</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presisi</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F1</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9260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0,6689</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0,7078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0,6878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0,6775</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0,5909</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0,6313</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0,2076</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0,3847</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0,2696</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0,1753</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0,2968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0,2204</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05" name="Text 102"/>
          <p:cNvSpPr/>
          <p:nvPr/>
        </p:nvSpPr>
        <p:spPr>
          <a:xfrm>
            <a:off x="8385048" y="3858768"/>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Prediksi kelas 3 / aktual</a:t>
            </a:r>
            <a:endParaRPr lang="en-US" sz="950" dirty="0"/>
          </a:p>
        </p:txBody>
      </p:sp>
      <p:sp>
        <p:nvSpPr>
          <p:cNvPr id="106" name="Text 103"/>
          <p:cNvSpPr/>
          <p:nvPr/>
        </p:nvSpPr>
        <p:spPr>
          <a:xfrm>
            <a:off x="10016018" y="3858768"/>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6.596 / 3.559</a:t>
            </a:r>
            <a:endParaRPr lang="en-US" sz="950" dirty="0"/>
          </a:p>
        </p:txBody>
      </p:sp>
      <p:sp>
        <p:nvSpPr>
          <p:cNvPr id="107" name="Shape 104"/>
          <p:cNvSpPr/>
          <p:nvPr/>
        </p:nvSpPr>
        <p:spPr>
          <a:xfrm>
            <a:off x="8385048" y="4151376"/>
            <a:ext cx="2965399" cy="0"/>
          </a:xfrm>
          <a:prstGeom prst="line">
            <a:avLst/>
          </a:prstGeom>
          <a:noFill/>
          <a:ln w="7620">
            <a:solidFill>
              <a:srgbClr val="DCD8D1"/>
            </a:solidFill>
            <a:prstDash val="solid"/>
          </a:ln>
        </p:spPr>
      </p:sp>
      <p:sp>
        <p:nvSpPr>
          <p:cNvPr id="108" name="Text 105"/>
          <p:cNvSpPr/>
          <p:nvPr/>
        </p:nvSpPr>
        <p:spPr>
          <a:xfrm>
            <a:off x="8385048" y="4151376"/>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Prediksi kelas 4 / aktual</a:t>
            </a:r>
            <a:endParaRPr lang="en-US" sz="950" dirty="0"/>
          </a:p>
        </p:txBody>
      </p:sp>
      <p:sp>
        <p:nvSpPr>
          <p:cNvPr id="109" name="Text 106"/>
          <p:cNvSpPr/>
          <p:nvPr/>
        </p:nvSpPr>
        <p:spPr>
          <a:xfrm>
            <a:off x="10016018" y="4151376"/>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1.512 / 893</a:t>
            </a:r>
            <a:endParaRPr lang="en-US" sz="950" dirty="0"/>
          </a:p>
        </p:txBody>
      </p:sp>
      <p:sp>
        <p:nvSpPr>
          <p:cNvPr id="110" name="Shape 107"/>
          <p:cNvSpPr/>
          <p:nvPr/>
        </p:nvSpPr>
        <p:spPr>
          <a:xfrm>
            <a:off x="8385048" y="4443984"/>
            <a:ext cx="2965399" cy="0"/>
          </a:xfrm>
          <a:prstGeom prst="line">
            <a:avLst/>
          </a:prstGeom>
          <a:noFill/>
          <a:ln w="7620">
            <a:solidFill>
              <a:srgbClr val="DCD8D1"/>
            </a:solidFill>
            <a:prstDash val="solid"/>
          </a:ln>
        </p:spPr>
      </p:sp>
      <p:sp>
        <p:nvSpPr>
          <p:cNvPr id="111" name="Text 108"/>
          <p:cNvSpPr/>
          <p:nvPr/>
        </p:nvSpPr>
        <p:spPr>
          <a:xfrm>
            <a:off x="8385048" y="4443984"/>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Kelas 4 tertangkap benar</a:t>
            </a:r>
            <a:endParaRPr lang="en-US" sz="950" dirty="0"/>
          </a:p>
        </p:txBody>
      </p:sp>
      <p:sp>
        <p:nvSpPr>
          <p:cNvPr id="112" name="Text 109"/>
          <p:cNvSpPr/>
          <p:nvPr/>
        </p:nvSpPr>
        <p:spPr>
          <a:xfrm>
            <a:off x="10016018" y="4443984"/>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265 dari 893</a:t>
            </a:r>
            <a:endParaRPr lang="en-US" sz="950" dirty="0"/>
          </a:p>
        </p:txBody>
      </p:sp>
      <p:sp>
        <p:nvSpPr>
          <p:cNvPr id="113" name="Text 110"/>
          <p:cNvSpPr/>
          <p:nvPr/>
        </p:nvSpPr>
        <p:spPr>
          <a:xfrm>
            <a:off x="8385048" y="4864608"/>
            <a:ext cx="2965399" cy="173736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Menebak berlebih ke bawah skala disengaja: salah tebak 3 untuk orang kelas 2 berbiaya 1, gagal menangkap kelas 4 berbiaya 9. Kalibrasi diperiksa lewat diagram reliabilitas dan sudah dekat diagonal, jadi Platt maupun isotonik tidak dipakai.</a:t>
            </a:r>
            <a:endParaRPr lang="en-US" sz="950" dirty="0"/>
          </a:p>
        </p:txBody>
      </p:sp>
      <p:sp>
        <p:nvSpPr>
          <p:cNvPr id="115" name="Shape 111"/>
          <p:cNvSpPr/>
          <p:nvPr/>
        </p:nvSpPr>
        <p:spPr>
          <a:xfrm>
            <a:off x="640080" y="6400800"/>
            <a:ext cx="1572768" cy="45720"/>
          </a:xfrm>
          <a:prstGeom prst="rect">
            <a:avLst/>
          </a:prstGeom>
          <a:solidFill>
            <a:srgbClr val="DCD8D1"/>
          </a:solidFill>
          <a:ln/>
        </p:spPr>
      </p:sp>
      <p:sp>
        <p:nvSpPr>
          <p:cNvPr id="116" name="Text 112"/>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117" name="Shape 113"/>
          <p:cNvSpPr/>
          <p:nvPr/>
        </p:nvSpPr>
        <p:spPr>
          <a:xfrm>
            <a:off x="2304288" y="6400800"/>
            <a:ext cx="1572768" cy="45720"/>
          </a:xfrm>
          <a:prstGeom prst="rect">
            <a:avLst/>
          </a:prstGeom>
          <a:solidFill>
            <a:srgbClr val="DCD8D1"/>
          </a:solidFill>
          <a:ln/>
        </p:spPr>
      </p:sp>
      <p:sp>
        <p:nvSpPr>
          <p:cNvPr id="118" name="Text 114"/>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19" name="Shape 115"/>
          <p:cNvSpPr/>
          <p:nvPr/>
        </p:nvSpPr>
        <p:spPr>
          <a:xfrm>
            <a:off x="3968496" y="6400800"/>
            <a:ext cx="1572768" cy="45720"/>
          </a:xfrm>
          <a:prstGeom prst="rect">
            <a:avLst/>
          </a:prstGeom>
          <a:solidFill>
            <a:srgbClr val="DCD8D1"/>
          </a:solidFill>
          <a:ln/>
        </p:spPr>
      </p:sp>
      <p:sp>
        <p:nvSpPr>
          <p:cNvPr id="120" name="Text 116"/>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21" name="Shape 117"/>
          <p:cNvSpPr/>
          <p:nvPr/>
        </p:nvSpPr>
        <p:spPr>
          <a:xfrm>
            <a:off x="5632704" y="6400800"/>
            <a:ext cx="1572768" cy="45720"/>
          </a:xfrm>
          <a:prstGeom prst="rect">
            <a:avLst/>
          </a:prstGeom>
          <a:solidFill>
            <a:srgbClr val="DCD8D1"/>
          </a:solidFill>
          <a:ln/>
        </p:spPr>
      </p:sp>
      <p:sp>
        <p:nvSpPr>
          <p:cNvPr id="122" name="Text 118"/>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23" name="Shape 119"/>
          <p:cNvSpPr/>
          <p:nvPr/>
        </p:nvSpPr>
        <p:spPr>
          <a:xfrm>
            <a:off x="7296912" y="6400800"/>
            <a:ext cx="1572768" cy="45720"/>
          </a:xfrm>
          <a:prstGeom prst="rect">
            <a:avLst/>
          </a:prstGeom>
          <a:solidFill>
            <a:srgbClr val="A8442A"/>
          </a:solidFill>
          <a:ln/>
        </p:spPr>
      </p:sp>
      <p:sp>
        <p:nvSpPr>
          <p:cNvPr id="124" name="Text 120"/>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125" name="Shape 121"/>
          <p:cNvSpPr/>
          <p:nvPr/>
        </p:nvSpPr>
        <p:spPr>
          <a:xfrm>
            <a:off x="8961120" y="6400800"/>
            <a:ext cx="1572768" cy="45720"/>
          </a:xfrm>
          <a:prstGeom prst="rect">
            <a:avLst/>
          </a:prstGeom>
          <a:solidFill>
            <a:srgbClr val="DCD8D1"/>
          </a:solidFill>
          <a:ln/>
        </p:spPr>
      </p:sp>
      <p:sp>
        <p:nvSpPr>
          <p:cNvPr id="126" name="Text 122"/>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127" name="Text 12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Tak ada subkelompok tertinggal; 0,484 berarti kesepakatan sedang.</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Galat per subkelompok, fitur paling berpengaruh, dan dua penggaris untuk membaca skor.</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10.5 · GALAT PER SUBKELOMPOK</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QWK stabil antar kelompok</a:t>
            </a:r>
            <a:endParaRPr lang="en-US" sz="1300" dirty="0"/>
          </a:p>
        </p:txBody>
      </p:sp>
      <p:sp>
        <p:nvSpPr>
          <p:cNvPr id="7" name="Text 5"/>
          <p:cNvSpPr/>
          <p:nvPr/>
        </p:nvSpPr>
        <p:spPr>
          <a:xfrm>
            <a:off x="731520" y="2212848"/>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Laki-laki</a:t>
            </a:r>
            <a:endParaRPr lang="en-US" sz="950" dirty="0"/>
          </a:p>
        </p:txBody>
      </p:sp>
      <p:sp>
        <p:nvSpPr>
          <p:cNvPr id="8" name="Shape 6"/>
          <p:cNvSpPr/>
          <p:nvPr/>
        </p:nvSpPr>
        <p:spPr>
          <a:xfrm>
            <a:off x="1801368" y="2276856"/>
            <a:ext cx="1573682" cy="146304"/>
          </a:xfrm>
          <a:prstGeom prst="rect">
            <a:avLst/>
          </a:prstGeom>
          <a:solidFill>
            <a:srgbClr val="F4F1EC"/>
          </a:solidFill>
          <a:ln/>
        </p:spPr>
      </p:sp>
      <p:sp>
        <p:nvSpPr>
          <p:cNvPr id="9" name="Shape 7"/>
          <p:cNvSpPr/>
          <p:nvPr/>
        </p:nvSpPr>
        <p:spPr>
          <a:xfrm>
            <a:off x="1801368" y="2276856"/>
            <a:ext cx="1464433" cy="146304"/>
          </a:xfrm>
          <a:prstGeom prst="rect">
            <a:avLst/>
          </a:prstGeom>
          <a:solidFill>
            <a:srgbClr val="2F6B5F"/>
          </a:solidFill>
          <a:ln/>
        </p:spPr>
      </p:sp>
      <p:sp>
        <p:nvSpPr>
          <p:cNvPr id="10" name="Text 8"/>
          <p:cNvSpPr/>
          <p:nvPr/>
        </p:nvSpPr>
        <p:spPr>
          <a:xfrm>
            <a:off x="3466490" y="2212848"/>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0,4839</a:t>
            </a:r>
            <a:endParaRPr lang="en-US" sz="950" dirty="0"/>
          </a:p>
        </p:txBody>
      </p:sp>
      <p:sp>
        <p:nvSpPr>
          <p:cNvPr id="11" name="Text 9"/>
          <p:cNvSpPr/>
          <p:nvPr/>
        </p:nvSpPr>
        <p:spPr>
          <a:xfrm>
            <a:off x="731520" y="2542032"/>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Perempuan</a:t>
            </a:r>
            <a:endParaRPr lang="en-US" sz="950" dirty="0"/>
          </a:p>
        </p:txBody>
      </p:sp>
      <p:sp>
        <p:nvSpPr>
          <p:cNvPr id="12" name="Shape 10"/>
          <p:cNvSpPr/>
          <p:nvPr/>
        </p:nvSpPr>
        <p:spPr>
          <a:xfrm>
            <a:off x="1801368" y="2606040"/>
            <a:ext cx="1573682" cy="146304"/>
          </a:xfrm>
          <a:prstGeom prst="rect">
            <a:avLst/>
          </a:prstGeom>
          <a:solidFill>
            <a:srgbClr val="F4F1EC"/>
          </a:solidFill>
          <a:ln/>
        </p:spPr>
      </p:sp>
      <p:sp>
        <p:nvSpPr>
          <p:cNvPr id="13" name="Shape 11"/>
          <p:cNvSpPr/>
          <p:nvPr/>
        </p:nvSpPr>
        <p:spPr>
          <a:xfrm>
            <a:off x="1801368" y="2606040"/>
            <a:ext cx="1463525" cy="146304"/>
          </a:xfrm>
          <a:prstGeom prst="rect">
            <a:avLst/>
          </a:prstGeom>
          <a:solidFill>
            <a:srgbClr val="2F6B5F"/>
          </a:solidFill>
          <a:ln/>
        </p:spPr>
      </p:sp>
      <p:sp>
        <p:nvSpPr>
          <p:cNvPr id="14" name="Text 12"/>
          <p:cNvSpPr/>
          <p:nvPr/>
        </p:nvSpPr>
        <p:spPr>
          <a:xfrm>
            <a:off x="3466490" y="2542032"/>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0,4836</a:t>
            </a:r>
            <a:endParaRPr lang="en-US" sz="950" dirty="0"/>
          </a:p>
        </p:txBody>
      </p:sp>
      <p:sp>
        <p:nvSpPr>
          <p:cNvPr id="15" name="Text 13"/>
          <p:cNvSpPr/>
          <p:nvPr/>
        </p:nvSpPr>
        <p:spPr>
          <a:xfrm>
            <a:off x="731520" y="2871216"/>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18–29</a:t>
            </a:r>
            <a:endParaRPr lang="en-US" sz="950" dirty="0"/>
          </a:p>
        </p:txBody>
      </p:sp>
      <p:sp>
        <p:nvSpPr>
          <p:cNvPr id="16" name="Shape 14"/>
          <p:cNvSpPr/>
          <p:nvPr/>
        </p:nvSpPr>
        <p:spPr>
          <a:xfrm>
            <a:off x="1801368" y="2935224"/>
            <a:ext cx="1573682" cy="146304"/>
          </a:xfrm>
          <a:prstGeom prst="rect">
            <a:avLst/>
          </a:prstGeom>
          <a:solidFill>
            <a:srgbClr val="F4F1EC"/>
          </a:solidFill>
          <a:ln/>
        </p:spPr>
      </p:sp>
      <p:sp>
        <p:nvSpPr>
          <p:cNvPr id="17" name="Shape 15"/>
          <p:cNvSpPr/>
          <p:nvPr/>
        </p:nvSpPr>
        <p:spPr>
          <a:xfrm>
            <a:off x="1801368" y="2935224"/>
            <a:ext cx="1362446" cy="146304"/>
          </a:xfrm>
          <a:prstGeom prst="rect">
            <a:avLst/>
          </a:prstGeom>
          <a:solidFill>
            <a:srgbClr val="D8A25E"/>
          </a:solidFill>
          <a:ln/>
        </p:spPr>
      </p:sp>
      <p:sp>
        <p:nvSpPr>
          <p:cNvPr id="18" name="Text 16"/>
          <p:cNvSpPr/>
          <p:nvPr/>
        </p:nvSpPr>
        <p:spPr>
          <a:xfrm>
            <a:off x="3466490" y="2871216"/>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0,4502</a:t>
            </a:r>
            <a:endParaRPr lang="en-US" sz="950" dirty="0"/>
          </a:p>
        </p:txBody>
      </p:sp>
      <p:sp>
        <p:nvSpPr>
          <p:cNvPr id="19" name="Text 17"/>
          <p:cNvSpPr/>
          <p:nvPr/>
        </p:nvSpPr>
        <p:spPr>
          <a:xfrm>
            <a:off x="731520" y="3200400"/>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30–44</a:t>
            </a:r>
            <a:endParaRPr lang="en-US" sz="950" dirty="0"/>
          </a:p>
        </p:txBody>
      </p:sp>
      <p:sp>
        <p:nvSpPr>
          <p:cNvPr id="20" name="Shape 18"/>
          <p:cNvSpPr/>
          <p:nvPr/>
        </p:nvSpPr>
        <p:spPr>
          <a:xfrm>
            <a:off x="1801368" y="3264408"/>
            <a:ext cx="1573682" cy="146304"/>
          </a:xfrm>
          <a:prstGeom prst="rect">
            <a:avLst/>
          </a:prstGeom>
          <a:solidFill>
            <a:srgbClr val="F4F1EC"/>
          </a:solidFill>
          <a:ln/>
        </p:spPr>
      </p:sp>
      <p:sp>
        <p:nvSpPr>
          <p:cNvPr id="21" name="Shape 19"/>
          <p:cNvSpPr/>
          <p:nvPr/>
        </p:nvSpPr>
        <p:spPr>
          <a:xfrm>
            <a:off x="1801368" y="3264408"/>
            <a:ext cx="1437498" cy="146304"/>
          </a:xfrm>
          <a:prstGeom prst="rect">
            <a:avLst/>
          </a:prstGeom>
          <a:solidFill>
            <a:srgbClr val="8FB0A4"/>
          </a:solidFill>
          <a:ln/>
        </p:spPr>
      </p:sp>
      <p:sp>
        <p:nvSpPr>
          <p:cNvPr id="22" name="Text 20"/>
          <p:cNvSpPr/>
          <p:nvPr/>
        </p:nvSpPr>
        <p:spPr>
          <a:xfrm>
            <a:off x="3466490" y="3200400"/>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0,4750</a:t>
            </a:r>
            <a:endParaRPr lang="en-US" sz="950" dirty="0"/>
          </a:p>
        </p:txBody>
      </p:sp>
      <p:sp>
        <p:nvSpPr>
          <p:cNvPr id="23" name="Text 21"/>
          <p:cNvSpPr/>
          <p:nvPr/>
        </p:nvSpPr>
        <p:spPr>
          <a:xfrm>
            <a:off x="731520" y="3529584"/>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45–59</a:t>
            </a:r>
            <a:endParaRPr lang="en-US" sz="950" dirty="0"/>
          </a:p>
        </p:txBody>
      </p:sp>
      <p:sp>
        <p:nvSpPr>
          <p:cNvPr id="24" name="Shape 22"/>
          <p:cNvSpPr/>
          <p:nvPr/>
        </p:nvSpPr>
        <p:spPr>
          <a:xfrm>
            <a:off x="1801368" y="3593592"/>
            <a:ext cx="1573682" cy="146304"/>
          </a:xfrm>
          <a:prstGeom prst="rect">
            <a:avLst/>
          </a:prstGeom>
          <a:solidFill>
            <a:srgbClr val="F4F1EC"/>
          </a:solidFill>
          <a:ln/>
        </p:spPr>
      </p:sp>
      <p:sp>
        <p:nvSpPr>
          <p:cNvPr id="25" name="Shape 23"/>
          <p:cNvSpPr/>
          <p:nvPr/>
        </p:nvSpPr>
        <p:spPr>
          <a:xfrm>
            <a:off x="1801368" y="3593592"/>
            <a:ext cx="1502867" cy="146304"/>
          </a:xfrm>
          <a:prstGeom prst="rect">
            <a:avLst/>
          </a:prstGeom>
          <a:solidFill>
            <a:srgbClr val="2F6B5F"/>
          </a:solidFill>
          <a:ln/>
        </p:spPr>
      </p:sp>
      <p:sp>
        <p:nvSpPr>
          <p:cNvPr id="26" name="Text 24"/>
          <p:cNvSpPr/>
          <p:nvPr/>
        </p:nvSpPr>
        <p:spPr>
          <a:xfrm>
            <a:off x="3466490" y="3529584"/>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0,4966</a:t>
            </a:r>
            <a:endParaRPr lang="en-US" sz="950" dirty="0"/>
          </a:p>
        </p:txBody>
      </p:sp>
      <p:sp>
        <p:nvSpPr>
          <p:cNvPr id="27" name="Text 25"/>
          <p:cNvSpPr/>
          <p:nvPr/>
        </p:nvSpPr>
        <p:spPr>
          <a:xfrm>
            <a:off x="731520" y="3858768"/>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60–74</a:t>
            </a:r>
            <a:endParaRPr lang="en-US" sz="950" dirty="0"/>
          </a:p>
        </p:txBody>
      </p:sp>
      <p:sp>
        <p:nvSpPr>
          <p:cNvPr id="28" name="Shape 26"/>
          <p:cNvSpPr/>
          <p:nvPr/>
        </p:nvSpPr>
        <p:spPr>
          <a:xfrm>
            <a:off x="1801368" y="3922776"/>
            <a:ext cx="1573682" cy="146304"/>
          </a:xfrm>
          <a:prstGeom prst="rect">
            <a:avLst/>
          </a:prstGeom>
          <a:solidFill>
            <a:srgbClr val="F4F1EC"/>
          </a:solidFill>
          <a:ln/>
        </p:spPr>
      </p:sp>
      <p:sp>
        <p:nvSpPr>
          <p:cNvPr id="29" name="Shape 27"/>
          <p:cNvSpPr/>
          <p:nvPr/>
        </p:nvSpPr>
        <p:spPr>
          <a:xfrm>
            <a:off x="1801368" y="3922776"/>
            <a:ext cx="1507709" cy="146304"/>
          </a:xfrm>
          <a:prstGeom prst="rect">
            <a:avLst/>
          </a:prstGeom>
          <a:solidFill>
            <a:srgbClr val="2F6B5F"/>
          </a:solidFill>
          <a:ln/>
        </p:spPr>
      </p:sp>
      <p:sp>
        <p:nvSpPr>
          <p:cNvPr id="30" name="Text 28"/>
          <p:cNvSpPr/>
          <p:nvPr/>
        </p:nvSpPr>
        <p:spPr>
          <a:xfrm>
            <a:off x="3466490" y="3858768"/>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0,4982</a:t>
            </a:r>
            <a:endParaRPr lang="en-US" sz="950" dirty="0"/>
          </a:p>
        </p:txBody>
      </p:sp>
      <p:sp>
        <p:nvSpPr>
          <p:cNvPr id="31" name="Text 29"/>
          <p:cNvSpPr/>
          <p:nvPr/>
        </p:nvSpPr>
        <p:spPr>
          <a:xfrm>
            <a:off x="731520" y="4187952"/>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75+</a:t>
            </a:r>
            <a:endParaRPr lang="en-US" sz="950" dirty="0"/>
          </a:p>
        </p:txBody>
      </p:sp>
      <p:sp>
        <p:nvSpPr>
          <p:cNvPr id="32" name="Shape 30"/>
          <p:cNvSpPr/>
          <p:nvPr/>
        </p:nvSpPr>
        <p:spPr>
          <a:xfrm>
            <a:off x="1801368" y="4251960"/>
            <a:ext cx="1573682" cy="146304"/>
          </a:xfrm>
          <a:prstGeom prst="rect">
            <a:avLst/>
          </a:prstGeom>
          <a:solidFill>
            <a:srgbClr val="F4F1EC"/>
          </a:solidFill>
          <a:ln/>
        </p:spPr>
      </p:sp>
      <p:sp>
        <p:nvSpPr>
          <p:cNvPr id="33" name="Shape 31"/>
          <p:cNvSpPr/>
          <p:nvPr/>
        </p:nvSpPr>
        <p:spPr>
          <a:xfrm>
            <a:off x="1801368" y="4251960"/>
            <a:ext cx="1433262" cy="146304"/>
          </a:xfrm>
          <a:prstGeom prst="rect">
            <a:avLst/>
          </a:prstGeom>
          <a:solidFill>
            <a:srgbClr val="8FB0A4"/>
          </a:solidFill>
          <a:ln/>
        </p:spPr>
      </p:sp>
      <p:sp>
        <p:nvSpPr>
          <p:cNvPr id="34" name="Text 32"/>
          <p:cNvSpPr/>
          <p:nvPr/>
        </p:nvSpPr>
        <p:spPr>
          <a:xfrm>
            <a:off x="3466490" y="4187952"/>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0,4736</a:t>
            </a:r>
            <a:endParaRPr lang="en-US" sz="950" dirty="0"/>
          </a:p>
        </p:txBody>
      </p:sp>
      <p:sp>
        <p:nvSpPr>
          <p:cNvPr id="35" name="Text 33"/>
          <p:cNvSpPr/>
          <p:nvPr/>
        </p:nvSpPr>
        <p:spPr>
          <a:xfrm>
            <a:off x="841248" y="4636008"/>
            <a:ext cx="3082442" cy="9144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Pendidikan, 10 tingkat: 0,3968 sampai 0,4909. Terendah tingkat 2, kelompok terkecil (1.438 orang). Selisih jenis kelamin hanya 0,0003.</a:t>
            </a:r>
            <a:endParaRPr lang="en-US" sz="950" dirty="0"/>
          </a:p>
        </p:txBody>
      </p:sp>
      <p:sp>
        <p:nvSpPr>
          <p:cNvPr id="36" name="Text 34"/>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variasi mengikuti ukuran sampel, bukan kegagalan sistematis pada satu segmen.</a:t>
            </a:r>
            <a:endParaRPr lang="en-US" sz="1000" dirty="0"/>
          </a:p>
        </p:txBody>
      </p:sp>
      <p:sp>
        <p:nvSpPr>
          <p:cNvPr id="37" name="Shape 35"/>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38" name="Text 36"/>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10.6 · PERMUTATION IMPORTANCE</a:t>
            </a:r>
            <a:endParaRPr lang="en-US" sz="850" dirty="0"/>
          </a:p>
        </p:txBody>
      </p:sp>
      <p:sp>
        <p:nvSpPr>
          <p:cNvPr id="39" name="Text 37"/>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Sejalan literatur, bukan artefak</a:t>
            </a:r>
            <a:endParaRPr lang="en-US" sz="1300" dirty="0"/>
          </a:p>
        </p:txBody>
      </p:sp>
      <p:sp>
        <p:nvSpPr>
          <p:cNvPr id="40" name="Text 38"/>
          <p:cNvSpPr/>
          <p:nvPr/>
        </p:nvSpPr>
        <p:spPr>
          <a:xfrm>
            <a:off x="4444898" y="2212848"/>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general_health</a:t>
            </a:r>
            <a:endParaRPr lang="en-US" sz="900" dirty="0"/>
          </a:p>
        </p:txBody>
      </p:sp>
      <p:sp>
        <p:nvSpPr>
          <p:cNvPr id="41" name="Shape 39"/>
          <p:cNvSpPr/>
          <p:nvPr/>
        </p:nvSpPr>
        <p:spPr>
          <a:xfrm>
            <a:off x="5789066" y="2276856"/>
            <a:ext cx="1299362" cy="128016"/>
          </a:xfrm>
          <a:prstGeom prst="rect">
            <a:avLst/>
          </a:prstGeom>
          <a:solidFill>
            <a:srgbClr val="F4F1EC"/>
          </a:solidFill>
          <a:ln/>
        </p:spPr>
      </p:sp>
      <p:sp>
        <p:nvSpPr>
          <p:cNvPr id="42" name="Shape 40"/>
          <p:cNvSpPr/>
          <p:nvPr/>
        </p:nvSpPr>
        <p:spPr>
          <a:xfrm>
            <a:off x="5789066" y="2276856"/>
            <a:ext cx="1265989" cy="128016"/>
          </a:xfrm>
          <a:prstGeom prst="rect">
            <a:avLst/>
          </a:prstGeom>
          <a:solidFill>
            <a:srgbClr val="2F6B5F"/>
          </a:solidFill>
          <a:ln/>
        </p:spPr>
      </p:sp>
      <p:sp>
        <p:nvSpPr>
          <p:cNvPr id="43" name="Text 41"/>
          <p:cNvSpPr/>
          <p:nvPr/>
        </p:nvSpPr>
        <p:spPr>
          <a:xfrm>
            <a:off x="7179869" y="2212848"/>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0,0926</a:t>
            </a:r>
            <a:endParaRPr lang="en-US" sz="900" dirty="0"/>
          </a:p>
        </p:txBody>
      </p:sp>
      <p:sp>
        <p:nvSpPr>
          <p:cNvPr id="44" name="Text 42"/>
          <p:cNvSpPr/>
          <p:nvPr/>
        </p:nvSpPr>
        <p:spPr>
          <a:xfrm>
            <a:off x="4444898" y="2514600"/>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depression_freq</a:t>
            </a:r>
            <a:endParaRPr lang="en-US" sz="900" dirty="0"/>
          </a:p>
        </p:txBody>
      </p:sp>
      <p:sp>
        <p:nvSpPr>
          <p:cNvPr id="45" name="Shape 43"/>
          <p:cNvSpPr/>
          <p:nvPr/>
        </p:nvSpPr>
        <p:spPr>
          <a:xfrm>
            <a:off x="5789066" y="2578608"/>
            <a:ext cx="1299362" cy="128016"/>
          </a:xfrm>
          <a:prstGeom prst="rect">
            <a:avLst/>
          </a:prstGeom>
          <a:solidFill>
            <a:srgbClr val="F4F1EC"/>
          </a:solidFill>
          <a:ln/>
        </p:spPr>
      </p:sp>
      <p:sp>
        <p:nvSpPr>
          <p:cNvPr id="46" name="Shape 44"/>
          <p:cNvSpPr/>
          <p:nvPr/>
        </p:nvSpPr>
        <p:spPr>
          <a:xfrm>
            <a:off x="5789066" y="2578608"/>
            <a:ext cx="508119" cy="128016"/>
          </a:xfrm>
          <a:prstGeom prst="rect">
            <a:avLst/>
          </a:prstGeom>
          <a:solidFill>
            <a:srgbClr val="2F6B5F"/>
          </a:solidFill>
          <a:ln/>
        </p:spPr>
      </p:sp>
      <p:sp>
        <p:nvSpPr>
          <p:cNvPr id="47" name="Text 45"/>
          <p:cNvSpPr/>
          <p:nvPr/>
        </p:nvSpPr>
        <p:spPr>
          <a:xfrm>
            <a:off x="7179869" y="2514600"/>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0,0372</a:t>
            </a:r>
            <a:endParaRPr lang="en-US" sz="900" dirty="0"/>
          </a:p>
        </p:txBody>
      </p:sp>
      <p:sp>
        <p:nvSpPr>
          <p:cNvPr id="48" name="Text 46"/>
          <p:cNvSpPr/>
          <p:nvPr/>
        </p:nvSpPr>
        <p:spPr>
          <a:xfrm>
            <a:off x="4444898" y="2816352"/>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age</a:t>
            </a:r>
            <a:endParaRPr lang="en-US" sz="900" dirty="0"/>
          </a:p>
        </p:txBody>
      </p:sp>
      <p:sp>
        <p:nvSpPr>
          <p:cNvPr id="49" name="Shape 47"/>
          <p:cNvSpPr/>
          <p:nvPr/>
        </p:nvSpPr>
        <p:spPr>
          <a:xfrm>
            <a:off x="5789066" y="2880360"/>
            <a:ext cx="1299362" cy="128016"/>
          </a:xfrm>
          <a:prstGeom prst="rect">
            <a:avLst/>
          </a:prstGeom>
          <a:solidFill>
            <a:srgbClr val="F4F1EC"/>
          </a:solidFill>
          <a:ln/>
        </p:spPr>
      </p:sp>
      <p:sp>
        <p:nvSpPr>
          <p:cNvPr id="50" name="Shape 48"/>
          <p:cNvSpPr/>
          <p:nvPr/>
        </p:nvSpPr>
        <p:spPr>
          <a:xfrm>
            <a:off x="5789066" y="2880360"/>
            <a:ext cx="423045" cy="128016"/>
          </a:xfrm>
          <a:prstGeom prst="rect">
            <a:avLst/>
          </a:prstGeom>
          <a:solidFill>
            <a:srgbClr val="8FB0A4"/>
          </a:solidFill>
          <a:ln/>
        </p:spPr>
      </p:sp>
      <p:sp>
        <p:nvSpPr>
          <p:cNvPr id="51" name="Text 49"/>
          <p:cNvSpPr/>
          <p:nvPr/>
        </p:nvSpPr>
        <p:spPr>
          <a:xfrm>
            <a:off x="7179869" y="2816352"/>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0,0309</a:t>
            </a:r>
            <a:endParaRPr lang="en-US" sz="900" dirty="0"/>
          </a:p>
        </p:txBody>
      </p:sp>
      <p:sp>
        <p:nvSpPr>
          <p:cNvPr id="52" name="Text 50"/>
          <p:cNvSpPr/>
          <p:nvPr/>
        </p:nvSpPr>
        <p:spPr>
          <a:xfrm>
            <a:off x="4444898" y="3118104"/>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survey_weight</a:t>
            </a:r>
            <a:endParaRPr lang="en-US" sz="900" dirty="0"/>
          </a:p>
        </p:txBody>
      </p:sp>
      <p:sp>
        <p:nvSpPr>
          <p:cNvPr id="53" name="Shape 51"/>
          <p:cNvSpPr/>
          <p:nvPr/>
        </p:nvSpPr>
        <p:spPr>
          <a:xfrm>
            <a:off x="5789066" y="3182112"/>
            <a:ext cx="1299362" cy="128016"/>
          </a:xfrm>
          <a:prstGeom prst="rect">
            <a:avLst/>
          </a:prstGeom>
          <a:solidFill>
            <a:srgbClr val="F4F1EC"/>
          </a:solidFill>
          <a:ln/>
        </p:spPr>
      </p:sp>
      <p:sp>
        <p:nvSpPr>
          <p:cNvPr id="54" name="Shape 52"/>
          <p:cNvSpPr/>
          <p:nvPr/>
        </p:nvSpPr>
        <p:spPr>
          <a:xfrm>
            <a:off x="5789066" y="3182112"/>
            <a:ext cx="412787" cy="128016"/>
          </a:xfrm>
          <a:prstGeom prst="rect">
            <a:avLst/>
          </a:prstGeom>
          <a:solidFill>
            <a:srgbClr val="D8A25E"/>
          </a:solidFill>
          <a:ln/>
        </p:spPr>
      </p:sp>
      <p:sp>
        <p:nvSpPr>
          <p:cNvPr id="55" name="Text 53"/>
          <p:cNvSpPr/>
          <p:nvPr/>
        </p:nvSpPr>
        <p:spPr>
          <a:xfrm>
            <a:off x="7179869" y="3118104"/>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0,0302</a:t>
            </a:r>
            <a:endParaRPr lang="en-US" sz="900" dirty="0"/>
          </a:p>
        </p:txBody>
      </p:sp>
      <p:sp>
        <p:nvSpPr>
          <p:cNvPr id="56" name="Text 54"/>
          <p:cNvSpPr/>
          <p:nvPr/>
        </p:nvSpPr>
        <p:spPr>
          <a:xfrm>
            <a:off x="4444898" y="3419856"/>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pseudo_stratum</a:t>
            </a:r>
            <a:endParaRPr lang="en-US" sz="900" dirty="0"/>
          </a:p>
        </p:txBody>
      </p:sp>
      <p:sp>
        <p:nvSpPr>
          <p:cNvPr id="57" name="Shape 55"/>
          <p:cNvSpPr/>
          <p:nvPr/>
        </p:nvSpPr>
        <p:spPr>
          <a:xfrm>
            <a:off x="5789066" y="3483864"/>
            <a:ext cx="1299362" cy="128016"/>
          </a:xfrm>
          <a:prstGeom prst="rect">
            <a:avLst/>
          </a:prstGeom>
          <a:solidFill>
            <a:srgbClr val="F4F1EC"/>
          </a:solidFill>
          <a:ln/>
        </p:spPr>
      </p:sp>
      <p:sp>
        <p:nvSpPr>
          <p:cNvPr id="58" name="Shape 56"/>
          <p:cNvSpPr/>
          <p:nvPr/>
        </p:nvSpPr>
        <p:spPr>
          <a:xfrm>
            <a:off x="5789066" y="3483864"/>
            <a:ext cx="385842" cy="128016"/>
          </a:xfrm>
          <a:prstGeom prst="rect">
            <a:avLst/>
          </a:prstGeom>
          <a:solidFill>
            <a:srgbClr val="D8A25E"/>
          </a:solidFill>
          <a:ln/>
        </p:spPr>
      </p:sp>
      <p:sp>
        <p:nvSpPr>
          <p:cNvPr id="59" name="Text 57"/>
          <p:cNvSpPr/>
          <p:nvPr/>
        </p:nvSpPr>
        <p:spPr>
          <a:xfrm>
            <a:off x="7179869" y="3419856"/>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0,0282</a:t>
            </a:r>
            <a:endParaRPr lang="en-US" sz="900" dirty="0"/>
          </a:p>
        </p:txBody>
      </p:sp>
      <p:sp>
        <p:nvSpPr>
          <p:cNvPr id="60" name="Text 58"/>
          <p:cNvSpPr/>
          <p:nvPr/>
        </p:nvSpPr>
        <p:spPr>
          <a:xfrm>
            <a:off x="4444898" y="3721608"/>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income_to_poverty</a:t>
            </a:r>
            <a:endParaRPr lang="en-US" sz="900" dirty="0"/>
          </a:p>
        </p:txBody>
      </p:sp>
      <p:sp>
        <p:nvSpPr>
          <p:cNvPr id="61" name="Shape 59"/>
          <p:cNvSpPr/>
          <p:nvPr/>
        </p:nvSpPr>
        <p:spPr>
          <a:xfrm>
            <a:off x="5789066" y="3785616"/>
            <a:ext cx="1299362" cy="128016"/>
          </a:xfrm>
          <a:prstGeom prst="rect">
            <a:avLst/>
          </a:prstGeom>
          <a:solidFill>
            <a:srgbClr val="F4F1EC"/>
          </a:solidFill>
          <a:ln/>
        </p:spPr>
      </p:sp>
      <p:sp>
        <p:nvSpPr>
          <p:cNvPr id="62" name="Shape 60"/>
          <p:cNvSpPr/>
          <p:nvPr/>
        </p:nvSpPr>
        <p:spPr>
          <a:xfrm>
            <a:off x="5789066" y="3785616"/>
            <a:ext cx="363685" cy="128016"/>
          </a:xfrm>
          <a:prstGeom prst="rect">
            <a:avLst/>
          </a:prstGeom>
          <a:solidFill>
            <a:srgbClr val="8FB0A4"/>
          </a:solidFill>
          <a:ln/>
        </p:spPr>
      </p:sp>
      <p:sp>
        <p:nvSpPr>
          <p:cNvPr id="63" name="Text 61"/>
          <p:cNvSpPr/>
          <p:nvPr/>
        </p:nvSpPr>
        <p:spPr>
          <a:xfrm>
            <a:off x="7179869" y="3721608"/>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0,0266</a:t>
            </a:r>
            <a:endParaRPr lang="en-US" sz="900" dirty="0"/>
          </a:p>
        </p:txBody>
      </p:sp>
      <p:sp>
        <p:nvSpPr>
          <p:cNvPr id="64" name="Text 62"/>
          <p:cNvSpPr/>
          <p:nvPr/>
        </p:nvSpPr>
        <p:spPr>
          <a:xfrm>
            <a:off x="4444898" y="4023360"/>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weight_pounds</a:t>
            </a:r>
            <a:endParaRPr lang="en-US" sz="900" dirty="0"/>
          </a:p>
        </p:txBody>
      </p:sp>
      <p:sp>
        <p:nvSpPr>
          <p:cNvPr id="65" name="Shape 63"/>
          <p:cNvSpPr/>
          <p:nvPr/>
        </p:nvSpPr>
        <p:spPr>
          <a:xfrm>
            <a:off x="5789066" y="4087368"/>
            <a:ext cx="1299362" cy="128016"/>
          </a:xfrm>
          <a:prstGeom prst="rect">
            <a:avLst/>
          </a:prstGeom>
          <a:solidFill>
            <a:srgbClr val="F4F1EC"/>
          </a:solidFill>
          <a:ln/>
        </p:spPr>
      </p:sp>
      <p:sp>
        <p:nvSpPr>
          <p:cNvPr id="66" name="Shape 64"/>
          <p:cNvSpPr/>
          <p:nvPr/>
        </p:nvSpPr>
        <p:spPr>
          <a:xfrm>
            <a:off x="5789066" y="4087368"/>
            <a:ext cx="346725" cy="128016"/>
          </a:xfrm>
          <a:prstGeom prst="rect">
            <a:avLst/>
          </a:prstGeom>
          <a:solidFill>
            <a:srgbClr val="8FB0A4"/>
          </a:solidFill>
          <a:ln/>
        </p:spPr>
      </p:sp>
      <p:sp>
        <p:nvSpPr>
          <p:cNvPr id="67" name="Text 65"/>
          <p:cNvSpPr/>
          <p:nvPr/>
        </p:nvSpPr>
        <p:spPr>
          <a:xfrm>
            <a:off x="7179869" y="4023360"/>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0,0254</a:t>
            </a:r>
            <a:endParaRPr lang="en-US" sz="900" dirty="0"/>
          </a:p>
        </p:txBody>
      </p:sp>
      <p:sp>
        <p:nvSpPr>
          <p:cNvPr id="68" name="Text 66"/>
          <p:cNvSpPr/>
          <p:nvPr/>
        </p:nvSpPr>
        <p:spPr>
          <a:xfrm>
            <a:off x="4444898" y="4325112"/>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pseudo_psu</a:t>
            </a:r>
            <a:endParaRPr lang="en-US" sz="900" dirty="0"/>
          </a:p>
        </p:txBody>
      </p:sp>
      <p:sp>
        <p:nvSpPr>
          <p:cNvPr id="69" name="Shape 67"/>
          <p:cNvSpPr/>
          <p:nvPr/>
        </p:nvSpPr>
        <p:spPr>
          <a:xfrm>
            <a:off x="5789066" y="4389120"/>
            <a:ext cx="1299362" cy="128016"/>
          </a:xfrm>
          <a:prstGeom prst="rect">
            <a:avLst/>
          </a:prstGeom>
          <a:solidFill>
            <a:srgbClr val="F4F1EC"/>
          </a:solidFill>
          <a:ln/>
        </p:spPr>
      </p:sp>
      <p:sp>
        <p:nvSpPr>
          <p:cNvPr id="70" name="Shape 68"/>
          <p:cNvSpPr/>
          <p:nvPr/>
        </p:nvSpPr>
        <p:spPr>
          <a:xfrm>
            <a:off x="5789066" y="4389120"/>
            <a:ext cx="341117" cy="128016"/>
          </a:xfrm>
          <a:prstGeom prst="rect">
            <a:avLst/>
          </a:prstGeom>
          <a:solidFill>
            <a:srgbClr val="D8A25E"/>
          </a:solidFill>
          <a:ln/>
        </p:spPr>
      </p:sp>
      <p:sp>
        <p:nvSpPr>
          <p:cNvPr id="71" name="Text 69"/>
          <p:cNvSpPr/>
          <p:nvPr/>
        </p:nvSpPr>
        <p:spPr>
          <a:xfrm>
            <a:off x="7179869" y="4325112"/>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0,0249</a:t>
            </a:r>
            <a:endParaRPr lang="en-US" sz="900" dirty="0"/>
          </a:p>
        </p:txBody>
      </p:sp>
      <p:sp>
        <p:nvSpPr>
          <p:cNvPr id="72" name="Text 70"/>
          <p:cNvSpPr/>
          <p:nvPr/>
        </p:nvSpPr>
        <p:spPr>
          <a:xfrm>
            <a:off x="4554626" y="4727448"/>
            <a:ext cx="3082442" cy="8686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Penurunan QWK saat kolom diacak, acuan subsampel 0,83695. Bobot survei dan pseudo-PSU membawa informasi geografis tak langsung, bukan kebocoran.</a:t>
            </a:r>
            <a:endParaRPr lang="en-US" sz="950" dirty="0"/>
          </a:p>
        </p:txBody>
      </p:sp>
      <p:sp>
        <p:nvSpPr>
          <p:cNvPr id="73" name="Text 71"/>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fitur dominan, persis seperti ramalan EDA.</a:t>
            </a:r>
            <a:endParaRPr lang="en-US" sz="1000" dirty="0"/>
          </a:p>
        </p:txBody>
      </p:sp>
      <p:sp>
        <p:nvSpPr>
          <p:cNvPr id="74" name="Shape 72"/>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75" name="Text 73"/>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MEMBACA 0,484</a:t>
            </a:r>
            <a:endParaRPr lang="en-US" sz="850" dirty="0"/>
          </a:p>
        </p:txBody>
      </p:sp>
      <p:sp>
        <p:nvSpPr>
          <p:cNvPr id="76" name="Text 74"/>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Landis &amp; Koch (1977)</a:t>
            </a:r>
            <a:endParaRPr lang="en-US" sz="1300" dirty="0"/>
          </a:p>
        </p:txBody>
      </p:sp>
      <p:sp>
        <p:nvSpPr>
          <p:cNvPr id="77" name="Shape 75"/>
          <p:cNvSpPr/>
          <p:nvPr/>
        </p:nvSpPr>
        <p:spPr>
          <a:xfrm>
            <a:off x="8268005" y="2212848"/>
            <a:ext cx="1828800" cy="301752"/>
          </a:xfrm>
          <a:prstGeom prst="rect">
            <a:avLst/>
          </a:prstGeom>
          <a:solidFill>
            <a:srgbClr val="FFFFFF"/>
          </a:solidFill>
          <a:ln w="6350">
            <a:solidFill>
              <a:srgbClr val="DCD8D1"/>
            </a:solidFill>
            <a:prstDash val="solid"/>
          </a:ln>
        </p:spPr>
      </p:sp>
      <p:sp>
        <p:nvSpPr>
          <p:cNvPr id="78" name="Text 76"/>
          <p:cNvSpPr/>
          <p:nvPr/>
        </p:nvSpPr>
        <p:spPr>
          <a:xfrm>
            <a:off x="8341157" y="2212848"/>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hampir sempurna  0,81–1,00</a:t>
            </a:r>
            <a:endParaRPr lang="en-US" sz="950" dirty="0"/>
          </a:p>
        </p:txBody>
      </p:sp>
      <p:sp>
        <p:nvSpPr>
          <p:cNvPr id="79" name="Shape 77"/>
          <p:cNvSpPr/>
          <p:nvPr/>
        </p:nvSpPr>
        <p:spPr>
          <a:xfrm>
            <a:off x="8268005" y="2560320"/>
            <a:ext cx="1828800" cy="301752"/>
          </a:xfrm>
          <a:prstGeom prst="rect">
            <a:avLst/>
          </a:prstGeom>
          <a:solidFill>
            <a:srgbClr val="FFFFFF"/>
          </a:solidFill>
          <a:ln w="6350">
            <a:solidFill>
              <a:srgbClr val="DCD8D1"/>
            </a:solidFill>
            <a:prstDash val="solid"/>
          </a:ln>
        </p:spPr>
      </p:sp>
      <p:sp>
        <p:nvSpPr>
          <p:cNvPr id="80" name="Text 78"/>
          <p:cNvSpPr/>
          <p:nvPr/>
        </p:nvSpPr>
        <p:spPr>
          <a:xfrm>
            <a:off x="8341157" y="2560320"/>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substansial  0,61–0,80</a:t>
            </a:r>
            <a:endParaRPr lang="en-US" sz="950" dirty="0"/>
          </a:p>
        </p:txBody>
      </p:sp>
      <p:sp>
        <p:nvSpPr>
          <p:cNvPr id="81" name="Shape 79"/>
          <p:cNvSpPr/>
          <p:nvPr/>
        </p:nvSpPr>
        <p:spPr>
          <a:xfrm>
            <a:off x="8268005" y="2907792"/>
            <a:ext cx="1828800" cy="301752"/>
          </a:xfrm>
          <a:prstGeom prst="rect">
            <a:avLst/>
          </a:prstGeom>
          <a:solidFill>
            <a:srgbClr val="2F6B5F"/>
          </a:solidFill>
          <a:ln w="6350">
            <a:solidFill>
              <a:srgbClr val="DCD8D1"/>
            </a:solidFill>
            <a:prstDash val="solid"/>
          </a:ln>
        </p:spPr>
      </p:sp>
      <p:sp>
        <p:nvSpPr>
          <p:cNvPr id="82" name="Text 80"/>
          <p:cNvSpPr/>
          <p:nvPr/>
        </p:nvSpPr>
        <p:spPr>
          <a:xfrm>
            <a:off x="8341157" y="2907792"/>
            <a:ext cx="1737360" cy="30175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sedang  0,41–0,60</a:t>
            </a:r>
            <a:endParaRPr lang="en-US" sz="950" dirty="0"/>
          </a:p>
        </p:txBody>
      </p:sp>
      <p:sp>
        <p:nvSpPr>
          <p:cNvPr id="83" name="Shape 81"/>
          <p:cNvSpPr/>
          <p:nvPr/>
        </p:nvSpPr>
        <p:spPr>
          <a:xfrm>
            <a:off x="8268005" y="3255264"/>
            <a:ext cx="1828800" cy="301752"/>
          </a:xfrm>
          <a:prstGeom prst="rect">
            <a:avLst/>
          </a:prstGeom>
          <a:solidFill>
            <a:srgbClr val="FFFFFF"/>
          </a:solidFill>
          <a:ln w="6350">
            <a:solidFill>
              <a:srgbClr val="DCD8D1"/>
            </a:solidFill>
            <a:prstDash val="solid"/>
          </a:ln>
        </p:spPr>
      </p:sp>
      <p:sp>
        <p:nvSpPr>
          <p:cNvPr id="84" name="Text 82"/>
          <p:cNvSpPr/>
          <p:nvPr/>
        </p:nvSpPr>
        <p:spPr>
          <a:xfrm>
            <a:off x="8341157" y="3255264"/>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cukup  0,21–0,40</a:t>
            </a:r>
            <a:endParaRPr lang="en-US" sz="950" dirty="0"/>
          </a:p>
        </p:txBody>
      </p:sp>
      <p:sp>
        <p:nvSpPr>
          <p:cNvPr id="85" name="Shape 83"/>
          <p:cNvSpPr/>
          <p:nvPr/>
        </p:nvSpPr>
        <p:spPr>
          <a:xfrm>
            <a:off x="8268005" y="3602736"/>
            <a:ext cx="1828800" cy="301752"/>
          </a:xfrm>
          <a:prstGeom prst="rect">
            <a:avLst/>
          </a:prstGeom>
          <a:solidFill>
            <a:srgbClr val="FFFFFF"/>
          </a:solidFill>
          <a:ln w="6350">
            <a:solidFill>
              <a:srgbClr val="DCD8D1"/>
            </a:solidFill>
            <a:prstDash val="solid"/>
          </a:ln>
        </p:spPr>
      </p:sp>
      <p:sp>
        <p:nvSpPr>
          <p:cNvPr id="86" name="Text 84"/>
          <p:cNvSpPr/>
          <p:nvPr/>
        </p:nvSpPr>
        <p:spPr>
          <a:xfrm>
            <a:off x="8341157" y="3602736"/>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sedikit  0,00–0,20</a:t>
            </a:r>
            <a:endParaRPr lang="en-US" sz="950" dirty="0"/>
          </a:p>
        </p:txBody>
      </p:sp>
      <p:sp>
        <p:nvSpPr>
          <p:cNvPr id="87" name="Text 85"/>
          <p:cNvSpPr/>
          <p:nvPr/>
        </p:nvSpPr>
        <p:spPr>
          <a:xfrm>
            <a:off x="10169957" y="2871216"/>
            <a:ext cx="1280160" cy="457200"/>
          </a:xfrm>
          <a:prstGeom prst="rect">
            <a:avLst/>
          </a:prstGeom>
          <a:noFill/>
          <a:ln/>
        </p:spPr>
        <p:txBody>
          <a:bodyPr wrap="square" lIns="0" tIns="0" rIns="0" bIns="0" rtlCol="0" anchor="ctr"/>
          <a:lstStyle/>
          <a:p>
            <a:pPr indent="0" marL="0">
              <a:lnSpc>
                <a:spcPts val="1300"/>
              </a:lnSpc>
              <a:buNone/>
            </a:pPr>
            <a:r>
              <a:rPr lang="en-US" sz="950" b="1" dirty="0">
                <a:solidFill>
                  <a:srgbClr val="A8442A"/>
                </a:solidFill>
                <a:latin typeface="Calibri" pitchFamily="34" charset="0"/>
                <a:ea typeface="Calibri" pitchFamily="34" charset="-122"/>
                <a:cs typeface="Calibri" pitchFamily="34" charset="-120"/>
              </a:rPr>
              <a:t>← pipeline 0,484</a:t>
            </a:r>
            <a:endParaRPr lang="en-US" sz="950" dirty="0"/>
          </a:p>
          <a:p>
            <a:pPr indent="0" marL="0">
              <a:lnSpc>
                <a:spcPts val="1300"/>
              </a:lnSpc>
              <a:buNone/>
            </a:pPr>
            <a:r>
              <a:rPr lang="en-US" sz="950" b="1" dirty="0">
                <a:solidFill>
                  <a:srgbClr val="A8442A"/>
                </a:solidFill>
                <a:latin typeface="Calibri" pitchFamily="34" charset="0"/>
                <a:ea typeface="Calibri" pitchFamily="34" charset="-122"/>
                <a:cs typeface="Calibri" pitchFamily="34" charset="-120"/>
              </a:rPr>
              <a:t>    argmax 0,414</a:t>
            </a:r>
            <a:endParaRPr lang="en-US" sz="950" dirty="0"/>
          </a:p>
        </p:txBody>
      </p:sp>
      <p:sp>
        <p:nvSpPr>
          <p:cNvPr id="88" name="Text 86"/>
          <p:cNvSpPr/>
          <p:nvPr/>
        </p:nvSpPr>
        <p:spPr>
          <a:xfrm>
            <a:off x="8268005" y="4087368"/>
            <a:ext cx="3082442" cy="10972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Batas teoretis: sekitar separuh variasi kesejahteraan terkait faktor bawaan (Lykken &amp; Tellegen 1996) yang tidak diukur survei kesehatan mana pun.</a:t>
            </a:r>
            <a:endParaRPr lang="en-US" sz="950" dirty="0"/>
          </a:p>
        </p:txBody>
      </p:sp>
      <p:sp>
        <p:nvSpPr>
          <p:cNvPr id="89" name="Text 87"/>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klaim yang jujur adalah sedang, dekat batas yang diizinkan informasinya.</a:t>
            </a:r>
            <a:endParaRPr lang="en-US" sz="1000" dirty="0"/>
          </a:p>
        </p:txBody>
      </p:sp>
      <p:sp>
        <p:nvSpPr>
          <p:cNvPr id="91" name="Shape 88"/>
          <p:cNvSpPr/>
          <p:nvPr/>
        </p:nvSpPr>
        <p:spPr>
          <a:xfrm>
            <a:off x="640080" y="6400800"/>
            <a:ext cx="1572768" cy="45720"/>
          </a:xfrm>
          <a:prstGeom prst="rect">
            <a:avLst/>
          </a:prstGeom>
          <a:solidFill>
            <a:srgbClr val="DCD8D1"/>
          </a:solidFill>
          <a:ln/>
        </p:spPr>
      </p:sp>
      <p:sp>
        <p:nvSpPr>
          <p:cNvPr id="92" name="Text 8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93" name="Shape 90"/>
          <p:cNvSpPr/>
          <p:nvPr/>
        </p:nvSpPr>
        <p:spPr>
          <a:xfrm>
            <a:off x="2304288" y="6400800"/>
            <a:ext cx="1572768" cy="45720"/>
          </a:xfrm>
          <a:prstGeom prst="rect">
            <a:avLst/>
          </a:prstGeom>
          <a:solidFill>
            <a:srgbClr val="DCD8D1"/>
          </a:solidFill>
          <a:ln/>
        </p:spPr>
      </p:sp>
      <p:sp>
        <p:nvSpPr>
          <p:cNvPr id="94" name="Text 9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95" name="Shape 92"/>
          <p:cNvSpPr/>
          <p:nvPr/>
        </p:nvSpPr>
        <p:spPr>
          <a:xfrm>
            <a:off x="3968496" y="6400800"/>
            <a:ext cx="1572768" cy="45720"/>
          </a:xfrm>
          <a:prstGeom prst="rect">
            <a:avLst/>
          </a:prstGeom>
          <a:solidFill>
            <a:srgbClr val="DCD8D1"/>
          </a:solidFill>
          <a:ln/>
        </p:spPr>
      </p:sp>
      <p:sp>
        <p:nvSpPr>
          <p:cNvPr id="96" name="Text 9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97" name="Shape 94"/>
          <p:cNvSpPr/>
          <p:nvPr/>
        </p:nvSpPr>
        <p:spPr>
          <a:xfrm>
            <a:off x="5632704" y="6400800"/>
            <a:ext cx="1572768" cy="45720"/>
          </a:xfrm>
          <a:prstGeom prst="rect">
            <a:avLst/>
          </a:prstGeom>
          <a:solidFill>
            <a:srgbClr val="DCD8D1"/>
          </a:solidFill>
          <a:ln/>
        </p:spPr>
      </p:sp>
      <p:sp>
        <p:nvSpPr>
          <p:cNvPr id="98" name="Text 9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99" name="Shape 96"/>
          <p:cNvSpPr/>
          <p:nvPr/>
        </p:nvSpPr>
        <p:spPr>
          <a:xfrm>
            <a:off x="7296912" y="6400800"/>
            <a:ext cx="1572768" cy="45720"/>
          </a:xfrm>
          <a:prstGeom prst="rect">
            <a:avLst/>
          </a:prstGeom>
          <a:solidFill>
            <a:srgbClr val="A8442A"/>
          </a:solidFill>
          <a:ln/>
        </p:spPr>
      </p:sp>
      <p:sp>
        <p:nvSpPr>
          <p:cNvPr id="100" name="Text 9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101" name="Shape 98"/>
          <p:cNvSpPr/>
          <p:nvPr/>
        </p:nvSpPr>
        <p:spPr>
          <a:xfrm>
            <a:off x="8961120" y="6400800"/>
            <a:ext cx="1572768" cy="45720"/>
          </a:xfrm>
          <a:prstGeom prst="rect">
            <a:avLst/>
          </a:prstGeom>
          <a:solidFill>
            <a:srgbClr val="DCD8D1"/>
          </a:solidFill>
          <a:ln/>
        </p:spPr>
      </p:sp>
      <p:sp>
        <p:nvSpPr>
          <p:cNvPr id="102" name="Text 9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103" name="Text 10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038844" y="91440"/>
            <a:ext cx="2512771" cy="237744"/>
          </a:xfrm>
          <a:prstGeom prst="roundRect">
            <a:avLst>
              <a:gd name="adj" fmla="val 50000"/>
            </a:avLst>
          </a:prstGeom>
          <a:solidFill>
            <a:srgbClr val="2F6B5F"/>
          </a:solidFill>
          <a:ln/>
        </p:spPr>
      </p:sp>
      <p:sp>
        <p:nvSpPr>
          <p:cNvPr id="3" name="Text 1"/>
          <p:cNvSpPr/>
          <p:nvPr/>
        </p:nvSpPr>
        <p:spPr>
          <a:xfrm>
            <a:off x="9038844" y="91440"/>
            <a:ext cx="2512771"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plafon dikuantifikasi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Plafonnya milik data, dan enam peringkat teratas tak terbedakan.</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Kurva belajar pada lima ukuran data, ekstrapolasinya, dan bootstrap 400 kali atas matriks konfusi kami sendiri.</a:t>
            </a:r>
            <a:endParaRPr lang="en-US" sz="1250" dirty="0"/>
          </a:p>
        </p:txBody>
      </p:sp>
      <p:sp>
        <p:nvSpPr>
          <p:cNvPr id="6" name="Shape 4"/>
          <p:cNvSpPr/>
          <p:nvPr/>
        </p:nvSpPr>
        <p:spPr>
          <a:xfrm>
            <a:off x="640080" y="1371600"/>
            <a:ext cx="4343400" cy="4846320"/>
          </a:xfrm>
          <a:prstGeom prst="roundRect">
            <a:avLst>
              <a:gd name="adj" fmla="val 1263"/>
            </a:avLst>
          </a:prstGeom>
          <a:solidFill>
            <a:srgbClr val="F4F1EC"/>
          </a:solidFill>
          <a:ln w="9525">
            <a:solidFill>
              <a:srgbClr val="DCD8D1"/>
            </a:solidFill>
            <a:prstDash val="solid"/>
          </a:ln>
        </p:spPr>
      </p:sp>
      <p:sp>
        <p:nvSpPr>
          <p:cNvPr id="7" name="Text 5"/>
          <p:cNvSpPr/>
          <p:nvPr/>
        </p:nvSpPr>
        <p:spPr>
          <a:xfrm>
            <a:off x="841248" y="1499616"/>
            <a:ext cx="394106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11 · KURVA BELAJAR</a:t>
            </a:r>
            <a:endParaRPr lang="en-US" sz="850" dirty="0"/>
          </a:p>
        </p:txBody>
      </p:sp>
      <p:sp>
        <p:nvSpPr>
          <p:cNvPr id="8" name="Text 6"/>
          <p:cNvSpPr/>
          <p:nvPr/>
        </p:nvSpPr>
        <p:spPr>
          <a:xfrm>
            <a:off x="841248" y="1700784"/>
            <a:ext cx="394106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Dilatih ulang pada 12 sampai 100% data</a:t>
            </a:r>
            <a:endParaRPr lang="en-US" sz="1300" dirty="0"/>
          </a:p>
        </p:txBody>
      </p:sp>
      <p:graphicFrame>
        <p:nvGraphicFramePr>
          <p:cNvPr id="9" name="Chart 0" descr=""/>
          <p:cNvGraphicFramePr/>
          <p:nvPr/>
        </p:nvGraphicFramePr>
        <p:xfrm>
          <a:off x="685800" y="2212848"/>
          <a:ext cx="4206240" cy="26060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41248" y="4910328"/>
            <a:ext cx="3941064" cy="457200"/>
          </a:xfrm>
          <a:prstGeom prst="roundRect">
            <a:avLst>
              <a:gd name="adj" fmla="val 12000"/>
            </a:avLst>
          </a:prstGeom>
          <a:solidFill>
            <a:srgbClr val="16191D"/>
          </a:solidFill>
          <a:ln w="9525">
            <a:solidFill>
              <a:srgbClr val="16191D"/>
            </a:solidFill>
            <a:prstDash val="solid"/>
          </a:ln>
        </p:spPr>
      </p:sp>
      <p:sp>
        <p:nvSpPr>
          <p:cNvPr id="11" name="Text 8"/>
          <p:cNvSpPr/>
          <p:nvPr/>
        </p:nvSpPr>
        <p:spPr>
          <a:xfrm>
            <a:off x="841248" y="4910328"/>
            <a:ext cx="3941064"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QWK = 0,29209 + 0,01613 · ln(n)</a:t>
            </a:r>
            <a:endParaRPr lang="en-US" sz="1250" dirty="0"/>
          </a:p>
        </p:txBody>
      </p:sp>
      <p:sp>
        <p:nvSpPr>
          <p:cNvPr id="12" name="Text 9"/>
          <p:cNvSpPr/>
          <p:nvPr/>
        </p:nvSpPr>
        <p:spPr>
          <a:xfrm>
            <a:off x="841248" y="5458968"/>
            <a:ext cx="2443460"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R² terhadap lima titik</a:t>
            </a:r>
            <a:endParaRPr lang="en-US" sz="1000" dirty="0"/>
          </a:p>
        </p:txBody>
      </p:sp>
      <p:sp>
        <p:nvSpPr>
          <p:cNvPr id="13" name="Text 10"/>
          <p:cNvSpPr/>
          <p:nvPr/>
        </p:nvSpPr>
        <p:spPr>
          <a:xfrm>
            <a:off x="3284708" y="5458968"/>
            <a:ext cx="1497604"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0,9143</a:t>
            </a:r>
            <a:endParaRPr lang="en-US" sz="1000" dirty="0"/>
          </a:p>
        </p:txBody>
      </p:sp>
      <p:sp>
        <p:nvSpPr>
          <p:cNvPr id="14" name="Shape 11"/>
          <p:cNvSpPr/>
          <p:nvPr/>
        </p:nvSpPr>
        <p:spPr>
          <a:xfrm>
            <a:off x="841248" y="5751576"/>
            <a:ext cx="3941064" cy="0"/>
          </a:xfrm>
          <a:prstGeom prst="line">
            <a:avLst/>
          </a:prstGeom>
          <a:noFill/>
          <a:ln w="7620">
            <a:solidFill>
              <a:srgbClr val="DCD8D1"/>
            </a:solidFill>
            <a:prstDash val="solid"/>
          </a:ln>
        </p:spPr>
      </p:sp>
      <p:sp>
        <p:nvSpPr>
          <p:cNvPr id="15" name="Text 12"/>
          <p:cNvSpPr/>
          <p:nvPr/>
        </p:nvSpPr>
        <p:spPr>
          <a:xfrm>
            <a:off x="841248" y="5751576"/>
            <a:ext cx="2443460"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Kenaikan per penggandaan data</a:t>
            </a:r>
            <a:endParaRPr lang="en-US" sz="1000" dirty="0"/>
          </a:p>
        </p:txBody>
      </p:sp>
      <p:sp>
        <p:nvSpPr>
          <p:cNvPr id="16" name="Text 13"/>
          <p:cNvSpPr/>
          <p:nvPr/>
        </p:nvSpPr>
        <p:spPr>
          <a:xfrm>
            <a:off x="3284708" y="5751576"/>
            <a:ext cx="1497604"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+0,01118</a:t>
            </a:r>
            <a:endParaRPr lang="en-US" sz="1000" dirty="0"/>
          </a:p>
        </p:txBody>
      </p:sp>
      <p:sp>
        <p:nvSpPr>
          <p:cNvPr id="17" name="Shape 14"/>
          <p:cNvSpPr/>
          <p:nvPr/>
        </p:nvSpPr>
        <p:spPr>
          <a:xfrm>
            <a:off x="5212080" y="1371600"/>
            <a:ext cx="3657600" cy="4846320"/>
          </a:xfrm>
          <a:prstGeom prst="roundRect">
            <a:avLst>
              <a:gd name="adj" fmla="val 1500"/>
            </a:avLst>
          </a:prstGeom>
          <a:solidFill>
            <a:srgbClr val="FFFFFF"/>
          </a:solidFill>
          <a:ln w="9525">
            <a:solidFill>
              <a:srgbClr val="DCD8D1"/>
            </a:solidFill>
            <a:prstDash val="solid"/>
          </a:ln>
        </p:spPr>
      </p:sp>
      <p:sp>
        <p:nvSpPr>
          <p:cNvPr id="18" name="Text 15"/>
          <p:cNvSpPr/>
          <p:nvPr/>
        </p:nvSpPr>
        <p:spPr>
          <a:xfrm>
            <a:off x="5413248" y="1499616"/>
            <a:ext cx="325526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11.1 · EKSTRAPOLASI</a:t>
            </a:r>
            <a:endParaRPr lang="en-US" sz="850" dirty="0"/>
          </a:p>
        </p:txBody>
      </p:sp>
      <p:sp>
        <p:nvSpPr>
          <p:cNvPr id="19" name="Text 16"/>
          <p:cNvSpPr/>
          <p:nvPr/>
        </p:nvSpPr>
        <p:spPr>
          <a:xfrm>
            <a:off x="5413248" y="1700784"/>
            <a:ext cx="325526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Data yang dibutuhkan per target</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13248" y="2212848"/>
          <a:ext cx="3255264" cy="914400"/>
        </p:xfrm>
        <a:graphic>
          <a:graphicData uri="http://schemas.openxmlformats.org/drawingml/2006/table">
            <a:tbl>
              <a:tblPr/>
              <a:tblGrid>
                <a:gridCol w="822960"/>
                <a:gridCol w="1463040"/>
                <a:gridCol w="969264"/>
              </a:tblGrid>
              <a:tr h="310896">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Target</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Baris</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Kelipatan</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213.000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396.000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8.790.000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195.000.000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2.041×</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21" name="Text 17"/>
          <p:cNvSpPr/>
          <p:nvPr/>
        </p:nvSpPr>
        <p:spPr>
          <a:xfrm>
            <a:off x="5413248" y="3995928"/>
            <a:ext cx="3255264" cy="402336"/>
          </a:xfrm>
          <a:prstGeom prst="rect">
            <a:avLst/>
          </a:prstGeom>
          <a:noFill/>
          <a:ln/>
        </p:spPr>
        <p:txBody>
          <a:bodyPr wrap="square" lIns="0" tIns="0" rIns="0" bIns="0" rtlCol="0" anchor="b"/>
          <a:lstStyle/>
          <a:p>
            <a:pPr algn="l" indent="0" marL="0">
              <a:buNone/>
            </a:pPr>
            <a:r>
              <a:rPr lang="en-US" sz="2000" b="1" dirty="0">
                <a:solidFill>
                  <a:srgbClr val="A8442A"/>
                </a:solidFill>
                <a:latin typeface="Cambria" pitchFamily="34" charset="0"/>
                <a:ea typeface="Cambria" pitchFamily="34" charset="-122"/>
                <a:cs typeface="Cambria" pitchFamily="34" charset="-120"/>
              </a:rPr>
              <a:t>± 1.950 tahun</a:t>
            </a:r>
            <a:endParaRPr lang="en-US" sz="2000" dirty="0"/>
          </a:p>
        </p:txBody>
      </p:sp>
      <p:sp>
        <p:nvSpPr>
          <p:cNvPr id="22" name="Text 18"/>
          <p:cNvSpPr/>
          <p:nvPr/>
        </p:nvSpPr>
        <p:spPr>
          <a:xfrm>
            <a:off x="5413248" y="4434840"/>
            <a:ext cx="3255264" cy="548640"/>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survei untuk QWK 0,60, dengan populasi dewasa sekitar 10⁵ baris per tahun</a:t>
            </a:r>
            <a:endParaRPr lang="en-US" sz="950" dirty="0"/>
          </a:p>
        </p:txBody>
      </p:sp>
      <p:sp>
        <p:nvSpPr>
          <p:cNvPr id="23" name="Text 19"/>
          <p:cNvSpPr/>
          <p:nvPr/>
        </p:nvSpPr>
        <p:spPr>
          <a:xfrm>
            <a:off x="5413248" y="5047488"/>
            <a:ext cx="3255264" cy="9144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Kurvanya masih melambat, jadi angka ini terlalu optimistis. Klaim ini dapat difalsifikasi: jalankan ulang kurva yang sama, koefisiennya akan keluar sama.</a:t>
            </a:r>
            <a:endParaRPr lang="en-US" sz="950" dirty="0"/>
          </a:p>
        </p:txBody>
      </p:sp>
      <p:sp>
        <p:nvSpPr>
          <p:cNvPr id="24" name="Shape 20"/>
          <p:cNvSpPr/>
          <p:nvPr/>
        </p:nvSpPr>
        <p:spPr>
          <a:xfrm>
            <a:off x="9098280" y="1371600"/>
            <a:ext cx="2453335" cy="4846320"/>
          </a:xfrm>
          <a:prstGeom prst="roundRect">
            <a:avLst>
              <a:gd name="adj" fmla="val 2236"/>
            </a:avLst>
          </a:prstGeom>
          <a:solidFill>
            <a:srgbClr val="16191D"/>
          </a:solidFill>
          <a:ln w="9525">
            <a:solidFill>
              <a:srgbClr val="16191D"/>
            </a:solidFill>
            <a:prstDash val="solid"/>
          </a:ln>
        </p:spPr>
      </p:sp>
      <p:sp>
        <p:nvSpPr>
          <p:cNvPr id="25" name="Text 21"/>
          <p:cNvSpPr/>
          <p:nvPr/>
        </p:nvSpPr>
        <p:spPr>
          <a:xfrm>
            <a:off x="9299448" y="1499616"/>
            <a:ext cx="2050999" cy="201168"/>
          </a:xfrm>
          <a:prstGeom prst="rect">
            <a:avLst/>
          </a:prstGeom>
          <a:noFill/>
          <a:ln/>
        </p:spPr>
        <p:txBody>
          <a:bodyPr wrap="square" lIns="0" tIns="0" rIns="0" bIns="0" rtlCol="0" anchor="ctr"/>
          <a:lstStyle/>
          <a:p>
            <a:pPr indent="0" marL="0">
              <a:buNone/>
            </a:pPr>
            <a:r>
              <a:rPr lang="en-US" sz="850" b="1" spc="120" kern="0" dirty="0">
                <a:solidFill>
                  <a:srgbClr val="8FB0A4"/>
                </a:solidFill>
                <a:latin typeface="Calibri" pitchFamily="34" charset="0"/>
                <a:ea typeface="Calibri" pitchFamily="34" charset="-122"/>
                <a:cs typeface="Calibri" pitchFamily="34" charset="-120"/>
              </a:rPr>
              <a:t>DERAU PAPAN SKOR</a:t>
            </a:r>
            <a:endParaRPr lang="en-US" sz="850" dirty="0"/>
          </a:p>
        </p:txBody>
      </p:sp>
      <p:sp>
        <p:nvSpPr>
          <p:cNvPr id="26" name="Text 22"/>
          <p:cNvSpPr/>
          <p:nvPr/>
        </p:nvSpPr>
        <p:spPr>
          <a:xfrm>
            <a:off x="9299448" y="1700784"/>
            <a:ext cx="2050999" cy="475488"/>
          </a:xfrm>
          <a:prstGeom prst="rect">
            <a:avLst/>
          </a:prstGeom>
          <a:noFill/>
          <a:ln/>
        </p:spPr>
        <p:txBody>
          <a:bodyPr wrap="square" lIns="0" tIns="0" rIns="0" bIns="0" rtlCol="0" anchor="t"/>
          <a:lstStyle/>
          <a:p>
            <a:pPr indent="0" marL="0">
              <a:lnSpc>
                <a:spcPts val="1600"/>
              </a:lnSpc>
              <a:buNone/>
            </a:pPr>
            <a:r>
              <a:rPr lang="en-US" sz="1300" b="1" dirty="0">
                <a:solidFill>
                  <a:srgbClr val="FFFFFF"/>
                </a:solidFill>
                <a:latin typeface="Cambria" pitchFamily="34" charset="0"/>
                <a:ea typeface="Cambria" pitchFamily="34" charset="-122"/>
                <a:cs typeface="Cambria" pitchFamily="34" charset="-120"/>
              </a:rPr>
              <a:t>Bootstrap 400 kali</a:t>
            </a:r>
            <a:endParaRPr lang="en-US" sz="1300" dirty="0"/>
          </a:p>
        </p:txBody>
      </p:sp>
      <p:sp>
        <p:nvSpPr>
          <p:cNvPr id="27" name="Text 23"/>
          <p:cNvSpPr/>
          <p:nvPr/>
        </p:nvSpPr>
        <p:spPr>
          <a:xfrm>
            <a:off x="9299448" y="2212848"/>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0,0050</a:t>
            </a:r>
            <a:endParaRPr lang="en-US" sz="1800" dirty="0"/>
          </a:p>
        </p:txBody>
      </p:sp>
      <p:sp>
        <p:nvSpPr>
          <p:cNvPr id="28" name="Text 24"/>
          <p:cNvSpPr/>
          <p:nvPr/>
        </p:nvSpPr>
        <p:spPr>
          <a:xfrm>
            <a:off x="9299448" y="2596896"/>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sd QWK, irisan seukuran data uji (23.666)</a:t>
            </a:r>
            <a:endParaRPr lang="en-US" sz="900" dirty="0"/>
          </a:p>
        </p:txBody>
      </p:sp>
      <p:sp>
        <p:nvSpPr>
          <p:cNvPr id="29" name="Text 25"/>
          <p:cNvSpPr/>
          <p:nvPr/>
        </p:nvSpPr>
        <p:spPr>
          <a:xfrm>
            <a:off x="9299448" y="3017520"/>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0,0105</a:t>
            </a:r>
            <a:endParaRPr lang="en-US" sz="1800" dirty="0"/>
          </a:p>
        </p:txBody>
      </p:sp>
      <p:sp>
        <p:nvSpPr>
          <p:cNvPr id="30" name="Text 26"/>
          <p:cNvSpPr/>
          <p:nvPr/>
        </p:nvSpPr>
        <p:spPr>
          <a:xfrm>
            <a:off x="9299448" y="3401568"/>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sd QWK, irisan papan skor publik (7.100)</a:t>
            </a:r>
            <a:endParaRPr lang="en-US" sz="900" dirty="0"/>
          </a:p>
        </p:txBody>
      </p:sp>
      <p:sp>
        <p:nvSpPr>
          <p:cNvPr id="31" name="Text 27"/>
          <p:cNvSpPr/>
          <p:nvPr/>
        </p:nvSpPr>
        <p:spPr>
          <a:xfrm>
            <a:off x="9299448" y="3822192"/>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0,4625 – 0,5027</a:t>
            </a:r>
            <a:endParaRPr lang="en-US" sz="1800" dirty="0"/>
          </a:p>
        </p:txBody>
      </p:sp>
      <p:sp>
        <p:nvSpPr>
          <p:cNvPr id="32" name="Text 28"/>
          <p:cNvSpPr/>
          <p:nvPr/>
        </p:nvSpPr>
        <p:spPr>
          <a:xfrm>
            <a:off x="9299448" y="4206240"/>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interval 95% skor kami di irisan itu</a:t>
            </a:r>
            <a:endParaRPr lang="en-US" sz="900" dirty="0"/>
          </a:p>
        </p:txBody>
      </p:sp>
      <p:sp>
        <p:nvSpPr>
          <p:cNvPr id="33" name="Text 29"/>
          <p:cNvSpPr/>
          <p:nvPr/>
        </p:nvSpPr>
        <p:spPr>
          <a:xfrm>
            <a:off x="9299448" y="4681728"/>
            <a:ext cx="2050999" cy="457200"/>
          </a:xfrm>
          <a:prstGeom prst="rect">
            <a:avLst/>
          </a:prstGeom>
          <a:noFill/>
          <a:ln/>
        </p:spPr>
        <p:txBody>
          <a:bodyPr wrap="square" lIns="0" tIns="0" rIns="0" bIns="0" rtlCol="0" anchor="b"/>
          <a:lstStyle/>
          <a:p>
            <a:pPr algn="l" indent="0" marL="0">
              <a:buNone/>
            </a:pPr>
            <a:r>
              <a:rPr lang="en-US" sz="2600" b="1" dirty="0">
                <a:solidFill>
                  <a:srgbClr val="A8442A"/>
                </a:solidFill>
                <a:latin typeface="Cambria" pitchFamily="34" charset="0"/>
                <a:ea typeface="Cambria" pitchFamily="34" charset="-122"/>
                <a:cs typeface="Cambria" pitchFamily="34" charset="-120"/>
              </a:rPr>
              <a:t>0,7 σ</a:t>
            </a:r>
            <a:endParaRPr lang="en-US" sz="2600" dirty="0"/>
          </a:p>
        </p:txBody>
      </p:sp>
      <p:sp>
        <p:nvSpPr>
          <p:cNvPr id="34" name="Text 30"/>
          <p:cNvSpPr/>
          <p:nvPr/>
        </p:nvSpPr>
        <p:spPr>
          <a:xfrm>
            <a:off x="9299448" y="5175504"/>
            <a:ext cx="2050999"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selisih peringkat 4 sampai 9 (0,0075) dalam satuan sd</a:t>
            </a:r>
            <a:endParaRPr lang="en-US" sz="950" dirty="0"/>
          </a:p>
        </p:txBody>
      </p:sp>
      <p:sp>
        <p:nvSpPr>
          <p:cNvPr id="35" name="Text 31"/>
          <p:cNvSpPr/>
          <p:nvPr/>
        </p:nvSpPr>
        <p:spPr>
          <a:xfrm>
            <a:off x="9299448" y="5596128"/>
            <a:ext cx="2050999" cy="640080"/>
          </a:xfrm>
          <a:prstGeom prst="rect">
            <a:avLst/>
          </a:prstGeom>
          <a:noFill/>
          <a:ln/>
        </p:spPr>
        <p:txBody>
          <a:bodyPr wrap="square" lIns="0" tIns="0" rIns="0" bIns="0" rtlCol="0" anchor="t"/>
          <a:lstStyle/>
          <a:p>
            <a:pPr algn="l" indent="0" marL="0">
              <a:lnSpc>
                <a:spcPts val="1283"/>
              </a:lnSpc>
              <a:buNone/>
            </a:pPr>
            <a:r>
              <a:rPr lang="en-US" sz="950" b="1" dirty="0">
                <a:solidFill>
                  <a:srgbClr val="8FB0A4"/>
                </a:solidFill>
                <a:latin typeface="Calibri" pitchFamily="34" charset="0"/>
                <a:ea typeface="Calibri" pitchFamily="34" charset="-122"/>
                <a:cs typeface="Calibri" pitchFamily="34" charset="-120"/>
              </a:rPr>
              <a:t>Selisih di bawah sekitar 0,02 lebih ditentukan irisan data daripada metodologi.</a:t>
            </a:r>
            <a:endParaRPr lang="en-US" sz="950" dirty="0"/>
          </a:p>
        </p:txBody>
      </p:sp>
      <p:sp>
        <p:nvSpPr>
          <p:cNvPr id="37" name="Shape 32"/>
          <p:cNvSpPr/>
          <p:nvPr/>
        </p:nvSpPr>
        <p:spPr>
          <a:xfrm>
            <a:off x="640080" y="6400800"/>
            <a:ext cx="1572768" cy="45720"/>
          </a:xfrm>
          <a:prstGeom prst="rect">
            <a:avLst/>
          </a:prstGeom>
          <a:solidFill>
            <a:srgbClr val="DCD8D1"/>
          </a:solidFill>
          <a:ln/>
        </p:spPr>
      </p:sp>
      <p:sp>
        <p:nvSpPr>
          <p:cNvPr id="38" name="Text 3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9" name="Shape 34"/>
          <p:cNvSpPr/>
          <p:nvPr/>
        </p:nvSpPr>
        <p:spPr>
          <a:xfrm>
            <a:off x="2304288" y="6400800"/>
            <a:ext cx="1572768" cy="45720"/>
          </a:xfrm>
          <a:prstGeom prst="rect">
            <a:avLst/>
          </a:prstGeom>
          <a:solidFill>
            <a:srgbClr val="DCD8D1"/>
          </a:solidFill>
          <a:ln/>
        </p:spPr>
      </p:sp>
      <p:sp>
        <p:nvSpPr>
          <p:cNvPr id="40" name="Text 3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1" name="Shape 36"/>
          <p:cNvSpPr/>
          <p:nvPr/>
        </p:nvSpPr>
        <p:spPr>
          <a:xfrm>
            <a:off x="3968496" y="6400800"/>
            <a:ext cx="1572768" cy="45720"/>
          </a:xfrm>
          <a:prstGeom prst="rect">
            <a:avLst/>
          </a:prstGeom>
          <a:solidFill>
            <a:srgbClr val="DCD8D1"/>
          </a:solidFill>
          <a:ln/>
        </p:spPr>
      </p:sp>
      <p:sp>
        <p:nvSpPr>
          <p:cNvPr id="42" name="Text 3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3" name="Shape 38"/>
          <p:cNvSpPr/>
          <p:nvPr/>
        </p:nvSpPr>
        <p:spPr>
          <a:xfrm>
            <a:off x="5632704" y="6400800"/>
            <a:ext cx="1572768" cy="45720"/>
          </a:xfrm>
          <a:prstGeom prst="rect">
            <a:avLst/>
          </a:prstGeom>
          <a:solidFill>
            <a:srgbClr val="DCD8D1"/>
          </a:solidFill>
          <a:ln/>
        </p:spPr>
      </p:sp>
      <p:sp>
        <p:nvSpPr>
          <p:cNvPr id="44" name="Text 3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5" name="Shape 40"/>
          <p:cNvSpPr/>
          <p:nvPr/>
        </p:nvSpPr>
        <p:spPr>
          <a:xfrm>
            <a:off x="7296912" y="6400800"/>
            <a:ext cx="1572768" cy="45720"/>
          </a:xfrm>
          <a:prstGeom prst="rect">
            <a:avLst/>
          </a:prstGeom>
          <a:solidFill>
            <a:srgbClr val="A8442A"/>
          </a:solidFill>
          <a:ln/>
        </p:spPr>
      </p:sp>
      <p:sp>
        <p:nvSpPr>
          <p:cNvPr id="46" name="Text 4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47" name="Shape 42"/>
          <p:cNvSpPr/>
          <p:nvPr/>
        </p:nvSpPr>
        <p:spPr>
          <a:xfrm>
            <a:off x="8961120" y="6400800"/>
            <a:ext cx="1572768" cy="45720"/>
          </a:xfrm>
          <a:prstGeom prst="rect">
            <a:avLst/>
          </a:prstGeom>
          <a:solidFill>
            <a:srgbClr val="DCD8D1"/>
          </a:solidFill>
          <a:ln/>
        </p:spPr>
      </p:sp>
      <p:sp>
        <p:nvSpPr>
          <p:cNvPr id="48" name="Text 4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9" name="Text 4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27948" y="91440"/>
            <a:ext cx="2823667" cy="237744"/>
          </a:xfrm>
          <a:prstGeom prst="roundRect">
            <a:avLst>
              <a:gd name="adj" fmla="val 50000"/>
            </a:avLst>
          </a:prstGeom>
          <a:solidFill>
            <a:srgbClr val="2F6B5F"/>
          </a:solidFill>
          <a:ln/>
        </p:spPr>
      </p:sp>
      <p:sp>
        <p:nvSpPr>
          <p:cNvPr id="3" name="Text 1"/>
          <p:cNvSpPr/>
          <p:nvPr/>
        </p:nvSpPr>
        <p:spPr>
          <a:xfrm>
            <a:off x="8727948" y="91440"/>
            <a:ext cx="2823667"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rentang antar seed 0,00029</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Satu eksekusi menghasilkan model, submission, dan semua angka ini.</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Yang dikunci, yang diuji, yang dipenuhi terhadap aturan panitia, dan yang kami akui sebagai batas.</a:t>
            </a:r>
            <a:endParaRPr lang="en-US" sz="1250" dirty="0"/>
          </a:p>
        </p:txBody>
      </p:sp>
      <p:sp>
        <p:nvSpPr>
          <p:cNvPr id="6" name="Shape 4"/>
          <p:cNvSpPr/>
          <p:nvPr/>
        </p:nvSpPr>
        <p:spPr>
          <a:xfrm>
            <a:off x="640080" y="1371600"/>
            <a:ext cx="3484778" cy="4846320"/>
          </a:xfrm>
          <a:prstGeom prst="roundRect">
            <a:avLst>
              <a:gd name="adj" fmla="val 1574"/>
            </a:avLst>
          </a:prstGeom>
          <a:solidFill>
            <a:srgbClr val="FFFFFF"/>
          </a:solidFill>
          <a:ln w="9525">
            <a:solidFill>
              <a:srgbClr val="DCD8D1"/>
            </a:solidFill>
            <a:prstDash val="solid"/>
          </a:ln>
        </p:spPr>
      </p:sp>
      <p:sp>
        <p:nvSpPr>
          <p:cNvPr id="7" name="Text 5"/>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12 · REPRODUKSIBILITAS</a:t>
            </a:r>
            <a:endParaRPr lang="en-US" sz="850" dirty="0"/>
          </a:p>
        </p:txBody>
      </p:sp>
      <p:sp>
        <p:nvSpPr>
          <p:cNvPr id="8" name="Text 6"/>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Dikunci, disimpan, diuji</a:t>
            </a:r>
            <a:endParaRPr lang="en-US" sz="1300" dirty="0"/>
          </a:p>
        </p:txBody>
      </p:sp>
      <p:sp>
        <p:nvSpPr>
          <p:cNvPr id="9" name="Text 7"/>
          <p:cNvSpPr/>
          <p:nvPr/>
        </p:nvSpPr>
        <p:spPr>
          <a:xfrm>
            <a:off x="841248" y="2212848"/>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SEED / seed fold</a:t>
            </a:r>
            <a:endParaRPr lang="en-US" sz="950" dirty="0"/>
          </a:p>
        </p:txBody>
      </p:sp>
      <p:sp>
        <p:nvSpPr>
          <p:cNvPr id="10" name="Text 8"/>
          <p:cNvSpPr/>
          <p:nvPr/>
        </p:nvSpPr>
        <p:spPr>
          <a:xfrm>
            <a:off x="2382469" y="2212848"/>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42 / 0–4</a:t>
            </a:r>
            <a:endParaRPr lang="en-US" sz="950" dirty="0"/>
          </a:p>
        </p:txBody>
      </p:sp>
      <p:sp>
        <p:nvSpPr>
          <p:cNvPr id="11" name="Shape 9"/>
          <p:cNvSpPr/>
          <p:nvPr/>
        </p:nvSpPr>
        <p:spPr>
          <a:xfrm>
            <a:off x="841248" y="2478024"/>
            <a:ext cx="3082442" cy="0"/>
          </a:xfrm>
          <a:prstGeom prst="line">
            <a:avLst/>
          </a:prstGeom>
          <a:noFill/>
          <a:ln w="7620">
            <a:solidFill>
              <a:srgbClr val="DCD8D1"/>
            </a:solidFill>
            <a:prstDash val="solid"/>
          </a:ln>
        </p:spPr>
      </p:sp>
      <p:sp>
        <p:nvSpPr>
          <p:cNvPr id="12" name="Text 10"/>
          <p:cNvSpPr/>
          <p:nvPr/>
        </p:nvSpPr>
        <p:spPr>
          <a:xfrm>
            <a:off x="841248" y="2478024"/>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PYTHONHASHSEED</a:t>
            </a:r>
            <a:endParaRPr lang="en-US" sz="950" dirty="0"/>
          </a:p>
        </p:txBody>
      </p:sp>
      <p:sp>
        <p:nvSpPr>
          <p:cNvPr id="13" name="Text 11"/>
          <p:cNvSpPr/>
          <p:nvPr/>
        </p:nvSpPr>
        <p:spPr>
          <a:xfrm>
            <a:off x="2382469" y="2478024"/>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diatur</a:t>
            </a:r>
            <a:endParaRPr lang="en-US" sz="950" dirty="0"/>
          </a:p>
        </p:txBody>
      </p:sp>
      <p:sp>
        <p:nvSpPr>
          <p:cNvPr id="14" name="Shape 12"/>
          <p:cNvSpPr/>
          <p:nvPr/>
        </p:nvSpPr>
        <p:spPr>
          <a:xfrm>
            <a:off x="841248" y="2743200"/>
            <a:ext cx="3082442" cy="0"/>
          </a:xfrm>
          <a:prstGeom prst="line">
            <a:avLst/>
          </a:prstGeom>
          <a:noFill/>
          <a:ln w="7620">
            <a:solidFill>
              <a:srgbClr val="DCD8D1"/>
            </a:solidFill>
            <a:prstDash val="solid"/>
          </a:ln>
        </p:spPr>
      </p:sp>
      <p:sp>
        <p:nvSpPr>
          <p:cNvPr id="15" name="Text 13"/>
          <p:cNvSpPr/>
          <p:nvPr/>
        </p:nvSpPr>
        <p:spPr>
          <a:xfrm>
            <a:off x="841248" y="2743200"/>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Python · LightGBM</a:t>
            </a:r>
            <a:endParaRPr lang="en-US" sz="950" dirty="0"/>
          </a:p>
        </p:txBody>
      </p:sp>
      <p:sp>
        <p:nvSpPr>
          <p:cNvPr id="16" name="Text 14"/>
          <p:cNvSpPr/>
          <p:nvPr/>
        </p:nvSpPr>
        <p:spPr>
          <a:xfrm>
            <a:off x="2382469" y="2743200"/>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3.11.9 · 4.7.0</a:t>
            </a:r>
            <a:endParaRPr lang="en-US" sz="950" dirty="0"/>
          </a:p>
        </p:txBody>
      </p:sp>
      <p:sp>
        <p:nvSpPr>
          <p:cNvPr id="17" name="Shape 15"/>
          <p:cNvSpPr/>
          <p:nvPr/>
        </p:nvSpPr>
        <p:spPr>
          <a:xfrm>
            <a:off x="841248" y="3008376"/>
            <a:ext cx="3082442" cy="0"/>
          </a:xfrm>
          <a:prstGeom prst="line">
            <a:avLst/>
          </a:prstGeom>
          <a:noFill/>
          <a:ln w="7620">
            <a:solidFill>
              <a:srgbClr val="DCD8D1"/>
            </a:solidFill>
            <a:prstDash val="solid"/>
          </a:ln>
        </p:spPr>
      </p:sp>
      <p:sp>
        <p:nvSpPr>
          <p:cNvPr id="18" name="Text 16"/>
          <p:cNvSpPr/>
          <p:nvPr/>
        </p:nvSpPr>
        <p:spPr>
          <a:xfrm>
            <a:off x="841248" y="3008376"/>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XGBoost · CatBoost</a:t>
            </a:r>
            <a:endParaRPr lang="en-US" sz="950" dirty="0"/>
          </a:p>
        </p:txBody>
      </p:sp>
      <p:sp>
        <p:nvSpPr>
          <p:cNvPr id="19" name="Text 17"/>
          <p:cNvSpPr/>
          <p:nvPr/>
        </p:nvSpPr>
        <p:spPr>
          <a:xfrm>
            <a:off x="2382469" y="3008376"/>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3.2.0 · 1.2.10</a:t>
            </a:r>
            <a:endParaRPr lang="en-US" sz="950" dirty="0"/>
          </a:p>
        </p:txBody>
      </p:sp>
      <p:sp>
        <p:nvSpPr>
          <p:cNvPr id="20" name="Shape 18"/>
          <p:cNvSpPr/>
          <p:nvPr/>
        </p:nvSpPr>
        <p:spPr>
          <a:xfrm>
            <a:off x="841248" y="3273552"/>
            <a:ext cx="3082442" cy="0"/>
          </a:xfrm>
          <a:prstGeom prst="line">
            <a:avLst/>
          </a:prstGeom>
          <a:noFill/>
          <a:ln w="7620">
            <a:solidFill>
              <a:srgbClr val="DCD8D1"/>
            </a:solidFill>
            <a:prstDash val="solid"/>
          </a:ln>
        </p:spPr>
      </p:sp>
      <p:sp>
        <p:nvSpPr>
          <p:cNvPr id="21" name="Text 19"/>
          <p:cNvSpPr/>
          <p:nvPr/>
        </p:nvSpPr>
        <p:spPr>
          <a:xfrm>
            <a:off x="841248" y="3273552"/>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model_warkab.joblib</a:t>
            </a:r>
            <a:endParaRPr lang="en-US" sz="950" dirty="0"/>
          </a:p>
        </p:txBody>
      </p:sp>
      <p:sp>
        <p:nvSpPr>
          <p:cNvPr id="22" name="Text 20"/>
          <p:cNvSpPr/>
          <p:nvPr/>
        </p:nvSpPr>
        <p:spPr>
          <a:xfrm>
            <a:off x="2382469" y="3273552"/>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84,0 MB</a:t>
            </a:r>
            <a:endParaRPr lang="en-US" sz="950" dirty="0"/>
          </a:p>
        </p:txBody>
      </p:sp>
      <p:sp>
        <p:nvSpPr>
          <p:cNvPr id="23" name="Shape 21"/>
          <p:cNvSpPr/>
          <p:nvPr/>
        </p:nvSpPr>
        <p:spPr>
          <a:xfrm>
            <a:off x="841248" y="3538728"/>
            <a:ext cx="3082442" cy="0"/>
          </a:xfrm>
          <a:prstGeom prst="line">
            <a:avLst/>
          </a:prstGeom>
          <a:noFill/>
          <a:ln w="7620">
            <a:solidFill>
              <a:srgbClr val="DCD8D1"/>
            </a:solidFill>
            <a:prstDash val="solid"/>
          </a:ln>
        </p:spPr>
      </p:sp>
      <p:sp>
        <p:nvSpPr>
          <p:cNvPr id="24" name="Text 22"/>
          <p:cNvSpPr/>
          <p:nvPr/>
        </p:nvSpPr>
        <p:spPr>
          <a:xfrm>
            <a:off x="841248" y="3538728"/>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Muat ulang</a:t>
            </a:r>
            <a:endParaRPr lang="en-US" sz="950" dirty="0"/>
          </a:p>
        </p:txBody>
      </p:sp>
      <p:sp>
        <p:nvSpPr>
          <p:cNvPr id="25" name="Text 23"/>
          <p:cNvSpPr/>
          <p:nvPr/>
        </p:nvSpPr>
        <p:spPr>
          <a:xfrm>
            <a:off x="2382469" y="3538728"/>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lulus</a:t>
            </a:r>
            <a:endParaRPr lang="en-US" sz="950" dirty="0"/>
          </a:p>
        </p:txBody>
      </p:sp>
      <p:sp>
        <p:nvSpPr>
          <p:cNvPr id="26" name="Shape 24"/>
          <p:cNvSpPr/>
          <p:nvPr/>
        </p:nvSpPr>
        <p:spPr>
          <a:xfrm>
            <a:off x="841248" y="3803904"/>
            <a:ext cx="3082442" cy="0"/>
          </a:xfrm>
          <a:prstGeom prst="line">
            <a:avLst/>
          </a:prstGeom>
          <a:noFill/>
          <a:ln w="7620">
            <a:solidFill>
              <a:srgbClr val="DCD8D1"/>
            </a:solidFill>
            <a:prstDash val="solid"/>
          </a:ln>
        </p:spPr>
      </p:sp>
      <p:sp>
        <p:nvSpPr>
          <p:cNvPr id="27" name="Text 25"/>
          <p:cNvSpPr/>
          <p:nvPr/>
        </p:nvSpPr>
        <p:spPr>
          <a:xfrm>
            <a:off x="841248" y="3803904"/>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Waktu eksekusi</a:t>
            </a:r>
            <a:endParaRPr lang="en-US" sz="950" dirty="0"/>
          </a:p>
        </p:txBody>
      </p:sp>
      <p:sp>
        <p:nvSpPr>
          <p:cNvPr id="28" name="Text 26"/>
          <p:cNvSpPr/>
          <p:nvPr/>
        </p:nvSpPr>
        <p:spPr>
          <a:xfrm>
            <a:off x="2382469" y="3803904"/>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135,1 menit</a:t>
            </a:r>
            <a:endParaRPr lang="en-US" sz="950" dirty="0"/>
          </a:p>
        </p:txBody>
      </p:sp>
      <p:sp>
        <p:nvSpPr>
          <p:cNvPr id="29" name="Text 27"/>
          <p:cNvSpPr/>
          <p:nvPr/>
        </p:nvSpPr>
        <p:spPr>
          <a:xfrm>
            <a:off x="841248" y="4133088"/>
            <a:ext cx="3082442" cy="731520"/>
          </a:xfrm>
          <a:prstGeom prst="rect">
            <a:avLst/>
          </a:prstGeom>
          <a:noFill/>
          <a:ln/>
        </p:spPr>
        <p:txBody>
          <a:bodyPr wrap="square" lIns="0" tIns="0" rIns="0" bIns="0" rtlCol="0" anchor="t"/>
          <a:lstStyle/>
          <a:p>
            <a:pPr indent="0" marL="0">
              <a:lnSpc>
                <a:spcPts val="1250"/>
              </a:lnSpc>
              <a:buNone/>
            </a:pPr>
            <a:r>
              <a:rPr lang="en-US" sz="950" b="1" dirty="0">
                <a:solidFill>
                  <a:srgbClr val="2F6B5F"/>
                </a:solidFill>
                <a:latin typeface="Calibri" pitchFamily="34" charset="0"/>
                <a:ea typeface="Calibri" pitchFamily="34" charset="-122"/>
                <a:cs typeface="Calibri" pitchFamily="34" charset="-120"/>
              </a:rPr>
              <a:t>7 uji integritas lulus: 23.666 baris, id unik, tanpa kosong, label {1,2,3,4}, id integer, semua id uji ada, model tersimpan.</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41248" y="4910328"/>
          <a:ext cx="1600200" cy="914400"/>
        </p:xfrm>
        <a:graphic>
          <a:graphicData uri="http://schemas.openxmlformats.org/drawingml/2006/table">
            <a:tbl>
              <a:tblPr/>
              <a:tblGrid>
                <a:gridCol w="777240"/>
                <a:gridCol w="822960"/>
              </a:tblGrid>
              <a:tr h="219456">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Seed meta</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QWK OOF</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0,48384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202</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0,48413</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999</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0,48390</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1" name="Text 28"/>
          <p:cNvSpPr/>
          <p:nvPr/>
        </p:nvSpPr>
        <p:spPr>
          <a:xfrm>
            <a:off x="2606040" y="4910328"/>
            <a:ext cx="1335938" cy="310896"/>
          </a:xfrm>
          <a:prstGeom prst="rect">
            <a:avLst/>
          </a:prstGeom>
          <a:noFill/>
          <a:ln/>
        </p:spPr>
        <p:txBody>
          <a:bodyPr wrap="square" lIns="0" tIns="0" rIns="0" bIns="0" rtlCol="0" anchor="b"/>
          <a:lstStyle/>
          <a:p>
            <a:pPr algn="l" indent="0" marL="0">
              <a:buNone/>
            </a:pPr>
            <a:r>
              <a:rPr lang="en-US" sz="1500" b="1" dirty="0">
                <a:solidFill>
                  <a:srgbClr val="2F6B5F"/>
                </a:solidFill>
                <a:latin typeface="Cambria" pitchFamily="34" charset="0"/>
                <a:ea typeface="Cambria" pitchFamily="34" charset="-122"/>
                <a:cs typeface="Cambria" pitchFamily="34" charset="-120"/>
              </a:rPr>
              <a:t>0,00029</a:t>
            </a:r>
            <a:endParaRPr lang="en-US" sz="1500" dirty="0"/>
          </a:p>
        </p:txBody>
      </p:sp>
      <p:sp>
        <p:nvSpPr>
          <p:cNvPr id="32" name="Text 29"/>
          <p:cNvSpPr/>
          <p:nvPr/>
        </p:nvSpPr>
        <p:spPr>
          <a:xfrm>
            <a:off x="2606040" y="5257800"/>
            <a:ext cx="1335938" cy="457200"/>
          </a:xfrm>
          <a:prstGeom prst="rect">
            <a:avLst/>
          </a:prstGeom>
          <a:noFill/>
          <a:ln/>
        </p:spPr>
        <p:txBody>
          <a:bodyPr wrap="square" lIns="0" tIns="0" rIns="0" bIns="0" rtlCol="0" anchor="t"/>
          <a:lstStyle/>
          <a:p>
            <a:pPr algn="l" indent="0" marL="0">
              <a:lnSpc>
                <a:spcPts val="1300"/>
              </a:lnSpc>
              <a:buNone/>
            </a:pPr>
            <a:r>
              <a:rPr lang="en-US" sz="850" dirty="0">
                <a:solidFill>
                  <a:srgbClr val="6E747C"/>
                </a:solidFill>
                <a:latin typeface="Calibri" pitchFamily="34" charset="0"/>
                <a:ea typeface="Calibri" pitchFamily="34" charset="-122"/>
                <a:cs typeface="Calibri" pitchFamily="34" charset="-120"/>
              </a:rPr>
              <a:t>rentang antar seed, sd 0,00015</a:t>
            </a:r>
            <a:endParaRPr lang="en-US" sz="850" dirty="0"/>
          </a:p>
        </p:txBody>
      </p:sp>
      <p:sp>
        <p:nvSpPr>
          <p:cNvPr id="33" name="Shape 30"/>
          <p:cNvSpPr/>
          <p:nvPr/>
        </p:nvSpPr>
        <p:spPr>
          <a:xfrm>
            <a:off x="4353458" y="1371600"/>
            <a:ext cx="3484778" cy="4846320"/>
          </a:xfrm>
          <a:prstGeom prst="roundRect">
            <a:avLst>
              <a:gd name="adj" fmla="val 1574"/>
            </a:avLst>
          </a:prstGeom>
          <a:solidFill>
            <a:srgbClr val="F4F1EC"/>
          </a:solidFill>
          <a:ln w="9525">
            <a:solidFill>
              <a:srgbClr val="DCD8D1"/>
            </a:solidFill>
            <a:prstDash val="solid"/>
          </a:ln>
        </p:spPr>
      </p:sp>
      <p:sp>
        <p:nvSpPr>
          <p:cNvPr id="34" name="Text 31"/>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14 · KEPATUHAN ATURAN</a:t>
            </a:r>
            <a:endParaRPr lang="en-US" sz="850" dirty="0"/>
          </a:p>
        </p:txBody>
      </p:sp>
      <p:sp>
        <p:nvSpPr>
          <p:cNvPr id="35" name="Text 32"/>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Setiap pasal dan letak pemenuhannya</a:t>
            </a:r>
            <a:endParaRPr lang="en-US" sz="13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554626" y="2212848"/>
          <a:ext cx="3082442" cy="914400"/>
        </p:xfrm>
        <a:graphic>
          <a:graphicData uri="http://schemas.openxmlformats.org/drawingml/2006/table">
            <a:tbl>
              <a:tblPr/>
              <a:tblGrid>
                <a:gridCol w="594360"/>
                <a:gridCol w="2488082"/>
              </a:tblGrid>
              <a:tr h="329184">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Pasal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Pemenuhan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B.1.a</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Hanya train dan test resmi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B.1.b</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LightGBM, XGBoost, CatBoost, sklearn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Ambang dan model dari OOF latih</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Dikerjakan internal tim</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B.1.e</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Tiap keputusan + bukti empiris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Alur end-to-end, bagian 1–12</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SEED 42, FOLD_SEEDS, HASHSEED</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Model tersimpan + uji muat ulang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Seluruh output sel terlihat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Submission dari notebook yang sama</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7" name="Shape 33"/>
          <p:cNvSpPr/>
          <p:nvPr/>
        </p:nvSpPr>
        <p:spPr>
          <a:xfrm>
            <a:off x="8066837" y="1371600"/>
            <a:ext cx="3484778" cy="4846320"/>
          </a:xfrm>
          <a:prstGeom prst="roundRect">
            <a:avLst>
              <a:gd name="adj" fmla="val 1574"/>
            </a:avLst>
          </a:prstGeom>
          <a:solidFill>
            <a:srgbClr val="ECE7DF"/>
          </a:solidFill>
          <a:ln w="9525">
            <a:solidFill>
              <a:srgbClr val="DCD8D1"/>
            </a:solidFill>
            <a:prstDash val="solid"/>
          </a:ln>
        </p:spPr>
      </p:sp>
      <p:sp>
        <p:nvSpPr>
          <p:cNvPr id="38" name="Text 34"/>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BISA DIPERIKSA JURI</a:t>
            </a:r>
            <a:endParaRPr lang="en-US" sz="850" dirty="0"/>
          </a:p>
        </p:txBody>
      </p:sp>
      <p:sp>
        <p:nvSpPr>
          <p:cNvPr id="39" name="Text 35"/>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Artefak yang tersedia sekarang</a:t>
            </a:r>
            <a:endParaRPr lang="en-US" sz="1300" dirty="0"/>
          </a:p>
        </p:txBody>
      </p:sp>
      <p:sp>
        <p:nvSpPr>
          <p:cNvPr id="40" name="Text 36"/>
          <p:cNvSpPr/>
          <p:nvPr/>
        </p:nvSpPr>
        <p:spPr>
          <a:xfrm>
            <a:off x="8268005" y="2212848"/>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Notebook teraksekusi penuh.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seluruh output sel terlihat, 135,1 menit</a:t>
            </a:r>
            <a:endParaRPr lang="en-US" sz="950" dirty="0"/>
          </a:p>
        </p:txBody>
      </p:sp>
      <p:sp>
        <p:nvSpPr>
          <p:cNvPr id="41" name="Text 37"/>
          <p:cNvSpPr/>
          <p:nvPr/>
        </p:nvSpPr>
        <p:spPr>
          <a:xfrm>
            <a:off x="8268005" y="2779776"/>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model_warkab.joblib.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84 MB: model, meta, ambang, urutan fitur</a:t>
            </a:r>
            <a:endParaRPr lang="en-US" sz="950" dirty="0"/>
          </a:p>
        </p:txBody>
      </p:sp>
      <p:sp>
        <p:nvSpPr>
          <p:cNvPr id="42" name="Text 38"/>
          <p:cNvSpPr/>
          <p:nvPr/>
        </p:nvSpPr>
        <p:spPr>
          <a:xfrm>
            <a:off x="8268005" y="3346704"/>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submission.csv.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23.666 baris, lulus 7 uji integritas</a:t>
            </a:r>
            <a:endParaRPr lang="en-US" sz="950" dirty="0"/>
          </a:p>
        </p:txBody>
      </p:sp>
      <p:sp>
        <p:nvSpPr>
          <p:cNvPr id="43" name="Text 39"/>
          <p:cNvSpPr/>
          <p:nvPr/>
        </p:nvSpPr>
        <p:spPr>
          <a:xfrm>
            <a:off x="8268005" y="3913632"/>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Repositori GitHub.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github.com/MikaelAdikara/DataQuest-Warkab</a:t>
            </a:r>
            <a:endParaRPr lang="en-US" sz="950" dirty="0"/>
          </a:p>
        </p:txBody>
      </p:sp>
      <p:sp>
        <p:nvSpPr>
          <p:cNvPr id="44" name="Text 40"/>
          <p:cNvSpPr/>
          <p:nvPr/>
        </p:nvSpPr>
        <p:spPr>
          <a:xfrm>
            <a:off x="8268005" y="4480560"/>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Demo LifeScope.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berjalan di peramban, tanpa server</a:t>
            </a:r>
            <a:endParaRPr lang="en-US" sz="950" dirty="0"/>
          </a:p>
        </p:txBody>
      </p:sp>
      <p:sp>
        <p:nvSpPr>
          <p:cNvPr id="45" name="Text 41"/>
          <p:cNvSpPr/>
          <p:nvPr/>
        </p:nvSpPr>
        <p:spPr>
          <a:xfrm>
            <a:off x="8268005" y="5047488"/>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Catatan eksperimen.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21 pendekatan ditolak, lengkap dengan angka</a:t>
            </a:r>
            <a:endParaRPr lang="en-US" sz="950" dirty="0"/>
          </a:p>
        </p:txBody>
      </p:sp>
      <p:sp>
        <p:nvSpPr>
          <p:cNvPr id="47" name="Shape 42"/>
          <p:cNvSpPr/>
          <p:nvPr/>
        </p:nvSpPr>
        <p:spPr>
          <a:xfrm>
            <a:off x="640080" y="6400800"/>
            <a:ext cx="1572768" cy="45720"/>
          </a:xfrm>
          <a:prstGeom prst="rect">
            <a:avLst/>
          </a:prstGeom>
          <a:solidFill>
            <a:srgbClr val="DCD8D1"/>
          </a:solidFill>
          <a:ln/>
        </p:spPr>
      </p:sp>
      <p:sp>
        <p:nvSpPr>
          <p:cNvPr id="48" name="Text 4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49" name="Shape 44"/>
          <p:cNvSpPr/>
          <p:nvPr/>
        </p:nvSpPr>
        <p:spPr>
          <a:xfrm>
            <a:off x="2304288" y="6400800"/>
            <a:ext cx="1572768" cy="45720"/>
          </a:xfrm>
          <a:prstGeom prst="rect">
            <a:avLst/>
          </a:prstGeom>
          <a:solidFill>
            <a:srgbClr val="DCD8D1"/>
          </a:solidFill>
          <a:ln/>
        </p:spPr>
      </p:sp>
      <p:sp>
        <p:nvSpPr>
          <p:cNvPr id="50" name="Text 4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51" name="Shape 46"/>
          <p:cNvSpPr/>
          <p:nvPr/>
        </p:nvSpPr>
        <p:spPr>
          <a:xfrm>
            <a:off x="3968496" y="6400800"/>
            <a:ext cx="1572768" cy="45720"/>
          </a:xfrm>
          <a:prstGeom prst="rect">
            <a:avLst/>
          </a:prstGeom>
          <a:solidFill>
            <a:srgbClr val="DCD8D1"/>
          </a:solidFill>
          <a:ln/>
        </p:spPr>
      </p:sp>
      <p:sp>
        <p:nvSpPr>
          <p:cNvPr id="52" name="Text 4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3" name="Shape 48"/>
          <p:cNvSpPr/>
          <p:nvPr/>
        </p:nvSpPr>
        <p:spPr>
          <a:xfrm>
            <a:off x="5632704" y="6400800"/>
            <a:ext cx="1572768" cy="45720"/>
          </a:xfrm>
          <a:prstGeom prst="rect">
            <a:avLst/>
          </a:prstGeom>
          <a:solidFill>
            <a:srgbClr val="DCD8D1"/>
          </a:solidFill>
          <a:ln/>
        </p:spPr>
      </p:sp>
      <p:sp>
        <p:nvSpPr>
          <p:cNvPr id="54" name="Text 4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55" name="Shape 50"/>
          <p:cNvSpPr/>
          <p:nvPr/>
        </p:nvSpPr>
        <p:spPr>
          <a:xfrm>
            <a:off x="7296912" y="6400800"/>
            <a:ext cx="1572768" cy="45720"/>
          </a:xfrm>
          <a:prstGeom prst="rect">
            <a:avLst/>
          </a:prstGeom>
          <a:solidFill>
            <a:srgbClr val="A8442A"/>
          </a:solidFill>
          <a:ln/>
        </p:spPr>
      </p:sp>
      <p:sp>
        <p:nvSpPr>
          <p:cNvPr id="56" name="Text 5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57" name="Shape 52"/>
          <p:cNvSpPr/>
          <p:nvPr/>
        </p:nvSpPr>
        <p:spPr>
          <a:xfrm>
            <a:off x="8961120" y="6400800"/>
            <a:ext cx="1572768" cy="45720"/>
          </a:xfrm>
          <a:prstGeom prst="rect">
            <a:avLst/>
          </a:prstGeom>
          <a:solidFill>
            <a:srgbClr val="DCD8D1"/>
          </a:solidFill>
          <a:ln/>
        </p:spPr>
      </p:sp>
      <p:sp>
        <p:nvSpPr>
          <p:cNvPr id="58" name="Text 5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59" name="Text 5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Apa yang belum bisa dilakukan model ini, dan bagaimana memperbaikinya.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Setiap keterbatasan dipasangkan dengan langkah perbaikan yang konkret.</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2926080"/>
                <a:gridCol w="3566160"/>
                <a:gridCol w="4416552"/>
              </a:tblGrid>
              <a:tr h="566928">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Keterbatasan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Dampaknya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Pengembangan lanjut</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Faktor psikososial tidak terekam</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Plafon QWK sekitar 0,48 dari data yang ada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Tambah 3 sampai 5 butir kepribadian dan dukungan sosial ke instrumen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Kelas 4 hanya 893 sampel</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Ambang t₃ paling goyah, sd bootstrap 0,0392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Kumpulkan label lintas gelombang survei; ambang peka biaya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Dilatih pada satu populasi survei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Belum tervalidasi untuk populasi Indonesia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Validasi eksternal pada survei kesehatan nasional sebelum dipakai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Kelas 1 dan 2 sebagian subjektif</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64,7% penalti dari kebingungan dua kelas ini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Fokuskan pemakaian pada deteksi kelas 3 dan 4, bukan membedakan 1 dan 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Distribusi bisa bergeser</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Kalibrasi ambang menurun seiring waktu</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Pantau drift dan kalibrasi ulang ambang tiap gelombang</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Belum ada penjelasan per individu</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Petugas sulit menjelaskan alasan prioritas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Penjelasan per orang (SHAP) dan audit keadilan per subkelompok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Determinisme boosting multi-thread</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Selisih sekitar 0,001 QWK antar eksekusi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Mode single-thread untuk audit resmi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Shape 2"/>
          <p:cNvSpPr/>
          <p:nvPr/>
        </p:nvSpPr>
        <p:spPr>
          <a:xfrm>
            <a:off x="640080" y="6400800"/>
            <a:ext cx="1572768" cy="45720"/>
          </a:xfrm>
          <a:prstGeom prst="rect">
            <a:avLst/>
          </a:prstGeom>
          <a:solidFill>
            <a:srgbClr val="DCD8D1"/>
          </a:solidFill>
          <a:ln/>
        </p:spPr>
      </p:sp>
      <p:sp>
        <p:nvSpPr>
          <p:cNvPr id="7" name="Text 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8" name="Shape 4"/>
          <p:cNvSpPr/>
          <p:nvPr/>
        </p:nvSpPr>
        <p:spPr>
          <a:xfrm>
            <a:off x="2304288" y="6400800"/>
            <a:ext cx="1572768" cy="45720"/>
          </a:xfrm>
          <a:prstGeom prst="rect">
            <a:avLst/>
          </a:prstGeom>
          <a:solidFill>
            <a:srgbClr val="DCD8D1"/>
          </a:solidFill>
          <a:ln/>
        </p:spPr>
      </p:sp>
      <p:sp>
        <p:nvSpPr>
          <p:cNvPr id="9" name="Text 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0" name="Shape 6"/>
          <p:cNvSpPr/>
          <p:nvPr/>
        </p:nvSpPr>
        <p:spPr>
          <a:xfrm>
            <a:off x="3968496" y="6400800"/>
            <a:ext cx="1572768" cy="45720"/>
          </a:xfrm>
          <a:prstGeom prst="rect">
            <a:avLst/>
          </a:prstGeom>
          <a:solidFill>
            <a:srgbClr val="DCD8D1"/>
          </a:solidFill>
          <a:ln/>
        </p:spPr>
      </p:sp>
      <p:sp>
        <p:nvSpPr>
          <p:cNvPr id="11" name="Text 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2" name="Shape 8"/>
          <p:cNvSpPr/>
          <p:nvPr/>
        </p:nvSpPr>
        <p:spPr>
          <a:xfrm>
            <a:off x="5632704" y="6400800"/>
            <a:ext cx="1572768" cy="45720"/>
          </a:xfrm>
          <a:prstGeom prst="rect">
            <a:avLst/>
          </a:prstGeom>
          <a:solidFill>
            <a:srgbClr val="DCD8D1"/>
          </a:solidFill>
          <a:ln/>
        </p:spPr>
      </p:sp>
      <p:sp>
        <p:nvSpPr>
          <p:cNvPr id="13" name="Text 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4" name="Shape 10"/>
          <p:cNvSpPr/>
          <p:nvPr/>
        </p:nvSpPr>
        <p:spPr>
          <a:xfrm>
            <a:off x="7296912" y="6400800"/>
            <a:ext cx="1572768" cy="45720"/>
          </a:xfrm>
          <a:prstGeom prst="rect">
            <a:avLst/>
          </a:prstGeom>
          <a:solidFill>
            <a:srgbClr val="DCD8D1"/>
          </a:solidFill>
          <a:ln/>
        </p:spPr>
      </p:sp>
      <p:sp>
        <p:nvSpPr>
          <p:cNvPr id="15" name="Text 1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16" name="Shape 12"/>
          <p:cNvSpPr/>
          <p:nvPr/>
        </p:nvSpPr>
        <p:spPr>
          <a:xfrm>
            <a:off x="8961120" y="6400800"/>
            <a:ext cx="1572768" cy="45720"/>
          </a:xfrm>
          <a:prstGeom prst="rect">
            <a:avLst/>
          </a:prstGeom>
          <a:solidFill>
            <a:srgbClr val="A8442A"/>
          </a:solidFill>
          <a:ln/>
        </p:spPr>
      </p:sp>
      <p:sp>
        <p:nvSpPr>
          <p:cNvPr id="17" name="Text 1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18" name="Text 1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Kesimpulan, rekomendasi, dan jalan menuju implementasi nyata.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Dari skor lomba ke alat yang menolong orang: apa yang sudah terbukti, apa yang kami sarankan, dan bagaimana menjalankannya.</a:t>
            </a:r>
            <a:endParaRPr lang="en-US" sz="1250" dirty="0"/>
          </a:p>
        </p:txBody>
      </p:sp>
      <p:sp>
        <p:nvSpPr>
          <p:cNvPr id="4" name="Shape 2"/>
          <p:cNvSpPr/>
          <p:nvPr/>
        </p:nvSpPr>
        <p:spPr>
          <a:xfrm>
            <a:off x="640080" y="1371600"/>
            <a:ext cx="3429000" cy="4846320"/>
          </a:xfrm>
          <a:prstGeom prst="roundRect">
            <a:avLst>
              <a:gd name="adj" fmla="val 1600"/>
            </a:avLst>
          </a:prstGeom>
          <a:solidFill>
            <a:srgbClr val="16191D"/>
          </a:solidFill>
          <a:ln w="9525">
            <a:solidFill>
              <a:srgbClr val="16191D"/>
            </a:solidFill>
            <a:prstDash val="solid"/>
          </a:ln>
        </p:spPr>
      </p:sp>
      <p:sp>
        <p:nvSpPr>
          <p:cNvPr id="5" name="Text 3"/>
          <p:cNvSpPr/>
          <p:nvPr/>
        </p:nvSpPr>
        <p:spPr>
          <a:xfrm>
            <a:off x="868680" y="1508760"/>
            <a:ext cx="34290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KESIMPULAN</a:t>
            </a:r>
            <a:endParaRPr lang="en-US" sz="1050" dirty="0"/>
          </a:p>
        </p:txBody>
      </p:sp>
      <p:sp>
        <p:nvSpPr>
          <p:cNvPr id="6" name="Text 4"/>
          <p:cNvSpPr/>
          <p:nvPr/>
        </p:nvSpPr>
        <p:spPr>
          <a:xfrm>
            <a:off x="868680" y="1874520"/>
            <a:ext cx="2971800" cy="502920"/>
          </a:xfrm>
          <a:prstGeom prst="rect">
            <a:avLst/>
          </a:prstGeom>
          <a:noFill/>
          <a:ln/>
        </p:spPr>
        <p:txBody>
          <a:bodyPr wrap="square" lIns="0" tIns="0" rIns="0" bIns="0" rtlCol="0" anchor="t"/>
          <a:lstStyle/>
          <a:p>
            <a:pPr indent="0" marL="0">
              <a:lnSpc>
                <a:spcPts val="1400"/>
              </a:lnSpc>
              <a:buNone/>
            </a:pPr>
            <a:r>
              <a:rPr lang="en-US" sz="2400" b="1" dirty="0">
                <a:solidFill>
                  <a:srgbClr val="FFFFFF"/>
                </a:solidFill>
                <a:latin typeface="Cambria" pitchFamily="34" charset="0"/>
                <a:ea typeface="Cambria" pitchFamily="34" charset="-122"/>
                <a:cs typeface="Cambria" pitchFamily="34" charset="-120"/>
              </a:rPr>
              <a:t>0,48425</a:t>
            </a:r>
            <a:endParaRPr lang="en-US" sz="2400" dirty="0"/>
          </a:p>
        </p:txBody>
      </p:sp>
      <p:sp>
        <p:nvSpPr>
          <p:cNvPr id="7" name="Text 5"/>
          <p:cNvSpPr/>
          <p:nvPr/>
        </p:nvSpPr>
        <p:spPr>
          <a:xfrm>
            <a:off x="868680" y="2404872"/>
            <a:ext cx="2971800" cy="731520"/>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QWK out-of-fold: kesepakatan sedang, dekat plafon informasi data</a:t>
            </a:r>
            <a:endParaRPr lang="en-US" sz="1050" dirty="0"/>
          </a:p>
        </p:txBody>
      </p:sp>
      <p:sp>
        <p:nvSpPr>
          <p:cNvPr id="8" name="Text 6"/>
          <p:cNvSpPr/>
          <p:nvPr/>
        </p:nvSpPr>
        <p:spPr>
          <a:xfrm>
            <a:off x="868680" y="3246120"/>
            <a:ext cx="2971800" cy="502920"/>
          </a:xfrm>
          <a:prstGeom prst="rect">
            <a:avLst/>
          </a:prstGeom>
          <a:noFill/>
          <a:ln/>
        </p:spPr>
        <p:txBody>
          <a:bodyPr wrap="square" lIns="0" tIns="0" rIns="0" bIns="0" rtlCol="0" anchor="t"/>
          <a:lstStyle/>
          <a:p>
            <a:pPr indent="0" marL="0">
              <a:lnSpc>
                <a:spcPts val="1400"/>
              </a:lnSpc>
              <a:buNone/>
            </a:pPr>
            <a:r>
              <a:rPr lang="en-US" sz="2400" b="1" dirty="0">
                <a:solidFill>
                  <a:srgbClr val="D8A25E"/>
                </a:solidFill>
                <a:latin typeface="Cambria" pitchFamily="34" charset="0"/>
                <a:ea typeface="Cambria" pitchFamily="34" charset="-122"/>
                <a:cs typeface="Cambria" pitchFamily="34" charset="-120"/>
              </a:rPr>
              <a:t>89,9%</a:t>
            </a:r>
            <a:endParaRPr lang="en-US" sz="2400" dirty="0"/>
          </a:p>
        </p:txBody>
      </p:sp>
      <p:sp>
        <p:nvSpPr>
          <p:cNvPr id="9" name="Text 7"/>
          <p:cNvSpPr/>
          <p:nvPr/>
        </p:nvSpPr>
        <p:spPr>
          <a:xfrm>
            <a:off x="868680" y="3776472"/>
            <a:ext cx="2971800" cy="731520"/>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perbaikan datang dari aturan keputusan ordinal, bukan dari model yang lebih besar</a:t>
            </a:r>
            <a:endParaRPr lang="en-US" sz="1050" dirty="0"/>
          </a:p>
        </p:txBody>
      </p:sp>
      <p:sp>
        <p:nvSpPr>
          <p:cNvPr id="10" name="Text 8"/>
          <p:cNvSpPr/>
          <p:nvPr/>
        </p:nvSpPr>
        <p:spPr>
          <a:xfrm>
            <a:off x="868680" y="4617720"/>
            <a:ext cx="2971800" cy="502920"/>
          </a:xfrm>
          <a:prstGeom prst="rect">
            <a:avLst/>
          </a:prstGeom>
          <a:noFill/>
          <a:ln/>
        </p:spPr>
        <p:txBody>
          <a:bodyPr wrap="square" lIns="0" tIns="0" rIns="0" bIns="0" rtlCol="0" anchor="t"/>
          <a:lstStyle/>
          <a:p>
            <a:pPr indent="0" marL="0">
              <a:lnSpc>
                <a:spcPts val="1400"/>
              </a:lnSpc>
              <a:buNone/>
            </a:pPr>
            <a:r>
              <a:rPr lang="en-US" sz="2400" b="1" dirty="0">
                <a:solidFill>
                  <a:srgbClr val="8FB0A4"/>
                </a:solidFill>
                <a:latin typeface="Cambria" pitchFamily="34" charset="0"/>
                <a:ea typeface="Cambria" pitchFamily="34" charset="-122"/>
                <a:cs typeface="Cambria" pitchFamily="34" charset="-120"/>
              </a:rPr>
              <a:t>0,00029</a:t>
            </a:r>
            <a:endParaRPr lang="en-US" sz="2400" dirty="0"/>
          </a:p>
        </p:txBody>
      </p:sp>
      <p:sp>
        <p:nvSpPr>
          <p:cNvPr id="11" name="Text 9"/>
          <p:cNvSpPr/>
          <p:nvPr/>
        </p:nvSpPr>
        <p:spPr>
          <a:xfrm>
            <a:off x="868680" y="5148072"/>
            <a:ext cx="2971800" cy="731520"/>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rentang antar seed: hasil stabil, bisa diulang, dan sudah menjadi produk</a:t>
            </a:r>
            <a:endParaRPr lang="en-US" sz="1050" dirty="0"/>
          </a:p>
        </p:txBody>
      </p:sp>
      <p:sp>
        <p:nvSpPr>
          <p:cNvPr id="12" name="Shape 10"/>
          <p:cNvSpPr/>
          <p:nvPr/>
        </p:nvSpPr>
        <p:spPr>
          <a:xfrm>
            <a:off x="4297680" y="1371600"/>
            <a:ext cx="3596335" cy="4846320"/>
          </a:xfrm>
          <a:prstGeom prst="roundRect">
            <a:avLst>
              <a:gd name="adj" fmla="val 1526"/>
            </a:avLst>
          </a:prstGeom>
          <a:solidFill>
            <a:srgbClr val="F4F1EC"/>
          </a:solidFill>
          <a:ln w="9525">
            <a:solidFill>
              <a:srgbClr val="DCD8D1"/>
            </a:solidFill>
            <a:prstDash val="solid"/>
          </a:ln>
        </p:spPr>
      </p:sp>
      <p:sp>
        <p:nvSpPr>
          <p:cNvPr id="13" name="Text 11"/>
          <p:cNvSpPr/>
          <p:nvPr/>
        </p:nvSpPr>
        <p:spPr>
          <a:xfrm>
            <a:off x="4526280" y="1508760"/>
            <a:ext cx="3596335"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IMPLEMENTASI NYATA</a:t>
            </a:r>
            <a:endParaRPr lang="en-US" sz="1050" dirty="0"/>
          </a:p>
        </p:txBody>
      </p:sp>
      <p:sp>
        <p:nvSpPr>
          <p:cNvPr id="14" name="Shape 12"/>
          <p:cNvSpPr/>
          <p:nvPr/>
        </p:nvSpPr>
        <p:spPr>
          <a:xfrm>
            <a:off x="4526280" y="1883664"/>
            <a:ext cx="292608" cy="292608"/>
          </a:xfrm>
          <a:prstGeom prst="ellipse">
            <a:avLst/>
          </a:prstGeom>
          <a:solidFill>
            <a:srgbClr val="2F6B5F"/>
          </a:solidFill>
          <a:ln/>
        </p:spPr>
      </p:sp>
      <p:sp>
        <p:nvSpPr>
          <p:cNvPr id="15" name="Text 13"/>
          <p:cNvSpPr/>
          <p:nvPr/>
        </p:nvSpPr>
        <p:spPr>
          <a:xfrm>
            <a:off x="4526280" y="18836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16" name="Text 14"/>
          <p:cNvSpPr/>
          <p:nvPr/>
        </p:nvSpPr>
        <p:spPr>
          <a:xfrm>
            <a:off x="4937760" y="18470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Survei rutin berjalan</a:t>
            </a:r>
            <a:endParaRPr lang="en-US" sz="1100" dirty="0"/>
          </a:p>
        </p:txBody>
      </p:sp>
      <p:sp>
        <p:nvSpPr>
          <p:cNvPr id="17" name="Shape 15"/>
          <p:cNvSpPr/>
          <p:nvPr/>
        </p:nvSpPr>
        <p:spPr>
          <a:xfrm>
            <a:off x="4526280" y="2340864"/>
            <a:ext cx="292608" cy="292608"/>
          </a:xfrm>
          <a:prstGeom prst="ellipse">
            <a:avLst/>
          </a:prstGeom>
          <a:solidFill>
            <a:srgbClr val="2F6B5F"/>
          </a:solidFill>
          <a:ln/>
        </p:spPr>
      </p:sp>
      <p:sp>
        <p:nvSpPr>
          <p:cNvPr id="18" name="Text 16"/>
          <p:cNvSpPr/>
          <p:nvPr/>
        </p:nvSpPr>
        <p:spPr>
          <a:xfrm>
            <a:off x="4526280" y="23408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19" name="Text 17"/>
          <p:cNvSpPr/>
          <p:nvPr/>
        </p:nvSpPr>
        <p:spPr>
          <a:xfrm>
            <a:off x="4937760" y="23042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Skor E[y] tiap responden</a:t>
            </a:r>
            <a:endParaRPr lang="en-US" sz="1100" dirty="0"/>
          </a:p>
        </p:txBody>
      </p:sp>
      <p:sp>
        <p:nvSpPr>
          <p:cNvPr id="20" name="Shape 18"/>
          <p:cNvSpPr/>
          <p:nvPr/>
        </p:nvSpPr>
        <p:spPr>
          <a:xfrm>
            <a:off x="4526280" y="2798064"/>
            <a:ext cx="292608" cy="292608"/>
          </a:xfrm>
          <a:prstGeom prst="ellipse">
            <a:avLst/>
          </a:prstGeom>
          <a:solidFill>
            <a:srgbClr val="2F6B5F"/>
          </a:solidFill>
          <a:ln/>
        </p:spPr>
      </p:sp>
      <p:sp>
        <p:nvSpPr>
          <p:cNvPr id="21" name="Text 19"/>
          <p:cNvSpPr/>
          <p:nvPr/>
        </p:nvSpPr>
        <p:spPr>
          <a:xfrm>
            <a:off x="4526280" y="27980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22" name="Text 20"/>
          <p:cNvSpPr/>
          <p:nvPr/>
        </p:nvSpPr>
        <p:spPr>
          <a:xfrm>
            <a:off x="4937760" y="2761488"/>
            <a:ext cx="2727655" cy="365760"/>
          </a:xfrm>
          <a:prstGeom prst="rect">
            <a:avLst/>
          </a:prstGeom>
          <a:noFill/>
          <a:ln/>
        </p:spPr>
        <p:txBody>
          <a:bodyPr wrap="square" lIns="0" tIns="0" rIns="0" bIns="0" rtlCol="0" anchor="ctr"/>
          <a:lstStyle/>
          <a:p>
            <a:pPr indent="0" marL="0">
              <a:lnSpc>
                <a:spcPts val="1400"/>
              </a:lnSpc>
              <a:buNone/>
            </a:pPr>
            <a:r>
              <a:rPr lang="en-US" sz="1100" b="1" dirty="0">
                <a:solidFill>
                  <a:srgbClr val="16191D"/>
                </a:solidFill>
                <a:latin typeface="Calibri" pitchFamily="34" charset="0"/>
                <a:ea typeface="Calibri" pitchFamily="34" charset="-122"/>
                <a:cs typeface="Calibri" pitchFamily="34" charset="-120"/>
              </a:rPr>
              <a:t>Daftar prioritas per wilayah</a:t>
            </a:r>
            <a:endParaRPr lang="en-US" sz="1100" dirty="0"/>
          </a:p>
        </p:txBody>
      </p:sp>
      <p:sp>
        <p:nvSpPr>
          <p:cNvPr id="23" name="Shape 21"/>
          <p:cNvSpPr/>
          <p:nvPr/>
        </p:nvSpPr>
        <p:spPr>
          <a:xfrm>
            <a:off x="4526280" y="3255264"/>
            <a:ext cx="292608" cy="292608"/>
          </a:xfrm>
          <a:prstGeom prst="ellipse">
            <a:avLst/>
          </a:prstGeom>
          <a:solidFill>
            <a:srgbClr val="2F6B5F"/>
          </a:solidFill>
          <a:ln/>
        </p:spPr>
      </p:sp>
      <p:sp>
        <p:nvSpPr>
          <p:cNvPr id="24" name="Text 22"/>
          <p:cNvSpPr/>
          <p:nvPr/>
        </p:nvSpPr>
        <p:spPr>
          <a:xfrm>
            <a:off x="4526280" y="32552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25" name="Text 23"/>
          <p:cNvSpPr/>
          <p:nvPr/>
        </p:nvSpPr>
        <p:spPr>
          <a:xfrm>
            <a:off x="4937760" y="32186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Tindak lanjut: konseling, rujukan</a:t>
            </a:r>
            <a:endParaRPr lang="en-US" sz="1100" dirty="0"/>
          </a:p>
        </p:txBody>
      </p:sp>
      <p:sp>
        <p:nvSpPr>
          <p:cNvPr id="26" name="Shape 24"/>
          <p:cNvSpPr/>
          <p:nvPr/>
        </p:nvSpPr>
        <p:spPr>
          <a:xfrm>
            <a:off x="4526280" y="3712464"/>
            <a:ext cx="292608" cy="292608"/>
          </a:xfrm>
          <a:prstGeom prst="ellipse">
            <a:avLst/>
          </a:prstGeom>
          <a:solidFill>
            <a:srgbClr val="2F6B5F"/>
          </a:solidFill>
          <a:ln/>
        </p:spPr>
      </p:sp>
      <p:sp>
        <p:nvSpPr>
          <p:cNvPr id="27" name="Text 25"/>
          <p:cNvSpPr/>
          <p:nvPr/>
        </p:nvSpPr>
        <p:spPr>
          <a:xfrm>
            <a:off x="4526280" y="37124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28" name="Text 26"/>
          <p:cNvSpPr/>
          <p:nvPr/>
        </p:nvSpPr>
        <p:spPr>
          <a:xfrm>
            <a:off x="4937760" y="36758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Label hasil kunjungan kembali</a:t>
            </a:r>
            <a:endParaRPr lang="en-US" sz="1100" dirty="0"/>
          </a:p>
        </p:txBody>
      </p:sp>
      <p:sp>
        <p:nvSpPr>
          <p:cNvPr id="29" name="Shape 27"/>
          <p:cNvSpPr/>
          <p:nvPr/>
        </p:nvSpPr>
        <p:spPr>
          <a:xfrm>
            <a:off x="4526280" y="4169664"/>
            <a:ext cx="292608" cy="292608"/>
          </a:xfrm>
          <a:prstGeom prst="ellipse">
            <a:avLst/>
          </a:prstGeom>
          <a:solidFill>
            <a:srgbClr val="A8442A"/>
          </a:solidFill>
          <a:ln/>
        </p:spPr>
      </p:sp>
      <p:sp>
        <p:nvSpPr>
          <p:cNvPr id="30" name="Text 28"/>
          <p:cNvSpPr/>
          <p:nvPr/>
        </p:nvSpPr>
        <p:spPr>
          <a:xfrm>
            <a:off x="4526280" y="41696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31" name="Text 29"/>
          <p:cNvSpPr/>
          <p:nvPr/>
        </p:nvSpPr>
        <p:spPr>
          <a:xfrm>
            <a:off x="4937760" y="41330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Kalibrasi ulang ambang</a:t>
            </a:r>
            <a:endParaRPr lang="en-US" sz="1100" dirty="0"/>
          </a:p>
        </p:txBody>
      </p:sp>
      <p:sp>
        <p:nvSpPr>
          <p:cNvPr id="32" name="Text 30"/>
          <p:cNvSpPr/>
          <p:nvPr/>
        </p:nvSpPr>
        <p:spPr>
          <a:xfrm>
            <a:off x="4526280" y="4617720"/>
            <a:ext cx="3139135" cy="548640"/>
          </a:xfrm>
          <a:prstGeom prst="rect">
            <a:avLst/>
          </a:prstGeom>
          <a:noFill/>
          <a:ln/>
        </p:spPr>
        <p:txBody>
          <a:bodyPr wrap="square" lIns="0" tIns="0" rIns="0" bIns="0" rtlCol="0" anchor="t"/>
          <a:lstStyle/>
          <a:p>
            <a:pPr indent="0" marL="0">
              <a:lnSpc>
                <a:spcPts val="1400"/>
              </a:lnSpc>
              <a:buNone/>
            </a:pPr>
            <a:r>
              <a:rPr lang="en-US" sz="1000" i="1" dirty="0">
                <a:solidFill>
                  <a:srgbClr val="6E747C"/>
                </a:solidFill>
                <a:latin typeface="Calibri" pitchFamily="34" charset="0"/>
                <a:ea typeface="Calibri" pitchFamily="34" charset="-122"/>
                <a:cs typeface="Calibri" pitchFamily="34" charset="-120"/>
              </a:rPr>
              <a:t>Siklus tertutup: setiap kunjungan menghasilkan label baru, sehingga model membaik tanpa survei tambahan.</a:t>
            </a:r>
            <a:endParaRPr lang="en-US" sz="1000" dirty="0"/>
          </a:p>
        </p:txBody>
      </p:sp>
      <p:sp>
        <p:nvSpPr>
          <p:cNvPr id="33" name="Shape 31"/>
          <p:cNvSpPr/>
          <p:nvPr/>
        </p:nvSpPr>
        <p:spPr>
          <a:xfrm>
            <a:off x="4526280" y="5193792"/>
            <a:ext cx="3139135" cy="0"/>
          </a:xfrm>
          <a:prstGeom prst="line">
            <a:avLst/>
          </a:prstGeom>
          <a:noFill/>
          <a:ln w="7620">
            <a:solidFill>
              <a:srgbClr val="DCD8D1"/>
            </a:solidFill>
            <a:prstDash val="solid"/>
          </a:ln>
        </p:spPr>
      </p:sp>
      <p:sp>
        <p:nvSpPr>
          <p:cNvPr id="34" name="Text 32"/>
          <p:cNvSpPr/>
          <p:nvPr/>
        </p:nvSpPr>
        <p:spPr>
          <a:xfrm>
            <a:off x="4526280" y="5285232"/>
            <a:ext cx="3139135" cy="82296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Syarat etis: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penapisan populasi, bukan diagnosis; persetujuan responden, data anonim, keputusan akhir oleh tenaga kesehatan.</a:t>
            </a:r>
            <a:endParaRPr lang="en-US" sz="1000" dirty="0"/>
          </a:p>
        </p:txBody>
      </p:sp>
      <p:sp>
        <p:nvSpPr>
          <p:cNvPr id="35" name="Shape 33"/>
          <p:cNvSpPr/>
          <p:nvPr/>
        </p:nvSpPr>
        <p:spPr>
          <a:xfrm>
            <a:off x="8122615" y="1371600"/>
            <a:ext cx="3429000" cy="4846320"/>
          </a:xfrm>
          <a:prstGeom prst="roundRect">
            <a:avLst>
              <a:gd name="adj" fmla="val 1600"/>
            </a:avLst>
          </a:prstGeom>
          <a:solidFill>
            <a:srgbClr val="FFFFFF"/>
          </a:solidFill>
          <a:ln w="9525">
            <a:solidFill>
              <a:srgbClr val="DCD8D1"/>
            </a:solidFill>
            <a:prstDash val="solid"/>
          </a:ln>
        </p:spPr>
      </p:sp>
      <p:sp>
        <p:nvSpPr>
          <p:cNvPr id="36" name="Text 34"/>
          <p:cNvSpPr/>
          <p:nvPr/>
        </p:nvSpPr>
        <p:spPr>
          <a:xfrm>
            <a:off x="8351215" y="1508760"/>
            <a:ext cx="34290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REKOMENDASI</a:t>
            </a:r>
            <a:endParaRPr lang="en-US" sz="1050" dirty="0"/>
          </a:p>
        </p:txBody>
      </p:sp>
      <p:sp>
        <p:nvSpPr>
          <p:cNvPr id="37" name="Text 35"/>
          <p:cNvSpPr/>
          <p:nvPr/>
        </p:nvSpPr>
        <p:spPr>
          <a:xfrm>
            <a:off x="8351215" y="1847088"/>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1.  Pakai untuk populasi</a:t>
            </a:r>
            <a:endParaRPr lang="en-US" sz="1200" dirty="0"/>
          </a:p>
        </p:txBody>
      </p:sp>
      <p:sp>
        <p:nvSpPr>
          <p:cNvPr id="38" name="Text 36"/>
          <p:cNvSpPr/>
          <p:nvPr/>
        </p:nvSpPr>
        <p:spPr>
          <a:xfrm>
            <a:off x="8351215" y="2157984"/>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Penapisan dan prioritas kelompok, bukan vonis individu.</a:t>
            </a:r>
            <a:endParaRPr lang="en-US" sz="1000" dirty="0"/>
          </a:p>
        </p:txBody>
      </p:sp>
      <p:sp>
        <p:nvSpPr>
          <p:cNvPr id="39" name="Text 37"/>
          <p:cNvSpPr/>
          <p:nvPr/>
        </p:nvSpPr>
        <p:spPr>
          <a:xfrm>
            <a:off x="8351215" y="2926080"/>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2.  Mulai dari data yang ada</a:t>
            </a:r>
            <a:endParaRPr lang="en-US" sz="1200" dirty="0"/>
          </a:p>
        </p:txBody>
      </p:sp>
      <p:sp>
        <p:nvSpPr>
          <p:cNvPr id="40" name="Text 38"/>
          <p:cNvSpPr/>
          <p:nvPr/>
        </p:nvSpPr>
        <p:spPr>
          <a:xfrm>
            <a:off x="8351215" y="3236976"/>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Penapisan retrospektif pada gelombang survei lama bisa dilakukan hari ini.</a:t>
            </a:r>
            <a:endParaRPr lang="en-US" sz="1000" dirty="0"/>
          </a:p>
        </p:txBody>
      </p:sp>
      <p:sp>
        <p:nvSpPr>
          <p:cNvPr id="41" name="Text 39"/>
          <p:cNvSpPr/>
          <p:nvPr/>
        </p:nvSpPr>
        <p:spPr>
          <a:xfrm>
            <a:off x="8351215" y="4005072"/>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3.  Atur t₃ sesuai kapasitas</a:t>
            </a:r>
            <a:endParaRPr lang="en-US" sz="1200" dirty="0"/>
          </a:p>
        </p:txBody>
      </p:sp>
      <p:sp>
        <p:nvSpPr>
          <p:cNvPr id="42" name="Text 40"/>
          <p:cNvSpPr/>
          <p:nvPr/>
        </p:nvSpPr>
        <p:spPr>
          <a:xfrm>
            <a:off x="8351215" y="4315968"/>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Ambang rendah menangkap lebih banyak orang; sesuaikan dengan jumlah konselor.</a:t>
            </a:r>
            <a:endParaRPr lang="en-US" sz="1000" dirty="0"/>
          </a:p>
        </p:txBody>
      </p:sp>
      <p:sp>
        <p:nvSpPr>
          <p:cNvPr id="43" name="Text 41"/>
          <p:cNvSpPr/>
          <p:nvPr/>
        </p:nvSpPr>
        <p:spPr>
          <a:xfrm>
            <a:off x="8351215" y="5084064"/>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4.  Tambah variabel, bukan model</a:t>
            </a:r>
            <a:endParaRPr lang="en-US" sz="1200" dirty="0"/>
          </a:p>
        </p:txBody>
      </p:sp>
      <p:sp>
        <p:nvSpPr>
          <p:cNvPr id="44" name="Text 42"/>
          <p:cNvSpPr/>
          <p:nvPr/>
        </p:nvSpPr>
        <p:spPr>
          <a:xfrm>
            <a:off x="8351215" y="5394960"/>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Kurva belajar menunjukkan pengembalian algoritma sudah habis.</a:t>
            </a:r>
            <a:endParaRPr lang="en-US" sz="1000" dirty="0"/>
          </a:p>
        </p:txBody>
      </p:sp>
      <p:sp>
        <p:nvSpPr>
          <p:cNvPr id="46" name="Shape 43"/>
          <p:cNvSpPr/>
          <p:nvPr/>
        </p:nvSpPr>
        <p:spPr>
          <a:xfrm>
            <a:off x="640080" y="6400800"/>
            <a:ext cx="1572768" cy="45720"/>
          </a:xfrm>
          <a:prstGeom prst="rect">
            <a:avLst/>
          </a:prstGeom>
          <a:solidFill>
            <a:srgbClr val="DCD8D1"/>
          </a:solidFill>
          <a:ln/>
        </p:spPr>
      </p:sp>
      <p:sp>
        <p:nvSpPr>
          <p:cNvPr id="47" name="Text 4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48" name="Shape 45"/>
          <p:cNvSpPr/>
          <p:nvPr/>
        </p:nvSpPr>
        <p:spPr>
          <a:xfrm>
            <a:off x="2304288" y="6400800"/>
            <a:ext cx="1572768" cy="45720"/>
          </a:xfrm>
          <a:prstGeom prst="rect">
            <a:avLst/>
          </a:prstGeom>
          <a:solidFill>
            <a:srgbClr val="DCD8D1"/>
          </a:solidFill>
          <a:ln/>
        </p:spPr>
      </p:sp>
      <p:sp>
        <p:nvSpPr>
          <p:cNvPr id="49" name="Text 4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50" name="Shape 47"/>
          <p:cNvSpPr/>
          <p:nvPr/>
        </p:nvSpPr>
        <p:spPr>
          <a:xfrm>
            <a:off x="3968496" y="6400800"/>
            <a:ext cx="1572768" cy="45720"/>
          </a:xfrm>
          <a:prstGeom prst="rect">
            <a:avLst/>
          </a:prstGeom>
          <a:solidFill>
            <a:srgbClr val="DCD8D1"/>
          </a:solidFill>
          <a:ln/>
        </p:spPr>
      </p:sp>
      <p:sp>
        <p:nvSpPr>
          <p:cNvPr id="51" name="Text 4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2" name="Shape 49"/>
          <p:cNvSpPr/>
          <p:nvPr/>
        </p:nvSpPr>
        <p:spPr>
          <a:xfrm>
            <a:off x="5632704" y="6400800"/>
            <a:ext cx="1572768" cy="45720"/>
          </a:xfrm>
          <a:prstGeom prst="rect">
            <a:avLst/>
          </a:prstGeom>
          <a:solidFill>
            <a:srgbClr val="DCD8D1"/>
          </a:solidFill>
          <a:ln/>
        </p:spPr>
      </p:sp>
      <p:sp>
        <p:nvSpPr>
          <p:cNvPr id="53" name="Text 5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54" name="Shape 51"/>
          <p:cNvSpPr/>
          <p:nvPr/>
        </p:nvSpPr>
        <p:spPr>
          <a:xfrm>
            <a:off x="7296912" y="6400800"/>
            <a:ext cx="1572768" cy="45720"/>
          </a:xfrm>
          <a:prstGeom prst="rect">
            <a:avLst/>
          </a:prstGeom>
          <a:solidFill>
            <a:srgbClr val="DCD8D1"/>
          </a:solidFill>
          <a:ln/>
        </p:spPr>
      </p:sp>
      <p:sp>
        <p:nvSpPr>
          <p:cNvPr id="55" name="Text 5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56" name="Shape 53"/>
          <p:cNvSpPr/>
          <p:nvPr/>
        </p:nvSpPr>
        <p:spPr>
          <a:xfrm>
            <a:off x="8961120" y="6400800"/>
            <a:ext cx="1572768" cy="45720"/>
          </a:xfrm>
          <a:prstGeom prst="rect">
            <a:avLst/>
          </a:prstGeom>
          <a:solidFill>
            <a:srgbClr val="A8442A"/>
          </a:solidFill>
          <a:ln/>
        </p:spPr>
      </p:sp>
      <p:sp>
        <p:nvSpPr>
          <p:cNvPr id="57" name="Text 5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58" name="Text 5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914400"/>
            <a:ext cx="36576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PENUTUP</a:t>
            </a:r>
            <a:endParaRPr lang="en-US" sz="1050" dirty="0"/>
          </a:p>
        </p:txBody>
      </p:sp>
      <p:sp>
        <p:nvSpPr>
          <p:cNvPr id="3" name="Text 1"/>
          <p:cNvSpPr/>
          <p:nvPr/>
        </p:nvSpPr>
        <p:spPr>
          <a:xfrm>
            <a:off x="640080" y="1463040"/>
            <a:ext cx="6949440" cy="2286000"/>
          </a:xfrm>
          <a:prstGeom prst="rect">
            <a:avLst/>
          </a:prstGeom>
          <a:noFill/>
          <a:ln/>
        </p:spPr>
        <p:txBody>
          <a:bodyPr wrap="square" lIns="0" tIns="0" rIns="0" bIns="0" rtlCol="0" anchor="t"/>
          <a:lstStyle/>
          <a:p>
            <a:pPr indent="0" marL="0">
              <a:lnSpc>
                <a:spcPts val="4600"/>
              </a:lnSpc>
              <a:buNone/>
            </a:pPr>
            <a:r>
              <a:rPr lang="en-US" sz="2900" b="1" dirty="0">
                <a:solidFill>
                  <a:srgbClr val="FFFFFF"/>
                </a:solidFill>
                <a:latin typeface="Cambria" pitchFamily="34" charset="0"/>
                <a:ea typeface="Cambria" pitchFamily="34" charset="-122"/>
                <a:cs typeface="Cambria" pitchFamily="34" charset="-120"/>
              </a:rPr>
              <a:t>Di balik 4,7% itu ada 4.452 orang.</a:t>
            </a:r>
            <a:endParaRPr lang="en-US" sz="2900" dirty="0"/>
          </a:p>
          <a:p>
            <a:pPr indent="0" marL="0">
              <a:lnSpc>
                <a:spcPts val="4600"/>
              </a:lnSpc>
              <a:buNone/>
            </a:pPr>
            <a:r>
              <a:rPr lang="en-US" sz="2900" b="1" dirty="0">
                <a:solidFill>
                  <a:srgbClr val="FFFFFF"/>
                </a:solidFill>
                <a:latin typeface="Cambria" pitchFamily="34" charset="0"/>
                <a:ea typeface="Cambria" pitchFamily="34" charset="-122"/>
                <a:cs typeface="Cambria" pitchFamily="34" charset="-120"/>
              </a:rPr>
              <a:t>Kami membangun cara</a:t>
            </a:r>
            <a:endParaRPr lang="en-US" sz="2900" dirty="0"/>
          </a:p>
          <a:p>
            <a:pPr indent="0" marL="0">
              <a:lnSpc>
                <a:spcPts val="4600"/>
              </a:lnSpc>
              <a:buNone/>
            </a:pPr>
            <a:r>
              <a:rPr lang="en-US" sz="2900" b="1" dirty="0">
                <a:solidFill>
                  <a:srgbClr val="FFFFFF"/>
                </a:solidFill>
                <a:latin typeface="Cambria" pitchFamily="34" charset="0"/>
                <a:ea typeface="Cambria" pitchFamily="34" charset="-122"/>
                <a:cs typeface="Cambria" pitchFamily="34" charset="-120"/>
              </a:rPr>
              <a:t>menemukan mereka lebih awal.</a:t>
            </a:r>
            <a:endParaRPr lang="en-US" sz="2900" dirty="0"/>
          </a:p>
        </p:txBody>
      </p:sp>
      <p:sp>
        <p:nvSpPr>
          <p:cNvPr id="4" name="Text 2"/>
          <p:cNvSpPr/>
          <p:nvPr/>
        </p:nvSpPr>
        <p:spPr>
          <a:xfrm>
            <a:off x="640080" y="3931920"/>
            <a:ext cx="6675120" cy="822960"/>
          </a:xfrm>
          <a:prstGeom prst="rect">
            <a:avLst/>
          </a:prstGeom>
          <a:noFill/>
          <a:ln/>
        </p:spPr>
        <p:txBody>
          <a:bodyPr wrap="square" lIns="0" tIns="0" rIns="0" bIns="0" rtlCol="0" anchor="t"/>
          <a:lstStyle/>
          <a:p>
            <a:pPr indent="0" marL="0">
              <a:lnSpc>
                <a:spcPts val="2100"/>
              </a:lnSpc>
              <a:buNone/>
            </a:pPr>
            <a:r>
              <a:rPr lang="en-US" sz="1400" dirty="0">
                <a:solidFill>
                  <a:srgbClr val="9AA0A7"/>
                </a:solidFill>
                <a:latin typeface="Calibri" pitchFamily="34" charset="0"/>
                <a:ea typeface="Calibri" pitchFamily="34" charset="-122"/>
                <a:cs typeface="Calibri" pitchFamily="34" charset="-120"/>
              </a:rPr>
              <a:t>Dengan metodologi yang bisa diulang, keunggulan yang terukur, dan alat yang sudah bisa dicoba hari ini.</a:t>
            </a:r>
            <a:endParaRPr lang="en-US" sz="1400" dirty="0"/>
          </a:p>
        </p:txBody>
      </p:sp>
      <p:sp>
        <p:nvSpPr>
          <p:cNvPr id="5" name="Text 3"/>
          <p:cNvSpPr/>
          <p:nvPr/>
        </p:nvSpPr>
        <p:spPr>
          <a:xfrm>
            <a:off x="8138160" y="1463040"/>
            <a:ext cx="3413455"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TIGA ANGKA UNTUK DIINGAT</a:t>
            </a:r>
            <a:endParaRPr lang="en-US" sz="1050" dirty="0"/>
          </a:p>
        </p:txBody>
      </p:sp>
      <p:sp>
        <p:nvSpPr>
          <p:cNvPr id="6" name="Text 4"/>
          <p:cNvSpPr/>
          <p:nvPr/>
        </p:nvSpPr>
        <p:spPr>
          <a:xfrm>
            <a:off x="8138160" y="1828800"/>
            <a:ext cx="3413455" cy="548640"/>
          </a:xfrm>
          <a:prstGeom prst="rect">
            <a:avLst/>
          </a:prstGeom>
          <a:noFill/>
          <a:ln/>
        </p:spPr>
        <p:txBody>
          <a:bodyPr wrap="square" lIns="0" tIns="0" rIns="0" bIns="0" rtlCol="0" anchor="b"/>
          <a:lstStyle/>
          <a:p>
            <a:pPr algn="l" indent="0" marL="0">
              <a:buNone/>
            </a:pPr>
            <a:r>
              <a:rPr lang="en-US" sz="3000" b="1" dirty="0">
                <a:solidFill>
                  <a:srgbClr val="8FB0A4"/>
                </a:solidFill>
                <a:latin typeface="Cambria" pitchFamily="34" charset="0"/>
                <a:ea typeface="Cambria" pitchFamily="34" charset="-122"/>
                <a:cs typeface="Cambria" pitchFamily="34" charset="-120"/>
              </a:rPr>
              <a:t>+0,06269</a:t>
            </a:r>
            <a:endParaRPr lang="en-US" sz="3000" dirty="0"/>
          </a:p>
        </p:txBody>
      </p:sp>
      <p:sp>
        <p:nvSpPr>
          <p:cNvPr id="7" name="Text 5"/>
          <p:cNvSpPr/>
          <p:nvPr/>
        </p:nvSpPr>
        <p:spPr>
          <a:xfrm>
            <a:off x="8138160" y="2414016"/>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dari aturan keputusan, tuas terbesar</a:t>
            </a:r>
            <a:endParaRPr lang="en-US" sz="1100" dirty="0"/>
          </a:p>
        </p:txBody>
      </p:sp>
      <p:sp>
        <p:nvSpPr>
          <p:cNvPr id="8" name="Text 6"/>
          <p:cNvSpPr/>
          <p:nvPr/>
        </p:nvSpPr>
        <p:spPr>
          <a:xfrm>
            <a:off x="8138160" y="3035808"/>
            <a:ext cx="3413455" cy="548640"/>
          </a:xfrm>
          <a:prstGeom prst="rect">
            <a:avLst/>
          </a:prstGeom>
          <a:noFill/>
          <a:ln/>
        </p:spPr>
        <p:txBody>
          <a:bodyPr wrap="square" lIns="0" tIns="0" rIns="0" bIns="0" rtlCol="0" anchor="b"/>
          <a:lstStyle/>
          <a:p>
            <a:pPr algn="l" indent="0" marL="0">
              <a:buNone/>
            </a:pPr>
            <a:r>
              <a:rPr lang="en-US" sz="3000" b="1" dirty="0">
                <a:solidFill>
                  <a:srgbClr val="D8A25E"/>
                </a:solidFill>
                <a:latin typeface="Cambria" pitchFamily="34" charset="0"/>
                <a:ea typeface="Cambria" pitchFamily="34" charset="-122"/>
                <a:cs typeface="Cambria" pitchFamily="34" charset="-120"/>
              </a:rPr>
              <a:t>0,9143</a:t>
            </a:r>
            <a:endParaRPr lang="en-US" sz="3000" dirty="0"/>
          </a:p>
        </p:txBody>
      </p:sp>
      <p:sp>
        <p:nvSpPr>
          <p:cNvPr id="9" name="Text 7"/>
          <p:cNvSpPr/>
          <p:nvPr/>
        </p:nvSpPr>
        <p:spPr>
          <a:xfrm>
            <a:off x="8138160" y="3621024"/>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R² kurva belajar yang membuktikan plafonnya</a:t>
            </a:r>
            <a:endParaRPr lang="en-US" sz="1100" dirty="0"/>
          </a:p>
        </p:txBody>
      </p:sp>
      <p:sp>
        <p:nvSpPr>
          <p:cNvPr id="10" name="Text 8"/>
          <p:cNvSpPr/>
          <p:nvPr/>
        </p:nvSpPr>
        <p:spPr>
          <a:xfrm>
            <a:off x="8138160" y="4242816"/>
            <a:ext cx="3413455" cy="548640"/>
          </a:xfrm>
          <a:prstGeom prst="rect">
            <a:avLst/>
          </a:prstGeom>
          <a:noFill/>
          <a:ln/>
        </p:spPr>
        <p:txBody>
          <a:bodyPr wrap="square" lIns="0" tIns="0" rIns="0" bIns="0" rtlCol="0" anchor="b"/>
          <a:lstStyle/>
          <a:p>
            <a:pPr algn="l" indent="0" marL="0">
              <a:buNone/>
            </a:pPr>
            <a:r>
              <a:rPr lang="en-US" sz="3000" b="1" dirty="0">
                <a:solidFill>
                  <a:srgbClr val="A8442A"/>
                </a:solidFill>
                <a:latin typeface="Cambria" pitchFamily="34" charset="0"/>
                <a:ea typeface="Cambria" pitchFamily="34" charset="-122"/>
                <a:cs typeface="Cambria" pitchFamily="34" charset="-120"/>
              </a:rPr>
              <a:t>0,7 σ</a:t>
            </a:r>
            <a:endParaRPr lang="en-US" sz="3000" dirty="0"/>
          </a:p>
        </p:txBody>
      </p:sp>
      <p:sp>
        <p:nvSpPr>
          <p:cNvPr id="11" name="Text 9"/>
          <p:cNvSpPr/>
          <p:nvPr/>
        </p:nvSpPr>
        <p:spPr>
          <a:xfrm>
            <a:off x="8138160" y="4828032"/>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jarak enam peringkat papan skor</a:t>
            </a:r>
            <a:endParaRPr lang="en-US" sz="1100" dirty="0"/>
          </a:p>
        </p:txBody>
      </p:sp>
      <p:sp>
        <p:nvSpPr>
          <p:cNvPr id="12" name="Shape 10"/>
          <p:cNvSpPr/>
          <p:nvPr/>
        </p:nvSpPr>
        <p:spPr>
          <a:xfrm>
            <a:off x="640080" y="5394960"/>
            <a:ext cx="10911535" cy="0"/>
          </a:xfrm>
          <a:prstGeom prst="line">
            <a:avLst/>
          </a:prstGeom>
          <a:noFill/>
          <a:ln w="12700">
            <a:solidFill>
              <a:srgbClr val="3A4048"/>
            </a:solidFill>
            <a:prstDash val="solid"/>
          </a:ln>
        </p:spPr>
      </p:sp>
      <p:sp>
        <p:nvSpPr>
          <p:cNvPr id="13" name="Text 11"/>
          <p:cNvSpPr/>
          <p:nvPr/>
        </p:nvSpPr>
        <p:spPr>
          <a:xfrm>
            <a:off x="640080" y="5468112"/>
            <a:ext cx="36576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Tim Warkab</a:t>
            </a:r>
            <a:endParaRPr lang="en-US" sz="1700" dirty="0"/>
          </a:p>
        </p:txBody>
      </p:sp>
      <p:sp>
        <p:nvSpPr>
          <p:cNvPr id="14" name="Text 12">
            <a:hlinkClick r:id="rId1" tooltip=""/>
          </p:cNvPr>
          <p:cNvSpPr/>
          <p:nvPr/>
        </p:nvSpPr>
        <p:spPr>
          <a:xfrm>
            <a:off x="640080" y="5815584"/>
            <a:ext cx="5029200" cy="274320"/>
          </a:xfrm>
          <a:prstGeom prst="rect">
            <a:avLst/>
          </a:prstGeom>
          <a:noFill/>
          <a:ln/>
        </p:spPr>
        <p:txBody>
          <a:bodyPr wrap="square" lIns="0" tIns="0" rIns="0" bIns="0" rtlCol="0" anchor="ctr"/>
          <a:lstStyle/>
          <a:p>
            <a:pPr indent="0" marL="0">
              <a:buNone/>
            </a:pPr>
            <a:r>
              <a:rPr lang="en-US" sz="1050" u="sng" dirty="0">
                <a:solidFill>
                  <a:srgbClr val="9AA0A7"/>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050" dirty="0"/>
          </a:p>
        </p:txBody>
      </p:sp>
      <p:sp>
        <p:nvSpPr>
          <p:cNvPr id="15" name="Text 13">
            <a:hlinkClick r:id="rId2" tooltip=""/>
          </p:cNvPr>
          <p:cNvSpPr/>
          <p:nvPr/>
        </p:nvSpPr>
        <p:spPr>
          <a:xfrm>
            <a:off x="640080" y="6035040"/>
            <a:ext cx="5029200" cy="274320"/>
          </a:xfrm>
          <a:prstGeom prst="rect">
            <a:avLst/>
          </a:prstGeom>
          <a:noFill/>
          <a:ln/>
        </p:spPr>
        <p:txBody>
          <a:bodyPr wrap="square" lIns="0" tIns="0" rIns="0" bIns="0" rtlCol="0" anchor="ctr"/>
          <a:lstStyle/>
          <a:p>
            <a:pPr indent="0" marL="0">
              <a:buNone/>
            </a:pPr>
            <a:r>
              <a:rPr lang="en-US" sz="1050" u="sng" dirty="0">
                <a:solidFill>
                  <a:srgbClr val="9AA0A7"/>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github.com/MikaelAdikara/DataQuest-Warkab</a:t>
            </a:r>
            <a:endParaRPr lang="en-US" sz="1050" dirty="0"/>
          </a:p>
        </p:txBody>
      </p:sp>
      <p:sp>
        <p:nvSpPr>
          <p:cNvPr id="16" name="Text 14"/>
          <p:cNvSpPr/>
          <p:nvPr/>
        </p:nvSpPr>
        <p:spPr>
          <a:xfrm>
            <a:off x="6583680" y="5669280"/>
            <a:ext cx="4965192" cy="365760"/>
          </a:xfrm>
          <a:prstGeom prst="rect">
            <a:avLst/>
          </a:prstGeom>
          <a:noFill/>
          <a:ln/>
        </p:spPr>
        <p:txBody>
          <a:bodyPr wrap="square" lIns="0" tIns="0" rIns="0" bIns="0" rtlCol="0" anchor="ctr"/>
          <a:lstStyle/>
          <a:p>
            <a:pPr algn="r" indent="0" marL="0">
              <a:buNone/>
            </a:pPr>
            <a:r>
              <a:rPr lang="en-US" sz="1400" i="1" dirty="0">
                <a:solidFill>
                  <a:srgbClr val="8FB0A4"/>
                </a:solidFill>
                <a:latin typeface="Calibri" pitchFamily="34" charset="0"/>
                <a:ea typeface="Calibri" pitchFamily="34" charset="-122"/>
                <a:cs typeface="Calibri" pitchFamily="34" charset="-120"/>
              </a:rPr>
              <a:t>Terima kasih, kami siap menjawab pertanyaan.</a:t>
            </a:r>
            <a:endParaRPr lang="en-US" sz="1400" dirty="0"/>
          </a:p>
        </p:txBody>
      </p:sp>
      <p:sp>
        <p:nvSpPr>
          <p:cNvPr id="18" name="Text 1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9"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Lampiran · 21 pendekatan yang diuji lalu ditolak.</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Hasil negatif dilaporkan selengkap hasil positif, karena menjelaskan kenapa arsitektur akhirnya sesederhana ini.</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5212080" cy="914400"/>
        </p:xfrm>
        <a:graphic>
          <a:graphicData uri="http://schemas.openxmlformats.org/drawingml/2006/table">
            <a:tbl>
              <a:tblPr/>
              <a:tblGrid>
                <a:gridCol w="2011680"/>
                <a:gridCol w="2377440"/>
                <a:gridCol w="822960"/>
              </a:tblGrid>
              <a:tr h="393192">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Ditolak di notebook</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Alasan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Bagian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Fitur komposit domain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Tidak ada perbaikan di ablasi</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5.1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Kode 7/8/9 → NaN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Tidak membantu, kode bersinyal</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3.3, 5.1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Target encoding rumah tangga</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Lift +1,6pp, skor turun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id sebagai fitur</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Spearman 0,006</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3.6</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argmax probabilitas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QWK jauh di bawah ambang</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MLP sebagai model utama</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Di bawah semua pohon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7.1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Ambang titik tunggal</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Selisih split-half terbesar</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Kalibrasi Platt / isotonik</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Reliabilitas sudah diagonal</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9.2</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Indikator tahun survei</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Target stabil antar tahun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Seleksi fitur agresif</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Sinyal tersebar tipis</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126480" y="1371600"/>
          <a:ext cx="5425135" cy="914400"/>
        </p:xfrm>
        <a:graphic>
          <a:graphicData uri="http://schemas.openxmlformats.org/drawingml/2006/table">
            <a:tbl>
              <a:tblPr/>
              <a:tblGrid>
                <a:gridCol w="1783080"/>
                <a:gridCol w="1508760"/>
                <a:gridCol w="1188720"/>
                <a:gridCol w="944575"/>
              </a:tblGrid>
              <a:tr h="361188">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Di luar notebook (A.2)</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Cakupan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QWK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Hasil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Hyperparameter acak</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28 konfigurasi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0,465–0,467</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menonjol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Rekonstruksi nilai hilang</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3.030.768 sel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0,4755–0,4806</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Datar</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Pembobotan sampel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4 tingkat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0,458–0,469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Turun monoton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Self-training</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Pseudo-label uji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0,4735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menembus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Pembobotan survei</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survey_weight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0,4726</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menembus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Bagging 9 model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6 LGB + 3 Cat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0,4820</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 bawah stacking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Blending 25 kandidat</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Greedy, z, rank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0,4834–0,4839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Setara terbaik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Vektor nilai kelas</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Ganti (1,2,3,4)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0,4835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Tetap (1,2,3,4)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Aturan linear simpleks</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argmax(W·p+b)</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0,4744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 bawah ordinal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TabPFN v2 GPU</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Model fondasi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selesai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85 menit/bag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b="1" dirty="0">
                          <a:solidFill>
                            <a:srgbClr val="A8442A"/>
                          </a:solidFill>
                          <a:latin typeface="Calibri" pitchFamily="34" charset="0"/>
                          <a:ea typeface="Calibri" pitchFamily="34" charset="-122"/>
                          <a:cs typeface="Calibri" pitchFamily="34" charset="-120"/>
                        </a:rPr>
                        <a:t>Ambang per segmen</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Tahun, kesehatan, usia</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tampak naik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A8442A"/>
                          </a:solidFill>
                          <a:latin typeface="Calibri" pitchFamily="34" charset="0"/>
                          <a:ea typeface="Calibri" pitchFamily="34" charset="-122"/>
                          <a:cs typeface="Calibri" pitchFamily="34" charset="-120"/>
                        </a:rPr>
                        <a:t>Overfit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Text 2"/>
          <p:cNvSpPr/>
          <p:nvPr/>
        </p:nvSpPr>
        <p:spPr>
          <a:xfrm>
            <a:off x="640080" y="5833872"/>
            <a:ext cx="10911535" cy="365760"/>
          </a:xfrm>
          <a:prstGeom prst="rect">
            <a:avLst/>
          </a:prstGeom>
          <a:noFill/>
          <a:ln/>
        </p:spPr>
        <p:txBody>
          <a:bodyPr wrap="square" lIns="0" tIns="0" rIns="0" bIns="0" rtlCol="0" anchor="ctr"/>
          <a:lstStyle/>
          <a:p>
            <a:pPr algn="l" indent="0" marL="0">
              <a:buNone/>
            </a:pPr>
            <a:r>
              <a:rPr lang="en-US" sz="950" i="1" dirty="0">
                <a:solidFill>
                  <a:srgbClr val="6E747C"/>
                </a:solidFill>
                <a:latin typeface="Calibri" pitchFamily="34" charset="0"/>
                <a:ea typeface="Calibri" pitchFamily="34" charset="-122"/>
                <a:cs typeface="Calibri" pitchFamily="34" charset="-120"/>
              </a:rPr>
              <a:t>Rekonstruksi nilai hilang: 78 kolom pulih di atas 95%, lima sempurna, tetapi QWK datar di tingkat pemulihan 56, 79, dan 100%. Yang dipulihkan adalah redundansi, bukan sinyal.</a:t>
            </a:r>
            <a:endParaRPr lang="en-US" sz="950" dirty="0"/>
          </a:p>
        </p:txBody>
      </p:sp>
      <p:sp>
        <p:nvSpPr>
          <p:cNvPr id="8" name="Shape 3"/>
          <p:cNvSpPr/>
          <p:nvPr/>
        </p:nvSpPr>
        <p:spPr>
          <a:xfrm>
            <a:off x="640080" y="6400800"/>
            <a:ext cx="1572768" cy="45720"/>
          </a:xfrm>
          <a:prstGeom prst="rect">
            <a:avLst/>
          </a:prstGeom>
          <a:solidFill>
            <a:srgbClr val="DCD8D1"/>
          </a:solidFill>
          <a:ln/>
        </p:spPr>
      </p:sp>
      <p:sp>
        <p:nvSpPr>
          <p:cNvPr id="9" name="Text 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10" name="Shape 5"/>
          <p:cNvSpPr/>
          <p:nvPr/>
        </p:nvSpPr>
        <p:spPr>
          <a:xfrm>
            <a:off x="2304288" y="6400800"/>
            <a:ext cx="1572768" cy="45720"/>
          </a:xfrm>
          <a:prstGeom prst="rect">
            <a:avLst/>
          </a:prstGeom>
          <a:solidFill>
            <a:srgbClr val="DCD8D1"/>
          </a:solidFill>
          <a:ln/>
        </p:spPr>
      </p:sp>
      <p:sp>
        <p:nvSpPr>
          <p:cNvPr id="11" name="Text 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2" name="Shape 7"/>
          <p:cNvSpPr/>
          <p:nvPr/>
        </p:nvSpPr>
        <p:spPr>
          <a:xfrm>
            <a:off x="3968496" y="6400800"/>
            <a:ext cx="1572768" cy="45720"/>
          </a:xfrm>
          <a:prstGeom prst="rect">
            <a:avLst/>
          </a:prstGeom>
          <a:solidFill>
            <a:srgbClr val="DCD8D1"/>
          </a:solidFill>
          <a:ln/>
        </p:spPr>
      </p:sp>
      <p:sp>
        <p:nvSpPr>
          <p:cNvPr id="13" name="Text 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4" name="Shape 9"/>
          <p:cNvSpPr/>
          <p:nvPr/>
        </p:nvSpPr>
        <p:spPr>
          <a:xfrm>
            <a:off x="5632704" y="6400800"/>
            <a:ext cx="1572768" cy="45720"/>
          </a:xfrm>
          <a:prstGeom prst="rect">
            <a:avLst/>
          </a:prstGeom>
          <a:solidFill>
            <a:srgbClr val="DCD8D1"/>
          </a:solidFill>
          <a:ln/>
        </p:spPr>
      </p:sp>
      <p:sp>
        <p:nvSpPr>
          <p:cNvPr id="15" name="Text 1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6" name="Shape 11"/>
          <p:cNvSpPr/>
          <p:nvPr/>
        </p:nvSpPr>
        <p:spPr>
          <a:xfrm>
            <a:off x="7296912" y="6400800"/>
            <a:ext cx="1572768" cy="45720"/>
          </a:xfrm>
          <a:prstGeom prst="rect">
            <a:avLst/>
          </a:prstGeom>
          <a:solidFill>
            <a:srgbClr val="DCD8D1"/>
          </a:solidFill>
          <a:ln/>
        </p:spPr>
      </p:sp>
      <p:sp>
        <p:nvSpPr>
          <p:cNvPr id="17" name="Text 1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18" name="Shape 13"/>
          <p:cNvSpPr/>
          <p:nvPr/>
        </p:nvSpPr>
        <p:spPr>
          <a:xfrm>
            <a:off x="8961120" y="6400800"/>
            <a:ext cx="1572768" cy="45720"/>
          </a:xfrm>
          <a:prstGeom prst="rect">
            <a:avLst/>
          </a:prstGeom>
          <a:solidFill>
            <a:srgbClr val="A8442A"/>
          </a:solidFill>
          <a:ln/>
        </p:spPr>
      </p:sp>
      <p:sp>
        <p:nvSpPr>
          <p:cNvPr id="19" name="Text 1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20"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27432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LAMPIRAN A.3</a:t>
            </a:r>
            <a:endParaRPr lang="en-US" sz="1050" dirty="0"/>
          </a:p>
        </p:txBody>
      </p:sp>
      <p:sp>
        <p:nvSpPr>
          <p:cNvPr id="3" name="Text 1"/>
          <p:cNvSpPr/>
          <p:nvPr/>
        </p:nvSpPr>
        <p:spPr>
          <a:xfrm>
            <a:off x="640080" y="877824"/>
            <a:ext cx="10911535" cy="548640"/>
          </a:xfrm>
          <a:prstGeom prst="rect">
            <a:avLst/>
          </a:prstGeom>
          <a:noFill/>
          <a:ln/>
        </p:spPr>
        <p:txBody>
          <a:bodyPr wrap="square" lIns="0" tIns="0" rIns="0" bIns="0" rtlCol="0" anchor="t"/>
          <a:lstStyle/>
          <a:p>
            <a:pPr indent="0" marL="0">
              <a:lnSpc>
                <a:spcPts val="3136"/>
              </a:lnSpc>
              <a:buNone/>
            </a:pPr>
            <a:r>
              <a:rPr lang="en-US" sz="2800" b="1" dirty="0">
                <a:solidFill>
                  <a:srgbClr val="16191D"/>
                </a:solidFill>
                <a:latin typeface="Cambria" pitchFamily="34" charset="0"/>
                <a:ea typeface="Cambria" pitchFamily="34" charset="-122"/>
                <a:cs typeface="Cambria" pitchFamily="34" charset="-120"/>
              </a:rPr>
              <a:t>Daftar pustaka.</a:t>
            </a:r>
            <a:endParaRPr lang="en-US" sz="2800" dirty="0"/>
          </a:p>
        </p:txBody>
      </p:sp>
      <p:sp>
        <p:nvSpPr>
          <p:cNvPr id="4" name="Text 2"/>
          <p:cNvSpPr/>
          <p:nvPr/>
        </p:nvSpPr>
        <p:spPr>
          <a:xfrm>
            <a:off x="640080" y="15544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Chen, T., &amp; Guestrin, C. (2016). XGBoost: A scalable tree boosting system. Proceedings of KDD 2016.</a:t>
            </a:r>
            <a:endParaRPr lang="en-US" sz="950" dirty="0"/>
          </a:p>
        </p:txBody>
      </p:sp>
      <p:sp>
        <p:nvSpPr>
          <p:cNvPr id="5" name="Text 3"/>
          <p:cNvSpPr/>
          <p:nvPr/>
        </p:nvSpPr>
        <p:spPr>
          <a:xfrm>
            <a:off x="640080" y="18059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Cohen, J. (1968). Weighted kappa: Nominal scale agreement with provision for scaled disagreement or partial credit. Psychological Bulletin, 70(4).</a:t>
            </a:r>
            <a:endParaRPr lang="en-US" sz="950" dirty="0"/>
          </a:p>
        </p:txBody>
      </p:sp>
      <p:sp>
        <p:nvSpPr>
          <p:cNvPr id="6" name="Text 4"/>
          <p:cNvSpPr/>
          <p:nvPr/>
        </p:nvSpPr>
        <p:spPr>
          <a:xfrm>
            <a:off x="640080" y="20574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Diener, E., &amp; Chan, M. Y. (2011). Happy people live longer: Subjective well-being contributes to health and longevity. Applied Psychology: Health and Well-Being, 3(1).</a:t>
            </a:r>
            <a:endParaRPr lang="en-US" sz="950" dirty="0"/>
          </a:p>
        </p:txBody>
      </p:sp>
      <p:sp>
        <p:nvSpPr>
          <p:cNvPr id="7" name="Text 5"/>
          <p:cNvSpPr/>
          <p:nvPr/>
        </p:nvSpPr>
        <p:spPr>
          <a:xfrm>
            <a:off x="640080" y="230886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Efron, B. (1979). Bootstrap methods: Another look at the jackknife. The Annals of Statistics, 7(1).</a:t>
            </a:r>
            <a:endParaRPr lang="en-US" sz="950" dirty="0"/>
          </a:p>
        </p:txBody>
      </p:sp>
      <p:sp>
        <p:nvSpPr>
          <p:cNvPr id="8" name="Text 6"/>
          <p:cNvSpPr/>
          <p:nvPr/>
        </p:nvSpPr>
        <p:spPr>
          <a:xfrm>
            <a:off x="640080" y="256032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Frank, E., &amp; Hall, M. (2001). A simple approach to ordinal classification. ECML 2001, LNCS 2167.</a:t>
            </a:r>
            <a:endParaRPr lang="en-US" sz="950" dirty="0"/>
          </a:p>
        </p:txBody>
      </p:sp>
      <p:sp>
        <p:nvSpPr>
          <p:cNvPr id="9" name="Text 7"/>
          <p:cNvSpPr/>
          <p:nvPr/>
        </p:nvSpPr>
        <p:spPr>
          <a:xfrm>
            <a:off x="640080" y="28117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Friedman, J. H. (2001). Greedy function approximation: A gradient boosting machine. The Annals of Statistics, 29(5).</a:t>
            </a:r>
            <a:endParaRPr lang="en-US" sz="950" dirty="0"/>
          </a:p>
        </p:txBody>
      </p:sp>
      <p:sp>
        <p:nvSpPr>
          <p:cNvPr id="10" name="Text 8"/>
          <p:cNvSpPr/>
          <p:nvPr/>
        </p:nvSpPr>
        <p:spPr>
          <a:xfrm>
            <a:off x="640080" y="30632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Huber, P. J. (1964). Robust estimation of a location parameter. The Annals of Mathematical Statistics, 35(1).</a:t>
            </a:r>
            <a:endParaRPr lang="en-US" sz="950" dirty="0"/>
          </a:p>
        </p:txBody>
      </p:sp>
      <p:sp>
        <p:nvSpPr>
          <p:cNvPr id="11" name="Text 9"/>
          <p:cNvSpPr/>
          <p:nvPr/>
        </p:nvSpPr>
        <p:spPr>
          <a:xfrm>
            <a:off x="640080" y="33147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Kahneman, D., &amp; Deaton, A. (2010). High income improves evaluation of life but not emotional well-being. PNAS, 107(38).</a:t>
            </a:r>
            <a:endParaRPr lang="en-US" sz="950" dirty="0"/>
          </a:p>
        </p:txBody>
      </p:sp>
      <p:sp>
        <p:nvSpPr>
          <p:cNvPr id="12" name="Text 10"/>
          <p:cNvSpPr/>
          <p:nvPr/>
        </p:nvSpPr>
        <p:spPr>
          <a:xfrm>
            <a:off x="640080" y="356616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Ke, G., dkk. (2017). LightGBM: A highly efficient gradient boosting decision tree. NeurIPS 2017.</a:t>
            </a:r>
            <a:endParaRPr lang="en-US" sz="950" dirty="0"/>
          </a:p>
        </p:txBody>
      </p:sp>
      <p:sp>
        <p:nvSpPr>
          <p:cNvPr id="13" name="Text 11"/>
          <p:cNvSpPr/>
          <p:nvPr/>
        </p:nvSpPr>
        <p:spPr>
          <a:xfrm>
            <a:off x="640080" y="381762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Kementerian Kesehatan RI. (2018). Laporan Nasional Riset Kesehatan Dasar (Riskesdas) 2018.</a:t>
            </a:r>
            <a:endParaRPr lang="en-US" sz="950" dirty="0"/>
          </a:p>
        </p:txBody>
      </p:sp>
      <p:sp>
        <p:nvSpPr>
          <p:cNvPr id="14" name="Text 12"/>
          <p:cNvSpPr/>
          <p:nvPr/>
        </p:nvSpPr>
        <p:spPr>
          <a:xfrm>
            <a:off x="640080" y="40690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Koivumaa-Honkanen, H., dkk. (2001). Life satisfaction and suicide: A 20-year follow-up study. American Journal of Psychiatry, 158(3).</a:t>
            </a:r>
            <a:endParaRPr lang="en-US" sz="950" dirty="0"/>
          </a:p>
        </p:txBody>
      </p:sp>
      <p:sp>
        <p:nvSpPr>
          <p:cNvPr id="15" name="Text 13"/>
          <p:cNvSpPr/>
          <p:nvPr/>
        </p:nvSpPr>
        <p:spPr>
          <a:xfrm>
            <a:off x="640080" y="43205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Landis, J. R., &amp; Koch, G. G. (1977). The measurement of observer agreement for categorical data. Biometrics, 33(1).</a:t>
            </a:r>
            <a:endParaRPr lang="en-US" sz="950" dirty="0"/>
          </a:p>
        </p:txBody>
      </p:sp>
      <p:sp>
        <p:nvSpPr>
          <p:cNvPr id="16" name="Text 14"/>
          <p:cNvSpPr/>
          <p:nvPr/>
        </p:nvSpPr>
        <p:spPr>
          <a:xfrm>
            <a:off x="640080" y="45720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Lykken, D., &amp; Tellegen, A. (1996). Happiness is a stochastic phenomenon. Psychological Science, 7(3).</a:t>
            </a:r>
            <a:endParaRPr lang="en-US" sz="950" dirty="0"/>
          </a:p>
        </p:txBody>
      </p:sp>
      <p:sp>
        <p:nvSpPr>
          <p:cNvPr id="17" name="Text 15"/>
          <p:cNvSpPr/>
          <p:nvPr/>
        </p:nvSpPr>
        <p:spPr>
          <a:xfrm>
            <a:off x="640080" y="482346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OECD. (2013). OECD Guidelines on Measuring Subjective Well-being. OECD Publishing, Paris.</a:t>
            </a:r>
            <a:endParaRPr lang="en-US" sz="950" dirty="0"/>
          </a:p>
        </p:txBody>
      </p:sp>
      <p:sp>
        <p:nvSpPr>
          <p:cNvPr id="18" name="Text 16"/>
          <p:cNvSpPr/>
          <p:nvPr/>
        </p:nvSpPr>
        <p:spPr>
          <a:xfrm>
            <a:off x="640080" y="507492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Prokhorenkova, L., dkk. (2018). CatBoost: Unbiased boosting with categorical features. NeurIPS 2018.</a:t>
            </a:r>
            <a:endParaRPr lang="en-US" sz="950" dirty="0"/>
          </a:p>
        </p:txBody>
      </p:sp>
      <p:sp>
        <p:nvSpPr>
          <p:cNvPr id="19" name="Text 17"/>
          <p:cNvSpPr/>
          <p:nvPr/>
        </p:nvSpPr>
        <p:spPr>
          <a:xfrm>
            <a:off x="640080" y="53263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Wolpert, D. H. (1992). Stacked generalization. Neural Networks, 5(2).</a:t>
            </a:r>
            <a:endParaRPr lang="en-US" sz="950" dirty="0"/>
          </a:p>
        </p:txBody>
      </p:sp>
      <p:sp>
        <p:nvSpPr>
          <p:cNvPr id="20" name="Text 18"/>
          <p:cNvSpPr/>
          <p:nvPr/>
        </p:nvSpPr>
        <p:spPr>
          <a:xfrm>
            <a:off x="640080" y="55778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World Health Organization. (2021). Suicide worldwide in 2019: Global health estimates.</a:t>
            </a:r>
            <a:endParaRPr lang="en-US" sz="950" dirty="0"/>
          </a:p>
        </p:txBody>
      </p:sp>
      <p:sp>
        <p:nvSpPr>
          <p:cNvPr id="21" name="Text 19"/>
          <p:cNvSpPr/>
          <p:nvPr/>
        </p:nvSpPr>
        <p:spPr>
          <a:xfrm>
            <a:off x="640080" y="58293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World Health Organization. (2023). Depressive disorder (depression), fact sheet.</a:t>
            </a:r>
            <a:endParaRPr lang="en-US" sz="950" dirty="0"/>
          </a:p>
        </p:txBody>
      </p:sp>
      <p:sp>
        <p:nvSpPr>
          <p:cNvPr id="23" name="Shape 20"/>
          <p:cNvSpPr/>
          <p:nvPr/>
        </p:nvSpPr>
        <p:spPr>
          <a:xfrm>
            <a:off x="640080" y="6400800"/>
            <a:ext cx="1572768" cy="45720"/>
          </a:xfrm>
          <a:prstGeom prst="rect">
            <a:avLst/>
          </a:prstGeom>
          <a:solidFill>
            <a:srgbClr val="DCD8D1"/>
          </a:solidFill>
          <a:ln/>
        </p:spPr>
      </p:sp>
      <p:sp>
        <p:nvSpPr>
          <p:cNvPr id="24" name="Text 2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25" name="Shape 22"/>
          <p:cNvSpPr/>
          <p:nvPr/>
        </p:nvSpPr>
        <p:spPr>
          <a:xfrm>
            <a:off x="2304288" y="6400800"/>
            <a:ext cx="1572768" cy="45720"/>
          </a:xfrm>
          <a:prstGeom prst="rect">
            <a:avLst/>
          </a:prstGeom>
          <a:solidFill>
            <a:srgbClr val="DCD8D1"/>
          </a:solidFill>
          <a:ln/>
        </p:spPr>
      </p:sp>
      <p:sp>
        <p:nvSpPr>
          <p:cNvPr id="26" name="Text 2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27" name="Shape 24"/>
          <p:cNvSpPr/>
          <p:nvPr/>
        </p:nvSpPr>
        <p:spPr>
          <a:xfrm>
            <a:off x="3968496" y="6400800"/>
            <a:ext cx="1572768" cy="45720"/>
          </a:xfrm>
          <a:prstGeom prst="rect">
            <a:avLst/>
          </a:prstGeom>
          <a:solidFill>
            <a:srgbClr val="DCD8D1"/>
          </a:solidFill>
          <a:ln/>
        </p:spPr>
      </p:sp>
      <p:sp>
        <p:nvSpPr>
          <p:cNvPr id="28" name="Text 2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29" name="Shape 26"/>
          <p:cNvSpPr/>
          <p:nvPr/>
        </p:nvSpPr>
        <p:spPr>
          <a:xfrm>
            <a:off x="5632704" y="6400800"/>
            <a:ext cx="1572768" cy="45720"/>
          </a:xfrm>
          <a:prstGeom prst="rect">
            <a:avLst/>
          </a:prstGeom>
          <a:solidFill>
            <a:srgbClr val="DCD8D1"/>
          </a:solidFill>
          <a:ln/>
        </p:spPr>
      </p:sp>
      <p:sp>
        <p:nvSpPr>
          <p:cNvPr id="30" name="Text 2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31" name="Shape 28"/>
          <p:cNvSpPr/>
          <p:nvPr/>
        </p:nvSpPr>
        <p:spPr>
          <a:xfrm>
            <a:off x="7296912" y="6400800"/>
            <a:ext cx="1572768" cy="45720"/>
          </a:xfrm>
          <a:prstGeom prst="rect">
            <a:avLst/>
          </a:prstGeom>
          <a:solidFill>
            <a:srgbClr val="DCD8D1"/>
          </a:solidFill>
          <a:ln/>
        </p:spPr>
      </p:sp>
      <p:sp>
        <p:nvSpPr>
          <p:cNvPr id="32" name="Text 2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33" name="Shape 30"/>
          <p:cNvSpPr/>
          <p:nvPr/>
        </p:nvSpPr>
        <p:spPr>
          <a:xfrm>
            <a:off x="8961120" y="6400800"/>
            <a:ext cx="1572768" cy="45720"/>
          </a:xfrm>
          <a:prstGeom prst="rect">
            <a:avLst/>
          </a:prstGeom>
          <a:solidFill>
            <a:srgbClr val="A8442A"/>
          </a:solidFill>
          <a:ln/>
        </p:spPr>
      </p:sp>
      <p:sp>
        <p:nvSpPr>
          <p:cNvPr id="34" name="Text 3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Objective Quest DataQuest 5.0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Membaca Skala, Bukan Menebak Kelas · Tim Warkab</dc:title>
  <dc:subject>PptxGenJS Presentation</dc:subject>
  <dc:creator>Tim Warkab</dc:creator>
  <cp:lastModifiedBy>Tim Warkab</cp:lastModifiedBy>
  <cp:revision>1</cp:revision>
  <dcterms:created xsi:type="dcterms:W3CDTF">2026-09-16T16:48:12Z</dcterms:created>
  <dcterms:modified xsi:type="dcterms:W3CDTF">2026-09-16T16:48:12Z</dcterms:modified>
</cp:coreProperties>
</file>