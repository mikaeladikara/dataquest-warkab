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1.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3556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logaritmik</c:v>
                </c:pt>
              </c:strCache>
            </c:strRef>
          </c:tx>
          <c:spPr>
            <a:solidFill>
              <a:srgbClr val="3A4048"/>
            </a:solidFill>
            <a:ln w="3556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0" sourceLinked="0"/>
        <c:majorTickMark val="out"/>
        <c:minorTickMark val="none"/>
        <c:tickLblPos val="nextTo"/>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majorUnit val="0.01"/>
      </c:valAx>
      <c:spPr>
        <a:noFill/>
        <a:ln>
          <a:noFill/>
        </a:ln>
        <a:effectLst/>
      </c:spPr>
    </c:plotArea>
    <c:legend>
      <c:legendPos val="b"/>
      <c:overlay val="0"/>
      <c:txPr>
        <a:bodyPr/>
        <a:lstStyle/>
        <a:p>
          <a:pPr>
            <a:defRPr sz="1000">
              <a:solidFill>
                <a:srgbClr val="3A404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target dalam dua kalimat. Distribusi di kanan cukup satu kalimat: dua kelas terbawah hanya 4,7 persen dari data, dan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kail presentasi. Berhenti sejenak setelah judulnya, biarkan angkanya bekerja. Lima puluh persen akurasi terdengar setengah benar, tetapi Quadratic Weighted Kappa menilainya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ini dipasang di depan supaya juri tahu setiap pertanyaan akan dijawab dan tidak perlu menyimpannya sampai akhir. Sebut nomor babak setiap kali berpindah.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sumber ini publik dan bisa diperiksa, daftar lengkapnya di lampiran pustaka. Tidak satu pun dipakai sebagai data latih, hanya sebagai kerangka berpikir, sesuai pasal B.1.a. Kalimat di pita bawah adalah rumusan masalah yang dijawab seluruh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tiga hal. Skalanya ordinal bukan nominal. Seluruh kolom sudah berupa kode numerik sehingga tidak perlu encoding kategorikal. Dan id di berkas uji tidak unik, sehingga submission harus berisi 23.666 baris, bukan 23.902.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ini adalah metrik kompetisi, digambar apa adanya. Diagonalnya nol dan penaltinya tumbuh kuadratik. Begitu juri melihat angka 9 di pojok, sisa presentasi jadi masuk akal.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Nilai harapan adalah penduga yang meminimalkan galat kuadratik, dan QWK pada dasarnya galat kuadratik yang dinormalisasi. Jadi ini konsekuensi teori keputusan, bukan trik kompetisi. Ambang batas muncul karena keluarannya harus tetap berupa label diskret.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jembatan antara latar belakang dan metodologi. Empat akar ini tidak dikarang setelah hasil keluar, masing-masing punya angka di kolom kedua. Setelah slide ini, sebut bahwa sisa presentasi adalah membuktikan kolom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Ketimpangan ini bukan sekadar catatan statistik, ia menentukan seluruh strategi. Setiap responden kelas 4 yang ditebak kelas 1 menyumbang penalti sembilan kali lipat, sementara 893 orang itu hanya 0,93 persen dari data latih.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yang perlu diucapkan: kolom dengan kosong tertinggi adalah pertanyaan bersyarat, misalnya pertanyaan kehamilan yang hanya diajukan ke sebagian responden. Kosongnya terstruktur, bukan rusak. Proporsi kosong juga hampir seragam antar kelas target, sehingga missingness sendiri membawa sedikit sinyal.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detail survei yang mudah terlewat. Kode 7, 8, 9 muncul sebagai angka biasa di kolom yang isinya 1 dan 2, sehingga model bisa salah membacanya sebagai nilai ordinal besar. Kami memeriksanya, menemukan responden yang menolak menjawab cenderung sedikit lebih tidak puas, lalu membiarkannya.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Rentang di sini adalah selisih rata-rata target antara tingkat tertinggi dan terendah pada variabel itu. Angka 0,96 pada general_health_status berarti hampir satu kelas penuh bergeser hanya dari satu pertanyaan. Monotonisitasnya kami periksa satu per satu, bukan diasumsikan.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Kondisi ini justru menguntungkan model pohon dengan banyak percabangan dangkal. Kalau ada satu fitur dominan, model linear sederhana sudah cukup. Karena sinyalnya tersebar, kombinasi banyak percabangan yang menang.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pemeriksaan yang sering dilewati. Kalau hubungan fitur dan target bergeser antar tahun, satu model untuk empat tahun akan bermasalah dan validasi acak justru menyembunyikan masalahnya. Kami memeriksanya lebih dulu dan hasilnya datar.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domain ini sejalan dengan literatur: kondisi kesehatan fisik dan mental serta tekanan ekonomi adalah penentu terkuat, sementara karakteristik pekerjaan dan tempat tinggal tipis. Yang lebih penting justru daftar di kanan. Ini argumen substantif, bukan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sempat membangun household target encoding out-of-fold secara lengkap. Hasilnya justru menurunkan QWK karena model teralihkan sinyal yang nyaris nol sambil menambah risiko overfitting. Ini contoh kebocoran semu yang tampak menjanjikan tetapi tidak membawa informasi.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tulang punggung metodologi kami dan slide yang paling layak diberi waktu. Bacakan dua atau tiga baris saja, lalu katakan bahwa sepuluh baris ini adalah seluruh isi babak EDA dalam satu halaman. Kolom kanan adalah daftar keputusan yang akan dijalankan di babak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kanan adalah yang membedakan tabel ini dari daftar langkah biasa. Dua baris berwarna adalah fitur yang dibuang setelah diukur, bukan yang tidak terpikirkan. Kalau juri bertanya kenapa tidak ada imputasi, jawabannya ada di baris pertama dan buktinya di slide ablasi.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contoh ablasi yang jujur. Membuat fitur komposit itu mudah dan terlihat rajin. Yang sulit adalah membuangnya setelah terbukti tidak membantu. Selisih 0,0009 dan 0,0011 keduanya lebih kecil daripada derau antar fold, jadi tidak satu pun bisa disebut perbaikan.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4,44 kali sepuluh pangkat minus enam belas adalah presisi mesin, artinya kedua implementasi identik secara numerik. Kami menyebut angka ini supaya juri tidak perlu bertanya apakah metrik yang kami optimalkan sama dengan metrik yang dipakai panitia.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hal yang layak ditekankan. Pertama, fold yang identik adalah prasyarat teknis stacking, bukan sekadar kerapian. Kedua, seed dipisah antara pembagian fold dan inisialisasi model, sehingga keduanya bisa diuji sensitivitasnya secara terpisah, dan itu kami lakukan di babak reproduksibilitas.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sudut pandang adalah alasan tiap model ada. ord memecah masalah empat kelas menjadi tiga pertanyaan biner, apakah y lebih besar dari 1, dari 2, dari 3, lalu menyusunnya kembali menjadi distribusi yang valid dan monoton. Itu cara paling eksplisit menghormati urutan kelas.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untuk juri akademik. Kalau ada pertanyaan dari mana gagasan dekomposisi kumulatif atau kenapa CatBoost dipilih, jawabannya ada di kolom tengah. Referensi lengkap di lampiran pustaka.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petunjuk pertama analisis plafon. Boosting leaf-wise, boosting level-wise, ordered boosting, regresi kontinu, dan dekomposisi ordinal adalah lima cara berbeda memotong ruang fitur. Kalau kelimanya berhenti di angka yang sama, yang menahan bukan kapasitas model. MLP tertinggal, dan itu wajar untuk data tabular berdimensi menengah.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metodologisnya begini. Memilih kombinasi dengan mengambil skor OOF tertinggi adalah titik paling rawan di pipeline mana pun, karena yang terpilih sering yang paling cocok dengan derau OOF. Kami menetapkan pilihan lebih dulu dengan dua argumen tentang sifat penduga. Bahwa pilihan itu kebetulan juga yang tertinggi adalah bonus, bukan dasarnya.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45, 32, dan 26 adalah kerapatan grid untuk masing-masing ambang. t3 diberi grid paling jarang karena rentang yang masuk akal untuknya paling sempit, dan itu kelas dengan sampel paling sedikit. Detail ini akan relevan lagi di babak berikutnya ketika kami menunjukkan t3 paling tidak stabil.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yang paling mungkin ditanya juri. Jawabannya: akurasi dan QWK mengukur hal berbeda. Tim yang mengoptimalkan akurasi pada kompetisi ini akan sistematis tertinggal di papan peringkat meskipun modelnya sama persis. Angka 0,96 persen versus 8,58 persen adalah inti perbedaannya.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3 penting untuk dibaca: regresi logistik dengan ambang batas mencapai 0,4488, jauh di bawah model pohon. Itu menandakan hubungan fitur dan target memang non-linear, jadi model pohon bukan pilihan gaya. Tetapi bandingkan baris 4 dan 5, model yang sama persis, hanya aturan keputusannya berbeda, selisihnya 0,06269.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strategi a menang pada kolom QWK OOF. Itu memang definisinya, karena ia yang memaksimalkan QWK pada himpunan tersebut. Slide berikutnya menjelaskan kenapa kolom itu justru tidak boleh dipakai memilih.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split-half memakan 19 menit. Hasilnya menggeser QWK OOF final kami turun dari 0,48517 ke 0,48425, jadi kami secara sadar melepas 0,0009 pada angka yang dilaporkan demi penduga yang lebih stabil. Pada held-out, pilihan itu justru unggul 0,00023.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Pengalaman inilah yang mendasari keputusan memakai strategi reduksi variansi dan membatasi diri pada tiga ambang global. Kalau juri bertanya apa kegagalan terbesar kami, ini jawabannya, dan kami menemukannya sendiri sebelum data uji menemukannya untuk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alasan struktural kenapa kombinasi dan strategi ambang ditetapkan di muka. Konfigurasi yang menang pada satu himpunan validasi kalah pada himpunan berikutnya. Jadi kami memilih berdasarkan sifat penduga, yaitu argumen yang bisa diperiksa tanpa data uji, bukan berdasarkan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matriks ini dari sudut penalti, bukan sudut akurasi. Yang penting bukan seberapa gelap diagonalnya, melainkan seberapa kosong dua pojok terjauh. Sel kiri bawah dan kanan atas adalah galat berjarak tiga, dan keduanya tinggal 60 dan 140 baris dari 95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Landis dan Koch adalah skala interpretasi kappa yang paling sering dikutip. Jangan klaim model ini sangat baik, klaim yang jujur adalah sedang, dan bahwa angka itu dekat dengan batas yang diizinkan informasinya. Angka Lykken dan Tellegen adalah konteks, bukan batas atas QWK yang presisi, jadi ucapkan sebagai konsisten, bukan sebagai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ini menjawab pertanyaan ke mana harus memperbaiki. Jawabannya: ke tempat yang tidak bisa diperbaiki. Dua sel terbesar adalah kebingungan antara dua kelas yang secara substantif memang hampir sama. Sementara galat berjarak jauh, yang penaltinya sembilan kali, sudah ditekan sampai di bawah lima persen berkat ambang 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juri menanyakan kenapa presisi kelas 3 dan 4 rendah, itu memang konsekuensi yang dikehendaki. Dengan metrik kuadratik, menebak kelas 3 untuk orang yang sebenarnya kelas 2 hanya berbiaya 1, sementara gagal menebak kelas 4 berbiaya 9. Jadi menebak berlebih ke arah bawah skala adalah taruhan yang menguntungkan.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ini penting kalau model dipakai untuk penapisan populasi. Kalau QWK anjlok pada satu kelompok umur atau satu tingkat pendidikan, alatnya akan memberi prioritas yang keliru pada kelompok itu. Kelompok pendidikan tingkat 2 memang paling rendah, tetapi ia juga kelompok terkecil.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kembali ke Babak II. Di sana kami menemukan korelasi tertinggi satu fitur terhadap target hanya 0,361 dan menyimpulkan seleksi fitur agresif akan merugikan. Permutation importance di sini mengonfirmasinya dari arah yang berbeda: mencabut fitur teratas sekalipun hanya menurunkan QWK 0,09 dari acuan 0,84.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dengan R kuadrat 0,914 pada rentang data hampir sepuluh kali lipat bukan kebetulan. Itu tanda khas kurva belajar yang sudah memasuki wilayah pengembalian menurun. Klaim kami dapat difalsifikasi: jalankan kurva belajar yang sama, koefisiennya akan keluar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menghitung ini dari matriks konfusi kami sendiri, bukan dari data siapa pun. Ambil irisan acak seukuran papan skor publik, hitung QWK-nya, ulangi 400 kali. Simpangan bakunya 0,0105. Jarak antara peringkat empat dan sembilan hanya 0,7 kali angka itu. Ini bukan alasan, ini konteks untuk membaca papan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seed ini menjawab pertanyaan apakah hasil kami bergantung pada satu pembagian data yang kebetulan menguntungkan. Rentang 0,00029 antar tiga seed berbeda menunjukkan tidak. Angka itu jauh lebih kecil daripada selisih antarpeserta di papan peringkat, yang justru menegaskan poin di slide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Menyebut keterbatasan lebih dulu adalah cara tercepat menutup sesi tanya jawab. Kalau ada juri yang menyiapkan salah satu dari enam ini sebagai pertanyaan, ia akan menemukan jawabannya sudah tertulis dan bisa lanjut ke pertanyaan yang lebih menarik.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dipasang supaya juri tidak perlu mencari sendiri. Baris D adalah yang paling bernilai: tiga puluh persen penilaian bergantung pada reproduksibilitas, dan submission kami dihasilkan pada eksekusi yang sama dengan berkas modelnya.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alatnya dan geser t3 di depan juri. Angka orang yang tertangkap berubah seketika. Itu memperlihatkan bahwa ambang batas bukan konsep abstrak melainkan tuas kebijakan yang bisa diputar sesuai kapasitas petugas lapangan.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jawaban atas pertanyaan untuk apa. Angka 4,7 persen sudah ada di laporan survei mana pun. Yang belum ada adalah daftar terurut siapa saja, dan nilai harapan memberi urutan itu secara alami karena ia kontinu, sementara label diskret tidak bisa.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Saran ketiga adalah yang paling berani dan paling jujur. Kami mengatakan kepada juri bahwa selisih peringkat kami sendiri terhadap peringkat di sekitarnya sebaiknya tidak dibaca sebagai selisih kualitas. Itu konsisten dengan seluruh isi babak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tiga angka itu saja. Lalu buka sesi tanya jawab dan siapkan dua slide lampiran berikutnya, karena di situlah daftar eksperimen yang ditolak berada.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lampiran, untuk sesi tanya jawab. Kalau juri menanyakan apakah kami sudah mencoba sesuatu, kemungkinan besar jawabannya ada di tabel ini beserta nomor bagian notebooknya.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ini menjawab pertanyaan seberapa luas ruang pencarian yang sudah ditelusuri sebelum kami menyimpulkan bahwa kinerja mencapai plafon. Baris terakhir yang berwarna adalah satu-satunya yang sempat terlihat menjanjikan, dan itulah yang terbukti overfit lewat uji split-half.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pustaka dipakai sebagai landasan metode dan konteks. Tidak ada data dari sumber ini yang masuk ke pelatihan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50-1.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hyperlink" Target="https://github.com/MikaelAdikara/DataQuest-Warkab"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   ·   OBJECTIVE QUEST DATAQUEST 5.0</a:t>
            </a:r>
            <a:endParaRPr lang="en-US" sz="1050" dirty="0"/>
          </a:p>
        </p:txBody>
      </p:sp>
      <p:sp>
        <p:nvSpPr>
          <p:cNvPr id="3" name="Text 1"/>
          <p:cNvSpPr/>
          <p:nvPr/>
        </p:nvSpPr>
        <p:spPr>
          <a:xfrm>
            <a:off x="640080" y="1280160"/>
            <a:ext cx="6766560" cy="1920240"/>
          </a:xfrm>
          <a:prstGeom prst="rect">
            <a:avLst/>
          </a:prstGeom>
          <a:noFill/>
          <a:ln/>
        </p:spPr>
        <p:txBody>
          <a:bodyPr wrap="square" lIns="0" tIns="0" rIns="0" bIns="0" rtlCol="0" anchor="t"/>
          <a:lstStyle/>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Membaca Skala,</a:t>
            </a:r>
            <a:endParaRPr lang="en-US" sz="4800" dirty="0"/>
          </a:p>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Bukan Menebak Kelas</a:t>
            </a:r>
            <a:endParaRPr lang="en-US" sz="4800" dirty="0"/>
          </a:p>
        </p:txBody>
      </p:sp>
      <p:sp>
        <p:nvSpPr>
          <p:cNvPr id="4" name="Text 2"/>
          <p:cNvSpPr/>
          <p:nvPr/>
        </p:nvSpPr>
        <p:spPr>
          <a:xfrm>
            <a:off x="640080" y="3346704"/>
            <a:ext cx="6583680" cy="457200"/>
          </a:xfrm>
          <a:prstGeom prst="rect">
            <a:avLst/>
          </a:prstGeom>
          <a:noFill/>
          <a:ln/>
        </p:spPr>
        <p:txBody>
          <a:bodyPr wrap="square" lIns="0" tIns="0" rIns="0" bIns="0" rtlCol="0" anchor="ctr"/>
          <a:lstStyle/>
          <a:p>
            <a:pPr indent="0" marL="0">
              <a:buNone/>
            </a:pPr>
            <a:r>
              <a:rPr lang="en-US" sz="1500" dirty="0">
                <a:solidFill>
                  <a:srgbClr val="9AA0A7"/>
                </a:solidFill>
                <a:latin typeface="Calibri" pitchFamily="34" charset="0"/>
                <a:ea typeface="Calibri" pitchFamily="34" charset="-122"/>
                <a:cs typeface="Calibri" pitchFamily="34" charset="-120"/>
              </a:rPr>
              <a:t>Prediksi kepuasan hidup dari 176 variabel survei, dirancang untuk satu metrik.</a:t>
            </a:r>
            <a:endParaRPr lang="en-US" sz="1500" dirty="0"/>
          </a:p>
        </p:txBody>
      </p:sp>
      <p:sp>
        <p:nvSpPr>
          <p:cNvPr id="5" name="Text 3"/>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DISTRIBUSI TARGET · 95.609 BARIS LATIH</a:t>
            </a:r>
            <a:endParaRPr lang="en-US" sz="1050" dirty="0"/>
          </a:p>
        </p:txBody>
      </p:sp>
      <p:sp>
        <p:nvSpPr>
          <p:cNvPr id="6" name="Shape 4"/>
          <p:cNvSpPr/>
          <p:nvPr/>
        </p:nvSpPr>
        <p:spPr>
          <a:xfrm>
            <a:off x="8138160" y="1664208"/>
            <a:ext cx="3429000" cy="201168"/>
          </a:xfrm>
          <a:prstGeom prst="rect">
            <a:avLst/>
          </a:prstGeom>
          <a:solidFill>
            <a:srgbClr val="2A2F36"/>
          </a:solidFill>
          <a:ln/>
        </p:spPr>
      </p:sp>
      <p:sp>
        <p:nvSpPr>
          <p:cNvPr id="7" name="Shape 5"/>
          <p:cNvSpPr/>
          <p:nvPr/>
        </p:nvSpPr>
        <p:spPr>
          <a:xfrm>
            <a:off x="8138160" y="1664208"/>
            <a:ext cx="1540993" cy="201168"/>
          </a:xfrm>
          <a:prstGeom prst="rect">
            <a:avLst/>
          </a:prstGeom>
          <a:solidFill>
            <a:srgbClr val="2F6B5F"/>
          </a:solidFill>
          <a:ln/>
        </p:spPr>
      </p:sp>
      <p:sp>
        <p:nvSpPr>
          <p:cNvPr id="8" name="Text 6"/>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0" name="Shape 8"/>
          <p:cNvSpPr/>
          <p:nvPr/>
        </p:nvSpPr>
        <p:spPr>
          <a:xfrm>
            <a:off x="8138160" y="2304288"/>
            <a:ext cx="3429000" cy="201168"/>
          </a:xfrm>
          <a:prstGeom prst="rect">
            <a:avLst/>
          </a:prstGeom>
          <a:solidFill>
            <a:srgbClr val="2A2F36"/>
          </a:solidFill>
          <a:ln/>
        </p:spPr>
      </p:sp>
      <p:sp>
        <p:nvSpPr>
          <p:cNvPr id="11" name="Shape 9"/>
          <p:cNvSpPr/>
          <p:nvPr/>
        </p:nvSpPr>
        <p:spPr>
          <a:xfrm>
            <a:off x="8138160" y="2304288"/>
            <a:ext cx="1728216" cy="201168"/>
          </a:xfrm>
          <a:prstGeom prst="rect">
            <a:avLst/>
          </a:prstGeom>
          <a:solidFill>
            <a:srgbClr val="8FB0A4"/>
          </a:solidFill>
          <a:ln/>
        </p:spPr>
      </p:sp>
      <p:sp>
        <p:nvSpPr>
          <p:cNvPr id="12" name="Text 10"/>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4" name="Shape 12"/>
          <p:cNvSpPr/>
          <p:nvPr/>
        </p:nvSpPr>
        <p:spPr>
          <a:xfrm>
            <a:off x="8138160" y="2944368"/>
            <a:ext cx="3429000" cy="201168"/>
          </a:xfrm>
          <a:prstGeom prst="rect">
            <a:avLst/>
          </a:prstGeom>
          <a:solidFill>
            <a:srgbClr val="2A2F36"/>
          </a:solidFill>
          <a:ln/>
        </p:spPr>
      </p:sp>
      <p:sp>
        <p:nvSpPr>
          <p:cNvPr id="15" name="Shape 13"/>
          <p:cNvSpPr/>
          <p:nvPr/>
        </p:nvSpPr>
        <p:spPr>
          <a:xfrm>
            <a:off x="8138160" y="2944368"/>
            <a:ext cx="127559" cy="201168"/>
          </a:xfrm>
          <a:prstGeom prst="rect">
            <a:avLst/>
          </a:prstGeom>
          <a:solidFill>
            <a:srgbClr val="D8A25E"/>
          </a:solidFill>
          <a:ln/>
        </p:spPr>
      </p:sp>
      <p:sp>
        <p:nvSpPr>
          <p:cNvPr id="16" name="Text 14"/>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8" name="Shape 16"/>
          <p:cNvSpPr/>
          <p:nvPr/>
        </p:nvSpPr>
        <p:spPr>
          <a:xfrm>
            <a:off x="8138160" y="3584448"/>
            <a:ext cx="3429000" cy="201168"/>
          </a:xfrm>
          <a:prstGeom prst="rect">
            <a:avLst/>
          </a:prstGeom>
          <a:solidFill>
            <a:srgbClr val="2A2F36"/>
          </a:solidFill>
          <a:ln/>
        </p:spPr>
      </p:sp>
      <p:sp>
        <p:nvSpPr>
          <p:cNvPr id="19" name="Shape 17"/>
          <p:cNvSpPr/>
          <p:nvPr/>
        </p:nvSpPr>
        <p:spPr>
          <a:xfrm>
            <a:off x="8138160" y="3584448"/>
            <a:ext cx="36576" cy="201168"/>
          </a:xfrm>
          <a:prstGeom prst="rect">
            <a:avLst/>
          </a:prstGeom>
          <a:solidFill>
            <a:srgbClr val="A8442A"/>
          </a:solidFill>
          <a:ln/>
        </p:spPr>
      </p:sp>
      <p:sp>
        <p:nvSpPr>
          <p:cNvPr id="20" name="Text 18"/>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2" name="Shape 20"/>
          <p:cNvSpPr/>
          <p:nvPr/>
        </p:nvSpPr>
        <p:spPr>
          <a:xfrm>
            <a:off x="640080" y="5212080"/>
            <a:ext cx="10908792" cy="0"/>
          </a:xfrm>
          <a:prstGeom prst="line">
            <a:avLst/>
          </a:prstGeom>
          <a:noFill/>
          <a:ln w="12700">
            <a:solidFill>
              <a:srgbClr val="3A4048"/>
            </a:solidFill>
            <a:prstDash val="solid"/>
          </a:ln>
        </p:spPr>
      </p:sp>
      <p:sp>
        <p:nvSpPr>
          <p:cNvPr id="23" name="Text 21"/>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0,48425</a:t>
            </a:r>
            <a:endParaRPr lang="en-US" sz="2300" dirty="0"/>
          </a:p>
        </p:txBody>
      </p:sp>
      <p:sp>
        <p:nvSpPr>
          <p:cNvPr id="24" name="Text 22"/>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QWK out-of-fold</a:t>
            </a:r>
            <a:endParaRPr lang="en-US" sz="1000" dirty="0"/>
          </a:p>
        </p:txBody>
      </p:sp>
      <p:sp>
        <p:nvSpPr>
          <p:cNvPr id="25" name="Text 23"/>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6</a:t>
            </a:r>
            <a:endParaRPr lang="en-US" sz="2300" dirty="0"/>
          </a:p>
        </p:txBody>
      </p:sp>
      <p:sp>
        <p:nvSpPr>
          <p:cNvPr id="26" name="Text 24"/>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Keluarga algoritma</a:t>
            </a:r>
            <a:endParaRPr lang="en-US" sz="1000" dirty="0"/>
          </a:p>
        </p:txBody>
      </p:sp>
      <p:sp>
        <p:nvSpPr>
          <p:cNvPr id="27" name="Text 25"/>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176</a:t>
            </a:r>
            <a:endParaRPr lang="en-US" sz="2300" dirty="0"/>
          </a:p>
        </p:txBody>
      </p:sp>
      <p:sp>
        <p:nvSpPr>
          <p:cNvPr id="28" name="Text 26"/>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Fitur mentah</a:t>
            </a:r>
            <a:endParaRPr lang="en-US" sz="1000" dirty="0"/>
          </a:p>
        </p:txBody>
      </p:sp>
      <p:sp>
        <p:nvSpPr>
          <p:cNvPr id="29" name="Text 27"/>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42</a:t>
            </a:r>
            <a:endParaRPr lang="en-US" sz="2300" dirty="0"/>
          </a:p>
        </p:txBody>
      </p:sp>
      <p:sp>
        <p:nvSpPr>
          <p:cNvPr id="30" name="Text 28"/>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Seed, dikunci</a:t>
            </a:r>
            <a:endParaRPr lang="en-US" sz="1000" dirty="0"/>
          </a:p>
        </p:txBody>
      </p:sp>
      <p:sp>
        <p:nvSpPr>
          <p:cNvPr id="31" name="Text 29"/>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a:t>
            </a:r>
            <a:endParaRPr lang="en-US" sz="2300" dirty="0"/>
          </a:p>
        </p:txBody>
      </p:sp>
      <p:sp>
        <p:nvSpPr>
          <p:cNvPr id="32" name="Text 30"/>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Baris data eksternal</a:t>
            </a:r>
            <a:endParaRPr lang="en-US" sz="10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13232"/>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PARADOKS YANG MEMBUKA SEGALANYA</a:t>
            </a:r>
            <a:endParaRPr lang="en-US" sz="1050" dirty="0"/>
          </a:p>
        </p:txBody>
      </p:sp>
      <p:sp>
        <p:nvSpPr>
          <p:cNvPr id="3" name="Text 1"/>
          <p:cNvSpPr/>
          <p:nvPr/>
        </p:nvSpPr>
        <p:spPr>
          <a:xfrm>
            <a:off x="640080" y="1234440"/>
            <a:ext cx="5852160" cy="2651760"/>
          </a:xfrm>
          <a:prstGeom prst="rect">
            <a:avLst/>
          </a:prstGeom>
          <a:noFill/>
          <a:ln/>
        </p:spPr>
        <p:txBody>
          <a:bodyPr wrap="square" lIns="0" tIns="0" rIns="0" bIns="0" rtlCol="0" anchor="t"/>
          <a:lstStyle/>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Tebakan teraman</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di kompetisi ini</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bernilai tepat nol.</a:t>
            </a:r>
            <a:endParaRPr lang="en-US" sz="4000" dirty="0"/>
          </a:p>
        </p:txBody>
      </p:sp>
      <p:sp>
        <p:nvSpPr>
          <p:cNvPr id="4" name="Shape 2"/>
          <p:cNvSpPr/>
          <p:nvPr/>
        </p:nvSpPr>
        <p:spPr>
          <a:xfrm>
            <a:off x="6720840" y="1371600"/>
            <a:ext cx="4830775" cy="2651760"/>
          </a:xfrm>
          <a:prstGeom prst="roundRect">
            <a:avLst>
              <a:gd name="adj" fmla="val 2069"/>
            </a:avLst>
          </a:prstGeom>
          <a:solidFill>
            <a:srgbClr val="20262C"/>
          </a:solidFill>
          <a:ln w="9525">
            <a:solidFill>
              <a:srgbClr val="20262C"/>
            </a:solidFill>
            <a:prstDash val="solid"/>
          </a:ln>
        </p:spPr>
      </p:sp>
      <p:sp>
        <p:nvSpPr>
          <p:cNvPr id="5" name="Text 3"/>
          <p:cNvSpPr/>
          <p:nvPr/>
        </p:nvSpPr>
        <p:spPr>
          <a:xfrm>
            <a:off x="7223760" y="1783080"/>
            <a:ext cx="3824935" cy="658368"/>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50,402%</a:t>
            </a:r>
            <a:endParaRPr lang="en-US" sz="4000" dirty="0"/>
          </a:p>
        </p:txBody>
      </p:sp>
      <p:sp>
        <p:nvSpPr>
          <p:cNvPr id="6" name="Text 4"/>
          <p:cNvSpPr/>
          <p:nvPr/>
        </p:nvSpPr>
        <p:spPr>
          <a:xfrm>
            <a:off x="7223760" y="247802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Akurasi bila menebak kelas mayoritas untuk semua orang</a:t>
            </a:r>
            <a:endParaRPr lang="en-US" sz="1200" dirty="0"/>
          </a:p>
        </p:txBody>
      </p:sp>
      <p:sp>
        <p:nvSpPr>
          <p:cNvPr id="7" name="Shape 5"/>
          <p:cNvSpPr/>
          <p:nvPr/>
        </p:nvSpPr>
        <p:spPr>
          <a:xfrm>
            <a:off x="7223760" y="2852928"/>
            <a:ext cx="3824935" cy="0"/>
          </a:xfrm>
          <a:prstGeom prst="line">
            <a:avLst/>
          </a:prstGeom>
          <a:noFill/>
          <a:ln w="12700">
            <a:solidFill>
              <a:srgbClr val="3A4048"/>
            </a:solidFill>
            <a:prstDash val="solid"/>
          </a:ln>
        </p:spPr>
      </p:sp>
      <p:sp>
        <p:nvSpPr>
          <p:cNvPr id="8" name="Text 6"/>
          <p:cNvSpPr/>
          <p:nvPr/>
        </p:nvSpPr>
        <p:spPr>
          <a:xfrm>
            <a:off x="7223760" y="3017520"/>
            <a:ext cx="3824935" cy="658368"/>
          </a:xfrm>
          <a:prstGeom prst="rect">
            <a:avLst/>
          </a:prstGeom>
          <a:noFill/>
          <a:ln/>
        </p:spPr>
        <p:txBody>
          <a:bodyPr wrap="square" lIns="0" tIns="0" rIns="0" bIns="0" rtlCol="0" anchor="b"/>
          <a:lstStyle/>
          <a:p>
            <a:pPr algn="l" indent="0" marL="0">
              <a:buNone/>
            </a:pPr>
            <a:r>
              <a:rPr lang="en-US" sz="4000" b="1" dirty="0">
                <a:solidFill>
                  <a:srgbClr val="A8442A"/>
                </a:solidFill>
                <a:latin typeface="Cambria" pitchFamily="34" charset="0"/>
                <a:ea typeface="Cambria" pitchFamily="34" charset="-122"/>
                <a:cs typeface="Cambria" pitchFamily="34" charset="-120"/>
              </a:rPr>
              <a:t>0,00000</a:t>
            </a:r>
            <a:endParaRPr lang="en-US" sz="4000" dirty="0"/>
          </a:p>
        </p:txBody>
      </p:sp>
      <p:sp>
        <p:nvSpPr>
          <p:cNvPr id="9" name="Text 7"/>
          <p:cNvSpPr/>
          <p:nvPr/>
        </p:nvSpPr>
        <p:spPr>
          <a:xfrm>
            <a:off x="7223760" y="371246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QWK untuk tebakan yang sama persis</a:t>
            </a:r>
            <a:endParaRPr lang="en-US" sz="1200" dirty="0"/>
          </a:p>
        </p:txBody>
      </p:sp>
      <p:sp>
        <p:nvSpPr>
          <p:cNvPr id="10" name="Text 8"/>
          <p:cNvSpPr/>
          <p:nvPr/>
        </p:nvSpPr>
        <p:spPr>
          <a:xfrm>
            <a:off x="640080" y="4526280"/>
            <a:ext cx="10607040" cy="548640"/>
          </a:xfrm>
          <a:prstGeom prst="rect">
            <a:avLst/>
          </a:prstGeom>
          <a:noFill/>
          <a:ln/>
        </p:spPr>
        <p:txBody>
          <a:bodyPr wrap="square" lIns="0" tIns="0" rIns="0" bIns="0" rtlCol="0" anchor="ctr"/>
          <a:lstStyle/>
          <a:p>
            <a:pPr indent="0" marL="0">
              <a:lnSpc>
                <a:spcPts val="2200"/>
              </a:lnSpc>
              <a:buNone/>
            </a:pPr>
            <a:r>
              <a:rPr lang="en-US" sz="1550" dirty="0">
                <a:solidFill>
                  <a:srgbClr val="9AA0A7"/>
                </a:solidFill>
                <a:latin typeface="Calibri" pitchFamily="34" charset="0"/>
                <a:ea typeface="Calibri" pitchFamily="34" charset="-122"/>
                <a:cs typeface="Calibri" pitchFamily="34" charset="-120"/>
              </a:rPr>
              <a:t>Metrik lomba ini tidak memberi imbalan pada tebakan aman. Seluruh strategi kami turun dari satu fakta itu.</a:t>
            </a:r>
            <a:endParaRPr lang="en-US" sz="1550" dirty="0"/>
          </a:p>
        </p:txBody>
      </p:sp>
      <p:sp>
        <p:nvSpPr>
          <p:cNvPr id="12" name="Text 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1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pertanyaan, dijawab berurutan.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Tiap babak menutup satu pertanyaan sebelum babak berikutnya dibuka.</a:t>
            </a:r>
            <a:endParaRPr lang="en-US" sz="1400" dirty="0"/>
          </a:p>
        </p:txBody>
      </p:sp>
      <p:sp>
        <p:nvSpPr>
          <p:cNvPr id="4" name="Shape 2"/>
          <p:cNvSpPr/>
          <p:nvPr/>
        </p:nvSpPr>
        <p:spPr>
          <a:xfrm>
            <a:off x="640080" y="2212848"/>
            <a:ext cx="5257800" cy="1115568"/>
          </a:xfrm>
          <a:prstGeom prst="roundRect">
            <a:avLst>
              <a:gd name="adj" fmla="val 4918"/>
            </a:avLst>
          </a:prstGeom>
          <a:solidFill>
            <a:srgbClr val="F4F1EC"/>
          </a:solidFill>
          <a:ln w="9525">
            <a:solidFill>
              <a:srgbClr val="DCD8D1"/>
            </a:solidFill>
            <a:prstDash val="solid"/>
          </a:ln>
        </p:spPr>
      </p:sp>
      <p:sp>
        <p:nvSpPr>
          <p:cNvPr id="5" name="Shape 3"/>
          <p:cNvSpPr/>
          <p:nvPr/>
        </p:nvSpPr>
        <p:spPr>
          <a:xfrm>
            <a:off x="914400" y="2487168"/>
            <a:ext cx="384048" cy="384048"/>
          </a:xfrm>
          <a:prstGeom prst="ellipse">
            <a:avLst/>
          </a:prstGeom>
          <a:solidFill>
            <a:srgbClr val="16191D"/>
          </a:solidFill>
          <a:ln/>
        </p:spPr>
      </p:sp>
      <p:sp>
        <p:nvSpPr>
          <p:cNvPr id="6" name="Text 4"/>
          <p:cNvSpPr/>
          <p:nvPr/>
        </p:nvSpPr>
        <p:spPr>
          <a:xfrm>
            <a:off x="914400" y="2487168"/>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a:t>
            </a:r>
            <a:endParaRPr lang="en-US" sz="1050" dirty="0"/>
          </a:p>
        </p:txBody>
      </p:sp>
      <p:sp>
        <p:nvSpPr>
          <p:cNvPr id="7" name="Text 5"/>
          <p:cNvSpPr/>
          <p:nvPr/>
        </p:nvSpPr>
        <p:spPr>
          <a:xfrm>
            <a:off x="1444752" y="2414016"/>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Apa yang diprediksi, dan metrik apa yang menilainya?</a:t>
            </a:r>
            <a:endParaRPr lang="en-US" sz="1350" dirty="0"/>
          </a:p>
        </p:txBody>
      </p:sp>
      <p:sp>
        <p:nvSpPr>
          <p:cNvPr id="8" name="Text 6"/>
          <p:cNvSpPr/>
          <p:nvPr/>
        </p:nvSpPr>
        <p:spPr>
          <a:xfrm>
            <a:off x="1444752" y="2926080"/>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Latar, data, QWK</a:t>
            </a:r>
            <a:endParaRPr lang="en-US" sz="1100" dirty="0"/>
          </a:p>
        </p:txBody>
      </p:sp>
      <p:sp>
        <p:nvSpPr>
          <p:cNvPr id="9" name="Shape 7"/>
          <p:cNvSpPr/>
          <p:nvPr/>
        </p:nvSpPr>
        <p:spPr>
          <a:xfrm>
            <a:off x="6281928" y="2212848"/>
            <a:ext cx="5257800" cy="1115568"/>
          </a:xfrm>
          <a:prstGeom prst="roundRect">
            <a:avLst>
              <a:gd name="adj" fmla="val 4918"/>
            </a:avLst>
          </a:prstGeom>
          <a:solidFill>
            <a:srgbClr val="F4F1EC"/>
          </a:solidFill>
          <a:ln w="9525">
            <a:solidFill>
              <a:srgbClr val="DCD8D1"/>
            </a:solidFill>
            <a:prstDash val="solid"/>
          </a:ln>
        </p:spPr>
      </p:sp>
      <p:sp>
        <p:nvSpPr>
          <p:cNvPr id="10" name="Shape 8"/>
          <p:cNvSpPr/>
          <p:nvPr/>
        </p:nvSpPr>
        <p:spPr>
          <a:xfrm>
            <a:off x="6556248" y="2487168"/>
            <a:ext cx="384048" cy="384048"/>
          </a:xfrm>
          <a:prstGeom prst="ellipse">
            <a:avLst/>
          </a:prstGeom>
          <a:solidFill>
            <a:srgbClr val="16191D"/>
          </a:solidFill>
          <a:ln/>
        </p:spPr>
      </p:sp>
      <p:sp>
        <p:nvSpPr>
          <p:cNvPr id="11" name="Text 9"/>
          <p:cNvSpPr/>
          <p:nvPr/>
        </p:nvSpPr>
        <p:spPr>
          <a:xfrm>
            <a:off x="6556248" y="2487168"/>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II</a:t>
            </a:r>
            <a:endParaRPr lang="en-US" sz="1050" dirty="0"/>
          </a:p>
        </p:txBody>
      </p:sp>
      <p:sp>
        <p:nvSpPr>
          <p:cNvPr id="12" name="Text 10"/>
          <p:cNvSpPr/>
          <p:nvPr/>
        </p:nvSpPr>
        <p:spPr>
          <a:xfrm>
            <a:off x="7086600" y="2414016"/>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Apa kata data sebelum satu model pun dilatih?</a:t>
            </a:r>
            <a:endParaRPr lang="en-US" sz="1350" dirty="0"/>
          </a:p>
        </p:txBody>
      </p:sp>
      <p:sp>
        <p:nvSpPr>
          <p:cNvPr id="13" name="Text 11"/>
          <p:cNvSpPr/>
          <p:nvPr/>
        </p:nvSpPr>
        <p:spPr>
          <a:xfrm>
            <a:off x="7086600" y="2926080"/>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Sepuluh temuan EDA</a:t>
            </a:r>
            <a:endParaRPr lang="en-US" sz="1100" dirty="0"/>
          </a:p>
        </p:txBody>
      </p:sp>
      <p:sp>
        <p:nvSpPr>
          <p:cNvPr id="14" name="Shape 12"/>
          <p:cNvSpPr/>
          <p:nvPr/>
        </p:nvSpPr>
        <p:spPr>
          <a:xfrm>
            <a:off x="640080" y="3511296"/>
            <a:ext cx="5257800" cy="1115568"/>
          </a:xfrm>
          <a:prstGeom prst="roundRect">
            <a:avLst>
              <a:gd name="adj" fmla="val 4918"/>
            </a:avLst>
          </a:prstGeom>
          <a:solidFill>
            <a:srgbClr val="F4F1EC"/>
          </a:solidFill>
          <a:ln w="9525">
            <a:solidFill>
              <a:srgbClr val="DCD8D1"/>
            </a:solidFill>
            <a:prstDash val="solid"/>
          </a:ln>
        </p:spPr>
      </p:sp>
      <p:sp>
        <p:nvSpPr>
          <p:cNvPr id="15" name="Shape 13"/>
          <p:cNvSpPr/>
          <p:nvPr/>
        </p:nvSpPr>
        <p:spPr>
          <a:xfrm>
            <a:off x="914400" y="3785616"/>
            <a:ext cx="384048" cy="384048"/>
          </a:xfrm>
          <a:prstGeom prst="ellipse">
            <a:avLst/>
          </a:prstGeom>
          <a:solidFill>
            <a:srgbClr val="16191D"/>
          </a:solidFill>
          <a:ln/>
        </p:spPr>
      </p:sp>
      <p:sp>
        <p:nvSpPr>
          <p:cNvPr id="16" name="Text 14"/>
          <p:cNvSpPr/>
          <p:nvPr/>
        </p:nvSpPr>
        <p:spPr>
          <a:xfrm>
            <a:off x="914400" y="3785616"/>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III</a:t>
            </a:r>
            <a:endParaRPr lang="en-US" sz="1050" dirty="0"/>
          </a:p>
        </p:txBody>
      </p:sp>
      <p:sp>
        <p:nvSpPr>
          <p:cNvPr id="17" name="Text 15"/>
          <p:cNvSpPr/>
          <p:nvPr/>
        </p:nvSpPr>
        <p:spPr>
          <a:xfrm>
            <a:off x="1444752" y="3712464"/>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Bagaimana temuan itu menjadi keputusan pemodelan?</a:t>
            </a:r>
            <a:endParaRPr lang="en-US" sz="1350" dirty="0"/>
          </a:p>
        </p:txBody>
      </p:sp>
      <p:sp>
        <p:nvSpPr>
          <p:cNvPr id="18" name="Text 16"/>
          <p:cNvSpPr/>
          <p:nvPr/>
        </p:nvSpPr>
        <p:spPr>
          <a:xfrm>
            <a:off x="1444752" y="4224528"/>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Preprocessing sampai stacking</a:t>
            </a:r>
            <a:endParaRPr lang="en-US" sz="1100" dirty="0"/>
          </a:p>
        </p:txBody>
      </p:sp>
      <p:sp>
        <p:nvSpPr>
          <p:cNvPr id="19" name="Shape 17"/>
          <p:cNvSpPr/>
          <p:nvPr/>
        </p:nvSpPr>
        <p:spPr>
          <a:xfrm>
            <a:off x="6281928" y="3511296"/>
            <a:ext cx="5257800" cy="1115568"/>
          </a:xfrm>
          <a:prstGeom prst="roundRect">
            <a:avLst>
              <a:gd name="adj" fmla="val 4918"/>
            </a:avLst>
          </a:prstGeom>
          <a:solidFill>
            <a:srgbClr val="F4F1EC"/>
          </a:solidFill>
          <a:ln w="9525">
            <a:solidFill>
              <a:srgbClr val="DCD8D1"/>
            </a:solidFill>
            <a:prstDash val="solid"/>
          </a:ln>
        </p:spPr>
      </p:sp>
      <p:sp>
        <p:nvSpPr>
          <p:cNvPr id="20" name="Shape 18"/>
          <p:cNvSpPr/>
          <p:nvPr/>
        </p:nvSpPr>
        <p:spPr>
          <a:xfrm>
            <a:off x="6556248" y="3785616"/>
            <a:ext cx="384048" cy="384048"/>
          </a:xfrm>
          <a:prstGeom prst="ellipse">
            <a:avLst/>
          </a:prstGeom>
          <a:solidFill>
            <a:srgbClr val="16191D"/>
          </a:solidFill>
          <a:ln/>
        </p:spPr>
      </p:sp>
      <p:sp>
        <p:nvSpPr>
          <p:cNvPr id="21" name="Text 19"/>
          <p:cNvSpPr/>
          <p:nvPr/>
        </p:nvSpPr>
        <p:spPr>
          <a:xfrm>
            <a:off x="6556248" y="3785616"/>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IV</a:t>
            </a:r>
            <a:endParaRPr lang="en-US" sz="1050" dirty="0"/>
          </a:p>
        </p:txBody>
      </p:sp>
      <p:sp>
        <p:nvSpPr>
          <p:cNvPr id="22" name="Text 20"/>
          <p:cNvSpPr/>
          <p:nvPr/>
        </p:nvSpPr>
        <p:spPr>
          <a:xfrm>
            <a:off x="7086600" y="3712464"/>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Bagaimana kami menahan diri dari menempel pada derau?</a:t>
            </a:r>
            <a:endParaRPr lang="en-US" sz="1350" dirty="0"/>
          </a:p>
        </p:txBody>
      </p:sp>
      <p:sp>
        <p:nvSpPr>
          <p:cNvPr id="23" name="Text 21"/>
          <p:cNvSpPr/>
          <p:nvPr/>
        </p:nvSpPr>
        <p:spPr>
          <a:xfrm>
            <a:off x="7086600" y="4224528"/>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Studi ambang dan uji split-half</a:t>
            </a:r>
            <a:endParaRPr lang="en-US" sz="1100" dirty="0"/>
          </a:p>
        </p:txBody>
      </p:sp>
      <p:sp>
        <p:nvSpPr>
          <p:cNvPr id="24" name="Shape 22"/>
          <p:cNvSpPr/>
          <p:nvPr/>
        </p:nvSpPr>
        <p:spPr>
          <a:xfrm>
            <a:off x="640080" y="4809744"/>
            <a:ext cx="5257800" cy="1115568"/>
          </a:xfrm>
          <a:prstGeom prst="roundRect">
            <a:avLst>
              <a:gd name="adj" fmla="val 4918"/>
            </a:avLst>
          </a:prstGeom>
          <a:solidFill>
            <a:srgbClr val="F4F1EC"/>
          </a:solidFill>
          <a:ln w="9525">
            <a:solidFill>
              <a:srgbClr val="DCD8D1"/>
            </a:solidFill>
            <a:prstDash val="solid"/>
          </a:ln>
        </p:spPr>
      </p:sp>
      <p:sp>
        <p:nvSpPr>
          <p:cNvPr id="25" name="Shape 23"/>
          <p:cNvSpPr/>
          <p:nvPr/>
        </p:nvSpPr>
        <p:spPr>
          <a:xfrm>
            <a:off x="914400" y="5084064"/>
            <a:ext cx="384048" cy="384048"/>
          </a:xfrm>
          <a:prstGeom prst="ellipse">
            <a:avLst/>
          </a:prstGeom>
          <a:solidFill>
            <a:srgbClr val="16191D"/>
          </a:solidFill>
          <a:ln/>
        </p:spPr>
      </p:sp>
      <p:sp>
        <p:nvSpPr>
          <p:cNvPr id="26" name="Text 24"/>
          <p:cNvSpPr/>
          <p:nvPr/>
        </p:nvSpPr>
        <p:spPr>
          <a:xfrm>
            <a:off x="914400" y="5084064"/>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t>
            </a:r>
            <a:endParaRPr lang="en-US" sz="1050" dirty="0"/>
          </a:p>
        </p:txBody>
      </p:sp>
      <p:sp>
        <p:nvSpPr>
          <p:cNvPr id="27" name="Text 25"/>
          <p:cNvSpPr/>
          <p:nvPr/>
        </p:nvSpPr>
        <p:spPr>
          <a:xfrm>
            <a:off x="1444752" y="5010912"/>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Seberapa baik hasilnya, dan di mana ia gagal?</a:t>
            </a:r>
            <a:endParaRPr lang="en-US" sz="1350" dirty="0"/>
          </a:p>
        </p:txBody>
      </p:sp>
      <p:sp>
        <p:nvSpPr>
          <p:cNvPr id="28" name="Text 26"/>
          <p:cNvSpPr/>
          <p:nvPr/>
        </p:nvSpPr>
        <p:spPr>
          <a:xfrm>
            <a:off x="1444752" y="5522976"/>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Diagnostik dan analisis plafon</a:t>
            </a:r>
            <a:endParaRPr lang="en-US" sz="1100" dirty="0"/>
          </a:p>
        </p:txBody>
      </p:sp>
      <p:sp>
        <p:nvSpPr>
          <p:cNvPr id="29" name="Shape 27"/>
          <p:cNvSpPr/>
          <p:nvPr/>
        </p:nvSpPr>
        <p:spPr>
          <a:xfrm>
            <a:off x="6281928" y="4809744"/>
            <a:ext cx="5257800" cy="1115568"/>
          </a:xfrm>
          <a:prstGeom prst="roundRect">
            <a:avLst>
              <a:gd name="adj" fmla="val 4918"/>
            </a:avLst>
          </a:prstGeom>
          <a:solidFill>
            <a:srgbClr val="F4F1EC"/>
          </a:solidFill>
          <a:ln w="9525">
            <a:solidFill>
              <a:srgbClr val="DCD8D1"/>
            </a:solidFill>
            <a:prstDash val="solid"/>
          </a:ln>
        </p:spPr>
      </p:sp>
      <p:sp>
        <p:nvSpPr>
          <p:cNvPr id="30" name="Shape 28"/>
          <p:cNvSpPr/>
          <p:nvPr/>
        </p:nvSpPr>
        <p:spPr>
          <a:xfrm>
            <a:off x="6556248" y="5084064"/>
            <a:ext cx="384048" cy="384048"/>
          </a:xfrm>
          <a:prstGeom prst="ellipse">
            <a:avLst/>
          </a:prstGeom>
          <a:solidFill>
            <a:srgbClr val="16191D"/>
          </a:solidFill>
          <a:ln/>
        </p:spPr>
      </p:sp>
      <p:sp>
        <p:nvSpPr>
          <p:cNvPr id="31" name="Text 29"/>
          <p:cNvSpPr/>
          <p:nvPr/>
        </p:nvSpPr>
        <p:spPr>
          <a:xfrm>
            <a:off x="6556248" y="5084064"/>
            <a:ext cx="38404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VI</a:t>
            </a:r>
            <a:endParaRPr lang="en-US" sz="1050" dirty="0"/>
          </a:p>
        </p:txBody>
      </p:sp>
      <p:sp>
        <p:nvSpPr>
          <p:cNvPr id="32" name="Text 30"/>
          <p:cNvSpPr/>
          <p:nvPr/>
        </p:nvSpPr>
        <p:spPr>
          <a:xfrm>
            <a:off x="7086600" y="5010912"/>
            <a:ext cx="4178808" cy="493776"/>
          </a:xfrm>
          <a:prstGeom prst="rect">
            <a:avLst/>
          </a:prstGeom>
          <a:noFill/>
          <a:ln/>
        </p:spPr>
        <p:txBody>
          <a:bodyPr wrap="square" lIns="0" tIns="0" rIns="0" bIns="0" rtlCol="0" anchor="ctr"/>
          <a:lstStyle/>
          <a:p>
            <a:pPr indent="0" marL="0">
              <a:lnSpc>
                <a:spcPts val="1700"/>
              </a:lnSpc>
              <a:buNone/>
            </a:pPr>
            <a:r>
              <a:rPr lang="en-US" sz="1350" b="1" dirty="0">
                <a:solidFill>
                  <a:srgbClr val="16191D"/>
                </a:solidFill>
                <a:latin typeface="Cambria" pitchFamily="34" charset="0"/>
                <a:ea typeface="Cambria" pitchFamily="34" charset="-122"/>
                <a:cs typeface="Cambria" pitchFamily="34" charset="-120"/>
              </a:rPr>
              <a:t>Bisakah diulang, dan apa gunanya di luar lomba?</a:t>
            </a:r>
            <a:endParaRPr lang="en-US" sz="1350" dirty="0"/>
          </a:p>
        </p:txBody>
      </p:sp>
      <p:sp>
        <p:nvSpPr>
          <p:cNvPr id="33" name="Text 31"/>
          <p:cNvSpPr/>
          <p:nvPr/>
        </p:nvSpPr>
        <p:spPr>
          <a:xfrm>
            <a:off x="7086600" y="5522976"/>
            <a:ext cx="4178808" cy="274320"/>
          </a:xfrm>
          <a:prstGeom prst="rect">
            <a:avLst/>
          </a:prstGeom>
          <a:noFill/>
          <a:ln/>
        </p:spPr>
        <p:txBody>
          <a:bodyPr wrap="square" lIns="0" tIns="0" rIns="0" bIns="0" rtlCol="0" anchor="t"/>
          <a:lstStyle/>
          <a:p>
            <a:pPr indent="0" marL="0">
              <a:buNone/>
            </a:pPr>
            <a:r>
              <a:rPr lang="en-US" sz="1100" dirty="0">
                <a:solidFill>
                  <a:srgbClr val="6E747C"/>
                </a:solidFill>
                <a:latin typeface="Calibri" pitchFamily="34" charset="0"/>
                <a:ea typeface="Calibri" pitchFamily="34" charset="-122"/>
                <a:cs typeface="Calibri" pitchFamily="34" charset="-120"/>
              </a:rPr>
              <a:t>Reproduksi dan produk</a:t>
            </a:r>
            <a:endParaRPr lang="en-US" sz="1100" dirty="0"/>
          </a:p>
        </p:txBody>
      </p:sp>
      <p:sp>
        <p:nvSpPr>
          <p:cNvPr id="35" name="Text 32"/>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6" name="Text 3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I</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Latar, data,</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dan metrik.</a:t>
            </a:r>
            <a:endParaRPr lang="en-US" sz="3600" dirty="0"/>
          </a:p>
        </p:txBody>
      </p:sp>
      <p:sp>
        <p:nvSpPr>
          <p:cNvPr id="4" name="Text 2"/>
          <p:cNvSpPr/>
          <p:nvPr/>
        </p:nvSpPr>
        <p:spPr>
          <a:xfrm>
            <a:off x="640080" y="3648456"/>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Apa yang diprediksi, dari data seperti apa, dan dengan penggaris apa hasilnya diukur.</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95.609 baris latih, 176 fitur</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23.902 baris uji, 23.666 id unik</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Empat tahun survei, 2021 sampai 2024</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Quadratic Weighted Kappa</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Kepuasan hidup adalah indikator kesejahteraan, bukan sekadar perasaan.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Tiga temuan riset yang membingkai masalah ini sebelum satu baris data dibuka.</a:t>
            </a:r>
            <a:endParaRPr lang="en-US" sz="1400" dirty="0"/>
          </a:p>
        </p:txBody>
      </p:sp>
      <p:sp>
        <p:nvSpPr>
          <p:cNvPr id="4" name="Shape 2"/>
          <p:cNvSpPr/>
          <p:nvPr/>
        </p:nvSpPr>
        <p:spPr>
          <a:xfrm>
            <a:off x="640080" y="2286000"/>
            <a:ext cx="3381146" cy="3246120"/>
          </a:xfrm>
          <a:prstGeom prst="roundRect">
            <a:avLst>
              <a:gd name="adj" fmla="val 1690"/>
            </a:avLst>
          </a:prstGeom>
          <a:solidFill>
            <a:srgbClr val="F4F1EC"/>
          </a:solidFill>
          <a:ln w="9525">
            <a:solidFill>
              <a:srgbClr val="DCD8D1"/>
            </a:solidFill>
            <a:prstDash val="solid"/>
          </a:ln>
        </p:spPr>
      </p:sp>
      <p:sp>
        <p:nvSpPr>
          <p:cNvPr id="5" name="Text 3"/>
          <p:cNvSpPr/>
          <p:nvPr/>
        </p:nvSpPr>
        <p:spPr>
          <a:xfrm>
            <a:off x="914400" y="2468880"/>
            <a:ext cx="2832506"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OECD, 2013</a:t>
            </a:r>
            <a:endParaRPr lang="en-US" sz="1050" dirty="0"/>
          </a:p>
        </p:txBody>
      </p:sp>
      <p:sp>
        <p:nvSpPr>
          <p:cNvPr id="6" name="Text 4"/>
          <p:cNvSpPr/>
          <p:nvPr/>
        </p:nvSpPr>
        <p:spPr>
          <a:xfrm>
            <a:off x="914400" y="2788920"/>
            <a:ext cx="2832506" cy="566928"/>
          </a:xfrm>
          <a:prstGeom prst="rect">
            <a:avLst/>
          </a:prstGeom>
          <a:noFill/>
          <a:ln/>
        </p:spPr>
        <p:txBody>
          <a:bodyPr wrap="square" lIns="0" tIns="0" rIns="0" bIns="0" rtlCol="0" anchor="t"/>
          <a:lstStyle/>
          <a:p>
            <a:pPr indent="0" marL="0">
              <a:lnSpc>
                <a:spcPts val="2000"/>
              </a:lnSpc>
              <a:buNone/>
            </a:pPr>
            <a:r>
              <a:rPr lang="en-US" sz="1600" b="1" dirty="0">
                <a:solidFill>
                  <a:srgbClr val="16191D"/>
                </a:solidFill>
                <a:latin typeface="Cambria" pitchFamily="34" charset="0"/>
                <a:ea typeface="Cambria" pitchFamily="34" charset="-122"/>
                <a:cs typeface="Cambria" pitchFamily="34" charset="-120"/>
              </a:rPr>
              <a:t>Standar pengukuran</a:t>
            </a:r>
            <a:endParaRPr lang="en-US" sz="1600" dirty="0"/>
          </a:p>
        </p:txBody>
      </p:sp>
      <p:sp>
        <p:nvSpPr>
          <p:cNvPr id="7" name="Text 5"/>
          <p:cNvSpPr/>
          <p:nvPr/>
        </p:nvSpPr>
        <p:spPr>
          <a:xfrm>
            <a:off x="914400" y="3401568"/>
            <a:ext cx="2832506" cy="123444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Guidelines on Measuring Subjective Well-being menjadikan evaluasi hidup ukuran inti kesejahteraan nasional, berdampingan dengan PDB.</a:t>
            </a:r>
            <a:endParaRPr lang="en-US" sz="1100" dirty="0"/>
          </a:p>
        </p:txBody>
      </p:sp>
      <p:sp>
        <p:nvSpPr>
          <p:cNvPr id="8" name="Shape 6"/>
          <p:cNvSpPr/>
          <p:nvPr/>
        </p:nvSpPr>
        <p:spPr>
          <a:xfrm>
            <a:off x="914400" y="4681728"/>
            <a:ext cx="2832506" cy="0"/>
          </a:xfrm>
          <a:prstGeom prst="line">
            <a:avLst/>
          </a:prstGeom>
          <a:noFill/>
          <a:ln w="10160">
            <a:solidFill>
              <a:srgbClr val="DCD8D1"/>
            </a:solidFill>
            <a:prstDash val="solid"/>
          </a:ln>
        </p:spPr>
      </p:sp>
      <p:sp>
        <p:nvSpPr>
          <p:cNvPr id="9" name="Text 7"/>
          <p:cNvSpPr/>
          <p:nvPr/>
        </p:nvSpPr>
        <p:spPr>
          <a:xfrm>
            <a:off x="914400" y="4754880"/>
            <a:ext cx="2832506" cy="658368"/>
          </a:xfrm>
          <a:prstGeom prst="rect">
            <a:avLst/>
          </a:prstGeom>
          <a:noFill/>
          <a:ln/>
        </p:spPr>
        <p:txBody>
          <a:bodyPr wrap="square" lIns="0" tIns="0" rIns="0" bIns="0" rtlCol="0" anchor="t"/>
          <a:lstStyle/>
          <a:p>
            <a:pPr indent="0" marL="0">
              <a:lnSpc>
                <a:spcPts val="1400"/>
              </a:lnSpc>
              <a:buNone/>
            </a:pPr>
            <a:r>
              <a:rPr lang="en-US" sz="1050" b="1" dirty="0">
                <a:solidFill>
                  <a:srgbClr val="2F6B5F"/>
                </a:solidFill>
                <a:latin typeface="Calibri" pitchFamily="34" charset="0"/>
                <a:ea typeface="Calibri" pitchFamily="34" charset="-122"/>
                <a:cs typeface="Calibri" pitchFamily="34" charset="-120"/>
              </a:rPr>
              <a:t>Artinya: target ini dipakai pembuat kebijakan, bukan hanya peneliti.</a:t>
            </a:r>
            <a:endParaRPr lang="en-US" sz="1050" dirty="0"/>
          </a:p>
        </p:txBody>
      </p:sp>
      <p:sp>
        <p:nvSpPr>
          <p:cNvPr id="10" name="Shape 8"/>
          <p:cNvSpPr/>
          <p:nvPr/>
        </p:nvSpPr>
        <p:spPr>
          <a:xfrm>
            <a:off x="4405274" y="2286000"/>
            <a:ext cx="3381146" cy="3246120"/>
          </a:xfrm>
          <a:prstGeom prst="roundRect">
            <a:avLst>
              <a:gd name="adj" fmla="val 1690"/>
            </a:avLst>
          </a:prstGeom>
          <a:solidFill>
            <a:srgbClr val="16191D"/>
          </a:solidFill>
          <a:ln w="9525">
            <a:solidFill>
              <a:srgbClr val="16191D"/>
            </a:solidFill>
            <a:prstDash val="solid"/>
          </a:ln>
        </p:spPr>
      </p:sp>
      <p:sp>
        <p:nvSpPr>
          <p:cNvPr id="11" name="Text 9"/>
          <p:cNvSpPr/>
          <p:nvPr/>
        </p:nvSpPr>
        <p:spPr>
          <a:xfrm>
            <a:off x="4679594" y="2468880"/>
            <a:ext cx="2832506"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WHO, 2023</a:t>
            </a:r>
            <a:endParaRPr lang="en-US" sz="1050" dirty="0"/>
          </a:p>
        </p:txBody>
      </p:sp>
      <p:sp>
        <p:nvSpPr>
          <p:cNvPr id="12" name="Text 10"/>
          <p:cNvSpPr/>
          <p:nvPr/>
        </p:nvSpPr>
        <p:spPr>
          <a:xfrm>
            <a:off x="4679594" y="2788920"/>
            <a:ext cx="2832506" cy="566928"/>
          </a:xfrm>
          <a:prstGeom prst="rect">
            <a:avLst/>
          </a:prstGeom>
          <a:noFill/>
          <a:ln/>
        </p:spPr>
        <p:txBody>
          <a:bodyPr wrap="square" lIns="0" tIns="0" rIns="0" bIns="0" rtlCol="0" anchor="t"/>
          <a:lstStyle/>
          <a:p>
            <a:pPr indent="0" marL="0">
              <a:lnSpc>
                <a:spcPts val="2000"/>
              </a:lnSpc>
              <a:buNone/>
            </a:pPr>
            <a:r>
              <a:rPr lang="en-US" sz="2400" b="1" dirty="0">
                <a:solidFill>
                  <a:srgbClr val="FFFFFF"/>
                </a:solidFill>
                <a:latin typeface="Cambria" pitchFamily="34" charset="0"/>
                <a:ea typeface="Cambria" pitchFamily="34" charset="-122"/>
                <a:cs typeface="Cambria" pitchFamily="34" charset="-120"/>
              </a:rPr>
              <a:t>± 280 juta orang</a:t>
            </a:r>
            <a:endParaRPr lang="en-US" sz="2400" dirty="0"/>
          </a:p>
        </p:txBody>
      </p:sp>
      <p:sp>
        <p:nvSpPr>
          <p:cNvPr id="13" name="Text 11"/>
          <p:cNvSpPr/>
          <p:nvPr/>
        </p:nvSpPr>
        <p:spPr>
          <a:xfrm>
            <a:off x="4679594" y="3401568"/>
            <a:ext cx="2832506" cy="1234440"/>
          </a:xfrm>
          <a:prstGeom prst="rect">
            <a:avLst/>
          </a:prstGeom>
          <a:noFill/>
          <a:ln/>
        </p:spPr>
        <p:txBody>
          <a:bodyPr wrap="square" lIns="0" tIns="0" rIns="0" bIns="0" rtlCol="0" anchor="t"/>
          <a:lstStyle/>
          <a:p>
            <a:pPr indent="0" marL="0">
              <a:lnSpc>
                <a:spcPts val="1500"/>
              </a:lnSpc>
              <a:buNone/>
            </a:pPr>
            <a:r>
              <a:rPr lang="en-US" sz="1100" dirty="0">
                <a:solidFill>
                  <a:srgbClr val="9AA0A7"/>
                </a:solidFill>
                <a:latin typeface="Calibri" pitchFamily="34" charset="0"/>
                <a:ea typeface="Calibri" pitchFamily="34" charset="-122"/>
                <a:cs typeface="Calibri" pitchFamily="34" charset="-120"/>
              </a:rPr>
              <a:t>hidup dengan depresi di seluruh dunia, sekitar 5% orang dewasa. Rasa tidak puas yang berkepanjangan adalah salah satu sinyal awalnya.</a:t>
            </a:r>
            <a:endParaRPr lang="en-US" sz="1100" dirty="0"/>
          </a:p>
        </p:txBody>
      </p:sp>
      <p:sp>
        <p:nvSpPr>
          <p:cNvPr id="14" name="Shape 12"/>
          <p:cNvSpPr/>
          <p:nvPr/>
        </p:nvSpPr>
        <p:spPr>
          <a:xfrm>
            <a:off x="4679594" y="4681728"/>
            <a:ext cx="2832506" cy="0"/>
          </a:xfrm>
          <a:prstGeom prst="line">
            <a:avLst/>
          </a:prstGeom>
          <a:noFill/>
          <a:ln w="10160">
            <a:solidFill>
              <a:srgbClr val="3A4048"/>
            </a:solidFill>
            <a:prstDash val="solid"/>
          </a:ln>
        </p:spPr>
      </p:sp>
      <p:sp>
        <p:nvSpPr>
          <p:cNvPr id="15" name="Text 13"/>
          <p:cNvSpPr/>
          <p:nvPr/>
        </p:nvSpPr>
        <p:spPr>
          <a:xfrm>
            <a:off x="4679594" y="4754880"/>
            <a:ext cx="2832506" cy="658368"/>
          </a:xfrm>
          <a:prstGeom prst="rect">
            <a:avLst/>
          </a:prstGeom>
          <a:noFill/>
          <a:ln/>
        </p:spPr>
        <p:txBody>
          <a:bodyPr wrap="square" lIns="0" tIns="0" rIns="0" bIns="0" rtlCol="0" anchor="t"/>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Artinya: menemukan kelas 3 dan 4 lebih dini punya nilai kesehatan masyarakat.</a:t>
            </a:r>
            <a:endParaRPr lang="en-US" sz="1050" dirty="0"/>
          </a:p>
        </p:txBody>
      </p:sp>
      <p:sp>
        <p:nvSpPr>
          <p:cNvPr id="16" name="Shape 14"/>
          <p:cNvSpPr/>
          <p:nvPr/>
        </p:nvSpPr>
        <p:spPr>
          <a:xfrm>
            <a:off x="8170469" y="2286000"/>
            <a:ext cx="3381146" cy="3246120"/>
          </a:xfrm>
          <a:prstGeom prst="roundRect">
            <a:avLst>
              <a:gd name="adj" fmla="val 1690"/>
            </a:avLst>
          </a:prstGeom>
          <a:solidFill>
            <a:srgbClr val="F4F1EC"/>
          </a:solidFill>
          <a:ln w="9525">
            <a:solidFill>
              <a:srgbClr val="DCD8D1"/>
            </a:solidFill>
            <a:prstDash val="solid"/>
          </a:ln>
        </p:spPr>
      </p:sp>
      <p:sp>
        <p:nvSpPr>
          <p:cNvPr id="17" name="Text 15"/>
          <p:cNvSpPr/>
          <p:nvPr/>
        </p:nvSpPr>
        <p:spPr>
          <a:xfrm>
            <a:off x="8444789" y="2468880"/>
            <a:ext cx="2832506"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KAHNEMAN &amp; DEATON, 2010</a:t>
            </a:r>
            <a:endParaRPr lang="en-US" sz="1050" dirty="0"/>
          </a:p>
        </p:txBody>
      </p:sp>
      <p:sp>
        <p:nvSpPr>
          <p:cNvPr id="18" name="Text 16"/>
          <p:cNvSpPr/>
          <p:nvPr/>
        </p:nvSpPr>
        <p:spPr>
          <a:xfrm>
            <a:off x="8444789" y="2788920"/>
            <a:ext cx="2832506" cy="566928"/>
          </a:xfrm>
          <a:prstGeom prst="rect">
            <a:avLst/>
          </a:prstGeom>
          <a:noFill/>
          <a:ln/>
        </p:spPr>
        <p:txBody>
          <a:bodyPr wrap="square" lIns="0" tIns="0" rIns="0" bIns="0" rtlCol="0" anchor="t"/>
          <a:lstStyle/>
          <a:p>
            <a:pPr indent="0" marL="0">
              <a:lnSpc>
                <a:spcPts val="2000"/>
              </a:lnSpc>
              <a:buNone/>
            </a:pPr>
            <a:r>
              <a:rPr lang="en-US" sz="1600" b="1" dirty="0">
                <a:solidFill>
                  <a:srgbClr val="16191D"/>
                </a:solidFill>
                <a:latin typeface="Cambria" pitchFamily="34" charset="0"/>
                <a:ea typeface="Cambria" pitchFamily="34" charset="-122"/>
                <a:cs typeface="Cambria" pitchFamily="34" charset="-120"/>
              </a:rPr>
              <a:t>Pendapatan dan evaluasi hidup</a:t>
            </a:r>
            <a:endParaRPr lang="en-US" sz="1600" dirty="0"/>
          </a:p>
        </p:txBody>
      </p:sp>
      <p:sp>
        <p:nvSpPr>
          <p:cNvPr id="19" name="Text 17"/>
          <p:cNvSpPr/>
          <p:nvPr/>
        </p:nvSpPr>
        <p:spPr>
          <a:xfrm>
            <a:off x="8444789" y="3401568"/>
            <a:ext cx="2832506" cy="123444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Evaluasi hidup naik mengikuti logaritma pendapatan, sementara kesejahteraan emosional mendatar di atas ambang tertentu.</a:t>
            </a:r>
            <a:endParaRPr lang="en-US" sz="1100" dirty="0"/>
          </a:p>
        </p:txBody>
      </p:sp>
      <p:sp>
        <p:nvSpPr>
          <p:cNvPr id="20" name="Shape 18"/>
          <p:cNvSpPr/>
          <p:nvPr/>
        </p:nvSpPr>
        <p:spPr>
          <a:xfrm>
            <a:off x="8444789" y="4681728"/>
            <a:ext cx="2832506" cy="0"/>
          </a:xfrm>
          <a:prstGeom prst="line">
            <a:avLst/>
          </a:prstGeom>
          <a:noFill/>
          <a:ln w="10160">
            <a:solidFill>
              <a:srgbClr val="DCD8D1"/>
            </a:solidFill>
            <a:prstDash val="solid"/>
          </a:ln>
        </p:spPr>
      </p:sp>
      <p:sp>
        <p:nvSpPr>
          <p:cNvPr id="21" name="Text 19"/>
          <p:cNvSpPr/>
          <p:nvPr/>
        </p:nvSpPr>
        <p:spPr>
          <a:xfrm>
            <a:off x="8444789" y="4754880"/>
            <a:ext cx="2832506" cy="658368"/>
          </a:xfrm>
          <a:prstGeom prst="rect">
            <a:avLst/>
          </a:prstGeom>
          <a:noFill/>
          <a:ln/>
        </p:spPr>
        <p:txBody>
          <a:bodyPr wrap="square" lIns="0" tIns="0" rIns="0" bIns="0" rtlCol="0" anchor="t"/>
          <a:lstStyle/>
          <a:p>
            <a:pPr indent="0" marL="0">
              <a:lnSpc>
                <a:spcPts val="1400"/>
              </a:lnSpc>
              <a:buNone/>
            </a:pPr>
            <a:r>
              <a:rPr lang="en-US" sz="1050" b="1" dirty="0">
                <a:solidFill>
                  <a:srgbClr val="2F6B5F"/>
                </a:solidFill>
                <a:latin typeface="Calibri" pitchFamily="34" charset="0"/>
                <a:ea typeface="Calibri" pitchFamily="34" charset="-122"/>
                <a:cs typeface="Calibri" pitchFamily="34" charset="-120"/>
              </a:rPr>
              <a:t>Artinya: income_to_poverty_ratio wajar muncul di jajaran fitur teratas.</a:t>
            </a:r>
            <a:endParaRPr lang="en-US" sz="1050" dirty="0"/>
          </a:p>
        </p:txBody>
      </p:sp>
      <p:sp>
        <p:nvSpPr>
          <p:cNvPr id="22" name="Shape 20"/>
          <p:cNvSpPr/>
          <p:nvPr/>
        </p:nvSpPr>
        <p:spPr>
          <a:xfrm>
            <a:off x="640080" y="5715000"/>
            <a:ext cx="10911535" cy="475488"/>
          </a:xfrm>
          <a:prstGeom prst="roundRect">
            <a:avLst>
              <a:gd name="adj" fmla="val 11538"/>
            </a:avLst>
          </a:prstGeom>
          <a:solidFill>
            <a:srgbClr val="ECE7DF"/>
          </a:solidFill>
          <a:ln w="9525">
            <a:solidFill>
              <a:srgbClr val="DCD8D1"/>
            </a:solidFill>
            <a:prstDash val="solid"/>
          </a:ln>
        </p:spPr>
      </p:sp>
      <p:sp>
        <p:nvSpPr>
          <p:cNvPr id="23" name="Text 21"/>
          <p:cNvSpPr/>
          <p:nvPr/>
        </p:nvSpPr>
        <p:spPr>
          <a:xfrm>
            <a:off x="914400" y="5715000"/>
            <a:ext cx="10362895" cy="475488"/>
          </a:xfrm>
          <a:prstGeom prst="rect">
            <a:avLst/>
          </a:prstGeom>
          <a:noFill/>
          <a:ln/>
        </p:spPr>
        <p:txBody>
          <a:bodyPr wrap="square" lIns="0" tIns="0" rIns="0" bIns="0" rtlCol="0" anchor="ctr"/>
          <a:lstStyle/>
          <a:p>
            <a:pPr indent="0" marL="0">
              <a:buNone/>
            </a:pPr>
            <a:r>
              <a:rPr lang="en-US" sz="1150" i="1" dirty="0">
                <a:solidFill>
                  <a:srgbClr val="16191D"/>
                </a:solidFill>
                <a:latin typeface="Calibri" pitchFamily="34" charset="0"/>
                <a:ea typeface="Calibri" pitchFamily="34" charset="-122"/>
                <a:cs typeface="Calibri" pitchFamily="34" charset="-120"/>
              </a:rPr>
              <a:t>Rumusan masalah: dari 176 variabel survei kesehatan, seberapa tepat kita bisa menempatkan seseorang pada skala kepuasan hidup, dan siapa yang paling perlu ditindaklanjuti?</a:t>
            </a:r>
            <a:endParaRPr lang="en-US" sz="1150" dirty="0"/>
          </a:p>
        </p:txBody>
      </p:sp>
      <p:sp>
        <p:nvSpPr>
          <p:cNvPr id="25" name="Shape 22"/>
          <p:cNvSpPr/>
          <p:nvPr/>
        </p:nvSpPr>
        <p:spPr>
          <a:xfrm>
            <a:off x="640080" y="6400800"/>
            <a:ext cx="1572768" cy="45720"/>
          </a:xfrm>
          <a:prstGeom prst="rect">
            <a:avLst/>
          </a:prstGeom>
          <a:solidFill>
            <a:srgbClr val="A8442A"/>
          </a:solidFill>
          <a:ln/>
        </p:spPr>
      </p:sp>
      <p:sp>
        <p:nvSpPr>
          <p:cNvPr id="26" name="Text 2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Latar &amp; data</a:t>
            </a:r>
            <a:endParaRPr lang="en-US" sz="850" dirty="0"/>
          </a:p>
        </p:txBody>
      </p:sp>
      <p:sp>
        <p:nvSpPr>
          <p:cNvPr id="27" name="Shape 24"/>
          <p:cNvSpPr/>
          <p:nvPr/>
        </p:nvSpPr>
        <p:spPr>
          <a:xfrm>
            <a:off x="2304288" y="6400800"/>
            <a:ext cx="1572768" cy="45720"/>
          </a:xfrm>
          <a:prstGeom prst="rect">
            <a:avLst/>
          </a:prstGeom>
          <a:solidFill>
            <a:srgbClr val="DCD8D1"/>
          </a:solidFill>
          <a:ln/>
        </p:spPr>
      </p:sp>
      <p:sp>
        <p:nvSpPr>
          <p:cNvPr id="28" name="Text 2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9" name="Shape 26"/>
          <p:cNvSpPr/>
          <p:nvPr/>
        </p:nvSpPr>
        <p:spPr>
          <a:xfrm>
            <a:off x="3968496" y="6400800"/>
            <a:ext cx="1572768" cy="45720"/>
          </a:xfrm>
          <a:prstGeom prst="rect">
            <a:avLst/>
          </a:prstGeom>
          <a:solidFill>
            <a:srgbClr val="DCD8D1"/>
          </a:solidFill>
          <a:ln/>
        </p:spPr>
      </p:sp>
      <p:sp>
        <p:nvSpPr>
          <p:cNvPr id="30" name="Text 2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1" name="Shape 28"/>
          <p:cNvSpPr/>
          <p:nvPr/>
        </p:nvSpPr>
        <p:spPr>
          <a:xfrm>
            <a:off x="5632704" y="6400800"/>
            <a:ext cx="1572768" cy="45720"/>
          </a:xfrm>
          <a:prstGeom prst="rect">
            <a:avLst/>
          </a:prstGeom>
          <a:solidFill>
            <a:srgbClr val="DCD8D1"/>
          </a:solidFill>
          <a:ln/>
        </p:spPr>
      </p:sp>
      <p:sp>
        <p:nvSpPr>
          <p:cNvPr id="32" name="Text 2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3" name="Shape 30"/>
          <p:cNvSpPr/>
          <p:nvPr/>
        </p:nvSpPr>
        <p:spPr>
          <a:xfrm>
            <a:off x="7296912" y="6400800"/>
            <a:ext cx="1572768" cy="45720"/>
          </a:xfrm>
          <a:prstGeom prst="rect">
            <a:avLst/>
          </a:prstGeom>
          <a:solidFill>
            <a:srgbClr val="DCD8D1"/>
          </a:solidFill>
          <a:ln/>
        </p:spPr>
      </p:sp>
      <p:sp>
        <p:nvSpPr>
          <p:cNvPr id="34" name="Text 3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5" name="Shape 32"/>
          <p:cNvSpPr/>
          <p:nvPr/>
        </p:nvSpPr>
        <p:spPr>
          <a:xfrm>
            <a:off x="8961120" y="6400800"/>
            <a:ext cx="1572768" cy="45720"/>
          </a:xfrm>
          <a:prstGeom prst="rect">
            <a:avLst/>
          </a:prstGeom>
          <a:solidFill>
            <a:srgbClr val="DCD8D1"/>
          </a:solidFill>
          <a:ln/>
        </p:spPr>
      </p:sp>
      <p:sp>
        <p:nvSpPr>
          <p:cNvPr id="36" name="Text 3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7" name="Text 3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Satu pertanyaan survei, empat jawaban berurutan.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Seberapa puas seseorang dengan hidupnya, diprediksi dari 176 variabel survei kesehatan.</a:t>
            </a:r>
            <a:endParaRPr lang="en-US" sz="1400" dirty="0"/>
          </a:p>
        </p:txBody>
      </p:sp>
      <p:sp>
        <p:nvSpPr>
          <p:cNvPr id="4" name="Shape 2"/>
          <p:cNvSpPr/>
          <p:nvPr/>
        </p:nvSpPr>
        <p:spPr>
          <a:xfrm>
            <a:off x="640080" y="2286000"/>
            <a:ext cx="5257800" cy="3200400"/>
          </a:xfrm>
          <a:prstGeom prst="roundRect">
            <a:avLst>
              <a:gd name="adj" fmla="val 1714"/>
            </a:avLst>
          </a:prstGeom>
          <a:solidFill>
            <a:srgbClr val="F4F1EC"/>
          </a:solidFill>
          <a:ln w="9525">
            <a:solidFill>
              <a:srgbClr val="DCD8D1"/>
            </a:solidFill>
            <a:prstDash val="solid"/>
          </a:ln>
        </p:spPr>
      </p:sp>
      <p:sp>
        <p:nvSpPr>
          <p:cNvPr id="5" name="Text 3"/>
          <p:cNvSpPr/>
          <p:nvPr/>
        </p:nvSpPr>
        <p:spPr>
          <a:xfrm>
            <a:off x="950976" y="2487168"/>
            <a:ext cx="4636008"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Yang diprediksi</a:t>
            </a:r>
            <a:endParaRPr lang="en-US" sz="1500" dirty="0"/>
          </a:p>
        </p:txBody>
      </p:sp>
      <p:sp>
        <p:nvSpPr>
          <p:cNvPr id="6" name="Shape 4"/>
          <p:cNvSpPr/>
          <p:nvPr/>
        </p:nvSpPr>
        <p:spPr>
          <a:xfrm>
            <a:off x="950976" y="2980944"/>
            <a:ext cx="274320" cy="274320"/>
          </a:xfrm>
          <a:prstGeom prst="rect">
            <a:avLst/>
          </a:prstGeom>
          <a:solidFill>
            <a:srgbClr val="2F6B5F"/>
          </a:solidFill>
          <a:ln/>
        </p:spPr>
      </p:sp>
      <p:sp>
        <p:nvSpPr>
          <p:cNvPr id="7" name="Text 5"/>
          <p:cNvSpPr/>
          <p:nvPr/>
        </p:nvSpPr>
        <p:spPr>
          <a:xfrm>
            <a:off x="1371600" y="2926080"/>
            <a:ext cx="3063240" cy="384048"/>
          </a:xfrm>
          <a:prstGeom prst="rect">
            <a:avLst/>
          </a:prstGeom>
          <a:noFill/>
          <a:ln/>
        </p:spPr>
        <p:txBody>
          <a:bodyPr wrap="square" lIns="0" tIns="0" rIns="0" bIns="0" rtlCol="0" anchor="ctr"/>
          <a:lstStyle/>
          <a:p>
            <a:pPr indent="0" marL="0">
              <a:buNone/>
            </a:pPr>
            <a:r>
              <a:rPr lang="en-US" sz="1250" dirty="0">
                <a:solidFill>
                  <a:srgbClr val="16191D"/>
                </a:solidFill>
                <a:latin typeface="Calibri" pitchFamily="34" charset="0"/>
                <a:ea typeface="Calibri" pitchFamily="34" charset="-122"/>
                <a:cs typeface="Calibri" pitchFamily="34" charset="-120"/>
              </a:rPr>
              <a:t>Sangat puas</a:t>
            </a:r>
            <a:endParaRPr lang="en-US" sz="1250" dirty="0"/>
          </a:p>
        </p:txBody>
      </p:sp>
      <p:sp>
        <p:nvSpPr>
          <p:cNvPr id="8" name="Text 6"/>
          <p:cNvSpPr/>
          <p:nvPr/>
        </p:nvSpPr>
        <p:spPr>
          <a:xfrm>
            <a:off x="4160520" y="2926080"/>
            <a:ext cx="1426464" cy="384048"/>
          </a:xfrm>
          <a:prstGeom prst="rect">
            <a:avLst/>
          </a:prstGeom>
          <a:noFill/>
          <a:ln/>
        </p:spPr>
        <p:txBody>
          <a:bodyPr wrap="square" lIns="0" tIns="0" rIns="0" bIns="0" rtlCol="0" anchor="ctr"/>
          <a:lstStyle/>
          <a:p>
            <a:pPr algn="r" indent="0" marL="0">
              <a:buNone/>
            </a:pPr>
            <a:r>
              <a:rPr lang="en-US" sz="1150" dirty="0">
                <a:solidFill>
                  <a:srgbClr val="6E747C"/>
                </a:solidFill>
                <a:latin typeface="Calibri" pitchFamily="34" charset="0"/>
                <a:ea typeface="Calibri" pitchFamily="34" charset="-122"/>
                <a:cs typeface="Calibri" pitchFamily="34" charset="-120"/>
              </a:rPr>
              <a:t>42.968 baris</a:t>
            </a:r>
            <a:endParaRPr lang="en-US" sz="1150" dirty="0"/>
          </a:p>
        </p:txBody>
      </p:sp>
      <p:sp>
        <p:nvSpPr>
          <p:cNvPr id="9" name="Shape 7"/>
          <p:cNvSpPr/>
          <p:nvPr/>
        </p:nvSpPr>
        <p:spPr>
          <a:xfrm>
            <a:off x="950976" y="3547872"/>
            <a:ext cx="274320" cy="274320"/>
          </a:xfrm>
          <a:prstGeom prst="rect">
            <a:avLst/>
          </a:prstGeom>
          <a:solidFill>
            <a:srgbClr val="8FB0A4"/>
          </a:solidFill>
          <a:ln/>
        </p:spPr>
      </p:sp>
      <p:sp>
        <p:nvSpPr>
          <p:cNvPr id="10" name="Text 8"/>
          <p:cNvSpPr/>
          <p:nvPr/>
        </p:nvSpPr>
        <p:spPr>
          <a:xfrm>
            <a:off x="1371600" y="3493008"/>
            <a:ext cx="3063240" cy="384048"/>
          </a:xfrm>
          <a:prstGeom prst="rect">
            <a:avLst/>
          </a:prstGeom>
          <a:noFill/>
          <a:ln/>
        </p:spPr>
        <p:txBody>
          <a:bodyPr wrap="square" lIns="0" tIns="0" rIns="0" bIns="0" rtlCol="0" anchor="ctr"/>
          <a:lstStyle/>
          <a:p>
            <a:pPr indent="0" marL="0">
              <a:buNone/>
            </a:pPr>
            <a:r>
              <a:rPr lang="en-US" sz="1250" dirty="0">
                <a:solidFill>
                  <a:srgbClr val="16191D"/>
                </a:solidFill>
                <a:latin typeface="Calibri" pitchFamily="34" charset="0"/>
                <a:ea typeface="Calibri" pitchFamily="34" charset="-122"/>
                <a:cs typeface="Calibri" pitchFamily="34" charset="-120"/>
              </a:rPr>
              <a:t>Puas</a:t>
            </a:r>
            <a:endParaRPr lang="en-US" sz="1250" dirty="0"/>
          </a:p>
        </p:txBody>
      </p:sp>
      <p:sp>
        <p:nvSpPr>
          <p:cNvPr id="11" name="Text 9"/>
          <p:cNvSpPr/>
          <p:nvPr/>
        </p:nvSpPr>
        <p:spPr>
          <a:xfrm>
            <a:off x="4160520" y="3493008"/>
            <a:ext cx="1426464" cy="384048"/>
          </a:xfrm>
          <a:prstGeom prst="rect">
            <a:avLst/>
          </a:prstGeom>
          <a:noFill/>
          <a:ln/>
        </p:spPr>
        <p:txBody>
          <a:bodyPr wrap="square" lIns="0" tIns="0" rIns="0" bIns="0" rtlCol="0" anchor="ctr"/>
          <a:lstStyle/>
          <a:p>
            <a:pPr algn="r" indent="0" marL="0">
              <a:buNone/>
            </a:pPr>
            <a:r>
              <a:rPr lang="en-US" sz="1150" dirty="0">
                <a:solidFill>
                  <a:srgbClr val="6E747C"/>
                </a:solidFill>
                <a:latin typeface="Calibri" pitchFamily="34" charset="0"/>
                <a:ea typeface="Calibri" pitchFamily="34" charset="-122"/>
                <a:cs typeface="Calibri" pitchFamily="34" charset="-120"/>
              </a:rPr>
              <a:t>48.189 baris</a:t>
            </a:r>
            <a:endParaRPr lang="en-US" sz="1150" dirty="0"/>
          </a:p>
        </p:txBody>
      </p:sp>
      <p:sp>
        <p:nvSpPr>
          <p:cNvPr id="12" name="Shape 10"/>
          <p:cNvSpPr/>
          <p:nvPr/>
        </p:nvSpPr>
        <p:spPr>
          <a:xfrm>
            <a:off x="950976" y="4114800"/>
            <a:ext cx="274320" cy="274320"/>
          </a:xfrm>
          <a:prstGeom prst="rect">
            <a:avLst/>
          </a:prstGeom>
          <a:solidFill>
            <a:srgbClr val="D8A25E"/>
          </a:solidFill>
          <a:ln/>
        </p:spPr>
      </p:sp>
      <p:sp>
        <p:nvSpPr>
          <p:cNvPr id="13" name="Text 11"/>
          <p:cNvSpPr/>
          <p:nvPr/>
        </p:nvSpPr>
        <p:spPr>
          <a:xfrm>
            <a:off x="1371600" y="4059936"/>
            <a:ext cx="3063240" cy="384048"/>
          </a:xfrm>
          <a:prstGeom prst="rect">
            <a:avLst/>
          </a:prstGeom>
          <a:noFill/>
          <a:ln/>
        </p:spPr>
        <p:txBody>
          <a:bodyPr wrap="square" lIns="0" tIns="0" rIns="0" bIns="0" rtlCol="0" anchor="ctr"/>
          <a:lstStyle/>
          <a:p>
            <a:pPr indent="0" marL="0">
              <a:buNone/>
            </a:pPr>
            <a:r>
              <a:rPr lang="en-US" sz="1250" dirty="0">
                <a:solidFill>
                  <a:srgbClr val="16191D"/>
                </a:solidFill>
                <a:latin typeface="Calibri" pitchFamily="34" charset="0"/>
                <a:ea typeface="Calibri" pitchFamily="34" charset="-122"/>
                <a:cs typeface="Calibri" pitchFamily="34" charset="-120"/>
              </a:rPr>
              <a:t>Tidak puas</a:t>
            </a:r>
            <a:endParaRPr lang="en-US" sz="1250" dirty="0"/>
          </a:p>
        </p:txBody>
      </p:sp>
      <p:sp>
        <p:nvSpPr>
          <p:cNvPr id="14" name="Text 12"/>
          <p:cNvSpPr/>
          <p:nvPr/>
        </p:nvSpPr>
        <p:spPr>
          <a:xfrm>
            <a:off x="4160520" y="4059936"/>
            <a:ext cx="1426464" cy="384048"/>
          </a:xfrm>
          <a:prstGeom prst="rect">
            <a:avLst/>
          </a:prstGeom>
          <a:noFill/>
          <a:ln/>
        </p:spPr>
        <p:txBody>
          <a:bodyPr wrap="square" lIns="0" tIns="0" rIns="0" bIns="0" rtlCol="0" anchor="ctr"/>
          <a:lstStyle/>
          <a:p>
            <a:pPr algn="r" indent="0" marL="0">
              <a:buNone/>
            </a:pPr>
            <a:r>
              <a:rPr lang="en-US" sz="1150" dirty="0">
                <a:solidFill>
                  <a:srgbClr val="6E747C"/>
                </a:solidFill>
                <a:latin typeface="Calibri" pitchFamily="34" charset="0"/>
                <a:ea typeface="Calibri" pitchFamily="34" charset="-122"/>
                <a:cs typeface="Calibri" pitchFamily="34" charset="-120"/>
              </a:rPr>
              <a:t>3.559 baris</a:t>
            </a:r>
            <a:endParaRPr lang="en-US" sz="1150" dirty="0"/>
          </a:p>
        </p:txBody>
      </p:sp>
      <p:sp>
        <p:nvSpPr>
          <p:cNvPr id="15" name="Shape 13"/>
          <p:cNvSpPr/>
          <p:nvPr/>
        </p:nvSpPr>
        <p:spPr>
          <a:xfrm>
            <a:off x="950976" y="4681728"/>
            <a:ext cx="274320" cy="274320"/>
          </a:xfrm>
          <a:prstGeom prst="rect">
            <a:avLst/>
          </a:prstGeom>
          <a:solidFill>
            <a:srgbClr val="A8442A"/>
          </a:solidFill>
          <a:ln/>
        </p:spPr>
      </p:sp>
      <p:sp>
        <p:nvSpPr>
          <p:cNvPr id="16" name="Text 14"/>
          <p:cNvSpPr/>
          <p:nvPr/>
        </p:nvSpPr>
        <p:spPr>
          <a:xfrm>
            <a:off x="1371600" y="4626864"/>
            <a:ext cx="3063240" cy="384048"/>
          </a:xfrm>
          <a:prstGeom prst="rect">
            <a:avLst/>
          </a:prstGeom>
          <a:noFill/>
          <a:ln/>
        </p:spPr>
        <p:txBody>
          <a:bodyPr wrap="square" lIns="0" tIns="0" rIns="0" bIns="0" rtlCol="0" anchor="ctr"/>
          <a:lstStyle/>
          <a:p>
            <a:pPr indent="0" marL="0">
              <a:buNone/>
            </a:pPr>
            <a:r>
              <a:rPr lang="en-US" sz="1250" dirty="0">
                <a:solidFill>
                  <a:srgbClr val="16191D"/>
                </a:solidFill>
                <a:latin typeface="Calibri" pitchFamily="34" charset="0"/>
                <a:ea typeface="Calibri" pitchFamily="34" charset="-122"/>
                <a:cs typeface="Calibri" pitchFamily="34" charset="-120"/>
              </a:rPr>
              <a:t>Sangat tidak puas</a:t>
            </a:r>
            <a:endParaRPr lang="en-US" sz="1250" dirty="0"/>
          </a:p>
        </p:txBody>
      </p:sp>
      <p:sp>
        <p:nvSpPr>
          <p:cNvPr id="17" name="Text 15"/>
          <p:cNvSpPr/>
          <p:nvPr/>
        </p:nvSpPr>
        <p:spPr>
          <a:xfrm>
            <a:off x="4160520" y="4626864"/>
            <a:ext cx="1426464" cy="384048"/>
          </a:xfrm>
          <a:prstGeom prst="rect">
            <a:avLst/>
          </a:prstGeom>
          <a:noFill/>
          <a:ln/>
        </p:spPr>
        <p:txBody>
          <a:bodyPr wrap="square" lIns="0" tIns="0" rIns="0" bIns="0" rtlCol="0" anchor="ctr"/>
          <a:lstStyle/>
          <a:p>
            <a:pPr algn="r" indent="0" marL="0">
              <a:buNone/>
            </a:pPr>
            <a:r>
              <a:rPr lang="en-US" sz="1150" dirty="0">
                <a:solidFill>
                  <a:srgbClr val="6E747C"/>
                </a:solidFill>
                <a:latin typeface="Calibri" pitchFamily="34" charset="0"/>
                <a:ea typeface="Calibri" pitchFamily="34" charset="-122"/>
                <a:cs typeface="Calibri" pitchFamily="34" charset="-120"/>
              </a:rPr>
              <a:t>893 baris</a:t>
            </a:r>
            <a:endParaRPr lang="en-US" sz="1150" dirty="0"/>
          </a:p>
        </p:txBody>
      </p:sp>
      <p:sp>
        <p:nvSpPr>
          <p:cNvPr id="18" name="Text 16"/>
          <p:cNvSpPr/>
          <p:nvPr/>
        </p:nvSpPr>
        <p:spPr>
          <a:xfrm>
            <a:off x="950976" y="5175504"/>
            <a:ext cx="4636008" cy="310896"/>
          </a:xfrm>
          <a:prstGeom prst="rect">
            <a:avLst/>
          </a:prstGeom>
          <a:noFill/>
          <a:ln/>
        </p:spPr>
        <p:txBody>
          <a:bodyPr wrap="square" lIns="0" tIns="0" rIns="0" bIns="0" rtlCol="0" anchor="ctr"/>
          <a:lstStyle/>
          <a:p>
            <a:pPr algn="l" indent="0" marL="0">
              <a:buNone/>
            </a:pPr>
            <a:r>
              <a:rPr lang="en-US" sz="1100" i="1" dirty="0">
                <a:solidFill>
                  <a:srgbClr val="6E747C"/>
                </a:solidFill>
                <a:latin typeface="Calibri" pitchFamily="34" charset="0"/>
                <a:ea typeface="Calibri" pitchFamily="34" charset="-122"/>
                <a:cs typeface="Calibri" pitchFamily="34" charset="-120"/>
              </a:rPr>
              <a:t>Skalanya berurutan, jadi jarak antar jawaban punya arti.</a:t>
            </a:r>
            <a:endParaRPr lang="en-US" sz="1100" dirty="0"/>
          </a:p>
        </p:txBody>
      </p:sp>
      <p:sp>
        <p:nvSpPr>
          <p:cNvPr id="19" name="Shape 17"/>
          <p:cNvSpPr/>
          <p:nvPr/>
        </p:nvSpPr>
        <p:spPr>
          <a:xfrm>
            <a:off x="6281928" y="2286000"/>
            <a:ext cx="5257800" cy="3200400"/>
          </a:xfrm>
          <a:prstGeom prst="roundRect">
            <a:avLst>
              <a:gd name="adj" fmla="val 1714"/>
            </a:avLst>
          </a:prstGeom>
          <a:solidFill>
            <a:srgbClr val="FFFFFF"/>
          </a:solidFill>
          <a:ln w="9525">
            <a:solidFill>
              <a:srgbClr val="DCD8D1"/>
            </a:solidFill>
            <a:prstDash val="solid"/>
          </a:ln>
        </p:spPr>
      </p:sp>
      <p:sp>
        <p:nvSpPr>
          <p:cNvPr id="20" name="Text 18"/>
          <p:cNvSpPr/>
          <p:nvPr/>
        </p:nvSpPr>
        <p:spPr>
          <a:xfrm>
            <a:off x="6592824" y="2487168"/>
            <a:ext cx="4636008"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Spesifikasi berkas</a:t>
            </a:r>
            <a:endParaRPr lang="en-US" sz="1500" dirty="0"/>
          </a:p>
        </p:txBody>
      </p:sp>
      <p:sp>
        <p:nvSpPr>
          <p:cNvPr id="21" name="Text 19"/>
          <p:cNvSpPr/>
          <p:nvPr/>
        </p:nvSpPr>
        <p:spPr>
          <a:xfrm>
            <a:off x="6592824" y="288950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train_final.csv</a:t>
            </a:r>
            <a:endParaRPr lang="en-US" sz="1150" dirty="0"/>
          </a:p>
        </p:txBody>
      </p:sp>
      <p:sp>
        <p:nvSpPr>
          <p:cNvPr id="22" name="Text 20"/>
          <p:cNvSpPr/>
          <p:nvPr/>
        </p:nvSpPr>
        <p:spPr>
          <a:xfrm>
            <a:off x="9467149" y="288950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95.609 × 179</a:t>
            </a:r>
            <a:endParaRPr lang="en-US" sz="1150" dirty="0"/>
          </a:p>
        </p:txBody>
      </p:sp>
      <p:sp>
        <p:nvSpPr>
          <p:cNvPr id="23" name="Shape 21"/>
          <p:cNvSpPr/>
          <p:nvPr/>
        </p:nvSpPr>
        <p:spPr>
          <a:xfrm>
            <a:off x="6592824" y="3255264"/>
            <a:ext cx="4636008" cy="0"/>
          </a:xfrm>
          <a:prstGeom prst="line">
            <a:avLst/>
          </a:prstGeom>
          <a:noFill/>
          <a:ln w="7620">
            <a:solidFill>
              <a:srgbClr val="DCD8D1"/>
            </a:solidFill>
            <a:prstDash val="solid"/>
          </a:ln>
        </p:spPr>
      </p:sp>
      <p:sp>
        <p:nvSpPr>
          <p:cNvPr id="24" name="Text 22"/>
          <p:cNvSpPr/>
          <p:nvPr/>
        </p:nvSpPr>
        <p:spPr>
          <a:xfrm>
            <a:off x="6592824" y="325526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test_final.csv</a:t>
            </a:r>
            <a:endParaRPr lang="en-US" sz="1150" dirty="0"/>
          </a:p>
        </p:txBody>
      </p:sp>
      <p:sp>
        <p:nvSpPr>
          <p:cNvPr id="25" name="Text 23"/>
          <p:cNvSpPr/>
          <p:nvPr/>
        </p:nvSpPr>
        <p:spPr>
          <a:xfrm>
            <a:off x="9467149" y="325526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23.902 × 178</a:t>
            </a:r>
            <a:endParaRPr lang="en-US" sz="1150" dirty="0"/>
          </a:p>
        </p:txBody>
      </p:sp>
      <p:sp>
        <p:nvSpPr>
          <p:cNvPr id="26" name="Shape 24"/>
          <p:cNvSpPr/>
          <p:nvPr/>
        </p:nvSpPr>
        <p:spPr>
          <a:xfrm>
            <a:off x="6592824" y="3621024"/>
            <a:ext cx="4636008" cy="0"/>
          </a:xfrm>
          <a:prstGeom prst="line">
            <a:avLst/>
          </a:prstGeom>
          <a:noFill/>
          <a:ln w="7620">
            <a:solidFill>
              <a:srgbClr val="DCD8D1"/>
            </a:solidFill>
            <a:prstDash val="solid"/>
          </a:ln>
        </p:spPr>
      </p:sp>
      <p:sp>
        <p:nvSpPr>
          <p:cNvPr id="27" name="Text 25"/>
          <p:cNvSpPr/>
          <p:nvPr/>
        </p:nvSpPr>
        <p:spPr>
          <a:xfrm>
            <a:off x="6592824" y="362102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data_dictionary.csv</a:t>
            </a:r>
            <a:endParaRPr lang="en-US" sz="1150" dirty="0"/>
          </a:p>
        </p:txBody>
      </p:sp>
      <p:sp>
        <p:nvSpPr>
          <p:cNvPr id="28" name="Text 26"/>
          <p:cNvSpPr/>
          <p:nvPr/>
        </p:nvSpPr>
        <p:spPr>
          <a:xfrm>
            <a:off x="9467149" y="362102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187 × 3</a:t>
            </a:r>
            <a:endParaRPr lang="en-US" sz="1150" dirty="0"/>
          </a:p>
        </p:txBody>
      </p:sp>
      <p:sp>
        <p:nvSpPr>
          <p:cNvPr id="29" name="Shape 27"/>
          <p:cNvSpPr/>
          <p:nvPr/>
        </p:nvSpPr>
        <p:spPr>
          <a:xfrm>
            <a:off x="6592824" y="3986784"/>
            <a:ext cx="4636008" cy="0"/>
          </a:xfrm>
          <a:prstGeom prst="line">
            <a:avLst/>
          </a:prstGeom>
          <a:noFill/>
          <a:ln w="7620">
            <a:solidFill>
              <a:srgbClr val="DCD8D1"/>
            </a:solidFill>
            <a:prstDash val="solid"/>
          </a:ln>
        </p:spPr>
      </p:sp>
      <p:sp>
        <p:nvSpPr>
          <p:cNvPr id="30" name="Text 28"/>
          <p:cNvSpPr/>
          <p:nvPr/>
        </p:nvSpPr>
        <p:spPr>
          <a:xfrm>
            <a:off x="6592824" y="398678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Fitur numerik dipakai</a:t>
            </a:r>
            <a:endParaRPr lang="en-US" sz="1150" dirty="0"/>
          </a:p>
        </p:txBody>
      </p:sp>
      <p:sp>
        <p:nvSpPr>
          <p:cNvPr id="31" name="Text 29"/>
          <p:cNvSpPr/>
          <p:nvPr/>
        </p:nvSpPr>
        <p:spPr>
          <a:xfrm>
            <a:off x="9467149" y="398678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176</a:t>
            </a:r>
            <a:endParaRPr lang="en-US" sz="1150" dirty="0"/>
          </a:p>
        </p:txBody>
      </p:sp>
      <p:sp>
        <p:nvSpPr>
          <p:cNvPr id="32" name="Shape 30"/>
          <p:cNvSpPr/>
          <p:nvPr/>
        </p:nvSpPr>
        <p:spPr>
          <a:xfrm>
            <a:off x="6592824" y="4352544"/>
            <a:ext cx="4636008" cy="0"/>
          </a:xfrm>
          <a:prstGeom prst="line">
            <a:avLst/>
          </a:prstGeom>
          <a:noFill/>
          <a:ln w="7620">
            <a:solidFill>
              <a:srgbClr val="DCD8D1"/>
            </a:solidFill>
            <a:prstDash val="solid"/>
          </a:ln>
        </p:spPr>
      </p:sp>
      <p:sp>
        <p:nvSpPr>
          <p:cNvPr id="33" name="Text 31"/>
          <p:cNvSpPr/>
          <p:nvPr/>
        </p:nvSpPr>
        <p:spPr>
          <a:xfrm>
            <a:off x="6592824" y="435254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Tahun survei tercakup</a:t>
            </a:r>
            <a:endParaRPr lang="en-US" sz="1150" dirty="0"/>
          </a:p>
        </p:txBody>
      </p:sp>
      <p:sp>
        <p:nvSpPr>
          <p:cNvPr id="34" name="Text 32"/>
          <p:cNvSpPr/>
          <p:nvPr/>
        </p:nvSpPr>
        <p:spPr>
          <a:xfrm>
            <a:off x="9467149" y="435254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2021 sampai 2024</a:t>
            </a:r>
            <a:endParaRPr lang="en-US" sz="1150" dirty="0"/>
          </a:p>
        </p:txBody>
      </p:sp>
      <p:sp>
        <p:nvSpPr>
          <p:cNvPr id="35" name="Shape 33"/>
          <p:cNvSpPr/>
          <p:nvPr/>
        </p:nvSpPr>
        <p:spPr>
          <a:xfrm>
            <a:off x="6592824" y="4718304"/>
            <a:ext cx="4636008" cy="0"/>
          </a:xfrm>
          <a:prstGeom prst="line">
            <a:avLst/>
          </a:prstGeom>
          <a:noFill/>
          <a:ln w="7620">
            <a:solidFill>
              <a:srgbClr val="DCD8D1"/>
            </a:solidFill>
            <a:prstDash val="solid"/>
          </a:ln>
        </p:spPr>
      </p:sp>
      <p:sp>
        <p:nvSpPr>
          <p:cNvPr id="36" name="Text 34"/>
          <p:cNvSpPr/>
          <p:nvPr/>
        </p:nvSpPr>
        <p:spPr>
          <a:xfrm>
            <a:off x="6592824" y="471830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id unik di berkas uji</a:t>
            </a:r>
            <a:endParaRPr lang="en-US" sz="1150" dirty="0"/>
          </a:p>
        </p:txBody>
      </p:sp>
      <p:sp>
        <p:nvSpPr>
          <p:cNvPr id="37" name="Text 35"/>
          <p:cNvSpPr/>
          <p:nvPr/>
        </p:nvSpPr>
        <p:spPr>
          <a:xfrm>
            <a:off x="9467149" y="471830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23.666 dari 23.902</a:t>
            </a:r>
            <a:endParaRPr lang="en-US" sz="1150" dirty="0"/>
          </a:p>
        </p:txBody>
      </p:sp>
      <p:sp>
        <p:nvSpPr>
          <p:cNvPr id="38" name="Shape 36"/>
          <p:cNvSpPr/>
          <p:nvPr/>
        </p:nvSpPr>
        <p:spPr>
          <a:xfrm>
            <a:off x="6592824" y="5084064"/>
            <a:ext cx="4636008" cy="0"/>
          </a:xfrm>
          <a:prstGeom prst="line">
            <a:avLst/>
          </a:prstGeom>
          <a:noFill/>
          <a:ln w="7620">
            <a:solidFill>
              <a:srgbClr val="DCD8D1"/>
            </a:solidFill>
            <a:prstDash val="solid"/>
          </a:ln>
        </p:spPr>
      </p:sp>
      <p:sp>
        <p:nvSpPr>
          <p:cNvPr id="39" name="Text 37"/>
          <p:cNvSpPr/>
          <p:nvPr/>
        </p:nvSpPr>
        <p:spPr>
          <a:xfrm>
            <a:off x="6592824" y="5084064"/>
            <a:ext cx="287432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Baris duplikat penuh</a:t>
            </a:r>
            <a:endParaRPr lang="en-US" sz="1150" dirty="0"/>
          </a:p>
        </p:txBody>
      </p:sp>
      <p:sp>
        <p:nvSpPr>
          <p:cNvPr id="40" name="Text 38"/>
          <p:cNvSpPr/>
          <p:nvPr/>
        </p:nvSpPr>
        <p:spPr>
          <a:xfrm>
            <a:off x="9467149" y="5084064"/>
            <a:ext cx="1761683"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1.892 latih, 472 uji</a:t>
            </a:r>
            <a:endParaRPr lang="en-US" sz="1150" dirty="0"/>
          </a:p>
        </p:txBody>
      </p:sp>
      <p:sp>
        <p:nvSpPr>
          <p:cNvPr id="42" name="Shape 39"/>
          <p:cNvSpPr/>
          <p:nvPr/>
        </p:nvSpPr>
        <p:spPr>
          <a:xfrm>
            <a:off x="640080" y="6400800"/>
            <a:ext cx="1572768" cy="45720"/>
          </a:xfrm>
          <a:prstGeom prst="rect">
            <a:avLst/>
          </a:prstGeom>
          <a:solidFill>
            <a:srgbClr val="A8442A"/>
          </a:solidFill>
          <a:ln/>
        </p:spPr>
      </p:sp>
      <p:sp>
        <p:nvSpPr>
          <p:cNvPr id="43" name="Text 40"/>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Latar &amp; data</a:t>
            </a:r>
            <a:endParaRPr lang="en-US" sz="850" dirty="0"/>
          </a:p>
        </p:txBody>
      </p:sp>
      <p:sp>
        <p:nvSpPr>
          <p:cNvPr id="44" name="Shape 41"/>
          <p:cNvSpPr/>
          <p:nvPr/>
        </p:nvSpPr>
        <p:spPr>
          <a:xfrm>
            <a:off x="2304288" y="6400800"/>
            <a:ext cx="1572768" cy="45720"/>
          </a:xfrm>
          <a:prstGeom prst="rect">
            <a:avLst/>
          </a:prstGeom>
          <a:solidFill>
            <a:srgbClr val="DCD8D1"/>
          </a:solidFill>
          <a:ln/>
        </p:spPr>
      </p:sp>
      <p:sp>
        <p:nvSpPr>
          <p:cNvPr id="45" name="Text 42"/>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46" name="Shape 43"/>
          <p:cNvSpPr/>
          <p:nvPr/>
        </p:nvSpPr>
        <p:spPr>
          <a:xfrm>
            <a:off x="3968496" y="6400800"/>
            <a:ext cx="1572768" cy="45720"/>
          </a:xfrm>
          <a:prstGeom prst="rect">
            <a:avLst/>
          </a:prstGeom>
          <a:solidFill>
            <a:srgbClr val="DCD8D1"/>
          </a:solidFill>
          <a:ln/>
        </p:spPr>
      </p:sp>
      <p:sp>
        <p:nvSpPr>
          <p:cNvPr id="47" name="Text 44"/>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48" name="Shape 45"/>
          <p:cNvSpPr/>
          <p:nvPr/>
        </p:nvSpPr>
        <p:spPr>
          <a:xfrm>
            <a:off x="5632704" y="6400800"/>
            <a:ext cx="1572768" cy="45720"/>
          </a:xfrm>
          <a:prstGeom prst="rect">
            <a:avLst/>
          </a:prstGeom>
          <a:solidFill>
            <a:srgbClr val="DCD8D1"/>
          </a:solidFill>
          <a:ln/>
        </p:spPr>
      </p:sp>
      <p:sp>
        <p:nvSpPr>
          <p:cNvPr id="49" name="Text 46"/>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50" name="Shape 47"/>
          <p:cNvSpPr/>
          <p:nvPr/>
        </p:nvSpPr>
        <p:spPr>
          <a:xfrm>
            <a:off x="7296912" y="6400800"/>
            <a:ext cx="1572768" cy="45720"/>
          </a:xfrm>
          <a:prstGeom prst="rect">
            <a:avLst/>
          </a:prstGeom>
          <a:solidFill>
            <a:srgbClr val="DCD8D1"/>
          </a:solidFill>
          <a:ln/>
        </p:spPr>
      </p:sp>
      <p:sp>
        <p:nvSpPr>
          <p:cNvPr id="51" name="Text 48"/>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52" name="Shape 49"/>
          <p:cNvSpPr/>
          <p:nvPr/>
        </p:nvSpPr>
        <p:spPr>
          <a:xfrm>
            <a:off x="8961120" y="6400800"/>
            <a:ext cx="1572768" cy="45720"/>
          </a:xfrm>
          <a:prstGeom prst="rect">
            <a:avLst/>
          </a:prstGeom>
          <a:solidFill>
            <a:srgbClr val="DCD8D1"/>
          </a:solidFill>
          <a:ln/>
        </p:spPr>
      </p:sp>
      <p:sp>
        <p:nvSpPr>
          <p:cNvPr id="53" name="Text 50"/>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54" name="Text 5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QWK menghitung jarak, bukan salah atau benar.</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Bobot penaltinya kuadratik terhadap selisih kelas, jadi seberapa jauh melesetnya yang dihukum.</a:t>
            </a:r>
            <a:endParaRPr lang="en-US" sz="1400" dirty="0"/>
          </a:p>
        </p:txBody>
      </p:sp>
      <p:sp>
        <p:nvSpPr>
          <p:cNvPr id="4" name="Shape 2"/>
          <p:cNvSpPr/>
          <p:nvPr/>
        </p:nvSpPr>
        <p:spPr>
          <a:xfrm>
            <a:off x="640080" y="2212848"/>
            <a:ext cx="4846320" cy="1371600"/>
          </a:xfrm>
          <a:prstGeom prst="roundRect">
            <a:avLst>
              <a:gd name="adj" fmla="val 4000"/>
            </a:avLst>
          </a:prstGeom>
          <a:solidFill>
            <a:srgbClr val="16191D"/>
          </a:solidFill>
          <a:ln w="9525">
            <a:solidFill>
              <a:srgbClr val="16191D"/>
            </a:solidFill>
            <a:prstDash val="solid"/>
          </a:ln>
        </p:spPr>
      </p:sp>
      <p:sp>
        <p:nvSpPr>
          <p:cNvPr id="5" name="Text 3"/>
          <p:cNvSpPr/>
          <p:nvPr/>
        </p:nvSpPr>
        <p:spPr>
          <a:xfrm>
            <a:off x="868680" y="2377440"/>
            <a:ext cx="438912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κ  =  1  −  Σ wᵢⱼ Oᵢⱼ  /  Σ wᵢⱼ Eᵢⱼ</a:t>
            </a:r>
            <a:endParaRPr lang="en-US" sz="1700" dirty="0"/>
          </a:p>
        </p:txBody>
      </p:sp>
      <p:sp>
        <p:nvSpPr>
          <p:cNvPr id="6" name="Text 4"/>
          <p:cNvSpPr/>
          <p:nvPr/>
        </p:nvSpPr>
        <p:spPr>
          <a:xfrm>
            <a:off x="868680" y="2871216"/>
            <a:ext cx="4389120" cy="384048"/>
          </a:xfrm>
          <a:prstGeom prst="rect">
            <a:avLst/>
          </a:prstGeom>
          <a:noFill/>
          <a:ln/>
        </p:spPr>
        <p:txBody>
          <a:bodyPr wrap="square" lIns="0" tIns="0" rIns="0" bIns="0" rtlCol="0" anchor="ctr"/>
          <a:lstStyle/>
          <a:p>
            <a:pPr algn="ctr" indent="0" marL="0">
              <a:buNone/>
            </a:pPr>
            <a:r>
              <a:rPr lang="en-US" sz="1700" b="1" dirty="0">
                <a:solidFill>
                  <a:srgbClr val="8FB0A4"/>
                </a:solidFill>
                <a:latin typeface="Cambria" pitchFamily="34" charset="0"/>
                <a:ea typeface="Cambria" pitchFamily="34" charset="-122"/>
                <a:cs typeface="Cambria" pitchFamily="34" charset="-120"/>
              </a:rPr>
              <a:t>wᵢⱼ  =  (i − j)²  /  9</a:t>
            </a:r>
            <a:endParaRPr lang="en-US" sz="1700" dirty="0"/>
          </a:p>
        </p:txBody>
      </p:sp>
      <p:sp>
        <p:nvSpPr>
          <p:cNvPr id="7" name="Text 5"/>
          <p:cNvSpPr/>
          <p:nvPr/>
        </p:nvSpPr>
        <p:spPr>
          <a:xfrm>
            <a:off x="640080" y="3767328"/>
            <a:ext cx="4846320" cy="786384"/>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O adalah matriks konfusi teramati, E matriks ekspektasi di bawah independensi. Empat kelas, jadi penyebut bobotnya 9.</a:t>
            </a:r>
            <a:endParaRPr lang="en-US" sz="1200" dirty="0"/>
          </a:p>
        </p:txBody>
      </p:sp>
      <p:sp>
        <p:nvSpPr>
          <p:cNvPr id="8" name="Text 6"/>
          <p:cNvSpPr/>
          <p:nvPr/>
        </p:nvSpPr>
        <p:spPr>
          <a:xfrm>
            <a:off x="640080" y="4590288"/>
            <a:ext cx="4846320" cy="822960"/>
          </a:xfrm>
          <a:prstGeom prst="rect">
            <a:avLst/>
          </a:prstGeom>
          <a:noFill/>
          <a:ln/>
        </p:spPr>
        <p:txBody>
          <a:bodyPr wrap="square" lIns="0" tIns="0" rIns="0" bIns="0" rtlCol="0" anchor="t"/>
          <a:lstStyle/>
          <a:p>
            <a:pPr indent="0" marL="0">
              <a:lnSpc>
                <a:spcPts val="1700"/>
              </a:lnSpc>
              <a:buNone/>
            </a:pPr>
            <a:r>
              <a:rPr lang="en-US" sz="1200" dirty="0">
                <a:solidFill>
                  <a:srgbClr val="6E747C"/>
                </a:solidFill>
                <a:latin typeface="Calibri" pitchFamily="34" charset="0"/>
                <a:ea typeface="Calibri" pitchFamily="34" charset="-122"/>
                <a:cs typeface="Calibri" pitchFamily="34" charset="-120"/>
              </a:rPr>
              <a:t>Kami mengimplementasikannya ulang secara tervektorisasi, 47 kali lebih cepat, dan memverifikasinya terhadap scikit-learn sampai selisih 4,44 × 10⁻¹⁶.</a:t>
            </a:r>
            <a:endParaRPr lang="en-US" sz="1200" dirty="0"/>
          </a:p>
        </p:txBody>
      </p:sp>
      <p:sp>
        <p:nvSpPr>
          <p:cNvPr id="9" name="Text 7"/>
          <p:cNvSpPr/>
          <p:nvPr/>
        </p:nvSpPr>
        <p:spPr>
          <a:xfrm>
            <a:off x="7269480" y="2039112"/>
            <a:ext cx="4242816"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10" name="Text 8"/>
          <p:cNvSpPr/>
          <p:nvPr/>
        </p:nvSpPr>
        <p:spPr>
          <a:xfrm>
            <a:off x="7269480" y="2331720"/>
            <a:ext cx="1060704"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8330184" y="2331720"/>
            <a:ext cx="1060704"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12" name="Text 10"/>
          <p:cNvSpPr/>
          <p:nvPr/>
        </p:nvSpPr>
        <p:spPr>
          <a:xfrm>
            <a:off x="9390888" y="2331720"/>
            <a:ext cx="1060704"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3" name="Text 11"/>
          <p:cNvSpPr/>
          <p:nvPr/>
        </p:nvSpPr>
        <p:spPr>
          <a:xfrm>
            <a:off x="10451592" y="2331720"/>
            <a:ext cx="1060704"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4" name="Text 12"/>
          <p:cNvSpPr/>
          <p:nvPr/>
        </p:nvSpPr>
        <p:spPr>
          <a:xfrm>
            <a:off x="5788152" y="395020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5" name="Text 13"/>
          <p:cNvSpPr/>
          <p:nvPr/>
        </p:nvSpPr>
        <p:spPr>
          <a:xfrm>
            <a:off x="6830568" y="2697480"/>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6" name="Shape 14"/>
          <p:cNvSpPr/>
          <p:nvPr/>
        </p:nvSpPr>
        <p:spPr>
          <a:xfrm>
            <a:off x="7269480" y="2697480"/>
            <a:ext cx="1014984" cy="649224"/>
          </a:xfrm>
          <a:prstGeom prst="rect">
            <a:avLst/>
          </a:prstGeom>
          <a:solidFill>
            <a:srgbClr val="F4F1EC"/>
          </a:solidFill>
          <a:ln w="15240">
            <a:solidFill>
              <a:srgbClr val="FFFFFF"/>
            </a:solidFill>
            <a:prstDash val="solid"/>
          </a:ln>
        </p:spPr>
      </p:sp>
      <p:sp>
        <p:nvSpPr>
          <p:cNvPr id="17" name="Text 15"/>
          <p:cNvSpPr/>
          <p:nvPr/>
        </p:nvSpPr>
        <p:spPr>
          <a:xfrm>
            <a:off x="7269480" y="2697480"/>
            <a:ext cx="1014984" cy="649224"/>
          </a:xfrm>
          <a:prstGeom prst="rect">
            <a:avLst/>
          </a:prstGeom>
          <a:noFill/>
          <a:ln/>
        </p:spPr>
        <p:txBody>
          <a:bodyPr wrap="square" lIns="0" tIns="0" rIns="0" bIns="0" rtlCol="0" anchor="ctr"/>
          <a:lstStyle/>
          <a:p>
            <a:pPr algn="ctr" indent="0" marL="0">
              <a:buNone/>
            </a:pPr>
            <a:r>
              <a:rPr lang="en-US" sz="1500" b="1" dirty="0">
                <a:solidFill>
                  <a:srgbClr val="9AA0A7"/>
                </a:solidFill>
                <a:latin typeface="Calibri" pitchFamily="34" charset="0"/>
                <a:ea typeface="Calibri" pitchFamily="34" charset="-122"/>
                <a:cs typeface="Calibri" pitchFamily="34" charset="-120"/>
              </a:rPr>
              <a:t>0</a:t>
            </a:r>
            <a:endParaRPr lang="en-US" sz="1500" dirty="0"/>
          </a:p>
        </p:txBody>
      </p:sp>
      <p:sp>
        <p:nvSpPr>
          <p:cNvPr id="18" name="Shape 16"/>
          <p:cNvSpPr/>
          <p:nvPr/>
        </p:nvSpPr>
        <p:spPr>
          <a:xfrm>
            <a:off x="8330184" y="2697480"/>
            <a:ext cx="1014984" cy="649224"/>
          </a:xfrm>
          <a:prstGeom prst="rect">
            <a:avLst/>
          </a:prstGeom>
          <a:solidFill>
            <a:srgbClr val="8FB0A4"/>
          </a:solidFill>
          <a:ln w="15240">
            <a:solidFill>
              <a:srgbClr val="FFFFFF"/>
            </a:solidFill>
            <a:prstDash val="solid"/>
          </a:ln>
        </p:spPr>
      </p:sp>
      <p:sp>
        <p:nvSpPr>
          <p:cNvPr id="19" name="Text 17"/>
          <p:cNvSpPr/>
          <p:nvPr/>
        </p:nvSpPr>
        <p:spPr>
          <a:xfrm>
            <a:off x="8330184" y="2697480"/>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20" name="Shape 18"/>
          <p:cNvSpPr/>
          <p:nvPr/>
        </p:nvSpPr>
        <p:spPr>
          <a:xfrm>
            <a:off x="9390888" y="2697480"/>
            <a:ext cx="1014984" cy="649224"/>
          </a:xfrm>
          <a:prstGeom prst="rect">
            <a:avLst/>
          </a:prstGeom>
          <a:solidFill>
            <a:srgbClr val="D8A25E"/>
          </a:solidFill>
          <a:ln w="15240">
            <a:solidFill>
              <a:srgbClr val="FFFFFF"/>
            </a:solidFill>
            <a:prstDash val="solid"/>
          </a:ln>
        </p:spPr>
      </p:sp>
      <p:sp>
        <p:nvSpPr>
          <p:cNvPr id="21" name="Text 19"/>
          <p:cNvSpPr/>
          <p:nvPr/>
        </p:nvSpPr>
        <p:spPr>
          <a:xfrm>
            <a:off x="9390888" y="2697480"/>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4</a:t>
            </a:r>
            <a:endParaRPr lang="en-US" sz="1500" dirty="0"/>
          </a:p>
        </p:txBody>
      </p:sp>
      <p:sp>
        <p:nvSpPr>
          <p:cNvPr id="22" name="Shape 20"/>
          <p:cNvSpPr/>
          <p:nvPr/>
        </p:nvSpPr>
        <p:spPr>
          <a:xfrm>
            <a:off x="10451592" y="2697480"/>
            <a:ext cx="1014984" cy="649224"/>
          </a:xfrm>
          <a:prstGeom prst="rect">
            <a:avLst/>
          </a:prstGeom>
          <a:solidFill>
            <a:srgbClr val="A8442A"/>
          </a:solidFill>
          <a:ln w="15240">
            <a:solidFill>
              <a:srgbClr val="FFFFFF"/>
            </a:solidFill>
            <a:prstDash val="solid"/>
          </a:ln>
        </p:spPr>
      </p:sp>
      <p:sp>
        <p:nvSpPr>
          <p:cNvPr id="23" name="Text 21"/>
          <p:cNvSpPr/>
          <p:nvPr/>
        </p:nvSpPr>
        <p:spPr>
          <a:xfrm>
            <a:off x="10451592" y="2697480"/>
            <a:ext cx="1014984" cy="6492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24" name="Text 22"/>
          <p:cNvSpPr/>
          <p:nvPr/>
        </p:nvSpPr>
        <p:spPr>
          <a:xfrm>
            <a:off x="6830568" y="3392424"/>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5" name="Shape 23"/>
          <p:cNvSpPr/>
          <p:nvPr/>
        </p:nvSpPr>
        <p:spPr>
          <a:xfrm>
            <a:off x="7269480" y="3392424"/>
            <a:ext cx="1014984" cy="649224"/>
          </a:xfrm>
          <a:prstGeom prst="rect">
            <a:avLst/>
          </a:prstGeom>
          <a:solidFill>
            <a:srgbClr val="8FB0A4"/>
          </a:solidFill>
          <a:ln w="15240">
            <a:solidFill>
              <a:srgbClr val="FFFFFF"/>
            </a:solidFill>
            <a:prstDash val="solid"/>
          </a:ln>
        </p:spPr>
      </p:sp>
      <p:sp>
        <p:nvSpPr>
          <p:cNvPr id="26" name="Text 24"/>
          <p:cNvSpPr/>
          <p:nvPr/>
        </p:nvSpPr>
        <p:spPr>
          <a:xfrm>
            <a:off x="7269480" y="3392424"/>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27" name="Shape 25"/>
          <p:cNvSpPr/>
          <p:nvPr/>
        </p:nvSpPr>
        <p:spPr>
          <a:xfrm>
            <a:off x="8330184" y="3392424"/>
            <a:ext cx="1014984" cy="649224"/>
          </a:xfrm>
          <a:prstGeom prst="rect">
            <a:avLst/>
          </a:prstGeom>
          <a:solidFill>
            <a:srgbClr val="F4F1EC"/>
          </a:solidFill>
          <a:ln w="15240">
            <a:solidFill>
              <a:srgbClr val="FFFFFF"/>
            </a:solidFill>
            <a:prstDash val="solid"/>
          </a:ln>
        </p:spPr>
      </p:sp>
      <p:sp>
        <p:nvSpPr>
          <p:cNvPr id="28" name="Text 26"/>
          <p:cNvSpPr/>
          <p:nvPr/>
        </p:nvSpPr>
        <p:spPr>
          <a:xfrm>
            <a:off x="8330184" y="3392424"/>
            <a:ext cx="1014984" cy="649224"/>
          </a:xfrm>
          <a:prstGeom prst="rect">
            <a:avLst/>
          </a:prstGeom>
          <a:noFill/>
          <a:ln/>
        </p:spPr>
        <p:txBody>
          <a:bodyPr wrap="square" lIns="0" tIns="0" rIns="0" bIns="0" rtlCol="0" anchor="ctr"/>
          <a:lstStyle/>
          <a:p>
            <a:pPr algn="ctr" indent="0" marL="0">
              <a:buNone/>
            </a:pPr>
            <a:r>
              <a:rPr lang="en-US" sz="1500" b="1" dirty="0">
                <a:solidFill>
                  <a:srgbClr val="9AA0A7"/>
                </a:solidFill>
                <a:latin typeface="Calibri" pitchFamily="34" charset="0"/>
                <a:ea typeface="Calibri" pitchFamily="34" charset="-122"/>
                <a:cs typeface="Calibri" pitchFamily="34" charset="-120"/>
              </a:rPr>
              <a:t>0</a:t>
            </a:r>
            <a:endParaRPr lang="en-US" sz="1500" dirty="0"/>
          </a:p>
        </p:txBody>
      </p:sp>
      <p:sp>
        <p:nvSpPr>
          <p:cNvPr id="29" name="Shape 27"/>
          <p:cNvSpPr/>
          <p:nvPr/>
        </p:nvSpPr>
        <p:spPr>
          <a:xfrm>
            <a:off x="9390888" y="3392424"/>
            <a:ext cx="1014984" cy="649224"/>
          </a:xfrm>
          <a:prstGeom prst="rect">
            <a:avLst/>
          </a:prstGeom>
          <a:solidFill>
            <a:srgbClr val="8FB0A4"/>
          </a:solidFill>
          <a:ln w="15240">
            <a:solidFill>
              <a:srgbClr val="FFFFFF"/>
            </a:solidFill>
            <a:prstDash val="solid"/>
          </a:ln>
        </p:spPr>
      </p:sp>
      <p:sp>
        <p:nvSpPr>
          <p:cNvPr id="30" name="Text 28"/>
          <p:cNvSpPr/>
          <p:nvPr/>
        </p:nvSpPr>
        <p:spPr>
          <a:xfrm>
            <a:off x="9390888" y="3392424"/>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31" name="Shape 29"/>
          <p:cNvSpPr/>
          <p:nvPr/>
        </p:nvSpPr>
        <p:spPr>
          <a:xfrm>
            <a:off x="10451592" y="3392424"/>
            <a:ext cx="1014984" cy="649224"/>
          </a:xfrm>
          <a:prstGeom prst="rect">
            <a:avLst/>
          </a:prstGeom>
          <a:solidFill>
            <a:srgbClr val="D8A25E"/>
          </a:solidFill>
          <a:ln w="15240">
            <a:solidFill>
              <a:srgbClr val="FFFFFF"/>
            </a:solidFill>
            <a:prstDash val="solid"/>
          </a:ln>
        </p:spPr>
      </p:sp>
      <p:sp>
        <p:nvSpPr>
          <p:cNvPr id="32" name="Text 30"/>
          <p:cNvSpPr/>
          <p:nvPr/>
        </p:nvSpPr>
        <p:spPr>
          <a:xfrm>
            <a:off x="10451592" y="3392424"/>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4</a:t>
            </a:r>
            <a:endParaRPr lang="en-US" sz="1500" dirty="0"/>
          </a:p>
        </p:txBody>
      </p:sp>
      <p:sp>
        <p:nvSpPr>
          <p:cNvPr id="33" name="Text 31"/>
          <p:cNvSpPr/>
          <p:nvPr/>
        </p:nvSpPr>
        <p:spPr>
          <a:xfrm>
            <a:off x="6830568" y="4087368"/>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4" name="Shape 32"/>
          <p:cNvSpPr/>
          <p:nvPr/>
        </p:nvSpPr>
        <p:spPr>
          <a:xfrm>
            <a:off x="7269480" y="4087368"/>
            <a:ext cx="1014984" cy="649224"/>
          </a:xfrm>
          <a:prstGeom prst="rect">
            <a:avLst/>
          </a:prstGeom>
          <a:solidFill>
            <a:srgbClr val="D8A25E"/>
          </a:solidFill>
          <a:ln w="15240">
            <a:solidFill>
              <a:srgbClr val="FFFFFF"/>
            </a:solidFill>
            <a:prstDash val="solid"/>
          </a:ln>
        </p:spPr>
      </p:sp>
      <p:sp>
        <p:nvSpPr>
          <p:cNvPr id="35" name="Text 33"/>
          <p:cNvSpPr/>
          <p:nvPr/>
        </p:nvSpPr>
        <p:spPr>
          <a:xfrm>
            <a:off x="7269480" y="4087368"/>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4</a:t>
            </a:r>
            <a:endParaRPr lang="en-US" sz="1500" dirty="0"/>
          </a:p>
        </p:txBody>
      </p:sp>
      <p:sp>
        <p:nvSpPr>
          <p:cNvPr id="36" name="Shape 34"/>
          <p:cNvSpPr/>
          <p:nvPr/>
        </p:nvSpPr>
        <p:spPr>
          <a:xfrm>
            <a:off x="8330184" y="4087368"/>
            <a:ext cx="1014984" cy="649224"/>
          </a:xfrm>
          <a:prstGeom prst="rect">
            <a:avLst/>
          </a:prstGeom>
          <a:solidFill>
            <a:srgbClr val="8FB0A4"/>
          </a:solidFill>
          <a:ln w="15240">
            <a:solidFill>
              <a:srgbClr val="FFFFFF"/>
            </a:solidFill>
            <a:prstDash val="solid"/>
          </a:ln>
        </p:spPr>
      </p:sp>
      <p:sp>
        <p:nvSpPr>
          <p:cNvPr id="37" name="Text 35"/>
          <p:cNvSpPr/>
          <p:nvPr/>
        </p:nvSpPr>
        <p:spPr>
          <a:xfrm>
            <a:off x="8330184" y="4087368"/>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38" name="Shape 36"/>
          <p:cNvSpPr/>
          <p:nvPr/>
        </p:nvSpPr>
        <p:spPr>
          <a:xfrm>
            <a:off x="9390888" y="4087368"/>
            <a:ext cx="1014984" cy="649224"/>
          </a:xfrm>
          <a:prstGeom prst="rect">
            <a:avLst/>
          </a:prstGeom>
          <a:solidFill>
            <a:srgbClr val="F4F1EC"/>
          </a:solidFill>
          <a:ln w="15240">
            <a:solidFill>
              <a:srgbClr val="FFFFFF"/>
            </a:solidFill>
            <a:prstDash val="solid"/>
          </a:ln>
        </p:spPr>
      </p:sp>
      <p:sp>
        <p:nvSpPr>
          <p:cNvPr id="39" name="Text 37"/>
          <p:cNvSpPr/>
          <p:nvPr/>
        </p:nvSpPr>
        <p:spPr>
          <a:xfrm>
            <a:off x="9390888" y="4087368"/>
            <a:ext cx="1014984" cy="649224"/>
          </a:xfrm>
          <a:prstGeom prst="rect">
            <a:avLst/>
          </a:prstGeom>
          <a:noFill/>
          <a:ln/>
        </p:spPr>
        <p:txBody>
          <a:bodyPr wrap="square" lIns="0" tIns="0" rIns="0" bIns="0" rtlCol="0" anchor="ctr"/>
          <a:lstStyle/>
          <a:p>
            <a:pPr algn="ctr" indent="0" marL="0">
              <a:buNone/>
            </a:pPr>
            <a:r>
              <a:rPr lang="en-US" sz="1500" b="1" dirty="0">
                <a:solidFill>
                  <a:srgbClr val="9AA0A7"/>
                </a:solidFill>
                <a:latin typeface="Calibri" pitchFamily="34" charset="0"/>
                <a:ea typeface="Calibri" pitchFamily="34" charset="-122"/>
                <a:cs typeface="Calibri" pitchFamily="34" charset="-120"/>
              </a:rPr>
              <a:t>0</a:t>
            </a:r>
            <a:endParaRPr lang="en-US" sz="1500" dirty="0"/>
          </a:p>
        </p:txBody>
      </p:sp>
      <p:sp>
        <p:nvSpPr>
          <p:cNvPr id="40" name="Shape 38"/>
          <p:cNvSpPr/>
          <p:nvPr/>
        </p:nvSpPr>
        <p:spPr>
          <a:xfrm>
            <a:off x="10451592" y="4087368"/>
            <a:ext cx="1014984" cy="649224"/>
          </a:xfrm>
          <a:prstGeom prst="rect">
            <a:avLst/>
          </a:prstGeom>
          <a:solidFill>
            <a:srgbClr val="8FB0A4"/>
          </a:solidFill>
          <a:ln w="15240">
            <a:solidFill>
              <a:srgbClr val="FFFFFF"/>
            </a:solidFill>
            <a:prstDash val="solid"/>
          </a:ln>
        </p:spPr>
      </p:sp>
      <p:sp>
        <p:nvSpPr>
          <p:cNvPr id="41" name="Text 39"/>
          <p:cNvSpPr/>
          <p:nvPr/>
        </p:nvSpPr>
        <p:spPr>
          <a:xfrm>
            <a:off x="10451592" y="4087368"/>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42" name="Text 40"/>
          <p:cNvSpPr/>
          <p:nvPr/>
        </p:nvSpPr>
        <p:spPr>
          <a:xfrm>
            <a:off x="6830568" y="4782312"/>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3" name="Shape 41"/>
          <p:cNvSpPr/>
          <p:nvPr/>
        </p:nvSpPr>
        <p:spPr>
          <a:xfrm>
            <a:off x="7269480" y="4782312"/>
            <a:ext cx="1014984" cy="649224"/>
          </a:xfrm>
          <a:prstGeom prst="rect">
            <a:avLst/>
          </a:prstGeom>
          <a:solidFill>
            <a:srgbClr val="A8442A"/>
          </a:solidFill>
          <a:ln w="15240">
            <a:solidFill>
              <a:srgbClr val="FFFFFF"/>
            </a:solidFill>
            <a:prstDash val="solid"/>
          </a:ln>
        </p:spPr>
      </p:sp>
      <p:sp>
        <p:nvSpPr>
          <p:cNvPr id="44" name="Text 42"/>
          <p:cNvSpPr/>
          <p:nvPr/>
        </p:nvSpPr>
        <p:spPr>
          <a:xfrm>
            <a:off x="7269480" y="4782312"/>
            <a:ext cx="1014984" cy="6492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5" name="Shape 43"/>
          <p:cNvSpPr/>
          <p:nvPr/>
        </p:nvSpPr>
        <p:spPr>
          <a:xfrm>
            <a:off x="8330184" y="4782312"/>
            <a:ext cx="1014984" cy="649224"/>
          </a:xfrm>
          <a:prstGeom prst="rect">
            <a:avLst/>
          </a:prstGeom>
          <a:solidFill>
            <a:srgbClr val="D8A25E"/>
          </a:solidFill>
          <a:ln w="15240">
            <a:solidFill>
              <a:srgbClr val="FFFFFF"/>
            </a:solidFill>
            <a:prstDash val="solid"/>
          </a:ln>
        </p:spPr>
      </p:sp>
      <p:sp>
        <p:nvSpPr>
          <p:cNvPr id="46" name="Text 44"/>
          <p:cNvSpPr/>
          <p:nvPr/>
        </p:nvSpPr>
        <p:spPr>
          <a:xfrm>
            <a:off x="8330184" y="4782312"/>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4</a:t>
            </a:r>
            <a:endParaRPr lang="en-US" sz="1500" dirty="0"/>
          </a:p>
        </p:txBody>
      </p:sp>
      <p:sp>
        <p:nvSpPr>
          <p:cNvPr id="47" name="Shape 45"/>
          <p:cNvSpPr/>
          <p:nvPr/>
        </p:nvSpPr>
        <p:spPr>
          <a:xfrm>
            <a:off x="9390888" y="4782312"/>
            <a:ext cx="1014984" cy="649224"/>
          </a:xfrm>
          <a:prstGeom prst="rect">
            <a:avLst/>
          </a:prstGeom>
          <a:solidFill>
            <a:srgbClr val="8FB0A4"/>
          </a:solidFill>
          <a:ln w="15240">
            <a:solidFill>
              <a:srgbClr val="FFFFFF"/>
            </a:solidFill>
            <a:prstDash val="solid"/>
          </a:ln>
        </p:spPr>
      </p:sp>
      <p:sp>
        <p:nvSpPr>
          <p:cNvPr id="48" name="Text 46"/>
          <p:cNvSpPr/>
          <p:nvPr/>
        </p:nvSpPr>
        <p:spPr>
          <a:xfrm>
            <a:off x="9390888" y="4782312"/>
            <a:ext cx="1014984" cy="649224"/>
          </a:xfrm>
          <a:prstGeom prst="rect">
            <a:avLst/>
          </a:prstGeom>
          <a:noFill/>
          <a:ln/>
        </p:spPr>
        <p:txBody>
          <a:bodyPr wrap="square" lIns="0" tIns="0" rIns="0" bIns="0" rtlCol="0" anchor="ctr"/>
          <a:lstStyle/>
          <a:p>
            <a:pPr algn="ctr" indent="0" marL="0">
              <a:buNone/>
            </a:pPr>
            <a:r>
              <a:rPr lang="en-US" sz="1500" b="1" dirty="0">
                <a:solidFill>
                  <a:srgbClr val="16191D"/>
                </a:solidFill>
                <a:latin typeface="Calibri" pitchFamily="34" charset="0"/>
                <a:ea typeface="Calibri" pitchFamily="34" charset="-122"/>
                <a:cs typeface="Calibri" pitchFamily="34" charset="-120"/>
              </a:rPr>
              <a:t>1</a:t>
            </a:r>
            <a:endParaRPr lang="en-US" sz="1500" dirty="0"/>
          </a:p>
        </p:txBody>
      </p:sp>
      <p:sp>
        <p:nvSpPr>
          <p:cNvPr id="49" name="Shape 47"/>
          <p:cNvSpPr/>
          <p:nvPr/>
        </p:nvSpPr>
        <p:spPr>
          <a:xfrm>
            <a:off x="10451592" y="4782312"/>
            <a:ext cx="1014984" cy="649224"/>
          </a:xfrm>
          <a:prstGeom prst="rect">
            <a:avLst/>
          </a:prstGeom>
          <a:solidFill>
            <a:srgbClr val="F4F1EC"/>
          </a:solidFill>
          <a:ln w="15240">
            <a:solidFill>
              <a:srgbClr val="FFFFFF"/>
            </a:solidFill>
            <a:prstDash val="solid"/>
          </a:ln>
        </p:spPr>
      </p:sp>
      <p:sp>
        <p:nvSpPr>
          <p:cNvPr id="50" name="Text 48"/>
          <p:cNvSpPr/>
          <p:nvPr/>
        </p:nvSpPr>
        <p:spPr>
          <a:xfrm>
            <a:off x="10451592" y="4782312"/>
            <a:ext cx="1014984" cy="649224"/>
          </a:xfrm>
          <a:prstGeom prst="rect">
            <a:avLst/>
          </a:prstGeom>
          <a:noFill/>
          <a:ln/>
        </p:spPr>
        <p:txBody>
          <a:bodyPr wrap="square" lIns="0" tIns="0" rIns="0" bIns="0" rtlCol="0" anchor="ctr"/>
          <a:lstStyle/>
          <a:p>
            <a:pPr algn="ctr" indent="0" marL="0">
              <a:buNone/>
            </a:pPr>
            <a:r>
              <a:rPr lang="en-US" sz="1500" b="1" dirty="0">
                <a:solidFill>
                  <a:srgbClr val="9AA0A7"/>
                </a:solidFill>
                <a:latin typeface="Calibri" pitchFamily="34" charset="0"/>
                <a:ea typeface="Calibri" pitchFamily="34" charset="-122"/>
                <a:cs typeface="Calibri" pitchFamily="34" charset="-120"/>
              </a:rPr>
              <a:t>0</a:t>
            </a:r>
            <a:endParaRPr lang="en-US" sz="1500" dirty="0"/>
          </a:p>
        </p:txBody>
      </p:sp>
      <p:sp>
        <p:nvSpPr>
          <p:cNvPr id="51" name="Text 49"/>
          <p:cNvSpPr/>
          <p:nvPr/>
        </p:nvSpPr>
        <p:spPr>
          <a:xfrm>
            <a:off x="5760720" y="5623560"/>
            <a:ext cx="5788152" cy="365760"/>
          </a:xfrm>
          <a:prstGeom prst="rect">
            <a:avLst/>
          </a:prstGeom>
          <a:noFill/>
          <a:ln/>
        </p:spPr>
        <p:txBody>
          <a:bodyPr wrap="square" lIns="0" tIns="0" rIns="0" bIns="0" rtlCol="0" anchor="ctr"/>
          <a:lstStyle/>
          <a:p>
            <a:pPr algn="ctr" indent="0" marL="0">
              <a:buNone/>
            </a:pPr>
            <a:r>
              <a:rPr lang="en-US" sz="1200" dirty="0">
                <a:solidFill>
                  <a:srgbClr val="3A4048"/>
                </a:solidFill>
                <a:latin typeface="Calibri" pitchFamily="34" charset="0"/>
                <a:ea typeface="Calibri" pitchFamily="34" charset="-122"/>
                <a:cs typeface="Calibri" pitchFamily="34" charset="-120"/>
              </a:rPr>
              <a:t>Menebak kelas 4 sebagai 1 dihukum </a:t>
            </a:r>
            <a:pPr algn="ctr" indent="0" marL="0">
              <a:buNone/>
            </a:pPr>
            <a:r>
              <a:rPr lang="en-US" sz="1200" b="1" dirty="0">
                <a:solidFill>
                  <a:srgbClr val="A8442A"/>
                </a:solidFill>
                <a:latin typeface="Calibri" pitchFamily="34" charset="0"/>
                <a:ea typeface="Calibri" pitchFamily="34" charset="-122"/>
                <a:cs typeface="Calibri" pitchFamily="34" charset="-120"/>
              </a:rPr>
              <a:t>9 kali</a:t>
            </a:r>
            <a:pPr algn="ctr" indent="0" marL="0">
              <a:buNone/>
            </a:pPr>
            <a:r>
              <a:rPr lang="en-US" sz="1200" dirty="0">
                <a:solidFill>
                  <a:srgbClr val="3A4048"/>
                </a:solidFill>
                <a:latin typeface="Calibri" pitchFamily="34" charset="0"/>
                <a:ea typeface="Calibri" pitchFamily="34" charset="-122"/>
                <a:cs typeface="Calibri" pitchFamily="34" charset="-120"/>
              </a:rPr>
              <a:t> lebih berat daripada menebak 2 sebagai 1.</a:t>
            </a:r>
            <a:endParaRPr lang="en-US" sz="120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Latar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Maka targetnya skala, bukan empat kotak terpisah.</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Untuk galat kuadratik, keputusan optimal adalah nilai harapan, bukan modus.</a:t>
            </a:r>
            <a:endParaRPr lang="en-US" sz="1400" dirty="0"/>
          </a:p>
        </p:txBody>
      </p:sp>
      <p:sp>
        <p:nvSpPr>
          <p:cNvPr id="4" name="Text 2"/>
          <p:cNvSpPr/>
          <p:nvPr/>
        </p:nvSpPr>
        <p:spPr>
          <a:xfrm>
            <a:off x="640080" y="2377440"/>
            <a:ext cx="10911535" cy="502920"/>
          </a:xfrm>
          <a:prstGeom prst="rect">
            <a:avLst/>
          </a:prstGeom>
          <a:noFill/>
          <a:ln/>
        </p:spPr>
        <p:txBody>
          <a:bodyPr wrap="square" lIns="0" tIns="0" rIns="0" bIns="0" rtlCol="0" anchor="ctr"/>
          <a:lstStyle/>
          <a:p>
            <a:pPr algn="ctr" indent="0" marL="0">
              <a:buNone/>
            </a:pPr>
            <a:r>
              <a:rPr lang="en-US" sz="2600" b="1" dirty="0">
                <a:solidFill>
                  <a:srgbClr val="16191D"/>
                </a:solidFill>
                <a:latin typeface="Cambria" pitchFamily="34" charset="0"/>
                <a:ea typeface="Cambria" pitchFamily="34" charset="-122"/>
                <a:cs typeface="Cambria" pitchFamily="34" charset="-120"/>
              </a:rPr>
              <a:t>E[y]  =  Σ pₖ · k</a:t>
            </a:r>
            <a:endParaRPr lang="en-US" sz="2600" dirty="0"/>
          </a:p>
        </p:txBody>
      </p:sp>
      <p:sp>
        <p:nvSpPr>
          <p:cNvPr id="5" name="Shape 3"/>
          <p:cNvSpPr/>
          <p:nvPr/>
        </p:nvSpPr>
        <p:spPr>
          <a:xfrm>
            <a:off x="1005840" y="3246120"/>
            <a:ext cx="2797803" cy="822960"/>
          </a:xfrm>
          <a:prstGeom prst="rect">
            <a:avLst/>
          </a:prstGeom>
          <a:solidFill>
            <a:srgbClr val="2F6B5F"/>
          </a:solidFill>
          <a:ln w="19050">
            <a:solidFill>
              <a:srgbClr val="FFFFFF"/>
            </a:solidFill>
            <a:prstDash val="solid"/>
          </a:ln>
        </p:spPr>
      </p:sp>
      <p:sp>
        <p:nvSpPr>
          <p:cNvPr id="6" name="Text 4"/>
          <p:cNvSpPr/>
          <p:nvPr/>
        </p:nvSpPr>
        <p:spPr>
          <a:xfrm>
            <a:off x="1005840" y="3246120"/>
            <a:ext cx="2797803"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1</a:t>
            </a:r>
            <a:endParaRPr lang="en-US" sz="1300" dirty="0"/>
          </a:p>
        </p:txBody>
      </p:sp>
      <p:sp>
        <p:nvSpPr>
          <p:cNvPr id="7" name="Shape 5"/>
          <p:cNvSpPr/>
          <p:nvPr/>
        </p:nvSpPr>
        <p:spPr>
          <a:xfrm>
            <a:off x="3803643" y="3246120"/>
            <a:ext cx="2302999" cy="822960"/>
          </a:xfrm>
          <a:prstGeom prst="rect">
            <a:avLst/>
          </a:prstGeom>
          <a:solidFill>
            <a:srgbClr val="8FB0A4"/>
          </a:solidFill>
          <a:ln w="19050">
            <a:solidFill>
              <a:srgbClr val="FFFFFF"/>
            </a:solidFill>
            <a:prstDash val="solid"/>
          </a:ln>
        </p:spPr>
      </p:sp>
      <p:sp>
        <p:nvSpPr>
          <p:cNvPr id="8" name="Text 6"/>
          <p:cNvSpPr/>
          <p:nvPr/>
        </p:nvSpPr>
        <p:spPr>
          <a:xfrm>
            <a:off x="3803643" y="3246120"/>
            <a:ext cx="2302999" cy="822960"/>
          </a:xfrm>
          <a:prstGeom prst="rect">
            <a:avLst/>
          </a:prstGeom>
          <a:noFill/>
          <a:ln/>
        </p:spPr>
        <p:txBody>
          <a:bodyPr wrap="square" lIns="0" tIns="0" rIns="0" bIns="0" rtlCol="0" anchor="ctr"/>
          <a:lstStyle/>
          <a:p>
            <a:pPr algn="ctr" indent="0" marL="0">
              <a:buNone/>
            </a:pPr>
            <a:r>
              <a:rPr lang="en-US" sz="1300" b="1" dirty="0">
                <a:solidFill>
                  <a:srgbClr val="16191D"/>
                </a:solidFill>
                <a:latin typeface="Calibri" pitchFamily="34" charset="0"/>
                <a:ea typeface="Calibri" pitchFamily="34" charset="-122"/>
                <a:cs typeface="Calibri" pitchFamily="34" charset="-120"/>
              </a:rPr>
              <a:t>kelas 2</a:t>
            </a:r>
            <a:endParaRPr lang="en-US" sz="1300" dirty="0"/>
          </a:p>
        </p:txBody>
      </p:sp>
      <p:sp>
        <p:nvSpPr>
          <p:cNvPr id="9" name="Shape 7"/>
          <p:cNvSpPr/>
          <p:nvPr/>
        </p:nvSpPr>
        <p:spPr>
          <a:xfrm>
            <a:off x="6106642" y="3246120"/>
            <a:ext cx="1974651" cy="822960"/>
          </a:xfrm>
          <a:prstGeom prst="rect">
            <a:avLst/>
          </a:prstGeom>
          <a:solidFill>
            <a:srgbClr val="D8A25E"/>
          </a:solidFill>
          <a:ln w="19050">
            <a:solidFill>
              <a:srgbClr val="FFFFFF"/>
            </a:solidFill>
            <a:prstDash val="solid"/>
          </a:ln>
        </p:spPr>
      </p:sp>
      <p:sp>
        <p:nvSpPr>
          <p:cNvPr id="10" name="Text 8"/>
          <p:cNvSpPr/>
          <p:nvPr/>
        </p:nvSpPr>
        <p:spPr>
          <a:xfrm>
            <a:off x="6106642" y="3246120"/>
            <a:ext cx="1974651"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3</a:t>
            </a:r>
            <a:endParaRPr lang="en-US" sz="1300" dirty="0"/>
          </a:p>
        </p:txBody>
      </p:sp>
      <p:sp>
        <p:nvSpPr>
          <p:cNvPr id="11" name="Shape 9"/>
          <p:cNvSpPr/>
          <p:nvPr/>
        </p:nvSpPr>
        <p:spPr>
          <a:xfrm>
            <a:off x="8081293" y="3246120"/>
            <a:ext cx="3074387" cy="822960"/>
          </a:xfrm>
          <a:prstGeom prst="rect">
            <a:avLst/>
          </a:prstGeom>
          <a:solidFill>
            <a:srgbClr val="A8442A"/>
          </a:solidFill>
          <a:ln w="19050">
            <a:solidFill>
              <a:srgbClr val="FFFFFF"/>
            </a:solidFill>
            <a:prstDash val="solid"/>
          </a:ln>
        </p:spPr>
      </p:sp>
      <p:sp>
        <p:nvSpPr>
          <p:cNvPr id="12" name="Text 10"/>
          <p:cNvSpPr/>
          <p:nvPr/>
        </p:nvSpPr>
        <p:spPr>
          <a:xfrm>
            <a:off x="8081293" y="3246120"/>
            <a:ext cx="3074387" cy="8229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kelas 4</a:t>
            </a:r>
            <a:endParaRPr lang="en-US" sz="1300" dirty="0"/>
          </a:p>
        </p:txBody>
      </p:sp>
      <p:sp>
        <p:nvSpPr>
          <p:cNvPr id="13" name="Shape 11"/>
          <p:cNvSpPr/>
          <p:nvPr/>
        </p:nvSpPr>
        <p:spPr>
          <a:xfrm>
            <a:off x="3803643" y="3246120"/>
            <a:ext cx="0" cy="1060704"/>
          </a:xfrm>
          <a:prstGeom prst="line">
            <a:avLst/>
          </a:prstGeom>
          <a:noFill/>
          <a:ln w="17780">
            <a:solidFill>
              <a:srgbClr val="16191D"/>
            </a:solidFill>
            <a:prstDash val="solid"/>
          </a:ln>
        </p:spPr>
      </p:sp>
      <p:sp>
        <p:nvSpPr>
          <p:cNvPr id="14" name="Text 12"/>
          <p:cNvSpPr/>
          <p:nvPr/>
        </p:nvSpPr>
        <p:spPr>
          <a:xfrm>
            <a:off x="3026403" y="4325112"/>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t1  1,5513</a:t>
            </a:r>
            <a:endParaRPr lang="en-US" sz="1150" dirty="0"/>
          </a:p>
        </p:txBody>
      </p:sp>
      <p:sp>
        <p:nvSpPr>
          <p:cNvPr id="15" name="Shape 13"/>
          <p:cNvSpPr/>
          <p:nvPr/>
        </p:nvSpPr>
        <p:spPr>
          <a:xfrm>
            <a:off x="6106642" y="3246120"/>
            <a:ext cx="0" cy="1060704"/>
          </a:xfrm>
          <a:prstGeom prst="line">
            <a:avLst/>
          </a:prstGeom>
          <a:noFill/>
          <a:ln w="17780">
            <a:solidFill>
              <a:srgbClr val="16191D"/>
            </a:solidFill>
            <a:prstDash val="solid"/>
          </a:ln>
        </p:spPr>
      </p:sp>
      <p:sp>
        <p:nvSpPr>
          <p:cNvPr id="16" name="Text 14"/>
          <p:cNvSpPr/>
          <p:nvPr/>
        </p:nvSpPr>
        <p:spPr>
          <a:xfrm>
            <a:off x="5329402" y="4325112"/>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t2  2,0051</a:t>
            </a:r>
            <a:endParaRPr lang="en-US" sz="1150" dirty="0"/>
          </a:p>
        </p:txBody>
      </p:sp>
      <p:sp>
        <p:nvSpPr>
          <p:cNvPr id="17" name="Shape 15"/>
          <p:cNvSpPr/>
          <p:nvPr/>
        </p:nvSpPr>
        <p:spPr>
          <a:xfrm>
            <a:off x="8081293" y="3246120"/>
            <a:ext cx="0" cy="1060704"/>
          </a:xfrm>
          <a:prstGeom prst="line">
            <a:avLst/>
          </a:prstGeom>
          <a:noFill/>
          <a:ln w="17780">
            <a:solidFill>
              <a:srgbClr val="16191D"/>
            </a:solidFill>
            <a:prstDash val="solid"/>
          </a:ln>
        </p:spPr>
      </p:sp>
      <p:sp>
        <p:nvSpPr>
          <p:cNvPr id="18" name="Text 16"/>
          <p:cNvSpPr/>
          <p:nvPr/>
        </p:nvSpPr>
        <p:spPr>
          <a:xfrm>
            <a:off x="7304053" y="4325112"/>
            <a:ext cx="1554480" cy="274320"/>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t3  2,3942</a:t>
            </a:r>
            <a:endParaRPr lang="en-US" sz="1150" dirty="0"/>
          </a:p>
        </p:txBody>
      </p:sp>
      <p:sp>
        <p:nvSpPr>
          <p:cNvPr id="19" name="Text 17"/>
          <p:cNvSpPr/>
          <p:nvPr/>
        </p:nvSpPr>
        <p:spPr>
          <a:xfrm>
            <a:off x="1005840" y="4343400"/>
            <a:ext cx="91440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1,0</a:t>
            </a:r>
            <a:endParaRPr lang="en-US" sz="1050" dirty="0"/>
          </a:p>
        </p:txBody>
      </p:sp>
      <p:sp>
        <p:nvSpPr>
          <p:cNvPr id="20" name="Text 18"/>
          <p:cNvSpPr/>
          <p:nvPr/>
        </p:nvSpPr>
        <p:spPr>
          <a:xfrm>
            <a:off x="10241280" y="4343400"/>
            <a:ext cx="914400" cy="310896"/>
          </a:xfrm>
          <a:prstGeom prst="rect">
            <a:avLst/>
          </a:prstGeom>
          <a:noFill/>
          <a:ln/>
        </p:spPr>
        <p:txBody>
          <a:bodyPr wrap="square" lIns="0" tIns="0" rIns="0" bIns="0" rtlCol="0" anchor="ctr"/>
          <a:lstStyle/>
          <a:p>
            <a:pPr algn="r" indent="0" marL="0">
              <a:buNone/>
            </a:pPr>
            <a:r>
              <a:rPr lang="en-US" sz="1050" i="1" dirty="0">
                <a:solidFill>
                  <a:srgbClr val="6E747C"/>
                </a:solidFill>
                <a:latin typeface="Calibri" pitchFamily="34" charset="0"/>
                <a:ea typeface="Calibri" pitchFamily="34" charset="-122"/>
                <a:cs typeface="Calibri" pitchFamily="34" charset="-120"/>
              </a:rPr>
              <a:t>3,0</a:t>
            </a:r>
            <a:endParaRPr lang="en-US" sz="1050" dirty="0"/>
          </a:p>
        </p:txBody>
      </p:sp>
      <p:sp>
        <p:nvSpPr>
          <p:cNvPr id="21" name="Text 19"/>
          <p:cNvSpPr/>
          <p:nvPr/>
        </p:nvSpPr>
        <p:spPr>
          <a:xfrm>
            <a:off x="640080" y="5074920"/>
            <a:ext cx="10911535" cy="548640"/>
          </a:xfrm>
          <a:prstGeom prst="rect">
            <a:avLst/>
          </a:prstGeom>
          <a:noFill/>
          <a:ln/>
        </p:spPr>
        <p:txBody>
          <a:bodyPr wrap="square" lIns="0" tIns="0" rIns="0" bIns="0" rtlCol="0" anchor="ctr"/>
          <a:lstStyle/>
          <a:p>
            <a:pPr algn="ctr" indent="0" marL="0">
              <a:lnSpc>
                <a:spcPts val="1900"/>
              </a:lnSpc>
              <a:buNone/>
            </a:pPr>
            <a:r>
              <a:rPr lang="en-US" sz="1350" dirty="0">
                <a:solidFill>
                  <a:srgbClr val="3A4048"/>
                </a:solidFill>
                <a:latin typeface="Calibri" pitchFamily="34" charset="0"/>
                <a:ea typeface="Calibri" pitchFamily="34" charset="-122"/>
                <a:cs typeface="Calibri" pitchFamily="34" charset="-120"/>
              </a:rPr>
              <a:t>Tiga bilangan itulah keputusan akhir pipeline ini. Seluruhnya diestimasi dari prediksi out-of-fold data latih, tidak pernah dari data uji.</a:t>
            </a:r>
            <a:endParaRPr lang="en-US" sz="1350" dirty="0"/>
          </a:p>
        </p:txBody>
      </p:sp>
      <p:sp>
        <p:nvSpPr>
          <p:cNvPr id="23" name="Shape 20"/>
          <p:cNvSpPr/>
          <p:nvPr/>
        </p:nvSpPr>
        <p:spPr>
          <a:xfrm>
            <a:off x="640080" y="6400800"/>
            <a:ext cx="1572768" cy="45720"/>
          </a:xfrm>
          <a:prstGeom prst="rect">
            <a:avLst/>
          </a:prstGeom>
          <a:solidFill>
            <a:srgbClr val="A8442A"/>
          </a:solidFill>
          <a:ln/>
        </p:spPr>
      </p:sp>
      <p:sp>
        <p:nvSpPr>
          <p:cNvPr id="24"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Latar &amp; data</a:t>
            </a:r>
            <a:endParaRPr lang="en-US" sz="850" dirty="0"/>
          </a:p>
        </p:txBody>
      </p:sp>
      <p:sp>
        <p:nvSpPr>
          <p:cNvPr id="25" name="Shape 22"/>
          <p:cNvSpPr/>
          <p:nvPr/>
        </p:nvSpPr>
        <p:spPr>
          <a:xfrm>
            <a:off x="2304288" y="6400800"/>
            <a:ext cx="1572768" cy="45720"/>
          </a:xfrm>
          <a:prstGeom prst="rect">
            <a:avLst/>
          </a:prstGeom>
          <a:solidFill>
            <a:srgbClr val="DCD8D1"/>
          </a:solidFill>
          <a:ln/>
        </p:spPr>
      </p:sp>
      <p:sp>
        <p:nvSpPr>
          <p:cNvPr id="26"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7" name="Shape 24"/>
          <p:cNvSpPr/>
          <p:nvPr/>
        </p:nvSpPr>
        <p:spPr>
          <a:xfrm>
            <a:off x="3968496" y="6400800"/>
            <a:ext cx="1572768" cy="45720"/>
          </a:xfrm>
          <a:prstGeom prst="rect">
            <a:avLst/>
          </a:prstGeom>
          <a:solidFill>
            <a:srgbClr val="DCD8D1"/>
          </a:solidFill>
          <a:ln/>
        </p:spPr>
      </p:sp>
      <p:sp>
        <p:nvSpPr>
          <p:cNvPr id="28"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9" name="Shape 26"/>
          <p:cNvSpPr/>
          <p:nvPr/>
        </p:nvSpPr>
        <p:spPr>
          <a:xfrm>
            <a:off x="5632704" y="6400800"/>
            <a:ext cx="1572768" cy="45720"/>
          </a:xfrm>
          <a:prstGeom prst="rect">
            <a:avLst/>
          </a:prstGeom>
          <a:solidFill>
            <a:srgbClr val="DCD8D1"/>
          </a:solidFill>
          <a:ln/>
        </p:spPr>
      </p:sp>
      <p:sp>
        <p:nvSpPr>
          <p:cNvPr id="30"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1" name="Shape 28"/>
          <p:cNvSpPr/>
          <p:nvPr/>
        </p:nvSpPr>
        <p:spPr>
          <a:xfrm>
            <a:off x="7296912" y="6400800"/>
            <a:ext cx="1572768" cy="45720"/>
          </a:xfrm>
          <a:prstGeom prst="rect">
            <a:avLst/>
          </a:prstGeom>
          <a:solidFill>
            <a:srgbClr val="DCD8D1"/>
          </a:solidFill>
          <a:ln/>
        </p:spPr>
      </p:sp>
      <p:sp>
        <p:nvSpPr>
          <p:cNvPr id="32"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3" name="Shape 30"/>
          <p:cNvSpPr/>
          <p:nvPr/>
        </p:nvSpPr>
        <p:spPr>
          <a:xfrm>
            <a:off x="8961120" y="6400800"/>
            <a:ext cx="1572768" cy="45720"/>
          </a:xfrm>
          <a:prstGeom prst="rect">
            <a:avLst/>
          </a:prstGeom>
          <a:solidFill>
            <a:srgbClr val="DCD8D1"/>
          </a:solidFill>
          <a:ln/>
        </p:spPr>
      </p:sp>
      <p:sp>
        <p:nvSpPr>
          <p:cNvPr id="34"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Kenapa masalah ini sulit: empat akar, empat jawaban.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akar menentukan satu babak berikutnya. Deck ini disusun mengikuti pohon ini.</a:t>
            </a:r>
            <a:endParaRPr lang="en-US" sz="1400" dirty="0"/>
          </a:p>
        </p:txBody>
      </p:sp>
      <p:sp>
        <p:nvSpPr>
          <p:cNvPr id="4" name="Shape 2"/>
          <p:cNvSpPr/>
          <p:nvPr/>
        </p:nvSpPr>
        <p:spPr>
          <a:xfrm>
            <a:off x="640080" y="2926080"/>
            <a:ext cx="2011680" cy="2103120"/>
          </a:xfrm>
          <a:prstGeom prst="roundRect">
            <a:avLst>
              <a:gd name="adj" fmla="val 2727"/>
            </a:avLst>
          </a:prstGeom>
          <a:solidFill>
            <a:srgbClr val="16191D"/>
          </a:solidFill>
          <a:ln w="9525">
            <a:solidFill>
              <a:srgbClr val="16191D"/>
            </a:solidFill>
            <a:prstDash val="solid"/>
          </a:ln>
        </p:spPr>
      </p:sp>
      <p:sp>
        <p:nvSpPr>
          <p:cNvPr id="5" name="Text 3"/>
          <p:cNvSpPr/>
          <p:nvPr/>
        </p:nvSpPr>
        <p:spPr>
          <a:xfrm>
            <a:off x="822960" y="2926080"/>
            <a:ext cx="1645920" cy="2103120"/>
          </a:xfrm>
          <a:prstGeom prst="rect">
            <a:avLst/>
          </a:prstGeom>
          <a:noFill/>
          <a:ln/>
        </p:spPr>
        <p:txBody>
          <a:bodyPr wrap="square" lIns="0" tIns="0" rIns="0" bIns="0" rtlCol="0" anchor="ctr"/>
          <a:lstStyle/>
          <a:p>
            <a:pPr algn="ctr" indent="0" marL="0">
              <a:lnSpc>
                <a:spcPts val="1900"/>
              </a:lnSpc>
              <a:buNone/>
            </a:pPr>
            <a:r>
              <a:rPr lang="en-US" sz="1450" b="1" dirty="0">
                <a:solidFill>
                  <a:srgbClr val="FFFFFF"/>
                </a:solidFill>
                <a:latin typeface="Cambria" pitchFamily="34" charset="0"/>
                <a:ea typeface="Cambria" pitchFamily="34" charset="-122"/>
                <a:cs typeface="Cambria" pitchFamily="34" charset="-120"/>
              </a:rPr>
              <a:t>Prediksi kepuasan hidup yang naif gagal</a:t>
            </a:r>
            <a:endParaRPr lang="en-US" sz="1450" dirty="0"/>
          </a:p>
        </p:txBody>
      </p:sp>
      <p:sp>
        <p:nvSpPr>
          <p:cNvPr id="6" name="Shape 4"/>
          <p:cNvSpPr/>
          <p:nvPr/>
        </p:nvSpPr>
        <p:spPr>
          <a:xfrm>
            <a:off x="2651760" y="3977640"/>
            <a:ext cx="301752" cy="0"/>
          </a:xfrm>
          <a:prstGeom prst="line">
            <a:avLst/>
          </a:prstGeom>
          <a:noFill/>
          <a:ln w="17780">
            <a:solidFill>
              <a:srgbClr val="16191D"/>
            </a:solidFill>
            <a:prstDash val="solid"/>
          </a:ln>
        </p:spPr>
      </p:sp>
      <p:sp>
        <p:nvSpPr>
          <p:cNvPr id="7" name="Shape 5"/>
          <p:cNvSpPr/>
          <p:nvPr/>
        </p:nvSpPr>
        <p:spPr>
          <a:xfrm>
            <a:off x="2953512" y="2487168"/>
            <a:ext cx="0" cy="2980944"/>
          </a:xfrm>
          <a:prstGeom prst="line">
            <a:avLst/>
          </a:prstGeom>
          <a:noFill/>
          <a:ln w="17780">
            <a:solidFill>
              <a:srgbClr val="16191D"/>
            </a:solidFill>
            <a:prstDash val="solid"/>
          </a:ln>
        </p:spPr>
      </p:sp>
      <p:sp>
        <p:nvSpPr>
          <p:cNvPr id="8" name="Text 6"/>
          <p:cNvSpPr/>
          <p:nvPr/>
        </p:nvSpPr>
        <p:spPr>
          <a:xfrm>
            <a:off x="30632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AKAR</a:t>
            </a:r>
            <a:endParaRPr lang="en-US" sz="900" dirty="0"/>
          </a:p>
        </p:txBody>
      </p:sp>
      <p:sp>
        <p:nvSpPr>
          <p:cNvPr id="9" name="Text 7"/>
          <p:cNvSpPr/>
          <p:nvPr/>
        </p:nvSpPr>
        <p:spPr>
          <a:xfrm>
            <a:off x="562356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GEJALA DI DATA</a:t>
            </a:r>
            <a:endParaRPr lang="en-US" sz="900" dirty="0"/>
          </a:p>
        </p:txBody>
      </p:sp>
      <p:sp>
        <p:nvSpPr>
          <p:cNvPr id="10" name="Text 8"/>
          <p:cNvSpPr/>
          <p:nvPr/>
        </p:nvSpPr>
        <p:spPr>
          <a:xfrm>
            <a:off x="800100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JAWABAN KAMI</a:t>
            </a:r>
            <a:endParaRPr lang="en-US" sz="900" dirty="0"/>
          </a:p>
        </p:txBody>
      </p:sp>
      <p:sp>
        <p:nvSpPr>
          <p:cNvPr id="11" name="Text 9"/>
          <p:cNvSpPr/>
          <p:nvPr/>
        </p:nvSpPr>
        <p:spPr>
          <a:xfrm>
            <a:off x="103784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DIBAHAS DI</a:t>
            </a:r>
            <a:endParaRPr lang="en-US" sz="900" dirty="0"/>
          </a:p>
        </p:txBody>
      </p:sp>
      <p:sp>
        <p:nvSpPr>
          <p:cNvPr id="12" name="Shape 10"/>
          <p:cNvSpPr/>
          <p:nvPr/>
        </p:nvSpPr>
        <p:spPr>
          <a:xfrm>
            <a:off x="2953512" y="2487168"/>
            <a:ext cx="109728" cy="0"/>
          </a:xfrm>
          <a:prstGeom prst="line">
            <a:avLst/>
          </a:prstGeom>
          <a:noFill/>
          <a:ln w="17780">
            <a:solidFill>
              <a:srgbClr val="16191D"/>
            </a:solidFill>
            <a:prstDash val="solid"/>
          </a:ln>
        </p:spPr>
      </p:sp>
      <p:sp>
        <p:nvSpPr>
          <p:cNvPr id="13" name="Shape 11"/>
          <p:cNvSpPr/>
          <p:nvPr/>
        </p:nvSpPr>
        <p:spPr>
          <a:xfrm>
            <a:off x="3063240" y="2304288"/>
            <a:ext cx="365760" cy="365760"/>
          </a:xfrm>
          <a:prstGeom prst="ellipse">
            <a:avLst/>
          </a:prstGeom>
          <a:solidFill>
            <a:srgbClr val="2F6B5F"/>
          </a:solidFill>
          <a:ln/>
        </p:spPr>
      </p:sp>
      <p:sp>
        <p:nvSpPr>
          <p:cNvPr id="14" name="Text 12"/>
          <p:cNvSpPr/>
          <p:nvPr/>
        </p:nvSpPr>
        <p:spPr>
          <a:xfrm>
            <a:off x="3063240" y="23042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5" name="Shape 13"/>
          <p:cNvSpPr/>
          <p:nvPr/>
        </p:nvSpPr>
        <p:spPr>
          <a:xfrm>
            <a:off x="3538728" y="2185416"/>
            <a:ext cx="1993392" cy="603504"/>
          </a:xfrm>
          <a:prstGeom prst="roundRect">
            <a:avLst>
              <a:gd name="adj" fmla="val 9091"/>
            </a:avLst>
          </a:prstGeom>
          <a:solidFill>
            <a:srgbClr val="F4F1EC"/>
          </a:solidFill>
          <a:ln w="9525">
            <a:solidFill>
              <a:srgbClr val="DCD8D1"/>
            </a:solidFill>
            <a:prstDash val="solid"/>
          </a:ln>
        </p:spPr>
      </p:sp>
      <p:sp>
        <p:nvSpPr>
          <p:cNvPr id="16" name="Text 14"/>
          <p:cNvSpPr/>
          <p:nvPr/>
        </p:nvSpPr>
        <p:spPr>
          <a:xfrm>
            <a:off x="3630168" y="218541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Metrik menghukum jarak</a:t>
            </a:r>
            <a:endParaRPr lang="en-US" sz="1150" dirty="0"/>
          </a:p>
        </p:txBody>
      </p:sp>
      <p:sp>
        <p:nvSpPr>
          <p:cNvPr id="17" name="Text 15"/>
          <p:cNvSpPr/>
          <p:nvPr/>
        </p:nvSpPr>
        <p:spPr>
          <a:xfrm>
            <a:off x="5623560" y="218541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Akurasi 50,4% bernilai QWK nol</a:t>
            </a:r>
            <a:endParaRPr lang="en-US" sz="1050" dirty="0"/>
          </a:p>
        </p:txBody>
      </p:sp>
      <p:sp>
        <p:nvSpPr>
          <p:cNvPr id="18" name="Text 16"/>
          <p:cNvSpPr/>
          <p:nvPr/>
        </p:nvSpPr>
        <p:spPr>
          <a:xfrm>
            <a:off x="7726680" y="218541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001000" y="2185416"/>
            <a:ext cx="2240280" cy="603504"/>
          </a:xfrm>
          <a:prstGeom prst="roundRect">
            <a:avLst>
              <a:gd name="adj" fmla="val 9091"/>
            </a:avLst>
          </a:prstGeom>
          <a:solidFill>
            <a:srgbClr val="FFFFFF"/>
          </a:solidFill>
          <a:ln w="9525">
            <a:solidFill>
              <a:srgbClr val="DCD8D1"/>
            </a:solidFill>
            <a:prstDash val="solid"/>
          </a:ln>
        </p:spPr>
      </p:sp>
      <p:sp>
        <p:nvSpPr>
          <p:cNvPr id="20" name="Text 18"/>
          <p:cNvSpPr/>
          <p:nvPr/>
        </p:nvSpPr>
        <p:spPr>
          <a:xfrm>
            <a:off x="8110728" y="218541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Nilai harapan + 3 ambang</a:t>
            </a:r>
            <a:endParaRPr lang="en-US" sz="1050" dirty="0"/>
          </a:p>
        </p:txBody>
      </p:sp>
      <p:sp>
        <p:nvSpPr>
          <p:cNvPr id="21" name="Text 19"/>
          <p:cNvSpPr/>
          <p:nvPr/>
        </p:nvSpPr>
        <p:spPr>
          <a:xfrm>
            <a:off x="10378440" y="218541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 dan III</a:t>
            </a:r>
            <a:endParaRPr lang="en-US" sz="1050" dirty="0"/>
          </a:p>
        </p:txBody>
      </p:sp>
      <p:sp>
        <p:nvSpPr>
          <p:cNvPr id="22" name="Shape 20"/>
          <p:cNvSpPr/>
          <p:nvPr/>
        </p:nvSpPr>
        <p:spPr>
          <a:xfrm>
            <a:off x="2953512" y="3355848"/>
            <a:ext cx="109728" cy="0"/>
          </a:xfrm>
          <a:prstGeom prst="line">
            <a:avLst/>
          </a:prstGeom>
          <a:noFill/>
          <a:ln w="17780">
            <a:solidFill>
              <a:srgbClr val="16191D"/>
            </a:solidFill>
            <a:prstDash val="solid"/>
          </a:ln>
        </p:spPr>
      </p:sp>
      <p:sp>
        <p:nvSpPr>
          <p:cNvPr id="23" name="Shape 21"/>
          <p:cNvSpPr/>
          <p:nvPr/>
        </p:nvSpPr>
        <p:spPr>
          <a:xfrm>
            <a:off x="3063240" y="3172968"/>
            <a:ext cx="365760" cy="365760"/>
          </a:xfrm>
          <a:prstGeom prst="ellipse">
            <a:avLst/>
          </a:prstGeom>
          <a:solidFill>
            <a:srgbClr val="8FB0A4"/>
          </a:solidFill>
          <a:ln/>
        </p:spPr>
      </p:sp>
      <p:sp>
        <p:nvSpPr>
          <p:cNvPr id="24" name="Text 22"/>
          <p:cNvSpPr/>
          <p:nvPr/>
        </p:nvSpPr>
        <p:spPr>
          <a:xfrm>
            <a:off x="3063240" y="31729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25" name="Shape 23"/>
          <p:cNvSpPr/>
          <p:nvPr/>
        </p:nvSpPr>
        <p:spPr>
          <a:xfrm>
            <a:off x="3538728" y="3054096"/>
            <a:ext cx="1993392" cy="603504"/>
          </a:xfrm>
          <a:prstGeom prst="roundRect">
            <a:avLst>
              <a:gd name="adj" fmla="val 9091"/>
            </a:avLst>
          </a:prstGeom>
          <a:solidFill>
            <a:srgbClr val="F4F1EC"/>
          </a:solidFill>
          <a:ln w="9525">
            <a:solidFill>
              <a:srgbClr val="DCD8D1"/>
            </a:solidFill>
            <a:prstDash val="solid"/>
          </a:ln>
        </p:spPr>
      </p:sp>
      <p:sp>
        <p:nvSpPr>
          <p:cNvPr id="26" name="Text 24"/>
          <p:cNvSpPr/>
          <p:nvPr/>
        </p:nvSpPr>
        <p:spPr>
          <a:xfrm>
            <a:off x="3630168" y="305409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Kelas penentu sangat langka</a:t>
            </a:r>
            <a:endParaRPr lang="en-US" sz="1150" dirty="0"/>
          </a:p>
        </p:txBody>
      </p:sp>
      <p:sp>
        <p:nvSpPr>
          <p:cNvPr id="27" name="Text 25"/>
          <p:cNvSpPr/>
          <p:nvPr/>
        </p:nvSpPr>
        <p:spPr>
          <a:xfrm>
            <a:off x="5623560" y="305409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Kelas 3 dan 4 hanya 4,7% data</a:t>
            </a:r>
            <a:endParaRPr lang="en-US" sz="1050" dirty="0"/>
          </a:p>
        </p:txBody>
      </p:sp>
      <p:sp>
        <p:nvSpPr>
          <p:cNvPr id="28" name="Text 26"/>
          <p:cNvSpPr/>
          <p:nvPr/>
        </p:nvSpPr>
        <p:spPr>
          <a:xfrm>
            <a:off x="7726680" y="305409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01000" y="3054096"/>
            <a:ext cx="2240280" cy="603504"/>
          </a:xfrm>
          <a:prstGeom prst="roundRect">
            <a:avLst>
              <a:gd name="adj" fmla="val 9091"/>
            </a:avLst>
          </a:prstGeom>
          <a:solidFill>
            <a:srgbClr val="FFFFFF"/>
          </a:solidFill>
          <a:ln w="9525">
            <a:solidFill>
              <a:srgbClr val="DCD8D1"/>
            </a:solidFill>
            <a:prstDash val="solid"/>
          </a:ln>
        </p:spPr>
      </p:sp>
      <p:sp>
        <p:nvSpPr>
          <p:cNvPr id="30" name="Text 28"/>
          <p:cNvSpPr/>
          <p:nvPr/>
        </p:nvSpPr>
        <p:spPr>
          <a:xfrm>
            <a:off x="8110728" y="305409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Ambang dioptimalkan, bukan argmax</a:t>
            </a:r>
            <a:endParaRPr lang="en-US" sz="1050" dirty="0"/>
          </a:p>
        </p:txBody>
      </p:sp>
      <p:sp>
        <p:nvSpPr>
          <p:cNvPr id="31" name="Text 29"/>
          <p:cNvSpPr/>
          <p:nvPr/>
        </p:nvSpPr>
        <p:spPr>
          <a:xfrm>
            <a:off x="10378440" y="305409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32" name="Shape 30"/>
          <p:cNvSpPr/>
          <p:nvPr/>
        </p:nvSpPr>
        <p:spPr>
          <a:xfrm>
            <a:off x="2953512" y="4224528"/>
            <a:ext cx="109728" cy="0"/>
          </a:xfrm>
          <a:prstGeom prst="line">
            <a:avLst/>
          </a:prstGeom>
          <a:noFill/>
          <a:ln w="17780">
            <a:solidFill>
              <a:srgbClr val="16191D"/>
            </a:solidFill>
            <a:prstDash val="solid"/>
          </a:ln>
        </p:spPr>
      </p:sp>
      <p:sp>
        <p:nvSpPr>
          <p:cNvPr id="33" name="Shape 31"/>
          <p:cNvSpPr/>
          <p:nvPr/>
        </p:nvSpPr>
        <p:spPr>
          <a:xfrm>
            <a:off x="3063240" y="4041648"/>
            <a:ext cx="365760" cy="365760"/>
          </a:xfrm>
          <a:prstGeom prst="ellipse">
            <a:avLst/>
          </a:prstGeom>
          <a:solidFill>
            <a:srgbClr val="D8A25E"/>
          </a:solidFill>
          <a:ln/>
        </p:spPr>
      </p:sp>
      <p:sp>
        <p:nvSpPr>
          <p:cNvPr id="34" name="Text 32"/>
          <p:cNvSpPr/>
          <p:nvPr/>
        </p:nvSpPr>
        <p:spPr>
          <a:xfrm>
            <a:off x="3063240" y="404164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Shape 33"/>
          <p:cNvSpPr/>
          <p:nvPr/>
        </p:nvSpPr>
        <p:spPr>
          <a:xfrm>
            <a:off x="3538728" y="3922776"/>
            <a:ext cx="1993392" cy="603504"/>
          </a:xfrm>
          <a:prstGeom prst="roundRect">
            <a:avLst>
              <a:gd name="adj" fmla="val 9091"/>
            </a:avLst>
          </a:prstGeom>
          <a:solidFill>
            <a:srgbClr val="F4F1EC"/>
          </a:solidFill>
          <a:ln w="9525">
            <a:solidFill>
              <a:srgbClr val="DCD8D1"/>
            </a:solidFill>
            <a:prstDash val="solid"/>
          </a:ln>
        </p:spPr>
      </p:sp>
      <p:sp>
        <p:nvSpPr>
          <p:cNvPr id="36" name="Text 34"/>
          <p:cNvSpPr/>
          <p:nvPr/>
        </p:nvSpPr>
        <p:spPr>
          <a:xfrm>
            <a:off x="3630168" y="392277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Ruang pilihan lebar, selisih tipis</a:t>
            </a:r>
            <a:endParaRPr lang="en-US" sz="1150" dirty="0"/>
          </a:p>
        </p:txBody>
      </p:sp>
      <p:sp>
        <p:nvSpPr>
          <p:cNvPr id="37" name="Text 35"/>
          <p:cNvSpPr/>
          <p:nvPr/>
        </p:nvSpPr>
        <p:spPr>
          <a:xfrm>
            <a:off x="5623560" y="392277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20 konfigurasi hanya terpaut 0,003</a:t>
            </a:r>
            <a:endParaRPr lang="en-US" sz="1050" dirty="0"/>
          </a:p>
        </p:txBody>
      </p:sp>
      <p:sp>
        <p:nvSpPr>
          <p:cNvPr id="38" name="Text 36"/>
          <p:cNvSpPr/>
          <p:nvPr/>
        </p:nvSpPr>
        <p:spPr>
          <a:xfrm>
            <a:off x="7726680" y="392277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39" name="Shape 37"/>
          <p:cNvSpPr/>
          <p:nvPr/>
        </p:nvSpPr>
        <p:spPr>
          <a:xfrm>
            <a:off x="8001000" y="3922776"/>
            <a:ext cx="2240280" cy="603504"/>
          </a:xfrm>
          <a:prstGeom prst="roundRect">
            <a:avLst>
              <a:gd name="adj" fmla="val 9091"/>
            </a:avLst>
          </a:prstGeom>
          <a:solidFill>
            <a:srgbClr val="FFFFFF"/>
          </a:solidFill>
          <a:ln w="9525">
            <a:solidFill>
              <a:srgbClr val="DCD8D1"/>
            </a:solidFill>
            <a:prstDash val="solid"/>
          </a:ln>
        </p:spPr>
      </p:sp>
      <p:sp>
        <p:nvSpPr>
          <p:cNvPr id="40" name="Text 38"/>
          <p:cNvSpPr/>
          <p:nvPr/>
        </p:nvSpPr>
        <p:spPr>
          <a:xfrm>
            <a:off x="8110728" y="392277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Reduksi variansi, pilihan a priori</a:t>
            </a:r>
            <a:endParaRPr lang="en-US" sz="1050" dirty="0"/>
          </a:p>
        </p:txBody>
      </p:sp>
      <p:sp>
        <p:nvSpPr>
          <p:cNvPr id="41" name="Text 39"/>
          <p:cNvSpPr/>
          <p:nvPr/>
        </p:nvSpPr>
        <p:spPr>
          <a:xfrm>
            <a:off x="10378440" y="392277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IV</a:t>
            </a:r>
            <a:endParaRPr lang="en-US" sz="1050" dirty="0"/>
          </a:p>
        </p:txBody>
      </p:sp>
      <p:sp>
        <p:nvSpPr>
          <p:cNvPr id="42" name="Shape 40"/>
          <p:cNvSpPr/>
          <p:nvPr/>
        </p:nvSpPr>
        <p:spPr>
          <a:xfrm>
            <a:off x="2953512" y="5093208"/>
            <a:ext cx="109728" cy="0"/>
          </a:xfrm>
          <a:prstGeom prst="line">
            <a:avLst/>
          </a:prstGeom>
          <a:noFill/>
          <a:ln w="17780">
            <a:solidFill>
              <a:srgbClr val="16191D"/>
            </a:solidFill>
            <a:prstDash val="solid"/>
          </a:ln>
        </p:spPr>
      </p:sp>
      <p:sp>
        <p:nvSpPr>
          <p:cNvPr id="43" name="Shape 41"/>
          <p:cNvSpPr/>
          <p:nvPr/>
        </p:nvSpPr>
        <p:spPr>
          <a:xfrm>
            <a:off x="3063240" y="4910328"/>
            <a:ext cx="365760" cy="365760"/>
          </a:xfrm>
          <a:prstGeom prst="ellipse">
            <a:avLst/>
          </a:prstGeom>
          <a:solidFill>
            <a:srgbClr val="A8442A"/>
          </a:solidFill>
          <a:ln/>
        </p:spPr>
      </p:sp>
      <p:sp>
        <p:nvSpPr>
          <p:cNvPr id="44" name="Text 42"/>
          <p:cNvSpPr/>
          <p:nvPr/>
        </p:nvSpPr>
        <p:spPr>
          <a:xfrm>
            <a:off x="3063240" y="4910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Shape 43"/>
          <p:cNvSpPr/>
          <p:nvPr/>
        </p:nvSpPr>
        <p:spPr>
          <a:xfrm>
            <a:off x="3538728" y="4791456"/>
            <a:ext cx="1993392" cy="603504"/>
          </a:xfrm>
          <a:prstGeom prst="roundRect">
            <a:avLst>
              <a:gd name="adj" fmla="val 9091"/>
            </a:avLst>
          </a:prstGeom>
          <a:solidFill>
            <a:srgbClr val="F4F1EC"/>
          </a:solidFill>
          <a:ln w="9525">
            <a:solidFill>
              <a:srgbClr val="DCD8D1"/>
            </a:solidFill>
            <a:prstDash val="solid"/>
          </a:ln>
        </p:spPr>
      </p:sp>
      <p:sp>
        <p:nvSpPr>
          <p:cNvPr id="46" name="Text 44"/>
          <p:cNvSpPr/>
          <p:nvPr/>
        </p:nvSpPr>
        <p:spPr>
          <a:xfrm>
            <a:off x="3630168" y="479145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Penentu utamanya tak terekam</a:t>
            </a:r>
            <a:endParaRPr lang="en-US" sz="1150" dirty="0"/>
          </a:p>
        </p:txBody>
      </p:sp>
      <p:sp>
        <p:nvSpPr>
          <p:cNvPr id="47" name="Text 45"/>
          <p:cNvSpPr/>
          <p:nvPr/>
        </p:nvSpPr>
        <p:spPr>
          <a:xfrm>
            <a:off x="5623560" y="479145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Kepribadian dan relasi sosial absen</a:t>
            </a:r>
            <a:endParaRPr lang="en-US" sz="1050" dirty="0"/>
          </a:p>
        </p:txBody>
      </p:sp>
      <p:sp>
        <p:nvSpPr>
          <p:cNvPr id="48" name="Text 46"/>
          <p:cNvSpPr/>
          <p:nvPr/>
        </p:nvSpPr>
        <p:spPr>
          <a:xfrm>
            <a:off x="7726680" y="479145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8001000" y="4791456"/>
            <a:ext cx="2240280" cy="603504"/>
          </a:xfrm>
          <a:prstGeom prst="roundRect">
            <a:avLst>
              <a:gd name="adj" fmla="val 9091"/>
            </a:avLst>
          </a:prstGeom>
          <a:solidFill>
            <a:srgbClr val="FFFFFF"/>
          </a:solidFill>
          <a:ln w="9525">
            <a:solidFill>
              <a:srgbClr val="DCD8D1"/>
            </a:solidFill>
            <a:prstDash val="solid"/>
          </a:ln>
        </p:spPr>
      </p:sp>
      <p:sp>
        <p:nvSpPr>
          <p:cNvPr id="50" name="Text 48"/>
          <p:cNvSpPr/>
          <p:nvPr/>
        </p:nvSpPr>
        <p:spPr>
          <a:xfrm>
            <a:off x="8110728" y="479145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Analisis plafon kuantitatif</a:t>
            </a:r>
            <a:endParaRPr lang="en-US" sz="1050" dirty="0"/>
          </a:p>
        </p:txBody>
      </p:sp>
      <p:sp>
        <p:nvSpPr>
          <p:cNvPr id="51" name="Text 49"/>
          <p:cNvSpPr/>
          <p:nvPr/>
        </p:nvSpPr>
        <p:spPr>
          <a:xfrm>
            <a:off x="10378440" y="479145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V</a:t>
            </a:r>
            <a:endParaRPr lang="en-US" sz="105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Latar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II</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Apa kata data,</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sebelum satu model</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pun dilatih.</a:t>
            </a:r>
            <a:endParaRPr lang="en-US" sz="3600" dirty="0"/>
          </a:p>
        </p:txBody>
      </p:sp>
      <p:sp>
        <p:nvSpPr>
          <p:cNvPr id="4" name="Text 2"/>
          <p:cNvSpPr/>
          <p:nvPr/>
        </p:nvSpPr>
        <p:spPr>
          <a:xfrm>
            <a:off x="640080" y="4178808"/>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Sepuluh temuan, masing-masing dengan konsekuensi desain yang disebutkan eksplisit.</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Distribusi target dan pola kosong</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Kode non-respons 7, 8, dan 9</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Bentuk sinyal dan sebarannya</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Dua jebakan yang kami tolak</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Dua kelas menguasai 95,3% data. Keduanya bukan penentu skor.</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Kelas 3 dan 4 hanya 4.452 baris, tetapi memikul hampir seluruh bobot penalti.</a:t>
            </a:r>
            <a:endParaRPr lang="en-US" sz="1400" dirty="0"/>
          </a:p>
        </p:txBody>
      </p:sp>
      <p:sp>
        <p:nvSpPr>
          <p:cNvPr id="4" name="Text 2"/>
          <p:cNvSpPr/>
          <p:nvPr/>
        </p:nvSpPr>
        <p:spPr>
          <a:xfrm>
            <a:off x="640080" y="2377440"/>
            <a:ext cx="2286000" cy="365760"/>
          </a:xfrm>
          <a:prstGeom prst="rect">
            <a:avLst/>
          </a:prstGeom>
          <a:noFill/>
          <a:ln/>
        </p:spPr>
        <p:txBody>
          <a:bodyPr wrap="square" lIns="0" tIns="0" rIns="0" bIns="0" rtlCol="0" anchor="ctr"/>
          <a:lstStyle/>
          <a:p>
            <a:pPr indent="0" marL="0">
              <a:buNone/>
            </a:pPr>
            <a:r>
              <a:rPr lang="en-US" sz="1200" dirty="0">
                <a:solidFill>
                  <a:srgbClr val="16191D"/>
                </a:solidFill>
                <a:latin typeface="Calibri" pitchFamily="34" charset="0"/>
                <a:ea typeface="Calibri" pitchFamily="34" charset="-122"/>
                <a:cs typeface="Calibri" pitchFamily="34" charset="-120"/>
              </a:rPr>
              <a:t>1 · Sangat puas</a:t>
            </a:r>
            <a:endParaRPr lang="en-US" sz="1200" dirty="0"/>
          </a:p>
        </p:txBody>
      </p:sp>
      <p:sp>
        <p:nvSpPr>
          <p:cNvPr id="5" name="Shape 3"/>
          <p:cNvSpPr/>
          <p:nvPr/>
        </p:nvSpPr>
        <p:spPr>
          <a:xfrm>
            <a:off x="3017520" y="2423160"/>
            <a:ext cx="4297680" cy="274320"/>
          </a:xfrm>
          <a:prstGeom prst="rect">
            <a:avLst/>
          </a:prstGeom>
          <a:solidFill>
            <a:srgbClr val="F4F1EC"/>
          </a:solidFill>
          <a:ln/>
        </p:spPr>
      </p:sp>
      <p:sp>
        <p:nvSpPr>
          <p:cNvPr id="6" name="Shape 4"/>
          <p:cNvSpPr/>
          <p:nvPr/>
        </p:nvSpPr>
        <p:spPr>
          <a:xfrm>
            <a:off x="3017520" y="2423160"/>
            <a:ext cx="3787014" cy="274320"/>
          </a:xfrm>
          <a:prstGeom prst="rect">
            <a:avLst/>
          </a:prstGeom>
          <a:solidFill>
            <a:srgbClr val="2F6B5F"/>
          </a:solidFill>
          <a:ln/>
        </p:spPr>
      </p:sp>
      <p:sp>
        <p:nvSpPr>
          <p:cNvPr id="7" name="Text 5"/>
          <p:cNvSpPr/>
          <p:nvPr/>
        </p:nvSpPr>
        <p:spPr>
          <a:xfrm>
            <a:off x="3017520" y="2724912"/>
            <a:ext cx="4297680" cy="256032"/>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44,94%   ·   42.968 baris</a:t>
            </a:r>
            <a:endParaRPr lang="en-US" sz="1050" dirty="0"/>
          </a:p>
        </p:txBody>
      </p:sp>
      <p:sp>
        <p:nvSpPr>
          <p:cNvPr id="8" name="Text 6"/>
          <p:cNvSpPr/>
          <p:nvPr/>
        </p:nvSpPr>
        <p:spPr>
          <a:xfrm>
            <a:off x="640080" y="3054096"/>
            <a:ext cx="2286000" cy="365760"/>
          </a:xfrm>
          <a:prstGeom prst="rect">
            <a:avLst/>
          </a:prstGeom>
          <a:noFill/>
          <a:ln/>
        </p:spPr>
        <p:txBody>
          <a:bodyPr wrap="square" lIns="0" tIns="0" rIns="0" bIns="0" rtlCol="0" anchor="ctr"/>
          <a:lstStyle/>
          <a:p>
            <a:pPr indent="0" marL="0">
              <a:buNone/>
            </a:pPr>
            <a:r>
              <a:rPr lang="en-US" sz="1200" dirty="0">
                <a:solidFill>
                  <a:srgbClr val="16191D"/>
                </a:solidFill>
                <a:latin typeface="Calibri" pitchFamily="34" charset="0"/>
                <a:ea typeface="Calibri" pitchFamily="34" charset="-122"/>
                <a:cs typeface="Calibri" pitchFamily="34" charset="-120"/>
              </a:rPr>
              <a:t>2 · Puas</a:t>
            </a:r>
            <a:endParaRPr lang="en-US" sz="1200" dirty="0"/>
          </a:p>
        </p:txBody>
      </p:sp>
      <p:sp>
        <p:nvSpPr>
          <p:cNvPr id="9" name="Shape 7"/>
          <p:cNvSpPr/>
          <p:nvPr/>
        </p:nvSpPr>
        <p:spPr>
          <a:xfrm>
            <a:off x="3017520" y="3099816"/>
            <a:ext cx="4297680" cy="274320"/>
          </a:xfrm>
          <a:prstGeom prst="rect">
            <a:avLst/>
          </a:prstGeom>
          <a:solidFill>
            <a:srgbClr val="F4F1EC"/>
          </a:solidFill>
          <a:ln/>
        </p:spPr>
      </p:sp>
      <p:sp>
        <p:nvSpPr>
          <p:cNvPr id="10" name="Shape 8"/>
          <p:cNvSpPr/>
          <p:nvPr/>
        </p:nvSpPr>
        <p:spPr>
          <a:xfrm>
            <a:off x="3017520" y="3099816"/>
            <a:ext cx="4247119" cy="274320"/>
          </a:xfrm>
          <a:prstGeom prst="rect">
            <a:avLst/>
          </a:prstGeom>
          <a:solidFill>
            <a:srgbClr val="8FB0A4"/>
          </a:solidFill>
          <a:ln/>
        </p:spPr>
      </p:sp>
      <p:sp>
        <p:nvSpPr>
          <p:cNvPr id="11" name="Text 9"/>
          <p:cNvSpPr/>
          <p:nvPr/>
        </p:nvSpPr>
        <p:spPr>
          <a:xfrm>
            <a:off x="3017520" y="3401568"/>
            <a:ext cx="4297680" cy="256032"/>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50,40%   ·   48.189 baris</a:t>
            </a:r>
            <a:endParaRPr lang="en-US" sz="1050" dirty="0"/>
          </a:p>
        </p:txBody>
      </p:sp>
      <p:sp>
        <p:nvSpPr>
          <p:cNvPr id="12" name="Text 10"/>
          <p:cNvSpPr/>
          <p:nvPr/>
        </p:nvSpPr>
        <p:spPr>
          <a:xfrm>
            <a:off x="640080" y="3730752"/>
            <a:ext cx="2286000" cy="365760"/>
          </a:xfrm>
          <a:prstGeom prst="rect">
            <a:avLst/>
          </a:prstGeom>
          <a:noFill/>
          <a:ln/>
        </p:spPr>
        <p:txBody>
          <a:bodyPr wrap="square" lIns="0" tIns="0" rIns="0" bIns="0" rtlCol="0" anchor="ctr"/>
          <a:lstStyle/>
          <a:p>
            <a:pPr indent="0" marL="0">
              <a:buNone/>
            </a:pPr>
            <a:r>
              <a:rPr lang="en-US" sz="1200" dirty="0">
                <a:solidFill>
                  <a:srgbClr val="16191D"/>
                </a:solidFill>
                <a:latin typeface="Calibri" pitchFamily="34" charset="0"/>
                <a:ea typeface="Calibri" pitchFamily="34" charset="-122"/>
                <a:cs typeface="Calibri" pitchFamily="34" charset="-120"/>
              </a:rPr>
              <a:t>3 · Tidak puas</a:t>
            </a:r>
            <a:endParaRPr lang="en-US" sz="1200" dirty="0"/>
          </a:p>
        </p:txBody>
      </p:sp>
      <p:sp>
        <p:nvSpPr>
          <p:cNvPr id="13" name="Shape 11"/>
          <p:cNvSpPr/>
          <p:nvPr/>
        </p:nvSpPr>
        <p:spPr>
          <a:xfrm>
            <a:off x="3017520" y="3776472"/>
            <a:ext cx="4297680" cy="274320"/>
          </a:xfrm>
          <a:prstGeom prst="rect">
            <a:avLst/>
          </a:prstGeom>
          <a:solidFill>
            <a:srgbClr val="F4F1EC"/>
          </a:solidFill>
          <a:ln/>
        </p:spPr>
      </p:sp>
      <p:sp>
        <p:nvSpPr>
          <p:cNvPr id="14" name="Shape 12"/>
          <p:cNvSpPr/>
          <p:nvPr/>
        </p:nvSpPr>
        <p:spPr>
          <a:xfrm>
            <a:off x="3017520" y="3776472"/>
            <a:ext cx="313478" cy="274320"/>
          </a:xfrm>
          <a:prstGeom prst="rect">
            <a:avLst/>
          </a:prstGeom>
          <a:solidFill>
            <a:srgbClr val="D8A25E"/>
          </a:solidFill>
          <a:ln/>
        </p:spPr>
      </p:sp>
      <p:sp>
        <p:nvSpPr>
          <p:cNvPr id="15" name="Text 13"/>
          <p:cNvSpPr/>
          <p:nvPr/>
        </p:nvSpPr>
        <p:spPr>
          <a:xfrm>
            <a:off x="3017520" y="4078224"/>
            <a:ext cx="4297680" cy="256032"/>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3,72%   ·   3.559 baris</a:t>
            </a:r>
            <a:endParaRPr lang="en-US" sz="1050" dirty="0"/>
          </a:p>
        </p:txBody>
      </p:sp>
      <p:sp>
        <p:nvSpPr>
          <p:cNvPr id="16" name="Text 14"/>
          <p:cNvSpPr/>
          <p:nvPr/>
        </p:nvSpPr>
        <p:spPr>
          <a:xfrm>
            <a:off x="640080" y="4407408"/>
            <a:ext cx="2286000" cy="365760"/>
          </a:xfrm>
          <a:prstGeom prst="rect">
            <a:avLst/>
          </a:prstGeom>
          <a:noFill/>
          <a:ln/>
        </p:spPr>
        <p:txBody>
          <a:bodyPr wrap="square" lIns="0" tIns="0" rIns="0" bIns="0" rtlCol="0" anchor="ctr"/>
          <a:lstStyle/>
          <a:p>
            <a:pPr indent="0" marL="0">
              <a:buNone/>
            </a:pPr>
            <a:r>
              <a:rPr lang="en-US" sz="1200" dirty="0">
                <a:solidFill>
                  <a:srgbClr val="16191D"/>
                </a:solidFill>
                <a:latin typeface="Calibri" pitchFamily="34" charset="0"/>
                <a:ea typeface="Calibri" pitchFamily="34" charset="-122"/>
                <a:cs typeface="Calibri" pitchFamily="34" charset="-120"/>
              </a:rPr>
              <a:t>4 · Sangat tidak puas</a:t>
            </a:r>
            <a:endParaRPr lang="en-US" sz="1200" dirty="0"/>
          </a:p>
        </p:txBody>
      </p:sp>
      <p:sp>
        <p:nvSpPr>
          <p:cNvPr id="17" name="Shape 15"/>
          <p:cNvSpPr/>
          <p:nvPr/>
        </p:nvSpPr>
        <p:spPr>
          <a:xfrm>
            <a:off x="3017520" y="4453128"/>
            <a:ext cx="4297680" cy="274320"/>
          </a:xfrm>
          <a:prstGeom prst="rect">
            <a:avLst/>
          </a:prstGeom>
          <a:solidFill>
            <a:srgbClr val="F4F1EC"/>
          </a:solidFill>
          <a:ln/>
        </p:spPr>
      </p:sp>
      <p:sp>
        <p:nvSpPr>
          <p:cNvPr id="18" name="Shape 16"/>
          <p:cNvSpPr/>
          <p:nvPr/>
        </p:nvSpPr>
        <p:spPr>
          <a:xfrm>
            <a:off x="3017520" y="4453128"/>
            <a:ext cx="78369" cy="274320"/>
          </a:xfrm>
          <a:prstGeom prst="rect">
            <a:avLst/>
          </a:prstGeom>
          <a:solidFill>
            <a:srgbClr val="A8442A"/>
          </a:solidFill>
          <a:ln/>
        </p:spPr>
      </p:sp>
      <p:sp>
        <p:nvSpPr>
          <p:cNvPr id="19" name="Text 17"/>
          <p:cNvSpPr/>
          <p:nvPr/>
        </p:nvSpPr>
        <p:spPr>
          <a:xfrm>
            <a:off x="3017520" y="4754880"/>
            <a:ext cx="4297680" cy="256032"/>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0,93%   ·   893 baris</a:t>
            </a:r>
            <a:endParaRPr lang="en-US" sz="1050" dirty="0"/>
          </a:p>
        </p:txBody>
      </p:sp>
      <p:sp>
        <p:nvSpPr>
          <p:cNvPr id="20" name="Shape 18"/>
          <p:cNvSpPr/>
          <p:nvPr/>
        </p:nvSpPr>
        <p:spPr>
          <a:xfrm>
            <a:off x="7818120" y="2377440"/>
            <a:ext cx="3733495" cy="2377440"/>
          </a:xfrm>
          <a:prstGeom prst="roundRect">
            <a:avLst>
              <a:gd name="adj" fmla="val 2308"/>
            </a:avLst>
          </a:prstGeom>
          <a:solidFill>
            <a:srgbClr val="ECE7DF"/>
          </a:solidFill>
          <a:ln w="9525">
            <a:solidFill>
              <a:srgbClr val="DCD8D1"/>
            </a:solidFill>
            <a:prstDash val="solid"/>
          </a:ln>
        </p:spPr>
      </p:sp>
      <p:sp>
        <p:nvSpPr>
          <p:cNvPr id="21" name="Text 19"/>
          <p:cNvSpPr/>
          <p:nvPr/>
        </p:nvSpPr>
        <p:spPr>
          <a:xfrm>
            <a:off x="8129016" y="2633472"/>
            <a:ext cx="3111703" cy="512064"/>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9 : 1</a:t>
            </a:r>
            <a:endParaRPr lang="en-US" sz="3000" dirty="0"/>
          </a:p>
        </p:txBody>
      </p:sp>
      <p:sp>
        <p:nvSpPr>
          <p:cNvPr id="22" name="Text 20"/>
          <p:cNvSpPr/>
          <p:nvPr/>
        </p:nvSpPr>
        <p:spPr>
          <a:xfrm>
            <a:off x="8129016" y="3182112"/>
            <a:ext cx="3111703"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Penalti satu galat kelas 4 dibanding satu galat kelas tetangga</a:t>
            </a:r>
            <a:endParaRPr lang="en-US" sz="1100" dirty="0"/>
          </a:p>
        </p:txBody>
      </p:sp>
      <p:sp>
        <p:nvSpPr>
          <p:cNvPr id="23" name="Shape 21"/>
          <p:cNvSpPr/>
          <p:nvPr/>
        </p:nvSpPr>
        <p:spPr>
          <a:xfrm>
            <a:off x="8129016" y="3749040"/>
            <a:ext cx="3111703" cy="0"/>
          </a:xfrm>
          <a:prstGeom prst="line">
            <a:avLst/>
          </a:prstGeom>
          <a:noFill/>
          <a:ln w="10160">
            <a:solidFill>
              <a:srgbClr val="DCD8D1"/>
            </a:solidFill>
            <a:prstDash val="solid"/>
          </a:ln>
        </p:spPr>
      </p:sp>
      <p:sp>
        <p:nvSpPr>
          <p:cNvPr id="24" name="Text 22"/>
          <p:cNvSpPr/>
          <p:nvPr/>
        </p:nvSpPr>
        <p:spPr>
          <a:xfrm>
            <a:off x="8129016" y="3877056"/>
            <a:ext cx="3111703" cy="512064"/>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4,7%</a:t>
            </a:r>
            <a:endParaRPr lang="en-US" sz="3000" dirty="0"/>
          </a:p>
        </p:txBody>
      </p:sp>
      <p:sp>
        <p:nvSpPr>
          <p:cNvPr id="25" name="Text 23"/>
          <p:cNvSpPr/>
          <p:nvPr/>
        </p:nvSpPr>
        <p:spPr>
          <a:xfrm>
            <a:off x="8129016" y="4425696"/>
            <a:ext cx="3111703"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Porsi responden di dua kelas terbawah</a:t>
            </a:r>
            <a:endParaRPr lang="en-US" sz="1100" dirty="0"/>
          </a:p>
        </p:txBody>
      </p:sp>
      <p:sp>
        <p:nvSpPr>
          <p:cNvPr id="26" name="Text 24"/>
          <p:cNvSpPr/>
          <p:nvPr/>
        </p:nvSpPr>
        <p:spPr>
          <a:xfrm>
            <a:off x="640080" y="5349240"/>
            <a:ext cx="10911535" cy="457200"/>
          </a:xfrm>
          <a:prstGeom prst="rect">
            <a:avLst/>
          </a:prstGeom>
          <a:noFill/>
          <a:ln/>
        </p:spPr>
        <p:txBody>
          <a:bodyPr wrap="square" lIns="0" tIns="0" rIns="0" bIns="0" rtlCol="0" anchor="ctr"/>
          <a:lstStyle/>
          <a:p>
            <a:pPr indent="0" marL="0">
              <a:buNone/>
            </a:pPr>
            <a:r>
              <a:rPr lang="en-US" sz="1300" b="1" dirty="0">
                <a:solidFill>
                  <a:srgbClr val="A8442A"/>
                </a:solidFill>
                <a:latin typeface="Calibri" pitchFamily="34" charset="0"/>
                <a:ea typeface="Calibri" pitchFamily="34" charset="-122"/>
                <a:cs typeface="Calibri" pitchFamily="34" charset="-120"/>
              </a:rPr>
              <a:t>Implikasi desain. </a:t>
            </a:r>
            <a:pPr indent="0" marL="0">
              <a:buNone/>
            </a:pPr>
            <a:r>
              <a:rPr lang="en-US" sz="1300" dirty="0">
                <a:solidFill>
                  <a:srgbClr val="3A4048"/>
                </a:solidFill>
                <a:latin typeface="Calibri" pitchFamily="34" charset="0"/>
                <a:ea typeface="Calibri" pitchFamily="34" charset="-122"/>
                <a:cs typeface="Calibri" pitchFamily="34" charset="-120"/>
              </a:rPr>
              <a:t>Model harus berani menebak kelas langka. Karena itu kami mengoptimalkan ambang batas, bukan memakai argmax.</a:t>
            </a:r>
            <a:endParaRPr lang="en-US" sz="1300" dirty="0"/>
          </a:p>
        </p:txBody>
      </p:sp>
      <p:sp>
        <p:nvSpPr>
          <p:cNvPr id="28" name="Shape 25"/>
          <p:cNvSpPr/>
          <p:nvPr/>
        </p:nvSpPr>
        <p:spPr>
          <a:xfrm>
            <a:off x="640080" y="6400800"/>
            <a:ext cx="1572768" cy="45720"/>
          </a:xfrm>
          <a:prstGeom prst="rect">
            <a:avLst/>
          </a:prstGeom>
          <a:solidFill>
            <a:srgbClr val="DCD8D1"/>
          </a:solidFill>
          <a:ln/>
        </p:spPr>
      </p:sp>
      <p:sp>
        <p:nvSpPr>
          <p:cNvPr id="29" name="Text 2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0" name="Shape 27"/>
          <p:cNvSpPr/>
          <p:nvPr/>
        </p:nvSpPr>
        <p:spPr>
          <a:xfrm>
            <a:off x="2304288" y="6400800"/>
            <a:ext cx="1572768" cy="45720"/>
          </a:xfrm>
          <a:prstGeom prst="rect">
            <a:avLst/>
          </a:prstGeom>
          <a:solidFill>
            <a:srgbClr val="A8442A"/>
          </a:solidFill>
          <a:ln/>
        </p:spPr>
      </p:sp>
      <p:sp>
        <p:nvSpPr>
          <p:cNvPr id="31" name="Text 2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32" name="Shape 29"/>
          <p:cNvSpPr/>
          <p:nvPr/>
        </p:nvSpPr>
        <p:spPr>
          <a:xfrm>
            <a:off x="3968496" y="6400800"/>
            <a:ext cx="1572768" cy="45720"/>
          </a:xfrm>
          <a:prstGeom prst="rect">
            <a:avLst/>
          </a:prstGeom>
          <a:solidFill>
            <a:srgbClr val="DCD8D1"/>
          </a:solidFill>
          <a:ln/>
        </p:spPr>
      </p:sp>
      <p:sp>
        <p:nvSpPr>
          <p:cNvPr id="33" name="Text 3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4" name="Shape 31"/>
          <p:cNvSpPr/>
          <p:nvPr/>
        </p:nvSpPr>
        <p:spPr>
          <a:xfrm>
            <a:off x="5632704" y="6400800"/>
            <a:ext cx="1572768" cy="45720"/>
          </a:xfrm>
          <a:prstGeom prst="rect">
            <a:avLst/>
          </a:prstGeom>
          <a:solidFill>
            <a:srgbClr val="DCD8D1"/>
          </a:solidFill>
          <a:ln/>
        </p:spPr>
      </p:sp>
      <p:sp>
        <p:nvSpPr>
          <p:cNvPr id="35" name="Text 3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6" name="Shape 33"/>
          <p:cNvSpPr/>
          <p:nvPr/>
        </p:nvSpPr>
        <p:spPr>
          <a:xfrm>
            <a:off x="7296912" y="6400800"/>
            <a:ext cx="1572768" cy="45720"/>
          </a:xfrm>
          <a:prstGeom prst="rect">
            <a:avLst/>
          </a:prstGeom>
          <a:solidFill>
            <a:srgbClr val="DCD8D1"/>
          </a:solidFill>
          <a:ln/>
        </p:spPr>
      </p:sp>
      <p:sp>
        <p:nvSpPr>
          <p:cNvPr id="37" name="Text 3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8" name="Shape 35"/>
          <p:cNvSpPr/>
          <p:nvPr/>
        </p:nvSpPr>
        <p:spPr>
          <a:xfrm>
            <a:off x="8961120" y="6400800"/>
            <a:ext cx="1572768" cy="45720"/>
          </a:xfrm>
          <a:prstGeom prst="rect">
            <a:avLst/>
          </a:prstGeom>
          <a:solidFill>
            <a:srgbClr val="DCD8D1"/>
          </a:solidFill>
          <a:ln/>
        </p:spPr>
      </p:sp>
      <p:sp>
        <p:nvSpPr>
          <p:cNvPr id="39" name="Text 3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0" name="Text 3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Setiap kolom punya nilai kosong. Tidak satu pun kami imputasi.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Pola kosong di data latih dan data uji hampir identik, jadi tidak ada pergeseran yang perlu ditambal.</a:t>
            </a:r>
            <a:endParaRPr lang="en-US" sz="1400" dirty="0"/>
          </a:p>
        </p:txBody>
      </p:sp>
      <p:sp>
        <p:nvSpPr>
          <p:cNvPr id="4" name="Shape 2"/>
          <p:cNvSpPr/>
          <p:nvPr/>
        </p:nvSpPr>
        <p:spPr>
          <a:xfrm>
            <a:off x="640080" y="2231136"/>
            <a:ext cx="3520440" cy="1024128"/>
          </a:xfrm>
          <a:prstGeom prst="roundRect">
            <a:avLst>
              <a:gd name="adj" fmla="val 5357"/>
            </a:avLst>
          </a:prstGeom>
          <a:solidFill>
            <a:srgbClr val="F4F1EC"/>
          </a:solidFill>
          <a:ln w="9525">
            <a:solidFill>
              <a:srgbClr val="DCD8D1"/>
            </a:solidFill>
            <a:prstDash val="solid"/>
          </a:ln>
        </p:spPr>
      </p:sp>
      <p:sp>
        <p:nvSpPr>
          <p:cNvPr id="5" name="Text 3"/>
          <p:cNvSpPr/>
          <p:nvPr/>
        </p:nvSpPr>
        <p:spPr>
          <a:xfrm>
            <a:off x="914400" y="2395728"/>
            <a:ext cx="2971800" cy="457200"/>
          </a:xfrm>
          <a:prstGeom prst="rect">
            <a:avLst/>
          </a:prstGeom>
          <a:noFill/>
          <a:ln/>
        </p:spPr>
        <p:txBody>
          <a:bodyPr wrap="square" lIns="0" tIns="0" rIns="0" bIns="0" rtlCol="0" anchor="b"/>
          <a:lstStyle/>
          <a:p>
            <a:pPr algn="l" indent="0" marL="0">
              <a:buNone/>
            </a:pPr>
            <a:r>
              <a:rPr lang="en-US" sz="2400" b="1" dirty="0">
                <a:solidFill>
                  <a:srgbClr val="16191D"/>
                </a:solidFill>
                <a:latin typeface="Cambria" pitchFamily="34" charset="0"/>
                <a:ea typeface="Cambria" pitchFamily="34" charset="-122"/>
                <a:cs typeface="Cambria" pitchFamily="34" charset="-120"/>
              </a:rPr>
              <a:t>14,41%</a:t>
            </a:r>
            <a:endParaRPr lang="en-US" sz="2400" dirty="0"/>
          </a:p>
        </p:txBody>
      </p:sp>
      <p:sp>
        <p:nvSpPr>
          <p:cNvPr id="6" name="Text 4"/>
          <p:cNvSpPr/>
          <p:nvPr/>
        </p:nvSpPr>
        <p:spPr>
          <a:xfrm>
            <a:off x="914400" y="2889504"/>
            <a:ext cx="2971800"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Rata-rata sel kosong</a:t>
            </a:r>
            <a:endParaRPr lang="en-US" sz="1100" dirty="0"/>
          </a:p>
        </p:txBody>
      </p:sp>
      <p:sp>
        <p:nvSpPr>
          <p:cNvPr id="7" name="Shape 5"/>
          <p:cNvSpPr/>
          <p:nvPr/>
        </p:nvSpPr>
        <p:spPr>
          <a:xfrm>
            <a:off x="4407408" y="2231136"/>
            <a:ext cx="3520440" cy="1024128"/>
          </a:xfrm>
          <a:prstGeom prst="roundRect">
            <a:avLst>
              <a:gd name="adj" fmla="val 5357"/>
            </a:avLst>
          </a:prstGeom>
          <a:solidFill>
            <a:srgbClr val="F4F1EC"/>
          </a:solidFill>
          <a:ln w="9525">
            <a:solidFill>
              <a:srgbClr val="DCD8D1"/>
            </a:solidFill>
            <a:prstDash val="solid"/>
          </a:ln>
        </p:spPr>
      </p:sp>
      <p:sp>
        <p:nvSpPr>
          <p:cNvPr id="8" name="Text 6"/>
          <p:cNvSpPr/>
          <p:nvPr/>
        </p:nvSpPr>
        <p:spPr>
          <a:xfrm>
            <a:off x="4681728" y="2395728"/>
            <a:ext cx="2971800" cy="457200"/>
          </a:xfrm>
          <a:prstGeom prst="rect">
            <a:avLst/>
          </a:prstGeom>
          <a:noFill/>
          <a:ln/>
        </p:spPr>
        <p:txBody>
          <a:bodyPr wrap="square" lIns="0" tIns="0" rIns="0" bIns="0" rtlCol="0" anchor="b"/>
          <a:lstStyle/>
          <a:p>
            <a:pPr algn="l" indent="0" marL="0">
              <a:buNone/>
            </a:pPr>
            <a:r>
              <a:rPr lang="en-US" sz="2400" b="1" dirty="0">
                <a:solidFill>
                  <a:srgbClr val="16191D"/>
                </a:solidFill>
                <a:latin typeface="Cambria" pitchFamily="34" charset="0"/>
                <a:ea typeface="Cambria" pitchFamily="34" charset="-122"/>
                <a:cs typeface="Cambria" pitchFamily="34" charset="-120"/>
              </a:rPr>
              <a:t>0 dari 176</a:t>
            </a:r>
            <a:endParaRPr lang="en-US" sz="2400" dirty="0"/>
          </a:p>
        </p:txBody>
      </p:sp>
      <p:sp>
        <p:nvSpPr>
          <p:cNvPr id="9" name="Text 7"/>
          <p:cNvSpPr/>
          <p:nvPr/>
        </p:nvSpPr>
        <p:spPr>
          <a:xfrm>
            <a:off x="4681728" y="2889504"/>
            <a:ext cx="2971800"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Kolom tanpa kosong sama sekali</a:t>
            </a:r>
            <a:endParaRPr lang="en-US" sz="1100" dirty="0"/>
          </a:p>
        </p:txBody>
      </p:sp>
      <p:sp>
        <p:nvSpPr>
          <p:cNvPr id="10" name="Shape 8"/>
          <p:cNvSpPr/>
          <p:nvPr/>
        </p:nvSpPr>
        <p:spPr>
          <a:xfrm>
            <a:off x="8174736" y="2231136"/>
            <a:ext cx="3520440" cy="1024128"/>
          </a:xfrm>
          <a:prstGeom prst="roundRect">
            <a:avLst>
              <a:gd name="adj" fmla="val 5357"/>
            </a:avLst>
          </a:prstGeom>
          <a:solidFill>
            <a:srgbClr val="F4F1EC"/>
          </a:solidFill>
          <a:ln w="9525">
            <a:solidFill>
              <a:srgbClr val="DCD8D1"/>
            </a:solidFill>
            <a:prstDash val="solid"/>
          </a:ln>
        </p:spPr>
      </p:sp>
      <p:sp>
        <p:nvSpPr>
          <p:cNvPr id="11" name="Text 9"/>
          <p:cNvSpPr/>
          <p:nvPr/>
        </p:nvSpPr>
        <p:spPr>
          <a:xfrm>
            <a:off x="8449056" y="2395728"/>
            <a:ext cx="2971800" cy="457200"/>
          </a:xfrm>
          <a:prstGeom prst="rect">
            <a:avLst/>
          </a:prstGeom>
          <a:noFill/>
          <a:ln/>
        </p:spPr>
        <p:txBody>
          <a:bodyPr wrap="square" lIns="0" tIns="0" rIns="0" bIns="0" rtlCol="0" anchor="b"/>
          <a:lstStyle/>
          <a:p>
            <a:pPr algn="l" indent="0" marL="0">
              <a:buNone/>
            </a:pPr>
            <a:r>
              <a:rPr lang="en-US" sz="2400" b="1" dirty="0">
                <a:solidFill>
                  <a:srgbClr val="16191D"/>
                </a:solidFill>
                <a:latin typeface="Cambria" pitchFamily="34" charset="0"/>
                <a:ea typeface="Cambria" pitchFamily="34" charset="-122"/>
                <a:cs typeface="Cambria" pitchFamily="34" charset="-120"/>
              </a:rPr>
              <a:t>25,4</a:t>
            </a:r>
            <a:endParaRPr lang="en-US" sz="2400" dirty="0"/>
          </a:p>
        </p:txBody>
      </p:sp>
      <p:sp>
        <p:nvSpPr>
          <p:cNvPr id="12" name="Text 10"/>
          <p:cNvSpPr/>
          <p:nvPr/>
        </p:nvSpPr>
        <p:spPr>
          <a:xfrm>
            <a:off x="8449056" y="2889504"/>
            <a:ext cx="2971800"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Rata-rata nilai hilang per baris</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584448"/>
          <a:ext cx="6858000" cy="914400"/>
        </p:xfrm>
        <a:graphic>
          <a:graphicData uri="http://schemas.openxmlformats.org/drawingml/2006/table">
            <a:tbl>
              <a:tblPr/>
              <a:tblGrid>
                <a:gridCol w="3291840"/>
                <a:gridCol w="1234440"/>
                <a:gridCol w="1234440"/>
                <a:gridCol w="1097280"/>
              </a:tblGrid>
              <a:tr h="301752">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Kolom dengan kosong tertinggi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latih</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uji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selisih</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flu_vaccine_year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53,85%</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54,28%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flu_vaccine_month</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53,43%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54,08%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0,65</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ever_married</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52,11%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52,09%</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gestational_diabetes_ever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50,02%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49,21%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0,81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works_full_time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48,59%</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48,57%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hours_worked_per_week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48,51%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48,41%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4" name="Shape 11"/>
          <p:cNvSpPr/>
          <p:nvPr/>
        </p:nvSpPr>
        <p:spPr>
          <a:xfrm>
            <a:off x="8001000" y="3584448"/>
            <a:ext cx="3550615" cy="2011680"/>
          </a:xfrm>
          <a:prstGeom prst="roundRect">
            <a:avLst>
              <a:gd name="adj" fmla="val 2727"/>
            </a:avLst>
          </a:prstGeom>
          <a:solidFill>
            <a:srgbClr val="ECE7DF"/>
          </a:solidFill>
          <a:ln w="9525">
            <a:solidFill>
              <a:srgbClr val="DCD8D1"/>
            </a:solidFill>
            <a:prstDash val="solid"/>
          </a:ln>
        </p:spPr>
      </p:sp>
      <p:sp>
        <p:nvSpPr>
          <p:cNvPr id="15" name="Text 12"/>
          <p:cNvSpPr/>
          <p:nvPr/>
        </p:nvSpPr>
        <p:spPr>
          <a:xfrm>
            <a:off x="8275320" y="3767328"/>
            <a:ext cx="3001975" cy="274320"/>
          </a:xfrm>
          <a:prstGeom prst="rect">
            <a:avLst/>
          </a:prstGeom>
          <a:noFill/>
          <a:ln/>
        </p:spPr>
        <p:txBody>
          <a:bodyPr wrap="square" lIns="0" tIns="0" rIns="0" bIns="0" rtlCol="0" anchor="ctr"/>
          <a:lstStyle/>
          <a:p>
            <a:pPr indent="0" marL="0">
              <a:buNone/>
            </a:pPr>
            <a:r>
              <a:rPr lang="en-US" sz="1350" b="1" dirty="0">
                <a:solidFill>
                  <a:srgbClr val="16191D"/>
                </a:solidFill>
                <a:latin typeface="Cambria" pitchFamily="34" charset="0"/>
                <a:ea typeface="Cambria" pitchFamily="34" charset="-122"/>
                <a:cs typeface="Cambria" pitchFamily="34" charset="-120"/>
              </a:rPr>
              <a:t>Kenapa tanpa imputasi</a:t>
            </a:r>
            <a:endParaRPr lang="en-US" sz="1350" dirty="0"/>
          </a:p>
        </p:txBody>
      </p:sp>
      <p:sp>
        <p:nvSpPr>
          <p:cNvPr id="16" name="Text 13"/>
          <p:cNvSpPr/>
          <p:nvPr/>
        </p:nvSpPr>
        <p:spPr>
          <a:xfrm>
            <a:off x="8275320" y="4096512"/>
            <a:ext cx="3001975" cy="1371600"/>
          </a:xfrm>
          <a:prstGeom prst="rect">
            <a:avLst/>
          </a:prstGeom>
          <a:noFill/>
          <a:ln/>
        </p:spPr>
        <p:txBody>
          <a:bodyPr wrap="square" lIns="0" tIns="0" rIns="0" bIns="0" rtlCol="0" anchor="t"/>
          <a:lstStyle/>
          <a:p>
            <a:pPr indent="0" marL="0">
              <a:lnSpc>
                <a:spcPts val="1550"/>
              </a:lnSpc>
              <a:buNone/>
            </a:pPr>
            <a:r>
              <a:rPr lang="en-US" sz="1150" dirty="0">
                <a:solidFill>
                  <a:srgbClr val="3A4048"/>
                </a:solidFill>
                <a:latin typeface="Calibri" pitchFamily="34" charset="0"/>
                <a:ea typeface="Calibri" pitchFamily="34" charset="-122"/>
                <a:cs typeface="Calibri" pitchFamily="34" charset="-120"/>
              </a:rPr>
              <a:t>LightGBM, XGBoost, dan CatBoost mempelajari sendiri arah cabang untuk nilai hilang. Mengganti dengan median justru menciptakan massa buatan di satu titik.</a:t>
            </a:r>
            <a:endParaRPr lang="en-US" sz="1150" dirty="0"/>
          </a:p>
          <a:p>
            <a:pPr indent="0" marL="0">
              <a:lnSpc>
                <a:spcPts val="1550"/>
              </a:lnSpc>
              <a:buNone/>
            </a:pPr>
            <a:endParaRPr lang="en-US" sz="1150" dirty="0"/>
          </a:p>
          <a:p>
            <a:pPr indent="0" marL="0">
              <a:lnSpc>
                <a:spcPts val="1550"/>
              </a:lnSpc>
              <a:buNone/>
            </a:pPr>
            <a:r>
              <a:rPr lang="en-US" sz="1150" dirty="0">
                <a:solidFill>
                  <a:srgbClr val="3A4048"/>
                </a:solidFill>
                <a:latin typeface="Calibri" pitchFamily="34" charset="0"/>
                <a:ea typeface="Calibri" pitchFamily="34" charset="-122"/>
                <a:cs typeface="Calibri" pitchFamily="34" charset="-120"/>
              </a:rPr>
              <a:t>Keputusan ini diuji lewat ablasi, bukan diasumsikan.</a:t>
            </a:r>
            <a:endParaRPr lang="en-US" sz="1150" dirty="0"/>
          </a:p>
        </p:txBody>
      </p:sp>
      <p:sp>
        <p:nvSpPr>
          <p:cNvPr id="18" name="Shape 14"/>
          <p:cNvSpPr/>
          <p:nvPr/>
        </p:nvSpPr>
        <p:spPr>
          <a:xfrm>
            <a:off x="640080" y="6400800"/>
            <a:ext cx="1572768" cy="45720"/>
          </a:xfrm>
          <a:prstGeom prst="rect">
            <a:avLst/>
          </a:prstGeom>
          <a:solidFill>
            <a:srgbClr val="DCD8D1"/>
          </a:solidFill>
          <a:ln/>
        </p:spPr>
      </p:sp>
      <p:sp>
        <p:nvSpPr>
          <p:cNvPr id="19" name="Text 1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0" name="Shape 16"/>
          <p:cNvSpPr/>
          <p:nvPr/>
        </p:nvSpPr>
        <p:spPr>
          <a:xfrm>
            <a:off x="2304288" y="6400800"/>
            <a:ext cx="1572768" cy="45720"/>
          </a:xfrm>
          <a:prstGeom prst="rect">
            <a:avLst/>
          </a:prstGeom>
          <a:solidFill>
            <a:srgbClr val="A8442A"/>
          </a:solidFill>
          <a:ln/>
        </p:spPr>
      </p:sp>
      <p:sp>
        <p:nvSpPr>
          <p:cNvPr id="21" name="Text 1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22" name="Shape 18"/>
          <p:cNvSpPr/>
          <p:nvPr/>
        </p:nvSpPr>
        <p:spPr>
          <a:xfrm>
            <a:off x="3968496" y="6400800"/>
            <a:ext cx="1572768" cy="45720"/>
          </a:xfrm>
          <a:prstGeom prst="rect">
            <a:avLst/>
          </a:prstGeom>
          <a:solidFill>
            <a:srgbClr val="DCD8D1"/>
          </a:solidFill>
          <a:ln/>
        </p:spPr>
      </p:sp>
      <p:sp>
        <p:nvSpPr>
          <p:cNvPr id="23" name="Text 1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4" name="Shape 20"/>
          <p:cNvSpPr/>
          <p:nvPr/>
        </p:nvSpPr>
        <p:spPr>
          <a:xfrm>
            <a:off x="5632704" y="6400800"/>
            <a:ext cx="1572768" cy="45720"/>
          </a:xfrm>
          <a:prstGeom prst="rect">
            <a:avLst/>
          </a:prstGeom>
          <a:solidFill>
            <a:srgbClr val="DCD8D1"/>
          </a:solidFill>
          <a:ln/>
        </p:spPr>
      </p:sp>
      <p:sp>
        <p:nvSpPr>
          <p:cNvPr id="25" name="Text 2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6" name="Shape 22"/>
          <p:cNvSpPr/>
          <p:nvPr/>
        </p:nvSpPr>
        <p:spPr>
          <a:xfrm>
            <a:off x="7296912" y="6400800"/>
            <a:ext cx="1572768" cy="45720"/>
          </a:xfrm>
          <a:prstGeom prst="rect">
            <a:avLst/>
          </a:prstGeom>
          <a:solidFill>
            <a:srgbClr val="DCD8D1"/>
          </a:solidFill>
          <a:ln/>
        </p:spPr>
      </p:sp>
      <p:sp>
        <p:nvSpPr>
          <p:cNvPr id="27" name="Text 2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8" name="Shape 24"/>
          <p:cNvSpPr/>
          <p:nvPr/>
        </p:nvSpPr>
        <p:spPr>
          <a:xfrm>
            <a:off x="8961120" y="6400800"/>
            <a:ext cx="1572768" cy="45720"/>
          </a:xfrm>
          <a:prstGeom prst="rect">
            <a:avLst/>
          </a:prstGeom>
          <a:solidFill>
            <a:srgbClr val="DCD8D1"/>
          </a:solidFill>
          <a:ln/>
        </p:spPr>
      </p:sp>
      <p:sp>
        <p:nvSpPr>
          <p:cNvPr id="29" name="Text 2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0" name="Text 2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Kode 7, 8, dan 9 bukan sampah. Kami biarkan apa adanya.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Menolak menjawab, tidak terjawab, dan tidak tahu ternyata punya rata-rata target sendiri.</a:t>
            </a:r>
            <a:endParaRPr lang="en-US" sz="1400" dirty="0"/>
          </a:p>
        </p:txBody>
      </p:sp>
      <p:sp>
        <p:nvSpPr>
          <p:cNvPr id="4" name="Shape 2"/>
          <p:cNvSpPr/>
          <p:nvPr/>
        </p:nvSpPr>
        <p:spPr>
          <a:xfrm>
            <a:off x="640080" y="2231136"/>
            <a:ext cx="5257800" cy="3017520"/>
          </a:xfrm>
          <a:prstGeom prst="roundRect">
            <a:avLst>
              <a:gd name="adj" fmla="val 1818"/>
            </a:avLst>
          </a:prstGeom>
          <a:solidFill>
            <a:srgbClr val="FFFFFF"/>
          </a:solidFill>
          <a:ln w="9525">
            <a:solidFill>
              <a:srgbClr val="DCD8D1"/>
            </a:solidFill>
            <a:prstDash val="solid"/>
          </a:ln>
        </p:spPr>
      </p:sp>
      <p:sp>
        <p:nvSpPr>
          <p:cNvPr id="5" name="Text 3"/>
          <p:cNvSpPr/>
          <p:nvPr/>
        </p:nvSpPr>
        <p:spPr>
          <a:xfrm>
            <a:off x="950976" y="2395728"/>
            <a:ext cx="4636008" cy="274320"/>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Sebaran kode khusus</a:t>
            </a:r>
            <a:endParaRPr lang="en-US" sz="1400" dirty="0"/>
          </a:p>
        </p:txBody>
      </p:sp>
      <p:sp>
        <p:nvSpPr>
          <p:cNvPr id="6" name="Text 4"/>
          <p:cNvSpPr/>
          <p:nvPr/>
        </p:nvSpPr>
        <p:spPr>
          <a:xfrm>
            <a:off x="950976" y="2743200"/>
            <a:ext cx="4636008" cy="457200"/>
          </a:xfrm>
          <a:prstGeom prst="rect">
            <a:avLst/>
          </a:prstGeom>
          <a:noFill/>
          <a:ln/>
        </p:spPr>
        <p:txBody>
          <a:bodyPr wrap="square" lIns="0" tIns="0" rIns="0" bIns="0" rtlCol="0" anchor="b"/>
          <a:lstStyle/>
          <a:p>
            <a:pPr algn="l" indent="0" marL="0">
              <a:buNone/>
            </a:pPr>
            <a:r>
              <a:rPr lang="en-US" sz="2600" b="1" dirty="0">
                <a:solidFill>
                  <a:srgbClr val="16191D"/>
                </a:solidFill>
                <a:latin typeface="Cambria" pitchFamily="34" charset="0"/>
                <a:ea typeface="Cambria" pitchFamily="34" charset="-122"/>
                <a:cs typeface="Cambria" pitchFamily="34" charset="-120"/>
              </a:rPr>
              <a:t>84 kolom</a:t>
            </a:r>
            <a:endParaRPr lang="en-US" sz="2600" dirty="0"/>
          </a:p>
        </p:txBody>
      </p:sp>
      <p:sp>
        <p:nvSpPr>
          <p:cNvPr id="7" name="Text 5"/>
          <p:cNvSpPr/>
          <p:nvPr/>
        </p:nvSpPr>
        <p:spPr>
          <a:xfrm>
            <a:off x="950976" y="3236976"/>
            <a:ext cx="4636008"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Kolom biner Ya/Tidak yang memuat kode 7, 8, atau 9</a:t>
            </a:r>
            <a:endParaRPr lang="en-US" sz="1100" dirty="0"/>
          </a:p>
        </p:txBody>
      </p:sp>
      <p:sp>
        <p:nvSpPr>
          <p:cNvPr id="8" name="Text 6"/>
          <p:cNvSpPr/>
          <p:nvPr/>
        </p:nvSpPr>
        <p:spPr>
          <a:xfrm>
            <a:off x="950976" y="3840480"/>
            <a:ext cx="2874325"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insurance_has_deductible_plan1</a:t>
            </a:r>
            <a:endParaRPr lang="en-US" sz="1100" dirty="0"/>
          </a:p>
        </p:txBody>
      </p:sp>
      <p:sp>
        <p:nvSpPr>
          <p:cNvPr id="9" name="Text 7"/>
          <p:cNvSpPr/>
          <p:nvPr/>
        </p:nvSpPr>
        <p:spPr>
          <a:xfrm>
            <a:off x="3825301" y="3840480"/>
            <a:ext cx="1761683"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8,12%</a:t>
            </a:r>
            <a:endParaRPr lang="en-US" sz="1100" dirty="0"/>
          </a:p>
        </p:txBody>
      </p:sp>
      <p:sp>
        <p:nvSpPr>
          <p:cNvPr id="10" name="Shape 8"/>
          <p:cNvSpPr/>
          <p:nvPr/>
        </p:nvSpPr>
        <p:spPr>
          <a:xfrm>
            <a:off x="950976" y="4169664"/>
            <a:ext cx="4636008" cy="0"/>
          </a:xfrm>
          <a:prstGeom prst="line">
            <a:avLst/>
          </a:prstGeom>
          <a:noFill/>
          <a:ln w="7620">
            <a:solidFill>
              <a:srgbClr val="DCD8D1"/>
            </a:solidFill>
            <a:prstDash val="solid"/>
          </a:ln>
        </p:spPr>
      </p:sp>
      <p:sp>
        <p:nvSpPr>
          <p:cNvPr id="11" name="Text 9"/>
          <p:cNvSpPr/>
          <p:nvPr/>
        </p:nvSpPr>
        <p:spPr>
          <a:xfrm>
            <a:off x="950976" y="4169664"/>
            <a:ext cx="2874325"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insurance_covers_vision_plan1</a:t>
            </a:r>
            <a:endParaRPr lang="en-US" sz="1100" dirty="0"/>
          </a:p>
        </p:txBody>
      </p:sp>
      <p:sp>
        <p:nvSpPr>
          <p:cNvPr id="12" name="Text 10"/>
          <p:cNvSpPr/>
          <p:nvPr/>
        </p:nvSpPr>
        <p:spPr>
          <a:xfrm>
            <a:off x="3825301" y="4169664"/>
            <a:ext cx="1761683"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7,11%</a:t>
            </a:r>
            <a:endParaRPr lang="en-US" sz="1100" dirty="0"/>
          </a:p>
        </p:txBody>
      </p:sp>
      <p:sp>
        <p:nvSpPr>
          <p:cNvPr id="13" name="Shape 11"/>
          <p:cNvSpPr/>
          <p:nvPr/>
        </p:nvSpPr>
        <p:spPr>
          <a:xfrm>
            <a:off x="950976" y="4498848"/>
            <a:ext cx="4636008" cy="0"/>
          </a:xfrm>
          <a:prstGeom prst="line">
            <a:avLst/>
          </a:prstGeom>
          <a:noFill/>
          <a:ln w="7620">
            <a:solidFill>
              <a:srgbClr val="DCD8D1"/>
            </a:solidFill>
            <a:prstDash val="solid"/>
          </a:ln>
        </p:spPr>
      </p:sp>
      <p:sp>
        <p:nvSpPr>
          <p:cNvPr id="14" name="Text 12"/>
          <p:cNvSpPr/>
          <p:nvPr/>
        </p:nvSpPr>
        <p:spPr>
          <a:xfrm>
            <a:off x="950976" y="4498848"/>
            <a:ext cx="2874325"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insurance_covers_dental_plan1</a:t>
            </a:r>
            <a:endParaRPr lang="en-US" sz="1100" dirty="0"/>
          </a:p>
        </p:txBody>
      </p:sp>
      <p:sp>
        <p:nvSpPr>
          <p:cNvPr id="15" name="Text 13"/>
          <p:cNvSpPr/>
          <p:nvPr/>
        </p:nvSpPr>
        <p:spPr>
          <a:xfrm>
            <a:off x="3825301" y="4498848"/>
            <a:ext cx="1761683"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6,13%</a:t>
            </a:r>
            <a:endParaRPr lang="en-US" sz="1100" dirty="0"/>
          </a:p>
        </p:txBody>
      </p:sp>
      <p:sp>
        <p:nvSpPr>
          <p:cNvPr id="16" name="Shape 14"/>
          <p:cNvSpPr/>
          <p:nvPr/>
        </p:nvSpPr>
        <p:spPr>
          <a:xfrm>
            <a:off x="950976" y="4828032"/>
            <a:ext cx="4636008" cy="0"/>
          </a:xfrm>
          <a:prstGeom prst="line">
            <a:avLst/>
          </a:prstGeom>
          <a:noFill/>
          <a:ln w="7620">
            <a:solidFill>
              <a:srgbClr val="DCD8D1"/>
            </a:solidFill>
            <a:prstDash val="solid"/>
          </a:ln>
        </p:spPr>
      </p:sp>
      <p:sp>
        <p:nvSpPr>
          <p:cNvPr id="17" name="Text 15"/>
          <p:cNvSpPr/>
          <p:nvPr/>
        </p:nvSpPr>
        <p:spPr>
          <a:xfrm>
            <a:off x="950976" y="4828032"/>
            <a:ext cx="2874325"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has_investment_income</a:t>
            </a:r>
            <a:endParaRPr lang="en-US" sz="1100" dirty="0"/>
          </a:p>
        </p:txBody>
      </p:sp>
      <p:sp>
        <p:nvSpPr>
          <p:cNvPr id="18" name="Text 16"/>
          <p:cNvSpPr/>
          <p:nvPr/>
        </p:nvSpPr>
        <p:spPr>
          <a:xfrm>
            <a:off x="3825301" y="4828032"/>
            <a:ext cx="1761683"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5,80%</a:t>
            </a:r>
            <a:endParaRPr lang="en-US" sz="1100" dirty="0"/>
          </a:p>
        </p:txBody>
      </p:sp>
      <p:sp>
        <p:nvSpPr>
          <p:cNvPr id="19" name="Shape 17"/>
          <p:cNvSpPr/>
          <p:nvPr/>
        </p:nvSpPr>
        <p:spPr>
          <a:xfrm>
            <a:off x="6281928" y="2231136"/>
            <a:ext cx="5257800" cy="3017520"/>
          </a:xfrm>
          <a:prstGeom prst="roundRect">
            <a:avLst>
              <a:gd name="adj" fmla="val 1818"/>
            </a:avLst>
          </a:prstGeom>
          <a:solidFill>
            <a:srgbClr val="F4F1EC"/>
          </a:solidFill>
          <a:ln w="9525">
            <a:solidFill>
              <a:srgbClr val="DCD8D1"/>
            </a:solidFill>
            <a:prstDash val="solid"/>
          </a:ln>
        </p:spPr>
      </p:sp>
      <p:sp>
        <p:nvSpPr>
          <p:cNvPr id="20" name="Text 18"/>
          <p:cNvSpPr/>
          <p:nvPr/>
        </p:nvSpPr>
        <p:spPr>
          <a:xfrm>
            <a:off x="6592824" y="2395728"/>
            <a:ext cx="4636008" cy="274320"/>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Rata-rata target menurut general_health_status</a:t>
            </a:r>
            <a:endParaRPr lang="en-US" sz="1400" dirty="0"/>
          </a:p>
        </p:txBody>
      </p:sp>
      <p:sp>
        <p:nvSpPr>
          <p:cNvPr id="21" name="Text 19"/>
          <p:cNvSpPr/>
          <p:nvPr/>
        </p:nvSpPr>
        <p:spPr>
          <a:xfrm>
            <a:off x="6592824" y="2798064"/>
            <a:ext cx="1737360"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1  Sangat baik</a:t>
            </a:r>
            <a:endParaRPr lang="en-US" sz="1100" dirty="0"/>
          </a:p>
        </p:txBody>
      </p:sp>
      <p:sp>
        <p:nvSpPr>
          <p:cNvPr id="22" name="Shape 20"/>
          <p:cNvSpPr/>
          <p:nvPr/>
        </p:nvSpPr>
        <p:spPr>
          <a:xfrm>
            <a:off x="8385048" y="2852928"/>
            <a:ext cx="2103120" cy="219456"/>
          </a:xfrm>
          <a:prstGeom prst="rect">
            <a:avLst/>
          </a:prstGeom>
          <a:solidFill>
            <a:srgbClr val="FFFFFF"/>
          </a:solidFill>
          <a:ln w="7620">
            <a:solidFill>
              <a:srgbClr val="DCD8D1"/>
            </a:solidFill>
            <a:prstDash val="solid"/>
          </a:ln>
        </p:spPr>
      </p:sp>
      <p:sp>
        <p:nvSpPr>
          <p:cNvPr id="23" name="Shape 21"/>
          <p:cNvSpPr/>
          <p:nvPr/>
        </p:nvSpPr>
        <p:spPr>
          <a:xfrm>
            <a:off x="8385048" y="2852928"/>
            <a:ext cx="233096" cy="219456"/>
          </a:xfrm>
          <a:prstGeom prst="rect">
            <a:avLst/>
          </a:prstGeom>
          <a:solidFill>
            <a:srgbClr val="2F6B5F"/>
          </a:solidFill>
          <a:ln/>
        </p:spPr>
      </p:sp>
      <p:sp>
        <p:nvSpPr>
          <p:cNvPr id="24" name="Text 22"/>
          <p:cNvSpPr/>
          <p:nvPr/>
        </p:nvSpPr>
        <p:spPr>
          <a:xfrm>
            <a:off x="10579608" y="2798064"/>
            <a:ext cx="82296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1,333</a:t>
            </a:r>
            <a:endParaRPr lang="en-US" sz="1100" dirty="0"/>
          </a:p>
        </p:txBody>
      </p:sp>
      <p:sp>
        <p:nvSpPr>
          <p:cNvPr id="25" name="Text 23"/>
          <p:cNvSpPr/>
          <p:nvPr/>
        </p:nvSpPr>
        <p:spPr>
          <a:xfrm>
            <a:off x="6592824" y="3255264"/>
            <a:ext cx="1737360"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2  Baik</a:t>
            </a:r>
            <a:endParaRPr lang="en-US" sz="1100" dirty="0"/>
          </a:p>
        </p:txBody>
      </p:sp>
      <p:sp>
        <p:nvSpPr>
          <p:cNvPr id="26" name="Shape 24"/>
          <p:cNvSpPr/>
          <p:nvPr/>
        </p:nvSpPr>
        <p:spPr>
          <a:xfrm>
            <a:off x="8385048" y="3310128"/>
            <a:ext cx="2103120" cy="219456"/>
          </a:xfrm>
          <a:prstGeom prst="rect">
            <a:avLst/>
          </a:prstGeom>
          <a:solidFill>
            <a:srgbClr val="FFFFFF"/>
          </a:solidFill>
          <a:ln w="7620">
            <a:solidFill>
              <a:srgbClr val="DCD8D1"/>
            </a:solidFill>
            <a:prstDash val="solid"/>
          </a:ln>
        </p:spPr>
      </p:sp>
      <p:sp>
        <p:nvSpPr>
          <p:cNvPr id="27" name="Shape 25"/>
          <p:cNvSpPr/>
          <p:nvPr/>
        </p:nvSpPr>
        <p:spPr>
          <a:xfrm>
            <a:off x="8385048" y="3310128"/>
            <a:ext cx="513512" cy="219456"/>
          </a:xfrm>
          <a:prstGeom prst="rect">
            <a:avLst/>
          </a:prstGeom>
          <a:solidFill>
            <a:srgbClr val="8FB0A4"/>
          </a:solidFill>
          <a:ln/>
        </p:spPr>
      </p:sp>
      <p:sp>
        <p:nvSpPr>
          <p:cNvPr id="28" name="Text 26"/>
          <p:cNvSpPr/>
          <p:nvPr/>
        </p:nvSpPr>
        <p:spPr>
          <a:xfrm>
            <a:off x="10579608" y="3255264"/>
            <a:ext cx="82296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1,493</a:t>
            </a:r>
            <a:endParaRPr lang="en-US" sz="1100" dirty="0"/>
          </a:p>
        </p:txBody>
      </p:sp>
      <p:sp>
        <p:nvSpPr>
          <p:cNvPr id="29" name="Text 27"/>
          <p:cNvSpPr/>
          <p:nvPr/>
        </p:nvSpPr>
        <p:spPr>
          <a:xfrm>
            <a:off x="6592824" y="3712464"/>
            <a:ext cx="1737360"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3  Cukup</a:t>
            </a:r>
            <a:endParaRPr lang="en-US" sz="1100" dirty="0"/>
          </a:p>
        </p:txBody>
      </p:sp>
      <p:sp>
        <p:nvSpPr>
          <p:cNvPr id="30" name="Shape 28"/>
          <p:cNvSpPr/>
          <p:nvPr/>
        </p:nvSpPr>
        <p:spPr>
          <a:xfrm>
            <a:off x="8385048" y="3767328"/>
            <a:ext cx="2103120" cy="219456"/>
          </a:xfrm>
          <a:prstGeom prst="rect">
            <a:avLst/>
          </a:prstGeom>
          <a:solidFill>
            <a:srgbClr val="FFFFFF"/>
          </a:solidFill>
          <a:ln w="7620">
            <a:solidFill>
              <a:srgbClr val="DCD8D1"/>
            </a:solidFill>
            <a:prstDash val="solid"/>
          </a:ln>
        </p:spPr>
      </p:sp>
      <p:sp>
        <p:nvSpPr>
          <p:cNvPr id="31" name="Shape 29"/>
          <p:cNvSpPr/>
          <p:nvPr/>
        </p:nvSpPr>
        <p:spPr>
          <a:xfrm>
            <a:off x="8385048" y="3767328"/>
            <a:ext cx="907847" cy="219456"/>
          </a:xfrm>
          <a:prstGeom prst="rect">
            <a:avLst/>
          </a:prstGeom>
          <a:solidFill>
            <a:srgbClr val="D8A25E"/>
          </a:solidFill>
          <a:ln/>
        </p:spPr>
      </p:sp>
      <p:sp>
        <p:nvSpPr>
          <p:cNvPr id="32" name="Text 30"/>
          <p:cNvSpPr/>
          <p:nvPr/>
        </p:nvSpPr>
        <p:spPr>
          <a:xfrm>
            <a:off x="10579608" y="3712464"/>
            <a:ext cx="82296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1,718</a:t>
            </a:r>
            <a:endParaRPr lang="en-US" sz="1100" dirty="0"/>
          </a:p>
        </p:txBody>
      </p:sp>
      <p:sp>
        <p:nvSpPr>
          <p:cNvPr id="33" name="Text 31"/>
          <p:cNvSpPr/>
          <p:nvPr/>
        </p:nvSpPr>
        <p:spPr>
          <a:xfrm>
            <a:off x="6592824" y="4169664"/>
            <a:ext cx="1737360"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4  Kurang</a:t>
            </a:r>
            <a:endParaRPr lang="en-US" sz="1100" dirty="0"/>
          </a:p>
        </p:txBody>
      </p:sp>
      <p:sp>
        <p:nvSpPr>
          <p:cNvPr id="34" name="Shape 32"/>
          <p:cNvSpPr/>
          <p:nvPr/>
        </p:nvSpPr>
        <p:spPr>
          <a:xfrm>
            <a:off x="8385048" y="4224528"/>
            <a:ext cx="2103120" cy="219456"/>
          </a:xfrm>
          <a:prstGeom prst="rect">
            <a:avLst/>
          </a:prstGeom>
          <a:solidFill>
            <a:srgbClr val="FFFFFF"/>
          </a:solidFill>
          <a:ln w="7620">
            <a:solidFill>
              <a:srgbClr val="DCD8D1"/>
            </a:solidFill>
            <a:prstDash val="solid"/>
          </a:ln>
        </p:spPr>
      </p:sp>
      <p:sp>
        <p:nvSpPr>
          <p:cNvPr id="35" name="Shape 33"/>
          <p:cNvSpPr/>
          <p:nvPr/>
        </p:nvSpPr>
        <p:spPr>
          <a:xfrm>
            <a:off x="8385048" y="4224528"/>
            <a:ext cx="1265377" cy="219456"/>
          </a:xfrm>
          <a:prstGeom prst="rect">
            <a:avLst/>
          </a:prstGeom>
          <a:solidFill>
            <a:srgbClr val="A8442A"/>
          </a:solidFill>
          <a:ln/>
        </p:spPr>
      </p:sp>
      <p:sp>
        <p:nvSpPr>
          <p:cNvPr id="36" name="Text 34"/>
          <p:cNvSpPr/>
          <p:nvPr/>
        </p:nvSpPr>
        <p:spPr>
          <a:xfrm>
            <a:off x="10579608" y="4169664"/>
            <a:ext cx="82296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1,922</a:t>
            </a:r>
            <a:endParaRPr lang="en-US" sz="1100" dirty="0"/>
          </a:p>
        </p:txBody>
      </p:sp>
      <p:sp>
        <p:nvSpPr>
          <p:cNvPr id="37" name="Text 35"/>
          <p:cNvSpPr/>
          <p:nvPr/>
        </p:nvSpPr>
        <p:spPr>
          <a:xfrm>
            <a:off x="6592824" y="4626864"/>
            <a:ext cx="1737360"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5  Buruk</a:t>
            </a:r>
            <a:endParaRPr lang="en-US" sz="1100" dirty="0"/>
          </a:p>
        </p:txBody>
      </p:sp>
      <p:sp>
        <p:nvSpPr>
          <p:cNvPr id="38" name="Shape 36"/>
          <p:cNvSpPr/>
          <p:nvPr/>
        </p:nvSpPr>
        <p:spPr>
          <a:xfrm>
            <a:off x="8385048" y="4681728"/>
            <a:ext cx="2103120" cy="219456"/>
          </a:xfrm>
          <a:prstGeom prst="rect">
            <a:avLst/>
          </a:prstGeom>
          <a:solidFill>
            <a:srgbClr val="FFFFFF"/>
          </a:solidFill>
          <a:ln w="7620">
            <a:solidFill>
              <a:srgbClr val="DCD8D1"/>
            </a:solidFill>
            <a:prstDash val="solid"/>
          </a:ln>
        </p:spPr>
      </p:sp>
      <p:sp>
        <p:nvSpPr>
          <p:cNvPr id="39" name="Shape 37"/>
          <p:cNvSpPr/>
          <p:nvPr/>
        </p:nvSpPr>
        <p:spPr>
          <a:xfrm>
            <a:off x="8385048" y="4681728"/>
            <a:ext cx="1912087" cy="219456"/>
          </a:xfrm>
          <a:prstGeom prst="rect">
            <a:avLst/>
          </a:prstGeom>
          <a:solidFill>
            <a:srgbClr val="A8442A"/>
          </a:solidFill>
          <a:ln/>
        </p:spPr>
      </p:sp>
      <p:sp>
        <p:nvSpPr>
          <p:cNvPr id="40" name="Text 38"/>
          <p:cNvSpPr/>
          <p:nvPr/>
        </p:nvSpPr>
        <p:spPr>
          <a:xfrm>
            <a:off x="10579608" y="4626864"/>
            <a:ext cx="82296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2,291</a:t>
            </a:r>
            <a:endParaRPr lang="en-US" sz="1100" dirty="0"/>
          </a:p>
        </p:txBody>
      </p:sp>
      <p:sp>
        <p:nvSpPr>
          <p:cNvPr id="41" name="Text 39"/>
          <p:cNvSpPr/>
          <p:nvPr/>
        </p:nvSpPr>
        <p:spPr>
          <a:xfrm>
            <a:off x="6592824" y="4864608"/>
            <a:ext cx="4636008" cy="310896"/>
          </a:xfrm>
          <a:prstGeom prst="rect">
            <a:avLst/>
          </a:prstGeom>
          <a:noFill/>
          <a:ln/>
        </p:spPr>
        <p:txBody>
          <a:bodyPr wrap="square" lIns="0" tIns="0" rIns="0" bIns="0" rtlCol="0" anchor="ctr"/>
          <a:lstStyle/>
          <a:p>
            <a:pPr algn="l" indent="0" marL="0">
              <a:buNone/>
            </a:pPr>
            <a:r>
              <a:rPr lang="en-US" sz="1100" i="1" dirty="0">
                <a:solidFill>
                  <a:srgbClr val="6E747C"/>
                </a:solidFill>
                <a:latin typeface="Calibri" pitchFamily="34" charset="0"/>
                <a:ea typeface="Calibri" pitchFamily="34" charset="-122"/>
                <a:cs typeface="Calibri" pitchFamily="34" charset="-120"/>
              </a:rPr>
              <a:t>Monoton naik di seluruh lima tingkat. Sinyalnya nyata.</a:t>
            </a:r>
            <a:endParaRPr lang="en-US" sz="1100" dirty="0"/>
          </a:p>
        </p:txBody>
      </p:sp>
      <p:sp>
        <p:nvSpPr>
          <p:cNvPr id="42" name="Text 40"/>
          <p:cNvSpPr/>
          <p:nvPr/>
        </p:nvSpPr>
        <p:spPr>
          <a:xfrm>
            <a:off x="640080" y="5440680"/>
            <a:ext cx="10911535" cy="457200"/>
          </a:xfrm>
          <a:prstGeom prst="rect">
            <a:avLst/>
          </a:prstGeom>
          <a:noFill/>
          <a:ln/>
        </p:spPr>
        <p:txBody>
          <a:bodyPr wrap="square" lIns="0" tIns="0" rIns="0" bIns="0" rtlCol="0" anchor="ctr"/>
          <a:lstStyle/>
          <a:p>
            <a:pPr indent="0" marL="0">
              <a:buNone/>
            </a:pPr>
            <a:r>
              <a:rPr lang="en-US" sz="1250" b="1" dirty="0">
                <a:solidFill>
                  <a:srgbClr val="A8442A"/>
                </a:solidFill>
                <a:latin typeface="Calibri" pitchFamily="34" charset="0"/>
                <a:ea typeface="Calibri" pitchFamily="34" charset="-122"/>
                <a:cs typeface="Calibri" pitchFamily="34" charset="-120"/>
              </a:rPr>
              <a:t>Implikasi desain. </a:t>
            </a:r>
            <a:pPr indent="0" marL="0">
              <a:buNone/>
            </a:pPr>
            <a:r>
              <a:rPr lang="en-US" sz="1250" dirty="0">
                <a:solidFill>
                  <a:srgbClr val="3A4048"/>
                </a:solidFill>
                <a:latin typeface="Calibri" pitchFamily="34" charset="0"/>
                <a:ea typeface="Calibri" pitchFamily="34" charset="-122"/>
                <a:cs typeface="Calibri" pitchFamily="34" charset="-120"/>
              </a:rPr>
              <a:t>Model pohon dapat mengisolasi kode ini sebagai cabang tersendiri. Mengubahnya menjadi NaN diuji di ablasi dan tidak memberi perbaikan.</a:t>
            </a:r>
            <a:endParaRPr lang="en-US" sz="1250" dirty="0"/>
          </a:p>
        </p:txBody>
      </p:sp>
      <p:sp>
        <p:nvSpPr>
          <p:cNvPr id="44" name="Shape 41"/>
          <p:cNvSpPr/>
          <p:nvPr/>
        </p:nvSpPr>
        <p:spPr>
          <a:xfrm>
            <a:off x="640080" y="6400800"/>
            <a:ext cx="1572768" cy="45720"/>
          </a:xfrm>
          <a:prstGeom prst="rect">
            <a:avLst/>
          </a:prstGeom>
          <a:solidFill>
            <a:srgbClr val="DCD8D1"/>
          </a:solidFill>
          <a:ln/>
        </p:spPr>
      </p:sp>
      <p:sp>
        <p:nvSpPr>
          <p:cNvPr id="45" name="Text 4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46" name="Shape 43"/>
          <p:cNvSpPr/>
          <p:nvPr/>
        </p:nvSpPr>
        <p:spPr>
          <a:xfrm>
            <a:off x="2304288" y="6400800"/>
            <a:ext cx="1572768" cy="45720"/>
          </a:xfrm>
          <a:prstGeom prst="rect">
            <a:avLst/>
          </a:prstGeom>
          <a:solidFill>
            <a:srgbClr val="A8442A"/>
          </a:solidFill>
          <a:ln/>
        </p:spPr>
      </p:sp>
      <p:sp>
        <p:nvSpPr>
          <p:cNvPr id="47" name="Text 4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48" name="Shape 45"/>
          <p:cNvSpPr/>
          <p:nvPr/>
        </p:nvSpPr>
        <p:spPr>
          <a:xfrm>
            <a:off x="3968496" y="6400800"/>
            <a:ext cx="1572768" cy="45720"/>
          </a:xfrm>
          <a:prstGeom prst="rect">
            <a:avLst/>
          </a:prstGeom>
          <a:solidFill>
            <a:srgbClr val="DCD8D1"/>
          </a:solidFill>
          <a:ln/>
        </p:spPr>
      </p:sp>
      <p:sp>
        <p:nvSpPr>
          <p:cNvPr id="49" name="Text 4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50" name="Shape 47"/>
          <p:cNvSpPr/>
          <p:nvPr/>
        </p:nvSpPr>
        <p:spPr>
          <a:xfrm>
            <a:off x="5632704" y="6400800"/>
            <a:ext cx="1572768" cy="45720"/>
          </a:xfrm>
          <a:prstGeom prst="rect">
            <a:avLst/>
          </a:prstGeom>
          <a:solidFill>
            <a:srgbClr val="DCD8D1"/>
          </a:solidFill>
          <a:ln/>
        </p:spPr>
      </p:sp>
      <p:sp>
        <p:nvSpPr>
          <p:cNvPr id="51" name="Text 4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52" name="Shape 49"/>
          <p:cNvSpPr/>
          <p:nvPr/>
        </p:nvSpPr>
        <p:spPr>
          <a:xfrm>
            <a:off x="7296912" y="6400800"/>
            <a:ext cx="1572768" cy="45720"/>
          </a:xfrm>
          <a:prstGeom prst="rect">
            <a:avLst/>
          </a:prstGeom>
          <a:solidFill>
            <a:srgbClr val="DCD8D1"/>
          </a:solidFill>
          <a:ln/>
        </p:spPr>
      </p:sp>
      <p:sp>
        <p:nvSpPr>
          <p:cNvPr id="53" name="Text 5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54" name="Shape 51"/>
          <p:cNvSpPr/>
          <p:nvPr/>
        </p:nvSpPr>
        <p:spPr>
          <a:xfrm>
            <a:off x="8961120" y="6400800"/>
            <a:ext cx="1572768" cy="45720"/>
          </a:xfrm>
          <a:prstGeom prst="rect">
            <a:avLst/>
          </a:prstGeom>
          <a:solidFill>
            <a:srgbClr val="DCD8D1"/>
          </a:solidFill>
          <a:ln/>
        </p:spPr>
      </p:sp>
      <p:sp>
        <p:nvSpPr>
          <p:cNvPr id="55" name="Text 5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56" name="Text 5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Prediktor terkuatnya monoton. Itu yang membenarkan perlakuan ordinal.</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Rentang rata-rata target antar tingkat, untuk tujuh variabel teratas.</a:t>
            </a:r>
            <a:endParaRPr lang="en-US" sz="1400" dirty="0"/>
          </a:p>
        </p:txBody>
      </p:sp>
      <p:sp>
        <p:nvSpPr>
          <p:cNvPr id="4" name="Text 2"/>
          <p:cNvSpPr/>
          <p:nvPr/>
        </p:nvSpPr>
        <p:spPr>
          <a:xfrm>
            <a:off x="640080" y="2240280"/>
            <a:ext cx="301752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general_health_status</a:t>
            </a:r>
            <a:endParaRPr lang="en-US" sz="1100" dirty="0"/>
          </a:p>
        </p:txBody>
      </p:sp>
      <p:sp>
        <p:nvSpPr>
          <p:cNvPr id="5" name="Shape 3"/>
          <p:cNvSpPr/>
          <p:nvPr/>
        </p:nvSpPr>
        <p:spPr>
          <a:xfrm>
            <a:off x="3767328" y="2304288"/>
            <a:ext cx="3712464" cy="201168"/>
          </a:xfrm>
          <a:prstGeom prst="rect">
            <a:avLst/>
          </a:prstGeom>
          <a:solidFill>
            <a:srgbClr val="F4F1EC"/>
          </a:solidFill>
          <a:ln/>
        </p:spPr>
      </p:sp>
      <p:sp>
        <p:nvSpPr>
          <p:cNvPr id="6" name="Shape 4"/>
          <p:cNvSpPr/>
          <p:nvPr/>
        </p:nvSpPr>
        <p:spPr>
          <a:xfrm>
            <a:off x="3767328" y="2304288"/>
            <a:ext cx="3559510" cy="201168"/>
          </a:xfrm>
          <a:prstGeom prst="rect">
            <a:avLst/>
          </a:prstGeom>
          <a:solidFill>
            <a:srgbClr val="2F6B5F"/>
          </a:solidFill>
          <a:ln/>
        </p:spPr>
      </p:sp>
      <p:sp>
        <p:nvSpPr>
          <p:cNvPr id="7" name="Text 5"/>
          <p:cNvSpPr/>
          <p:nvPr/>
        </p:nvSpPr>
        <p:spPr>
          <a:xfrm>
            <a:off x="7571232" y="2240280"/>
            <a:ext cx="822960" cy="329184"/>
          </a:xfrm>
          <a:prstGeom prst="rect">
            <a:avLst/>
          </a:prstGeom>
          <a:noFill/>
          <a:ln/>
        </p:spPr>
        <p:txBody>
          <a:bodyPr wrap="square" lIns="0" tIns="0" rIns="0" bIns="0" rtlCol="0" anchor="ctr"/>
          <a:lstStyle/>
          <a:p>
            <a:pPr algn="l" indent="0" marL="0">
              <a:buNone/>
            </a:pPr>
            <a:r>
              <a:rPr lang="en-US" sz="1100" b="1" dirty="0">
                <a:solidFill>
                  <a:srgbClr val="2F6B5F"/>
                </a:solidFill>
                <a:latin typeface="Calibri" pitchFamily="34" charset="0"/>
                <a:ea typeface="Calibri" pitchFamily="34" charset="-122"/>
                <a:cs typeface="Calibri" pitchFamily="34" charset="-120"/>
              </a:rPr>
              <a:t>0,9588</a:t>
            </a:r>
            <a:endParaRPr lang="en-US" sz="1100" dirty="0"/>
          </a:p>
        </p:txBody>
      </p:sp>
      <p:sp>
        <p:nvSpPr>
          <p:cNvPr id="8" name="Text 6"/>
          <p:cNvSpPr/>
          <p:nvPr/>
        </p:nvSpPr>
        <p:spPr>
          <a:xfrm>
            <a:off x="640080" y="2642616"/>
            <a:ext cx="3017520"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depression_frequency</a:t>
            </a:r>
            <a:endParaRPr lang="en-US" sz="1100" dirty="0"/>
          </a:p>
        </p:txBody>
      </p:sp>
      <p:sp>
        <p:nvSpPr>
          <p:cNvPr id="9" name="Shape 7"/>
          <p:cNvSpPr/>
          <p:nvPr/>
        </p:nvSpPr>
        <p:spPr>
          <a:xfrm>
            <a:off x="3767328" y="2706624"/>
            <a:ext cx="3712464" cy="201168"/>
          </a:xfrm>
          <a:prstGeom prst="rect">
            <a:avLst/>
          </a:prstGeom>
          <a:solidFill>
            <a:srgbClr val="F4F1EC"/>
          </a:solidFill>
          <a:ln/>
        </p:spPr>
      </p:sp>
      <p:sp>
        <p:nvSpPr>
          <p:cNvPr id="10" name="Shape 8"/>
          <p:cNvSpPr/>
          <p:nvPr/>
        </p:nvSpPr>
        <p:spPr>
          <a:xfrm>
            <a:off x="3767328" y="2706624"/>
            <a:ext cx="3325625" cy="201168"/>
          </a:xfrm>
          <a:prstGeom prst="rect">
            <a:avLst/>
          </a:prstGeom>
          <a:solidFill>
            <a:srgbClr val="2F6B5F"/>
          </a:solidFill>
          <a:ln/>
        </p:spPr>
      </p:sp>
      <p:sp>
        <p:nvSpPr>
          <p:cNvPr id="11" name="Text 9"/>
          <p:cNvSpPr/>
          <p:nvPr/>
        </p:nvSpPr>
        <p:spPr>
          <a:xfrm>
            <a:off x="7571232" y="2642616"/>
            <a:ext cx="822960" cy="329184"/>
          </a:xfrm>
          <a:prstGeom prst="rect">
            <a:avLst/>
          </a:prstGeom>
          <a:noFill/>
          <a:ln/>
        </p:spPr>
        <p:txBody>
          <a:bodyPr wrap="square" lIns="0" tIns="0" rIns="0" bIns="0" rtlCol="0" anchor="ctr"/>
          <a:lstStyle/>
          <a:p>
            <a:pPr algn="l" indent="0" marL="0">
              <a:buNone/>
            </a:pPr>
            <a:r>
              <a:rPr lang="en-US" sz="1100" b="1" dirty="0">
                <a:solidFill>
                  <a:srgbClr val="2F6B5F"/>
                </a:solidFill>
                <a:latin typeface="Calibri" pitchFamily="34" charset="0"/>
                <a:ea typeface="Calibri" pitchFamily="34" charset="-122"/>
                <a:cs typeface="Calibri" pitchFamily="34" charset="-120"/>
              </a:rPr>
              <a:t>0,8958</a:t>
            </a:r>
            <a:endParaRPr lang="en-US" sz="1100" dirty="0"/>
          </a:p>
        </p:txBody>
      </p:sp>
      <p:sp>
        <p:nvSpPr>
          <p:cNvPr id="12" name="Text 10"/>
          <p:cNvSpPr/>
          <p:nvPr/>
        </p:nvSpPr>
        <p:spPr>
          <a:xfrm>
            <a:off x="640080" y="3044952"/>
            <a:ext cx="3017520" cy="329184"/>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difficulty_self_care</a:t>
            </a:r>
            <a:endParaRPr lang="en-US" sz="1100" dirty="0"/>
          </a:p>
        </p:txBody>
      </p:sp>
      <p:sp>
        <p:nvSpPr>
          <p:cNvPr id="13" name="Shape 11"/>
          <p:cNvSpPr/>
          <p:nvPr/>
        </p:nvSpPr>
        <p:spPr>
          <a:xfrm>
            <a:off x="3767328" y="3108960"/>
            <a:ext cx="3712464" cy="201168"/>
          </a:xfrm>
          <a:prstGeom prst="rect">
            <a:avLst/>
          </a:prstGeom>
          <a:solidFill>
            <a:srgbClr val="F4F1EC"/>
          </a:solidFill>
          <a:ln/>
        </p:spPr>
      </p:sp>
      <p:sp>
        <p:nvSpPr>
          <p:cNvPr id="14" name="Shape 12"/>
          <p:cNvSpPr/>
          <p:nvPr/>
        </p:nvSpPr>
        <p:spPr>
          <a:xfrm>
            <a:off x="3767328" y="3108960"/>
            <a:ext cx="2517051" cy="201168"/>
          </a:xfrm>
          <a:prstGeom prst="rect">
            <a:avLst/>
          </a:prstGeom>
          <a:solidFill>
            <a:srgbClr val="8FB0A4"/>
          </a:solidFill>
          <a:ln/>
        </p:spPr>
      </p:sp>
      <p:sp>
        <p:nvSpPr>
          <p:cNvPr id="15" name="Text 13"/>
          <p:cNvSpPr/>
          <p:nvPr/>
        </p:nvSpPr>
        <p:spPr>
          <a:xfrm>
            <a:off x="7571232" y="3044952"/>
            <a:ext cx="822960" cy="329184"/>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0,6780</a:t>
            </a:r>
            <a:endParaRPr lang="en-US" sz="1100" dirty="0"/>
          </a:p>
        </p:txBody>
      </p:sp>
      <p:sp>
        <p:nvSpPr>
          <p:cNvPr id="16" name="Text 14"/>
          <p:cNvSpPr/>
          <p:nvPr/>
        </p:nvSpPr>
        <p:spPr>
          <a:xfrm>
            <a:off x="640080" y="3447288"/>
            <a:ext cx="3017520" cy="329184"/>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difficulty_using_hands</a:t>
            </a:r>
            <a:endParaRPr lang="en-US" sz="1100" dirty="0"/>
          </a:p>
        </p:txBody>
      </p:sp>
      <p:sp>
        <p:nvSpPr>
          <p:cNvPr id="17" name="Shape 15"/>
          <p:cNvSpPr/>
          <p:nvPr/>
        </p:nvSpPr>
        <p:spPr>
          <a:xfrm>
            <a:off x="3767328" y="3511296"/>
            <a:ext cx="3712464" cy="201168"/>
          </a:xfrm>
          <a:prstGeom prst="rect">
            <a:avLst/>
          </a:prstGeom>
          <a:solidFill>
            <a:srgbClr val="F4F1EC"/>
          </a:solidFill>
          <a:ln/>
        </p:spPr>
      </p:sp>
      <p:sp>
        <p:nvSpPr>
          <p:cNvPr id="18" name="Shape 16"/>
          <p:cNvSpPr/>
          <p:nvPr/>
        </p:nvSpPr>
        <p:spPr>
          <a:xfrm>
            <a:off x="3767328" y="3511296"/>
            <a:ext cx="2509626" cy="201168"/>
          </a:xfrm>
          <a:prstGeom prst="rect">
            <a:avLst/>
          </a:prstGeom>
          <a:solidFill>
            <a:srgbClr val="8FB0A4"/>
          </a:solidFill>
          <a:ln/>
        </p:spPr>
      </p:sp>
      <p:sp>
        <p:nvSpPr>
          <p:cNvPr id="19" name="Text 17"/>
          <p:cNvSpPr/>
          <p:nvPr/>
        </p:nvSpPr>
        <p:spPr>
          <a:xfrm>
            <a:off x="7571232" y="3447288"/>
            <a:ext cx="822960" cy="329184"/>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0,6760</a:t>
            </a:r>
            <a:endParaRPr lang="en-US" sz="1100" dirty="0"/>
          </a:p>
        </p:txBody>
      </p:sp>
      <p:sp>
        <p:nvSpPr>
          <p:cNvPr id="20" name="Text 18"/>
          <p:cNvSpPr/>
          <p:nvPr/>
        </p:nvSpPr>
        <p:spPr>
          <a:xfrm>
            <a:off x="640080" y="3849624"/>
            <a:ext cx="3017520" cy="329184"/>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difficulty_social_activities</a:t>
            </a:r>
            <a:endParaRPr lang="en-US" sz="1100" dirty="0"/>
          </a:p>
        </p:txBody>
      </p:sp>
      <p:sp>
        <p:nvSpPr>
          <p:cNvPr id="21" name="Shape 19"/>
          <p:cNvSpPr/>
          <p:nvPr/>
        </p:nvSpPr>
        <p:spPr>
          <a:xfrm>
            <a:off x="3767328" y="3913632"/>
            <a:ext cx="3712464" cy="201168"/>
          </a:xfrm>
          <a:prstGeom prst="rect">
            <a:avLst/>
          </a:prstGeom>
          <a:solidFill>
            <a:srgbClr val="F4F1EC"/>
          </a:solidFill>
          <a:ln/>
        </p:spPr>
      </p:sp>
      <p:sp>
        <p:nvSpPr>
          <p:cNvPr id="22" name="Shape 20"/>
          <p:cNvSpPr/>
          <p:nvPr/>
        </p:nvSpPr>
        <p:spPr>
          <a:xfrm>
            <a:off x="3767328" y="3913632"/>
            <a:ext cx="2467304" cy="201168"/>
          </a:xfrm>
          <a:prstGeom prst="rect">
            <a:avLst/>
          </a:prstGeom>
          <a:solidFill>
            <a:srgbClr val="8FB0A4"/>
          </a:solidFill>
          <a:ln/>
        </p:spPr>
      </p:sp>
      <p:sp>
        <p:nvSpPr>
          <p:cNvPr id="23" name="Text 21"/>
          <p:cNvSpPr/>
          <p:nvPr/>
        </p:nvSpPr>
        <p:spPr>
          <a:xfrm>
            <a:off x="7571232" y="3849624"/>
            <a:ext cx="822960" cy="329184"/>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0,6646</a:t>
            </a:r>
            <a:endParaRPr lang="en-US" sz="1100" dirty="0"/>
          </a:p>
        </p:txBody>
      </p:sp>
      <p:sp>
        <p:nvSpPr>
          <p:cNvPr id="24" name="Text 22"/>
          <p:cNvSpPr/>
          <p:nvPr/>
        </p:nvSpPr>
        <p:spPr>
          <a:xfrm>
            <a:off x="640080" y="4251960"/>
            <a:ext cx="3017520" cy="329184"/>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anxiety_frequency</a:t>
            </a:r>
            <a:endParaRPr lang="en-US" sz="1100" dirty="0"/>
          </a:p>
        </p:txBody>
      </p:sp>
      <p:sp>
        <p:nvSpPr>
          <p:cNvPr id="25" name="Shape 23"/>
          <p:cNvSpPr/>
          <p:nvPr/>
        </p:nvSpPr>
        <p:spPr>
          <a:xfrm>
            <a:off x="3767328" y="4315968"/>
            <a:ext cx="3712464" cy="201168"/>
          </a:xfrm>
          <a:prstGeom prst="rect">
            <a:avLst/>
          </a:prstGeom>
          <a:solidFill>
            <a:srgbClr val="F4F1EC"/>
          </a:solidFill>
          <a:ln/>
        </p:spPr>
      </p:sp>
      <p:sp>
        <p:nvSpPr>
          <p:cNvPr id="26" name="Shape 24"/>
          <p:cNvSpPr/>
          <p:nvPr/>
        </p:nvSpPr>
        <p:spPr>
          <a:xfrm>
            <a:off x="3767328" y="4315968"/>
            <a:ext cx="2080094" cy="201168"/>
          </a:xfrm>
          <a:prstGeom prst="rect">
            <a:avLst/>
          </a:prstGeom>
          <a:solidFill>
            <a:srgbClr val="D8A25E"/>
          </a:solidFill>
          <a:ln/>
        </p:spPr>
      </p:sp>
      <p:sp>
        <p:nvSpPr>
          <p:cNvPr id="27" name="Text 25"/>
          <p:cNvSpPr/>
          <p:nvPr/>
        </p:nvSpPr>
        <p:spPr>
          <a:xfrm>
            <a:off x="7571232" y="4251960"/>
            <a:ext cx="822960" cy="329184"/>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0,5603</a:t>
            </a:r>
            <a:endParaRPr lang="en-US" sz="1100" dirty="0"/>
          </a:p>
        </p:txBody>
      </p:sp>
      <p:sp>
        <p:nvSpPr>
          <p:cNvPr id="28" name="Text 26"/>
          <p:cNvSpPr/>
          <p:nvPr/>
        </p:nvSpPr>
        <p:spPr>
          <a:xfrm>
            <a:off x="640080" y="4654296"/>
            <a:ext cx="3017520" cy="329184"/>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food_security_4cat</a:t>
            </a:r>
            <a:endParaRPr lang="en-US" sz="1100" dirty="0"/>
          </a:p>
        </p:txBody>
      </p:sp>
      <p:sp>
        <p:nvSpPr>
          <p:cNvPr id="29" name="Shape 27"/>
          <p:cNvSpPr/>
          <p:nvPr/>
        </p:nvSpPr>
        <p:spPr>
          <a:xfrm>
            <a:off x="3767328" y="4718304"/>
            <a:ext cx="3712464" cy="201168"/>
          </a:xfrm>
          <a:prstGeom prst="rect">
            <a:avLst/>
          </a:prstGeom>
          <a:solidFill>
            <a:srgbClr val="F4F1EC"/>
          </a:solidFill>
          <a:ln/>
        </p:spPr>
      </p:sp>
      <p:sp>
        <p:nvSpPr>
          <p:cNvPr id="30" name="Shape 28"/>
          <p:cNvSpPr/>
          <p:nvPr/>
        </p:nvSpPr>
        <p:spPr>
          <a:xfrm>
            <a:off x="3767328" y="4718304"/>
            <a:ext cx="1997677" cy="201168"/>
          </a:xfrm>
          <a:prstGeom prst="rect">
            <a:avLst/>
          </a:prstGeom>
          <a:solidFill>
            <a:srgbClr val="D8A25E"/>
          </a:solidFill>
          <a:ln/>
        </p:spPr>
      </p:sp>
      <p:sp>
        <p:nvSpPr>
          <p:cNvPr id="31" name="Text 29"/>
          <p:cNvSpPr/>
          <p:nvPr/>
        </p:nvSpPr>
        <p:spPr>
          <a:xfrm>
            <a:off x="7571232" y="4654296"/>
            <a:ext cx="822960" cy="329184"/>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0,5381</a:t>
            </a:r>
            <a:endParaRPr lang="en-US" sz="1100" dirty="0"/>
          </a:p>
        </p:txBody>
      </p:sp>
      <p:sp>
        <p:nvSpPr>
          <p:cNvPr id="32" name="Shape 30"/>
          <p:cNvSpPr/>
          <p:nvPr/>
        </p:nvSpPr>
        <p:spPr>
          <a:xfrm>
            <a:off x="8778240" y="2286000"/>
            <a:ext cx="2773375" cy="2148840"/>
          </a:xfrm>
          <a:prstGeom prst="roundRect">
            <a:avLst>
              <a:gd name="adj" fmla="val 2553"/>
            </a:avLst>
          </a:prstGeom>
          <a:solidFill>
            <a:srgbClr val="ECE7DF"/>
          </a:solidFill>
          <a:ln w="9525">
            <a:solidFill>
              <a:srgbClr val="DCD8D1"/>
            </a:solidFill>
            <a:prstDash val="solid"/>
          </a:ln>
        </p:spPr>
      </p:sp>
      <p:sp>
        <p:nvSpPr>
          <p:cNvPr id="33" name="Text 31"/>
          <p:cNvSpPr/>
          <p:nvPr/>
        </p:nvSpPr>
        <p:spPr>
          <a:xfrm>
            <a:off x="9052560" y="2487168"/>
            <a:ext cx="2224735" cy="178308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Kesehatan umum memburuk, depresi makin sering, ketahanan pangan makin rapuh. Ketiganya menaikkan rata-rata target secara konsisten, tanpa pembalikan arah.</a:t>
            </a:r>
            <a:endParaRPr lang="en-US" sz="1200" dirty="0"/>
          </a:p>
        </p:txBody>
      </p:sp>
      <p:sp>
        <p:nvSpPr>
          <p:cNvPr id="34" name="Text 32"/>
          <p:cNvSpPr/>
          <p:nvPr/>
        </p:nvSpPr>
        <p:spPr>
          <a:xfrm>
            <a:off x="640080" y="5349240"/>
            <a:ext cx="10911535" cy="640080"/>
          </a:xfrm>
          <a:prstGeom prst="rect">
            <a:avLst/>
          </a:prstGeom>
          <a:noFill/>
          <a:ln/>
        </p:spPr>
        <p:txBody>
          <a:bodyPr wrap="square" lIns="0" tIns="0" rIns="0" bIns="0" rtlCol="0" anchor="ctr"/>
          <a:lstStyle/>
          <a:p>
            <a:pPr indent="0" marL="0">
              <a:lnSpc>
                <a:spcPts val="1800"/>
              </a:lnSpc>
              <a:buNone/>
            </a:pPr>
            <a:r>
              <a:rPr lang="en-US" sz="1300" b="1" dirty="0">
                <a:solidFill>
                  <a:srgbClr val="A8442A"/>
                </a:solidFill>
                <a:latin typeface="Calibri" pitchFamily="34" charset="0"/>
                <a:ea typeface="Calibri" pitchFamily="34" charset="-122"/>
                <a:cs typeface="Calibri" pitchFamily="34" charset="-120"/>
              </a:rPr>
              <a:t>Implikasi desain. </a:t>
            </a:r>
            <a:pPr indent="0" marL="0">
              <a:lnSpc>
                <a:spcPts val="1800"/>
              </a:lnSpc>
              <a:buNone/>
            </a:pPr>
            <a:r>
              <a:rPr lang="en-US" sz="1300" dirty="0">
                <a:solidFill>
                  <a:srgbClr val="3A4048"/>
                </a:solidFill>
                <a:latin typeface="Calibri" pitchFamily="34" charset="0"/>
                <a:ea typeface="Calibri" pitchFamily="34" charset="-122"/>
                <a:cs typeface="Calibri" pitchFamily="34" charset="-120"/>
              </a:rPr>
              <a:t>Struktur monoton pada fitur adalah alasan kami menambahkan regresi Huber dan dekomposisi biner kumulatif di samping klasifikasi biasa. Ketiganya membaca skala, bukan kategori.</a:t>
            </a:r>
            <a:endParaRPr lang="en-US" sz="1300" dirty="0"/>
          </a:p>
        </p:txBody>
      </p:sp>
      <p:sp>
        <p:nvSpPr>
          <p:cNvPr id="36" name="Shape 33"/>
          <p:cNvSpPr/>
          <p:nvPr/>
        </p:nvSpPr>
        <p:spPr>
          <a:xfrm>
            <a:off x="640080" y="6400800"/>
            <a:ext cx="1572768" cy="45720"/>
          </a:xfrm>
          <a:prstGeom prst="rect">
            <a:avLst/>
          </a:prstGeom>
          <a:solidFill>
            <a:srgbClr val="DCD8D1"/>
          </a:solidFill>
          <a:ln/>
        </p:spPr>
      </p:sp>
      <p:sp>
        <p:nvSpPr>
          <p:cNvPr id="37" name="Text 3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8" name="Shape 35"/>
          <p:cNvSpPr/>
          <p:nvPr/>
        </p:nvSpPr>
        <p:spPr>
          <a:xfrm>
            <a:off x="2304288" y="6400800"/>
            <a:ext cx="1572768" cy="45720"/>
          </a:xfrm>
          <a:prstGeom prst="rect">
            <a:avLst/>
          </a:prstGeom>
          <a:solidFill>
            <a:srgbClr val="A8442A"/>
          </a:solidFill>
          <a:ln/>
        </p:spPr>
      </p:sp>
      <p:sp>
        <p:nvSpPr>
          <p:cNvPr id="39" name="Text 3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40" name="Shape 37"/>
          <p:cNvSpPr/>
          <p:nvPr/>
        </p:nvSpPr>
        <p:spPr>
          <a:xfrm>
            <a:off x="3968496" y="6400800"/>
            <a:ext cx="1572768" cy="45720"/>
          </a:xfrm>
          <a:prstGeom prst="rect">
            <a:avLst/>
          </a:prstGeom>
          <a:solidFill>
            <a:srgbClr val="DCD8D1"/>
          </a:solidFill>
          <a:ln/>
        </p:spPr>
      </p:sp>
      <p:sp>
        <p:nvSpPr>
          <p:cNvPr id="41" name="Text 3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42" name="Shape 39"/>
          <p:cNvSpPr/>
          <p:nvPr/>
        </p:nvSpPr>
        <p:spPr>
          <a:xfrm>
            <a:off x="5632704" y="6400800"/>
            <a:ext cx="1572768" cy="45720"/>
          </a:xfrm>
          <a:prstGeom prst="rect">
            <a:avLst/>
          </a:prstGeom>
          <a:solidFill>
            <a:srgbClr val="DCD8D1"/>
          </a:solidFill>
          <a:ln/>
        </p:spPr>
      </p:sp>
      <p:sp>
        <p:nvSpPr>
          <p:cNvPr id="43" name="Text 4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4" name="Shape 41"/>
          <p:cNvSpPr/>
          <p:nvPr/>
        </p:nvSpPr>
        <p:spPr>
          <a:xfrm>
            <a:off x="7296912" y="6400800"/>
            <a:ext cx="1572768" cy="45720"/>
          </a:xfrm>
          <a:prstGeom prst="rect">
            <a:avLst/>
          </a:prstGeom>
          <a:solidFill>
            <a:srgbClr val="DCD8D1"/>
          </a:solidFill>
          <a:ln/>
        </p:spPr>
      </p:sp>
      <p:sp>
        <p:nvSpPr>
          <p:cNvPr id="45" name="Text 4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46" name="Shape 43"/>
          <p:cNvSpPr/>
          <p:nvPr/>
        </p:nvSpPr>
        <p:spPr>
          <a:xfrm>
            <a:off x="8961120" y="6400800"/>
            <a:ext cx="1572768" cy="45720"/>
          </a:xfrm>
          <a:prstGeom prst="rect">
            <a:avLst/>
          </a:prstGeom>
          <a:solidFill>
            <a:srgbClr val="DCD8D1"/>
          </a:solidFill>
          <a:ln/>
        </p:spPr>
      </p:sp>
      <p:sp>
        <p:nvSpPr>
          <p:cNvPr id="47" name="Text 4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8" name="Text 4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Tidak ada fitur dominan. Sinyalnya tersebar tipis.</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Prediktor tunggal terkuat hanya mencapai korelasi 0,361 terhadap target.</a:t>
            </a:r>
            <a:endParaRPr lang="en-US" sz="1400" dirty="0"/>
          </a:p>
        </p:txBody>
      </p:sp>
      <p:sp>
        <p:nvSpPr>
          <p:cNvPr id="4" name="Shape 2"/>
          <p:cNvSpPr/>
          <p:nvPr/>
        </p:nvSpPr>
        <p:spPr>
          <a:xfrm>
            <a:off x="640080" y="2231136"/>
            <a:ext cx="2560320" cy="1371600"/>
          </a:xfrm>
          <a:prstGeom prst="roundRect">
            <a:avLst>
              <a:gd name="adj" fmla="val 4000"/>
            </a:avLst>
          </a:prstGeom>
          <a:solidFill>
            <a:srgbClr val="F4F1EC"/>
          </a:solidFill>
          <a:ln w="9525">
            <a:solidFill>
              <a:srgbClr val="DCD8D1"/>
            </a:solidFill>
            <a:prstDash val="solid"/>
          </a:ln>
        </p:spPr>
      </p:sp>
      <p:sp>
        <p:nvSpPr>
          <p:cNvPr id="5" name="Text 3"/>
          <p:cNvSpPr/>
          <p:nvPr/>
        </p:nvSpPr>
        <p:spPr>
          <a:xfrm>
            <a:off x="896112" y="2395728"/>
            <a:ext cx="2048256" cy="475488"/>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0,361</a:t>
            </a:r>
            <a:endParaRPr lang="en-US" sz="2600" dirty="0"/>
          </a:p>
        </p:txBody>
      </p:sp>
      <p:sp>
        <p:nvSpPr>
          <p:cNvPr id="6" name="Text 4"/>
          <p:cNvSpPr/>
          <p:nvPr/>
        </p:nvSpPr>
        <p:spPr>
          <a:xfrm>
            <a:off x="896112" y="2907792"/>
            <a:ext cx="2048256"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tertinggi satu fitur</a:t>
            </a:r>
            <a:endParaRPr lang="en-US" sz="1050" dirty="0"/>
          </a:p>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terhadap target</a:t>
            </a:r>
            <a:endParaRPr lang="en-US" sz="1050" dirty="0"/>
          </a:p>
        </p:txBody>
      </p:sp>
      <p:sp>
        <p:nvSpPr>
          <p:cNvPr id="7" name="Shape 5"/>
          <p:cNvSpPr/>
          <p:nvPr/>
        </p:nvSpPr>
        <p:spPr>
          <a:xfrm>
            <a:off x="3438144" y="2231136"/>
            <a:ext cx="2560320" cy="1371600"/>
          </a:xfrm>
          <a:prstGeom prst="roundRect">
            <a:avLst>
              <a:gd name="adj" fmla="val 4000"/>
            </a:avLst>
          </a:prstGeom>
          <a:solidFill>
            <a:srgbClr val="F4F1EC"/>
          </a:solidFill>
          <a:ln w="9525">
            <a:solidFill>
              <a:srgbClr val="DCD8D1"/>
            </a:solidFill>
            <a:prstDash val="solid"/>
          </a:ln>
        </p:spPr>
      </p:sp>
      <p:sp>
        <p:nvSpPr>
          <p:cNvPr id="8" name="Text 6"/>
          <p:cNvSpPr/>
          <p:nvPr/>
        </p:nvSpPr>
        <p:spPr>
          <a:xfrm>
            <a:off x="3694176" y="2395728"/>
            <a:ext cx="2048256" cy="475488"/>
          </a:xfrm>
          <a:prstGeom prst="rect">
            <a:avLst/>
          </a:prstGeom>
          <a:noFill/>
          <a:ln/>
        </p:spPr>
        <p:txBody>
          <a:bodyPr wrap="square" lIns="0" tIns="0" rIns="0" bIns="0" rtlCol="0" anchor="b"/>
          <a:lstStyle/>
          <a:p>
            <a:pPr algn="l" indent="0" marL="0">
              <a:buNone/>
            </a:pPr>
            <a:r>
              <a:rPr lang="en-US" sz="2600" b="1" dirty="0">
                <a:solidFill>
                  <a:srgbClr val="16191D"/>
                </a:solidFill>
                <a:latin typeface="Cambria" pitchFamily="34" charset="0"/>
                <a:ea typeface="Cambria" pitchFamily="34" charset="-122"/>
                <a:cs typeface="Cambria" pitchFamily="34" charset="-120"/>
              </a:rPr>
              <a:t>0,037</a:t>
            </a:r>
            <a:endParaRPr lang="en-US" sz="2600" dirty="0"/>
          </a:p>
        </p:txBody>
      </p:sp>
      <p:sp>
        <p:nvSpPr>
          <p:cNvPr id="9" name="Text 7"/>
          <p:cNvSpPr/>
          <p:nvPr/>
        </p:nvSpPr>
        <p:spPr>
          <a:xfrm>
            <a:off x="3694176" y="2907792"/>
            <a:ext cx="2048256"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Median korelasi antar</a:t>
            </a:r>
            <a:endParaRPr lang="en-US" sz="1050" dirty="0"/>
          </a:p>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pasangan fitur</a:t>
            </a:r>
            <a:endParaRPr lang="en-US" sz="1050" dirty="0"/>
          </a:p>
        </p:txBody>
      </p:sp>
      <p:sp>
        <p:nvSpPr>
          <p:cNvPr id="10" name="Shape 8"/>
          <p:cNvSpPr/>
          <p:nvPr/>
        </p:nvSpPr>
        <p:spPr>
          <a:xfrm>
            <a:off x="6236208" y="2231136"/>
            <a:ext cx="2560320" cy="1371600"/>
          </a:xfrm>
          <a:prstGeom prst="roundRect">
            <a:avLst>
              <a:gd name="adj" fmla="val 4000"/>
            </a:avLst>
          </a:prstGeom>
          <a:solidFill>
            <a:srgbClr val="F4F1EC"/>
          </a:solidFill>
          <a:ln w="9525">
            <a:solidFill>
              <a:srgbClr val="DCD8D1"/>
            </a:solidFill>
            <a:prstDash val="solid"/>
          </a:ln>
        </p:spPr>
      </p:sp>
      <p:sp>
        <p:nvSpPr>
          <p:cNvPr id="11" name="Text 9"/>
          <p:cNvSpPr/>
          <p:nvPr/>
        </p:nvSpPr>
        <p:spPr>
          <a:xfrm>
            <a:off x="6492240" y="2395728"/>
            <a:ext cx="2048256" cy="475488"/>
          </a:xfrm>
          <a:prstGeom prst="rect">
            <a:avLst/>
          </a:prstGeom>
          <a:noFill/>
          <a:ln/>
        </p:spPr>
        <p:txBody>
          <a:bodyPr wrap="square" lIns="0" tIns="0" rIns="0" bIns="0" rtlCol="0" anchor="b"/>
          <a:lstStyle/>
          <a:p>
            <a:pPr algn="l" indent="0" marL="0">
              <a:buNone/>
            </a:pPr>
            <a:r>
              <a:rPr lang="en-US" sz="2600" b="1" dirty="0">
                <a:solidFill>
                  <a:srgbClr val="16191D"/>
                </a:solidFill>
                <a:latin typeface="Cambria" pitchFamily="34" charset="0"/>
                <a:ea typeface="Cambria" pitchFamily="34" charset="-122"/>
                <a:cs typeface="Cambria" pitchFamily="34" charset="-120"/>
              </a:rPr>
              <a:t>17</a:t>
            </a:r>
            <a:endParaRPr lang="en-US" sz="2600" dirty="0"/>
          </a:p>
        </p:txBody>
      </p:sp>
      <p:sp>
        <p:nvSpPr>
          <p:cNvPr id="12" name="Text 10"/>
          <p:cNvSpPr/>
          <p:nvPr/>
        </p:nvSpPr>
        <p:spPr>
          <a:xfrm>
            <a:off x="6492240" y="2907792"/>
            <a:ext cx="2048256"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Pasangan fitur dengan</a:t>
            </a:r>
            <a:endParaRPr lang="en-US" sz="1050" dirty="0"/>
          </a:p>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di atas 0,9</a:t>
            </a:r>
            <a:endParaRPr lang="en-US" sz="1050" dirty="0"/>
          </a:p>
        </p:txBody>
      </p:sp>
      <p:sp>
        <p:nvSpPr>
          <p:cNvPr id="13" name="Shape 11"/>
          <p:cNvSpPr/>
          <p:nvPr/>
        </p:nvSpPr>
        <p:spPr>
          <a:xfrm>
            <a:off x="9034272" y="2231136"/>
            <a:ext cx="2560320" cy="1371600"/>
          </a:xfrm>
          <a:prstGeom prst="roundRect">
            <a:avLst>
              <a:gd name="adj" fmla="val 4000"/>
            </a:avLst>
          </a:prstGeom>
          <a:solidFill>
            <a:srgbClr val="F4F1EC"/>
          </a:solidFill>
          <a:ln w="9525">
            <a:solidFill>
              <a:srgbClr val="DCD8D1"/>
            </a:solidFill>
            <a:prstDash val="solid"/>
          </a:ln>
        </p:spPr>
      </p:sp>
      <p:sp>
        <p:nvSpPr>
          <p:cNvPr id="14" name="Text 12"/>
          <p:cNvSpPr/>
          <p:nvPr/>
        </p:nvSpPr>
        <p:spPr>
          <a:xfrm>
            <a:off x="9290304" y="2395728"/>
            <a:ext cx="2048256" cy="475488"/>
          </a:xfrm>
          <a:prstGeom prst="rect">
            <a:avLst/>
          </a:prstGeom>
          <a:noFill/>
          <a:ln/>
        </p:spPr>
        <p:txBody>
          <a:bodyPr wrap="square" lIns="0" tIns="0" rIns="0" bIns="0" rtlCol="0" anchor="b"/>
          <a:lstStyle/>
          <a:p>
            <a:pPr algn="l" indent="0" marL="0">
              <a:buNone/>
            </a:pPr>
            <a:r>
              <a:rPr lang="en-US" sz="2600" b="1" dirty="0">
                <a:solidFill>
                  <a:srgbClr val="16191D"/>
                </a:solidFill>
                <a:latin typeface="Cambria" pitchFamily="34" charset="0"/>
                <a:ea typeface="Cambria" pitchFamily="34" charset="-122"/>
                <a:cs typeface="Cambria" pitchFamily="34" charset="-120"/>
              </a:rPr>
              <a:t>14.667</a:t>
            </a:r>
            <a:endParaRPr lang="en-US" sz="2600" dirty="0"/>
          </a:p>
        </p:txBody>
      </p:sp>
      <p:sp>
        <p:nvSpPr>
          <p:cNvPr id="15" name="Text 13"/>
          <p:cNvSpPr/>
          <p:nvPr/>
        </p:nvSpPr>
        <p:spPr>
          <a:xfrm>
            <a:off x="9290304" y="2907792"/>
            <a:ext cx="2048256"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Total pasangan fitur</a:t>
            </a:r>
            <a:endParaRPr lang="en-US" sz="1050" dirty="0"/>
          </a:p>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yang diperiksa</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3931920"/>
          <a:ext cx="6675120" cy="914400"/>
        </p:xfrm>
        <a:graphic>
          <a:graphicData uri="http://schemas.openxmlformats.org/drawingml/2006/table">
            <a:tbl>
              <a:tblPr/>
              <a:tblGrid>
                <a:gridCol w="5120640"/>
                <a:gridCol w="1554480"/>
              </a:tblGrid>
              <a:tr h="283464">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Pasangan paling redundan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korelasi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data_year  ·  survey_year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children_in_family  ·  children_in_household</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0,998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ever_used_ecigarette  ·  ecigarette_status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0,997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health_insurance_type  ·  private_health_insurance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0,982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cancer_ever  ·  cancer_types_count</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0,981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8346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income_to_poverty_ratio  ·  income_poverty_category</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0,961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7" name="Shape 14"/>
          <p:cNvSpPr/>
          <p:nvPr/>
        </p:nvSpPr>
        <p:spPr>
          <a:xfrm>
            <a:off x="7818120" y="3931920"/>
            <a:ext cx="3733495" cy="1783080"/>
          </a:xfrm>
          <a:prstGeom prst="roundRect">
            <a:avLst>
              <a:gd name="adj" fmla="val 3077"/>
            </a:avLst>
          </a:prstGeom>
          <a:solidFill>
            <a:srgbClr val="ECE7DF"/>
          </a:solidFill>
          <a:ln w="9525">
            <a:solidFill>
              <a:srgbClr val="DCD8D1"/>
            </a:solidFill>
            <a:prstDash val="solid"/>
          </a:ln>
        </p:spPr>
      </p:sp>
      <p:sp>
        <p:nvSpPr>
          <p:cNvPr id="18" name="Text 15"/>
          <p:cNvSpPr/>
          <p:nvPr/>
        </p:nvSpPr>
        <p:spPr>
          <a:xfrm>
            <a:off x="8092440" y="4114800"/>
            <a:ext cx="3184855" cy="1463040"/>
          </a:xfrm>
          <a:prstGeom prst="rect">
            <a:avLst/>
          </a:prstGeom>
          <a:noFill/>
          <a:ln/>
        </p:spPr>
        <p:txBody>
          <a:bodyPr wrap="square" lIns="0" tIns="0" rIns="0" bIns="0" rtlCol="0" anchor="t"/>
          <a:lstStyle/>
          <a:p>
            <a:pPr indent="0" marL="0">
              <a:lnSpc>
                <a:spcPts val="1600"/>
              </a:lnSpc>
              <a:buNone/>
            </a:pPr>
            <a:r>
              <a:rPr lang="en-US" sz="1150" b="1" dirty="0">
                <a:solidFill>
                  <a:srgbClr val="A8442A"/>
                </a:solidFill>
                <a:latin typeface="Calibri" pitchFamily="34" charset="0"/>
                <a:ea typeface="Calibri" pitchFamily="34" charset="-122"/>
                <a:cs typeface="Calibri" pitchFamily="34" charset="-120"/>
              </a:rPr>
              <a:t>Implikasi desain. </a:t>
            </a:r>
            <a:pPr indent="0" marL="0">
              <a:lnSpc>
                <a:spcPts val="1600"/>
              </a:lnSpc>
              <a:buNone/>
            </a:pPr>
            <a:r>
              <a:rPr lang="en-US" sz="1150" dirty="0">
                <a:solidFill>
                  <a:srgbClr val="3A4048"/>
                </a:solidFill>
                <a:latin typeface="Calibri" pitchFamily="34" charset="0"/>
                <a:ea typeface="Calibri" pitchFamily="34" charset="-122"/>
                <a:cs typeface="Calibri" pitchFamily="34" charset="-120"/>
              </a:rPr>
              <a:t>Redundansi terpusat pada segelintir pasangan yang memang kembar. Selebihnya tidak ada fitur yang bisa dibuang tanpa kehilangan sedikit sinyal, jadi seleksi fitur agresif kami tolak dan seluruh 176 fitur dipertahankan.</a:t>
            </a:r>
            <a:endParaRPr lang="en-US" sz="1150" dirty="0"/>
          </a:p>
        </p:txBody>
      </p:sp>
      <p:sp>
        <p:nvSpPr>
          <p:cNvPr id="20" name="Shape 16"/>
          <p:cNvSpPr/>
          <p:nvPr/>
        </p:nvSpPr>
        <p:spPr>
          <a:xfrm>
            <a:off x="640080" y="6400800"/>
            <a:ext cx="1572768" cy="45720"/>
          </a:xfrm>
          <a:prstGeom prst="rect">
            <a:avLst/>
          </a:prstGeom>
          <a:solidFill>
            <a:srgbClr val="DCD8D1"/>
          </a:solidFill>
          <a:ln/>
        </p:spPr>
      </p:sp>
      <p:sp>
        <p:nvSpPr>
          <p:cNvPr id="21" name="Text 1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2" name="Shape 18"/>
          <p:cNvSpPr/>
          <p:nvPr/>
        </p:nvSpPr>
        <p:spPr>
          <a:xfrm>
            <a:off x="2304288" y="6400800"/>
            <a:ext cx="1572768" cy="45720"/>
          </a:xfrm>
          <a:prstGeom prst="rect">
            <a:avLst/>
          </a:prstGeom>
          <a:solidFill>
            <a:srgbClr val="A8442A"/>
          </a:solidFill>
          <a:ln/>
        </p:spPr>
      </p:sp>
      <p:sp>
        <p:nvSpPr>
          <p:cNvPr id="23" name="Text 1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24" name="Shape 20"/>
          <p:cNvSpPr/>
          <p:nvPr/>
        </p:nvSpPr>
        <p:spPr>
          <a:xfrm>
            <a:off x="3968496" y="6400800"/>
            <a:ext cx="1572768" cy="45720"/>
          </a:xfrm>
          <a:prstGeom prst="rect">
            <a:avLst/>
          </a:prstGeom>
          <a:solidFill>
            <a:srgbClr val="DCD8D1"/>
          </a:solidFill>
          <a:ln/>
        </p:spPr>
      </p:sp>
      <p:sp>
        <p:nvSpPr>
          <p:cNvPr id="25" name="Text 2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6" name="Shape 22"/>
          <p:cNvSpPr/>
          <p:nvPr/>
        </p:nvSpPr>
        <p:spPr>
          <a:xfrm>
            <a:off x="5632704" y="6400800"/>
            <a:ext cx="1572768" cy="45720"/>
          </a:xfrm>
          <a:prstGeom prst="rect">
            <a:avLst/>
          </a:prstGeom>
          <a:solidFill>
            <a:srgbClr val="DCD8D1"/>
          </a:solidFill>
          <a:ln/>
        </p:spPr>
      </p:sp>
      <p:sp>
        <p:nvSpPr>
          <p:cNvPr id="27" name="Text 2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8" name="Shape 24"/>
          <p:cNvSpPr/>
          <p:nvPr/>
        </p:nvSpPr>
        <p:spPr>
          <a:xfrm>
            <a:off x="7296912" y="6400800"/>
            <a:ext cx="1572768" cy="45720"/>
          </a:xfrm>
          <a:prstGeom prst="rect">
            <a:avLst/>
          </a:prstGeom>
          <a:solidFill>
            <a:srgbClr val="DCD8D1"/>
          </a:solidFill>
          <a:ln/>
        </p:spPr>
      </p:sp>
      <p:sp>
        <p:nvSpPr>
          <p:cNvPr id="29" name="Text 2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0" name="Shape 26"/>
          <p:cNvSpPr/>
          <p:nvPr/>
        </p:nvSpPr>
        <p:spPr>
          <a:xfrm>
            <a:off x="8961120" y="6400800"/>
            <a:ext cx="1572768" cy="45720"/>
          </a:xfrm>
          <a:prstGeom prst="rect">
            <a:avLst/>
          </a:prstGeom>
          <a:solidFill>
            <a:srgbClr val="DCD8D1"/>
          </a:solidFill>
          <a:ln/>
        </p:spPr>
      </p:sp>
      <p:sp>
        <p:nvSpPr>
          <p:cNvPr id="31" name="Text 2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2"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Empat tahun survei, satu perilaku yang sama.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Data melintasi pandemi dan pemulihannya, jadi pergeseran temporal wajib diperiksa lebih dulu.</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6766560" cy="914400"/>
        </p:xfrm>
        <a:graphic>
          <a:graphicData uri="http://schemas.openxmlformats.org/drawingml/2006/table">
            <a:tbl>
              <a:tblPr/>
              <a:tblGrid>
                <a:gridCol w="1737360"/>
                <a:gridCol w="1234440"/>
                <a:gridCol w="1600200"/>
                <a:gridCol w="1097280"/>
                <a:gridCol w="1097280"/>
              </a:tblGrid>
              <a:tr h="384048">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Tahun survei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jumlah</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rata-rata target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 kelas 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 kelas 3+4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2021</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21.464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1,5914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47,27%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20.417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1,6105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44,45%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4,53%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2023</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21.849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1,6153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43,78%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4,49%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2024</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24.230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1,6070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44,45%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4,35%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7909560" y="2468880"/>
            <a:ext cx="3642055" cy="2240280"/>
          </a:xfrm>
          <a:prstGeom prst="roundRect">
            <a:avLst>
              <a:gd name="adj" fmla="val 2449"/>
            </a:avLst>
          </a:prstGeom>
          <a:solidFill>
            <a:srgbClr val="ECE7DF"/>
          </a:solidFill>
          <a:ln w="9525">
            <a:solidFill>
              <a:srgbClr val="DCD8D1"/>
            </a:solidFill>
            <a:prstDash val="solid"/>
          </a:ln>
        </p:spPr>
      </p:sp>
      <p:sp>
        <p:nvSpPr>
          <p:cNvPr id="6" name="Text 3"/>
          <p:cNvSpPr/>
          <p:nvPr/>
        </p:nvSpPr>
        <p:spPr>
          <a:xfrm>
            <a:off x="8202168" y="2697480"/>
            <a:ext cx="3056839" cy="548640"/>
          </a:xfrm>
          <a:prstGeom prst="rect">
            <a:avLst/>
          </a:prstGeom>
          <a:noFill/>
          <a:ln/>
        </p:spPr>
        <p:txBody>
          <a:bodyPr wrap="square" lIns="0" tIns="0" rIns="0" bIns="0" rtlCol="0" anchor="b"/>
          <a:lstStyle/>
          <a:p>
            <a:pPr algn="l" indent="0" marL="0">
              <a:buNone/>
            </a:pPr>
            <a:r>
              <a:rPr lang="en-US" sz="3200" b="1" dirty="0">
                <a:solidFill>
                  <a:srgbClr val="2F6B5F"/>
                </a:solidFill>
                <a:latin typeface="Cambria" pitchFamily="34" charset="0"/>
                <a:ea typeface="Cambria" pitchFamily="34" charset="-122"/>
                <a:cs typeface="Cambria" pitchFamily="34" charset="-120"/>
              </a:rPr>
              <a:t>0,0239</a:t>
            </a:r>
            <a:endParaRPr lang="en-US" sz="3200" dirty="0"/>
          </a:p>
        </p:txBody>
      </p:sp>
      <p:sp>
        <p:nvSpPr>
          <p:cNvPr id="7" name="Text 4"/>
          <p:cNvSpPr/>
          <p:nvPr/>
        </p:nvSpPr>
        <p:spPr>
          <a:xfrm>
            <a:off x="8202168" y="3282696"/>
            <a:ext cx="3056839"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Total pergerakan rata-rata target sepanjang empat tahun</a:t>
            </a:r>
            <a:endParaRPr lang="en-US" sz="1150" dirty="0"/>
          </a:p>
        </p:txBody>
      </p:sp>
      <p:sp>
        <p:nvSpPr>
          <p:cNvPr id="8" name="Shape 5"/>
          <p:cNvSpPr/>
          <p:nvPr/>
        </p:nvSpPr>
        <p:spPr>
          <a:xfrm>
            <a:off x="8202168" y="3822192"/>
            <a:ext cx="3056839" cy="0"/>
          </a:xfrm>
          <a:prstGeom prst="line">
            <a:avLst/>
          </a:prstGeom>
          <a:noFill/>
          <a:ln w="10160">
            <a:solidFill>
              <a:srgbClr val="DCD8D1"/>
            </a:solidFill>
            <a:prstDash val="solid"/>
          </a:ln>
        </p:spPr>
      </p:sp>
      <p:sp>
        <p:nvSpPr>
          <p:cNvPr id="9" name="Text 6"/>
          <p:cNvSpPr/>
          <p:nvPr/>
        </p:nvSpPr>
        <p:spPr>
          <a:xfrm>
            <a:off x="8202168" y="3950208"/>
            <a:ext cx="3056839" cy="64008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Proporsi tahun di data latih dan data uji juga nyaris identik.</a:t>
            </a:r>
            <a:endParaRPr lang="en-US" sz="1150" dirty="0"/>
          </a:p>
        </p:txBody>
      </p:sp>
      <p:sp>
        <p:nvSpPr>
          <p:cNvPr id="10" name="Text 7"/>
          <p:cNvSpPr/>
          <p:nvPr/>
        </p:nvSpPr>
        <p:spPr>
          <a:xfrm>
            <a:off x="640080" y="5120640"/>
            <a:ext cx="10911535" cy="731520"/>
          </a:xfrm>
          <a:prstGeom prst="rect">
            <a:avLst/>
          </a:prstGeom>
          <a:noFill/>
          <a:ln/>
        </p:spPr>
        <p:txBody>
          <a:bodyPr wrap="square" lIns="0" tIns="0" rIns="0" bIns="0" rtlCol="0" anchor="ctr"/>
          <a:lstStyle/>
          <a:p>
            <a:pPr indent="0" marL="0">
              <a:lnSpc>
                <a:spcPts val="1800"/>
              </a:lnSpc>
              <a:buNone/>
            </a:pPr>
            <a:r>
              <a:rPr lang="en-US" sz="1300" b="1" dirty="0">
                <a:solidFill>
                  <a:srgbClr val="A8442A"/>
                </a:solidFill>
                <a:latin typeface="Calibri" pitchFamily="34" charset="0"/>
                <a:ea typeface="Calibri" pitchFamily="34" charset="-122"/>
                <a:cs typeface="Calibri" pitchFamily="34" charset="-120"/>
              </a:rPr>
              <a:t>Implikasi desain. </a:t>
            </a:r>
            <a:pPr indent="0" marL="0">
              <a:lnSpc>
                <a:spcPts val="1800"/>
              </a:lnSpc>
              <a:buNone/>
            </a:pPr>
            <a:r>
              <a:rPr lang="en-US" sz="1300" dirty="0">
                <a:solidFill>
                  <a:srgbClr val="3A4048"/>
                </a:solidFill>
                <a:latin typeface="Calibri" pitchFamily="34" charset="0"/>
                <a:ea typeface="Calibri" pitchFamily="34" charset="-122"/>
                <a:cs typeface="Calibri" pitchFamily="34" charset="-120"/>
              </a:rPr>
              <a:t>Tidak ada pergeseran distribusi antar tahun, sehingga satu model untuk seluruh periode sudah tepat. Fitur indikator tahun dan model terpisah per tahun keduanya kami uji lalu tolak.</a:t>
            </a:r>
            <a:endParaRPr lang="en-US" sz="1300" dirty="0"/>
          </a:p>
        </p:txBody>
      </p:sp>
      <p:sp>
        <p:nvSpPr>
          <p:cNvPr id="12" name="Shape 8"/>
          <p:cNvSpPr/>
          <p:nvPr/>
        </p:nvSpPr>
        <p:spPr>
          <a:xfrm>
            <a:off x="640080" y="6400800"/>
            <a:ext cx="1572768" cy="45720"/>
          </a:xfrm>
          <a:prstGeom prst="rect">
            <a:avLst/>
          </a:prstGeom>
          <a:solidFill>
            <a:srgbClr val="DCD8D1"/>
          </a:solidFill>
          <a:ln/>
        </p:spPr>
      </p:sp>
      <p:sp>
        <p:nvSpPr>
          <p:cNvPr id="13" name="Text 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4" name="Shape 10"/>
          <p:cNvSpPr/>
          <p:nvPr/>
        </p:nvSpPr>
        <p:spPr>
          <a:xfrm>
            <a:off x="2304288" y="6400800"/>
            <a:ext cx="1572768" cy="45720"/>
          </a:xfrm>
          <a:prstGeom prst="rect">
            <a:avLst/>
          </a:prstGeom>
          <a:solidFill>
            <a:srgbClr val="A8442A"/>
          </a:solidFill>
          <a:ln/>
        </p:spPr>
      </p:sp>
      <p:sp>
        <p:nvSpPr>
          <p:cNvPr id="15" name="Text 1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16" name="Shape 12"/>
          <p:cNvSpPr/>
          <p:nvPr/>
        </p:nvSpPr>
        <p:spPr>
          <a:xfrm>
            <a:off x="3968496" y="6400800"/>
            <a:ext cx="1572768" cy="45720"/>
          </a:xfrm>
          <a:prstGeom prst="rect">
            <a:avLst/>
          </a:prstGeom>
          <a:solidFill>
            <a:srgbClr val="DCD8D1"/>
          </a:solidFill>
          <a:ln/>
        </p:spPr>
      </p:sp>
      <p:sp>
        <p:nvSpPr>
          <p:cNvPr id="17" name="Text 1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8" name="Shape 14"/>
          <p:cNvSpPr/>
          <p:nvPr/>
        </p:nvSpPr>
        <p:spPr>
          <a:xfrm>
            <a:off x="5632704" y="6400800"/>
            <a:ext cx="1572768" cy="45720"/>
          </a:xfrm>
          <a:prstGeom prst="rect">
            <a:avLst/>
          </a:prstGeom>
          <a:solidFill>
            <a:srgbClr val="DCD8D1"/>
          </a:solidFill>
          <a:ln/>
        </p:spPr>
      </p:sp>
      <p:sp>
        <p:nvSpPr>
          <p:cNvPr id="19" name="Text 1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0" name="Shape 16"/>
          <p:cNvSpPr/>
          <p:nvPr/>
        </p:nvSpPr>
        <p:spPr>
          <a:xfrm>
            <a:off x="7296912" y="6400800"/>
            <a:ext cx="1572768" cy="45720"/>
          </a:xfrm>
          <a:prstGeom prst="rect">
            <a:avLst/>
          </a:prstGeom>
          <a:solidFill>
            <a:srgbClr val="DCD8D1"/>
          </a:solidFill>
          <a:ln/>
        </p:spPr>
      </p:sp>
      <p:sp>
        <p:nvSpPr>
          <p:cNvPr id="21" name="Text 1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2" name="Shape 18"/>
          <p:cNvSpPr/>
          <p:nvPr/>
        </p:nvSpPr>
        <p:spPr>
          <a:xfrm>
            <a:off x="8961120" y="6400800"/>
            <a:ext cx="1572768" cy="45720"/>
          </a:xfrm>
          <a:prstGeom prst="rect">
            <a:avLst/>
          </a:prstGeom>
          <a:solidFill>
            <a:srgbClr val="DCD8D1"/>
          </a:solidFill>
          <a:ln/>
        </p:spPr>
      </p:sp>
      <p:sp>
        <p:nvSpPr>
          <p:cNvPr id="23" name="Text 1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4" name="Text 2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Yang tidak direkam survei ini justru penentu terbesarnya.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Kekuatan sinyal per domain variabel, diukur dengan korelasi Spearman terhadap target.</a:t>
            </a:r>
            <a:endParaRPr lang="en-US" sz="1400" dirty="0"/>
          </a:p>
        </p:txBody>
      </p:sp>
      <p:sp>
        <p:nvSpPr>
          <p:cNvPr id="4" name="Text 2"/>
          <p:cNvSpPr/>
          <p:nvPr/>
        </p:nvSpPr>
        <p:spPr>
          <a:xfrm>
            <a:off x="640080" y="2249424"/>
            <a:ext cx="2651760" cy="338328"/>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Kesehatan fisik  (10)</a:t>
            </a:r>
            <a:endParaRPr lang="en-US" sz="1100" dirty="0"/>
          </a:p>
        </p:txBody>
      </p:sp>
      <p:sp>
        <p:nvSpPr>
          <p:cNvPr id="5" name="Shape 3"/>
          <p:cNvSpPr/>
          <p:nvPr/>
        </p:nvSpPr>
        <p:spPr>
          <a:xfrm>
            <a:off x="3401568" y="2313432"/>
            <a:ext cx="3209544" cy="210312"/>
          </a:xfrm>
          <a:prstGeom prst="rect">
            <a:avLst/>
          </a:prstGeom>
          <a:solidFill>
            <a:srgbClr val="F4F1EC"/>
          </a:solidFill>
          <a:ln/>
        </p:spPr>
      </p:sp>
      <p:sp>
        <p:nvSpPr>
          <p:cNvPr id="6" name="Shape 4"/>
          <p:cNvSpPr/>
          <p:nvPr/>
        </p:nvSpPr>
        <p:spPr>
          <a:xfrm>
            <a:off x="3401568" y="2313432"/>
            <a:ext cx="2899823" cy="210312"/>
          </a:xfrm>
          <a:prstGeom prst="rect">
            <a:avLst/>
          </a:prstGeom>
          <a:solidFill>
            <a:srgbClr val="2F6B5F"/>
          </a:solidFill>
          <a:ln/>
        </p:spPr>
      </p:sp>
      <p:sp>
        <p:nvSpPr>
          <p:cNvPr id="7" name="Text 5"/>
          <p:cNvSpPr/>
          <p:nvPr/>
        </p:nvSpPr>
        <p:spPr>
          <a:xfrm>
            <a:off x="6702552" y="2249424"/>
            <a:ext cx="777240" cy="338328"/>
          </a:xfrm>
          <a:prstGeom prst="rect">
            <a:avLst/>
          </a:prstGeom>
          <a:noFill/>
          <a:ln/>
        </p:spPr>
        <p:txBody>
          <a:bodyPr wrap="square" lIns="0" tIns="0" rIns="0" bIns="0" rtlCol="0" anchor="ctr"/>
          <a:lstStyle/>
          <a:p>
            <a:pPr algn="l" indent="0" marL="0">
              <a:buNone/>
            </a:pPr>
            <a:r>
              <a:rPr lang="en-US" sz="1100" b="1" dirty="0">
                <a:solidFill>
                  <a:srgbClr val="2F6B5F"/>
                </a:solidFill>
                <a:latin typeface="Calibri" pitchFamily="34" charset="0"/>
                <a:ea typeface="Calibri" pitchFamily="34" charset="-122"/>
                <a:cs typeface="Calibri" pitchFamily="34" charset="-120"/>
              </a:rPr>
              <a:t>0,3614</a:t>
            </a:r>
            <a:endParaRPr lang="en-US" sz="1100" dirty="0"/>
          </a:p>
        </p:txBody>
      </p:sp>
      <p:sp>
        <p:nvSpPr>
          <p:cNvPr id="8" name="Text 6"/>
          <p:cNvSpPr/>
          <p:nvPr/>
        </p:nvSpPr>
        <p:spPr>
          <a:xfrm>
            <a:off x="640080" y="2660904"/>
            <a:ext cx="2651760" cy="338328"/>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Kesehatan mental  (9)</a:t>
            </a:r>
            <a:endParaRPr lang="en-US" sz="1100" dirty="0"/>
          </a:p>
        </p:txBody>
      </p:sp>
      <p:sp>
        <p:nvSpPr>
          <p:cNvPr id="9" name="Shape 7"/>
          <p:cNvSpPr/>
          <p:nvPr/>
        </p:nvSpPr>
        <p:spPr>
          <a:xfrm>
            <a:off x="3401568" y="2724912"/>
            <a:ext cx="3209544" cy="210312"/>
          </a:xfrm>
          <a:prstGeom prst="rect">
            <a:avLst/>
          </a:prstGeom>
          <a:solidFill>
            <a:srgbClr val="F4F1EC"/>
          </a:solidFill>
          <a:ln/>
        </p:spPr>
      </p:sp>
      <p:sp>
        <p:nvSpPr>
          <p:cNvPr id="10" name="Shape 8"/>
          <p:cNvSpPr/>
          <p:nvPr/>
        </p:nvSpPr>
        <p:spPr>
          <a:xfrm>
            <a:off x="3401568" y="2724912"/>
            <a:ext cx="2587695" cy="210312"/>
          </a:xfrm>
          <a:prstGeom prst="rect">
            <a:avLst/>
          </a:prstGeom>
          <a:solidFill>
            <a:srgbClr val="2F6B5F"/>
          </a:solidFill>
          <a:ln/>
        </p:spPr>
      </p:sp>
      <p:sp>
        <p:nvSpPr>
          <p:cNvPr id="11" name="Text 9"/>
          <p:cNvSpPr/>
          <p:nvPr/>
        </p:nvSpPr>
        <p:spPr>
          <a:xfrm>
            <a:off x="6702552" y="2660904"/>
            <a:ext cx="777240" cy="338328"/>
          </a:xfrm>
          <a:prstGeom prst="rect">
            <a:avLst/>
          </a:prstGeom>
          <a:noFill/>
          <a:ln/>
        </p:spPr>
        <p:txBody>
          <a:bodyPr wrap="square" lIns="0" tIns="0" rIns="0" bIns="0" rtlCol="0" anchor="ctr"/>
          <a:lstStyle/>
          <a:p>
            <a:pPr algn="l" indent="0" marL="0">
              <a:buNone/>
            </a:pPr>
            <a:r>
              <a:rPr lang="en-US" sz="1100" b="1" dirty="0">
                <a:solidFill>
                  <a:srgbClr val="2F6B5F"/>
                </a:solidFill>
                <a:latin typeface="Calibri" pitchFamily="34" charset="0"/>
                <a:ea typeface="Calibri" pitchFamily="34" charset="-122"/>
                <a:cs typeface="Calibri" pitchFamily="34" charset="-120"/>
              </a:rPr>
              <a:t>0,3225</a:t>
            </a:r>
            <a:endParaRPr lang="en-US" sz="1100" dirty="0"/>
          </a:p>
        </p:txBody>
      </p:sp>
      <p:sp>
        <p:nvSpPr>
          <p:cNvPr id="12" name="Text 10"/>
          <p:cNvSpPr/>
          <p:nvPr/>
        </p:nvSpPr>
        <p:spPr>
          <a:xfrm>
            <a:off x="640080" y="307238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Disabilitas  (16)</a:t>
            </a:r>
            <a:endParaRPr lang="en-US" sz="1100" dirty="0"/>
          </a:p>
        </p:txBody>
      </p:sp>
      <p:sp>
        <p:nvSpPr>
          <p:cNvPr id="13" name="Shape 11"/>
          <p:cNvSpPr/>
          <p:nvPr/>
        </p:nvSpPr>
        <p:spPr>
          <a:xfrm>
            <a:off x="3401568" y="3136392"/>
            <a:ext cx="3209544" cy="210312"/>
          </a:xfrm>
          <a:prstGeom prst="rect">
            <a:avLst/>
          </a:prstGeom>
          <a:solidFill>
            <a:srgbClr val="F4F1EC"/>
          </a:solidFill>
          <a:ln/>
        </p:spPr>
      </p:sp>
      <p:sp>
        <p:nvSpPr>
          <p:cNvPr id="14" name="Shape 12"/>
          <p:cNvSpPr/>
          <p:nvPr/>
        </p:nvSpPr>
        <p:spPr>
          <a:xfrm>
            <a:off x="3401568" y="3136392"/>
            <a:ext cx="1838266" cy="210312"/>
          </a:xfrm>
          <a:prstGeom prst="rect">
            <a:avLst/>
          </a:prstGeom>
          <a:solidFill>
            <a:srgbClr val="8FB0A4"/>
          </a:solidFill>
          <a:ln/>
        </p:spPr>
      </p:sp>
      <p:sp>
        <p:nvSpPr>
          <p:cNvPr id="15" name="Text 13"/>
          <p:cNvSpPr/>
          <p:nvPr/>
        </p:nvSpPr>
        <p:spPr>
          <a:xfrm>
            <a:off x="6702552" y="307238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0,2291</a:t>
            </a:r>
            <a:endParaRPr lang="en-US" sz="1100" dirty="0"/>
          </a:p>
        </p:txBody>
      </p:sp>
      <p:sp>
        <p:nvSpPr>
          <p:cNvPr id="16" name="Text 14"/>
          <p:cNvSpPr/>
          <p:nvPr/>
        </p:nvSpPr>
        <p:spPr>
          <a:xfrm>
            <a:off x="640080" y="348386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Ekonomi dan pangan  (7)</a:t>
            </a:r>
            <a:endParaRPr lang="en-US" sz="1100" dirty="0"/>
          </a:p>
        </p:txBody>
      </p:sp>
      <p:sp>
        <p:nvSpPr>
          <p:cNvPr id="17" name="Shape 15"/>
          <p:cNvSpPr/>
          <p:nvPr/>
        </p:nvSpPr>
        <p:spPr>
          <a:xfrm>
            <a:off x="3401568" y="3547872"/>
            <a:ext cx="3209544" cy="210312"/>
          </a:xfrm>
          <a:prstGeom prst="rect">
            <a:avLst/>
          </a:prstGeom>
          <a:solidFill>
            <a:srgbClr val="F4F1EC"/>
          </a:solidFill>
          <a:ln/>
        </p:spPr>
      </p:sp>
      <p:sp>
        <p:nvSpPr>
          <p:cNvPr id="18" name="Shape 16"/>
          <p:cNvSpPr/>
          <p:nvPr/>
        </p:nvSpPr>
        <p:spPr>
          <a:xfrm>
            <a:off x="3401568" y="3547872"/>
            <a:ext cx="1754016" cy="210312"/>
          </a:xfrm>
          <a:prstGeom prst="rect">
            <a:avLst/>
          </a:prstGeom>
          <a:solidFill>
            <a:srgbClr val="8FB0A4"/>
          </a:solidFill>
          <a:ln/>
        </p:spPr>
      </p:sp>
      <p:sp>
        <p:nvSpPr>
          <p:cNvPr id="19" name="Text 17"/>
          <p:cNvSpPr/>
          <p:nvPr/>
        </p:nvSpPr>
        <p:spPr>
          <a:xfrm>
            <a:off x="6702552" y="348386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0,2186</a:t>
            </a:r>
            <a:endParaRPr lang="en-US" sz="1100" dirty="0"/>
          </a:p>
        </p:txBody>
      </p:sp>
      <p:sp>
        <p:nvSpPr>
          <p:cNvPr id="20" name="Text 18"/>
          <p:cNvSpPr/>
          <p:nvPr/>
        </p:nvSpPr>
        <p:spPr>
          <a:xfrm>
            <a:off x="640080" y="389534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Demografi  (7)</a:t>
            </a:r>
            <a:endParaRPr lang="en-US" sz="1100" dirty="0"/>
          </a:p>
        </p:txBody>
      </p:sp>
      <p:sp>
        <p:nvSpPr>
          <p:cNvPr id="21" name="Shape 19"/>
          <p:cNvSpPr/>
          <p:nvPr/>
        </p:nvSpPr>
        <p:spPr>
          <a:xfrm>
            <a:off x="3401568" y="3959352"/>
            <a:ext cx="3209544" cy="210312"/>
          </a:xfrm>
          <a:prstGeom prst="rect">
            <a:avLst/>
          </a:prstGeom>
          <a:solidFill>
            <a:srgbClr val="F4F1EC"/>
          </a:solidFill>
          <a:ln/>
        </p:spPr>
      </p:sp>
      <p:sp>
        <p:nvSpPr>
          <p:cNvPr id="22" name="Shape 20"/>
          <p:cNvSpPr/>
          <p:nvPr/>
        </p:nvSpPr>
        <p:spPr>
          <a:xfrm>
            <a:off x="3401568" y="3959352"/>
            <a:ext cx="1579898" cy="210312"/>
          </a:xfrm>
          <a:prstGeom prst="rect">
            <a:avLst/>
          </a:prstGeom>
          <a:solidFill>
            <a:srgbClr val="D8A25E"/>
          </a:solidFill>
          <a:ln/>
        </p:spPr>
      </p:sp>
      <p:sp>
        <p:nvSpPr>
          <p:cNvPr id="23" name="Text 21"/>
          <p:cNvSpPr/>
          <p:nvPr/>
        </p:nvSpPr>
        <p:spPr>
          <a:xfrm>
            <a:off x="6702552" y="389534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0,1969</a:t>
            </a:r>
            <a:endParaRPr lang="en-US" sz="1100" dirty="0"/>
          </a:p>
        </p:txBody>
      </p:sp>
      <p:sp>
        <p:nvSpPr>
          <p:cNvPr id="24" name="Text 22"/>
          <p:cNvSpPr/>
          <p:nvPr/>
        </p:nvSpPr>
        <p:spPr>
          <a:xfrm>
            <a:off x="640080" y="430682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Akses layanan  (6)</a:t>
            </a:r>
            <a:endParaRPr lang="en-US" sz="1100" dirty="0"/>
          </a:p>
        </p:txBody>
      </p:sp>
      <p:sp>
        <p:nvSpPr>
          <p:cNvPr id="25" name="Shape 23"/>
          <p:cNvSpPr/>
          <p:nvPr/>
        </p:nvSpPr>
        <p:spPr>
          <a:xfrm>
            <a:off x="3401568" y="4370832"/>
            <a:ext cx="3209544" cy="210312"/>
          </a:xfrm>
          <a:prstGeom prst="rect">
            <a:avLst/>
          </a:prstGeom>
          <a:solidFill>
            <a:srgbClr val="F4F1EC"/>
          </a:solidFill>
          <a:ln/>
        </p:spPr>
      </p:sp>
      <p:sp>
        <p:nvSpPr>
          <p:cNvPr id="26" name="Shape 24"/>
          <p:cNvSpPr/>
          <p:nvPr/>
        </p:nvSpPr>
        <p:spPr>
          <a:xfrm>
            <a:off x="3401568" y="4370832"/>
            <a:ext cx="1449109" cy="210312"/>
          </a:xfrm>
          <a:prstGeom prst="rect">
            <a:avLst/>
          </a:prstGeom>
          <a:solidFill>
            <a:srgbClr val="D8A25E"/>
          </a:solidFill>
          <a:ln/>
        </p:spPr>
      </p:sp>
      <p:sp>
        <p:nvSpPr>
          <p:cNvPr id="27" name="Text 25"/>
          <p:cNvSpPr/>
          <p:nvPr/>
        </p:nvSpPr>
        <p:spPr>
          <a:xfrm>
            <a:off x="6702552" y="430682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0,1806</a:t>
            </a:r>
            <a:endParaRPr lang="en-US" sz="1100" dirty="0"/>
          </a:p>
        </p:txBody>
      </p:sp>
      <p:sp>
        <p:nvSpPr>
          <p:cNvPr id="28" name="Text 26"/>
          <p:cNvSpPr/>
          <p:nvPr/>
        </p:nvSpPr>
        <p:spPr>
          <a:xfrm>
            <a:off x="640080" y="471830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Tempat tinggal  (3)</a:t>
            </a:r>
            <a:endParaRPr lang="en-US" sz="1100" dirty="0"/>
          </a:p>
        </p:txBody>
      </p:sp>
      <p:sp>
        <p:nvSpPr>
          <p:cNvPr id="29" name="Shape 27"/>
          <p:cNvSpPr/>
          <p:nvPr/>
        </p:nvSpPr>
        <p:spPr>
          <a:xfrm>
            <a:off x="3401568" y="4782312"/>
            <a:ext cx="3209544" cy="210312"/>
          </a:xfrm>
          <a:prstGeom prst="rect">
            <a:avLst/>
          </a:prstGeom>
          <a:solidFill>
            <a:srgbClr val="F4F1EC"/>
          </a:solidFill>
          <a:ln/>
        </p:spPr>
      </p:sp>
      <p:sp>
        <p:nvSpPr>
          <p:cNvPr id="30" name="Shape 28"/>
          <p:cNvSpPr/>
          <p:nvPr/>
        </p:nvSpPr>
        <p:spPr>
          <a:xfrm>
            <a:off x="3401568" y="4782312"/>
            <a:ext cx="1131364" cy="210312"/>
          </a:xfrm>
          <a:prstGeom prst="rect">
            <a:avLst/>
          </a:prstGeom>
          <a:solidFill>
            <a:srgbClr val="9AA0A7"/>
          </a:solidFill>
          <a:ln/>
        </p:spPr>
      </p:sp>
      <p:sp>
        <p:nvSpPr>
          <p:cNvPr id="31" name="Text 29"/>
          <p:cNvSpPr/>
          <p:nvPr/>
        </p:nvSpPr>
        <p:spPr>
          <a:xfrm>
            <a:off x="6702552" y="471830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0,1410</a:t>
            </a:r>
            <a:endParaRPr lang="en-US" sz="1100" dirty="0"/>
          </a:p>
        </p:txBody>
      </p:sp>
      <p:sp>
        <p:nvSpPr>
          <p:cNvPr id="32" name="Text 30"/>
          <p:cNvSpPr/>
          <p:nvPr/>
        </p:nvSpPr>
        <p:spPr>
          <a:xfrm>
            <a:off x="640080" y="5129784"/>
            <a:ext cx="2651760" cy="338328"/>
          </a:xfrm>
          <a:prstGeom prst="rect">
            <a:avLst/>
          </a:prstGeom>
          <a:noFill/>
          <a:ln/>
        </p:spPr>
        <p:txBody>
          <a:bodyPr wrap="square" lIns="0" tIns="0" rIns="0" bIns="0" rtlCol="0" anchor="ctr"/>
          <a:lstStyle/>
          <a:p>
            <a:pPr algn="r" indent="0" marL="0">
              <a:buNone/>
            </a:pPr>
            <a:r>
              <a:rPr lang="en-US" sz="1100" dirty="0">
                <a:solidFill>
                  <a:srgbClr val="3A4048"/>
                </a:solidFill>
                <a:latin typeface="Calibri" pitchFamily="34" charset="0"/>
                <a:ea typeface="Calibri" pitchFamily="34" charset="-122"/>
                <a:cs typeface="Calibri" pitchFamily="34" charset="-120"/>
              </a:rPr>
              <a:t>Pekerjaan  (6)</a:t>
            </a:r>
            <a:endParaRPr lang="en-US" sz="1100" dirty="0"/>
          </a:p>
        </p:txBody>
      </p:sp>
      <p:sp>
        <p:nvSpPr>
          <p:cNvPr id="33" name="Shape 31"/>
          <p:cNvSpPr/>
          <p:nvPr/>
        </p:nvSpPr>
        <p:spPr>
          <a:xfrm>
            <a:off x="3401568" y="5193792"/>
            <a:ext cx="3209544" cy="210312"/>
          </a:xfrm>
          <a:prstGeom prst="rect">
            <a:avLst/>
          </a:prstGeom>
          <a:solidFill>
            <a:srgbClr val="F4F1EC"/>
          </a:solidFill>
          <a:ln/>
        </p:spPr>
      </p:sp>
      <p:sp>
        <p:nvSpPr>
          <p:cNvPr id="34" name="Shape 32"/>
          <p:cNvSpPr/>
          <p:nvPr/>
        </p:nvSpPr>
        <p:spPr>
          <a:xfrm>
            <a:off x="3401568" y="5193792"/>
            <a:ext cx="838493" cy="210312"/>
          </a:xfrm>
          <a:prstGeom prst="rect">
            <a:avLst/>
          </a:prstGeom>
          <a:solidFill>
            <a:srgbClr val="9AA0A7"/>
          </a:solidFill>
          <a:ln/>
        </p:spPr>
      </p:sp>
      <p:sp>
        <p:nvSpPr>
          <p:cNvPr id="35" name="Text 33"/>
          <p:cNvSpPr/>
          <p:nvPr/>
        </p:nvSpPr>
        <p:spPr>
          <a:xfrm>
            <a:off x="6702552" y="5129784"/>
            <a:ext cx="777240" cy="338328"/>
          </a:xfrm>
          <a:prstGeom prst="rect">
            <a:avLst/>
          </a:prstGeom>
          <a:noFill/>
          <a:ln/>
        </p:spPr>
        <p:txBody>
          <a:bodyPr wrap="square" lIns="0" tIns="0" rIns="0" bIns="0" rtlCol="0" anchor="ctr"/>
          <a:lstStyle/>
          <a:p>
            <a:pPr algn="l" indent="0" marL="0">
              <a:buNone/>
            </a:pPr>
            <a:r>
              <a:rPr lang="en-US" sz="1100" dirty="0">
                <a:solidFill>
                  <a:srgbClr val="3A4048"/>
                </a:solidFill>
                <a:latin typeface="Calibri" pitchFamily="34" charset="0"/>
                <a:ea typeface="Calibri" pitchFamily="34" charset="-122"/>
                <a:cs typeface="Calibri" pitchFamily="34" charset="-120"/>
              </a:rPr>
              <a:t>0,1045</a:t>
            </a:r>
            <a:endParaRPr lang="en-US" sz="1100" dirty="0"/>
          </a:p>
        </p:txBody>
      </p:sp>
      <p:sp>
        <p:nvSpPr>
          <p:cNvPr id="36" name="Shape 34"/>
          <p:cNvSpPr/>
          <p:nvPr/>
        </p:nvSpPr>
        <p:spPr>
          <a:xfrm>
            <a:off x="7863840" y="2249424"/>
            <a:ext cx="3687775" cy="3017520"/>
          </a:xfrm>
          <a:prstGeom prst="roundRect">
            <a:avLst>
              <a:gd name="adj" fmla="val 1818"/>
            </a:avLst>
          </a:prstGeom>
          <a:solidFill>
            <a:srgbClr val="16191D"/>
          </a:solidFill>
          <a:ln w="9525">
            <a:solidFill>
              <a:srgbClr val="16191D"/>
            </a:solidFill>
            <a:prstDash val="solid"/>
          </a:ln>
        </p:spPr>
      </p:sp>
      <p:sp>
        <p:nvSpPr>
          <p:cNvPr id="37" name="Text 35"/>
          <p:cNvSpPr/>
          <p:nvPr/>
        </p:nvSpPr>
        <p:spPr>
          <a:xfrm>
            <a:off x="8174736" y="2450592"/>
            <a:ext cx="3065983"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Tidak ada di berkas mana pun</a:t>
            </a:r>
            <a:endParaRPr lang="en-US" sz="1400" dirty="0"/>
          </a:p>
        </p:txBody>
      </p:sp>
      <p:sp>
        <p:nvSpPr>
          <p:cNvPr id="38" name="Shape 36"/>
          <p:cNvSpPr/>
          <p:nvPr/>
        </p:nvSpPr>
        <p:spPr>
          <a:xfrm>
            <a:off x="8174736" y="2971800"/>
            <a:ext cx="128016" cy="128016"/>
          </a:xfrm>
          <a:prstGeom prst="rect">
            <a:avLst/>
          </a:prstGeom>
          <a:solidFill>
            <a:srgbClr val="A8442A"/>
          </a:solidFill>
          <a:ln/>
        </p:spPr>
      </p:sp>
      <p:sp>
        <p:nvSpPr>
          <p:cNvPr id="39" name="Text 37"/>
          <p:cNvSpPr/>
          <p:nvPr/>
        </p:nvSpPr>
        <p:spPr>
          <a:xfrm>
            <a:off x="8449056" y="2852928"/>
            <a:ext cx="2773375"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Kepribadian</a:t>
            </a:r>
            <a:endParaRPr lang="en-US" sz="1200" dirty="0"/>
          </a:p>
        </p:txBody>
      </p:sp>
      <p:sp>
        <p:nvSpPr>
          <p:cNvPr id="40" name="Shape 38"/>
          <p:cNvSpPr/>
          <p:nvPr/>
        </p:nvSpPr>
        <p:spPr>
          <a:xfrm>
            <a:off x="8174736" y="3374136"/>
            <a:ext cx="128016" cy="128016"/>
          </a:xfrm>
          <a:prstGeom prst="rect">
            <a:avLst/>
          </a:prstGeom>
          <a:solidFill>
            <a:srgbClr val="A8442A"/>
          </a:solidFill>
          <a:ln/>
        </p:spPr>
      </p:sp>
      <p:sp>
        <p:nvSpPr>
          <p:cNvPr id="41" name="Text 39"/>
          <p:cNvSpPr/>
          <p:nvPr/>
        </p:nvSpPr>
        <p:spPr>
          <a:xfrm>
            <a:off x="8449056" y="3255264"/>
            <a:ext cx="2773375"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Kualitas hubungan sosial</a:t>
            </a:r>
            <a:endParaRPr lang="en-US" sz="1200" dirty="0"/>
          </a:p>
        </p:txBody>
      </p:sp>
      <p:sp>
        <p:nvSpPr>
          <p:cNvPr id="42" name="Shape 40"/>
          <p:cNvSpPr/>
          <p:nvPr/>
        </p:nvSpPr>
        <p:spPr>
          <a:xfrm>
            <a:off x="8174736" y="3776472"/>
            <a:ext cx="128016" cy="128016"/>
          </a:xfrm>
          <a:prstGeom prst="rect">
            <a:avLst/>
          </a:prstGeom>
          <a:solidFill>
            <a:srgbClr val="A8442A"/>
          </a:solidFill>
          <a:ln/>
        </p:spPr>
      </p:sp>
      <p:sp>
        <p:nvSpPr>
          <p:cNvPr id="43" name="Text 41"/>
          <p:cNvSpPr/>
          <p:nvPr/>
        </p:nvSpPr>
        <p:spPr>
          <a:xfrm>
            <a:off x="8449056" y="3657600"/>
            <a:ext cx="2773375"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Rasa bermakna hidup</a:t>
            </a:r>
            <a:endParaRPr lang="en-US" sz="1200" dirty="0"/>
          </a:p>
        </p:txBody>
      </p:sp>
      <p:sp>
        <p:nvSpPr>
          <p:cNvPr id="44" name="Shape 42"/>
          <p:cNvSpPr/>
          <p:nvPr/>
        </p:nvSpPr>
        <p:spPr>
          <a:xfrm>
            <a:off x="8174736" y="4178808"/>
            <a:ext cx="128016" cy="128016"/>
          </a:xfrm>
          <a:prstGeom prst="rect">
            <a:avLst/>
          </a:prstGeom>
          <a:solidFill>
            <a:srgbClr val="A8442A"/>
          </a:solidFill>
          <a:ln/>
        </p:spPr>
      </p:sp>
      <p:sp>
        <p:nvSpPr>
          <p:cNvPr id="45" name="Text 43"/>
          <p:cNvSpPr/>
          <p:nvPr/>
        </p:nvSpPr>
        <p:spPr>
          <a:xfrm>
            <a:off x="8449056" y="4059936"/>
            <a:ext cx="2773375"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Adaptasi hedonik</a:t>
            </a:r>
            <a:endParaRPr lang="en-US" sz="1200" dirty="0"/>
          </a:p>
        </p:txBody>
      </p:sp>
      <p:sp>
        <p:nvSpPr>
          <p:cNvPr id="46" name="Text 44"/>
          <p:cNvSpPr/>
          <p:nvPr/>
        </p:nvSpPr>
        <p:spPr>
          <a:xfrm>
            <a:off x="8174736" y="4535424"/>
            <a:ext cx="3065983" cy="658368"/>
          </a:xfrm>
          <a:prstGeom prst="rect">
            <a:avLst/>
          </a:prstGeom>
          <a:noFill/>
          <a:ln/>
        </p:spPr>
        <p:txBody>
          <a:bodyPr wrap="square" lIns="0" tIns="0" rIns="0" bIns="0" rtlCol="0" anchor="t"/>
          <a:lstStyle/>
          <a:p>
            <a:pPr indent="0" marL="0">
              <a:lnSpc>
                <a:spcPts val="1600"/>
              </a:lnSpc>
              <a:buNone/>
            </a:pPr>
            <a:r>
              <a:rPr lang="en-US" sz="1150" dirty="0">
                <a:solidFill>
                  <a:srgbClr val="9AA0A7"/>
                </a:solidFill>
                <a:latin typeface="Calibri" pitchFamily="34" charset="0"/>
                <a:ea typeface="Calibri" pitchFamily="34" charset="-122"/>
                <a:cs typeface="Calibri" pitchFamily="34" charset="-120"/>
              </a:rPr>
              <a:t>Literatur kesejahteraan subjektif menempatkan keempatnya di barisan depan. Survei kesehatan tidak merekam satu pun.</a:t>
            </a:r>
            <a:endParaRPr lang="en-US" sz="1150" dirty="0"/>
          </a:p>
        </p:txBody>
      </p:sp>
      <p:sp>
        <p:nvSpPr>
          <p:cNvPr id="47" name="Text 45"/>
          <p:cNvSpPr/>
          <p:nvPr/>
        </p:nvSpPr>
        <p:spPr>
          <a:xfrm>
            <a:off x="640080" y="5504688"/>
            <a:ext cx="10911535" cy="548640"/>
          </a:xfrm>
          <a:prstGeom prst="rect">
            <a:avLst/>
          </a:prstGeom>
          <a:noFill/>
          <a:ln/>
        </p:spPr>
        <p:txBody>
          <a:bodyPr wrap="square" lIns="0" tIns="0" rIns="0" bIns="0" rtlCol="0" anchor="ctr"/>
          <a:lstStyle/>
          <a:p>
            <a:pPr indent="0" marL="0">
              <a:lnSpc>
                <a:spcPts val="1800"/>
              </a:lnSpc>
              <a:buNone/>
            </a:pPr>
            <a:r>
              <a:rPr lang="en-US" sz="1300" b="1" dirty="0">
                <a:solidFill>
                  <a:srgbClr val="A8442A"/>
                </a:solidFill>
                <a:latin typeface="Calibri" pitchFamily="34" charset="0"/>
                <a:ea typeface="Calibri" pitchFamily="34" charset="-122"/>
                <a:cs typeface="Calibri" pitchFamily="34" charset="-120"/>
              </a:rPr>
              <a:t>Implikasi desain. </a:t>
            </a:r>
            <a:pPr indent="0" marL="0">
              <a:lnSpc>
                <a:spcPts val="1800"/>
              </a:lnSpc>
              <a:buNone/>
            </a:pPr>
            <a:r>
              <a:rPr lang="en-US" sz="1300" dirty="0">
                <a:solidFill>
                  <a:srgbClr val="3A4048"/>
                </a:solidFill>
                <a:latin typeface="Calibri" pitchFamily="34" charset="0"/>
                <a:ea typeface="Calibri" pitchFamily="34" charset="-122"/>
                <a:cs typeface="Calibri" pitchFamily="34" charset="-120"/>
              </a:rPr>
              <a:t>Ini landasan substantif analisis plafon di Babak V. Sebagian besar variasi target berada di luar jangkauan instrumen pengukuran, bukan di luar jangkauan algoritma.</a:t>
            </a:r>
            <a:endParaRPr lang="en-US" sz="1300" dirty="0"/>
          </a:p>
        </p:txBody>
      </p:sp>
      <p:sp>
        <p:nvSpPr>
          <p:cNvPr id="49" name="Shape 46"/>
          <p:cNvSpPr/>
          <p:nvPr/>
        </p:nvSpPr>
        <p:spPr>
          <a:xfrm>
            <a:off x="640080" y="6400800"/>
            <a:ext cx="1572768" cy="45720"/>
          </a:xfrm>
          <a:prstGeom prst="rect">
            <a:avLst/>
          </a:prstGeom>
          <a:solidFill>
            <a:srgbClr val="DCD8D1"/>
          </a:solidFill>
          <a:ln/>
        </p:spPr>
      </p:sp>
      <p:sp>
        <p:nvSpPr>
          <p:cNvPr id="50" name="Text 4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51" name="Shape 48"/>
          <p:cNvSpPr/>
          <p:nvPr/>
        </p:nvSpPr>
        <p:spPr>
          <a:xfrm>
            <a:off x="2304288" y="6400800"/>
            <a:ext cx="1572768" cy="45720"/>
          </a:xfrm>
          <a:prstGeom prst="rect">
            <a:avLst/>
          </a:prstGeom>
          <a:solidFill>
            <a:srgbClr val="A8442A"/>
          </a:solidFill>
          <a:ln/>
        </p:spPr>
      </p:sp>
      <p:sp>
        <p:nvSpPr>
          <p:cNvPr id="52" name="Text 4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53" name="Shape 50"/>
          <p:cNvSpPr/>
          <p:nvPr/>
        </p:nvSpPr>
        <p:spPr>
          <a:xfrm>
            <a:off x="3968496" y="6400800"/>
            <a:ext cx="1572768" cy="45720"/>
          </a:xfrm>
          <a:prstGeom prst="rect">
            <a:avLst/>
          </a:prstGeom>
          <a:solidFill>
            <a:srgbClr val="DCD8D1"/>
          </a:solidFill>
          <a:ln/>
        </p:spPr>
      </p:sp>
      <p:sp>
        <p:nvSpPr>
          <p:cNvPr id="54" name="Text 5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55" name="Shape 52"/>
          <p:cNvSpPr/>
          <p:nvPr/>
        </p:nvSpPr>
        <p:spPr>
          <a:xfrm>
            <a:off x="5632704" y="6400800"/>
            <a:ext cx="1572768" cy="45720"/>
          </a:xfrm>
          <a:prstGeom prst="rect">
            <a:avLst/>
          </a:prstGeom>
          <a:solidFill>
            <a:srgbClr val="DCD8D1"/>
          </a:solidFill>
          <a:ln/>
        </p:spPr>
      </p:sp>
      <p:sp>
        <p:nvSpPr>
          <p:cNvPr id="56" name="Text 5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57" name="Shape 54"/>
          <p:cNvSpPr/>
          <p:nvPr/>
        </p:nvSpPr>
        <p:spPr>
          <a:xfrm>
            <a:off x="7296912" y="6400800"/>
            <a:ext cx="1572768" cy="45720"/>
          </a:xfrm>
          <a:prstGeom prst="rect">
            <a:avLst/>
          </a:prstGeom>
          <a:solidFill>
            <a:srgbClr val="DCD8D1"/>
          </a:solidFill>
          <a:ln/>
        </p:spPr>
      </p:sp>
      <p:sp>
        <p:nvSpPr>
          <p:cNvPr id="58" name="Text 5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59" name="Shape 56"/>
          <p:cNvSpPr/>
          <p:nvPr/>
        </p:nvSpPr>
        <p:spPr>
          <a:xfrm>
            <a:off x="8961120" y="6400800"/>
            <a:ext cx="1572768" cy="45720"/>
          </a:xfrm>
          <a:prstGeom prst="rect">
            <a:avLst/>
          </a:prstGeom>
          <a:solidFill>
            <a:srgbClr val="DCD8D1"/>
          </a:solidFill>
          <a:ln/>
        </p:spPr>
      </p:sp>
      <p:sp>
        <p:nvSpPr>
          <p:cNvPr id="60" name="Text 5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1" name="Text 5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Dua jebakan kebocoran. Kami ukur dulu, baru buang.</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61,3% baris uji punya anggota rumah tangga yang labelnya sudah ada di data latih.</a:t>
            </a:r>
            <a:endParaRPr lang="en-US" sz="1400" dirty="0"/>
          </a:p>
        </p:txBody>
      </p:sp>
      <p:sp>
        <p:nvSpPr>
          <p:cNvPr id="4" name="Text 2"/>
          <p:cNvSpPr/>
          <p:nvPr/>
        </p:nvSpPr>
        <p:spPr>
          <a:xfrm>
            <a:off x="640080" y="2157984"/>
            <a:ext cx="5257800"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JEBAKAN 1  ·  TARGET ENCODING RUMAH TANGGA</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487168"/>
          <a:ext cx="5257800" cy="914400"/>
        </p:xfrm>
        <a:graphic>
          <a:graphicData uri="http://schemas.openxmlformats.org/drawingml/2006/table">
            <a:tbl>
              <a:tblPr/>
              <a:tblGrid>
                <a:gridCol w="3657600"/>
                <a:gridCol w="1600200"/>
              </a:tblGrid>
              <a:tr h="310896">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Anggota rumah tangga lain menjawab</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P(y = 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1  Sangat puas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b="1" dirty="0">
                          <a:solidFill>
                            <a:srgbClr val="A8442A"/>
                          </a:solidFill>
                          <a:latin typeface="Calibri" pitchFamily="34" charset="0"/>
                          <a:ea typeface="Calibri" pitchFamily="34" charset="-122"/>
                          <a:cs typeface="Calibri" pitchFamily="34" charset="-120"/>
                        </a:rPr>
                        <a:t>0,4654</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2  Puas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0,4347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3  Tidak puas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0,4280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4  Sangat tidak puas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0,4294</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3"/>
          <p:cNvSpPr/>
          <p:nvPr/>
        </p:nvSpPr>
        <p:spPr>
          <a:xfrm>
            <a:off x="640080" y="4261104"/>
            <a:ext cx="5257800" cy="329184"/>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44,9%  →  46,5%   ·   lift +1,6 poin persentase</a:t>
            </a:r>
            <a:endParaRPr lang="en-US" sz="1500" dirty="0"/>
          </a:p>
        </p:txBody>
      </p:sp>
      <p:sp>
        <p:nvSpPr>
          <p:cNvPr id="7" name="Text 4"/>
          <p:cNvSpPr/>
          <p:nvPr/>
        </p:nvSpPr>
        <p:spPr>
          <a:xfrm>
            <a:off x="640080" y="4645152"/>
            <a:ext cx="5257800" cy="73152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Itu seluruh lift yang ditawarkan struktur rumah tangga. Kepuasan hidup ternyata jauh lebih individual daripada dugaan awal.</a:t>
            </a:r>
            <a:endParaRPr lang="en-US" sz="1150" dirty="0"/>
          </a:p>
        </p:txBody>
      </p:sp>
      <p:sp>
        <p:nvSpPr>
          <p:cNvPr id="8" name="Text 5"/>
          <p:cNvSpPr/>
          <p:nvPr/>
        </p:nvSpPr>
        <p:spPr>
          <a:xfrm>
            <a:off x="6281928" y="2157984"/>
            <a:ext cx="5257800"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JEBAKAN 2  ·  KOLOM id SEBAGAI FITUR</a:t>
            </a:r>
            <a:endParaRPr lang="en-US" sz="1000" dirty="0"/>
          </a:p>
        </p:txBody>
      </p:sp>
      <p:sp>
        <p:nvSpPr>
          <p:cNvPr id="9" name="Shape 6"/>
          <p:cNvSpPr/>
          <p:nvPr/>
        </p:nvSpPr>
        <p:spPr>
          <a:xfrm>
            <a:off x="6281928" y="2487168"/>
            <a:ext cx="5257800" cy="1691640"/>
          </a:xfrm>
          <a:prstGeom prst="roundRect">
            <a:avLst>
              <a:gd name="adj" fmla="val 3243"/>
            </a:avLst>
          </a:prstGeom>
          <a:solidFill>
            <a:srgbClr val="F4F1EC"/>
          </a:solidFill>
          <a:ln w="9525">
            <a:solidFill>
              <a:srgbClr val="DCD8D1"/>
            </a:solidFill>
            <a:prstDash val="solid"/>
          </a:ln>
        </p:spPr>
      </p:sp>
      <p:sp>
        <p:nvSpPr>
          <p:cNvPr id="10" name="Text 7"/>
          <p:cNvSpPr/>
          <p:nvPr/>
        </p:nvSpPr>
        <p:spPr>
          <a:xfrm>
            <a:off x="6556248" y="2633472"/>
            <a:ext cx="2637130" cy="438912"/>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Spearman(id, target)</a:t>
            </a:r>
            <a:endParaRPr lang="en-US" sz="1100" dirty="0"/>
          </a:p>
        </p:txBody>
      </p:sp>
      <p:sp>
        <p:nvSpPr>
          <p:cNvPr id="11" name="Text 8"/>
          <p:cNvSpPr/>
          <p:nvPr/>
        </p:nvSpPr>
        <p:spPr>
          <a:xfrm>
            <a:off x="9193378" y="2633472"/>
            <a:ext cx="2072030" cy="438912"/>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0,00595</a:t>
            </a:r>
            <a:endParaRPr lang="en-US" sz="1100" dirty="0"/>
          </a:p>
        </p:txBody>
      </p:sp>
      <p:sp>
        <p:nvSpPr>
          <p:cNvPr id="12" name="Shape 9"/>
          <p:cNvSpPr/>
          <p:nvPr/>
        </p:nvSpPr>
        <p:spPr>
          <a:xfrm>
            <a:off x="6556248" y="3072384"/>
            <a:ext cx="4709160" cy="0"/>
          </a:xfrm>
          <a:prstGeom prst="line">
            <a:avLst/>
          </a:prstGeom>
          <a:noFill/>
          <a:ln w="7620">
            <a:solidFill>
              <a:srgbClr val="DCD8D1"/>
            </a:solidFill>
            <a:prstDash val="solid"/>
          </a:ln>
        </p:spPr>
      </p:sp>
      <p:sp>
        <p:nvSpPr>
          <p:cNvPr id="13" name="Text 10"/>
          <p:cNvSpPr/>
          <p:nvPr/>
        </p:nvSpPr>
        <p:spPr>
          <a:xfrm>
            <a:off x="6556248" y="3072384"/>
            <a:ext cx="2637130" cy="438912"/>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Rata-rata target per 20 bin id</a:t>
            </a:r>
            <a:endParaRPr lang="en-US" sz="1100" dirty="0"/>
          </a:p>
        </p:txBody>
      </p:sp>
      <p:sp>
        <p:nvSpPr>
          <p:cNvPr id="14" name="Text 11"/>
          <p:cNvSpPr/>
          <p:nvPr/>
        </p:nvSpPr>
        <p:spPr>
          <a:xfrm>
            <a:off x="9193378" y="3072384"/>
            <a:ext cx="2072030" cy="438912"/>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1,5925 sampai 1,6251</a:t>
            </a:r>
            <a:endParaRPr lang="en-US" sz="1100" dirty="0"/>
          </a:p>
        </p:txBody>
      </p:sp>
      <p:sp>
        <p:nvSpPr>
          <p:cNvPr id="15" name="Shape 12"/>
          <p:cNvSpPr/>
          <p:nvPr/>
        </p:nvSpPr>
        <p:spPr>
          <a:xfrm>
            <a:off x="6556248" y="3511296"/>
            <a:ext cx="4709160" cy="0"/>
          </a:xfrm>
          <a:prstGeom prst="line">
            <a:avLst/>
          </a:prstGeom>
          <a:noFill/>
          <a:ln w="7620">
            <a:solidFill>
              <a:srgbClr val="DCD8D1"/>
            </a:solidFill>
            <a:prstDash val="solid"/>
          </a:ln>
        </p:spPr>
      </p:sp>
      <p:sp>
        <p:nvSpPr>
          <p:cNvPr id="16" name="Text 13"/>
          <p:cNvSpPr/>
          <p:nvPr/>
        </p:nvSpPr>
        <p:spPr>
          <a:xfrm>
            <a:off x="6556248" y="3511296"/>
            <a:ext cx="2637130" cy="438912"/>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Rata-rata target marginal</a:t>
            </a:r>
            <a:endParaRPr lang="en-US" sz="1100" dirty="0"/>
          </a:p>
        </p:txBody>
      </p:sp>
      <p:sp>
        <p:nvSpPr>
          <p:cNvPr id="17" name="Text 14"/>
          <p:cNvSpPr/>
          <p:nvPr/>
        </p:nvSpPr>
        <p:spPr>
          <a:xfrm>
            <a:off x="9193378" y="3511296"/>
            <a:ext cx="2072030" cy="438912"/>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1,6065</a:t>
            </a:r>
            <a:endParaRPr lang="en-US" sz="1100" dirty="0"/>
          </a:p>
        </p:txBody>
      </p:sp>
      <p:sp>
        <p:nvSpPr>
          <p:cNvPr id="18" name="Text 15"/>
          <p:cNvSpPr/>
          <p:nvPr/>
        </p:nvSpPr>
        <p:spPr>
          <a:xfrm>
            <a:off x="6281928" y="4297680"/>
            <a:ext cx="5257800" cy="36576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Praktis datar. Tidak ada kebocoran urutan, jadi id dikeluarkan dari fitur.</a:t>
            </a:r>
            <a:endParaRPr lang="en-US" sz="1150" dirty="0"/>
          </a:p>
        </p:txBody>
      </p:sp>
      <p:sp>
        <p:nvSpPr>
          <p:cNvPr id="19" name="Text 16"/>
          <p:cNvSpPr/>
          <p:nvPr/>
        </p:nvSpPr>
        <p:spPr>
          <a:xfrm>
            <a:off x="6281928" y="4700016"/>
            <a:ext cx="5257800" cy="731520"/>
          </a:xfrm>
          <a:prstGeom prst="rect">
            <a:avLst/>
          </a:prstGeom>
          <a:noFill/>
          <a:ln/>
        </p:spPr>
        <p:txBody>
          <a:bodyPr wrap="square" lIns="0" tIns="0" rIns="0" bIns="0" rtlCol="0" anchor="t"/>
          <a:lstStyle/>
          <a:p>
            <a:pPr indent="0" marL="0">
              <a:lnSpc>
                <a:spcPts val="1600"/>
              </a:lnSpc>
              <a:buNone/>
            </a:pPr>
            <a:r>
              <a:rPr lang="en-US" sz="1150" b="1" dirty="0">
                <a:solidFill>
                  <a:srgbClr val="16191D"/>
                </a:solidFill>
                <a:latin typeface="Calibri" pitchFamily="34" charset="0"/>
                <a:ea typeface="Calibri" pitchFamily="34" charset="-122"/>
                <a:cs typeface="Calibri" pitchFamily="34" charset="-120"/>
              </a:rPr>
              <a:t>Temuan sampingan yang menyelamatkan submission. </a:t>
            </a:r>
            <a:pPr indent="0" marL="0">
              <a:lnSpc>
                <a:spcPts val="1600"/>
              </a:lnSpc>
              <a:buNone/>
            </a:pPr>
            <a:r>
              <a:rPr lang="en-US" sz="1150" dirty="0">
                <a:solidFill>
                  <a:srgbClr val="3A4048"/>
                </a:solidFill>
                <a:latin typeface="Calibri" pitchFamily="34" charset="0"/>
                <a:ea typeface="Calibri" pitchFamily="34" charset="-122"/>
                <a:cs typeface="Calibri" pitchFamily="34" charset="-120"/>
              </a:rPr>
              <a:t>id di berkas uji tidak unik, 23.666 id untuk 23.902 baris, jadi berkas submission harus berisi 23.666 baris.</a:t>
            </a:r>
            <a:endParaRPr lang="en-US" sz="1150" dirty="0"/>
          </a:p>
        </p:txBody>
      </p:sp>
      <p:sp>
        <p:nvSpPr>
          <p:cNvPr id="20" name="Text 17"/>
          <p:cNvSpPr/>
          <p:nvPr/>
        </p:nvSpPr>
        <p:spPr>
          <a:xfrm>
            <a:off x="640080" y="5596128"/>
            <a:ext cx="10911535" cy="365760"/>
          </a:xfrm>
          <a:prstGeom prst="rect">
            <a:avLst/>
          </a:prstGeom>
          <a:noFill/>
          <a:ln/>
        </p:spPr>
        <p:txBody>
          <a:bodyPr wrap="square" lIns="0" tIns="0" rIns="0" bIns="0" rtlCol="0" anchor="ctr"/>
          <a:lstStyle/>
          <a:p>
            <a:pPr indent="0" marL="0">
              <a:buNone/>
            </a:pPr>
            <a:r>
              <a:rPr lang="en-US" sz="1300" b="1" dirty="0">
                <a:solidFill>
                  <a:srgbClr val="16191D"/>
                </a:solidFill>
                <a:latin typeface="Calibri" pitchFamily="34" charset="0"/>
                <a:ea typeface="Calibri" pitchFamily="34" charset="-122"/>
                <a:cs typeface="Calibri" pitchFamily="34" charset="-120"/>
              </a:rPr>
              <a:t>Keduanya dibuang berdasarkan besaran sinyalnya, sebelum melihat skor apa pun.</a:t>
            </a:r>
            <a:endParaRPr lang="en-US" sz="1300" dirty="0"/>
          </a:p>
        </p:txBody>
      </p:sp>
      <p:sp>
        <p:nvSpPr>
          <p:cNvPr id="22" name="Shape 18"/>
          <p:cNvSpPr/>
          <p:nvPr/>
        </p:nvSpPr>
        <p:spPr>
          <a:xfrm>
            <a:off x="640080" y="6400800"/>
            <a:ext cx="1572768" cy="45720"/>
          </a:xfrm>
          <a:prstGeom prst="rect">
            <a:avLst/>
          </a:prstGeom>
          <a:solidFill>
            <a:srgbClr val="DCD8D1"/>
          </a:solidFill>
          <a:ln/>
        </p:spPr>
      </p:sp>
      <p:sp>
        <p:nvSpPr>
          <p:cNvPr id="23" name="Text 1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4" name="Shape 20"/>
          <p:cNvSpPr/>
          <p:nvPr/>
        </p:nvSpPr>
        <p:spPr>
          <a:xfrm>
            <a:off x="2304288" y="6400800"/>
            <a:ext cx="1572768" cy="45720"/>
          </a:xfrm>
          <a:prstGeom prst="rect">
            <a:avLst/>
          </a:prstGeom>
          <a:solidFill>
            <a:srgbClr val="A8442A"/>
          </a:solidFill>
          <a:ln/>
        </p:spPr>
      </p:sp>
      <p:sp>
        <p:nvSpPr>
          <p:cNvPr id="25" name="Text 2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26" name="Shape 22"/>
          <p:cNvSpPr/>
          <p:nvPr/>
        </p:nvSpPr>
        <p:spPr>
          <a:xfrm>
            <a:off x="3968496" y="6400800"/>
            <a:ext cx="1572768" cy="45720"/>
          </a:xfrm>
          <a:prstGeom prst="rect">
            <a:avLst/>
          </a:prstGeom>
          <a:solidFill>
            <a:srgbClr val="DCD8D1"/>
          </a:solidFill>
          <a:ln/>
        </p:spPr>
      </p:sp>
      <p:sp>
        <p:nvSpPr>
          <p:cNvPr id="27" name="Text 2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8" name="Shape 24"/>
          <p:cNvSpPr/>
          <p:nvPr/>
        </p:nvSpPr>
        <p:spPr>
          <a:xfrm>
            <a:off x="5632704" y="6400800"/>
            <a:ext cx="1572768" cy="45720"/>
          </a:xfrm>
          <a:prstGeom prst="rect">
            <a:avLst/>
          </a:prstGeom>
          <a:solidFill>
            <a:srgbClr val="DCD8D1"/>
          </a:solidFill>
          <a:ln/>
        </p:spPr>
      </p:sp>
      <p:sp>
        <p:nvSpPr>
          <p:cNvPr id="29" name="Text 2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0" name="Shape 26"/>
          <p:cNvSpPr/>
          <p:nvPr/>
        </p:nvSpPr>
        <p:spPr>
          <a:xfrm>
            <a:off x="7296912" y="6400800"/>
            <a:ext cx="1572768" cy="45720"/>
          </a:xfrm>
          <a:prstGeom prst="rect">
            <a:avLst/>
          </a:prstGeom>
          <a:solidFill>
            <a:srgbClr val="DCD8D1"/>
          </a:solidFill>
          <a:ln/>
        </p:spPr>
      </p:sp>
      <p:sp>
        <p:nvSpPr>
          <p:cNvPr id="31" name="Text 2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2" name="Shape 28"/>
          <p:cNvSpPr/>
          <p:nvPr/>
        </p:nvSpPr>
        <p:spPr>
          <a:xfrm>
            <a:off x="8961120" y="6400800"/>
            <a:ext cx="1572768" cy="45720"/>
          </a:xfrm>
          <a:prstGeom prst="rect">
            <a:avLst/>
          </a:prstGeom>
          <a:solidFill>
            <a:srgbClr val="DCD8D1"/>
          </a:solidFill>
          <a:ln/>
        </p:spPr>
      </p:sp>
      <p:sp>
        <p:nvSpPr>
          <p:cNvPr id="33" name="Text 2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4" name="Text 3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548640"/>
          </a:xfrm>
          <a:prstGeom prst="rect">
            <a:avLst/>
          </a:prstGeom>
          <a:noFill/>
          <a:ln/>
        </p:spPr>
        <p:txBody>
          <a:bodyPr wrap="square" lIns="0" tIns="0" rIns="0" bIns="0" rtlCol="0" anchor="t"/>
          <a:lstStyle/>
          <a:p>
            <a:pPr indent="0" marL="0">
              <a:lnSpc>
                <a:spcPts val="3360"/>
              </a:lnSpc>
              <a:buNone/>
            </a:pPr>
            <a:r>
              <a:rPr lang="en-US" sz="3000" b="1" dirty="0">
                <a:solidFill>
                  <a:srgbClr val="16191D"/>
                </a:solidFill>
                <a:latin typeface="Cambria" pitchFamily="34" charset="0"/>
                <a:ea typeface="Cambria" pitchFamily="34" charset="-122"/>
                <a:cs typeface="Cambria" pitchFamily="34" charset="-120"/>
              </a:rPr>
              <a:t>Tiap keputusan desain terlacak ke satu temuan EDA.</a:t>
            </a:r>
            <a:endParaRPr lang="en-US" sz="3000" dirty="0"/>
          </a:p>
        </p:txBody>
      </p:sp>
      <p:sp>
        <p:nvSpPr>
          <p:cNvPr id="3" name="Text 1"/>
          <p:cNvSpPr/>
          <p:nvPr/>
        </p:nvSpPr>
        <p:spPr>
          <a:xfrm>
            <a:off x="640080" y="1225296"/>
            <a:ext cx="10911535" cy="384048"/>
          </a:xfrm>
          <a:prstGeom prst="rect">
            <a:avLst/>
          </a:prstGeom>
          <a:noFill/>
          <a:ln/>
        </p:spPr>
        <p:txBody>
          <a:bodyPr wrap="square" lIns="0" tIns="0" rIns="0" bIns="0" rtlCol="0" anchor="t"/>
          <a:lstStyle/>
          <a:p>
            <a:pPr indent="0" marL="0">
              <a:lnSpc>
                <a:spcPts val="1900"/>
              </a:lnSpc>
              <a:buNone/>
            </a:pPr>
            <a:r>
              <a:rPr lang="en-US" sz="1350" dirty="0">
                <a:solidFill>
                  <a:srgbClr val="6E747C"/>
                </a:solidFill>
                <a:latin typeface="Calibri" pitchFamily="34" charset="0"/>
                <a:ea typeface="Calibri" pitchFamily="34" charset="-122"/>
                <a:cs typeface="Calibri" pitchFamily="34" charset="-120"/>
              </a:rPr>
              <a:t>Tidak ada keputusan yang diambil karena kebiasaan.</a:t>
            </a:r>
            <a:endParaRPr lang="en-US" sz="1350" dirty="0"/>
          </a:p>
        </p:txBody>
      </p:sp>
      <p:sp>
        <p:nvSpPr>
          <p:cNvPr id="4" name="Text 2"/>
          <p:cNvSpPr/>
          <p:nvPr/>
        </p:nvSpPr>
        <p:spPr>
          <a:xfrm>
            <a:off x="640080"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TEMUAN EDA</a:t>
            </a:r>
            <a:endParaRPr lang="en-US" sz="950" dirty="0"/>
          </a:p>
        </p:txBody>
      </p:sp>
      <p:sp>
        <p:nvSpPr>
          <p:cNvPr id="5" name="Text 3"/>
          <p:cNvSpPr/>
          <p:nvPr/>
        </p:nvSpPr>
        <p:spPr>
          <a:xfrm>
            <a:off x="4414418"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ARTINYA</a:t>
            </a:r>
            <a:endParaRPr lang="en-US" sz="950" dirty="0"/>
          </a:p>
        </p:txBody>
      </p:sp>
      <p:sp>
        <p:nvSpPr>
          <p:cNvPr id="6" name="Text 4"/>
          <p:cNvSpPr/>
          <p:nvPr/>
        </p:nvSpPr>
        <p:spPr>
          <a:xfrm>
            <a:off x="8188757"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KEPUTUSAN DESAIN</a:t>
            </a:r>
            <a:endParaRPr lang="en-US" sz="950" dirty="0"/>
          </a:p>
        </p:txBody>
      </p:sp>
      <p:sp>
        <p:nvSpPr>
          <p:cNvPr id="7" name="Shape 5"/>
          <p:cNvSpPr/>
          <p:nvPr/>
        </p:nvSpPr>
        <p:spPr>
          <a:xfrm>
            <a:off x="640080" y="2103120"/>
            <a:ext cx="10911535" cy="0"/>
          </a:xfrm>
          <a:prstGeom prst="line">
            <a:avLst/>
          </a:prstGeom>
          <a:noFill/>
          <a:ln w="15240">
            <a:solidFill>
              <a:srgbClr val="16191D"/>
            </a:solidFill>
            <a:prstDash val="solid"/>
          </a:ln>
        </p:spPr>
      </p:sp>
      <p:sp>
        <p:nvSpPr>
          <p:cNvPr id="8" name="Text 6"/>
          <p:cNvSpPr/>
          <p:nvPr/>
        </p:nvSpPr>
        <p:spPr>
          <a:xfrm>
            <a:off x="640080"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Target timpang 44,9 / 50,4 / 3,7 / 0,9</a:t>
            </a:r>
            <a:endParaRPr lang="en-US" sz="1000" dirty="0"/>
          </a:p>
        </p:txBody>
      </p:sp>
      <p:sp>
        <p:nvSpPr>
          <p:cNvPr id="9" name="Text 7"/>
          <p:cNvSpPr/>
          <p:nvPr/>
        </p:nvSpPr>
        <p:spPr>
          <a:xfrm>
            <a:off x="4057802"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4414418"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Baseline QWK nol meski akurasi 50,4%</a:t>
            </a:r>
            <a:endParaRPr lang="en-US" sz="1000" dirty="0"/>
          </a:p>
        </p:txBody>
      </p:sp>
      <p:sp>
        <p:nvSpPr>
          <p:cNvPr id="11" name="Text 9"/>
          <p:cNvSpPr/>
          <p:nvPr/>
        </p:nvSpPr>
        <p:spPr>
          <a:xfrm>
            <a:off x="7832141"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8188757" y="21945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Optimasi ambang, bukan argmax</a:t>
            </a:r>
            <a:endParaRPr lang="en-US" sz="1000" dirty="0"/>
          </a:p>
        </p:txBody>
      </p:sp>
      <p:sp>
        <p:nvSpPr>
          <p:cNvPr id="13" name="Shape 11"/>
          <p:cNvSpPr/>
          <p:nvPr/>
        </p:nvSpPr>
        <p:spPr>
          <a:xfrm>
            <a:off x="640080" y="2505456"/>
            <a:ext cx="10911535" cy="0"/>
          </a:xfrm>
          <a:prstGeom prst="line">
            <a:avLst/>
          </a:prstGeom>
          <a:noFill/>
          <a:ln w="7620">
            <a:solidFill>
              <a:srgbClr val="DCD8D1"/>
            </a:solidFill>
            <a:prstDash val="solid"/>
          </a:ln>
        </p:spPr>
      </p:sp>
      <p:sp>
        <p:nvSpPr>
          <p:cNvPr id="14" name="Text 12"/>
          <p:cNvSpPr/>
          <p:nvPr/>
        </p:nvSpPr>
        <p:spPr>
          <a:xfrm>
            <a:off x="640080"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QWK berbobot kuadratik</a:t>
            </a:r>
            <a:endParaRPr lang="en-US" sz="1000" dirty="0"/>
          </a:p>
        </p:txBody>
      </p:sp>
      <p:sp>
        <p:nvSpPr>
          <p:cNvPr id="15" name="Text 13"/>
          <p:cNvSpPr/>
          <p:nvPr/>
        </p:nvSpPr>
        <p:spPr>
          <a:xfrm>
            <a:off x="4057802"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414418"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Galat berjarak jauh dihukum 9 kali</a:t>
            </a:r>
            <a:endParaRPr lang="en-US" sz="1000" dirty="0"/>
          </a:p>
        </p:txBody>
      </p:sp>
      <p:sp>
        <p:nvSpPr>
          <p:cNvPr id="17" name="Text 15"/>
          <p:cNvSpPr/>
          <p:nvPr/>
        </p:nvSpPr>
        <p:spPr>
          <a:xfrm>
            <a:off x="7832141"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8188757" y="25603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Perlakuan ordinal lewat nilai harapan</a:t>
            </a:r>
            <a:endParaRPr lang="en-US" sz="1000" dirty="0"/>
          </a:p>
        </p:txBody>
      </p:sp>
      <p:sp>
        <p:nvSpPr>
          <p:cNvPr id="19" name="Shape 17"/>
          <p:cNvSpPr/>
          <p:nvPr/>
        </p:nvSpPr>
        <p:spPr>
          <a:xfrm>
            <a:off x="640080" y="2871216"/>
            <a:ext cx="10911535" cy="0"/>
          </a:xfrm>
          <a:prstGeom prst="line">
            <a:avLst/>
          </a:prstGeom>
          <a:noFill/>
          <a:ln w="7620">
            <a:solidFill>
              <a:srgbClr val="DCD8D1"/>
            </a:solidFill>
            <a:prstDash val="solid"/>
          </a:ln>
        </p:spPr>
      </p:sp>
      <p:sp>
        <p:nvSpPr>
          <p:cNvPr id="20" name="Text 18"/>
          <p:cNvSpPr/>
          <p:nvPr/>
        </p:nvSpPr>
        <p:spPr>
          <a:xfrm>
            <a:off x="640080"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Kosong 14,4% sel, pola latih sama dengan uji</a:t>
            </a:r>
            <a:endParaRPr lang="en-US" sz="1000" dirty="0"/>
          </a:p>
        </p:txBody>
      </p:sp>
      <p:sp>
        <p:nvSpPr>
          <p:cNvPr id="21" name="Text 19"/>
          <p:cNvSpPr/>
          <p:nvPr/>
        </p:nvSpPr>
        <p:spPr>
          <a:xfrm>
            <a:off x="4057802"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4414418"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distribusi</a:t>
            </a:r>
            <a:endParaRPr lang="en-US" sz="1000" dirty="0"/>
          </a:p>
        </p:txBody>
      </p:sp>
      <p:sp>
        <p:nvSpPr>
          <p:cNvPr id="23" name="Text 21"/>
          <p:cNvSpPr/>
          <p:nvPr/>
        </p:nvSpPr>
        <p:spPr>
          <a:xfrm>
            <a:off x="7832141"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8188757" y="29260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Tanpa imputasi, pohon menangani NaN</a:t>
            </a:r>
            <a:endParaRPr lang="en-US" sz="1000" dirty="0"/>
          </a:p>
        </p:txBody>
      </p:sp>
      <p:sp>
        <p:nvSpPr>
          <p:cNvPr id="25" name="Shape 23"/>
          <p:cNvSpPr/>
          <p:nvPr/>
        </p:nvSpPr>
        <p:spPr>
          <a:xfrm>
            <a:off x="640080" y="3236976"/>
            <a:ext cx="10911535" cy="0"/>
          </a:xfrm>
          <a:prstGeom prst="line">
            <a:avLst/>
          </a:prstGeom>
          <a:noFill/>
          <a:ln w="7620">
            <a:solidFill>
              <a:srgbClr val="DCD8D1"/>
            </a:solidFill>
            <a:prstDash val="solid"/>
          </a:ln>
        </p:spPr>
      </p:sp>
      <p:sp>
        <p:nvSpPr>
          <p:cNvPr id="26" name="Text 24"/>
          <p:cNvSpPr/>
          <p:nvPr/>
        </p:nvSpPr>
        <p:spPr>
          <a:xfrm>
            <a:off x="640080"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7/8/9 punya rata-rata target berbeda</a:t>
            </a:r>
            <a:endParaRPr lang="en-US" sz="1000" dirty="0"/>
          </a:p>
        </p:txBody>
      </p:sp>
      <p:sp>
        <p:nvSpPr>
          <p:cNvPr id="27" name="Text 25"/>
          <p:cNvSpPr/>
          <p:nvPr/>
        </p:nvSpPr>
        <p:spPr>
          <a:xfrm>
            <a:off x="4057802"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4414418"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Non-respons membawa sinyal</a:t>
            </a:r>
            <a:endParaRPr lang="en-US" sz="1000" dirty="0"/>
          </a:p>
        </p:txBody>
      </p:sp>
      <p:sp>
        <p:nvSpPr>
          <p:cNvPr id="29" name="Text 27"/>
          <p:cNvSpPr/>
          <p:nvPr/>
        </p:nvSpPr>
        <p:spPr>
          <a:xfrm>
            <a:off x="7832141"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8188757" y="32918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Kode dipertahankan apa adanya</a:t>
            </a:r>
            <a:endParaRPr lang="en-US" sz="1000" dirty="0"/>
          </a:p>
        </p:txBody>
      </p:sp>
      <p:sp>
        <p:nvSpPr>
          <p:cNvPr id="31" name="Shape 29"/>
          <p:cNvSpPr/>
          <p:nvPr/>
        </p:nvSpPr>
        <p:spPr>
          <a:xfrm>
            <a:off x="640080" y="3602736"/>
            <a:ext cx="10911535" cy="0"/>
          </a:xfrm>
          <a:prstGeom prst="line">
            <a:avLst/>
          </a:prstGeom>
          <a:noFill/>
          <a:ln w="7620">
            <a:solidFill>
              <a:srgbClr val="DCD8D1"/>
            </a:solidFill>
            <a:prstDash val="solid"/>
          </a:ln>
        </p:spPr>
      </p:sp>
      <p:sp>
        <p:nvSpPr>
          <p:cNvPr id="32" name="Text 30"/>
          <p:cNvSpPr/>
          <p:nvPr/>
        </p:nvSpPr>
        <p:spPr>
          <a:xfrm>
            <a:off x="640080"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Prediktor kuat bersifat monoton</a:t>
            </a:r>
            <a:endParaRPr lang="en-US" sz="1000" dirty="0"/>
          </a:p>
        </p:txBody>
      </p:sp>
      <p:sp>
        <p:nvSpPr>
          <p:cNvPr id="33" name="Text 31"/>
          <p:cNvSpPr/>
          <p:nvPr/>
        </p:nvSpPr>
        <p:spPr>
          <a:xfrm>
            <a:off x="4057802"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4414418"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Struktur ordinal nyata pada fitur</a:t>
            </a:r>
            <a:endParaRPr lang="en-US" sz="1000" dirty="0"/>
          </a:p>
        </p:txBody>
      </p:sp>
      <p:sp>
        <p:nvSpPr>
          <p:cNvPr id="35" name="Text 33"/>
          <p:cNvSpPr/>
          <p:nvPr/>
        </p:nvSpPr>
        <p:spPr>
          <a:xfrm>
            <a:off x="7832141"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6" name="Text 34"/>
          <p:cNvSpPr/>
          <p:nvPr/>
        </p:nvSpPr>
        <p:spPr>
          <a:xfrm>
            <a:off x="8188757" y="36576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Regresi Huber dan dekomposisi kumulatif</a:t>
            </a:r>
            <a:endParaRPr lang="en-US" sz="1000" dirty="0"/>
          </a:p>
        </p:txBody>
      </p:sp>
      <p:sp>
        <p:nvSpPr>
          <p:cNvPr id="37" name="Shape 35"/>
          <p:cNvSpPr/>
          <p:nvPr/>
        </p:nvSpPr>
        <p:spPr>
          <a:xfrm>
            <a:off x="640080" y="3968496"/>
            <a:ext cx="10911535" cy="0"/>
          </a:xfrm>
          <a:prstGeom prst="line">
            <a:avLst/>
          </a:prstGeom>
          <a:noFill/>
          <a:ln w="7620">
            <a:solidFill>
              <a:srgbClr val="DCD8D1"/>
            </a:solidFill>
            <a:prstDash val="solid"/>
          </a:ln>
        </p:spPr>
      </p:sp>
      <p:sp>
        <p:nvSpPr>
          <p:cNvPr id="38" name="Text 36"/>
          <p:cNvSpPr/>
          <p:nvPr/>
        </p:nvSpPr>
        <p:spPr>
          <a:xfrm>
            <a:off x="640080"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Lift antar anggota rumah tangga +1,6pp</a:t>
            </a:r>
            <a:endParaRPr lang="en-US" sz="1000" dirty="0"/>
          </a:p>
        </p:txBody>
      </p:sp>
      <p:sp>
        <p:nvSpPr>
          <p:cNvPr id="39" name="Text 37"/>
          <p:cNvSpPr/>
          <p:nvPr/>
        </p:nvSpPr>
        <p:spPr>
          <a:xfrm>
            <a:off x="4057802"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4414418"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Kepuasan hidup sangat individual</a:t>
            </a:r>
            <a:endParaRPr lang="en-US" sz="1000" dirty="0"/>
          </a:p>
        </p:txBody>
      </p:sp>
      <p:sp>
        <p:nvSpPr>
          <p:cNvPr id="41" name="Text 39"/>
          <p:cNvSpPr/>
          <p:nvPr/>
        </p:nvSpPr>
        <p:spPr>
          <a:xfrm>
            <a:off x="7832141"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8188757" y="40233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household_id dibuang</a:t>
            </a:r>
            <a:endParaRPr lang="en-US" sz="1000" dirty="0"/>
          </a:p>
        </p:txBody>
      </p:sp>
      <p:sp>
        <p:nvSpPr>
          <p:cNvPr id="43" name="Shape 41"/>
          <p:cNvSpPr/>
          <p:nvPr/>
        </p:nvSpPr>
        <p:spPr>
          <a:xfrm>
            <a:off x="640080" y="4334256"/>
            <a:ext cx="10911535" cy="0"/>
          </a:xfrm>
          <a:prstGeom prst="line">
            <a:avLst/>
          </a:prstGeom>
          <a:noFill/>
          <a:ln w="7620">
            <a:solidFill>
              <a:srgbClr val="DCD8D1"/>
            </a:solidFill>
            <a:prstDash val="solid"/>
          </a:ln>
        </p:spPr>
      </p:sp>
      <p:sp>
        <p:nvSpPr>
          <p:cNvPr id="44" name="Text 42"/>
          <p:cNvSpPr/>
          <p:nvPr/>
        </p:nvSpPr>
        <p:spPr>
          <a:xfrm>
            <a:off x="640080"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Spearman(id, target) = 0,006</a:t>
            </a:r>
            <a:endParaRPr lang="en-US" sz="1000" dirty="0"/>
          </a:p>
        </p:txBody>
      </p:sp>
      <p:sp>
        <p:nvSpPr>
          <p:cNvPr id="45" name="Text 43"/>
          <p:cNvSpPr/>
          <p:nvPr/>
        </p:nvSpPr>
        <p:spPr>
          <a:xfrm>
            <a:off x="4057802"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4414418"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kebocoran urutan</a:t>
            </a:r>
            <a:endParaRPr lang="en-US" sz="1000" dirty="0"/>
          </a:p>
        </p:txBody>
      </p:sp>
      <p:sp>
        <p:nvSpPr>
          <p:cNvPr id="47" name="Text 45"/>
          <p:cNvSpPr/>
          <p:nvPr/>
        </p:nvSpPr>
        <p:spPr>
          <a:xfrm>
            <a:off x="7832141"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8" name="Text 46"/>
          <p:cNvSpPr/>
          <p:nvPr/>
        </p:nvSpPr>
        <p:spPr>
          <a:xfrm>
            <a:off x="8188757" y="43891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id dibuang dari fitur</a:t>
            </a:r>
            <a:endParaRPr lang="en-US" sz="1000" dirty="0"/>
          </a:p>
        </p:txBody>
      </p:sp>
      <p:sp>
        <p:nvSpPr>
          <p:cNvPr id="49" name="Shape 47"/>
          <p:cNvSpPr/>
          <p:nvPr/>
        </p:nvSpPr>
        <p:spPr>
          <a:xfrm>
            <a:off x="640080" y="4700016"/>
            <a:ext cx="10911535" cy="0"/>
          </a:xfrm>
          <a:prstGeom prst="line">
            <a:avLst/>
          </a:prstGeom>
          <a:noFill/>
          <a:ln w="7620">
            <a:solidFill>
              <a:srgbClr val="DCD8D1"/>
            </a:solidFill>
            <a:prstDash val="solid"/>
          </a:ln>
        </p:spPr>
      </p:sp>
      <p:sp>
        <p:nvSpPr>
          <p:cNvPr id="50" name="Text 48"/>
          <p:cNvSpPr/>
          <p:nvPr/>
        </p:nvSpPr>
        <p:spPr>
          <a:xfrm>
            <a:off x="640080"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Median korelasi antar fitur 0,037</a:t>
            </a:r>
            <a:endParaRPr lang="en-US" sz="1000" dirty="0"/>
          </a:p>
        </p:txBody>
      </p:sp>
      <p:sp>
        <p:nvSpPr>
          <p:cNvPr id="51" name="Text 49"/>
          <p:cNvSpPr/>
          <p:nvPr/>
        </p:nvSpPr>
        <p:spPr>
          <a:xfrm>
            <a:off x="4057802"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4414418"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merugikan</a:t>
            </a:r>
            <a:endParaRPr lang="en-US" sz="1000" dirty="0"/>
          </a:p>
        </p:txBody>
      </p:sp>
      <p:sp>
        <p:nvSpPr>
          <p:cNvPr id="53" name="Text 51"/>
          <p:cNvSpPr/>
          <p:nvPr/>
        </p:nvSpPr>
        <p:spPr>
          <a:xfrm>
            <a:off x="7832141"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4" name="Text 52"/>
          <p:cNvSpPr/>
          <p:nvPr/>
        </p:nvSpPr>
        <p:spPr>
          <a:xfrm>
            <a:off x="8188757" y="47548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Seluruh 176 fitur dipertahankan</a:t>
            </a:r>
            <a:endParaRPr lang="en-US" sz="1000" dirty="0"/>
          </a:p>
        </p:txBody>
      </p:sp>
      <p:sp>
        <p:nvSpPr>
          <p:cNvPr id="55" name="Shape 53"/>
          <p:cNvSpPr/>
          <p:nvPr/>
        </p:nvSpPr>
        <p:spPr>
          <a:xfrm>
            <a:off x="640080" y="5065776"/>
            <a:ext cx="10911535" cy="0"/>
          </a:xfrm>
          <a:prstGeom prst="line">
            <a:avLst/>
          </a:prstGeom>
          <a:noFill/>
          <a:ln w="7620">
            <a:solidFill>
              <a:srgbClr val="DCD8D1"/>
            </a:solidFill>
            <a:prstDash val="solid"/>
          </a:ln>
        </p:spPr>
      </p:sp>
      <p:sp>
        <p:nvSpPr>
          <p:cNvPr id="56" name="Text 54"/>
          <p:cNvSpPr/>
          <p:nvPr/>
        </p:nvSpPr>
        <p:spPr>
          <a:xfrm>
            <a:off x="640080"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Rata-rata target bergerak 0,0239 antar tahun</a:t>
            </a:r>
            <a:endParaRPr lang="en-US" sz="1000" dirty="0"/>
          </a:p>
        </p:txBody>
      </p:sp>
      <p:sp>
        <p:nvSpPr>
          <p:cNvPr id="57" name="Text 55"/>
          <p:cNvSpPr/>
          <p:nvPr/>
        </p:nvSpPr>
        <p:spPr>
          <a:xfrm>
            <a:off x="4057802"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8" name="Text 56"/>
          <p:cNvSpPr/>
          <p:nvPr/>
        </p:nvSpPr>
        <p:spPr>
          <a:xfrm>
            <a:off x="4414418"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temporal</a:t>
            </a:r>
            <a:endParaRPr lang="en-US" sz="1000" dirty="0"/>
          </a:p>
        </p:txBody>
      </p:sp>
      <p:sp>
        <p:nvSpPr>
          <p:cNvPr id="59" name="Text 57"/>
          <p:cNvSpPr/>
          <p:nvPr/>
        </p:nvSpPr>
        <p:spPr>
          <a:xfrm>
            <a:off x="7832141"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0" name="Text 58"/>
          <p:cNvSpPr/>
          <p:nvPr/>
        </p:nvSpPr>
        <p:spPr>
          <a:xfrm>
            <a:off x="8188757" y="51206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Satu model untuk seluruh periode</a:t>
            </a:r>
            <a:endParaRPr lang="en-US" sz="1000" dirty="0"/>
          </a:p>
        </p:txBody>
      </p:sp>
      <p:sp>
        <p:nvSpPr>
          <p:cNvPr id="61" name="Shape 59"/>
          <p:cNvSpPr/>
          <p:nvPr/>
        </p:nvSpPr>
        <p:spPr>
          <a:xfrm>
            <a:off x="640080" y="5431536"/>
            <a:ext cx="10911535" cy="0"/>
          </a:xfrm>
          <a:prstGeom prst="line">
            <a:avLst/>
          </a:prstGeom>
          <a:noFill/>
          <a:ln w="7620">
            <a:solidFill>
              <a:srgbClr val="DCD8D1"/>
            </a:solidFill>
            <a:prstDash val="solid"/>
          </a:ln>
        </p:spPr>
      </p:sp>
      <p:sp>
        <p:nvSpPr>
          <p:cNvPr id="62" name="Text 60"/>
          <p:cNvSpPr/>
          <p:nvPr/>
        </p:nvSpPr>
        <p:spPr>
          <a:xfrm>
            <a:off x="640080"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Domain psikososial tidak terekam</a:t>
            </a:r>
            <a:endParaRPr lang="en-US" sz="1000" dirty="0"/>
          </a:p>
        </p:txBody>
      </p:sp>
      <p:sp>
        <p:nvSpPr>
          <p:cNvPr id="63" name="Text 61"/>
          <p:cNvSpPr/>
          <p:nvPr/>
        </p:nvSpPr>
        <p:spPr>
          <a:xfrm>
            <a:off x="4057802"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4" name="Text 62"/>
          <p:cNvSpPr/>
          <p:nvPr/>
        </p:nvSpPr>
        <p:spPr>
          <a:xfrm>
            <a:off x="4414418"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tak teramati</a:t>
            </a:r>
            <a:endParaRPr lang="en-US" sz="1000" dirty="0"/>
          </a:p>
        </p:txBody>
      </p:sp>
      <p:sp>
        <p:nvSpPr>
          <p:cNvPr id="65" name="Text 63"/>
          <p:cNvSpPr/>
          <p:nvPr/>
        </p:nvSpPr>
        <p:spPr>
          <a:xfrm>
            <a:off x="7832141"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6" name="Text 64"/>
          <p:cNvSpPr/>
          <p:nvPr/>
        </p:nvSpPr>
        <p:spPr>
          <a:xfrm>
            <a:off x="8188757" y="54864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Landasan analisis plafon</a:t>
            </a:r>
            <a:endParaRPr lang="en-US" sz="1000" dirty="0"/>
          </a:p>
        </p:txBody>
      </p:sp>
      <p:sp>
        <p:nvSpPr>
          <p:cNvPr id="67" name="Shape 65"/>
          <p:cNvSpPr/>
          <p:nvPr/>
        </p:nvSpPr>
        <p:spPr>
          <a:xfrm>
            <a:off x="640080" y="5797296"/>
            <a:ext cx="10911535" cy="0"/>
          </a:xfrm>
          <a:prstGeom prst="line">
            <a:avLst/>
          </a:prstGeom>
          <a:noFill/>
          <a:ln w="7620">
            <a:solidFill>
              <a:srgbClr val="DCD8D1"/>
            </a:solidFill>
            <a:prstDash val="solid"/>
          </a:ln>
        </p:spPr>
      </p:sp>
      <p:sp>
        <p:nvSpPr>
          <p:cNvPr id="69" name="Shape 66"/>
          <p:cNvSpPr/>
          <p:nvPr/>
        </p:nvSpPr>
        <p:spPr>
          <a:xfrm>
            <a:off x="640080" y="6400800"/>
            <a:ext cx="1572768" cy="45720"/>
          </a:xfrm>
          <a:prstGeom prst="rect">
            <a:avLst/>
          </a:prstGeom>
          <a:solidFill>
            <a:srgbClr val="DCD8D1"/>
          </a:solidFill>
          <a:ln/>
        </p:spPr>
      </p:sp>
      <p:sp>
        <p:nvSpPr>
          <p:cNvPr id="70"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71" name="Shape 68"/>
          <p:cNvSpPr/>
          <p:nvPr/>
        </p:nvSpPr>
        <p:spPr>
          <a:xfrm>
            <a:off x="2304288" y="6400800"/>
            <a:ext cx="1572768" cy="45720"/>
          </a:xfrm>
          <a:prstGeom prst="rect">
            <a:avLst/>
          </a:prstGeom>
          <a:solidFill>
            <a:srgbClr val="A8442A"/>
          </a:solidFill>
          <a:ln/>
        </p:spPr>
      </p:sp>
      <p:sp>
        <p:nvSpPr>
          <p:cNvPr id="72"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EDA</a:t>
            </a:r>
            <a:endParaRPr lang="en-US" sz="850" dirty="0"/>
          </a:p>
        </p:txBody>
      </p:sp>
      <p:sp>
        <p:nvSpPr>
          <p:cNvPr id="73" name="Shape 70"/>
          <p:cNvSpPr/>
          <p:nvPr/>
        </p:nvSpPr>
        <p:spPr>
          <a:xfrm>
            <a:off x="3968496" y="6400800"/>
            <a:ext cx="1572768" cy="45720"/>
          </a:xfrm>
          <a:prstGeom prst="rect">
            <a:avLst/>
          </a:prstGeom>
          <a:solidFill>
            <a:srgbClr val="DCD8D1"/>
          </a:solidFill>
          <a:ln/>
        </p:spPr>
      </p:sp>
      <p:sp>
        <p:nvSpPr>
          <p:cNvPr id="74"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75" name="Shape 72"/>
          <p:cNvSpPr/>
          <p:nvPr/>
        </p:nvSpPr>
        <p:spPr>
          <a:xfrm>
            <a:off x="5632704" y="6400800"/>
            <a:ext cx="1572768" cy="45720"/>
          </a:xfrm>
          <a:prstGeom prst="rect">
            <a:avLst/>
          </a:prstGeom>
          <a:solidFill>
            <a:srgbClr val="DCD8D1"/>
          </a:solidFill>
          <a:ln/>
        </p:spPr>
      </p:sp>
      <p:sp>
        <p:nvSpPr>
          <p:cNvPr id="76"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77" name="Shape 74"/>
          <p:cNvSpPr/>
          <p:nvPr/>
        </p:nvSpPr>
        <p:spPr>
          <a:xfrm>
            <a:off x="7296912" y="6400800"/>
            <a:ext cx="1572768" cy="45720"/>
          </a:xfrm>
          <a:prstGeom prst="rect">
            <a:avLst/>
          </a:prstGeom>
          <a:solidFill>
            <a:srgbClr val="DCD8D1"/>
          </a:solidFill>
          <a:ln/>
        </p:spPr>
      </p:sp>
      <p:sp>
        <p:nvSpPr>
          <p:cNvPr id="78"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79" name="Shape 76"/>
          <p:cNvSpPr/>
          <p:nvPr/>
        </p:nvSpPr>
        <p:spPr>
          <a:xfrm>
            <a:off x="8961120" y="6400800"/>
            <a:ext cx="1572768" cy="45720"/>
          </a:xfrm>
          <a:prstGeom prst="rect">
            <a:avLst/>
          </a:prstGeom>
          <a:solidFill>
            <a:srgbClr val="DCD8D1"/>
          </a:solidFill>
          <a:ln/>
        </p:spPr>
      </p:sp>
      <p:sp>
        <p:nvSpPr>
          <p:cNvPr id="80"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81"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III</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Dari temuan</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menjadi pipeline.</a:t>
            </a:r>
            <a:endParaRPr lang="en-US" sz="3600" dirty="0"/>
          </a:p>
        </p:txBody>
      </p:sp>
      <p:sp>
        <p:nvSpPr>
          <p:cNvPr id="4" name="Text 2"/>
          <p:cNvSpPr/>
          <p:nvPr/>
        </p:nvSpPr>
        <p:spPr>
          <a:xfrm>
            <a:off x="640080" y="3648456"/>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Sepuluh keputusan desain dijalankan, lalu masing-masing diuji ulang lewat ablasi.</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Preprocessing tanpa imputasi</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Fitur komposit dibuat lalu dibuang</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Enam keluarga algoritma</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Stacking dan tiga ambang batas</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Tujuh keputusan preprocessing, tujuh alasan yang bisa diperiksa.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baris punya bukti empiris di bagian ablasi. Tidak ada yang diambil sebagai kebiasaan.</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2468880"/>
                <a:gridCol w="3566160"/>
                <a:gridCol w="4873752"/>
              </a:tblGrid>
              <a:tr h="347472">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Keputusan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Pilihan kami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Dasarnya</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Nilai kosong</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3A4048"/>
                          </a:solidFill>
                          <a:latin typeface="Calibri" pitchFamily="34" charset="0"/>
                          <a:ea typeface="Calibri" pitchFamily="34" charset="-122"/>
                          <a:cs typeface="Calibri" pitchFamily="34" charset="-120"/>
                        </a:rPr>
                        <a:t>Dibiarkan sebagai NaN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Pohon belajar arah cabang sendiri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Kode 7 / 8 / 9</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3A4048"/>
                          </a:solidFill>
                          <a:latin typeface="Calibri" pitchFamily="34" charset="0"/>
                          <a:ea typeface="Calibri" pitchFamily="34" charset="-122"/>
                          <a:cs typeface="Calibri" pitchFamily="34" charset="-120"/>
                        </a:rPr>
                        <a:t>Dibiarkan apa adanya</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Non-respons membawa sinyal</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Penskalaan model pohon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3A4048"/>
                          </a:solidFill>
                          <a:latin typeface="Calibri" pitchFamily="34" charset="0"/>
                          <a:ea typeface="Calibri" pitchFamily="34" charset="-122"/>
                          <a:cs typeface="Calibri" pitchFamily="34" charset="-120"/>
                        </a:rPr>
                        <a:t>Tidak dilakukan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Invarian terhadap transformasi monoton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Penskalaan untuk MLP</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3A4048"/>
                          </a:solidFill>
                          <a:latin typeface="Calibri" pitchFamily="34" charset="0"/>
                          <a:ea typeface="Calibri" pitchFamily="34" charset="-122"/>
                          <a:cs typeface="Calibri" pitchFamily="34" charset="-120"/>
                        </a:rPr>
                        <a:t>QuantileTransformer + median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Jaringan saraf butuh input ternormalisasi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household_id</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Dibuang</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Lift antar anggota hanya +1,6pp</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Dibuang</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Spearman terhadap target 0,006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Encoding kategorikal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3A4048"/>
                          </a:solidFill>
                          <a:latin typeface="Calibri" pitchFamily="34" charset="0"/>
                          <a:ea typeface="Calibri" pitchFamily="34" charset="-122"/>
                          <a:cs typeface="Calibri" pitchFamily="34" charset="-120"/>
                        </a:rPr>
                        <a:t>Tidak diperlukan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Seluruh kolom sudah berupa kode numerik</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577840"/>
            <a:ext cx="10911535" cy="566928"/>
          </a:xfrm>
          <a:prstGeom prst="roundRect">
            <a:avLst>
              <a:gd name="adj" fmla="val 9677"/>
            </a:avLst>
          </a:prstGeom>
          <a:solidFill>
            <a:srgbClr val="ECE7DF"/>
          </a:solidFill>
          <a:ln w="9525">
            <a:solidFill>
              <a:srgbClr val="DCD8D1"/>
            </a:solidFill>
            <a:prstDash val="solid"/>
          </a:ln>
        </p:spPr>
      </p:sp>
      <p:sp>
        <p:nvSpPr>
          <p:cNvPr id="6" name="Text 3"/>
          <p:cNvSpPr/>
          <p:nvPr/>
        </p:nvSpPr>
        <p:spPr>
          <a:xfrm>
            <a:off x="914400" y="5577840"/>
            <a:ext cx="10362895" cy="566928"/>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Hasilnya: </a:t>
            </a:r>
            <a:pPr indent="0" marL="0">
              <a:buNone/>
            </a:pPr>
            <a:r>
              <a:rPr lang="en-US" sz="1250" dirty="0">
                <a:solidFill>
                  <a:srgbClr val="3A4048"/>
                </a:solidFill>
                <a:latin typeface="Calibri" pitchFamily="34" charset="0"/>
                <a:ea typeface="Calibri" pitchFamily="34" charset="-122"/>
                <a:cs typeface="Calibri" pitchFamily="34" charset="-120"/>
              </a:rPr>
              <a:t>matriks fitur 95.609 × 176 untuk model pohon, dan versi ternormalisasi berukuran sama untuk MLP.</a:t>
            </a:r>
            <a:endParaRPr lang="en-US" sz="1250" dirty="0"/>
          </a:p>
        </p:txBody>
      </p:sp>
      <p:sp>
        <p:nvSpPr>
          <p:cNvPr id="8" name="Shape 4"/>
          <p:cNvSpPr/>
          <p:nvPr/>
        </p:nvSpPr>
        <p:spPr>
          <a:xfrm>
            <a:off x="640080" y="6400800"/>
            <a:ext cx="1572768" cy="45720"/>
          </a:xfrm>
          <a:prstGeom prst="rect">
            <a:avLst/>
          </a:prstGeom>
          <a:solidFill>
            <a:srgbClr val="DCD8D1"/>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2" name="Shape 8"/>
          <p:cNvSpPr/>
          <p:nvPr/>
        </p:nvSpPr>
        <p:spPr>
          <a:xfrm>
            <a:off x="3968496" y="6400800"/>
            <a:ext cx="1572768" cy="45720"/>
          </a:xfrm>
          <a:prstGeom prst="rect">
            <a:avLst/>
          </a:prstGeom>
          <a:solidFill>
            <a:srgbClr val="A8442A"/>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8" name="Shape 14"/>
          <p:cNvSpPr/>
          <p:nvPr/>
        </p:nvSpPr>
        <p:spPr>
          <a:xfrm>
            <a:off x="8961120" y="6400800"/>
            <a:ext cx="1572768" cy="45720"/>
          </a:xfrm>
          <a:prstGeom prst="rect">
            <a:avLst/>
          </a:prstGeom>
          <a:solidFill>
            <a:srgbClr val="DCD8D1"/>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Kami buat 13 fitur komposit, lalu membuangnya semua.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Dibuat berdasarkan pengelompokan domain di data dictionary, lalu diuji dengan CV 3-fold yang identik.</a:t>
            </a:r>
            <a:endParaRPr lang="en-US" sz="1400" dirty="0"/>
          </a:p>
        </p:txBody>
      </p:sp>
      <p:sp>
        <p:nvSpPr>
          <p:cNvPr id="4" name="Text 2"/>
          <p:cNvSpPr/>
          <p:nvPr/>
        </p:nvSpPr>
        <p:spPr>
          <a:xfrm>
            <a:off x="640080" y="2194560"/>
            <a:ext cx="5029200"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YANG KAMI BANGUN</a:t>
            </a:r>
            <a:endParaRPr lang="en-US" sz="1000" dirty="0"/>
          </a:p>
        </p:txBody>
      </p:sp>
      <p:sp>
        <p:nvSpPr>
          <p:cNvPr id="5" name="Shape 3"/>
          <p:cNvSpPr/>
          <p:nvPr/>
        </p:nvSpPr>
        <p:spPr>
          <a:xfrm>
            <a:off x="640080" y="2505456"/>
            <a:ext cx="5029200" cy="2286000"/>
          </a:xfrm>
          <a:prstGeom prst="roundRect">
            <a:avLst>
              <a:gd name="adj" fmla="val 2400"/>
            </a:avLst>
          </a:prstGeom>
          <a:solidFill>
            <a:srgbClr val="F4F1EC"/>
          </a:solidFill>
          <a:ln w="9525">
            <a:solidFill>
              <a:srgbClr val="DCD8D1"/>
            </a:solidFill>
            <a:prstDash val="solid"/>
          </a:ln>
        </p:spPr>
      </p:sp>
      <p:sp>
        <p:nvSpPr>
          <p:cNvPr id="6" name="Text 4"/>
          <p:cNvSpPr/>
          <p:nvPr/>
        </p:nvSpPr>
        <p:spPr>
          <a:xfrm>
            <a:off x="914400" y="2670048"/>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n_disease</a:t>
            </a:r>
            <a:endParaRPr lang="en-US" sz="1100" dirty="0"/>
          </a:p>
        </p:txBody>
      </p:sp>
      <p:sp>
        <p:nvSpPr>
          <p:cNvPr id="7" name="Text 5"/>
          <p:cNvSpPr/>
          <p:nvPr/>
        </p:nvSpPr>
        <p:spPr>
          <a:xfrm>
            <a:off x="3200400" y="2670048"/>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n_difficulty</a:t>
            </a:r>
            <a:endParaRPr lang="en-US" sz="1100" dirty="0"/>
          </a:p>
        </p:txBody>
      </p:sp>
      <p:sp>
        <p:nvSpPr>
          <p:cNvPr id="8" name="Text 6"/>
          <p:cNvSpPr/>
          <p:nvPr/>
        </p:nvSpPr>
        <p:spPr>
          <a:xfrm>
            <a:off x="914400" y="2962656"/>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n_cost_barrier</a:t>
            </a:r>
            <a:endParaRPr lang="en-US" sz="1100" dirty="0"/>
          </a:p>
        </p:txBody>
      </p:sp>
      <p:sp>
        <p:nvSpPr>
          <p:cNvPr id="9" name="Text 7"/>
          <p:cNvSpPr/>
          <p:nvPr/>
        </p:nvSpPr>
        <p:spPr>
          <a:xfrm>
            <a:off x="3200400" y="2962656"/>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n_mental</a:t>
            </a:r>
            <a:endParaRPr lang="en-US" sz="1100" dirty="0"/>
          </a:p>
        </p:txBody>
      </p:sp>
      <p:sp>
        <p:nvSpPr>
          <p:cNvPr id="10" name="Text 8"/>
          <p:cNvSpPr/>
          <p:nvPr/>
        </p:nvSpPr>
        <p:spPr>
          <a:xfrm>
            <a:off x="914400" y="3255264"/>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n_income_src</a:t>
            </a:r>
            <a:endParaRPr lang="en-US" sz="1100" dirty="0"/>
          </a:p>
        </p:txBody>
      </p:sp>
      <p:sp>
        <p:nvSpPr>
          <p:cNvPr id="11" name="Text 9"/>
          <p:cNvSpPr/>
          <p:nvPr/>
        </p:nvSpPr>
        <p:spPr>
          <a:xfrm>
            <a:off x="3200400" y="3255264"/>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n_missing</a:t>
            </a:r>
            <a:endParaRPr lang="en-US" sz="1100" dirty="0"/>
          </a:p>
        </p:txBody>
      </p:sp>
      <p:sp>
        <p:nvSpPr>
          <p:cNvPr id="12" name="Text 10"/>
          <p:cNvSpPr/>
          <p:nvPr/>
        </p:nvSpPr>
        <p:spPr>
          <a:xfrm>
            <a:off x="914400" y="3547872"/>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sev_anxiety</a:t>
            </a:r>
            <a:endParaRPr lang="en-US" sz="1100" dirty="0"/>
          </a:p>
        </p:txBody>
      </p:sp>
      <p:sp>
        <p:nvSpPr>
          <p:cNvPr id="13" name="Text 11"/>
          <p:cNvSpPr/>
          <p:nvPr/>
        </p:nvSpPr>
        <p:spPr>
          <a:xfrm>
            <a:off x="3200400" y="3547872"/>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sev_depression</a:t>
            </a:r>
            <a:endParaRPr lang="en-US" sz="1100" dirty="0"/>
          </a:p>
        </p:txBody>
      </p:sp>
      <p:sp>
        <p:nvSpPr>
          <p:cNvPr id="14" name="Text 12"/>
          <p:cNvSpPr/>
          <p:nvPr/>
        </p:nvSpPr>
        <p:spPr>
          <a:xfrm>
            <a:off x="914400" y="3840480"/>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sev_mental</a:t>
            </a:r>
            <a:endParaRPr lang="en-US" sz="1100" dirty="0"/>
          </a:p>
        </p:txBody>
      </p:sp>
      <p:sp>
        <p:nvSpPr>
          <p:cNvPr id="15" name="Text 13"/>
          <p:cNvSpPr/>
          <p:nvPr/>
        </p:nvSpPr>
        <p:spPr>
          <a:xfrm>
            <a:off x="3200400" y="3840480"/>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sev_food</a:t>
            </a:r>
            <a:endParaRPr lang="en-US" sz="1100" dirty="0"/>
          </a:p>
        </p:txBody>
      </p:sp>
      <p:sp>
        <p:nvSpPr>
          <p:cNvPr id="16" name="Text 14"/>
          <p:cNvSpPr/>
          <p:nvPr/>
        </p:nvSpPr>
        <p:spPr>
          <a:xfrm>
            <a:off x="914400" y="4133088"/>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health_x_mental</a:t>
            </a:r>
            <a:endParaRPr lang="en-US" sz="1100" dirty="0"/>
          </a:p>
        </p:txBody>
      </p:sp>
      <p:sp>
        <p:nvSpPr>
          <p:cNvPr id="17" name="Text 15"/>
          <p:cNvSpPr/>
          <p:nvPr/>
        </p:nvSpPr>
        <p:spPr>
          <a:xfrm>
            <a:off x="3200400" y="4133088"/>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poverty_x_health</a:t>
            </a:r>
            <a:endParaRPr lang="en-US" sz="1100" dirty="0"/>
          </a:p>
        </p:txBody>
      </p:sp>
      <p:sp>
        <p:nvSpPr>
          <p:cNvPr id="18" name="Text 16"/>
          <p:cNvSpPr/>
          <p:nvPr/>
        </p:nvSpPr>
        <p:spPr>
          <a:xfrm>
            <a:off x="914400" y="4425696"/>
            <a:ext cx="2194560" cy="27432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bmi</a:t>
            </a:r>
            <a:endParaRPr lang="en-US" sz="1100" dirty="0"/>
          </a:p>
        </p:txBody>
      </p:sp>
      <p:sp>
        <p:nvSpPr>
          <p:cNvPr id="19" name="Text 17"/>
          <p:cNvSpPr/>
          <p:nvPr/>
        </p:nvSpPr>
        <p:spPr>
          <a:xfrm>
            <a:off x="640080" y="4882896"/>
            <a:ext cx="5029200" cy="457200"/>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Indeks beban penyakit, keterbatasan fungsional, hambatan biaya, keparahan mental, ketahanan pangan.</a:t>
            </a:r>
            <a:endParaRPr lang="en-US" sz="1050" dirty="0"/>
          </a:p>
        </p:txBody>
      </p:sp>
      <p:sp>
        <p:nvSpPr>
          <p:cNvPr id="20" name="Text 18"/>
          <p:cNvSpPr/>
          <p:nvPr/>
        </p:nvSpPr>
        <p:spPr>
          <a:xfrm>
            <a:off x="6291072" y="2194560"/>
            <a:ext cx="5260543"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YANG DIKATAKAN ABLASI</a:t>
            </a:r>
            <a:endParaRPr lang="en-US" sz="1000" dirty="0"/>
          </a:p>
        </p:txBody>
      </p:sp>
      <p:sp>
        <p:nvSpPr>
          <p:cNvPr id="21" name="Shape 19"/>
          <p:cNvSpPr/>
          <p:nvPr/>
        </p:nvSpPr>
        <p:spPr>
          <a:xfrm>
            <a:off x="9607144" y="2505456"/>
            <a:ext cx="0" cy="1847088"/>
          </a:xfrm>
          <a:prstGeom prst="line">
            <a:avLst/>
          </a:prstGeom>
          <a:noFill/>
          <a:ln w="15240">
            <a:solidFill>
              <a:srgbClr val="16191D"/>
            </a:solidFill>
            <a:prstDash val="solid"/>
          </a:ln>
        </p:spPr>
      </p:sp>
      <p:sp>
        <p:nvSpPr>
          <p:cNvPr id="22" name="Text 20"/>
          <p:cNvSpPr/>
          <p:nvPr/>
        </p:nvSpPr>
        <p:spPr>
          <a:xfrm>
            <a:off x="6291072" y="2651760"/>
            <a:ext cx="2240280" cy="365760"/>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A.  Fitur mentah saja</a:t>
            </a:r>
            <a:endParaRPr lang="en-US" sz="1100" dirty="0"/>
          </a:p>
        </p:txBody>
      </p:sp>
      <p:sp>
        <p:nvSpPr>
          <p:cNvPr id="23" name="Shape 21"/>
          <p:cNvSpPr/>
          <p:nvPr/>
        </p:nvSpPr>
        <p:spPr>
          <a:xfrm>
            <a:off x="9607144" y="2724912"/>
            <a:ext cx="36576" cy="219456"/>
          </a:xfrm>
          <a:prstGeom prst="rect">
            <a:avLst/>
          </a:prstGeom>
          <a:solidFill>
            <a:srgbClr val="2F6B5F"/>
          </a:solidFill>
          <a:ln/>
        </p:spPr>
      </p:sp>
      <p:sp>
        <p:nvSpPr>
          <p:cNvPr id="24" name="Text 22"/>
          <p:cNvSpPr/>
          <p:nvPr/>
        </p:nvSpPr>
        <p:spPr>
          <a:xfrm>
            <a:off x="8622792" y="2980944"/>
            <a:ext cx="2928823" cy="201168"/>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0,46577  (acuan)</a:t>
            </a:r>
            <a:endParaRPr lang="en-US" sz="950" dirty="0"/>
          </a:p>
        </p:txBody>
      </p:sp>
      <p:sp>
        <p:nvSpPr>
          <p:cNvPr id="25" name="Text 23"/>
          <p:cNvSpPr/>
          <p:nvPr/>
        </p:nvSpPr>
        <p:spPr>
          <a:xfrm>
            <a:off x="6291072" y="3200400"/>
            <a:ext cx="2240280" cy="365760"/>
          </a:xfrm>
          <a:prstGeom prst="rect">
            <a:avLst/>
          </a:prstGeom>
          <a:noFill/>
          <a:ln/>
        </p:spPr>
        <p:txBody>
          <a:bodyPr wrap="square" lIns="0" tIns="0" rIns="0" bIns="0" rtlCol="0" anchor="ctr"/>
          <a:lstStyle/>
          <a:p>
            <a:pPr algn="r" indent="0" marL="0">
              <a:buNone/>
            </a:pPr>
            <a:r>
              <a:rPr lang="en-US" sz="1100" dirty="0">
                <a:solidFill>
                  <a:srgbClr val="16191D"/>
                </a:solidFill>
                <a:latin typeface="Calibri" pitchFamily="34" charset="0"/>
                <a:ea typeface="Calibri" pitchFamily="34" charset="-122"/>
                <a:cs typeface="Calibri" pitchFamily="34" charset="-120"/>
              </a:rPr>
              <a:t>B.  + 13 fitur komposit</a:t>
            </a:r>
            <a:endParaRPr lang="en-US" sz="1100" dirty="0"/>
          </a:p>
        </p:txBody>
      </p:sp>
      <p:sp>
        <p:nvSpPr>
          <p:cNvPr id="26" name="Shape 24"/>
          <p:cNvSpPr/>
          <p:nvPr/>
        </p:nvSpPr>
        <p:spPr>
          <a:xfrm>
            <a:off x="9016533" y="3273552"/>
            <a:ext cx="590611" cy="219456"/>
          </a:xfrm>
          <a:prstGeom prst="rect">
            <a:avLst/>
          </a:prstGeom>
          <a:solidFill>
            <a:srgbClr val="A8442A"/>
          </a:solidFill>
          <a:ln/>
        </p:spPr>
      </p:sp>
      <p:sp>
        <p:nvSpPr>
          <p:cNvPr id="27" name="Text 25"/>
          <p:cNvSpPr/>
          <p:nvPr/>
        </p:nvSpPr>
        <p:spPr>
          <a:xfrm>
            <a:off x="8622792" y="3529584"/>
            <a:ext cx="2928823" cy="201168"/>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0,46487  (−0,00090)</a:t>
            </a:r>
            <a:endParaRPr lang="en-US" sz="950" dirty="0"/>
          </a:p>
        </p:txBody>
      </p:sp>
      <p:sp>
        <p:nvSpPr>
          <p:cNvPr id="28" name="Text 26"/>
          <p:cNvSpPr/>
          <p:nvPr/>
        </p:nvSpPr>
        <p:spPr>
          <a:xfrm>
            <a:off x="6291072" y="3749040"/>
            <a:ext cx="2240280" cy="365760"/>
          </a:xfrm>
          <a:prstGeom prst="rect">
            <a:avLst/>
          </a:prstGeom>
          <a:noFill/>
          <a:ln/>
        </p:spPr>
        <p:txBody>
          <a:bodyPr wrap="square" lIns="0" tIns="0" rIns="0" bIns="0" rtlCol="0" anchor="ctr"/>
          <a:lstStyle/>
          <a:p>
            <a:pPr algn="r" indent="0" marL="0">
              <a:buNone/>
            </a:pPr>
            <a:r>
              <a:rPr lang="en-US" sz="1100" dirty="0">
                <a:solidFill>
                  <a:srgbClr val="16191D"/>
                </a:solidFill>
                <a:latin typeface="Calibri" pitchFamily="34" charset="0"/>
                <a:ea typeface="Calibri" pitchFamily="34" charset="-122"/>
                <a:cs typeface="Calibri" pitchFamily="34" charset="-120"/>
              </a:rPr>
              <a:t>C.  Kode 7/8/9 jadi NaN</a:t>
            </a:r>
            <a:endParaRPr lang="en-US" sz="1100" dirty="0"/>
          </a:p>
        </p:txBody>
      </p:sp>
      <p:sp>
        <p:nvSpPr>
          <p:cNvPr id="29" name="Shape 27"/>
          <p:cNvSpPr/>
          <p:nvPr/>
        </p:nvSpPr>
        <p:spPr>
          <a:xfrm>
            <a:off x="9607144" y="3822192"/>
            <a:ext cx="728420" cy="219456"/>
          </a:xfrm>
          <a:prstGeom prst="rect">
            <a:avLst/>
          </a:prstGeom>
          <a:solidFill>
            <a:srgbClr val="D8A25E"/>
          </a:solidFill>
          <a:ln/>
        </p:spPr>
      </p:sp>
      <p:sp>
        <p:nvSpPr>
          <p:cNvPr id="30" name="Text 28"/>
          <p:cNvSpPr/>
          <p:nvPr/>
        </p:nvSpPr>
        <p:spPr>
          <a:xfrm>
            <a:off x="8622792" y="4078224"/>
            <a:ext cx="2928823" cy="201168"/>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0,46688  (+0,00111)</a:t>
            </a:r>
            <a:endParaRPr lang="en-US" sz="950" dirty="0"/>
          </a:p>
        </p:txBody>
      </p:sp>
      <p:sp>
        <p:nvSpPr>
          <p:cNvPr id="31" name="Text 29"/>
          <p:cNvSpPr/>
          <p:nvPr/>
        </p:nvSpPr>
        <p:spPr>
          <a:xfrm>
            <a:off x="6291072" y="4370832"/>
            <a:ext cx="5260543"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Garis tegak adalah konfigurasi A. Kedua selisih lebih kecil dari 0,0012 QWK.</a:t>
            </a:r>
            <a:endParaRPr lang="en-US" sz="1000" dirty="0"/>
          </a:p>
        </p:txBody>
      </p:sp>
      <p:sp>
        <p:nvSpPr>
          <p:cNvPr id="32" name="Text 30"/>
          <p:cNvSpPr/>
          <p:nvPr/>
        </p:nvSpPr>
        <p:spPr>
          <a:xfrm>
            <a:off x="6291072" y="4681728"/>
            <a:ext cx="2630272"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Skema ablasi</a:t>
            </a:r>
            <a:endParaRPr lang="en-US" sz="1100" dirty="0"/>
          </a:p>
        </p:txBody>
      </p:sp>
      <p:sp>
        <p:nvSpPr>
          <p:cNvPr id="33" name="Text 31"/>
          <p:cNvSpPr/>
          <p:nvPr/>
        </p:nvSpPr>
        <p:spPr>
          <a:xfrm>
            <a:off x="8921344" y="4681728"/>
            <a:ext cx="2630272"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CV 3-fold identik</a:t>
            </a:r>
            <a:endParaRPr lang="en-US" sz="1100" dirty="0"/>
          </a:p>
        </p:txBody>
      </p:sp>
      <p:sp>
        <p:nvSpPr>
          <p:cNvPr id="34" name="Shape 32"/>
          <p:cNvSpPr/>
          <p:nvPr/>
        </p:nvSpPr>
        <p:spPr>
          <a:xfrm>
            <a:off x="6291072" y="5010912"/>
            <a:ext cx="5260543" cy="0"/>
          </a:xfrm>
          <a:prstGeom prst="line">
            <a:avLst/>
          </a:prstGeom>
          <a:noFill/>
          <a:ln w="7620">
            <a:solidFill>
              <a:srgbClr val="DCD8D1"/>
            </a:solidFill>
            <a:prstDash val="solid"/>
          </a:ln>
        </p:spPr>
      </p:sp>
      <p:sp>
        <p:nvSpPr>
          <p:cNvPr id="35" name="Text 33"/>
          <p:cNvSpPr/>
          <p:nvPr/>
        </p:nvSpPr>
        <p:spPr>
          <a:xfrm>
            <a:off x="6291072" y="5010912"/>
            <a:ext cx="2630272" cy="329184"/>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Waktu ablasi</a:t>
            </a:r>
            <a:endParaRPr lang="en-US" sz="1100" dirty="0"/>
          </a:p>
        </p:txBody>
      </p:sp>
      <p:sp>
        <p:nvSpPr>
          <p:cNvPr id="36" name="Text 34"/>
          <p:cNvSpPr/>
          <p:nvPr/>
        </p:nvSpPr>
        <p:spPr>
          <a:xfrm>
            <a:off x="8921344" y="5010912"/>
            <a:ext cx="2630272" cy="329184"/>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297 detik</a:t>
            </a:r>
            <a:endParaRPr lang="en-US" sz="1100" dirty="0"/>
          </a:p>
        </p:txBody>
      </p:sp>
      <p:sp>
        <p:nvSpPr>
          <p:cNvPr id="37" name="Shape 35"/>
          <p:cNvSpPr/>
          <p:nvPr/>
        </p:nvSpPr>
        <p:spPr>
          <a:xfrm>
            <a:off x="640080" y="5541264"/>
            <a:ext cx="10911535" cy="640080"/>
          </a:xfrm>
          <a:prstGeom prst="roundRect">
            <a:avLst>
              <a:gd name="adj" fmla="val 8571"/>
            </a:avLst>
          </a:prstGeom>
          <a:solidFill>
            <a:srgbClr val="16191D"/>
          </a:solidFill>
          <a:ln w="9525">
            <a:solidFill>
              <a:srgbClr val="16191D"/>
            </a:solidFill>
            <a:prstDash val="solid"/>
          </a:ln>
        </p:spPr>
      </p:sp>
      <p:sp>
        <p:nvSpPr>
          <p:cNvPr id="38" name="Text 36"/>
          <p:cNvSpPr/>
          <p:nvPr/>
        </p:nvSpPr>
        <p:spPr>
          <a:xfrm>
            <a:off x="914400" y="5541264"/>
            <a:ext cx="10362895" cy="640080"/>
          </a:xfrm>
          <a:prstGeom prst="rect">
            <a:avLst/>
          </a:prstGeom>
          <a:noFill/>
          <a:ln/>
        </p:spPr>
        <p:txBody>
          <a:bodyPr wrap="square" lIns="0" tIns="0" rIns="0" bIns="0" rtlCol="0" anchor="ctr"/>
          <a:lstStyle/>
          <a:p>
            <a:pPr indent="0" marL="0">
              <a:buNone/>
            </a:pPr>
            <a:r>
              <a:rPr lang="en-US" sz="1250" b="1" dirty="0">
                <a:solidFill>
                  <a:srgbClr val="8FB0A4"/>
                </a:solidFill>
                <a:latin typeface="Calibri" pitchFamily="34" charset="0"/>
                <a:ea typeface="Calibri" pitchFamily="34" charset="-122"/>
                <a:cs typeface="Calibri" pitchFamily="34" charset="-120"/>
              </a:rPr>
              <a:t>Keputusan: fitur mentah saja. </a:t>
            </a:r>
            <a:pPr indent="0" marL="0">
              <a:buNone/>
            </a:pPr>
            <a:r>
              <a:rPr lang="en-US" sz="1250" dirty="0">
                <a:solidFill>
                  <a:srgbClr val="FFFFFF"/>
                </a:solidFill>
                <a:latin typeface="Calibri" pitchFamily="34" charset="0"/>
                <a:ea typeface="Calibri" pitchFamily="34" charset="-122"/>
                <a:cs typeface="Calibri" pitchFamily="34" charset="-120"/>
              </a:rPr>
              <a:t>Selisihnya di level derau fold. Pohon dengan 176 fitur sudah merekonstruksi sendiri interaksi semacam jumlah penyakit lewat kombinasi percabangan.</a:t>
            </a:r>
            <a:endParaRPr lang="en-US" sz="1250" dirty="0"/>
          </a:p>
        </p:txBody>
      </p:sp>
      <p:sp>
        <p:nvSpPr>
          <p:cNvPr id="40" name="Shape 37"/>
          <p:cNvSpPr/>
          <p:nvPr/>
        </p:nvSpPr>
        <p:spPr>
          <a:xfrm>
            <a:off x="640080" y="6400800"/>
            <a:ext cx="1572768" cy="45720"/>
          </a:xfrm>
          <a:prstGeom prst="rect">
            <a:avLst/>
          </a:prstGeom>
          <a:solidFill>
            <a:srgbClr val="DCD8D1"/>
          </a:solidFill>
          <a:ln/>
        </p:spPr>
      </p:sp>
      <p:sp>
        <p:nvSpPr>
          <p:cNvPr id="41" name="Text 3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42" name="Shape 39"/>
          <p:cNvSpPr/>
          <p:nvPr/>
        </p:nvSpPr>
        <p:spPr>
          <a:xfrm>
            <a:off x="2304288" y="6400800"/>
            <a:ext cx="1572768" cy="45720"/>
          </a:xfrm>
          <a:prstGeom prst="rect">
            <a:avLst/>
          </a:prstGeom>
          <a:solidFill>
            <a:srgbClr val="DCD8D1"/>
          </a:solidFill>
          <a:ln/>
        </p:spPr>
      </p:sp>
      <p:sp>
        <p:nvSpPr>
          <p:cNvPr id="43" name="Text 4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44" name="Shape 41"/>
          <p:cNvSpPr/>
          <p:nvPr/>
        </p:nvSpPr>
        <p:spPr>
          <a:xfrm>
            <a:off x="3968496" y="6400800"/>
            <a:ext cx="1572768" cy="45720"/>
          </a:xfrm>
          <a:prstGeom prst="rect">
            <a:avLst/>
          </a:prstGeom>
          <a:solidFill>
            <a:srgbClr val="A8442A"/>
          </a:solidFill>
          <a:ln/>
        </p:spPr>
      </p:sp>
      <p:sp>
        <p:nvSpPr>
          <p:cNvPr id="45" name="Text 4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46" name="Shape 43"/>
          <p:cNvSpPr/>
          <p:nvPr/>
        </p:nvSpPr>
        <p:spPr>
          <a:xfrm>
            <a:off x="5632704" y="6400800"/>
            <a:ext cx="1572768" cy="45720"/>
          </a:xfrm>
          <a:prstGeom prst="rect">
            <a:avLst/>
          </a:prstGeom>
          <a:solidFill>
            <a:srgbClr val="DCD8D1"/>
          </a:solidFill>
          <a:ln/>
        </p:spPr>
      </p:sp>
      <p:sp>
        <p:nvSpPr>
          <p:cNvPr id="47" name="Text 4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8" name="Shape 45"/>
          <p:cNvSpPr/>
          <p:nvPr/>
        </p:nvSpPr>
        <p:spPr>
          <a:xfrm>
            <a:off x="7296912" y="6400800"/>
            <a:ext cx="1572768" cy="45720"/>
          </a:xfrm>
          <a:prstGeom prst="rect">
            <a:avLst/>
          </a:prstGeom>
          <a:solidFill>
            <a:srgbClr val="DCD8D1"/>
          </a:solidFill>
          <a:ln/>
        </p:spPr>
      </p:sp>
      <p:sp>
        <p:nvSpPr>
          <p:cNvPr id="49" name="Text 4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50" name="Shape 47"/>
          <p:cNvSpPr/>
          <p:nvPr/>
        </p:nvSpPr>
        <p:spPr>
          <a:xfrm>
            <a:off x="8961120" y="6400800"/>
            <a:ext cx="1572768" cy="45720"/>
          </a:xfrm>
          <a:prstGeom prst="rect">
            <a:avLst/>
          </a:prstGeom>
          <a:solidFill>
            <a:srgbClr val="DCD8D1"/>
          </a:solidFill>
          <a:ln/>
        </p:spPr>
      </p:sp>
      <p:sp>
        <p:nvSpPr>
          <p:cNvPr id="51" name="Text 4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52" name="Text 4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Kami menulis ulang metrik lombanya sendiri, lalu membuktikannya setara.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Pencarian ambang butuh puluhan ribu evaluasi QWK. Versi scikit-learn terlalu lambat untuk itu.</a:t>
            </a:r>
            <a:endParaRPr lang="en-US" sz="1400" dirty="0"/>
          </a:p>
        </p:txBody>
      </p:sp>
      <p:sp>
        <p:nvSpPr>
          <p:cNvPr id="4" name="Shape 2"/>
          <p:cNvSpPr/>
          <p:nvPr/>
        </p:nvSpPr>
        <p:spPr>
          <a:xfrm>
            <a:off x="640080" y="2286000"/>
            <a:ext cx="5257800" cy="1874520"/>
          </a:xfrm>
          <a:prstGeom prst="roundRect">
            <a:avLst>
              <a:gd name="adj" fmla="val 2927"/>
            </a:avLst>
          </a:prstGeom>
          <a:solidFill>
            <a:srgbClr val="F4F1EC"/>
          </a:solidFill>
          <a:ln w="9525">
            <a:solidFill>
              <a:srgbClr val="DCD8D1"/>
            </a:solidFill>
            <a:prstDash val="solid"/>
          </a:ln>
        </p:spPr>
      </p:sp>
      <p:sp>
        <p:nvSpPr>
          <p:cNvPr id="5" name="Text 3"/>
          <p:cNvSpPr/>
          <p:nvPr/>
        </p:nvSpPr>
        <p:spPr>
          <a:xfrm>
            <a:off x="932688" y="2450592"/>
            <a:ext cx="4672584" cy="274320"/>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Verifikasi kesetaraan</a:t>
            </a:r>
            <a:endParaRPr lang="en-US" sz="1400" dirty="0"/>
          </a:p>
        </p:txBody>
      </p:sp>
      <p:sp>
        <p:nvSpPr>
          <p:cNvPr id="6" name="Text 4"/>
          <p:cNvSpPr/>
          <p:nvPr/>
        </p:nvSpPr>
        <p:spPr>
          <a:xfrm>
            <a:off x="932688" y="2779776"/>
            <a:ext cx="2897002" cy="329184"/>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Selisih maksimum vs sklearn</a:t>
            </a:r>
            <a:endParaRPr lang="en-US" sz="1150" dirty="0"/>
          </a:p>
        </p:txBody>
      </p:sp>
      <p:sp>
        <p:nvSpPr>
          <p:cNvPr id="7" name="Text 5"/>
          <p:cNvSpPr/>
          <p:nvPr/>
        </p:nvSpPr>
        <p:spPr>
          <a:xfrm>
            <a:off x="3829690" y="2779776"/>
            <a:ext cx="1775582" cy="329184"/>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4,44 × 10⁻¹⁶</a:t>
            </a:r>
            <a:endParaRPr lang="en-US" sz="1150" dirty="0"/>
          </a:p>
        </p:txBody>
      </p:sp>
      <p:sp>
        <p:nvSpPr>
          <p:cNvPr id="8" name="Shape 6"/>
          <p:cNvSpPr/>
          <p:nvPr/>
        </p:nvSpPr>
        <p:spPr>
          <a:xfrm>
            <a:off x="932688" y="3108960"/>
            <a:ext cx="4672584" cy="0"/>
          </a:xfrm>
          <a:prstGeom prst="line">
            <a:avLst/>
          </a:prstGeom>
          <a:noFill/>
          <a:ln w="7620">
            <a:solidFill>
              <a:srgbClr val="DCD8D1"/>
            </a:solidFill>
            <a:prstDash val="solid"/>
          </a:ln>
        </p:spPr>
      </p:sp>
      <p:sp>
        <p:nvSpPr>
          <p:cNvPr id="9" name="Text 7"/>
          <p:cNvSpPr/>
          <p:nvPr/>
        </p:nvSpPr>
        <p:spPr>
          <a:xfrm>
            <a:off x="932688" y="3108960"/>
            <a:ext cx="2897002" cy="329184"/>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Jumlah uji acak</a:t>
            </a:r>
            <a:endParaRPr lang="en-US" sz="1150" dirty="0"/>
          </a:p>
        </p:txBody>
      </p:sp>
      <p:sp>
        <p:nvSpPr>
          <p:cNvPr id="10" name="Text 8"/>
          <p:cNvSpPr/>
          <p:nvPr/>
        </p:nvSpPr>
        <p:spPr>
          <a:xfrm>
            <a:off x="3829690" y="3108960"/>
            <a:ext cx="1775582" cy="329184"/>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200</a:t>
            </a:r>
            <a:endParaRPr lang="en-US" sz="1150" dirty="0"/>
          </a:p>
        </p:txBody>
      </p:sp>
      <p:sp>
        <p:nvSpPr>
          <p:cNvPr id="11" name="Shape 9"/>
          <p:cNvSpPr/>
          <p:nvPr/>
        </p:nvSpPr>
        <p:spPr>
          <a:xfrm>
            <a:off x="932688" y="3438144"/>
            <a:ext cx="4672584" cy="0"/>
          </a:xfrm>
          <a:prstGeom prst="line">
            <a:avLst/>
          </a:prstGeom>
          <a:noFill/>
          <a:ln w="7620">
            <a:solidFill>
              <a:srgbClr val="DCD8D1"/>
            </a:solidFill>
            <a:prstDash val="solid"/>
          </a:ln>
        </p:spPr>
      </p:sp>
      <p:sp>
        <p:nvSpPr>
          <p:cNvPr id="12" name="Text 10"/>
          <p:cNvSpPr/>
          <p:nvPr/>
        </p:nvSpPr>
        <p:spPr>
          <a:xfrm>
            <a:off x="932688" y="3438144"/>
            <a:ext cx="2897002" cy="329184"/>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qwk_fast</a:t>
            </a:r>
            <a:endParaRPr lang="en-US" sz="1150" dirty="0"/>
          </a:p>
        </p:txBody>
      </p:sp>
      <p:sp>
        <p:nvSpPr>
          <p:cNvPr id="13" name="Text 11"/>
          <p:cNvSpPr/>
          <p:nvPr/>
        </p:nvSpPr>
        <p:spPr>
          <a:xfrm>
            <a:off x="3829690" y="3438144"/>
            <a:ext cx="1775582" cy="329184"/>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43 µs per panggilan</a:t>
            </a:r>
            <a:endParaRPr lang="en-US" sz="1150" dirty="0"/>
          </a:p>
        </p:txBody>
      </p:sp>
      <p:sp>
        <p:nvSpPr>
          <p:cNvPr id="14" name="Shape 12"/>
          <p:cNvSpPr/>
          <p:nvPr/>
        </p:nvSpPr>
        <p:spPr>
          <a:xfrm>
            <a:off x="932688" y="3767328"/>
            <a:ext cx="4672584" cy="0"/>
          </a:xfrm>
          <a:prstGeom prst="line">
            <a:avLst/>
          </a:prstGeom>
          <a:noFill/>
          <a:ln w="7620">
            <a:solidFill>
              <a:srgbClr val="DCD8D1"/>
            </a:solidFill>
            <a:prstDash val="solid"/>
          </a:ln>
        </p:spPr>
      </p:sp>
      <p:sp>
        <p:nvSpPr>
          <p:cNvPr id="15" name="Text 13"/>
          <p:cNvSpPr/>
          <p:nvPr/>
        </p:nvSpPr>
        <p:spPr>
          <a:xfrm>
            <a:off x="932688" y="3767328"/>
            <a:ext cx="2897002" cy="329184"/>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cohen_kappa_score</a:t>
            </a:r>
            <a:endParaRPr lang="en-US" sz="1150" dirty="0"/>
          </a:p>
        </p:txBody>
      </p:sp>
      <p:sp>
        <p:nvSpPr>
          <p:cNvPr id="16" name="Text 14"/>
          <p:cNvSpPr/>
          <p:nvPr/>
        </p:nvSpPr>
        <p:spPr>
          <a:xfrm>
            <a:off x="3829690" y="3767328"/>
            <a:ext cx="1775582" cy="329184"/>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2.029 µs per panggilan</a:t>
            </a:r>
            <a:endParaRPr lang="en-US" sz="1150" dirty="0"/>
          </a:p>
        </p:txBody>
      </p:sp>
      <p:sp>
        <p:nvSpPr>
          <p:cNvPr id="17" name="Shape 15"/>
          <p:cNvSpPr/>
          <p:nvPr/>
        </p:nvSpPr>
        <p:spPr>
          <a:xfrm>
            <a:off x="6281928" y="2286000"/>
            <a:ext cx="5257800" cy="1874520"/>
          </a:xfrm>
          <a:prstGeom prst="roundRect">
            <a:avLst>
              <a:gd name="adj" fmla="val 2927"/>
            </a:avLst>
          </a:prstGeom>
          <a:solidFill>
            <a:srgbClr val="16191D"/>
          </a:solidFill>
          <a:ln w="9525">
            <a:solidFill>
              <a:srgbClr val="16191D"/>
            </a:solidFill>
            <a:prstDash val="solid"/>
          </a:ln>
        </p:spPr>
      </p:sp>
      <p:sp>
        <p:nvSpPr>
          <p:cNvPr id="18" name="Text 16"/>
          <p:cNvSpPr/>
          <p:nvPr/>
        </p:nvSpPr>
        <p:spPr>
          <a:xfrm>
            <a:off x="6592824" y="2578608"/>
            <a:ext cx="4636008" cy="676656"/>
          </a:xfrm>
          <a:prstGeom prst="rect">
            <a:avLst/>
          </a:prstGeom>
          <a:noFill/>
          <a:ln/>
        </p:spPr>
        <p:txBody>
          <a:bodyPr wrap="square" lIns="0" tIns="0" rIns="0" bIns="0" rtlCol="0" anchor="b"/>
          <a:lstStyle/>
          <a:p>
            <a:pPr algn="l" indent="0" marL="0">
              <a:buNone/>
            </a:pPr>
            <a:r>
              <a:rPr lang="en-US" sz="4000" b="1" dirty="0">
                <a:solidFill>
                  <a:srgbClr val="8FB0A4"/>
                </a:solidFill>
                <a:latin typeface="Cambria" pitchFamily="34" charset="0"/>
                <a:ea typeface="Cambria" pitchFamily="34" charset="-122"/>
                <a:cs typeface="Cambria" pitchFamily="34" charset="-120"/>
              </a:rPr>
              <a:t>47 ×</a:t>
            </a:r>
            <a:endParaRPr lang="en-US" sz="4000" dirty="0"/>
          </a:p>
        </p:txBody>
      </p:sp>
      <p:sp>
        <p:nvSpPr>
          <p:cNvPr id="19" name="Text 17"/>
          <p:cNvSpPr/>
          <p:nvPr/>
        </p:nvSpPr>
        <p:spPr>
          <a:xfrm>
            <a:off x="6592824" y="3291840"/>
            <a:ext cx="4636008"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Lebih cepat, dan itu yang membuat studi ambang batas 25 menit menjadi mungkin</a:t>
            </a:r>
            <a:endParaRPr lang="en-US" sz="1200" dirty="0"/>
          </a:p>
        </p:txBody>
      </p:sp>
      <p:sp>
        <p:nvSpPr>
          <p:cNvPr id="20" name="Text 18"/>
          <p:cNvSpPr/>
          <p:nvPr/>
        </p:nvSpPr>
        <p:spPr>
          <a:xfrm>
            <a:off x="640080" y="4443984"/>
            <a:ext cx="10911535"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Dari probabilitas ke label, tiga langkah</a:t>
            </a:r>
            <a:endParaRPr lang="en-US" sz="1500" dirty="0"/>
          </a:p>
        </p:txBody>
      </p:sp>
      <p:sp>
        <p:nvSpPr>
          <p:cNvPr id="21" name="Shape 19"/>
          <p:cNvSpPr/>
          <p:nvPr/>
        </p:nvSpPr>
        <p:spPr>
          <a:xfrm>
            <a:off x="640080" y="4828032"/>
            <a:ext cx="3381146" cy="1078992"/>
          </a:xfrm>
          <a:prstGeom prst="roundRect">
            <a:avLst>
              <a:gd name="adj" fmla="val 5085"/>
            </a:avLst>
          </a:prstGeom>
          <a:solidFill>
            <a:srgbClr val="FFFFFF"/>
          </a:solidFill>
          <a:ln w="9525">
            <a:solidFill>
              <a:srgbClr val="DCD8D1"/>
            </a:solidFill>
            <a:prstDash val="solid"/>
          </a:ln>
        </p:spPr>
      </p:sp>
      <p:sp>
        <p:nvSpPr>
          <p:cNvPr id="22" name="Shape 20"/>
          <p:cNvSpPr/>
          <p:nvPr/>
        </p:nvSpPr>
        <p:spPr>
          <a:xfrm>
            <a:off x="896112" y="5010912"/>
            <a:ext cx="329184" cy="329184"/>
          </a:xfrm>
          <a:prstGeom prst="ellipse">
            <a:avLst/>
          </a:prstGeom>
          <a:solidFill>
            <a:srgbClr val="2F6B5F"/>
          </a:solidFill>
          <a:ln/>
        </p:spPr>
      </p:sp>
      <p:sp>
        <p:nvSpPr>
          <p:cNvPr id="23" name="Text 21"/>
          <p:cNvSpPr/>
          <p:nvPr/>
        </p:nvSpPr>
        <p:spPr>
          <a:xfrm>
            <a:off x="896112" y="501091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1335024" y="4974336"/>
            <a:ext cx="2430170" cy="292608"/>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Rata-ratakan probabilitas</a:t>
            </a:r>
            <a:endParaRPr lang="en-US" sz="1250" dirty="0"/>
          </a:p>
        </p:txBody>
      </p:sp>
      <p:sp>
        <p:nvSpPr>
          <p:cNvPr id="25" name="Text 23"/>
          <p:cNvSpPr/>
          <p:nvPr/>
        </p:nvSpPr>
        <p:spPr>
          <a:xfrm>
            <a:off x="1335024" y="5266944"/>
            <a:ext cx="2430170" cy="548640"/>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Lima model pohon, empat kelas, satu matriks p</a:t>
            </a:r>
            <a:endParaRPr lang="en-US" sz="1050" dirty="0"/>
          </a:p>
        </p:txBody>
      </p:sp>
      <p:sp>
        <p:nvSpPr>
          <p:cNvPr id="26" name="Text 24"/>
          <p:cNvSpPr/>
          <p:nvPr/>
        </p:nvSpPr>
        <p:spPr>
          <a:xfrm>
            <a:off x="4057802" y="4828032"/>
            <a:ext cx="310896" cy="1078992"/>
          </a:xfrm>
          <a:prstGeom prst="rect">
            <a:avLst/>
          </a:prstGeom>
          <a:noFill/>
          <a:ln/>
        </p:spPr>
        <p:txBody>
          <a:bodyPr wrap="square" lIns="0" tIns="0" rIns="0" bIns="0" rtlCol="0" anchor="ctr"/>
          <a:lstStyle/>
          <a:p>
            <a:pPr algn="ctr" indent="0" marL="0">
              <a:buNone/>
            </a:pPr>
            <a:r>
              <a:rPr lang="en-US" sz="1400" dirty="0">
                <a:solidFill>
                  <a:srgbClr val="9AA0A7"/>
                </a:solidFill>
                <a:latin typeface="Calibri" pitchFamily="34" charset="0"/>
                <a:ea typeface="Calibri" pitchFamily="34" charset="-122"/>
                <a:cs typeface="Calibri" pitchFamily="34" charset="-120"/>
              </a:rPr>
              <a:t>→</a:t>
            </a:r>
            <a:endParaRPr lang="en-US" sz="1400" dirty="0"/>
          </a:p>
        </p:txBody>
      </p:sp>
      <p:sp>
        <p:nvSpPr>
          <p:cNvPr id="27" name="Shape 25"/>
          <p:cNvSpPr/>
          <p:nvPr/>
        </p:nvSpPr>
        <p:spPr>
          <a:xfrm>
            <a:off x="4405274" y="4828032"/>
            <a:ext cx="3381146" cy="1078992"/>
          </a:xfrm>
          <a:prstGeom prst="roundRect">
            <a:avLst>
              <a:gd name="adj" fmla="val 5085"/>
            </a:avLst>
          </a:prstGeom>
          <a:solidFill>
            <a:srgbClr val="FFFFFF"/>
          </a:solidFill>
          <a:ln w="9525">
            <a:solidFill>
              <a:srgbClr val="DCD8D1"/>
            </a:solidFill>
            <a:prstDash val="solid"/>
          </a:ln>
        </p:spPr>
      </p:sp>
      <p:sp>
        <p:nvSpPr>
          <p:cNvPr id="28" name="Shape 26"/>
          <p:cNvSpPr/>
          <p:nvPr/>
        </p:nvSpPr>
        <p:spPr>
          <a:xfrm>
            <a:off x="4661306" y="5010912"/>
            <a:ext cx="329184" cy="329184"/>
          </a:xfrm>
          <a:prstGeom prst="ellipse">
            <a:avLst/>
          </a:prstGeom>
          <a:solidFill>
            <a:srgbClr val="8FB0A4"/>
          </a:solidFill>
          <a:ln/>
        </p:spPr>
      </p:sp>
      <p:sp>
        <p:nvSpPr>
          <p:cNvPr id="29" name="Text 27"/>
          <p:cNvSpPr/>
          <p:nvPr/>
        </p:nvSpPr>
        <p:spPr>
          <a:xfrm>
            <a:off x="4661306" y="501091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8"/>
          <p:cNvSpPr/>
          <p:nvPr/>
        </p:nvSpPr>
        <p:spPr>
          <a:xfrm>
            <a:off x="5100218" y="4974336"/>
            <a:ext cx="2430170" cy="292608"/>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Hitung nilai harapan</a:t>
            </a:r>
            <a:endParaRPr lang="en-US" sz="1250" dirty="0"/>
          </a:p>
        </p:txBody>
      </p:sp>
      <p:sp>
        <p:nvSpPr>
          <p:cNvPr id="31" name="Text 29"/>
          <p:cNvSpPr/>
          <p:nvPr/>
        </p:nvSpPr>
        <p:spPr>
          <a:xfrm>
            <a:off x="5100218" y="5266944"/>
            <a:ext cx="2430170" cy="548640"/>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E[y] = Σ pₖ · k, satu bilangan kontinu per responden</a:t>
            </a:r>
            <a:endParaRPr lang="en-US" sz="1050" dirty="0"/>
          </a:p>
        </p:txBody>
      </p:sp>
      <p:sp>
        <p:nvSpPr>
          <p:cNvPr id="32" name="Text 30"/>
          <p:cNvSpPr/>
          <p:nvPr/>
        </p:nvSpPr>
        <p:spPr>
          <a:xfrm>
            <a:off x="7822997" y="4828032"/>
            <a:ext cx="310896" cy="1078992"/>
          </a:xfrm>
          <a:prstGeom prst="rect">
            <a:avLst/>
          </a:prstGeom>
          <a:noFill/>
          <a:ln/>
        </p:spPr>
        <p:txBody>
          <a:bodyPr wrap="square" lIns="0" tIns="0" rIns="0" bIns="0" rtlCol="0" anchor="ctr"/>
          <a:lstStyle/>
          <a:p>
            <a:pPr algn="ctr" indent="0" marL="0">
              <a:buNone/>
            </a:pPr>
            <a:r>
              <a:rPr lang="en-US" sz="1400" dirty="0">
                <a:solidFill>
                  <a:srgbClr val="9AA0A7"/>
                </a:solidFill>
                <a:latin typeface="Calibri" pitchFamily="34" charset="0"/>
                <a:ea typeface="Calibri" pitchFamily="34" charset="-122"/>
                <a:cs typeface="Calibri" pitchFamily="34" charset="-120"/>
              </a:rPr>
              <a:t>→</a:t>
            </a:r>
            <a:endParaRPr lang="en-US" sz="1400" dirty="0"/>
          </a:p>
        </p:txBody>
      </p:sp>
      <p:sp>
        <p:nvSpPr>
          <p:cNvPr id="33" name="Shape 31"/>
          <p:cNvSpPr/>
          <p:nvPr/>
        </p:nvSpPr>
        <p:spPr>
          <a:xfrm>
            <a:off x="8170469" y="4828032"/>
            <a:ext cx="3381146" cy="1078992"/>
          </a:xfrm>
          <a:prstGeom prst="roundRect">
            <a:avLst>
              <a:gd name="adj" fmla="val 5085"/>
            </a:avLst>
          </a:prstGeom>
          <a:solidFill>
            <a:srgbClr val="FFFFFF"/>
          </a:solidFill>
          <a:ln w="9525">
            <a:solidFill>
              <a:srgbClr val="DCD8D1"/>
            </a:solidFill>
            <a:prstDash val="solid"/>
          </a:ln>
        </p:spPr>
      </p:sp>
      <p:sp>
        <p:nvSpPr>
          <p:cNvPr id="34" name="Shape 32"/>
          <p:cNvSpPr/>
          <p:nvPr/>
        </p:nvSpPr>
        <p:spPr>
          <a:xfrm>
            <a:off x="8426501" y="5010912"/>
            <a:ext cx="329184" cy="329184"/>
          </a:xfrm>
          <a:prstGeom prst="ellipse">
            <a:avLst/>
          </a:prstGeom>
          <a:solidFill>
            <a:srgbClr val="D8A25E"/>
          </a:solidFill>
          <a:ln/>
        </p:spPr>
      </p:sp>
      <p:sp>
        <p:nvSpPr>
          <p:cNvPr id="35" name="Text 33"/>
          <p:cNvSpPr/>
          <p:nvPr/>
        </p:nvSpPr>
        <p:spPr>
          <a:xfrm>
            <a:off x="8426501" y="501091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6" name="Text 34"/>
          <p:cNvSpPr/>
          <p:nvPr/>
        </p:nvSpPr>
        <p:spPr>
          <a:xfrm>
            <a:off x="8865413" y="4974336"/>
            <a:ext cx="2430170" cy="292608"/>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Potong dengan tiga ambang</a:t>
            </a:r>
            <a:endParaRPr lang="en-US" sz="1250" dirty="0"/>
          </a:p>
        </p:txBody>
      </p:sp>
      <p:sp>
        <p:nvSpPr>
          <p:cNvPr id="37" name="Text 35"/>
          <p:cNvSpPr/>
          <p:nvPr/>
        </p:nvSpPr>
        <p:spPr>
          <a:xfrm>
            <a:off x="8865413" y="5266944"/>
            <a:ext cx="2430170" cy="548640"/>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Label akhir 1, 2, 3, atau 4</a:t>
            </a:r>
            <a:endParaRPr lang="en-US" sz="1050" dirty="0"/>
          </a:p>
        </p:txBody>
      </p:sp>
      <p:sp>
        <p:nvSpPr>
          <p:cNvPr id="39" name="Shape 36"/>
          <p:cNvSpPr/>
          <p:nvPr/>
        </p:nvSpPr>
        <p:spPr>
          <a:xfrm>
            <a:off x="640080" y="6400800"/>
            <a:ext cx="1572768" cy="45720"/>
          </a:xfrm>
          <a:prstGeom prst="rect">
            <a:avLst/>
          </a:prstGeom>
          <a:solidFill>
            <a:srgbClr val="DCD8D1"/>
          </a:solidFill>
          <a:ln/>
        </p:spPr>
      </p:sp>
      <p:sp>
        <p:nvSpPr>
          <p:cNvPr id="40" name="Text 3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41" name="Shape 38"/>
          <p:cNvSpPr/>
          <p:nvPr/>
        </p:nvSpPr>
        <p:spPr>
          <a:xfrm>
            <a:off x="2304288" y="6400800"/>
            <a:ext cx="1572768" cy="45720"/>
          </a:xfrm>
          <a:prstGeom prst="rect">
            <a:avLst/>
          </a:prstGeom>
          <a:solidFill>
            <a:srgbClr val="DCD8D1"/>
          </a:solidFill>
          <a:ln/>
        </p:spPr>
      </p:sp>
      <p:sp>
        <p:nvSpPr>
          <p:cNvPr id="42" name="Text 3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43" name="Shape 40"/>
          <p:cNvSpPr/>
          <p:nvPr/>
        </p:nvSpPr>
        <p:spPr>
          <a:xfrm>
            <a:off x="3968496" y="6400800"/>
            <a:ext cx="1572768" cy="45720"/>
          </a:xfrm>
          <a:prstGeom prst="rect">
            <a:avLst/>
          </a:prstGeom>
          <a:solidFill>
            <a:srgbClr val="A8442A"/>
          </a:solidFill>
          <a:ln/>
        </p:spPr>
      </p:sp>
      <p:sp>
        <p:nvSpPr>
          <p:cNvPr id="44" name="Text 4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45" name="Shape 42"/>
          <p:cNvSpPr/>
          <p:nvPr/>
        </p:nvSpPr>
        <p:spPr>
          <a:xfrm>
            <a:off x="5632704" y="6400800"/>
            <a:ext cx="1572768" cy="45720"/>
          </a:xfrm>
          <a:prstGeom prst="rect">
            <a:avLst/>
          </a:prstGeom>
          <a:solidFill>
            <a:srgbClr val="DCD8D1"/>
          </a:solidFill>
          <a:ln/>
        </p:spPr>
      </p:sp>
      <p:sp>
        <p:nvSpPr>
          <p:cNvPr id="46" name="Text 4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7" name="Shape 44"/>
          <p:cNvSpPr/>
          <p:nvPr/>
        </p:nvSpPr>
        <p:spPr>
          <a:xfrm>
            <a:off x="7296912" y="6400800"/>
            <a:ext cx="1572768" cy="45720"/>
          </a:xfrm>
          <a:prstGeom prst="rect">
            <a:avLst/>
          </a:prstGeom>
          <a:solidFill>
            <a:srgbClr val="DCD8D1"/>
          </a:solidFill>
          <a:ln/>
        </p:spPr>
      </p:sp>
      <p:sp>
        <p:nvSpPr>
          <p:cNvPr id="48" name="Text 4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49" name="Shape 46"/>
          <p:cNvSpPr/>
          <p:nvPr/>
        </p:nvSpPr>
        <p:spPr>
          <a:xfrm>
            <a:off x="8961120" y="6400800"/>
            <a:ext cx="1572768" cy="45720"/>
          </a:xfrm>
          <a:prstGeom prst="rect">
            <a:avLst/>
          </a:prstGeom>
          <a:solidFill>
            <a:srgbClr val="DCD8D1"/>
          </a:solidFill>
          <a:ln/>
        </p:spPr>
      </p:sp>
      <p:sp>
        <p:nvSpPr>
          <p:cNvPr id="50" name="Text 4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51" name="Text 4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Satu pembagian fold, dipakai keenam model tanpa kecuali.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Itu syarat agar prediksi out-of-fold keenamnya bisa ditumpuk menjadi matriks fitur meta-learner.</a:t>
            </a:r>
            <a:endParaRPr lang="en-US" sz="1400" dirty="0"/>
          </a:p>
        </p:txBody>
      </p:sp>
      <p:sp>
        <p:nvSpPr>
          <p:cNvPr id="4" name="Shape 2"/>
          <p:cNvSpPr/>
          <p:nvPr/>
        </p:nvSpPr>
        <p:spPr>
          <a:xfrm>
            <a:off x="640080" y="2286000"/>
            <a:ext cx="5257800" cy="2331720"/>
          </a:xfrm>
          <a:prstGeom prst="roundRect">
            <a:avLst>
              <a:gd name="adj" fmla="val 2353"/>
            </a:avLst>
          </a:prstGeom>
          <a:solidFill>
            <a:srgbClr val="F4F1EC"/>
          </a:solidFill>
          <a:ln w="9525">
            <a:solidFill>
              <a:srgbClr val="DCD8D1"/>
            </a:solidFill>
            <a:prstDash val="solid"/>
          </a:ln>
        </p:spPr>
      </p:sp>
      <p:sp>
        <p:nvSpPr>
          <p:cNvPr id="5" name="Text 3"/>
          <p:cNvSpPr/>
          <p:nvPr/>
        </p:nvSpPr>
        <p:spPr>
          <a:xfrm>
            <a:off x="932688" y="2450592"/>
            <a:ext cx="4672584" cy="274320"/>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Skema</a:t>
            </a:r>
            <a:endParaRPr lang="en-US" sz="1400" dirty="0"/>
          </a:p>
        </p:txBody>
      </p:sp>
      <p:sp>
        <p:nvSpPr>
          <p:cNvPr id="6" name="Text 4"/>
          <p:cNvSpPr/>
          <p:nvPr/>
        </p:nvSpPr>
        <p:spPr>
          <a:xfrm>
            <a:off x="932688" y="2779776"/>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Metode</a:t>
            </a:r>
            <a:endParaRPr lang="en-US" sz="1150" dirty="0"/>
          </a:p>
        </p:txBody>
      </p:sp>
      <p:sp>
        <p:nvSpPr>
          <p:cNvPr id="7" name="Text 5"/>
          <p:cNvSpPr/>
          <p:nvPr/>
        </p:nvSpPr>
        <p:spPr>
          <a:xfrm>
            <a:off x="3829690" y="2779776"/>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StratifiedKFold</a:t>
            </a:r>
            <a:endParaRPr lang="en-US" sz="1150" dirty="0"/>
          </a:p>
        </p:txBody>
      </p:sp>
      <p:sp>
        <p:nvSpPr>
          <p:cNvPr id="8" name="Shape 6"/>
          <p:cNvSpPr/>
          <p:nvPr/>
        </p:nvSpPr>
        <p:spPr>
          <a:xfrm>
            <a:off x="932688" y="3081528"/>
            <a:ext cx="4672584" cy="0"/>
          </a:xfrm>
          <a:prstGeom prst="line">
            <a:avLst/>
          </a:prstGeom>
          <a:noFill/>
          <a:ln w="7620">
            <a:solidFill>
              <a:srgbClr val="DCD8D1"/>
            </a:solidFill>
            <a:prstDash val="solid"/>
          </a:ln>
        </p:spPr>
      </p:sp>
      <p:sp>
        <p:nvSpPr>
          <p:cNvPr id="9" name="Text 7"/>
          <p:cNvSpPr/>
          <p:nvPr/>
        </p:nvSpPr>
        <p:spPr>
          <a:xfrm>
            <a:off x="932688" y="3081528"/>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Jumlah fold</a:t>
            </a:r>
            <a:endParaRPr lang="en-US" sz="1150" dirty="0"/>
          </a:p>
        </p:txBody>
      </p:sp>
      <p:sp>
        <p:nvSpPr>
          <p:cNvPr id="10" name="Text 8"/>
          <p:cNvSpPr/>
          <p:nvPr/>
        </p:nvSpPr>
        <p:spPr>
          <a:xfrm>
            <a:off x="3829690" y="3081528"/>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5, dengan pengacakan</a:t>
            </a:r>
            <a:endParaRPr lang="en-US" sz="1150" dirty="0"/>
          </a:p>
        </p:txBody>
      </p:sp>
      <p:sp>
        <p:nvSpPr>
          <p:cNvPr id="11" name="Shape 9"/>
          <p:cNvSpPr/>
          <p:nvPr/>
        </p:nvSpPr>
        <p:spPr>
          <a:xfrm>
            <a:off x="932688" y="3383280"/>
            <a:ext cx="4672584" cy="0"/>
          </a:xfrm>
          <a:prstGeom prst="line">
            <a:avLst/>
          </a:prstGeom>
          <a:noFill/>
          <a:ln w="7620">
            <a:solidFill>
              <a:srgbClr val="DCD8D1"/>
            </a:solidFill>
            <a:prstDash val="solid"/>
          </a:ln>
        </p:spPr>
      </p:sp>
      <p:sp>
        <p:nvSpPr>
          <p:cNvPr id="12" name="Text 10"/>
          <p:cNvSpPr/>
          <p:nvPr/>
        </p:nvSpPr>
        <p:spPr>
          <a:xfrm>
            <a:off x="932688" y="3383280"/>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random_state pembagian</a:t>
            </a:r>
            <a:endParaRPr lang="en-US" sz="1150" dirty="0"/>
          </a:p>
        </p:txBody>
      </p:sp>
      <p:sp>
        <p:nvSpPr>
          <p:cNvPr id="13" name="Text 11"/>
          <p:cNvSpPr/>
          <p:nvPr/>
        </p:nvSpPr>
        <p:spPr>
          <a:xfrm>
            <a:off x="3829690" y="3383280"/>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42</a:t>
            </a:r>
            <a:endParaRPr lang="en-US" sz="1150" dirty="0"/>
          </a:p>
        </p:txBody>
      </p:sp>
      <p:sp>
        <p:nvSpPr>
          <p:cNvPr id="14" name="Shape 12"/>
          <p:cNvSpPr/>
          <p:nvPr/>
        </p:nvSpPr>
        <p:spPr>
          <a:xfrm>
            <a:off x="932688" y="3685032"/>
            <a:ext cx="4672584" cy="0"/>
          </a:xfrm>
          <a:prstGeom prst="line">
            <a:avLst/>
          </a:prstGeom>
          <a:noFill/>
          <a:ln w="7620">
            <a:solidFill>
              <a:srgbClr val="DCD8D1"/>
            </a:solidFill>
            <a:prstDash val="solid"/>
          </a:ln>
        </p:spPr>
      </p:sp>
      <p:sp>
        <p:nvSpPr>
          <p:cNvPr id="15" name="Text 13"/>
          <p:cNvSpPr/>
          <p:nvPr/>
        </p:nvSpPr>
        <p:spPr>
          <a:xfrm>
            <a:off x="932688" y="3685032"/>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Seed model per fold</a:t>
            </a:r>
            <a:endParaRPr lang="en-US" sz="1150" dirty="0"/>
          </a:p>
        </p:txBody>
      </p:sp>
      <p:sp>
        <p:nvSpPr>
          <p:cNvPr id="16" name="Text 14"/>
          <p:cNvSpPr/>
          <p:nvPr/>
        </p:nvSpPr>
        <p:spPr>
          <a:xfrm>
            <a:off x="3829690" y="3685032"/>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0, 1, 2, 3, 4</a:t>
            </a:r>
            <a:endParaRPr lang="en-US" sz="1150" dirty="0"/>
          </a:p>
        </p:txBody>
      </p:sp>
      <p:sp>
        <p:nvSpPr>
          <p:cNvPr id="17" name="Shape 15"/>
          <p:cNvSpPr/>
          <p:nvPr/>
        </p:nvSpPr>
        <p:spPr>
          <a:xfrm>
            <a:off x="932688" y="3986784"/>
            <a:ext cx="4672584" cy="0"/>
          </a:xfrm>
          <a:prstGeom prst="line">
            <a:avLst/>
          </a:prstGeom>
          <a:noFill/>
          <a:ln w="7620">
            <a:solidFill>
              <a:srgbClr val="DCD8D1"/>
            </a:solidFill>
            <a:prstDash val="solid"/>
          </a:ln>
        </p:spPr>
      </p:sp>
      <p:sp>
        <p:nvSpPr>
          <p:cNvPr id="18" name="Text 16"/>
          <p:cNvSpPr/>
          <p:nvPr/>
        </p:nvSpPr>
        <p:spPr>
          <a:xfrm>
            <a:off x="932688" y="3986784"/>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Ukuran latih per fold</a:t>
            </a:r>
            <a:endParaRPr lang="en-US" sz="1150" dirty="0"/>
          </a:p>
        </p:txBody>
      </p:sp>
      <p:sp>
        <p:nvSpPr>
          <p:cNvPr id="19" name="Text 17"/>
          <p:cNvSpPr/>
          <p:nvPr/>
        </p:nvSpPr>
        <p:spPr>
          <a:xfrm>
            <a:off x="3829690" y="3986784"/>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76.487 atau 76.488</a:t>
            </a:r>
            <a:endParaRPr lang="en-US" sz="1150" dirty="0"/>
          </a:p>
        </p:txBody>
      </p:sp>
      <p:sp>
        <p:nvSpPr>
          <p:cNvPr id="20" name="Shape 18"/>
          <p:cNvSpPr/>
          <p:nvPr/>
        </p:nvSpPr>
        <p:spPr>
          <a:xfrm>
            <a:off x="932688" y="4288536"/>
            <a:ext cx="4672584" cy="0"/>
          </a:xfrm>
          <a:prstGeom prst="line">
            <a:avLst/>
          </a:prstGeom>
          <a:noFill/>
          <a:ln w="7620">
            <a:solidFill>
              <a:srgbClr val="DCD8D1"/>
            </a:solidFill>
            <a:prstDash val="solid"/>
          </a:ln>
        </p:spPr>
      </p:sp>
      <p:sp>
        <p:nvSpPr>
          <p:cNvPr id="21" name="Text 19"/>
          <p:cNvSpPr/>
          <p:nvPr/>
        </p:nvSpPr>
        <p:spPr>
          <a:xfrm>
            <a:off x="932688" y="4288536"/>
            <a:ext cx="2897002" cy="301752"/>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Ukuran validasi per fold</a:t>
            </a:r>
            <a:endParaRPr lang="en-US" sz="1150" dirty="0"/>
          </a:p>
        </p:txBody>
      </p:sp>
      <p:sp>
        <p:nvSpPr>
          <p:cNvPr id="22" name="Text 20"/>
          <p:cNvSpPr/>
          <p:nvPr/>
        </p:nvSpPr>
        <p:spPr>
          <a:xfrm>
            <a:off x="3829690" y="4288536"/>
            <a:ext cx="1775582" cy="301752"/>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19.121 atau 19.122</a:t>
            </a:r>
            <a:endParaRPr lang="en-US" sz="1150" dirty="0"/>
          </a:p>
        </p:txBody>
      </p:sp>
      <p:sp>
        <p:nvSpPr>
          <p:cNvPr id="23" name="Text 21"/>
          <p:cNvSpPr/>
          <p:nvPr/>
        </p:nvSpPr>
        <p:spPr>
          <a:xfrm>
            <a:off x="6281928" y="2286000"/>
            <a:ext cx="5257800" cy="274320"/>
          </a:xfrm>
          <a:prstGeom prst="rect">
            <a:avLst/>
          </a:prstGeom>
          <a:noFill/>
          <a:ln/>
        </p:spPr>
        <p:txBody>
          <a:bodyPr wrap="square" lIns="0" tIns="0" rIns="0" bIns="0" rtlCol="0" anchor="ctr"/>
          <a:lstStyle/>
          <a:p>
            <a:pPr indent="0" marL="0">
              <a:buNone/>
            </a:pPr>
            <a:r>
              <a:rPr lang="en-US" sz="1100" dirty="0">
                <a:solidFill>
                  <a:srgbClr val="6E747C"/>
                </a:solidFill>
                <a:latin typeface="Calibri" pitchFamily="34" charset="0"/>
                <a:ea typeface="Calibri" pitchFamily="34" charset="-122"/>
                <a:cs typeface="Calibri" pitchFamily="34" charset="-120"/>
              </a:rPr>
              <a:t>Lima fold, stratifikasi menjaga proporsi kelas langka</a:t>
            </a:r>
            <a:endParaRPr lang="en-US" sz="1100" dirty="0"/>
          </a:p>
        </p:txBody>
      </p:sp>
      <p:sp>
        <p:nvSpPr>
          <p:cNvPr id="24" name="Text 22"/>
          <p:cNvSpPr/>
          <p:nvPr/>
        </p:nvSpPr>
        <p:spPr>
          <a:xfrm>
            <a:off x="6281928" y="2651760"/>
            <a:ext cx="658368"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fold 0</a:t>
            </a:r>
            <a:endParaRPr lang="en-US" sz="1050" dirty="0"/>
          </a:p>
        </p:txBody>
      </p:sp>
      <p:sp>
        <p:nvSpPr>
          <p:cNvPr id="25" name="Shape 23"/>
          <p:cNvSpPr/>
          <p:nvPr/>
        </p:nvSpPr>
        <p:spPr>
          <a:xfrm>
            <a:off x="7013448" y="2688336"/>
            <a:ext cx="786384" cy="237744"/>
          </a:xfrm>
          <a:prstGeom prst="rect">
            <a:avLst/>
          </a:prstGeom>
          <a:solidFill>
            <a:srgbClr val="A8442A"/>
          </a:solidFill>
          <a:ln/>
        </p:spPr>
      </p:sp>
      <p:sp>
        <p:nvSpPr>
          <p:cNvPr id="26" name="Shape 24"/>
          <p:cNvSpPr/>
          <p:nvPr/>
        </p:nvSpPr>
        <p:spPr>
          <a:xfrm>
            <a:off x="7854696" y="2688336"/>
            <a:ext cx="786384" cy="237744"/>
          </a:xfrm>
          <a:prstGeom prst="rect">
            <a:avLst/>
          </a:prstGeom>
          <a:solidFill>
            <a:srgbClr val="ECE7DF"/>
          </a:solidFill>
          <a:ln/>
        </p:spPr>
      </p:sp>
      <p:sp>
        <p:nvSpPr>
          <p:cNvPr id="27" name="Shape 25"/>
          <p:cNvSpPr/>
          <p:nvPr/>
        </p:nvSpPr>
        <p:spPr>
          <a:xfrm>
            <a:off x="8695944" y="2688336"/>
            <a:ext cx="786384" cy="237744"/>
          </a:xfrm>
          <a:prstGeom prst="rect">
            <a:avLst/>
          </a:prstGeom>
          <a:solidFill>
            <a:srgbClr val="ECE7DF"/>
          </a:solidFill>
          <a:ln/>
        </p:spPr>
      </p:sp>
      <p:sp>
        <p:nvSpPr>
          <p:cNvPr id="28" name="Shape 26"/>
          <p:cNvSpPr/>
          <p:nvPr/>
        </p:nvSpPr>
        <p:spPr>
          <a:xfrm>
            <a:off x="9537192" y="2688336"/>
            <a:ext cx="786384" cy="237744"/>
          </a:xfrm>
          <a:prstGeom prst="rect">
            <a:avLst/>
          </a:prstGeom>
          <a:solidFill>
            <a:srgbClr val="ECE7DF"/>
          </a:solidFill>
          <a:ln/>
        </p:spPr>
      </p:sp>
      <p:sp>
        <p:nvSpPr>
          <p:cNvPr id="29" name="Shape 27"/>
          <p:cNvSpPr/>
          <p:nvPr/>
        </p:nvSpPr>
        <p:spPr>
          <a:xfrm>
            <a:off x="10378440" y="2688336"/>
            <a:ext cx="786384" cy="237744"/>
          </a:xfrm>
          <a:prstGeom prst="rect">
            <a:avLst/>
          </a:prstGeom>
          <a:solidFill>
            <a:srgbClr val="ECE7DF"/>
          </a:solidFill>
          <a:ln/>
        </p:spPr>
      </p:sp>
      <p:sp>
        <p:nvSpPr>
          <p:cNvPr id="30" name="Text 28"/>
          <p:cNvSpPr/>
          <p:nvPr/>
        </p:nvSpPr>
        <p:spPr>
          <a:xfrm>
            <a:off x="6281928" y="3054096"/>
            <a:ext cx="658368"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fold 1</a:t>
            </a:r>
            <a:endParaRPr lang="en-US" sz="1050" dirty="0"/>
          </a:p>
        </p:txBody>
      </p:sp>
      <p:sp>
        <p:nvSpPr>
          <p:cNvPr id="31" name="Shape 29"/>
          <p:cNvSpPr/>
          <p:nvPr/>
        </p:nvSpPr>
        <p:spPr>
          <a:xfrm>
            <a:off x="7013448" y="3090672"/>
            <a:ext cx="786384" cy="237744"/>
          </a:xfrm>
          <a:prstGeom prst="rect">
            <a:avLst/>
          </a:prstGeom>
          <a:solidFill>
            <a:srgbClr val="ECE7DF"/>
          </a:solidFill>
          <a:ln/>
        </p:spPr>
      </p:sp>
      <p:sp>
        <p:nvSpPr>
          <p:cNvPr id="32" name="Shape 30"/>
          <p:cNvSpPr/>
          <p:nvPr/>
        </p:nvSpPr>
        <p:spPr>
          <a:xfrm>
            <a:off x="7854696" y="3090672"/>
            <a:ext cx="786384" cy="237744"/>
          </a:xfrm>
          <a:prstGeom prst="rect">
            <a:avLst/>
          </a:prstGeom>
          <a:solidFill>
            <a:srgbClr val="A8442A"/>
          </a:solidFill>
          <a:ln/>
        </p:spPr>
      </p:sp>
      <p:sp>
        <p:nvSpPr>
          <p:cNvPr id="33" name="Shape 31"/>
          <p:cNvSpPr/>
          <p:nvPr/>
        </p:nvSpPr>
        <p:spPr>
          <a:xfrm>
            <a:off x="8695944" y="3090672"/>
            <a:ext cx="786384" cy="237744"/>
          </a:xfrm>
          <a:prstGeom prst="rect">
            <a:avLst/>
          </a:prstGeom>
          <a:solidFill>
            <a:srgbClr val="ECE7DF"/>
          </a:solidFill>
          <a:ln/>
        </p:spPr>
      </p:sp>
      <p:sp>
        <p:nvSpPr>
          <p:cNvPr id="34" name="Shape 32"/>
          <p:cNvSpPr/>
          <p:nvPr/>
        </p:nvSpPr>
        <p:spPr>
          <a:xfrm>
            <a:off x="9537192" y="3090672"/>
            <a:ext cx="786384" cy="237744"/>
          </a:xfrm>
          <a:prstGeom prst="rect">
            <a:avLst/>
          </a:prstGeom>
          <a:solidFill>
            <a:srgbClr val="ECE7DF"/>
          </a:solidFill>
          <a:ln/>
        </p:spPr>
      </p:sp>
      <p:sp>
        <p:nvSpPr>
          <p:cNvPr id="35" name="Shape 33"/>
          <p:cNvSpPr/>
          <p:nvPr/>
        </p:nvSpPr>
        <p:spPr>
          <a:xfrm>
            <a:off x="10378440" y="3090672"/>
            <a:ext cx="786384" cy="237744"/>
          </a:xfrm>
          <a:prstGeom prst="rect">
            <a:avLst/>
          </a:prstGeom>
          <a:solidFill>
            <a:srgbClr val="ECE7DF"/>
          </a:solidFill>
          <a:ln/>
        </p:spPr>
      </p:sp>
      <p:sp>
        <p:nvSpPr>
          <p:cNvPr id="36" name="Text 34"/>
          <p:cNvSpPr/>
          <p:nvPr/>
        </p:nvSpPr>
        <p:spPr>
          <a:xfrm>
            <a:off x="6281928" y="3456432"/>
            <a:ext cx="658368"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fold 2</a:t>
            </a:r>
            <a:endParaRPr lang="en-US" sz="1050" dirty="0"/>
          </a:p>
        </p:txBody>
      </p:sp>
      <p:sp>
        <p:nvSpPr>
          <p:cNvPr id="37" name="Shape 35"/>
          <p:cNvSpPr/>
          <p:nvPr/>
        </p:nvSpPr>
        <p:spPr>
          <a:xfrm>
            <a:off x="7013448" y="3493008"/>
            <a:ext cx="786384" cy="237744"/>
          </a:xfrm>
          <a:prstGeom prst="rect">
            <a:avLst/>
          </a:prstGeom>
          <a:solidFill>
            <a:srgbClr val="ECE7DF"/>
          </a:solidFill>
          <a:ln/>
        </p:spPr>
      </p:sp>
      <p:sp>
        <p:nvSpPr>
          <p:cNvPr id="38" name="Shape 36"/>
          <p:cNvSpPr/>
          <p:nvPr/>
        </p:nvSpPr>
        <p:spPr>
          <a:xfrm>
            <a:off x="7854696" y="3493008"/>
            <a:ext cx="786384" cy="237744"/>
          </a:xfrm>
          <a:prstGeom prst="rect">
            <a:avLst/>
          </a:prstGeom>
          <a:solidFill>
            <a:srgbClr val="ECE7DF"/>
          </a:solidFill>
          <a:ln/>
        </p:spPr>
      </p:sp>
      <p:sp>
        <p:nvSpPr>
          <p:cNvPr id="39" name="Shape 37"/>
          <p:cNvSpPr/>
          <p:nvPr/>
        </p:nvSpPr>
        <p:spPr>
          <a:xfrm>
            <a:off x="8695944" y="3493008"/>
            <a:ext cx="786384" cy="237744"/>
          </a:xfrm>
          <a:prstGeom prst="rect">
            <a:avLst/>
          </a:prstGeom>
          <a:solidFill>
            <a:srgbClr val="A8442A"/>
          </a:solidFill>
          <a:ln/>
        </p:spPr>
      </p:sp>
      <p:sp>
        <p:nvSpPr>
          <p:cNvPr id="40" name="Shape 38"/>
          <p:cNvSpPr/>
          <p:nvPr/>
        </p:nvSpPr>
        <p:spPr>
          <a:xfrm>
            <a:off x="9537192" y="3493008"/>
            <a:ext cx="786384" cy="237744"/>
          </a:xfrm>
          <a:prstGeom prst="rect">
            <a:avLst/>
          </a:prstGeom>
          <a:solidFill>
            <a:srgbClr val="ECE7DF"/>
          </a:solidFill>
          <a:ln/>
        </p:spPr>
      </p:sp>
      <p:sp>
        <p:nvSpPr>
          <p:cNvPr id="41" name="Shape 39"/>
          <p:cNvSpPr/>
          <p:nvPr/>
        </p:nvSpPr>
        <p:spPr>
          <a:xfrm>
            <a:off x="10378440" y="3493008"/>
            <a:ext cx="786384" cy="237744"/>
          </a:xfrm>
          <a:prstGeom prst="rect">
            <a:avLst/>
          </a:prstGeom>
          <a:solidFill>
            <a:srgbClr val="ECE7DF"/>
          </a:solidFill>
          <a:ln/>
        </p:spPr>
      </p:sp>
      <p:sp>
        <p:nvSpPr>
          <p:cNvPr id="42" name="Text 40"/>
          <p:cNvSpPr/>
          <p:nvPr/>
        </p:nvSpPr>
        <p:spPr>
          <a:xfrm>
            <a:off x="6281928" y="3858768"/>
            <a:ext cx="658368"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fold 3</a:t>
            </a:r>
            <a:endParaRPr lang="en-US" sz="1050" dirty="0"/>
          </a:p>
        </p:txBody>
      </p:sp>
      <p:sp>
        <p:nvSpPr>
          <p:cNvPr id="43" name="Shape 41"/>
          <p:cNvSpPr/>
          <p:nvPr/>
        </p:nvSpPr>
        <p:spPr>
          <a:xfrm>
            <a:off x="7013448" y="3895344"/>
            <a:ext cx="786384" cy="237744"/>
          </a:xfrm>
          <a:prstGeom prst="rect">
            <a:avLst/>
          </a:prstGeom>
          <a:solidFill>
            <a:srgbClr val="ECE7DF"/>
          </a:solidFill>
          <a:ln/>
        </p:spPr>
      </p:sp>
      <p:sp>
        <p:nvSpPr>
          <p:cNvPr id="44" name="Shape 42"/>
          <p:cNvSpPr/>
          <p:nvPr/>
        </p:nvSpPr>
        <p:spPr>
          <a:xfrm>
            <a:off x="7854696" y="3895344"/>
            <a:ext cx="786384" cy="237744"/>
          </a:xfrm>
          <a:prstGeom prst="rect">
            <a:avLst/>
          </a:prstGeom>
          <a:solidFill>
            <a:srgbClr val="ECE7DF"/>
          </a:solidFill>
          <a:ln/>
        </p:spPr>
      </p:sp>
      <p:sp>
        <p:nvSpPr>
          <p:cNvPr id="45" name="Shape 43"/>
          <p:cNvSpPr/>
          <p:nvPr/>
        </p:nvSpPr>
        <p:spPr>
          <a:xfrm>
            <a:off x="8695944" y="3895344"/>
            <a:ext cx="786384" cy="237744"/>
          </a:xfrm>
          <a:prstGeom prst="rect">
            <a:avLst/>
          </a:prstGeom>
          <a:solidFill>
            <a:srgbClr val="ECE7DF"/>
          </a:solidFill>
          <a:ln/>
        </p:spPr>
      </p:sp>
      <p:sp>
        <p:nvSpPr>
          <p:cNvPr id="46" name="Shape 44"/>
          <p:cNvSpPr/>
          <p:nvPr/>
        </p:nvSpPr>
        <p:spPr>
          <a:xfrm>
            <a:off x="9537192" y="3895344"/>
            <a:ext cx="786384" cy="237744"/>
          </a:xfrm>
          <a:prstGeom prst="rect">
            <a:avLst/>
          </a:prstGeom>
          <a:solidFill>
            <a:srgbClr val="A8442A"/>
          </a:solidFill>
          <a:ln/>
        </p:spPr>
      </p:sp>
      <p:sp>
        <p:nvSpPr>
          <p:cNvPr id="47" name="Shape 45"/>
          <p:cNvSpPr/>
          <p:nvPr/>
        </p:nvSpPr>
        <p:spPr>
          <a:xfrm>
            <a:off x="10378440" y="3895344"/>
            <a:ext cx="786384" cy="237744"/>
          </a:xfrm>
          <a:prstGeom prst="rect">
            <a:avLst/>
          </a:prstGeom>
          <a:solidFill>
            <a:srgbClr val="ECE7DF"/>
          </a:solidFill>
          <a:ln/>
        </p:spPr>
      </p:sp>
      <p:sp>
        <p:nvSpPr>
          <p:cNvPr id="48" name="Text 46"/>
          <p:cNvSpPr/>
          <p:nvPr/>
        </p:nvSpPr>
        <p:spPr>
          <a:xfrm>
            <a:off x="6281928" y="4261104"/>
            <a:ext cx="658368"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fold 4</a:t>
            </a:r>
            <a:endParaRPr lang="en-US" sz="1050" dirty="0"/>
          </a:p>
        </p:txBody>
      </p:sp>
      <p:sp>
        <p:nvSpPr>
          <p:cNvPr id="49" name="Shape 47"/>
          <p:cNvSpPr/>
          <p:nvPr/>
        </p:nvSpPr>
        <p:spPr>
          <a:xfrm>
            <a:off x="7013448" y="4297680"/>
            <a:ext cx="786384" cy="237744"/>
          </a:xfrm>
          <a:prstGeom prst="rect">
            <a:avLst/>
          </a:prstGeom>
          <a:solidFill>
            <a:srgbClr val="ECE7DF"/>
          </a:solidFill>
          <a:ln/>
        </p:spPr>
      </p:sp>
      <p:sp>
        <p:nvSpPr>
          <p:cNvPr id="50" name="Shape 48"/>
          <p:cNvSpPr/>
          <p:nvPr/>
        </p:nvSpPr>
        <p:spPr>
          <a:xfrm>
            <a:off x="7854696" y="4297680"/>
            <a:ext cx="786384" cy="237744"/>
          </a:xfrm>
          <a:prstGeom prst="rect">
            <a:avLst/>
          </a:prstGeom>
          <a:solidFill>
            <a:srgbClr val="ECE7DF"/>
          </a:solidFill>
          <a:ln/>
        </p:spPr>
      </p:sp>
      <p:sp>
        <p:nvSpPr>
          <p:cNvPr id="51" name="Shape 49"/>
          <p:cNvSpPr/>
          <p:nvPr/>
        </p:nvSpPr>
        <p:spPr>
          <a:xfrm>
            <a:off x="8695944" y="4297680"/>
            <a:ext cx="786384" cy="237744"/>
          </a:xfrm>
          <a:prstGeom prst="rect">
            <a:avLst/>
          </a:prstGeom>
          <a:solidFill>
            <a:srgbClr val="ECE7DF"/>
          </a:solidFill>
          <a:ln/>
        </p:spPr>
      </p:sp>
      <p:sp>
        <p:nvSpPr>
          <p:cNvPr id="52" name="Shape 50"/>
          <p:cNvSpPr/>
          <p:nvPr/>
        </p:nvSpPr>
        <p:spPr>
          <a:xfrm>
            <a:off x="9537192" y="4297680"/>
            <a:ext cx="786384" cy="237744"/>
          </a:xfrm>
          <a:prstGeom prst="rect">
            <a:avLst/>
          </a:prstGeom>
          <a:solidFill>
            <a:srgbClr val="ECE7DF"/>
          </a:solidFill>
          <a:ln/>
        </p:spPr>
      </p:sp>
      <p:sp>
        <p:nvSpPr>
          <p:cNvPr id="53" name="Shape 51"/>
          <p:cNvSpPr/>
          <p:nvPr/>
        </p:nvSpPr>
        <p:spPr>
          <a:xfrm>
            <a:off x="10378440" y="4297680"/>
            <a:ext cx="786384" cy="237744"/>
          </a:xfrm>
          <a:prstGeom prst="rect">
            <a:avLst/>
          </a:prstGeom>
          <a:solidFill>
            <a:srgbClr val="A8442A"/>
          </a:solidFill>
          <a:ln/>
        </p:spPr>
      </p:sp>
      <p:sp>
        <p:nvSpPr>
          <p:cNvPr id="54" name="Shape 52"/>
          <p:cNvSpPr/>
          <p:nvPr/>
        </p:nvSpPr>
        <p:spPr>
          <a:xfrm>
            <a:off x="6281928" y="4718304"/>
            <a:ext cx="182880" cy="182880"/>
          </a:xfrm>
          <a:prstGeom prst="rect">
            <a:avLst/>
          </a:prstGeom>
          <a:solidFill>
            <a:srgbClr val="A8442A"/>
          </a:solidFill>
          <a:ln/>
        </p:spPr>
      </p:sp>
      <p:sp>
        <p:nvSpPr>
          <p:cNvPr id="55" name="Text 53"/>
          <p:cNvSpPr/>
          <p:nvPr/>
        </p:nvSpPr>
        <p:spPr>
          <a:xfrm>
            <a:off x="6556248" y="4645152"/>
            <a:ext cx="4983480" cy="310896"/>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blok validasi, tempat prediksi out-of-fold diambil</a:t>
            </a:r>
            <a:endParaRPr lang="en-US" sz="1050" dirty="0"/>
          </a:p>
        </p:txBody>
      </p:sp>
      <p:sp>
        <p:nvSpPr>
          <p:cNvPr id="56" name="Shape 54"/>
          <p:cNvSpPr/>
          <p:nvPr/>
        </p:nvSpPr>
        <p:spPr>
          <a:xfrm>
            <a:off x="640080" y="5029200"/>
            <a:ext cx="10911535" cy="987552"/>
          </a:xfrm>
          <a:prstGeom prst="roundRect">
            <a:avLst>
              <a:gd name="adj" fmla="val 5556"/>
            </a:avLst>
          </a:prstGeom>
          <a:solidFill>
            <a:srgbClr val="FFFFFF"/>
          </a:solidFill>
          <a:ln w="9525">
            <a:solidFill>
              <a:srgbClr val="DCD8D1"/>
            </a:solidFill>
            <a:prstDash val="solid"/>
          </a:ln>
        </p:spPr>
      </p:sp>
      <p:sp>
        <p:nvSpPr>
          <p:cNvPr id="57" name="Text 55"/>
          <p:cNvSpPr/>
          <p:nvPr/>
        </p:nvSpPr>
        <p:spPr>
          <a:xfrm>
            <a:off x="914400" y="5029200"/>
            <a:ext cx="10362895" cy="987552"/>
          </a:xfrm>
          <a:prstGeom prst="rect">
            <a:avLst/>
          </a:prstGeom>
          <a:noFill/>
          <a:ln/>
        </p:spPr>
        <p:txBody>
          <a:bodyPr wrap="square" lIns="0" tIns="0" rIns="0" bIns="0" rtlCol="0" anchor="ctr"/>
          <a:lstStyle/>
          <a:p>
            <a:pPr indent="0" marL="0">
              <a:lnSpc>
                <a:spcPts val="1700"/>
              </a:lnSpc>
              <a:buNone/>
            </a:pPr>
            <a:r>
              <a:rPr lang="en-US" sz="1200" b="1" dirty="0">
                <a:solidFill>
                  <a:srgbClr val="16191D"/>
                </a:solidFill>
                <a:latin typeface="Calibri" pitchFamily="34" charset="0"/>
                <a:ea typeface="Calibri" pitchFamily="34" charset="-122"/>
                <a:cs typeface="Calibri" pitchFamily="34" charset="-120"/>
              </a:rPr>
              <a:t>Kenapa ini penting. </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Ambang batas dan pemilihan model seluruhnya ditentukan dari prediksi out-of-fold data latih. Data uji tidak pernah terlibat dalam satu pun keputusan, sehingga estimasi OOF tetap menjadi penduga tak bias untuk kinerja papan peringkat, sekaligus memenuhi larangan probing pada pasal B.1.c.</a:t>
            </a:r>
            <a:endParaRPr lang="en-US" sz="1200" dirty="0"/>
          </a:p>
        </p:txBody>
      </p:sp>
      <p:sp>
        <p:nvSpPr>
          <p:cNvPr id="59" name="Shape 56"/>
          <p:cNvSpPr/>
          <p:nvPr/>
        </p:nvSpPr>
        <p:spPr>
          <a:xfrm>
            <a:off x="640080" y="6400800"/>
            <a:ext cx="1572768" cy="45720"/>
          </a:xfrm>
          <a:prstGeom prst="rect">
            <a:avLst/>
          </a:prstGeom>
          <a:solidFill>
            <a:srgbClr val="DCD8D1"/>
          </a:solidFill>
          <a:ln/>
        </p:spPr>
      </p:sp>
      <p:sp>
        <p:nvSpPr>
          <p:cNvPr id="60"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61" name="Shape 58"/>
          <p:cNvSpPr/>
          <p:nvPr/>
        </p:nvSpPr>
        <p:spPr>
          <a:xfrm>
            <a:off x="2304288" y="6400800"/>
            <a:ext cx="1572768" cy="45720"/>
          </a:xfrm>
          <a:prstGeom prst="rect">
            <a:avLst/>
          </a:prstGeom>
          <a:solidFill>
            <a:srgbClr val="DCD8D1"/>
          </a:solidFill>
          <a:ln/>
        </p:spPr>
      </p:sp>
      <p:sp>
        <p:nvSpPr>
          <p:cNvPr id="62"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63" name="Shape 60"/>
          <p:cNvSpPr/>
          <p:nvPr/>
        </p:nvSpPr>
        <p:spPr>
          <a:xfrm>
            <a:off x="3968496" y="6400800"/>
            <a:ext cx="1572768" cy="45720"/>
          </a:xfrm>
          <a:prstGeom prst="rect">
            <a:avLst/>
          </a:prstGeom>
          <a:solidFill>
            <a:srgbClr val="A8442A"/>
          </a:solidFill>
          <a:ln/>
        </p:spPr>
      </p:sp>
      <p:sp>
        <p:nvSpPr>
          <p:cNvPr id="64"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65" name="Shape 62"/>
          <p:cNvSpPr/>
          <p:nvPr/>
        </p:nvSpPr>
        <p:spPr>
          <a:xfrm>
            <a:off x="5632704" y="6400800"/>
            <a:ext cx="1572768" cy="45720"/>
          </a:xfrm>
          <a:prstGeom prst="rect">
            <a:avLst/>
          </a:prstGeom>
          <a:solidFill>
            <a:srgbClr val="DCD8D1"/>
          </a:solidFill>
          <a:ln/>
        </p:spPr>
      </p:sp>
      <p:sp>
        <p:nvSpPr>
          <p:cNvPr id="66"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7" name="Shape 64"/>
          <p:cNvSpPr/>
          <p:nvPr/>
        </p:nvSpPr>
        <p:spPr>
          <a:xfrm>
            <a:off x="7296912" y="6400800"/>
            <a:ext cx="1572768" cy="45720"/>
          </a:xfrm>
          <a:prstGeom prst="rect">
            <a:avLst/>
          </a:prstGeom>
          <a:solidFill>
            <a:srgbClr val="DCD8D1"/>
          </a:solidFill>
          <a:ln/>
        </p:spPr>
      </p:sp>
      <p:sp>
        <p:nvSpPr>
          <p:cNvPr id="68"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69" name="Shape 66"/>
          <p:cNvSpPr/>
          <p:nvPr/>
        </p:nvSpPr>
        <p:spPr>
          <a:xfrm>
            <a:off x="8961120" y="6400800"/>
            <a:ext cx="1572768" cy="45720"/>
          </a:xfrm>
          <a:prstGeom prst="rect">
            <a:avLst/>
          </a:prstGeom>
          <a:solidFill>
            <a:srgbClr val="DCD8D1"/>
          </a:solidFill>
          <a:ln/>
        </p:spPr>
      </p:sp>
      <p:sp>
        <p:nvSpPr>
          <p:cNvPr id="70"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71"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keluarga algoritma, dipilih agar saling berbeda.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Tujuannya menutup sudut pandang yang berbeda terhadap masalah ordinal, bukan menumpuk model.</a:t>
            </a: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11535" cy="914400"/>
        </p:xfrm>
        <a:graphic>
          <a:graphicData uri="http://schemas.openxmlformats.org/drawingml/2006/table">
            <a:tbl>
              <a:tblPr/>
              <a:tblGrid>
                <a:gridCol w="868680"/>
                <a:gridCol w="2377440"/>
                <a:gridCol w="3200400"/>
                <a:gridCol w="4462272"/>
              </a:tblGrid>
              <a:tr h="411480">
                <a:tc>
                  <a:txBody>
                    <a:bodyPr/>
                    <a:lstStyle/>
                    <a:p>
                      <a:pPr algn="l" indent="0" marL="0">
                        <a:buNone/>
                      </a:pP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Keluarga</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Sudut pandang</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Konfigurasi inti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11480">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lgb</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Boosting leaf-wise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Klasifikasi 4 kelas</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1.500 pohon, lr 0,028, 127 daun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11480">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cat</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Ordered boosting</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Penanganan bias berbeda</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1.800 iterasi, lr 0,05, depth 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11480">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xgb</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Boosting level-wise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Regularisasi berbeda</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1.200 pohon, lr 0,04, depth 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11480">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reg</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Regresi Huber</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Target sebagai skala kontinu</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1.500 pohon, lr 0,03, tahan pencilan</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11480">
                <a:tc>
                  <a:txBody>
                    <a:bodyPr/>
                    <a:lstStyle/>
                    <a:p>
                      <a:pPr algn="l" indent="0" marL="0">
                        <a:buNone/>
                      </a:pPr>
                      <a:r>
                        <a:rPr lang="en-US" sz="1150" b="1" dirty="0">
                          <a:solidFill>
                            <a:srgbClr val="2F6B5F"/>
                          </a:solidFill>
                          <a:latin typeface="Calibri" pitchFamily="34" charset="0"/>
                          <a:ea typeface="Calibri" pitchFamily="34" charset="-122"/>
                          <a:cs typeface="Calibri" pitchFamily="34" charset="-120"/>
                        </a:rPr>
                        <a:t>ord</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Dekomposisi kumulatif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Tiga model P(y &gt; k)</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3 × 1.200 pohon, k = 1, 2, 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11480">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mlp</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Jaringan saraf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Batas keputusan mulus</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Fitur ternormalisasi kuantil</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349240"/>
            <a:ext cx="5257800" cy="777240"/>
          </a:xfrm>
          <a:prstGeom prst="roundRect">
            <a:avLst>
              <a:gd name="adj" fmla="val 7059"/>
            </a:avLst>
          </a:prstGeom>
          <a:solidFill>
            <a:srgbClr val="ECE7DF"/>
          </a:solidFill>
          <a:ln w="9525">
            <a:solidFill>
              <a:srgbClr val="DCD8D1"/>
            </a:solidFill>
            <a:prstDash val="solid"/>
          </a:ln>
        </p:spPr>
      </p:sp>
      <p:sp>
        <p:nvSpPr>
          <p:cNvPr id="6" name="Text 3"/>
          <p:cNvSpPr/>
          <p:nvPr/>
        </p:nvSpPr>
        <p:spPr>
          <a:xfrm>
            <a:off x="896112" y="5349240"/>
            <a:ext cx="4745736" cy="777240"/>
          </a:xfrm>
          <a:prstGeom prst="rect">
            <a:avLst/>
          </a:prstGeom>
          <a:noFill/>
          <a:ln/>
        </p:spPr>
        <p:txBody>
          <a:bodyPr wrap="square" lIns="0" tIns="0" rIns="0" bIns="0" rtlCol="0" anchor="ctr"/>
          <a:lstStyle/>
          <a:p>
            <a:pPr indent="0" marL="0">
              <a:lnSpc>
                <a:spcPts val="1500"/>
              </a:lnSpc>
              <a:buNone/>
            </a:pPr>
            <a:r>
              <a:rPr lang="en-US" sz="1150" b="1" dirty="0">
                <a:solidFill>
                  <a:srgbClr val="2F6B5F"/>
                </a:solidFill>
                <a:latin typeface="Calibri" pitchFamily="34" charset="0"/>
                <a:ea typeface="Calibri" pitchFamily="34" charset="-122"/>
                <a:cs typeface="Calibri" pitchFamily="34" charset="-120"/>
              </a:rPr>
              <a:t>reg dan ord </a:t>
            </a:r>
            <a:pPr indent="0" marL="0">
              <a:lnSpc>
                <a:spcPts val="1500"/>
              </a:lnSpc>
              <a:buNone/>
            </a:pPr>
            <a:r>
              <a:rPr lang="en-US" sz="1150" dirty="0">
                <a:solidFill>
                  <a:srgbClr val="3A4048"/>
                </a:solidFill>
                <a:latin typeface="Calibri" pitchFamily="34" charset="0"/>
                <a:ea typeface="Calibri" pitchFamily="34" charset="-122"/>
                <a:cs typeface="Calibri" pitchFamily="34" charset="-120"/>
              </a:rPr>
              <a:t>ada di daftar ini karena temuan monotonisitas di Babak II, bukan karena melengkapi koleksi.</a:t>
            </a:r>
            <a:endParaRPr lang="en-US" sz="1150" dirty="0"/>
          </a:p>
        </p:txBody>
      </p:sp>
      <p:sp>
        <p:nvSpPr>
          <p:cNvPr id="7" name="Shape 4"/>
          <p:cNvSpPr/>
          <p:nvPr/>
        </p:nvSpPr>
        <p:spPr>
          <a:xfrm>
            <a:off x="6281928" y="5349240"/>
            <a:ext cx="5266944" cy="777240"/>
          </a:xfrm>
          <a:prstGeom prst="roundRect">
            <a:avLst>
              <a:gd name="adj" fmla="val 7059"/>
            </a:avLst>
          </a:prstGeom>
          <a:solidFill>
            <a:srgbClr val="ECE7DF"/>
          </a:solidFill>
          <a:ln w="9525">
            <a:solidFill>
              <a:srgbClr val="DCD8D1"/>
            </a:solidFill>
            <a:prstDash val="solid"/>
          </a:ln>
        </p:spPr>
      </p:sp>
      <p:sp>
        <p:nvSpPr>
          <p:cNvPr id="8" name="Text 5"/>
          <p:cNvSpPr/>
          <p:nvPr/>
        </p:nvSpPr>
        <p:spPr>
          <a:xfrm>
            <a:off x="6537960" y="5349240"/>
            <a:ext cx="4754880" cy="777240"/>
          </a:xfrm>
          <a:prstGeom prst="rect">
            <a:avLst/>
          </a:prstGeom>
          <a:noFill/>
          <a:ln/>
        </p:spPr>
        <p:txBody>
          <a:bodyPr wrap="square" lIns="0" tIns="0" rIns="0" bIns="0" rtlCol="0" anchor="ctr"/>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Total waktu pelatihan </a:t>
            </a:r>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52,2 menit</a:t>
            </a:r>
            <a:pPr indent="0" marL="0">
              <a:lnSpc>
                <a:spcPts val="1500"/>
              </a:lnSpc>
              <a:buNone/>
            </a:pPr>
            <a:r>
              <a:rPr lang="en-US" sz="1150" dirty="0">
                <a:solidFill>
                  <a:srgbClr val="3A4048"/>
                </a:solidFill>
                <a:latin typeface="Calibri" pitchFamily="34" charset="0"/>
                <a:ea typeface="Calibri" pitchFamily="34" charset="-122"/>
                <a:cs typeface="Calibri" pitchFamily="34" charset="-120"/>
              </a:rPr>
              <a:t> untuk keenam model × lima fold pada CPU 12 core.</a:t>
            </a:r>
            <a:endParaRPr lang="en-US" sz="1150" dirty="0"/>
          </a:p>
        </p:txBody>
      </p:sp>
      <p:sp>
        <p:nvSpPr>
          <p:cNvPr id="10" name="Shape 6"/>
          <p:cNvSpPr/>
          <p:nvPr/>
        </p:nvSpPr>
        <p:spPr>
          <a:xfrm>
            <a:off x="640080" y="6400800"/>
            <a:ext cx="1572768" cy="45720"/>
          </a:xfrm>
          <a:prstGeom prst="rect">
            <a:avLst/>
          </a:prstGeom>
          <a:solidFill>
            <a:srgbClr val="DCD8D1"/>
          </a:solidFill>
          <a:ln/>
        </p:spPr>
      </p:sp>
      <p:sp>
        <p:nvSpPr>
          <p:cNvPr id="11" name="Text 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2" name="Shape 8"/>
          <p:cNvSpPr/>
          <p:nvPr/>
        </p:nvSpPr>
        <p:spPr>
          <a:xfrm>
            <a:off x="2304288" y="6400800"/>
            <a:ext cx="1572768" cy="45720"/>
          </a:xfrm>
          <a:prstGeom prst="rect">
            <a:avLst/>
          </a:prstGeom>
          <a:solidFill>
            <a:srgbClr val="DCD8D1"/>
          </a:solidFill>
          <a:ln/>
        </p:spPr>
      </p:sp>
      <p:sp>
        <p:nvSpPr>
          <p:cNvPr id="13" name="Text 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4" name="Shape 10"/>
          <p:cNvSpPr/>
          <p:nvPr/>
        </p:nvSpPr>
        <p:spPr>
          <a:xfrm>
            <a:off x="3968496" y="6400800"/>
            <a:ext cx="1572768" cy="45720"/>
          </a:xfrm>
          <a:prstGeom prst="rect">
            <a:avLst/>
          </a:prstGeom>
          <a:solidFill>
            <a:srgbClr val="A8442A"/>
          </a:solidFill>
          <a:ln/>
        </p:spPr>
      </p:sp>
      <p:sp>
        <p:nvSpPr>
          <p:cNvPr id="15" name="Text 1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16" name="Shape 12"/>
          <p:cNvSpPr/>
          <p:nvPr/>
        </p:nvSpPr>
        <p:spPr>
          <a:xfrm>
            <a:off x="5632704" y="6400800"/>
            <a:ext cx="1572768" cy="45720"/>
          </a:xfrm>
          <a:prstGeom prst="rect">
            <a:avLst/>
          </a:prstGeom>
          <a:solidFill>
            <a:srgbClr val="DCD8D1"/>
          </a:solidFill>
          <a:ln/>
        </p:spPr>
      </p:sp>
      <p:sp>
        <p:nvSpPr>
          <p:cNvPr id="17" name="Text 1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8" name="Shape 14"/>
          <p:cNvSpPr/>
          <p:nvPr/>
        </p:nvSpPr>
        <p:spPr>
          <a:xfrm>
            <a:off x="7296912" y="6400800"/>
            <a:ext cx="1572768" cy="45720"/>
          </a:xfrm>
          <a:prstGeom prst="rect">
            <a:avLst/>
          </a:prstGeom>
          <a:solidFill>
            <a:srgbClr val="DCD8D1"/>
          </a:solidFill>
          <a:ln/>
        </p:spPr>
      </p:sp>
      <p:sp>
        <p:nvSpPr>
          <p:cNvPr id="19" name="Text 1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0" name="Shape 16"/>
          <p:cNvSpPr/>
          <p:nvPr/>
        </p:nvSpPr>
        <p:spPr>
          <a:xfrm>
            <a:off x="8961120" y="6400800"/>
            <a:ext cx="1572768" cy="45720"/>
          </a:xfrm>
          <a:prstGeom prst="rect">
            <a:avLst/>
          </a:prstGeom>
          <a:solidFill>
            <a:srgbClr val="DCD8D1"/>
          </a:solidFill>
          <a:ln/>
        </p:spPr>
      </p:sp>
      <p:sp>
        <p:nvSpPr>
          <p:cNvPr id="21" name="Text 1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2" name="Text 1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Setiap komponen berdiri di atas metode yang sudah teruji.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Tidak ada komponen buatan sendiri yang belum pernah divalidasi di literatur.</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331720"/>
          <a:ext cx="10911535" cy="914400"/>
        </p:xfrm>
        <a:graphic>
          <a:graphicData uri="http://schemas.openxmlformats.org/drawingml/2006/table">
            <a:tbl>
              <a:tblPr/>
              <a:tblGrid>
                <a:gridCol w="3474720"/>
                <a:gridCol w="3383280"/>
                <a:gridCol w="4050792"/>
              </a:tblGrid>
              <a:tr h="329184">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Komponen pipeline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Landasan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Dipakai untuk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Quadratic Weighted Kappa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Cohen (1968), weighted kappa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Metrik evaluasi dan objektif ambang</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Dekomposisi biner kumulatif</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Frank &amp; Hall (2001)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Model ord: tiga model P(y &gt; 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Gradient boosting</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Friedman (2001)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Dasar lgb, xgb, cat, reg</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LightGBM leaf-wise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 dkk. (2017)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Model lgb, reg, ord</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XGBoost level-wise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Chen &amp; Guestrin (2016)</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Model xgb</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CatBoost ordered boosting</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Prokhorenkova dkk. (2018)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Model cat, mengurangi prediction shift</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Huber loss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Huber (1964)</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Regresi yang tahan pencilan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Stacked generalization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Wolpert (1992)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Penggabungan model dasar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Bootstrap</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Efron (1979)</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Reduksi variansi ambang dan derau papan skor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Keputusan optimal galat kuadratik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Teori keputusan Bayes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Nilai harapan, bukan modus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Shape 2"/>
          <p:cNvSpPr/>
          <p:nvPr/>
        </p:nvSpPr>
        <p:spPr>
          <a:xfrm>
            <a:off x="640080" y="6400800"/>
            <a:ext cx="1572768" cy="45720"/>
          </a:xfrm>
          <a:prstGeom prst="rect">
            <a:avLst/>
          </a:prstGeom>
          <a:solidFill>
            <a:srgbClr val="DCD8D1"/>
          </a:solidFill>
          <a:ln/>
        </p:spPr>
      </p:sp>
      <p:sp>
        <p:nvSpPr>
          <p:cNvPr id="7" name="Text 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8" name="Shape 4"/>
          <p:cNvSpPr/>
          <p:nvPr/>
        </p:nvSpPr>
        <p:spPr>
          <a:xfrm>
            <a:off x="2304288" y="6400800"/>
            <a:ext cx="1572768" cy="45720"/>
          </a:xfrm>
          <a:prstGeom prst="rect">
            <a:avLst/>
          </a:prstGeom>
          <a:solidFill>
            <a:srgbClr val="DCD8D1"/>
          </a:solidFill>
          <a:ln/>
        </p:spPr>
      </p:sp>
      <p:sp>
        <p:nvSpPr>
          <p:cNvPr id="9" name="Text 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0" name="Shape 6"/>
          <p:cNvSpPr/>
          <p:nvPr/>
        </p:nvSpPr>
        <p:spPr>
          <a:xfrm>
            <a:off x="3968496" y="6400800"/>
            <a:ext cx="1572768" cy="45720"/>
          </a:xfrm>
          <a:prstGeom prst="rect">
            <a:avLst/>
          </a:prstGeom>
          <a:solidFill>
            <a:srgbClr val="A8442A"/>
          </a:solidFill>
          <a:ln/>
        </p:spPr>
      </p:sp>
      <p:sp>
        <p:nvSpPr>
          <p:cNvPr id="11" name="Text 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12" name="Shape 8"/>
          <p:cNvSpPr/>
          <p:nvPr/>
        </p:nvSpPr>
        <p:spPr>
          <a:xfrm>
            <a:off x="5632704" y="6400800"/>
            <a:ext cx="1572768" cy="45720"/>
          </a:xfrm>
          <a:prstGeom prst="rect">
            <a:avLst/>
          </a:prstGeom>
          <a:solidFill>
            <a:srgbClr val="DCD8D1"/>
          </a:solidFill>
          <a:ln/>
        </p:spPr>
      </p:sp>
      <p:sp>
        <p:nvSpPr>
          <p:cNvPr id="13" name="Text 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4" name="Shape 10"/>
          <p:cNvSpPr/>
          <p:nvPr/>
        </p:nvSpPr>
        <p:spPr>
          <a:xfrm>
            <a:off x="7296912" y="6400800"/>
            <a:ext cx="1572768" cy="45720"/>
          </a:xfrm>
          <a:prstGeom prst="rect">
            <a:avLst/>
          </a:prstGeom>
          <a:solidFill>
            <a:srgbClr val="DCD8D1"/>
          </a:solidFill>
          <a:ln/>
        </p:spPr>
      </p:sp>
      <p:sp>
        <p:nvSpPr>
          <p:cNvPr id="15" name="Text 1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6" name="Shape 12"/>
          <p:cNvSpPr/>
          <p:nvPr/>
        </p:nvSpPr>
        <p:spPr>
          <a:xfrm>
            <a:off x="8961120" y="6400800"/>
            <a:ext cx="1572768" cy="45720"/>
          </a:xfrm>
          <a:prstGeom prst="rect">
            <a:avLst/>
          </a:prstGeom>
          <a:solidFill>
            <a:srgbClr val="DCD8D1"/>
          </a:solidFill>
          <a:ln/>
        </p:spPr>
      </p:sp>
      <p:sp>
        <p:nvSpPr>
          <p:cNvPr id="17" name="Text 1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keluarga algoritma mendarat di titik yang sama.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Bias induktifnya sangat berbeda. Kelima model pohon hanya terpaut 0,00267 QWK.</a:t>
            </a:r>
            <a:endParaRPr lang="en-US" sz="1400" dirty="0"/>
          </a:p>
        </p:txBody>
      </p:sp>
      <p:sp>
        <p:nvSpPr>
          <p:cNvPr id="4" name="Text 2"/>
          <p:cNvSpPr/>
          <p:nvPr/>
        </p:nvSpPr>
        <p:spPr>
          <a:xfrm>
            <a:off x="640080" y="2377440"/>
            <a:ext cx="2834640" cy="420624"/>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ord   dekomposisi kumulatif</a:t>
            </a:r>
            <a:endParaRPr lang="en-US" sz="1150" dirty="0"/>
          </a:p>
        </p:txBody>
      </p:sp>
      <p:sp>
        <p:nvSpPr>
          <p:cNvPr id="5" name="Shape 3"/>
          <p:cNvSpPr/>
          <p:nvPr/>
        </p:nvSpPr>
        <p:spPr>
          <a:xfrm>
            <a:off x="3584448" y="2441448"/>
            <a:ext cx="3666744" cy="292608"/>
          </a:xfrm>
          <a:prstGeom prst="rect">
            <a:avLst/>
          </a:prstGeom>
          <a:solidFill>
            <a:srgbClr val="F4F1EC"/>
          </a:solidFill>
          <a:ln/>
        </p:spPr>
      </p:sp>
      <p:sp>
        <p:nvSpPr>
          <p:cNvPr id="6" name="Shape 4"/>
          <p:cNvSpPr/>
          <p:nvPr/>
        </p:nvSpPr>
        <p:spPr>
          <a:xfrm>
            <a:off x="3584448" y="2441448"/>
            <a:ext cx="3600443" cy="292608"/>
          </a:xfrm>
          <a:prstGeom prst="rect">
            <a:avLst/>
          </a:prstGeom>
          <a:solidFill>
            <a:srgbClr val="2F6B5F"/>
          </a:solidFill>
          <a:ln/>
        </p:spPr>
      </p:sp>
      <p:sp>
        <p:nvSpPr>
          <p:cNvPr id="7" name="Text 5"/>
          <p:cNvSpPr/>
          <p:nvPr/>
        </p:nvSpPr>
        <p:spPr>
          <a:xfrm>
            <a:off x="7342632" y="2377440"/>
            <a:ext cx="868680" cy="420624"/>
          </a:xfrm>
          <a:prstGeom prst="rect">
            <a:avLst/>
          </a:prstGeom>
          <a:noFill/>
          <a:ln/>
        </p:spPr>
        <p:txBody>
          <a:bodyPr wrap="square" lIns="0" tIns="0" rIns="0" bIns="0" rtlCol="0" anchor="ctr"/>
          <a:lstStyle/>
          <a:p>
            <a:pPr algn="l" indent="0" marL="0">
              <a:buNone/>
            </a:pPr>
            <a:r>
              <a:rPr lang="en-US" sz="1150" b="1" dirty="0">
                <a:solidFill>
                  <a:srgbClr val="2F6B5F"/>
                </a:solidFill>
                <a:latin typeface="Calibri" pitchFamily="34" charset="0"/>
                <a:ea typeface="Calibri" pitchFamily="34" charset="-122"/>
                <a:cs typeface="Calibri" pitchFamily="34" charset="-120"/>
              </a:rPr>
              <a:t>0,48114</a:t>
            </a:r>
            <a:endParaRPr lang="en-US" sz="1150" dirty="0"/>
          </a:p>
        </p:txBody>
      </p:sp>
      <p:sp>
        <p:nvSpPr>
          <p:cNvPr id="8" name="Text 6"/>
          <p:cNvSpPr/>
          <p:nvPr/>
        </p:nvSpPr>
        <p:spPr>
          <a:xfrm>
            <a:off x="640080" y="2926080"/>
            <a:ext cx="2834640" cy="420624"/>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xgb   boosting level-wise</a:t>
            </a:r>
            <a:endParaRPr lang="en-US" sz="1150" dirty="0"/>
          </a:p>
        </p:txBody>
      </p:sp>
      <p:sp>
        <p:nvSpPr>
          <p:cNvPr id="9" name="Shape 7"/>
          <p:cNvSpPr/>
          <p:nvPr/>
        </p:nvSpPr>
        <p:spPr>
          <a:xfrm>
            <a:off x="3584448" y="2990088"/>
            <a:ext cx="3666744" cy="292608"/>
          </a:xfrm>
          <a:prstGeom prst="rect">
            <a:avLst/>
          </a:prstGeom>
          <a:solidFill>
            <a:srgbClr val="F4F1EC"/>
          </a:solidFill>
          <a:ln/>
        </p:spPr>
      </p:sp>
      <p:sp>
        <p:nvSpPr>
          <p:cNvPr id="10" name="Shape 8"/>
          <p:cNvSpPr/>
          <p:nvPr/>
        </p:nvSpPr>
        <p:spPr>
          <a:xfrm>
            <a:off x="3584448" y="2990088"/>
            <a:ext cx="3596926" cy="292608"/>
          </a:xfrm>
          <a:prstGeom prst="rect">
            <a:avLst/>
          </a:prstGeom>
          <a:solidFill>
            <a:srgbClr val="3A4048"/>
          </a:solidFill>
          <a:ln/>
        </p:spPr>
      </p:sp>
      <p:sp>
        <p:nvSpPr>
          <p:cNvPr id="11" name="Text 9"/>
          <p:cNvSpPr/>
          <p:nvPr/>
        </p:nvSpPr>
        <p:spPr>
          <a:xfrm>
            <a:off x="7342632" y="2926080"/>
            <a:ext cx="868680" cy="420624"/>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0,48067</a:t>
            </a:r>
            <a:endParaRPr lang="en-US" sz="1150" dirty="0"/>
          </a:p>
        </p:txBody>
      </p:sp>
      <p:sp>
        <p:nvSpPr>
          <p:cNvPr id="12" name="Text 10"/>
          <p:cNvSpPr/>
          <p:nvPr/>
        </p:nvSpPr>
        <p:spPr>
          <a:xfrm>
            <a:off x="640080" y="3474720"/>
            <a:ext cx="2834640" cy="420624"/>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cat   ordered boosting</a:t>
            </a:r>
            <a:endParaRPr lang="en-US" sz="1150" dirty="0"/>
          </a:p>
        </p:txBody>
      </p:sp>
      <p:sp>
        <p:nvSpPr>
          <p:cNvPr id="13" name="Shape 11"/>
          <p:cNvSpPr/>
          <p:nvPr/>
        </p:nvSpPr>
        <p:spPr>
          <a:xfrm>
            <a:off x="3584448" y="3538728"/>
            <a:ext cx="3666744" cy="292608"/>
          </a:xfrm>
          <a:prstGeom prst="rect">
            <a:avLst/>
          </a:prstGeom>
          <a:solidFill>
            <a:srgbClr val="F4F1EC"/>
          </a:solidFill>
          <a:ln/>
        </p:spPr>
      </p:sp>
      <p:sp>
        <p:nvSpPr>
          <p:cNvPr id="14" name="Shape 12"/>
          <p:cNvSpPr/>
          <p:nvPr/>
        </p:nvSpPr>
        <p:spPr>
          <a:xfrm>
            <a:off x="3584448" y="3538728"/>
            <a:ext cx="3590566" cy="292608"/>
          </a:xfrm>
          <a:prstGeom prst="rect">
            <a:avLst/>
          </a:prstGeom>
          <a:solidFill>
            <a:srgbClr val="3A4048"/>
          </a:solidFill>
          <a:ln/>
        </p:spPr>
      </p:sp>
      <p:sp>
        <p:nvSpPr>
          <p:cNvPr id="15" name="Text 13"/>
          <p:cNvSpPr/>
          <p:nvPr/>
        </p:nvSpPr>
        <p:spPr>
          <a:xfrm>
            <a:off x="7342632" y="3474720"/>
            <a:ext cx="868680" cy="420624"/>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0,47982</a:t>
            </a:r>
            <a:endParaRPr lang="en-US" sz="1150" dirty="0"/>
          </a:p>
        </p:txBody>
      </p:sp>
      <p:sp>
        <p:nvSpPr>
          <p:cNvPr id="16" name="Text 14"/>
          <p:cNvSpPr/>
          <p:nvPr/>
        </p:nvSpPr>
        <p:spPr>
          <a:xfrm>
            <a:off x="640080" y="4023360"/>
            <a:ext cx="2834640" cy="420624"/>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reg   regresi Huber</a:t>
            </a:r>
            <a:endParaRPr lang="en-US" sz="1150" dirty="0"/>
          </a:p>
        </p:txBody>
      </p:sp>
      <p:sp>
        <p:nvSpPr>
          <p:cNvPr id="17" name="Shape 15"/>
          <p:cNvSpPr/>
          <p:nvPr/>
        </p:nvSpPr>
        <p:spPr>
          <a:xfrm>
            <a:off x="3584448" y="4087368"/>
            <a:ext cx="3666744" cy="292608"/>
          </a:xfrm>
          <a:prstGeom prst="rect">
            <a:avLst/>
          </a:prstGeom>
          <a:solidFill>
            <a:srgbClr val="F4F1EC"/>
          </a:solidFill>
          <a:ln/>
        </p:spPr>
      </p:sp>
      <p:sp>
        <p:nvSpPr>
          <p:cNvPr id="18" name="Shape 16"/>
          <p:cNvSpPr/>
          <p:nvPr/>
        </p:nvSpPr>
        <p:spPr>
          <a:xfrm>
            <a:off x="3584448" y="4087368"/>
            <a:ext cx="3585776" cy="292608"/>
          </a:xfrm>
          <a:prstGeom prst="rect">
            <a:avLst/>
          </a:prstGeom>
          <a:solidFill>
            <a:srgbClr val="3A4048"/>
          </a:solidFill>
          <a:ln/>
        </p:spPr>
      </p:sp>
      <p:sp>
        <p:nvSpPr>
          <p:cNvPr id="19" name="Text 17"/>
          <p:cNvSpPr/>
          <p:nvPr/>
        </p:nvSpPr>
        <p:spPr>
          <a:xfrm>
            <a:off x="7342632" y="4023360"/>
            <a:ext cx="868680" cy="420624"/>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0,47918</a:t>
            </a:r>
            <a:endParaRPr lang="en-US" sz="1150" dirty="0"/>
          </a:p>
        </p:txBody>
      </p:sp>
      <p:sp>
        <p:nvSpPr>
          <p:cNvPr id="20" name="Text 18"/>
          <p:cNvSpPr/>
          <p:nvPr/>
        </p:nvSpPr>
        <p:spPr>
          <a:xfrm>
            <a:off x="640080" y="4572000"/>
            <a:ext cx="2834640" cy="420624"/>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lgb   boosting leaf-wise</a:t>
            </a:r>
            <a:endParaRPr lang="en-US" sz="1150" dirty="0"/>
          </a:p>
        </p:txBody>
      </p:sp>
      <p:sp>
        <p:nvSpPr>
          <p:cNvPr id="21" name="Shape 19"/>
          <p:cNvSpPr/>
          <p:nvPr/>
        </p:nvSpPr>
        <p:spPr>
          <a:xfrm>
            <a:off x="3584448" y="4636008"/>
            <a:ext cx="3666744" cy="292608"/>
          </a:xfrm>
          <a:prstGeom prst="rect">
            <a:avLst/>
          </a:prstGeom>
          <a:solidFill>
            <a:srgbClr val="F4F1EC"/>
          </a:solidFill>
          <a:ln/>
        </p:spPr>
      </p:sp>
      <p:sp>
        <p:nvSpPr>
          <p:cNvPr id="22" name="Shape 20"/>
          <p:cNvSpPr/>
          <p:nvPr/>
        </p:nvSpPr>
        <p:spPr>
          <a:xfrm>
            <a:off x="3584448" y="4636008"/>
            <a:ext cx="3580463" cy="292608"/>
          </a:xfrm>
          <a:prstGeom prst="rect">
            <a:avLst/>
          </a:prstGeom>
          <a:solidFill>
            <a:srgbClr val="3A4048"/>
          </a:solidFill>
          <a:ln/>
        </p:spPr>
      </p:sp>
      <p:sp>
        <p:nvSpPr>
          <p:cNvPr id="23" name="Text 21"/>
          <p:cNvSpPr/>
          <p:nvPr/>
        </p:nvSpPr>
        <p:spPr>
          <a:xfrm>
            <a:off x="7342632" y="4572000"/>
            <a:ext cx="868680" cy="420624"/>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0,47847</a:t>
            </a:r>
            <a:endParaRPr lang="en-US" sz="1150" dirty="0"/>
          </a:p>
        </p:txBody>
      </p:sp>
      <p:sp>
        <p:nvSpPr>
          <p:cNvPr id="24" name="Text 22"/>
          <p:cNvSpPr/>
          <p:nvPr/>
        </p:nvSpPr>
        <p:spPr>
          <a:xfrm>
            <a:off x="640080" y="5120640"/>
            <a:ext cx="2834640" cy="420624"/>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mlp   jaringan saraf</a:t>
            </a:r>
            <a:endParaRPr lang="en-US" sz="1150" dirty="0"/>
          </a:p>
        </p:txBody>
      </p:sp>
      <p:sp>
        <p:nvSpPr>
          <p:cNvPr id="25" name="Shape 23"/>
          <p:cNvSpPr/>
          <p:nvPr/>
        </p:nvSpPr>
        <p:spPr>
          <a:xfrm>
            <a:off x="3584448" y="5184648"/>
            <a:ext cx="3666744" cy="292608"/>
          </a:xfrm>
          <a:prstGeom prst="rect">
            <a:avLst/>
          </a:prstGeom>
          <a:solidFill>
            <a:srgbClr val="F4F1EC"/>
          </a:solidFill>
          <a:ln/>
        </p:spPr>
      </p:sp>
      <p:sp>
        <p:nvSpPr>
          <p:cNvPr id="26" name="Shape 24"/>
          <p:cNvSpPr/>
          <p:nvPr/>
        </p:nvSpPr>
        <p:spPr>
          <a:xfrm>
            <a:off x="3584448" y="5184648"/>
            <a:ext cx="3327458" cy="292608"/>
          </a:xfrm>
          <a:prstGeom prst="rect">
            <a:avLst/>
          </a:prstGeom>
          <a:solidFill>
            <a:srgbClr val="D8A25E"/>
          </a:solidFill>
          <a:ln/>
        </p:spPr>
      </p:sp>
      <p:sp>
        <p:nvSpPr>
          <p:cNvPr id="27" name="Text 25"/>
          <p:cNvSpPr/>
          <p:nvPr/>
        </p:nvSpPr>
        <p:spPr>
          <a:xfrm>
            <a:off x="7342632" y="5120640"/>
            <a:ext cx="868680" cy="420624"/>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0,44466</a:t>
            </a:r>
            <a:endParaRPr lang="en-US" sz="1150" dirty="0"/>
          </a:p>
        </p:txBody>
      </p:sp>
      <p:sp>
        <p:nvSpPr>
          <p:cNvPr id="28" name="Text 26"/>
          <p:cNvSpPr/>
          <p:nvPr/>
        </p:nvSpPr>
        <p:spPr>
          <a:xfrm>
            <a:off x="640080" y="5742432"/>
            <a:ext cx="758952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Sumbu dipotong pada 0 agar panjang batang sebanding. Selisih sesungguhnya jauh lebih sempit daripada yang terlihat.</a:t>
            </a:r>
            <a:endParaRPr lang="en-US" sz="1050" dirty="0"/>
          </a:p>
        </p:txBody>
      </p:sp>
      <p:sp>
        <p:nvSpPr>
          <p:cNvPr id="29" name="Text 27"/>
          <p:cNvSpPr/>
          <p:nvPr/>
        </p:nvSpPr>
        <p:spPr>
          <a:xfrm>
            <a:off x="8549640" y="2377440"/>
            <a:ext cx="3001975" cy="548640"/>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0,00267</a:t>
            </a:r>
            <a:endParaRPr lang="en-US" sz="3000" dirty="0"/>
          </a:p>
        </p:txBody>
      </p:sp>
      <p:sp>
        <p:nvSpPr>
          <p:cNvPr id="30" name="Text 28"/>
          <p:cNvSpPr/>
          <p:nvPr/>
        </p:nvSpPr>
        <p:spPr>
          <a:xfrm>
            <a:off x="8549640" y="2962656"/>
            <a:ext cx="3001975"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Rentang kelima model pohon</a:t>
            </a:r>
            <a:endParaRPr lang="en-US" sz="1100" dirty="0"/>
          </a:p>
        </p:txBody>
      </p:sp>
      <p:sp>
        <p:nvSpPr>
          <p:cNvPr id="31" name="Text 29"/>
          <p:cNvSpPr/>
          <p:nvPr/>
        </p:nvSpPr>
        <p:spPr>
          <a:xfrm>
            <a:off x="8549640" y="3520440"/>
            <a:ext cx="3001975" cy="548640"/>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0,974</a:t>
            </a:r>
            <a:endParaRPr lang="en-US" sz="3000" dirty="0"/>
          </a:p>
        </p:txBody>
      </p:sp>
      <p:sp>
        <p:nvSpPr>
          <p:cNvPr id="32" name="Text 30"/>
          <p:cNvSpPr/>
          <p:nvPr/>
        </p:nvSpPr>
        <p:spPr>
          <a:xfrm>
            <a:off x="8549640" y="4105656"/>
            <a:ext cx="3001975"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Korelasi rata-rata prediksi antar model pohon</a:t>
            </a:r>
            <a:endParaRPr lang="en-US" sz="1100" dirty="0"/>
          </a:p>
        </p:txBody>
      </p:sp>
      <p:sp>
        <p:nvSpPr>
          <p:cNvPr id="33" name="Shape 31"/>
          <p:cNvSpPr/>
          <p:nvPr/>
        </p:nvSpPr>
        <p:spPr>
          <a:xfrm>
            <a:off x="8549640" y="4754880"/>
            <a:ext cx="3001975" cy="1298448"/>
          </a:xfrm>
          <a:prstGeom prst="roundRect">
            <a:avLst>
              <a:gd name="adj" fmla="val 4225"/>
            </a:avLst>
          </a:prstGeom>
          <a:solidFill>
            <a:srgbClr val="ECE7DF"/>
          </a:solidFill>
          <a:ln w="9525">
            <a:solidFill>
              <a:srgbClr val="DCD8D1"/>
            </a:solidFill>
            <a:prstDash val="solid"/>
          </a:ln>
        </p:spPr>
      </p:sp>
      <p:sp>
        <p:nvSpPr>
          <p:cNvPr id="34" name="Text 32"/>
          <p:cNvSpPr/>
          <p:nvPr/>
        </p:nvSpPr>
        <p:spPr>
          <a:xfrm>
            <a:off x="8805672" y="4754880"/>
            <a:ext cx="2489911" cy="1298448"/>
          </a:xfrm>
          <a:prstGeom prst="rect">
            <a:avLst/>
          </a:prstGeom>
          <a:noFill/>
          <a:ln/>
        </p:spPr>
        <p:txBody>
          <a:bodyPr wrap="square" lIns="0" tIns="0" rIns="0" bIns="0" rtlCol="0" anchor="ctr"/>
          <a:lstStyle/>
          <a:p>
            <a:pPr indent="0" marL="0">
              <a:lnSpc>
                <a:spcPts val="1700"/>
              </a:lnSpc>
              <a:buNone/>
            </a:pPr>
            <a:r>
              <a:rPr lang="en-US" sz="1200" i="1" dirty="0">
                <a:solidFill>
                  <a:srgbClr val="16191D"/>
                </a:solidFill>
                <a:latin typeface="Calibri" pitchFamily="34" charset="0"/>
                <a:ea typeface="Calibri" pitchFamily="34" charset="-122"/>
                <a:cs typeface="Calibri" pitchFamily="34" charset="-120"/>
              </a:rPr>
              <a:t>Ketika kelas fungsi yang berbeda mendarat di titik yang sama, dindingnya milik data.</a:t>
            </a:r>
            <a:endParaRPr lang="en-US" sz="1200" dirty="0"/>
          </a:p>
        </p:txBody>
      </p:sp>
      <p:sp>
        <p:nvSpPr>
          <p:cNvPr id="36" name="Shape 33"/>
          <p:cNvSpPr/>
          <p:nvPr/>
        </p:nvSpPr>
        <p:spPr>
          <a:xfrm>
            <a:off x="640080" y="6400800"/>
            <a:ext cx="1572768" cy="45720"/>
          </a:xfrm>
          <a:prstGeom prst="rect">
            <a:avLst/>
          </a:prstGeom>
          <a:solidFill>
            <a:srgbClr val="DCD8D1"/>
          </a:solidFill>
          <a:ln/>
        </p:spPr>
      </p:sp>
      <p:sp>
        <p:nvSpPr>
          <p:cNvPr id="37" name="Text 3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8" name="Shape 35"/>
          <p:cNvSpPr/>
          <p:nvPr/>
        </p:nvSpPr>
        <p:spPr>
          <a:xfrm>
            <a:off x="2304288" y="6400800"/>
            <a:ext cx="1572768" cy="45720"/>
          </a:xfrm>
          <a:prstGeom prst="rect">
            <a:avLst/>
          </a:prstGeom>
          <a:solidFill>
            <a:srgbClr val="DCD8D1"/>
          </a:solidFill>
          <a:ln/>
        </p:spPr>
      </p:sp>
      <p:sp>
        <p:nvSpPr>
          <p:cNvPr id="39" name="Text 3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40" name="Shape 37"/>
          <p:cNvSpPr/>
          <p:nvPr/>
        </p:nvSpPr>
        <p:spPr>
          <a:xfrm>
            <a:off x="3968496" y="6400800"/>
            <a:ext cx="1572768" cy="45720"/>
          </a:xfrm>
          <a:prstGeom prst="rect">
            <a:avLst/>
          </a:prstGeom>
          <a:solidFill>
            <a:srgbClr val="A8442A"/>
          </a:solidFill>
          <a:ln/>
        </p:spPr>
      </p:sp>
      <p:sp>
        <p:nvSpPr>
          <p:cNvPr id="41" name="Text 3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42" name="Shape 39"/>
          <p:cNvSpPr/>
          <p:nvPr/>
        </p:nvSpPr>
        <p:spPr>
          <a:xfrm>
            <a:off x="5632704" y="6400800"/>
            <a:ext cx="1572768" cy="45720"/>
          </a:xfrm>
          <a:prstGeom prst="rect">
            <a:avLst/>
          </a:prstGeom>
          <a:solidFill>
            <a:srgbClr val="DCD8D1"/>
          </a:solidFill>
          <a:ln/>
        </p:spPr>
      </p:sp>
      <p:sp>
        <p:nvSpPr>
          <p:cNvPr id="43" name="Text 4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4" name="Shape 41"/>
          <p:cNvSpPr/>
          <p:nvPr/>
        </p:nvSpPr>
        <p:spPr>
          <a:xfrm>
            <a:off x="7296912" y="6400800"/>
            <a:ext cx="1572768" cy="45720"/>
          </a:xfrm>
          <a:prstGeom prst="rect">
            <a:avLst/>
          </a:prstGeom>
          <a:solidFill>
            <a:srgbClr val="DCD8D1"/>
          </a:solidFill>
          <a:ln/>
        </p:spPr>
      </p:sp>
      <p:sp>
        <p:nvSpPr>
          <p:cNvPr id="45" name="Text 4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46" name="Shape 43"/>
          <p:cNvSpPr/>
          <p:nvPr/>
        </p:nvSpPr>
        <p:spPr>
          <a:xfrm>
            <a:off x="8961120" y="6400800"/>
            <a:ext cx="1572768" cy="45720"/>
          </a:xfrm>
          <a:prstGeom prst="rect">
            <a:avLst/>
          </a:prstGeom>
          <a:solidFill>
            <a:srgbClr val="DCD8D1"/>
          </a:solidFill>
          <a:ln/>
        </p:spPr>
      </p:sp>
      <p:sp>
        <p:nvSpPr>
          <p:cNvPr id="47" name="Text 4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8" name="Text 4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Kombinasinya ditetapkan di muka, bukan dipilih dari papan skor.</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Empat kandidat dievaluasi pada matriks probabilitas OOF berukuran 95.609 × 24.</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2395728"/>
          <a:ext cx="6949440" cy="914400"/>
        </p:xfrm>
        <a:graphic>
          <a:graphicData uri="http://schemas.openxmlformats.org/drawingml/2006/table">
            <a:tbl>
              <a:tblPr/>
              <a:tblGrid>
                <a:gridCol w="2926080"/>
                <a:gridCol w="1234440"/>
                <a:gridCol w="914400"/>
                <a:gridCol w="914400"/>
                <a:gridCol w="960120"/>
              </a:tblGrid>
              <a:tr h="384048">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Kandidat kombinasi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QWK OOF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t₁</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t₂</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t₃</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84048">
                <a:tc>
                  <a:txBody>
                    <a:bodyPr/>
                    <a:lstStyle/>
                    <a:p>
                      <a:pPr algn="l" indent="0" marL="0">
                        <a:buNone/>
                      </a:pPr>
                      <a:r>
                        <a:rPr lang="en-US" sz="1150" b="1" dirty="0">
                          <a:solidFill>
                            <a:srgbClr val="2F6B5F"/>
                          </a:solidFill>
                          <a:latin typeface="Calibri" pitchFamily="34" charset="0"/>
                          <a:ea typeface="Calibri" pitchFamily="34" charset="-122"/>
                          <a:cs typeface="Calibri" pitchFamily="34" charset="-120"/>
                        </a:rPr>
                        <a:t>rata-rata lima model pohon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2F6B5F"/>
                          </a:solidFill>
                          <a:latin typeface="Calibri" pitchFamily="34" charset="0"/>
                          <a:ea typeface="Calibri" pitchFamily="34" charset="-122"/>
                          <a:cs typeface="Calibri" pitchFamily="34" charset="-120"/>
                        </a:rPr>
                        <a:t>0,48517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1,5543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2,0027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2,3936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regresi logistik sebagai meta</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0,48398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1,5601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2,0033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2,5525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rata-rata keenam model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0,48361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1,5524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2,0067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2,4103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LightGBM sebagai meta</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0,48307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1,5591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2,0525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2,5309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Text 2"/>
          <p:cNvSpPr/>
          <p:nvPr/>
        </p:nvSpPr>
        <p:spPr>
          <a:xfrm>
            <a:off x="8001000" y="2487168"/>
            <a:ext cx="355061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+0,00403</a:t>
            </a:r>
            <a:endParaRPr lang="en-US" sz="3000" dirty="0"/>
          </a:p>
        </p:txBody>
      </p:sp>
      <p:sp>
        <p:nvSpPr>
          <p:cNvPr id="6" name="Text 3"/>
          <p:cNvSpPr/>
          <p:nvPr/>
        </p:nvSpPr>
        <p:spPr>
          <a:xfrm>
            <a:off x="8001000" y="3072384"/>
            <a:ext cx="3550615" cy="420624"/>
          </a:xfrm>
          <a:prstGeom prst="rect">
            <a:avLst/>
          </a:prstGeom>
          <a:noFill/>
          <a:ln/>
        </p:spPr>
        <p:txBody>
          <a:bodyPr wrap="square" lIns="0" tIns="0" rIns="0" bIns="0" rtlCol="0" anchor="t"/>
          <a:lstStyle/>
          <a:p>
            <a:pPr algn="l" indent="0" marL="0">
              <a:lnSpc>
                <a:spcPts val="1300"/>
              </a:lnSpc>
              <a:buNone/>
            </a:pPr>
            <a:r>
              <a:rPr lang="en-US" sz="1100" dirty="0">
                <a:solidFill>
                  <a:srgbClr val="6E747C"/>
                </a:solidFill>
                <a:latin typeface="Calibri" pitchFamily="34" charset="0"/>
                <a:ea typeface="Calibri" pitchFamily="34" charset="-122"/>
                <a:cs typeface="Calibri" pitchFamily="34" charset="-120"/>
              </a:rPr>
              <a:t>Sumbangan kombinasi di atas model dasar terbaik</a:t>
            </a:r>
            <a:endParaRPr lang="en-US" sz="1100" dirty="0"/>
          </a:p>
        </p:txBody>
      </p:sp>
      <p:sp>
        <p:nvSpPr>
          <p:cNvPr id="7" name="Shape 4"/>
          <p:cNvSpPr/>
          <p:nvPr/>
        </p:nvSpPr>
        <p:spPr>
          <a:xfrm>
            <a:off x="8001000" y="3657600"/>
            <a:ext cx="3550615" cy="2148840"/>
          </a:xfrm>
          <a:prstGeom prst="roundRect">
            <a:avLst>
              <a:gd name="adj" fmla="val 2553"/>
            </a:avLst>
          </a:prstGeom>
          <a:solidFill>
            <a:srgbClr val="ECE7DF"/>
          </a:solidFill>
          <a:ln w="9525">
            <a:solidFill>
              <a:srgbClr val="DCD8D1"/>
            </a:solidFill>
            <a:prstDash val="solid"/>
          </a:ln>
        </p:spPr>
      </p:sp>
      <p:sp>
        <p:nvSpPr>
          <p:cNvPr id="8" name="Text 5"/>
          <p:cNvSpPr/>
          <p:nvPr/>
        </p:nvSpPr>
        <p:spPr>
          <a:xfrm>
            <a:off x="8257032" y="3803904"/>
            <a:ext cx="3038551" cy="274320"/>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Dua alasan yang ditetapkan di muka</a:t>
            </a:r>
            <a:endParaRPr lang="en-US" sz="1250" dirty="0"/>
          </a:p>
        </p:txBody>
      </p:sp>
      <p:sp>
        <p:nvSpPr>
          <p:cNvPr id="9" name="Text 6"/>
          <p:cNvSpPr/>
          <p:nvPr/>
        </p:nvSpPr>
        <p:spPr>
          <a:xfrm>
            <a:off x="8257032" y="4151376"/>
            <a:ext cx="3038551" cy="160020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Rata-rata sederhana tidak punya parameter yang bisa menempel pada derau, dan model dasar sudah berkorelasi 0,974.</a:t>
            </a:r>
            <a:endParaRPr lang="en-US" sz="1100" dirty="0"/>
          </a:p>
          <a:p>
            <a:pPr indent="0" marL="0">
              <a:lnSpc>
                <a:spcPts val="1500"/>
              </a:lnSpc>
              <a:buNone/>
            </a:pPr>
            <a:endParaRPr lang="en-US" sz="1100" dirty="0"/>
          </a:p>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MLP dikeluarkan karena QWK tunggalnya jelas di bawah kelima model pohon, dan rata-rata tanpa bobot memberi porsi sama ke tiap anggota.</a:t>
            </a:r>
            <a:endParaRPr lang="en-US" sz="1100" dirty="0"/>
          </a:p>
        </p:txBody>
      </p:sp>
      <p:sp>
        <p:nvSpPr>
          <p:cNvPr id="10" name="Shape 7"/>
          <p:cNvSpPr/>
          <p:nvPr/>
        </p:nvSpPr>
        <p:spPr>
          <a:xfrm>
            <a:off x="640080" y="4572000"/>
            <a:ext cx="6949440" cy="1234440"/>
          </a:xfrm>
          <a:prstGeom prst="roundRect">
            <a:avLst>
              <a:gd name="adj" fmla="val 4444"/>
            </a:avLst>
          </a:prstGeom>
          <a:solidFill>
            <a:srgbClr val="FFFFFF"/>
          </a:solidFill>
          <a:ln w="9525">
            <a:solidFill>
              <a:srgbClr val="DCD8D1"/>
            </a:solidFill>
            <a:prstDash val="solid"/>
          </a:ln>
        </p:spPr>
      </p:sp>
      <p:sp>
        <p:nvSpPr>
          <p:cNvPr id="11" name="Text 8"/>
          <p:cNvSpPr/>
          <p:nvPr/>
        </p:nvSpPr>
        <p:spPr>
          <a:xfrm>
            <a:off x="914400" y="4572000"/>
            <a:ext cx="6400800" cy="1234440"/>
          </a:xfrm>
          <a:prstGeom prst="rect">
            <a:avLst/>
          </a:prstGeom>
          <a:noFill/>
          <a:ln/>
        </p:spPr>
        <p:txBody>
          <a:bodyPr wrap="square" lIns="0" tIns="0" rIns="0" bIns="0" rtlCol="0" anchor="ctr"/>
          <a:lstStyle/>
          <a:p>
            <a:pPr indent="0" marL="0">
              <a:lnSpc>
                <a:spcPts val="1700"/>
              </a:lnSpc>
              <a:buNone/>
            </a:pPr>
            <a:r>
              <a:rPr lang="en-US" sz="1200" b="1" dirty="0">
                <a:solidFill>
                  <a:srgbClr val="16191D"/>
                </a:solidFill>
                <a:latin typeface="Calibri" pitchFamily="34" charset="0"/>
                <a:ea typeface="Calibri" pitchFamily="34" charset="-122"/>
                <a:cs typeface="Calibri" pitchFamily="34" charset="-120"/>
              </a:rPr>
              <a:t>Keduanya bisa diperiksa tanpa menyentuh data uji. </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Setelah dihitung, kombinasi yang kami tetapkan itu juga yang tertinggi pada OOF, jadi disiplin a priori di sini tidak menuntut pengorbanan skor sama sekali.</a:t>
            </a:r>
            <a:endParaRPr lang="en-US" sz="1200" dirty="0"/>
          </a:p>
        </p:txBody>
      </p:sp>
      <p:sp>
        <p:nvSpPr>
          <p:cNvPr id="13" name="Shape 9"/>
          <p:cNvSpPr/>
          <p:nvPr/>
        </p:nvSpPr>
        <p:spPr>
          <a:xfrm>
            <a:off x="640080" y="6400800"/>
            <a:ext cx="1572768" cy="45720"/>
          </a:xfrm>
          <a:prstGeom prst="rect">
            <a:avLst/>
          </a:prstGeom>
          <a:solidFill>
            <a:srgbClr val="DCD8D1"/>
          </a:solidFill>
          <a:ln/>
        </p:spPr>
      </p:sp>
      <p:sp>
        <p:nvSpPr>
          <p:cNvPr id="14" name="Text 10"/>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5" name="Shape 11"/>
          <p:cNvSpPr/>
          <p:nvPr/>
        </p:nvSpPr>
        <p:spPr>
          <a:xfrm>
            <a:off x="2304288" y="6400800"/>
            <a:ext cx="1572768" cy="45720"/>
          </a:xfrm>
          <a:prstGeom prst="rect">
            <a:avLst/>
          </a:prstGeom>
          <a:solidFill>
            <a:srgbClr val="DCD8D1"/>
          </a:solidFill>
          <a:ln/>
        </p:spPr>
      </p:sp>
      <p:sp>
        <p:nvSpPr>
          <p:cNvPr id="16" name="Text 12"/>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7" name="Shape 13"/>
          <p:cNvSpPr/>
          <p:nvPr/>
        </p:nvSpPr>
        <p:spPr>
          <a:xfrm>
            <a:off x="3968496" y="6400800"/>
            <a:ext cx="1572768" cy="45720"/>
          </a:xfrm>
          <a:prstGeom prst="rect">
            <a:avLst/>
          </a:prstGeom>
          <a:solidFill>
            <a:srgbClr val="A8442A"/>
          </a:solidFill>
          <a:ln/>
        </p:spPr>
      </p:sp>
      <p:sp>
        <p:nvSpPr>
          <p:cNvPr id="18" name="Text 14"/>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19" name="Shape 15"/>
          <p:cNvSpPr/>
          <p:nvPr/>
        </p:nvSpPr>
        <p:spPr>
          <a:xfrm>
            <a:off x="5632704" y="6400800"/>
            <a:ext cx="1572768" cy="45720"/>
          </a:xfrm>
          <a:prstGeom prst="rect">
            <a:avLst/>
          </a:prstGeom>
          <a:solidFill>
            <a:srgbClr val="DCD8D1"/>
          </a:solidFill>
          <a:ln/>
        </p:spPr>
      </p:sp>
      <p:sp>
        <p:nvSpPr>
          <p:cNvPr id="20" name="Text 16"/>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1" name="Shape 17"/>
          <p:cNvSpPr/>
          <p:nvPr/>
        </p:nvSpPr>
        <p:spPr>
          <a:xfrm>
            <a:off x="7296912" y="6400800"/>
            <a:ext cx="1572768" cy="45720"/>
          </a:xfrm>
          <a:prstGeom prst="rect">
            <a:avLst/>
          </a:prstGeom>
          <a:solidFill>
            <a:srgbClr val="DCD8D1"/>
          </a:solidFill>
          <a:ln/>
        </p:spPr>
      </p:sp>
      <p:sp>
        <p:nvSpPr>
          <p:cNvPr id="22" name="Text 18"/>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3" name="Shape 19"/>
          <p:cNvSpPr/>
          <p:nvPr/>
        </p:nvSpPr>
        <p:spPr>
          <a:xfrm>
            <a:off x="8961120" y="6400800"/>
            <a:ext cx="1572768" cy="45720"/>
          </a:xfrm>
          <a:prstGeom prst="rect">
            <a:avLst/>
          </a:prstGeom>
          <a:solidFill>
            <a:srgbClr val="DCD8D1"/>
          </a:solidFill>
          <a:ln/>
        </p:spPr>
      </p:sp>
      <p:sp>
        <p:nvSpPr>
          <p:cNvPr id="24" name="Text 20"/>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5" name="Text 2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Tiga bilangan, dicari dua tahap.</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Pencarian grid berbasis kuantil lebih dulu, lalu dihaluskan dengan pencarian koordinat.</a:t>
            </a:r>
            <a:endParaRPr lang="en-US" sz="1400" dirty="0"/>
          </a:p>
        </p:txBody>
      </p:sp>
      <p:sp>
        <p:nvSpPr>
          <p:cNvPr id="4" name="Shape 2"/>
          <p:cNvSpPr/>
          <p:nvPr/>
        </p:nvSpPr>
        <p:spPr>
          <a:xfrm>
            <a:off x="640080" y="2286000"/>
            <a:ext cx="5257800" cy="1737360"/>
          </a:xfrm>
          <a:prstGeom prst="roundRect">
            <a:avLst>
              <a:gd name="adj" fmla="val 3158"/>
            </a:avLst>
          </a:prstGeom>
          <a:solidFill>
            <a:srgbClr val="F4F1EC"/>
          </a:solidFill>
          <a:ln w="9525">
            <a:solidFill>
              <a:srgbClr val="DCD8D1"/>
            </a:solidFill>
            <a:prstDash val="solid"/>
          </a:ln>
        </p:spPr>
      </p:sp>
      <p:sp>
        <p:nvSpPr>
          <p:cNvPr id="5" name="Text 3"/>
          <p:cNvSpPr/>
          <p:nvPr/>
        </p:nvSpPr>
        <p:spPr>
          <a:xfrm>
            <a:off x="932688" y="2450592"/>
            <a:ext cx="4672584" cy="274320"/>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Prosedur pencarian</a:t>
            </a:r>
            <a:endParaRPr lang="en-US" sz="1400" dirty="0"/>
          </a:p>
        </p:txBody>
      </p:sp>
      <p:sp>
        <p:nvSpPr>
          <p:cNvPr id="6" name="Text 4"/>
          <p:cNvSpPr/>
          <p:nvPr/>
        </p:nvSpPr>
        <p:spPr>
          <a:xfrm>
            <a:off x="932688" y="2779776"/>
            <a:ext cx="308390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Grid kuantil, 45 × 32 × 26 titik</a:t>
            </a:r>
            <a:endParaRPr lang="en-US" sz="1150" dirty="0"/>
          </a:p>
        </p:txBody>
      </p:sp>
      <p:sp>
        <p:nvSpPr>
          <p:cNvPr id="7" name="Text 5"/>
          <p:cNvSpPr/>
          <p:nvPr/>
        </p:nvSpPr>
        <p:spPr>
          <a:xfrm>
            <a:off x="4016593" y="2779776"/>
            <a:ext cx="1588679"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0,48446</a:t>
            </a:r>
            <a:endParaRPr lang="en-US" sz="1150" dirty="0"/>
          </a:p>
        </p:txBody>
      </p:sp>
      <p:sp>
        <p:nvSpPr>
          <p:cNvPr id="8" name="Shape 6"/>
          <p:cNvSpPr/>
          <p:nvPr/>
        </p:nvSpPr>
        <p:spPr>
          <a:xfrm>
            <a:off x="932688" y="3145536"/>
            <a:ext cx="4672584" cy="0"/>
          </a:xfrm>
          <a:prstGeom prst="line">
            <a:avLst/>
          </a:prstGeom>
          <a:noFill/>
          <a:ln w="7620">
            <a:solidFill>
              <a:srgbClr val="DCD8D1"/>
            </a:solidFill>
            <a:prstDash val="solid"/>
          </a:ln>
        </p:spPr>
      </p:sp>
      <p:sp>
        <p:nvSpPr>
          <p:cNvPr id="9" name="Text 7"/>
          <p:cNvSpPr/>
          <p:nvPr/>
        </p:nvSpPr>
        <p:spPr>
          <a:xfrm>
            <a:off x="932688" y="3145536"/>
            <a:ext cx="308390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Setelah pencarian koordinat</a:t>
            </a:r>
            <a:endParaRPr lang="en-US" sz="1150" dirty="0"/>
          </a:p>
        </p:txBody>
      </p:sp>
      <p:sp>
        <p:nvSpPr>
          <p:cNvPr id="10" name="Text 8"/>
          <p:cNvSpPr/>
          <p:nvPr/>
        </p:nvSpPr>
        <p:spPr>
          <a:xfrm>
            <a:off x="4016593" y="3145536"/>
            <a:ext cx="1588679"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0,48517</a:t>
            </a:r>
            <a:endParaRPr lang="en-US" sz="1150" dirty="0"/>
          </a:p>
        </p:txBody>
      </p:sp>
      <p:sp>
        <p:nvSpPr>
          <p:cNvPr id="11" name="Shape 9"/>
          <p:cNvSpPr/>
          <p:nvPr/>
        </p:nvSpPr>
        <p:spPr>
          <a:xfrm>
            <a:off x="932688" y="3511296"/>
            <a:ext cx="4672584" cy="0"/>
          </a:xfrm>
          <a:prstGeom prst="line">
            <a:avLst/>
          </a:prstGeom>
          <a:noFill/>
          <a:ln w="7620">
            <a:solidFill>
              <a:srgbClr val="DCD8D1"/>
            </a:solidFill>
            <a:prstDash val="solid"/>
          </a:ln>
        </p:spPr>
      </p:sp>
      <p:sp>
        <p:nvSpPr>
          <p:cNvPr id="12" name="Text 10"/>
          <p:cNvSpPr/>
          <p:nvPr/>
        </p:nvSpPr>
        <p:spPr>
          <a:xfrm>
            <a:off x="932688" y="3511296"/>
            <a:ext cx="3083905" cy="36576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Waktu penghalusan</a:t>
            </a:r>
            <a:endParaRPr lang="en-US" sz="1150" dirty="0"/>
          </a:p>
        </p:txBody>
      </p:sp>
      <p:sp>
        <p:nvSpPr>
          <p:cNvPr id="13" name="Text 11"/>
          <p:cNvSpPr/>
          <p:nvPr/>
        </p:nvSpPr>
        <p:spPr>
          <a:xfrm>
            <a:off x="4016593" y="3511296"/>
            <a:ext cx="1588679"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48 detik</a:t>
            </a:r>
            <a:endParaRPr lang="en-US" sz="1150" dirty="0"/>
          </a:p>
        </p:txBody>
      </p:sp>
      <p:sp>
        <p:nvSpPr>
          <p:cNvPr id="14" name="Shape 12"/>
          <p:cNvSpPr/>
          <p:nvPr/>
        </p:nvSpPr>
        <p:spPr>
          <a:xfrm>
            <a:off x="6281928" y="2286000"/>
            <a:ext cx="5257800" cy="1737360"/>
          </a:xfrm>
          <a:prstGeom prst="roundRect">
            <a:avLst>
              <a:gd name="adj" fmla="val 3158"/>
            </a:avLst>
          </a:prstGeom>
          <a:solidFill>
            <a:srgbClr val="16191D"/>
          </a:solidFill>
          <a:ln w="9525">
            <a:solidFill>
              <a:srgbClr val="16191D"/>
            </a:solidFill>
            <a:prstDash val="solid"/>
          </a:ln>
        </p:spPr>
      </p:sp>
      <p:sp>
        <p:nvSpPr>
          <p:cNvPr id="15" name="Text 13"/>
          <p:cNvSpPr/>
          <p:nvPr/>
        </p:nvSpPr>
        <p:spPr>
          <a:xfrm>
            <a:off x="6537960" y="2468880"/>
            <a:ext cx="1463040" cy="274320"/>
          </a:xfrm>
          <a:prstGeom prst="rect">
            <a:avLst/>
          </a:prstGeom>
          <a:noFill/>
          <a:ln/>
        </p:spPr>
        <p:txBody>
          <a:bodyPr wrap="square" lIns="0" tIns="0" rIns="0" bIns="0" rtlCol="0" anchor="ctr"/>
          <a:lstStyle/>
          <a:p>
            <a:pPr indent="0" marL="0">
              <a:buNone/>
            </a:pPr>
            <a:r>
              <a:rPr lang="en-US" sz="1100" b="1" dirty="0">
                <a:solidFill>
                  <a:srgbClr val="8FB0A4"/>
                </a:solidFill>
                <a:latin typeface="Calibri" pitchFamily="34" charset="0"/>
                <a:ea typeface="Calibri" pitchFamily="34" charset="-122"/>
                <a:cs typeface="Calibri" pitchFamily="34" charset="-120"/>
              </a:rPr>
              <a:t>t₁</a:t>
            </a:r>
            <a:endParaRPr lang="en-US" sz="1100" dirty="0"/>
          </a:p>
        </p:txBody>
      </p:sp>
      <p:sp>
        <p:nvSpPr>
          <p:cNvPr id="16" name="Text 14"/>
          <p:cNvSpPr/>
          <p:nvPr/>
        </p:nvSpPr>
        <p:spPr>
          <a:xfrm>
            <a:off x="6537960" y="2724912"/>
            <a:ext cx="146304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1,5543</a:t>
            </a:r>
            <a:endParaRPr lang="en-US" sz="2100" dirty="0"/>
          </a:p>
        </p:txBody>
      </p:sp>
      <p:sp>
        <p:nvSpPr>
          <p:cNvPr id="17" name="Text 15"/>
          <p:cNvSpPr/>
          <p:nvPr/>
        </p:nvSpPr>
        <p:spPr>
          <a:xfrm>
            <a:off x="6537960" y="3200400"/>
            <a:ext cx="1463040" cy="54864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batas kelas 1 | 2</a:t>
            </a:r>
            <a:endParaRPr lang="en-US" sz="1000" dirty="0"/>
          </a:p>
        </p:txBody>
      </p:sp>
      <p:sp>
        <p:nvSpPr>
          <p:cNvPr id="18" name="Text 16"/>
          <p:cNvSpPr/>
          <p:nvPr/>
        </p:nvSpPr>
        <p:spPr>
          <a:xfrm>
            <a:off x="8165592" y="2468880"/>
            <a:ext cx="1463040" cy="274320"/>
          </a:xfrm>
          <a:prstGeom prst="rect">
            <a:avLst/>
          </a:prstGeom>
          <a:noFill/>
          <a:ln/>
        </p:spPr>
        <p:txBody>
          <a:bodyPr wrap="square" lIns="0" tIns="0" rIns="0" bIns="0" rtlCol="0" anchor="ctr"/>
          <a:lstStyle/>
          <a:p>
            <a:pPr indent="0" marL="0">
              <a:buNone/>
            </a:pPr>
            <a:r>
              <a:rPr lang="en-US" sz="1100" b="1" dirty="0">
                <a:solidFill>
                  <a:srgbClr val="8FB0A4"/>
                </a:solidFill>
                <a:latin typeface="Calibri" pitchFamily="34" charset="0"/>
                <a:ea typeface="Calibri" pitchFamily="34" charset="-122"/>
                <a:cs typeface="Calibri" pitchFamily="34" charset="-120"/>
              </a:rPr>
              <a:t>t₂</a:t>
            </a:r>
            <a:endParaRPr lang="en-US" sz="1100" dirty="0"/>
          </a:p>
        </p:txBody>
      </p:sp>
      <p:sp>
        <p:nvSpPr>
          <p:cNvPr id="19" name="Text 17"/>
          <p:cNvSpPr/>
          <p:nvPr/>
        </p:nvSpPr>
        <p:spPr>
          <a:xfrm>
            <a:off x="8165592" y="2724912"/>
            <a:ext cx="146304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2,0027</a:t>
            </a:r>
            <a:endParaRPr lang="en-US" sz="2100" dirty="0"/>
          </a:p>
        </p:txBody>
      </p:sp>
      <p:sp>
        <p:nvSpPr>
          <p:cNvPr id="20" name="Text 18"/>
          <p:cNvSpPr/>
          <p:nvPr/>
        </p:nvSpPr>
        <p:spPr>
          <a:xfrm>
            <a:off x="8165592" y="3200400"/>
            <a:ext cx="1463040" cy="54864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batas kelas 2 | 3</a:t>
            </a:r>
            <a:endParaRPr lang="en-US" sz="1000" dirty="0"/>
          </a:p>
        </p:txBody>
      </p:sp>
      <p:sp>
        <p:nvSpPr>
          <p:cNvPr id="21" name="Text 19"/>
          <p:cNvSpPr/>
          <p:nvPr/>
        </p:nvSpPr>
        <p:spPr>
          <a:xfrm>
            <a:off x="9793224" y="2468880"/>
            <a:ext cx="1463040" cy="274320"/>
          </a:xfrm>
          <a:prstGeom prst="rect">
            <a:avLst/>
          </a:prstGeom>
          <a:noFill/>
          <a:ln/>
        </p:spPr>
        <p:txBody>
          <a:bodyPr wrap="square" lIns="0" tIns="0" rIns="0" bIns="0" rtlCol="0" anchor="ctr"/>
          <a:lstStyle/>
          <a:p>
            <a:pPr indent="0" marL="0">
              <a:buNone/>
            </a:pPr>
            <a:r>
              <a:rPr lang="en-US" sz="1100" b="1" dirty="0">
                <a:solidFill>
                  <a:srgbClr val="8FB0A4"/>
                </a:solidFill>
                <a:latin typeface="Calibri" pitchFamily="34" charset="0"/>
                <a:ea typeface="Calibri" pitchFamily="34" charset="-122"/>
                <a:cs typeface="Calibri" pitchFamily="34" charset="-120"/>
              </a:rPr>
              <a:t>t₃</a:t>
            </a:r>
            <a:endParaRPr lang="en-US" sz="1100" dirty="0"/>
          </a:p>
        </p:txBody>
      </p:sp>
      <p:sp>
        <p:nvSpPr>
          <p:cNvPr id="22" name="Text 20"/>
          <p:cNvSpPr/>
          <p:nvPr/>
        </p:nvSpPr>
        <p:spPr>
          <a:xfrm>
            <a:off x="9793224" y="2724912"/>
            <a:ext cx="146304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2,3936</a:t>
            </a:r>
            <a:endParaRPr lang="en-US" sz="2100" dirty="0"/>
          </a:p>
        </p:txBody>
      </p:sp>
      <p:sp>
        <p:nvSpPr>
          <p:cNvPr id="23" name="Text 21"/>
          <p:cNvSpPr/>
          <p:nvPr/>
        </p:nvSpPr>
        <p:spPr>
          <a:xfrm>
            <a:off x="9793224" y="3200400"/>
            <a:ext cx="1463040" cy="54864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batas kelas 3 | 4</a:t>
            </a:r>
            <a:endParaRPr lang="en-US" sz="1000" dirty="0"/>
          </a:p>
        </p:txBody>
      </p:sp>
      <p:sp>
        <p:nvSpPr>
          <p:cNvPr id="24" name="Text 22"/>
          <p:cNvSpPr/>
          <p:nvPr/>
        </p:nvSpPr>
        <p:spPr>
          <a:xfrm>
            <a:off x="640080" y="4224528"/>
            <a:ext cx="10911535" cy="310896"/>
          </a:xfrm>
          <a:prstGeom prst="rect">
            <a:avLst/>
          </a:prstGeom>
          <a:noFill/>
          <a:ln/>
        </p:spPr>
        <p:txBody>
          <a:bodyPr wrap="square" lIns="0" tIns="0" rIns="0" bIns="0" rtlCol="0" anchor="ctr"/>
          <a:lstStyle/>
          <a:p>
            <a:pPr indent="0" marL="0">
              <a:buNone/>
            </a:pPr>
            <a:r>
              <a:rPr lang="en-US" sz="1250" dirty="0">
                <a:solidFill>
                  <a:srgbClr val="6E747C"/>
                </a:solidFill>
                <a:latin typeface="Calibri" pitchFamily="34" charset="0"/>
                <a:ea typeface="Calibri" pitchFamily="34" charset="-122"/>
                <a:cs typeface="Calibri" pitchFamily="34" charset="-120"/>
              </a:rPr>
              <a:t>Seluruhnya dari prediksi out-of-fold data latih. Data uji tidak pernah menyentuh angka ini.</a:t>
            </a:r>
            <a:endParaRPr lang="en-US" sz="1250" dirty="0"/>
          </a:p>
        </p:txBody>
      </p:sp>
      <p:sp>
        <p:nvSpPr>
          <p:cNvPr id="25" name="Shape 23"/>
          <p:cNvSpPr/>
          <p:nvPr/>
        </p:nvSpPr>
        <p:spPr>
          <a:xfrm>
            <a:off x="640080" y="4700016"/>
            <a:ext cx="10911535" cy="1371600"/>
          </a:xfrm>
          <a:prstGeom prst="roundRect">
            <a:avLst>
              <a:gd name="adj" fmla="val 4000"/>
            </a:avLst>
          </a:prstGeom>
          <a:solidFill>
            <a:srgbClr val="ECE7DF"/>
          </a:solidFill>
          <a:ln w="9525">
            <a:solidFill>
              <a:srgbClr val="DCD8D1"/>
            </a:solidFill>
            <a:prstDash val="solid"/>
          </a:ln>
        </p:spPr>
      </p:sp>
      <p:sp>
        <p:nvSpPr>
          <p:cNvPr id="26" name="Text 24"/>
          <p:cNvSpPr/>
          <p:nvPr/>
        </p:nvSpPr>
        <p:spPr>
          <a:xfrm>
            <a:off x="932688" y="4846320"/>
            <a:ext cx="10326319" cy="274320"/>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Kenapa dua tahap</a:t>
            </a:r>
            <a:endParaRPr lang="en-US" sz="1300" dirty="0"/>
          </a:p>
        </p:txBody>
      </p:sp>
      <p:sp>
        <p:nvSpPr>
          <p:cNvPr id="27" name="Text 25"/>
          <p:cNvSpPr/>
          <p:nvPr/>
        </p:nvSpPr>
        <p:spPr>
          <a:xfrm>
            <a:off x="932688" y="5157216"/>
            <a:ext cx="10326319" cy="82296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Grid kuantil menjamin cakupan seluruh rentang tanpa terjebak di satu wilayah, sementara pencarian koordinat menajamkan hasilnya di sekitar optimum. Kenaikan dari 0,48446 ke 0,48517 adalah selisih antara kedua tahap itu. Slide berikutnya menunjukkan apa yang sebenarnya dibeli oleh ketiga bilangan ini.</a:t>
            </a:r>
            <a:endParaRPr lang="en-US" sz="1200" dirty="0"/>
          </a:p>
        </p:txBody>
      </p:sp>
      <p:sp>
        <p:nvSpPr>
          <p:cNvPr id="29" name="Shape 26"/>
          <p:cNvSpPr/>
          <p:nvPr/>
        </p:nvSpPr>
        <p:spPr>
          <a:xfrm>
            <a:off x="640080" y="6400800"/>
            <a:ext cx="1572768" cy="45720"/>
          </a:xfrm>
          <a:prstGeom prst="rect">
            <a:avLst/>
          </a:prstGeom>
          <a:solidFill>
            <a:srgbClr val="DCD8D1"/>
          </a:solidFill>
          <a:ln/>
        </p:spPr>
      </p:sp>
      <p:sp>
        <p:nvSpPr>
          <p:cNvPr id="30" name="Text 2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1" name="Shape 28"/>
          <p:cNvSpPr/>
          <p:nvPr/>
        </p:nvSpPr>
        <p:spPr>
          <a:xfrm>
            <a:off x="2304288" y="6400800"/>
            <a:ext cx="1572768" cy="45720"/>
          </a:xfrm>
          <a:prstGeom prst="rect">
            <a:avLst/>
          </a:prstGeom>
          <a:solidFill>
            <a:srgbClr val="DCD8D1"/>
          </a:solidFill>
          <a:ln/>
        </p:spPr>
      </p:sp>
      <p:sp>
        <p:nvSpPr>
          <p:cNvPr id="32" name="Text 2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3" name="Shape 30"/>
          <p:cNvSpPr/>
          <p:nvPr/>
        </p:nvSpPr>
        <p:spPr>
          <a:xfrm>
            <a:off x="3968496" y="6400800"/>
            <a:ext cx="1572768" cy="45720"/>
          </a:xfrm>
          <a:prstGeom prst="rect">
            <a:avLst/>
          </a:prstGeom>
          <a:solidFill>
            <a:srgbClr val="A8442A"/>
          </a:solidFill>
          <a:ln/>
        </p:spPr>
      </p:sp>
      <p:sp>
        <p:nvSpPr>
          <p:cNvPr id="34" name="Text 3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35" name="Shape 32"/>
          <p:cNvSpPr/>
          <p:nvPr/>
        </p:nvSpPr>
        <p:spPr>
          <a:xfrm>
            <a:off x="5632704" y="6400800"/>
            <a:ext cx="1572768" cy="45720"/>
          </a:xfrm>
          <a:prstGeom prst="rect">
            <a:avLst/>
          </a:prstGeom>
          <a:solidFill>
            <a:srgbClr val="DCD8D1"/>
          </a:solidFill>
          <a:ln/>
        </p:spPr>
      </p:sp>
      <p:sp>
        <p:nvSpPr>
          <p:cNvPr id="36" name="Text 3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7" name="Shape 34"/>
          <p:cNvSpPr/>
          <p:nvPr/>
        </p:nvSpPr>
        <p:spPr>
          <a:xfrm>
            <a:off x="7296912" y="6400800"/>
            <a:ext cx="1572768" cy="45720"/>
          </a:xfrm>
          <a:prstGeom prst="rect">
            <a:avLst/>
          </a:prstGeom>
          <a:solidFill>
            <a:srgbClr val="DCD8D1"/>
          </a:solidFill>
          <a:ln/>
        </p:spPr>
      </p:sp>
      <p:sp>
        <p:nvSpPr>
          <p:cNvPr id="38" name="Text 3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9" name="Shape 36"/>
          <p:cNvSpPr/>
          <p:nvPr/>
        </p:nvSpPr>
        <p:spPr>
          <a:xfrm>
            <a:off x="8961120" y="6400800"/>
            <a:ext cx="1572768" cy="45720"/>
          </a:xfrm>
          <a:prstGeom prst="rect">
            <a:avLst/>
          </a:prstGeom>
          <a:solidFill>
            <a:srgbClr val="DCD8D1"/>
          </a:solidFill>
          <a:ln/>
        </p:spPr>
      </p:sp>
      <p:sp>
        <p:nvSpPr>
          <p:cNvPr id="40" name="Text 3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1" name="Text 3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Akurasinya turun. Skornya naik. Itu jawaban yang benar.</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Beralih dari argmax ke nilai harapan dengan ambang batas, pada model yang sama persis.</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377440"/>
          <a:ext cx="6858000" cy="914400"/>
        </p:xfrm>
        <a:graphic>
          <a:graphicData uri="http://schemas.openxmlformats.org/drawingml/2006/table">
            <a:tbl>
              <a:tblPr/>
              <a:tblGrid>
                <a:gridCol w="3017520"/>
                <a:gridCol w="1280160"/>
                <a:gridCol w="1280160"/>
                <a:gridCol w="1280160"/>
              </a:tblGrid>
              <a:tr h="420624">
                <a:tc>
                  <a:txBody>
                    <a:bodyPr/>
                    <a:lstStyle/>
                    <a:p>
                      <a:pPr algn="l" indent="0" marL="0">
                        <a:buNone/>
                      </a:pPr>
                      <a:r>
                        <a:rPr lang="en-US" sz="1200" b="1" dirty="0">
                          <a:solidFill>
                            <a:srgbClr val="16191D"/>
                          </a:solidFill>
                          <a:latin typeface="Calibri" pitchFamily="34" charset="0"/>
                          <a:ea typeface="Calibri" pitchFamily="34" charset="-122"/>
                          <a:cs typeface="Calibri" pitchFamily="34" charset="-120"/>
                        </a:rPr>
                        <a:t>Strategi keputusan</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QWK</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akurasi</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 prediksi kelas 3+4</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20624">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argmax probabilitas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0,42460</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b="1" dirty="0">
                          <a:solidFill>
                            <a:srgbClr val="3A4048"/>
                          </a:solidFill>
                          <a:latin typeface="Calibri" pitchFamily="34" charset="0"/>
                          <a:ea typeface="Calibri" pitchFamily="34" charset="-122"/>
                          <a:cs typeface="Calibri" pitchFamily="34" charset="-120"/>
                        </a:rPr>
                        <a:t>0,66943</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0,96%</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200" b="1" dirty="0">
                          <a:solidFill>
                            <a:srgbClr val="2F6B5F"/>
                          </a:solidFill>
                          <a:latin typeface="Calibri" pitchFamily="34" charset="0"/>
                          <a:ea typeface="Calibri" pitchFamily="34" charset="-122"/>
                          <a:cs typeface="Calibri" pitchFamily="34" charset="-120"/>
                        </a:rPr>
                        <a:t>nilai harapan + ambang batas</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2F6B5F"/>
                          </a:solidFill>
                          <a:latin typeface="Calibri" pitchFamily="34" charset="0"/>
                          <a:ea typeface="Calibri" pitchFamily="34" charset="-122"/>
                          <a:cs typeface="Calibri" pitchFamily="34" charset="-120"/>
                        </a:rPr>
                        <a:t>0,48517</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dirty="0">
                          <a:solidFill>
                            <a:srgbClr val="3A4048"/>
                          </a:solidFill>
                          <a:latin typeface="Calibri" pitchFamily="34" charset="0"/>
                          <a:ea typeface="Calibri" pitchFamily="34" charset="-122"/>
                          <a:cs typeface="Calibri" pitchFamily="34" charset="-120"/>
                        </a:rPr>
                        <a:t>0,63258</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2F6B5F"/>
                          </a:solidFill>
                          <a:latin typeface="Calibri" pitchFamily="34" charset="0"/>
                          <a:ea typeface="Calibri" pitchFamily="34" charset="-122"/>
                          <a:cs typeface="Calibri" pitchFamily="34" charset="-120"/>
                        </a:rPr>
                        <a:t>8,58%</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Text 2"/>
          <p:cNvSpPr/>
          <p:nvPr/>
        </p:nvSpPr>
        <p:spPr>
          <a:xfrm>
            <a:off x="640080" y="3858768"/>
            <a:ext cx="6858000" cy="274320"/>
          </a:xfrm>
          <a:prstGeom prst="rect">
            <a:avLst/>
          </a:prstGeom>
          <a:noFill/>
          <a:ln/>
        </p:spPr>
        <p:txBody>
          <a:bodyPr wrap="square" lIns="0" tIns="0" rIns="0" bIns="0" rtlCol="0" anchor="ctr"/>
          <a:lstStyle/>
          <a:p>
            <a:pPr indent="0" marL="0">
              <a:buNone/>
            </a:pPr>
            <a:r>
              <a:rPr lang="en-US" sz="950" b="1" spc="120" kern="0" dirty="0">
                <a:solidFill>
                  <a:srgbClr val="6E747C"/>
                </a:solidFill>
                <a:latin typeface="Calibri" pitchFamily="34" charset="0"/>
                <a:ea typeface="Calibri" pitchFamily="34" charset="-122"/>
                <a:cs typeface="Calibri" pitchFamily="34" charset="-120"/>
              </a:rPr>
              <a:t>PORSI LABEL KELAS 3 DAN 4 YANG DIHASILKAN</a:t>
            </a:r>
            <a:endParaRPr lang="en-US" sz="950" dirty="0"/>
          </a:p>
        </p:txBody>
      </p:sp>
      <p:sp>
        <p:nvSpPr>
          <p:cNvPr id="6" name="Text 3"/>
          <p:cNvSpPr/>
          <p:nvPr/>
        </p:nvSpPr>
        <p:spPr>
          <a:xfrm>
            <a:off x="640080" y="4187952"/>
            <a:ext cx="2103120" cy="365760"/>
          </a:xfrm>
          <a:prstGeom prst="rect">
            <a:avLst/>
          </a:prstGeom>
          <a:noFill/>
          <a:ln/>
        </p:spPr>
        <p:txBody>
          <a:bodyPr wrap="square" lIns="0" tIns="0" rIns="0" bIns="0" rtlCol="0" anchor="ctr"/>
          <a:lstStyle/>
          <a:p>
            <a:pPr algn="r" indent="0" marL="0">
              <a:buNone/>
            </a:pPr>
            <a:r>
              <a:rPr lang="en-US" sz="1100" dirty="0">
                <a:solidFill>
                  <a:srgbClr val="16191D"/>
                </a:solidFill>
                <a:latin typeface="Calibri" pitchFamily="34" charset="0"/>
                <a:ea typeface="Calibri" pitchFamily="34" charset="-122"/>
                <a:cs typeface="Calibri" pitchFamily="34" charset="-120"/>
              </a:rPr>
              <a:t>aktual di data latih</a:t>
            </a:r>
            <a:endParaRPr lang="en-US" sz="1100" dirty="0"/>
          </a:p>
        </p:txBody>
      </p:sp>
      <p:sp>
        <p:nvSpPr>
          <p:cNvPr id="7" name="Shape 4"/>
          <p:cNvSpPr/>
          <p:nvPr/>
        </p:nvSpPr>
        <p:spPr>
          <a:xfrm>
            <a:off x="2834640" y="4251960"/>
            <a:ext cx="1587398" cy="237744"/>
          </a:xfrm>
          <a:prstGeom prst="rect">
            <a:avLst/>
          </a:prstGeom>
          <a:solidFill>
            <a:srgbClr val="D8A25E"/>
          </a:solidFill>
          <a:ln/>
        </p:spPr>
      </p:sp>
      <p:sp>
        <p:nvSpPr>
          <p:cNvPr id="8" name="Shape 5"/>
          <p:cNvSpPr/>
          <p:nvPr/>
        </p:nvSpPr>
        <p:spPr>
          <a:xfrm>
            <a:off x="4422038" y="4251960"/>
            <a:ext cx="396850" cy="237744"/>
          </a:xfrm>
          <a:prstGeom prst="rect">
            <a:avLst/>
          </a:prstGeom>
          <a:solidFill>
            <a:srgbClr val="A8442A"/>
          </a:solidFill>
          <a:ln/>
        </p:spPr>
      </p:sp>
      <p:sp>
        <p:nvSpPr>
          <p:cNvPr id="9" name="Text 6"/>
          <p:cNvSpPr/>
          <p:nvPr/>
        </p:nvSpPr>
        <p:spPr>
          <a:xfrm>
            <a:off x="4910328" y="4187952"/>
            <a:ext cx="914400" cy="365760"/>
          </a:xfrm>
          <a:prstGeom prst="rect">
            <a:avLst/>
          </a:prstGeom>
          <a:noFill/>
          <a:ln/>
        </p:spPr>
        <p:txBody>
          <a:bodyPr wrap="square" lIns="0" tIns="0" rIns="0" bIns="0" rtlCol="0" anchor="ctr"/>
          <a:lstStyle/>
          <a:p>
            <a:pPr indent="0" marL="0">
              <a:buNone/>
            </a:pPr>
            <a:r>
              <a:rPr lang="en-US" sz="1100" b="1" dirty="0">
                <a:solidFill>
                  <a:srgbClr val="16191D"/>
                </a:solidFill>
                <a:latin typeface="Calibri" pitchFamily="34" charset="0"/>
                <a:ea typeface="Calibri" pitchFamily="34" charset="-122"/>
                <a:cs typeface="Calibri" pitchFamily="34" charset="-120"/>
              </a:rPr>
              <a:t>4,65%</a:t>
            </a:r>
            <a:endParaRPr lang="en-US" sz="1100" dirty="0"/>
          </a:p>
        </p:txBody>
      </p:sp>
      <p:sp>
        <p:nvSpPr>
          <p:cNvPr id="10" name="Text 7"/>
          <p:cNvSpPr/>
          <p:nvPr/>
        </p:nvSpPr>
        <p:spPr>
          <a:xfrm>
            <a:off x="640080" y="4718304"/>
            <a:ext cx="2103120" cy="365760"/>
          </a:xfrm>
          <a:prstGeom prst="rect">
            <a:avLst/>
          </a:prstGeom>
          <a:noFill/>
          <a:ln/>
        </p:spPr>
        <p:txBody>
          <a:bodyPr wrap="square" lIns="0" tIns="0" rIns="0" bIns="0" rtlCol="0" anchor="ctr"/>
          <a:lstStyle/>
          <a:p>
            <a:pPr algn="r" indent="0" marL="0">
              <a:buNone/>
            </a:pPr>
            <a:r>
              <a:rPr lang="en-US" sz="1100" dirty="0">
                <a:solidFill>
                  <a:srgbClr val="16191D"/>
                </a:solidFill>
                <a:latin typeface="Calibri" pitchFamily="34" charset="0"/>
                <a:ea typeface="Calibri" pitchFamily="34" charset="-122"/>
                <a:cs typeface="Calibri" pitchFamily="34" charset="-120"/>
              </a:rPr>
              <a:t>argmax</a:t>
            </a:r>
            <a:endParaRPr lang="en-US" sz="1100" dirty="0"/>
          </a:p>
        </p:txBody>
      </p:sp>
      <p:sp>
        <p:nvSpPr>
          <p:cNvPr id="11" name="Shape 8"/>
          <p:cNvSpPr/>
          <p:nvPr/>
        </p:nvSpPr>
        <p:spPr>
          <a:xfrm>
            <a:off x="2834640" y="4782312"/>
            <a:ext cx="401117" cy="237744"/>
          </a:xfrm>
          <a:prstGeom prst="rect">
            <a:avLst/>
          </a:prstGeom>
          <a:solidFill>
            <a:srgbClr val="D8A25E"/>
          </a:solidFill>
          <a:ln/>
        </p:spPr>
      </p:sp>
      <p:sp>
        <p:nvSpPr>
          <p:cNvPr id="12" name="Shape 9"/>
          <p:cNvSpPr/>
          <p:nvPr/>
        </p:nvSpPr>
        <p:spPr>
          <a:xfrm>
            <a:off x="3235757" y="4782312"/>
            <a:ext cx="27432" cy="237744"/>
          </a:xfrm>
          <a:prstGeom prst="rect">
            <a:avLst/>
          </a:prstGeom>
          <a:solidFill>
            <a:srgbClr val="A8442A"/>
          </a:solidFill>
          <a:ln/>
        </p:spPr>
      </p:sp>
      <p:sp>
        <p:nvSpPr>
          <p:cNvPr id="13" name="Text 10"/>
          <p:cNvSpPr/>
          <p:nvPr/>
        </p:nvSpPr>
        <p:spPr>
          <a:xfrm>
            <a:off x="3335731" y="4718304"/>
            <a:ext cx="914400" cy="365760"/>
          </a:xfrm>
          <a:prstGeom prst="rect">
            <a:avLst/>
          </a:prstGeom>
          <a:noFill/>
          <a:ln/>
        </p:spPr>
        <p:txBody>
          <a:bodyPr wrap="square" lIns="0" tIns="0" rIns="0" bIns="0" rtlCol="0" anchor="ctr"/>
          <a:lstStyle/>
          <a:p>
            <a:pPr indent="0" marL="0">
              <a:buNone/>
            </a:pPr>
            <a:r>
              <a:rPr lang="en-US" sz="1100" b="1" dirty="0">
                <a:solidFill>
                  <a:srgbClr val="16191D"/>
                </a:solidFill>
                <a:latin typeface="Calibri" pitchFamily="34" charset="0"/>
                <a:ea typeface="Calibri" pitchFamily="34" charset="-122"/>
                <a:cs typeface="Calibri" pitchFamily="34" charset="-120"/>
              </a:rPr>
              <a:t>0,96%</a:t>
            </a:r>
            <a:endParaRPr lang="en-US" sz="1100" dirty="0"/>
          </a:p>
        </p:txBody>
      </p:sp>
      <p:sp>
        <p:nvSpPr>
          <p:cNvPr id="14" name="Text 11"/>
          <p:cNvSpPr/>
          <p:nvPr/>
        </p:nvSpPr>
        <p:spPr>
          <a:xfrm>
            <a:off x="640080" y="5248656"/>
            <a:ext cx="2103120" cy="365760"/>
          </a:xfrm>
          <a:prstGeom prst="rect">
            <a:avLst/>
          </a:prstGeom>
          <a:noFill/>
          <a:ln/>
        </p:spPr>
        <p:txBody>
          <a:bodyPr wrap="square" lIns="0" tIns="0" rIns="0" bIns="0" rtlCol="0" anchor="ctr"/>
          <a:lstStyle/>
          <a:p>
            <a:pPr algn="r" indent="0" marL="0">
              <a:buNone/>
            </a:pPr>
            <a:r>
              <a:rPr lang="en-US" sz="1100" b="1" dirty="0">
                <a:solidFill>
                  <a:srgbClr val="16191D"/>
                </a:solidFill>
                <a:latin typeface="Calibri" pitchFamily="34" charset="0"/>
                <a:ea typeface="Calibri" pitchFamily="34" charset="-122"/>
                <a:cs typeface="Calibri" pitchFamily="34" charset="-120"/>
              </a:rPr>
              <a:t>nilai harapan + ambang</a:t>
            </a:r>
            <a:endParaRPr lang="en-US" sz="1100" dirty="0"/>
          </a:p>
        </p:txBody>
      </p:sp>
      <p:sp>
        <p:nvSpPr>
          <p:cNvPr id="15" name="Shape 12"/>
          <p:cNvSpPr/>
          <p:nvPr/>
        </p:nvSpPr>
        <p:spPr>
          <a:xfrm>
            <a:off x="2834640" y="5312664"/>
            <a:ext cx="2987040" cy="237744"/>
          </a:xfrm>
          <a:prstGeom prst="rect">
            <a:avLst/>
          </a:prstGeom>
          <a:solidFill>
            <a:srgbClr val="D8A25E"/>
          </a:solidFill>
          <a:ln/>
        </p:spPr>
      </p:sp>
      <p:sp>
        <p:nvSpPr>
          <p:cNvPr id="16" name="Shape 13"/>
          <p:cNvSpPr/>
          <p:nvPr/>
        </p:nvSpPr>
        <p:spPr>
          <a:xfrm>
            <a:off x="5821680" y="5312664"/>
            <a:ext cx="674218" cy="237744"/>
          </a:xfrm>
          <a:prstGeom prst="rect">
            <a:avLst/>
          </a:prstGeom>
          <a:solidFill>
            <a:srgbClr val="A8442A"/>
          </a:solidFill>
          <a:ln/>
        </p:spPr>
      </p:sp>
      <p:sp>
        <p:nvSpPr>
          <p:cNvPr id="17" name="Text 14"/>
          <p:cNvSpPr/>
          <p:nvPr/>
        </p:nvSpPr>
        <p:spPr>
          <a:xfrm>
            <a:off x="6587338" y="5248656"/>
            <a:ext cx="914400" cy="365760"/>
          </a:xfrm>
          <a:prstGeom prst="rect">
            <a:avLst/>
          </a:prstGeom>
          <a:noFill/>
          <a:ln/>
        </p:spPr>
        <p:txBody>
          <a:bodyPr wrap="square" lIns="0" tIns="0" rIns="0" bIns="0" rtlCol="0" anchor="ctr"/>
          <a:lstStyle/>
          <a:p>
            <a:pPr indent="0" marL="0">
              <a:buNone/>
            </a:pPr>
            <a:r>
              <a:rPr lang="en-US" sz="1100" b="1" dirty="0">
                <a:solidFill>
                  <a:srgbClr val="16191D"/>
                </a:solidFill>
                <a:latin typeface="Calibri" pitchFamily="34" charset="0"/>
                <a:ea typeface="Calibri" pitchFamily="34" charset="-122"/>
                <a:cs typeface="Calibri" pitchFamily="34" charset="-120"/>
              </a:rPr>
              <a:t>8,58%</a:t>
            </a:r>
            <a:endParaRPr lang="en-US" sz="1100" dirty="0"/>
          </a:p>
        </p:txBody>
      </p:sp>
      <p:sp>
        <p:nvSpPr>
          <p:cNvPr id="18" name="Text 15"/>
          <p:cNvSpPr/>
          <p:nvPr/>
        </p:nvSpPr>
        <p:spPr>
          <a:xfrm>
            <a:off x="640080" y="5815584"/>
            <a:ext cx="685800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Oranye kelas 3, merah kelas 4. argmax memprediksi kelas 4 hanya 0,02% dari waktu.</a:t>
            </a:r>
            <a:endParaRPr lang="en-US" sz="1050" dirty="0"/>
          </a:p>
        </p:txBody>
      </p:sp>
      <p:sp>
        <p:nvSpPr>
          <p:cNvPr id="19" name="Text 16"/>
          <p:cNvSpPr/>
          <p:nvPr/>
        </p:nvSpPr>
        <p:spPr>
          <a:xfrm>
            <a:off x="8001000" y="2377440"/>
            <a:ext cx="3550615" cy="585216"/>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+0,06057</a:t>
            </a:r>
            <a:endParaRPr lang="en-US" sz="3200" dirty="0"/>
          </a:p>
        </p:txBody>
      </p:sp>
      <p:sp>
        <p:nvSpPr>
          <p:cNvPr id="20" name="Text 17"/>
          <p:cNvSpPr/>
          <p:nvPr/>
        </p:nvSpPr>
        <p:spPr>
          <a:xfrm>
            <a:off x="8001000" y="2999232"/>
            <a:ext cx="355061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Kenaikan QWK dari satu perubahan aturan keputusan</a:t>
            </a:r>
            <a:endParaRPr lang="en-US" sz="1150" dirty="0"/>
          </a:p>
        </p:txBody>
      </p:sp>
      <p:sp>
        <p:nvSpPr>
          <p:cNvPr id="21" name="Shape 18"/>
          <p:cNvSpPr/>
          <p:nvPr/>
        </p:nvSpPr>
        <p:spPr>
          <a:xfrm>
            <a:off x="8001000" y="3611880"/>
            <a:ext cx="3550615" cy="2331720"/>
          </a:xfrm>
          <a:prstGeom prst="roundRect">
            <a:avLst>
              <a:gd name="adj" fmla="val 2353"/>
            </a:avLst>
          </a:prstGeom>
          <a:solidFill>
            <a:srgbClr val="16191D"/>
          </a:solidFill>
          <a:ln w="9525">
            <a:solidFill>
              <a:srgbClr val="16191D"/>
            </a:solidFill>
            <a:prstDash val="solid"/>
          </a:ln>
        </p:spPr>
      </p:sp>
      <p:sp>
        <p:nvSpPr>
          <p:cNvPr id="22" name="Text 19"/>
          <p:cNvSpPr/>
          <p:nvPr/>
        </p:nvSpPr>
        <p:spPr>
          <a:xfrm>
            <a:off x="8275320" y="3803904"/>
            <a:ext cx="3001975" cy="2011680"/>
          </a:xfrm>
          <a:prstGeom prst="rect">
            <a:avLst/>
          </a:prstGeom>
          <a:noFill/>
          <a:ln/>
        </p:spPr>
        <p:txBody>
          <a:bodyPr wrap="square" lIns="0" tIns="0" rIns="0" bIns="0" rtlCol="0" anchor="t"/>
          <a:lstStyle/>
          <a:p>
            <a:pPr indent="0" marL="0">
              <a:lnSpc>
                <a:spcPts val="1600"/>
              </a:lnSpc>
              <a:buNone/>
            </a:pPr>
            <a:r>
              <a:rPr lang="en-US" sz="1150" dirty="0">
                <a:solidFill>
                  <a:srgbClr val="FFFFFF"/>
                </a:solidFill>
                <a:latin typeface="Calibri" pitchFamily="34" charset="0"/>
                <a:ea typeface="Calibri" pitchFamily="34" charset="-122"/>
                <a:cs typeface="Calibri" pitchFamily="34" charset="-120"/>
              </a:rPr>
              <a:t>argmax nyaris tidak pernah memprediksi kelas 3 dan 4, karena probabilitas posteriornya jarang menjadi yang tertinggi. Akibatnya setiap responden yang sangat tidak puas menjadi galat berjarak jauh dengan penalti 9 kali.</a:t>
            </a:r>
            <a:endParaRPr lang="en-US" sz="1150" dirty="0"/>
          </a:p>
          <a:p>
            <a:pPr indent="0" marL="0">
              <a:lnSpc>
                <a:spcPts val="1600"/>
              </a:lnSpc>
              <a:buNone/>
            </a:pPr>
            <a:endParaRPr lang="en-US" sz="1150" dirty="0"/>
          </a:p>
          <a:p>
            <a:pPr indent="0" marL="0">
              <a:lnSpc>
                <a:spcPts val="1600"/>
              </a:lnSpc>
              <a:buNone/>
            </a:pPr>
            <a:r>
              <a:rPr lang="en-US" sz="1150" dirty="0">
                <a:solidFill>
                  <a:srgbClr val="FFFFFF"/>
                </a:solidFill>
                <a:latin typeface="Calibri" pitchFamily="34" charset="0"/>
                <a:ea typeface="Calibri" pitchFamily="34" charset="-122"/>
                <a:cs typeface="Calibri" pitchFamily="34" charset="-120"/>
              </a:rPr>
              <a:t>Ambang batas memaksa model mengambil risiko terkalibrasi.</a:t>
            </a:r>
            <a:endParaRPr lang="en-US" sz="1150" dirty="0"/>
          </a:p>
        </p:txBody>
      </p:sp>
      <p:sp>
        <p:nvSpPr>
          <p:cNvPr id="24" name="Shape 20"/>
          <p:cNvSpPr/>
          <p:nvPr/>
        </p:nvSpPr>
        <p:spPr>
          <a:xfrm>
            <a:off x="640080" y="6400800"/>
            <a:ext cx="1572768" cy="45720"/>
          </a:xfrm>
          <a:prstGeom prst="rect">
            <a:avLst/>
          </a:prstGeom>
          <a:solidFill>
            <a:srgbClr val="DCD8D1"/>
          </a:solidFill>
          <a:ln/>
        </p:spPr>
      </p:sp>
      <p:sp>
        <p:nvSpPr>
          <p:cNvPr id="25"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6" name="Shape 22"/>
          <p:cNvSpPr/>
          <p:nvPr/>
        </p:nvSpPr>
        <p:spPr>
          <a:xfrm>
            <a:off x="2304288" y="6400800"/>
            <a:ext cx="1572768" cy="45720"/>
          </a:xfrm>
          <a:prstGeom prst="rect">
            <a:avLst/>
          </a:prstGeom>
          <a:solidFill>
            <a:srgbClr val="DCD8D1"/>
          </a:solidFill>
          <a:ln/>
        </p:spPr>
      </p:sp>
      <p:sp>
        <p:nvSpPr>
          <p:cNvPr id="27"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8" name="Shape 24"/>
          <p:cNvSpPr/>
          <p:nvPr/>
        </p:nvSpPr>
        <p:spPr>
          <a:xfrm>
            <a:off x="3968496" y="6400800"/>
            <a:ext cx="1572768" cy="45720"/>
          </a:xfrm>
          <a:prstGeom prst="rect">
            <a:avLst/>
          </a:prstGeom>
          <a:solidFill>
            <a:srgbClr val="A8442A"/>
          </a:solidFill>
          <a:ln/>
        </p:spPr>
      </p:sp>
      <p:sp>
        <p:nvSpPr>
          <p:cNvPr id="29"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30" name="Shape 26"/>
          <p:cNvSpPr/>
          <p:nvPr/>
        </p:nvSpPr>
        <p:spPr>
          <a:xfrm>
            <a:off x="5632704" y="6400800"/>
            <a:ext cx="1572768" cy="45720"/>
          </a:xfrm>
          <a:prstGeom prst="rect">
            <a:avLst/>
          </a:prstGeom>
          <a:solidFill>
            <a:srgbClr val="DCD8D1"/>
          </a:solidFill>
          <a:ln/>
        </p:spPr>
      </p:sp>
      <p:sp>
        <p:nvSpPr>
          <p:cNvPr id="31"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2" name="Shape 28"/>
          <p:cNvSpPr/>
          <p:nvPr/>
        </p:nvSpPr>
        <p:spPr>
          <a:xfrm>
            <a:off x="7296912" y="6400800"/>
            <a:ext cx="1572768" cy="45720"/>
          </a:xfrm>
          <a:prstGeom prst="rect">
            <a:avLst/>
          </a:prstGeom>
          <a:solidFill>
            <a:srgbClr val="DCD8D1"/>
          </a:solidFill>
          <a:ln/>
        </p:spPr>
      </p:sp>
      <p:sp>
        <p:nvSpPr>
          <p:cNvPr id="33"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4" name="Shape 30"/>
          <p:cNvSpPr/>
          <p:nvPr/>
        </p:nvSpPr>
        <p:spPr>
          <a:xfrm>
            <a:off x="8961120" y="6400800"/>
            <a:ext cx="1572768" cy="45720"/>
          </a:xfrm>
          <a:prstGeom prst="rect">
            <a:avLst/>
          </a:prstGeom>
          <a:solidFill>
            <a:srgbClr val="DCD8D1"/>
          </a:solidFill>
          <a:ln/>
        </p:spPr>
      </p:sp>
      <p:sp>
        <p:nvSpPr>
          <p:cNvPr id="35"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6"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89,9% perbaikan kami datang dari aturan keputusan.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Enam baseline dijalankan penuh, bukan diestimasi, agar tiap komponen bisa dipisahkan.</a:t>
            </a:r>
            <a:endParaRPr lang="en-US" sz="1400" dirty="0"/>
          </a:p>
        </p:txBody>
      </p:sp>
      <p:sp>
        <p:nvSpPr>
          <p:cNvPr id="4" name="Text 2"/>
          <p:cNvSpPr/>
          <p:nvPr/>
        </p:nvSpPr>
        <p:spPr>
          <a:xfrm>
            <a:off x="640080" y="2286000"/>
            <a:ext cx="3108960" cy="384048"/>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1.  Kelas mayoritas</a:t>
            </a:r>
            <a:endParaRPr lang="en-US" sz="1150" dirty="0"/>
          </a:p>
        </p:txBody>
      </p:sp>
      <p:sp>
        <p:nvSpPr>
          <p:cNvPr id="5" name="Shape 3"/>
          <p:cNvSpPr/>
          <p:nvPr/>
        </p:nvSpPr>
        <p:spPr>
          <a:xfrm>
            <a:off x="3858768" y="2350008"/>
            <a:ext cx="6668719" cy="256032"/>
          </a:xfrm>
          <a:prstGeom prst="rect">
            <a:avLst/>
          </a:prstGeom>
          <a:solidFill>
            <a:srgbClr val="F4F1EC"/>
          </a:solidFill>
          <a:ln/>
        </p:spPr>
      </p:sp>
      <p:sp>
        <p:nvSpPr>
          <p:cNvPr id="6" name="Shape 4"/>
          <p:cNvSpPr/>
          <p:nvPr/>
        </p:nvSpPr>
        <p:spPr>
          <a:xfrm>
            <a:off x="3858768" y="2350008"/>
            <a:ext cx="18288" cy="256032"/>
          </a:xfrm>
          <a:prstGeom prst="rect">
            <a:avLst/>
          </a:prstGeom>
          <a:solidFill>
            <a:srgbClr val="F4F1EC"/>
          </a:solidFill>
          <a:ln/>
        </p:spPr>
      </p:sp>
      <p:sp>
        <p:nvSpPr>
          <p:cNvPr id="7" name="Text 5"/>
          <p:cNvSpPr/>
          <p:nvPr/>
        </p:nvSpPr>
        <p:spPr>
          <a:xfrm>
            <a:off x="10618927" y="2286000"/>
            <a:ext cx="914400" cy="384048"/>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0,00000</a:t>
            </a:r>
            <a:endParaRPr lang="en-US" sz="1150" dirty="0"/>
          </a:p>
        </p:txBody>
      </p:sp>
      <p:sp>
        <p:nvSpPr>
          <p:cNvPr id="8" name="Text 6"/>
          <p:cNvSpPr/>
          <p:nvPr/>
        </p:nvSpPr>
        <p:spPr>
          <a:xfrm>
            <a:off x="640080" y="2761488"/>
            <a:ext cx="3108960" cy="384048"/>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2.  Acak ikut proporsi</a:t>
            </a:r>
            <a:endParaRPr lang="en-US" sz="1150" dirty="0"/>
          </a:p>
        </p:txBody>
      </p:sp>
      <p:sp>
        <p:nvSpPr>
          <p:cNvPr id="9" name="Shape 7"/>
          <p:cNvSpPr/>
          <p:nvPr/>
        </p:nvSpPr>
        <p:spPr>
          <a:xfrm>
            <a:off x="3858768" y="2825496"/>
            <a:ext cx="6668719" cy="256032"/>
          </a:xfrm>
          <a:prstGeom prst="rect">
            <a:avLst/>
          </a:prstGeom>
          <a:solidFill>
            <a:srgbClr val="F4F1EC"/>
          </a:solidFill>
          <a:ln/>
        </p:spPr>
      </p:sp>
      <p:sp>
        <p:nvSpPr>
          <p:cNvPr id="10" name="Shape 8"/>
          <p:cNvSpPr/>
          <p:nvPr/>
        </p:nvSpPr>
        <p:spPr>
          <a:xfrm>
            <a:off x="3858768" y="2825496"/>
            <a:ext cx="49882" cy="256032"/>
          </a:xfrm>
          <a:prstGeom prst="rect">
            <a:avLst/>
          </a:prstGeom>
          <a:solidFill>
            <a:srgbClr val="9AA0A7"/>
          </a:solidFill>
          <a:ln/>
        </p:spPr>
      </p:sp>
      <p:sp>
        <p:nvSpPr>
          <p:cNvPr id="11" name="Text 9"/>
          <p:cNvSpPr/>
          <p:nvPr/>
        </p:nvSpPr>
        <p:spPr>
          <a:xfrm>
            <a:off x="10618927" y="2761488"/>
            <a:ext cx="914400" cy="384048"/>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0,00374</a:t>
            </a:r>
            <a:endParaRPr lang="en-US" sz="1150" dirty="0"/>
          </a:p>
        </p:txBody>
      </p:sp>
      <p:sp>
        <p:nvSpPr>
          <p:cNvPr id="12" name="Text 10"/>
          <p:cNvSpPr/>
          <p:nvPr/>
        </p:nvSpPr>
        <p:spPr>
          <a:xfrm>
            <a:off x="640080" y="3236976"/>
            <a:ext cx="3108960" cy="384048"/>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3.  Regresi logistik + ambang</a:t>
            </a:r>
            <a:endParaRPr lang="en-US" sz="1150" dirty="0"/>
          </a:p>
        </p:txBody>
      </p:sp>
      <p:sp>
        <p:nvSpPr>
          <p:cNvPr id="13" name="Shape 11"/>
          <p:cNvSpPr/>
          <p:nvPr/>
        </p:nvSpPr>
        <p:spPr>
          <a:xfrm>
            <a:off x="3858768" y="3300984"/>
            <a:ext cx="6668719" cy="256032"/>
          </a:xfrm>
          <a:prstGeom prst="rect">
            <a:avLst/>
          </a:prstGeom>
          <a:solidFill>
            <a:srgbClr val="F4F1EC"/>
          </a:solidFill>
          <a:ln/>
        </p:spPr>
      </p:sp>
      <p:sp>
        <p:nvSpPr>
          <p:cNvPr id="14" name="Shape 12"/>
          <p:cNvSpPr/>
          <p:nvPr/>
        </p:nvSpPr>
        <p:spPr>
          <a:xfrm>
            <a:off x="3858768" y="3300984"/>
            <a:ext cx="5985842" cy="256032"/>
          </a:xfrm>
          <a:prstGeom prst="rect">
            <a:avLst/>
          </a:prstGeom>
          <a:solidFill>
            <a:srgbClr val="3A4048"/>
          </a:solidFill>
          <a:ln/>
        </p:spPr>
      </p:sp>
      <p:sp>
        <p:nvSpPr>
          <p:cNvPr id="15" name="Text 13"/>
          <p:cNvSpPr/>
          <p:nvPr/>
        </p:nvSpPr>
        <p:spPr>
          <a:xfrm>
            <a:off x="10618927" y="3236976"/>
            <a:ext cx="914400" cy="384048"/>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0,44880</a:t>
            </a:r>
            <a:endParaRPr lang="en-US" sz="1150" dirty="0"/>
          </a:p>
        </p:txBody>
      </p:sp>
      <p:sp>
        <p:nvSpPr>
          <p:cNvPr id="16" name="Text 14"/>
          <p:cNvSpPr/>
          <p:nvPr/>
        </p:nvSpPr>
        <p:spPr>
          <a:xfrm>
            <a:off x="640080" y="3712464"/>
            <a:ext cx="3108960" cy="384048"/>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4.  LightGBM + argmax</a:t>
            </a:r>
            <a:endParaRPr lang="en-US" sz="1150" dirty="0"/>
          </a:p>
        </p:txBody>
      </p:sp>
      <p:sp>
        <p:nvSpPr>
          <p:cNvPr id="17" name="Shape 15"/>
          <p:cNvSpPr/>
          <p:nvPr/>
        </p:nvSpPr>
        <p:spPr>
          <a:xfrm>
            <a:off x="3858768" y="3776472"/>
            <a:ext cx="6668719" cy="256032"/>
          </a:xfrm>
          <a:prstGeom prst="rect">
            <a:avLst/>
          </a:prstGeom>
          <a:solidFill>
            <a:srgbClr val="F4F1EC"/>
          </a:solidFill>
          <a:ln/>
        </p:spPr>
      </p:sp>
      <p:sp>
        <p:nvSpPr>
          <p:cNvPr id="18" name="Shape 16"/>
          <p:cNvSpPr/>
          <p:nvPr/>
        </p:nvSpPr>
        <p:spPr>
          <a:xfrm>
            <a:off x="3858768" y="3776472"/>
            <a:ext cx="5528101" cy="256032"/>
          </a:xfrm>
          <a:prstGeom prst="rect">
            <a:avLst/>
          </a:prstGeom>
          <a:solidFill>
            <a:srgbClr val="D8A25E"/>
          </a:solidFill>
          <a:ln/>
        </p:spPr>
      </p:sp>
      <p:sp>
        <p:nvSpPr>
          <p:cNvPr id="19" name="Text 17"/>
          <p:cNvSpPr/>
          <p:nvPr/>
        </p:nvSpPr>
        <p:spPr>
          <a:xfrm>
            <a:off x="10618927" y="3712464"/>
            <a:ext cx="914400" cy="384048"/>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0,41448</a:t>
            </a:r>
            <a:endParaRPr lang="en-US" sz="1150" dirty="0"/>
          </a:p>
        </p:txBody>
      </p:sp>
      <p:sp>
        <p:nvSpPr>
          <p:cNvPr id="20" name="Text 18"/>
          <p:cNvSpPr/>
          <p:nvPr/>
        </p:nvSpPr>
        <p:spPr>
          <a:xfrm>
            <a:off x="640080" y="4187952"/>
            <a:ext cx="3108960" cy="384048"/>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5.  LightGBM + ambang</a:t>
            </a:r>
            <a:endParaRPr lang="en-US" sz="1150" dirty="0"/>
          </a:p>
        </p:txBody>
      </p:sp>
      <p:sp>
        <p:nvSpPr>
          <p:cNvPr id="21" name="Shape 19"/>
          <p:cNvSpPr/>
          <p:nvPr/>
        </p:nvSpPr>
        <p:spPr>
          <a:xfrm>
            <a:off x="3858768" y="4251960"/>
            <a:ext cx="6668719" cy="256032"/>
          </a:xfrm>
          <a:prstGeom prst="rect">
            <a:avLst/>
          </a:prstGeom>
          <a:solidFill>
            <a:srgbClr val="F4F1EC"/>
          </a:solidFill>
          <a:ln/>
        </p:spPr>
      </p:sp>
      <p:sp>
        <p:nvSpPr>
          <p:cNvPr id="22" name="Shape 20"/>
          <p:cNvSpPr/>
          <p:nvPr/>
        </p:nvSpPr>
        <p:spPr>
          <a:xfrm>
            <a:off x="3858768" y="4251960"/>
            <a:ext cx="6364225" cy="256032"/>
          </a:xfrm>
          <a:prstGeom prst="rect">
            <a:avLst/>
          </a:prstGeom>
          <a:solidFill>
            <a:srgbClr val="2F6B5F"/>
          </a:solidFill>
          <a:ln/>
        </p:spPr>
      </p:sp>
      <p:sp>
        <p:nvSpPr>
          <p:cNvPr id="23" name="Text 21"/>
          <p:cNvSpPr/>
          <p:nvPr/>
        </p:nvSpPr>
        <p:spPr>
          <a:xfrm>
            <a:off x="10618927" y="4187952"/>
            <a:ext cx="914400" cy="384048"/>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0,47717</a:t>
            </a:r>
            <a:endParaRPr lang="en-US" sz="1150" dirty="0"/>
          </a:p>
        </p:txBody>
      </p:sp>
      <p:sp>
        <p:nvSpPr>
          <p:cNvPr id="24" name="Text 22"/>
          <p:cNvSpPr/>
          <p:nvPr/>
        </p:nvSpPr>
        <p:spPr>
          <a:xfrm>
            <a:off x="640080" y="4663440"/>
            <a:ext cx="3108960" cy="384048"/>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6.  PIPELINE FINAL</a:t>
            </a:r>
            <a:endParaRPr lang="en-US" sz="1150" dirty="0"/>
          </a:p>
        </p:txBody>
      </p:sp>
      <p:sp>
        <p:nvSpPr>
          <p:cNvPr id="25" name="Shape 23"/>
          <p:cNvSpPr/>
          <p:nvPr/>
        </p:nvSpPr>
        <p:spPr>
          <a:xfrm>
            <a:off x="3858768" y="4727448"/>
            <a:ext cx="6668719" cy="256032"/>
          </a:xfrm>
          <a:prstGeom prst="rect">
            <a:avLst/>
          </a:prstGeom>
          <a:solidFill>
            <a:srgbClr val="F4F1EC"/>
          </a:solidFill>
          <a:ln/>
        </p:spPr>
      </p:sp>
      <p:sp>
        <p:nvSpPr>
          <p:cNvPr id="26" name="Shape 24"/>
          <p:cNvSpPr/>
          <p:nvPr/>
        </p:nvSpPr>
        <p:spPr>
          <a:xfrm>
            <a:off x="3858768" y="4727448"/>
            <a:ext cx="6458655" cy="256032"/>
          </a:xfrm>
          <a:prstGeom prst="rect">
            <a:avLst/>
          </a:prstGeom>
          <a:solidFill>
            <a:srgbClr val="A8442A"/>
          </a:solidFill>
          <a:ln/>
        </p:spPr>
      </p:sp>
      <p:sp>
        <p:nvSpPr>
          <p:cNvPr id="27" name="Text 25"/>
          <p:cNvSpPr/>
          <p:nvPr/>
        </p:nvSpPr>
        <p:spPr>
          <a:xfrm>
            <a:off x="10618927" y="4663440"/>
            <a:ext cx="914400" cy="384048"/>
          </a:xfrm>
          <a:prstGeom prst="rect">
            <a:avLst/>
          </a:prstGeom>
          <a:noFill/>
          <a:ln/>
        </p:spPr>
        <p:txBody>
          <a:bodyPr wrap="square" lIns="0" tIns="0" rIns="0" bIns="0" rtlCol="0" anchor="ctr"/>
          <a:lstStyle/>
          <a:p>
            <a:pPr algn="l" indent="0" marL="0">
              <a:buNone/>
            </a:pPr>
            <a:r>
              <a:rPr lang="en-US" sz="1150" b="1" dirty="0">
                <a:solidFill>
                  <a:srgbClr val="A8442A"/>
                </a:solidFill>
                <a:latin typeface="Calibri" pitchFamily="34" charset="0"/>
                <a:ea typeface="Calibri" pitchFamily="34" charset="-122"/>
                <a:cs typeface="Calibri" pitchFamily="34" charset="-120"/>
              </a:rPr>
              <a:t>0,48425</a:t>
            </a:r>
            <a:endParaRPr lang="en-US" sz="1150" dirty="0"/>
          </a:p>
        </p:txBody>
      </p:sp>
      <p:sp>
        <p:nvSpPr>
          <p:cNvPr id="28" name="Shape 26"/>
          <p:cNvSpPr/>
          <p:nvPr/>
        </p:nvSpPr>
        <p:spPr>
          <a:xfrm>
            <a:off x="640080" y="5504688"/>
            <a:ext cx="5257800" cy="658368"/>
          </a:xfrm>
          <a:prstGeom prst="roundRect">
            <a:avLst>
              <a:gd name="adj" fmla="val 8333"/>
            </a:avLst>
          </a:prstGeom>
          <a:solidFill>
            <a:srgbClr val="F4F1EC"/>
          </a:solidFill>
          <a:ln w="9525">
            <a:solidFill>
              <a:srgbClr val="DCD8D1"/>
            </a:solidFill>
            <a:prstDash val="solid"/>
          </a:ln>
        </p:spPr>
      </p:sp>
      <p:sp>
        <p:nvSpPr>
          <p:cNvPr id="29" name="Text 27"/>
          <p:cNvSpPr/>
          <p:nvPr/>
        </p:nvSpPr>
        <p:spPr>
          <a:xfrm>
            <a:off x="914400" y="5504688"/>
            <a:ext cx="4709160" cy="658368"/>
          </a:xfrm>
          <a:prstGeom prst="rect">
            <a:avLst/>
          </a:prstGeom>
          <a:noFill/>
          <a:ln/>
        </p:spPr>
        <p:txBody>
          <a:bodyPr wrap="square" lIns="0" tIns="0" rIns="0" bIns="0" rtlCol="0" anchor="ctr"/>
          <a:lstStyle/>
          <a:p>
            <a:pPr indent="0" marL="0">
              <a:buNone/>
            </a:pPr>
            <a:r>
              <a:rPr lang="en-US" sz="1500" b="1" dirty="0">
                <a:solidFill>
                  <a:srgbClr val="2F6B5F"/>
                </a:solidFill>
                <a:latin typeface="Calibri" pitchFamily="34" charset="0"/>
                <a:ea typeface="Calibri" pitchFamily="34" charset="-122"/>
                <a:cs typeface="Calibri" pitchFamily="34" charset="-120"/>
              </a:rPr>
              <a:t>+0,06269</a:t>
            </a:r>
            <a:pPr indent="0" marL="0">
              <a:buNone/>
            </a:pPr>
            <a:r>
              <a:rPr lang="en-US" sz="1200" dirty="0">
                <a:solidFill>
                  <a:srgbClr val="3A4048"/>
                </a:solidFill>
                <a:latin typeface="Calibri" pitchFamily="34" charset="0"/>
                <a:ea typeface="Calibri" pitchFamily="34" charset="-122"/>
                <a:cs typeface="Calibri" pitchFamily="34" charset="-120"/>
              </a:rPr>
              <a:t>   baris 4 ke 5, hanya aturannya yang berubah</a:t>
            </a:r>
            <a:endParaRPr lang="en-US" sz="1200" dirty="0"/>
          </a:p>
        </p:txBody>
      </p:sp>
      <p:sp>
        <p:nvSpPr>
          <p:cNvPr id="30" name="Shape 28"/>
          <p:cNvSpPr/>
          <p:nvPr/>
        </p:nvSpPr>
        <p:spPr>
          <a:xfrm>
            <a:off x="6281928" y="5504688"/>
            <a:ext cx="5257800" cy="658368"/>
          </a:xfrm>
          <a:prstGeom prst="roundRect">
            <a:avLst>
              <a:gd name="adj" fmla="val 8333"/>
            </a:avLst>
          </a:prstGeom>
          <a:solidFill>
            <a:srgbClr val="F4F1EC"/>
          </a:solidFill>
          <a:ln w="9525">
            <a:solidFill>
              <a:srgbClr val="DCD8D1"/>
            </a:solidFill>
            <a:prstDash val="solid"/>
          </a:ln>
        </p:spPr>
      </p:sp>
      <p:sp>
        <p:nvSpPr>
          <p:cNvPr id="31" name="Text 29"/>
          <p:cNvSpPr/>
          <p:nvPr/>
        </p:nvSpPr>
        <p:spPr>
          <a:xfrm>
            <a:off x="6556248" y="5504688"/>
            <a:ext cx="4709160" cy="658368"/>
          </a:xfrm>
          <a:prstGeom prst="rect">
            <a:avLst/>
          </a:prstGeom>
          <a:noFill/>
          <a:ln/>
        </p:spPr>
        <p:txBody>
          <a:bodyPr wrap="square" lIns="0" tIns="0" rIns="0" bIns="0" rtlCol="0" anchor="ctr"/>
          <a:lstStyle/>
          <a:p>
            <a:pPr indent="0" marL="0">
              <a:buNone/>
            </a:pPr>
            <a:r>
              <a:rPr lang="en-US" sz="1500" b="1" dirty="0">
                <a:solidFill>
                  <a:srgbClr val="16191D"/>
                </a:solidFill>
                <a:latin typeface="Calibri" pitchFamily="34" charset="0"/>
                <a:ea typeface="Calibri" pitchFamily="34" charset="-122"/>
                <a:cs typeface="Calibri" pitchFamily="34" charset="-120"/>
              </a:rPr>
              <a:t>+0,00708</a:t>
            </a:r>
            <a:pPr indent="0" marL="0">
              <a:buNone/>
            </a:pPr>
            <a:r>
              <a:rPr lang="en-US" sz="1200" dirty="0">
                <a:solidFill>
                  <a:srgbClr val="3A4048"/>
                </a:solidFill>
                <a:latin typeface="Calibri" pitchFamily="34" charset="0"/>
                <a:ea typeface="Calibri" pitchFamily="34" charset="-122"/>
                <a:cs typeface="Calibri" pitchFamily="34" charset="-120"/>
              </a:rPr>
              <a:t>   lima model lagi, stacking, dan studi ambang</a:t>
            </a:r>
            <a:endParaRPr lang="en-US" sz="1200" dirty="0"/>
          </a:p>
        </p:txBody>
      </p:sp>
      <p:sp>
        <p:nvSpPr>
          <p:cNvPr id="33" name="Shape 30"/>
          <p:cNvSpPr/>
          <p:nvPr/>
        </p:nvSpPr>
        <p:spPr>
          <a:xfrm>
            <a:off x="640080" y="6400800"/>
            <a:ext cx="1572768" cy="45720"/>
          </a:xfrm>
          <a:prstGeom prst="rect">
            <a:avLst/>
          </a:prstGeom>
          <a:solidFill>
            <a:srgbClr val="DCD8D1"/>
          </a:solidFill>
          <a:ln/>
        </p:spPr>
      </p:sp>
      <p:sp>
        <p:nvSpPr>
          <p:cNvPr id="34" name="Text 3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5" name="Shape 32"/>
          <p:cNvSpPr/>
          <p:nvPr/>
        </p:nvSpPr>
        <p:spPr>
          <a:xfrm>
            <a:off x="2304288" y="6400800"/>
            <a:ext cx="1572768" cy="45720"/>
          </a:xfrm>
          <a:prstGeom prst="rect">
            <a:avLst/>
          </a:prstGeom>
          <a:solidFill>
            <a:srgbClr val="DCD8D1"/>
          </a:solidFill>
          <a:ln/>
        </p:spPr>
      </p:sp>
      <p:sp>
        <p:nvSpPr>
          <p:cNvPr id="36" name="Text 3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7" name="Shape 34"/>
          <p:cNvSpPr/>
          <p:nvPr/>
        </p:nvSpPr>
        <p:spPr>
          <a:xfrm>
            <a:off x="3968496" y="6400800"/>
            <a:ext cx="1572768" cy="45720"/>
          </a:xfrm>
          <a:prstGeom prst="rect">
            <a:avLst/>
          </a:prstGeom>
          <a:solidFill>
            <a:srgbClr val="A8442A"/>
          </a:solidFill>
          <a:ln/>
        </p:spPr>
      </p:sp>
      <p:sp>
        <p:nvSpPr>
          <p:cNvPr id="38" name="Text 3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Pipeline</a:t>
            </a:r>
            <a:endParaRPr lang="en-US" sz="850" dirty="0"/>
          </a:p>
        </p:txBody>
      </p:sp>
      <p:sp>
        <p:nvSpPr>
          <p:cNvPr id="39" name="Shape 36"/>
          <p:cNvSpPr/>
          <p:nvPr/>
        </p:nvSpPr>
        <p:spPr>
          <a:xfrm>
            <a:off x="5632704" y="6400800"/>
            <a:ext cx="1572768" cy="45720"/>
          </a:xfrm>
          <a:prstGeom prst="rect">
            <a:avLst/>
          </a:prstGeom>
          <a:solidFill>
            <a:srgbClr val="DCD8D1"/>
          </a:solidFill>
          <a:ln/>
        </p:spPr>
      </p:sp>
      <p:sp>
        <p:nvSpPr>
          <p:cNvPr id="40" name="Text 3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1" name="Shape 38"/>
          <p:cNvSpPr/>
          <p:nvPr/>
        </p:nvSpPr>
        <p:spPr>
          <a:xfrm>
            <a:off x="7296912" y="6400800"/>
            <a:ext cx="1572768" cy="45720"/>
          </a:xfrm>
          <a:prstGeom prst="rect">
            <a:avLst/>
          </a:prstGeom>
          <a:solidFill>
            <a:srgbClr val="DCD8D1"/>
          </a:solidFill>
          <a:ln/>
        </p:spPr>
      </p:sp>
      <p:sp>
        <p:nvSpPr>
          <p:cNvPr id="42" name="Text 3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43" name="Shape 40"/>
          <p:cNvSpPr/>
          <p:nvPr/>
        </p:nvSpPr>
        <p:spPr>
          <a:xfrm>
            <a:off x="8961120" y="6400800"/>
            <a:ext cx="1572768" cy="45720"/>
          </a:xfrm>
          <a:prstGeom prst="rect">
            <a:avLst/>
          </a:prstGeom>
          <a:solidFill>
            <a:srgbClr val="DCD8D1"/>
          </a:solidFill>
          <a:ln/>
        </p:spPr>
      </p:sp>
      <p:sp>
        <p:nvSpPr>
          <p:cNvPr id="44" name="Text 4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5" name="Text 4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IV</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Bagaimana kami</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menahan diri.</a:t>
            </a:r>
            <a:endParaRPr lang="en-US" sz="3600" dirty="0"/>
          </a:p>
        </p:txBody>
      </p:sp>
      <p:sp>
        <p:nvSpPr>
          <p:cNvPr id="4" name="Text 2"/>
          <p:cNvSpPr/>
          <p:nvPr/>
        </p:nvSpPr>
        <p:spPr>
          <a:xfrm>
            <a:off x="640080" y="3648456"/>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Tiga bilangan ambang ditentukan dari data yang sama yang dipakai menilainya. Di situlah godaan terbesarnya.</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Lima strategi estimasi diuji</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Uji split-half sebagai wasit</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Satu ide kami sendiri terbukti overfit</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Rentang 20 konfigurasi hanya 0,003</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Lima cara mengestimasi tiga bilangan yang sama.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Seluruhnya hanya memakai prediksi out-of-fold data latih. Tidak satu pun menyentuh data uji.</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2395728"/>
          <a:ext cx="10911535" cy="914400"/>
        </p:xfrm>
        <a:graphic>
          <a:graphicData uri="http://schemas.openxmlformats.org/drawingml/2006/table">
            <a:tbl>
              <a:tblPr/>
              <a:tblGrid>
                <a:gridCol w="2286000"/>
                <a:gridCol w="3566160"/>
                <a:gridCol w="1371600"/>
                <a:gridCol w="1188720"/>
                <a:gridCol w="1188720"/>
                <a:gridCol w="1307592"/>
              </a:tblGrid>
              <a:tr h="402336">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Strategi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Gagasan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QWK OOF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t₁</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t₂</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00" b="1" dirty="0">
                          <a:solidFill>
                            <a:srgbClr val="16191D"/>
                          </a:solidFill>
                          <a:latin typeface="Calibri" pitchFamily="34" charset="0"/>
                          <a:ea typeface="Calibri" pitchFamily="34" charset="-122"/>
                          <a:cs typeface="Calibri" pitchFamily="34" charset="-120"/>
                        </a:rPr>
                        <a:t>t₃</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0233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  titik tunggal</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argmax QWK pada OOF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b="1" dirty="0">
                          <a:solidFill>
                            <a:srgbClr val="3A4048"/>
                          </a:solidFill>
                          <a:latin typeface="Calibri" pitchFamily="34" charset="0"/>
                          <a:ea typeface="Calibri" pitchFamily="34" charset="-122"/>
                          <a:cs typeface="Calibri" pitchFamily="34" charset="-120"/>
                        </a:rPr>
                        <a:t>0,48517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1,5543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2,0027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2,3936</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b.  rata-rata bootstrap</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25 resampel, lalu dirata-rata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0,48425</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1,5513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2,0051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2,3942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c.  rata-rata subsample</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Subsampel 80% tanpa pengembalian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0,48419</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1,5433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2,0007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2,4094</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  cocok distribusi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Kuantil sesuai proporsi kelas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0,47413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1,5278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2,1263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2,5340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  objektif dihaluskan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Maksimalkan QWK rata-rata atas jitter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0,48435</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1,5450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1,9934</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00" dirty="0">
                          <a:solidFill>
                            <a:srgbClr val="3A4048"/>
                          </a:solidFill>
                          <a:latin typeface="Calibri" pitchFamily="34" charset="0"/>
                          <a:ea typeface="Calibri" pitchFamily="34" charset="-122"/>
                          <a:cs typeface="Calibri" pitchFamily="34" charset="-120"/>
                        </a:rPr>
                        <a:t>2,3936</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029200"/>
            <a:ext cx="10911535" cy="1097280"/>
          </a:xfrm>
          <a:prstGeom prst="roundRect">
            <a:avLst>
              <a:gd name="adj" fmla="val 5000"/>
            </a:avLst>
          </a:prstGeom>
          <a:solidFill>
            <a:srgbClr val="ECE7DF"/>
          </a:solidFill>
          <a:ln w="9525">
            <a:solidFill>
              <a:srgbClr val="DCD8D1"/>
            </a:solidFill>
            <a:prstDash val="solid"/>
          </a:ln>
        </p:spPr>
      </p:sp>
      <p:sp>
        <p:nvSpPr>
          <p:cNvPr id="6" name="Text 3"/>
          <p:cNvSpPr/>
          <p:nvPr/>
        </p:nvSpPr>
        <p:spPr>
          <a:xfrm>
            <a:off x="932688" y="5029200"/>
            <a:ext cx="10326319" cy="1097280"/>
          </a:xfrm>
          <a:prstGeom prst="rect">
            <a:avLst/>
          </a:prstGeom>
          <a:noFill/>
          <a:ln/>
        </p:spPr>
        <p:txBody>
          <a:bodyPr wrap="square" lIns="0" tIns="0" rIns="0" bIns="0" rtlCol="0" anchor="ctr"/>
          <a:lstStyle/>
          <a:p>
            <a:pPr indent="0" marL="0">
              <a:lnSpc>
                <a:spcPts val="1700"/>
              </a:lnSpc>
              <a:buNone/>
            </a:pPr>
            <a:r>
              <a:rPr lang="en-US" sz="1200" b="1" dirty="0">
                <a:solidFill>
                  <a:srgbClr val="16191D"/>
                </a:solidFill>
                <a:latin typeface="Calibri" pitchFamily="34" charset="0"/>
                <a:ea typeface="Calibri" pitchFamily="34" charset="-122"/>
                <a:cs typeface="Calibri" pitchFamily="34" charset="-120"/>
              </a:rPr>
              <a:t>Strategi b dan c adalah teknik reduksi variansi standar. </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Bila permukaan QWK di sekitar optimum landai dan bergerigi, merata-ratakan lintas resampel menempatkan ambang di pusat dataran tinggi, bukan pada satu puncak derau. Waktu studi ini 23,7 menit.</a:t>
            </a:r>
            <a:endParaRPr lang="en-US" sz="1200" dirty="0"/>
          </a:p>
        </p:txBody>
      </p:sp>
      <p:sp>
        <p:nvSpPr>
          <p:cNvPr id="8" name="Shape 4"/>
          <p:cNvSpPr/>
          <p:nvPr/>
        </p:nvSpPr>
        <p:spPr>
          <a:xfrm>
            <a:off x="640080" y="6400800"/>
            <a:ext cx="1572768" cy="45720"/>
          </a:xfrm>
          <a:prstGeom prst="rect">
            <a:avLst/>
          </a:prstGeom>
          <a:solidFill>
            <a:srgbClr val="DCD8D1"/>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4" name="Shape 10"/>
          <p:cNvSpPr/>
          <p:nvPr/>
        </p:nvSpPr>
        <p:spPr>
          <a:xfrm>
            <a:off x="5632704" y="6400800"/>
            <a:ext cx="1572768" cy="45720"/>
          </a:xfrm>
          <a:prstGeom prst="rect">
            <a:avLst/>
          </a:prstGeom>
          <a:solidFill>
            <a:srgbClr val="A8442A"/>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Disiplin estimasi</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8" name="Shape 14"/>
          <p:cNvSpPr/>
          <p:nvPr/>
        </p:nvSpPr>
        <p:spPr>
          <a:xfrm>
            <a:off x="8961120" y="6400800"/>
            <a:ext cx="1572768" cy="45720"/>
          </a:xfrm>
          <a:prstGeom prst="rect">
            <a:avLst/>
          </a:prstGeom>
          <a:solidFill>
            <a:srgbClr val="DCD8D1"/>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Kriteria yang benar bukan skor tertinggi, melainkan yang paling stabil.</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Pasang ambang pada separuh OOF, nilai pada separuh yang belum pernah dilihat.</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2377440"/>
          <a:ext cx="6675120" cy="914400"/>
        </p:xfrm>
        <a:graphic>
          <a:graphicData uri="http://schemas.openxmlformats.org/drawingml/2006/table">
            <a:tbl>
              <a:tblPr/>
              <a:tblGrid>
                <a:gridCol w="2560320"/>
                <a:gridCol w="1371600"/>
                <a:gridCol w="1371600"/>
                <a:gridCol w="1371600"/>
              </a:tblGrid>
              <a:tr h="402336">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Strategi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in-sample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held-out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selisih</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02336">
                <a:tc>
                  <a:txBody>
                    <a:bodyPr/>
                    <a:lstStyle/>
                    <a:p>
                      <a:pPr algn="l" indent="0" marL="0">
                        <a:buNone/>
                      </a:pPr>
                      <a:r>
                        <a:rPr lang="en-US" sz="1150" b="1" dirty="0">
                          <a:solidFill>
                            <a:srgbClr val="2F6B5F"/>
                          </a:solidFill>
                          <a:latin typeface="Calibri" pitchFamily="34" charset="0"/>
                          <a:ea typeface="Calibri" pitchFamily="34" charset="-122"/>
                          <a:cs typeface="Calibri" pitchFamily="34" charset="-120"/>
                        </a:rPr>
                        <a:t>b.  rata-rata bootstrap</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2F6B5F"/>
                          </a:solidFill>
                          <a:latin typeface="Calibri" pitchFamily="34" charset="0"/>
                          <a:ea typeface="Calibri" pitchFamily="34" charset="-122"/>
                          <a:cs typeface="Calibri" pitchFamily="34" charset="-120"/>
                        </a:rPr>
                        <a:t>0,48106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0,00519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c.  rata-rata subsample</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0,48100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0,00554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  titik tunggal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3A4048"/>
                          </a:solidFill>
                          <a:latin typeface="Calibri" pitchFamily="34" charset="0"/>
                          <a:ea typeface="Calibri" pitchFamily="34" charset="-122"/>
                          <a:cs typeface="Calibri" pitchFamily="34" charset="-120"/>
                        </a:rPr>
                        <a:t>0,48688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0,48083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0,00606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02336">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d.  cocok distribusi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0,47650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0,47206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0,00444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Text 2"/>
          <p:cNvSpPr/>
          <p:nvPr/>
        </p:nvSpPr>
        <p:spPr>
          <a:xfrm>
            <a:off x="640080" y="4480560"/>
            <a:ext cx="6675120" cy="566928"/>
          </a:xfrm>
          <a:prstGeom prst="rect">
            <a:avLst/>
          </a:prstGeom>
          <a:noFill/>
          <a:ln/>
        </p:spPr>
        <p:txBody>
          <a:bodyPr wrap="square" lIns="0" tIns="0" rIns="0" bIns="0" rtlCol="0" anchor="t"/>
          <a:lstStyle/>
          <a:p>
            <a:pPr indent="0" marL="0">
              <a:lnSpc>
                <a:spcPts val="1600"/>
              </a:lnSpc>
              <a:buNone/>
            </a:pPr>
            <a:r>
              <a:rPr lang="en-US" sz="1200" dirty="0">
                <a:solidFill>
                  <a:srgbClr val="3A4048"/>
                </a:solidFill>
                <a:latin typeface="Calibri" pitchFamily="34" charset="0"/>
                <a:ea typeface="Calibri" pitchFamily="34" charset="-122"/>
                <a:cs typeface="Calibri" pitchFamily="34" charset="-120"/>
              </a:rPr>
              <a:t>Strategi a memenangkan kolom in-sample dan kalah di kolom held-out. Selisih terbesar itulah ukuran seberapa jauh ia menempel pada derau.</a:t>
            </a:r>
            <a:endParaRPr lang="en-US" sz="1200" dirty="0"/>
          </a:p>
        </p:txBody>
      </p:sp>
      <p:sp>
        <p:nvSpPr>
          <p:cNvPr id="6" name="Text 3"/>
          <p:cNvSpPr/>
          <p:nvPr/>
        </p:nvSpPr>
        <p:spPr>
          <a:xfrm>
            <a:off x="7772400" y="2377440"/>
            <a:ext cx="3779215" cy="274320"/>
          </a:xfrm>
          <a:prstGeom prst="rect">
            <a:avLst/>
          </a:prstGeom>
          <a:noFill/>
          <a:ln/>
        </p:spPr>
        <p:txBody>
          <a:bodyPr wrap="square" lIns="0" tIns="0" rIns="0" bIns="0" rtlCol="0" anchor="ctr"/>
          <a:lstStyle/>
          <a:p>
            <a:pPr indent="0" marL="0">
              <a:buNone/>
            </a:pPr>
            <a:r>
              <a:rPr lang="en-US" sz="950" b="1" spc="120" kern="0" dirty="0">
                <a:solidFill>
                  <a:srgbClr val="6E747C"/>
                </a:solidFill>
                <a:latin typeface="Calibri" pitchFamily="34" charset="0"/>
                <a:ea typeface="Calibri" pitchFamily="34" charset="-122"/>
                <a:cs typeface="Calibri" pitchFamily="34" charset="-120"/>
              </a:rPr>
              <a:t>SEBARAN AMBANG ANTAR 25 BOOTSTRAP</a:t>
            </a:r>
            <a:endParaRPr lang="en-US" sz="950" dirty="0"/>
          </a:p>
        </p:txBody>
      </p:sp>
      <p:sp>
        <p:nvSpPr>
          <p:cNvPr id="7" name="Text 4"/>
          <p:cNvSpPr/>
          <p:nvPr/>
        </p:nvSpPr>
        <p:spPr>
          <a:xfrm>
            <a:off x="7772400" y="2743200"/>
            <a:ext cx="384048" cy="40233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t₁</a:t>
            </a:r>
            <a:endParaRPr lang="en-US" sz="1200" dirty="0"/>
          </a:p>
        </p:txBody>
      </p:sp>
      <p:sp>
        <p:nvSpPr>
          <p:cNvPr id="8" name="Shape 5"/>
          <p:cNvSpPr/>
          <p:nvPr/>
        </p:nvSpPr>
        <p:spPr>
          <a:xfrm>
            <a:off x="8229600" y="2862072"/>
            <a:ext cx="607344" cy="182880"/>
          </a:xfrm>
          <a:prstGeom prst="rect">
            <a:avLst/>
          </a:prstGeom>
          <a:solidFill>
            <a:srgbClr val="2F6B5F"/>
          </a:solidFill>
          <a:ln/>
        </p:spPr>
      </p:sp>
      <p:sp>
        <p:nvSpPr>
          <p:cNvPr id="9" name="Text 6"/>
          <p:cNvSpPr/>
          <p:nvPr/>
        </p:nvSpPr>
        <p:spPr>
          <a:xfrm>
            <a:off x="10637215" y="2743200"/>
            <a:ext cx="914400" cy="402336"/>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0,0108</a:t>
            </a:r>
            <a:endParaRPr lang="en-US" sz="1150" dirty="0"/>
          </a:p>
        </p:txBody>
      </p:sp>
      <p:sp>
        <p:nvSpPr>
          <p:cNvPr id="10" name="Text 7"/>
          <p:cNvSpPr/>
          <p:nvPr/>
        </p:nvSpPr>
        <p:spPr>
          <a:xfrm>
            <a:off x="7772400" y="3364992"/>
            <a:ext cx="384048" cy="40233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t₂</a:t>
            </a:r>
            <a:endParaRPr lang="en-US" sz="1200" dirty="0"/>
          </a:p>
        </p:txBody>
      </p:sp>
      <p:sp>
        <p:nvSpPr>
          <p:cNvPr id="11" name="Shape 8"/>
          <p:cNvSpPr/>
          <p:nvPr/>
        </p:nvSpPr>
        <p:spPr>
          <a:xfrm>
            <a:off x="8229600" y="3483864"/>
            <a:ext cx="753557" cy="182880"/>
          </a:xfrm>
          <a:prstGeom prst="rect">
            <a:avLst/>
          </a:prstGeom>
          <a:solidFill>
            <a:srgbClr val="8FB0A4"/>
          </a:solidFill>
          <a:ln/>
        </p:spPr>
      </p:sp>
      <p:sp>
        <p:nvSpPr>
          <p:cNvPr id="12" name="Text 9"/>
          <p:cNvSpPr/>
          <p:nvPr/>
        </p:nvSpPr>
        <p:spPr>
          <a:xfrm>
            <a:off x="10637215" y="3364992"/>
            <a:ext cx="914400" cy="402336"/>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0,0134</a:t>
            </a:r>
            <a:endParaRPr lang="en-US" sz="1150" dirty="0"/>
          </a:p>
        </p:txBody>
      </p:sp>
      <p:sp>
        <p:nvSpPr>
          <p:cNvPr id="13" name="Text 10"/>
          <p:cNvSpPr/>
          <p:nvPr/>
        </p:nvSpPr>
        <p:spPr>
          <a:xfrm>
            <a:off x="7772400" y="3986784"/>
            <a:ext cx="384048" cy="40233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t₃</a:t>
            </a:r>
            <a:endParaRPr lang="en-US" sz="1200" dirty="0"/>
          </a:p>
        </p:txBody>
      </p:sp>
      <p:sp>
        <p:nvSpPr>
          <p:cNvPr id="14" name="Shape 11"/>
          <p:cNvSpPr/>
          <p:nvPr/>
        </p:nvSpPr>
        <p:spPr>
          <a:xfrm>
            <a:off x="8229600" y="4105656"/>
            <a:ext cx="2204436" cy="182880"/>
          </a:xfrm>
          <a:prstGeom prst="rect">
            <a:avLst/>
          </a:prstGeom>
          <a:solidFill>
            <a:srgbClr val="A8442A"/>
          </a:solidFill>
          <a:ln/>
        </p:spPr>
      </p:sp>
      <p:sp>
        <p:nvSpPr>
          <p:cNvPr id="15" name="Text 12"/>
          <p:cNvSpPr/>
          <p:nvPr/>
        </p:nvSpPr>
        <p:spPr>
          <a:xfrm>
            <a:off x="10637215" y="3986784"/>
            <a:ext cx="914400" cy="402336"/>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0,0392</a:t>
            </a:r>
            <a:endParaRPr lang="en-US" sz="1150" dirty="0"/>
          </a:p>
        </p:txBody>
      </p:sp>
      <p:sp>
        <p:nvSpPr>
          <p:cNvPr id="16" name="Text 13"/>
          <p:cNvSpPr/>
          <p:nvPr/>
        </p:nvSpPr>
        <p:spPr>
          <a:xfrm>
            <a:off x="7772400" y="4626864"/>
            <a:ext cx="3779215"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Simpangan baku ambang antar resampel bootstrap.</a:t>
            </a:r>
            <a:endParaRPr lang="en-US" sz="1050" dirty="0"/>
          </a:p>
        </p:txBody>
      </p:sp>
      <p:sp>
        <p:nvSpPr>
          <p:cNvPr id="17" name="Shape 14"/>
          <p:cNvSpPr/>
          <p:nvPr/>
        </p:nvSpPr>
        <p:spPr>
          <a:xfrm>
            <a:off x="640080" y="5138928"/>
            <a:ext cx="10911535" cy="1005840"/>
          </a:xfrm>
          <a:prstGeom prst="roundRect">
            <a:avLst>
              <a:gd name="adj" fmla="val 5455"/>
            </a:avLst>
          </a:prstGeom>
          <a:solidFill>
            <a:srgbClr val="16191D"/>
          </a:solidFill>
          <a:ln w="9525">
            <a:solidFill>
              <a:srgbClr val="16191D"/>
            </a:solidFill>
            <a:prstDash val="solid"/>
          </a:ln>
        </p:spPr>
      </p:sp>
      <p:sp>
        <p:nvSpPr>
          <p:cNvPr id="18" name="Text 15"/>
          <p:cNvSpPr/>
          <p:nvPr/>
        </p:nvSpPr>
        <p:spPr>
          <a:xfrm>
            <a:off x="932688" y="5138928"/>
            <a:ext cx="10326319" cy="1005840"/>
          </a:xfrm>
          <a:prstGeom prst="rect">
            <a:avLst/>
          </a:prstGeom>
          <a:noFill/>
          <a:ln/>
        </p:spPr>
        <p:txBody>
          <a:bodyPr wrap="square" lIns="0" tIns="0" rIns="0" bIns="0" rtlCol="0" anchor="ctr"/>
          <a:lstStyle/>
          <a:p>
            <a:pPr indent="0" marL="0">
              <a:lnSpc>
                <a:spcPts val="1700"/>
              </a:lnSpc>
              <a:buNone/>
            </a:pPr>
            <a:r>
              <a:rPr lang="en-US" sz="1200" b="1" dirty="0">
                <a:solidFill>
                  <a:srgbClr val="8FB0A4"/>
                </a:solidFill>
                <a:latin typeface="Calibri" pitchFamily="34" charset="0"/>
                <a:ea typeface="Calibri" pitchFamily="34" charset="-122"/>
                <a:cs typeface="Calibri" pitchFamily="34" charset="-120"/>
              </a:rPr>
              <a:t>Keputusan: rata-rata bootstrap. </a:t>
            </a:r>
            <a:pPr indent="0" marL="0">
              <a:lnSpc>
                <a:spcPts val="1700"/>
              </a:lnSpc>
              <a:buNone/>
            </a:pPr>
            <a:r>
              <a:rPr lang="en-US" sz="1200" dirty="0">
                <a:solidFill>
                  <a:srgbClr val="FFFFFF"/>
                </a:solidFill>
                <a:latin typeface="Calibri" pitchFamily="34" charset="0"/>
                <a:ea typeface="Calibri" pitchFamily="34" charset="-122"/>
                <a:cs typeface="Calibri" pitchFamily="34" charset="-120"/>
              </a:rPr>
              <a:t>Kami menetapkannya di muka dengan alasan statistik, bukan hasil perbandingan skor. t₃ hampir empat kali lebih goyah daripada t₁, sejalan dengan kenyataan bahwa kelas 4 hanya punya 893 sampel latih. Di situlah reduksi variansi paling dibutuhkan.</a:t>
            </a:r>
            <a:endParaRPr lang="en-US" sz="1200" dirty="0"/>
          </a:p>
        </p:txBody>
      </p:sp>
      <p:sp>
        <p:nvSpPr>
          <p:cNvPr id="20" name="Shape 16"/>
          <p:cNvSpPr/>
          <p:nvPr/>
        </p:nvSpPr>
        <p:spPr>
          <a:xfrm>
            <a:off x="640080" y="6400800"/>
            <a:ext cx="1572768" cy="45720"/>
          </a:xfrm>
          <a:prstGeom prst="rect">
            <a:avLst/>
          </a:prstGeom>
          <a:solidFill>
            <a:srgbClr val="DCD8D1"/>
          </a:solidFill>
          <a:ln/>
        </p:spPr>
      </p:sp>
      <p:sp>
        <p:nvSpPr>
          <p:cNvPr id="21" name="Text 1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2" name="Shape 18"/>
          <p:cNvSpPr/>
          <p:nvPr/>
        </p:nvSpPr>
        <p:spPr>
          <a:xfrm>
            <a:off x="2304288" y="6400800"/>
            <a:ext cx="1572768" cy="45720"/>
          </a:xfrm>
          <a:prstGeom prst="rect">
            <a:avLst/>
          </a:prstGeom>
          <a:solidFill>
            <a:srgbClr val="DCD8D1"/>
          </a:solidFill>
          <a:ln/>
        </p:spPr>
      </p:sp>
      <p:sp>
        <p:nvSpPr>
          <p:cNvPr id="23" name="Text 1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4" name="Shape 20"/>
          <p:cNvSpPr/>
          <p:nvPr/>
        </p:nvSpPr>
        <p:spPr>
          <a:xfrm>
            <a:off x="3968496" y="6400800"/>
            <a:ext cx="1572768" cy="45720"/>
          </a:xfrm>
          <a:prstGeom prst="rect">
            <a:avLst/>
          </a:prstGeom>
          <a:solidFill>
            <a:srgbClr val="DCD8D1"/>
          </a:solidFill>
          <a:ln/>
        </p:spPr>
      </p:sp>
      <p:sp>
        <p:nvSpPr>
          <p:cNvPr id="25" name="Text 2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6" name="Shape 22"/>
          <p:cNvSpPr/>
          <p:nvPr/>
        </p:nvSpPr>
        <p:spPr>
          <a:xfrm>
            <a:off x="5632704" y="6400800"/>
            <a:ext cx="1572768" cy="45720"/>
          </a:xfrm>
          <a:prstGeom prst="rect">
            <a:avLst/>
          </a:prstGeom>
          <a:solidFill>
            <a:srgbClr val="A8442A"/>
          </a:solidFill>
          <a:ln/>
        </p:spPr>
      </p:sp>
      <p:sp>
        <p:nvSpPr>
          <p:cNvPr id="27" name="Text 2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Disiplin estimasi</a:t>
            </a:r>
            <a:endParaRPr lang="en-US" sz="850" dirty="0"/>
          </a:p>
        </p:txBody>
      </p:sp>
      <p:sp>
        <p:nvSpPr>
          <p:cNvPr id="28" name="Shape 24"/>
          <p:cNvSpPr/>
          <p:nvPr/>
        </p:nvSpPr>
        <p:spPr>
          <a:xfrm>
            <a:off x="7296912" y="6400800"/>
            <a:ext cx="1572768" cy="45720"/>
          </a:xfrm>
          <a:prstGeom prst="rect">
            <a:avLst/>
          </a:prstGeom>
          <a:solidFill>
            <a:srgbClr val="DCD8D1"/>
          </a:solidFill>
          <a:ln/>
        </p:spPr>
      </p:sp>
      <p:sp>
        <p:nvSpPr>
          <p:cNvPr id="29" name="Text 2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0" name="Shape 26"/>
          <p:cNvSpPr/>
          <p:nvPr/>
        </p:nvSpPr>
        <p:spPr>
          <a:xfrm>
            <a:off x="8961120" y="6400800"/>
            <a:ext cx="1572768" cy="45720"/>
          </a:xfrm>
          <a:prstGeom prst="rect">
            <a:avLst/>
          </a:prstGeom>
          <a:solidFill>
            <a:srgbClr val="DCD8D1"/>
          </a:solidFill>
          <a:ln/>
        </p:spPr>
      </p:sp>
      <p:sp>
        <p:nvSpPr>
          <p:cNvPr id="31" name="Text 2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2"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Kami membangun alat untuk membunuh ide kami sendiri.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Ambang batas terpisah per segmen terdengar benar, dan skornya memang naik.</a:t>
            </a:r>
            <a:endParaRPr lang="en-US" sz="1400" dirty="0"/>
          </a:p>
        </p:txBody>
      </p:sp>
      <p:sp>
        <p:nvSpPr>
          <p:cNvPr id="4" name="Shape 2"/>
          <p:cNvSpPr/>
          <p:nvPr/>
        </p:nvSpPr>
        <p:spPr>
          <a:xfrm>
            <a:off x="640080" y="2286000"/>
            <a:ext cx="5257800" cy="1920240"/>
          </a:xfrm>
          <a:prstGeom prst="roundRect">
            <a:avLst>
              <a:gd name="adj" fmla="val 2857"/>
            </a:avLst>
          </a:prstGeom>
          <a:solidFill>
            <a:srgbClr val="F4F1EC"/>
          </a:solidFill>
          <a:ln w="9525">
            <a:solidFill>
              <a:srgbClr val="DCD8D1"/>
            </a:solidFill>
            <a:prstDash val="solid"/>
          </a:ln>
        </p:spPr>
      </p:sp>
      <p:sp>
        <p:nvSpPr>
          <p:cNvPr id="5" name="Text 3"/>
          <p:cNvSpPr/>
          <p:nvPr/>
        </p:nvSpPr>
        <p:spPr>
          <a:xfrm>
            <a:off x="950976" y="2468880"/>
            <a:ext cx="463600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TERLIHAT</a:t>
            </a:r>
            <a:endParaRPr lang="en-US" sz="1050" dirty="0"/>
          </a:p>
        </p:txBody>
      </p:sp>
      <p:sp>
        <p:nvSpPr>
          <p:cNvPr id="6" name="Text 4"/>
          <p:cNvSpPr/>
          <p:nvPr/>
        </p:nvSpPr>
        <p:spPr>
          <a:xfrm>
            <a:off x="950976" y="2761488"/>
            <a:ext cx="4636008" cy="502920"/>
          </a:xfrm>
          <a:prstGeom prst="rect">
            <a:avLst/>
          </a:prstGeom>
          <a:noFill/>
          <a:ln/>
        </p:spPr>
        <p:txBody>
          <a:bodyPr wrap="square" lIns="0" tIns="0" rIns="0" bIns="0" rtlCol="0" anchor="ctr"/>
          <a:lstStyle/>
          <a:p>
            <a:pPr indent="0" marL="0">
              <a:buNone/>
            </a:pPr>
            <a:r>
              <a:rPr lang="en-US" sz="2500" b="1" dirty="0">
                <a:solidFill>
                  <a:srgbClr val="2F6B5F"/>
                </a:solidFill>
                <a:latin typeface="Cambria" pitchFamily="34" charset="0"/>
                <a:ea typeface="Cambria" pitchFamily="34" charset="-122"/>
                <a:cs typeface="Cambria" pitchFamily="34" charset="-120"/>
              </a:rPr>
              <a:t>QWK naik</a:t>
            </a:r>
            <a:endParaRPr lang="en-US" sz="2500" dirty="0"/>
          </a:p>
        </p:txBody>
      </p:sp>
      <p:sp>
        <p:nvSpPr>
          <p:cNvPr id="7" name="Text 5"/>
          <p:cNvSpPr/>
          <p:nvPr/>
        </p:nvSpPr>
        <p:spPr>
          <a:xfrm>
            <a:off x="950976" y="3310128"/>
            <a:ext cx="4636008" cy="91440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Makin banyak segmen, makin tinggi skornya pada himpunan tempat ambang dipasang. Kami menguji segmentasi menurut tahun survei, status kesehatan, usia, dan silangannya.</a:t>
            </a:r>
            <a:endParaRPr lang="en-US" sz="1150" dirty="0"/>
          </a:p>
        </p:txBody>
      </p:sp>
      <p:sp>
        <p:nvSpPr>
          <p:cNvPr id="8" name="Shape 6"/>
          <p:cNvSpPr/>
          <p:nvPr/>
        </p:nvSpPr>
        <p:spPr>
          <a:xfrm>
            <a:off x="6281928" y="2286000"/>
            <a:ext cx="5257800" cy="1920240"/>
          </a:xfrm>
          <a:prstGeom prst="roundRect">
            <a:avLst>
              <a:gd name="adj" fmla="val 2857"/>
            </a:avLst>
          </a:prstGeom>
          <a:solidFill>
            <a:srgbClr val="ECE7DF"/>
          </a:solidFill>
          <a:ln w="9525">
            <a:solidFill>
              <a:srgbClr val="DCD8D1"/>
            </a:solidFill>
            <a:prstDash val="solid"/>
          </a:ln>
        </p:spPr>
      </p:sp>
      <p:sp>
        <p:nvSpPr>
          <p:cNvPr id="9" name="Text 7"/>
          <p:cNvSpPr/>
          <p:nvPr/>
        </p:nvSpPr>
        <p:spPr>
          <a:xfrm>
            <a:off x="6592824" y="2468880"/>
            <a:ext cx="463600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SEBENARNYA TERJADI</a:t>
            </a:r>
            <a:endParaRPr lang="en-US" sz="1050" dirty="0"/>
          </a:p>
        </p:txBody>
      </p:sp>
      <p:sp>
        <p:nvSpPr>
          <p:cNvPr id="10" name="Text 8"/>
          <p:cNvSpPr/>
          <p:nvPr/>
        </p:nvSpPr>
        <p:spPr>
          <a:xfrm>
            <a:off x="6592824" y="2761488"/>
            <a:ext cx="4636008" cy="502920"/>
          </a:xfrm>
          <a:prstGeom prst="rect">
            <a:avLst/>
          </a:prstGeom>
          <a:noFill/>
          <a:ln/>
        </p:spPr>
        <p:txBody>
          <a:bodyPr wrap="square" lIns="0" tIns="0" rIns="0" bIns="0" rtlCol="0" anchor="ctr"/>
          <a:lstStyle/>
          <a:p>
            <a:pPr indent="0" marL="0">
              <a:buNone/>
            </a:pPr>
            <a:r>
              <a:rPr lang="en-US" sz="2500" b="1" dirty="0">
                <a:solidFill>
                  <a:srgbClr val="A8442A"/>
                </a:solidFill>
                <a:latin typeface="Cambria" pitchFamily="34" charset="0"/>
                <a:ea typeface="Cambria" pitchFamily="34" charset="-122"/>
                <a:cs typeface="Cambria" pitchFamily="34" charset="-120"/>
              </a:rPr>
              <a:t>Held-out turun</a:t>
            </a:r>
            <a:endParaRPr lang="en-US" sz="2500" dirty="0"/>
          </a:p>
        </p:txBody>
      </p:sp>
      <p:sp>
        <p:nvSpPr>
          <p:cNvPr id="11" name="Text 9"/>
          <p:cNvSpPr/>
          <p:nvPr/>
        </p:nvSpPr>
        <p:spPr>
          <a:xfrm>
            <a:off x="6592824" y="3310128"/>
            <a:ext cx="4636008" cy="91440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Uji split-half menunjukkan setiap parameter ambang tambahan menaikkan skor in-sample dan menurunkan skor held-out, secara monoton.</a:t>
            </a:r>
            <a:endParaRPr lang="en-US" sz="1150" dirty="0"/>
          </a:p>
        </p:txBody>
      </p:sp>
      <p:sp>
        <p:nvSpPr>
          <p:cNvPr id="12" name="Text 10"/>
          <p:cNvSpPr/>
          <p:nvPr/>
        </p:nvSpPr>
        <p:spPr>
          <a:xfrm>
            <a:off x="1828800" y="5340096"/>
            <a:ext cx="8534095" cy="201168"/>
          </a:xfrm>
          <a:prstGeom prst="rect">
            <a:avLst/>
          </a:prstGeom>
          <a:noFill/>
          <a:ln/>
        </p:spPr>
        <p:txBody>
          <a:bodyPr wrap="square" lIns="0" tIns="0" rIns="0" bIns="0" rtlCol="0" anchor="ctr"/>
          <a:lstStyle/>
          <a:p>
            <a:pPr algn="ctr" indent="0" marL="0">
              <a:buNone/>
            </a:pPr>
            <a:r>
              <a:rPr lang="en-US" sz="950" i="1" dirty="0">
                <a:solidFill>
                  <a:srgbClr val="6E747C"/>
                </a:solidFill>
                <a:latin typeface="Calibri" pitchFamily="34" charset="0"/>
                <a:ea typeface="Calibri" pitchFamily="34" charset="-122"/>
                <a:cs typeface="Calibri" pitchFamily="34" charset="-120"/>
              </a:rPr>
              <a:t>jumlah parameter ambang  →   (ilustrasi arah, bukan skala)</a:t>
            </a:r>
            <a:endParaRPr lang="en-US" sz="950" dirty="0"/>
          </a:p>
        </p:txBody>
      </p:sp>
      <p:sp>
        <p:nvSpPr>
          <p:cNvPr id="13" name="Shape 11"/>
          <p:cNvSpPr/>
          <p:nvPr/>
        </p:nvSpPr>
        <p:spPr>
          <a:xfrm flipV="1">
            <a:off x="1828800" y="4892040"/>
            <a:ext cx="2133524" cy="91440"/>
          </a:xfrm>
          <a:prstGeom prst="line">
            <a:avLst/>
          </a:prstGeom>
          <a:noFill/>
          <a:ln w="33020">
            <a:solidFill>
              <a:srgbClr val="2F6B5F"/>
            </a:solidFill>
            <a:prstDash val="solid"/>
          </a:ln>
        </p:spPr>
      </p:sp>
      <p:sp>
        <p:nvSpPr>
          <p:cNvPr id="14" name="Shape 12"/>
          <p:cNvSpPr/>
          <p:nvPr/>
        </p:nvSpPr>
        <p:spPr>
          <a:xfrm flipV="1">
            <a:off x="3962324" y="4800600"/>
            <a:ext cx="2133524" cy="91440"/>
          </a:xfrm>
          <a:prstGeom prst="line">
            <a:avLst/>
          </a:prstGeom>
          <a:noFill/>
          <a:ln w="33020">
            <a:solidFill>
              <a:srgbClr val="2F6B5F"/>
            </a:solidFill>
            <a:prstDash val="solid"/>
          </a:ln>
        </p:spPr>
      </p:sp>
      <p:sp>
        <p:nvSpPr>
          <p:cNvPr id="15" name="Shape 13"/>
          <p:cNvSpPr/>
          <p:nvPr/>
        </p:nvSpPr>
        <p:spPr>
          <a:xfrm flipV="1">
            <a:off x="6095848" y="4709160"/>
            <a:ext cx="2133524" cy="91440"/>
          </a:xfrm>
          <a:prstGeom prst="line">
            <a:avLst/>
          </a:prstGeom>
          <a:noFill/>
          <a:ln w="33020">
            <a:solidFill>
              <a:srgbClr val="2F6B5F"/>
            </a:solidFill>
            <a:prstDash val="solid"/>
          </a:ln>
        </p:spPr>
      </p:sp>
      <p:sp>
        <p:nvSpPr>
          <p:cNvPr id="16" name="Shape 14"/>
          <p:cNvSpPr/>
          <p:nvPr/>
        </p:nvSpPr>
        <p:spPr>
          <a:xfrm flipV="1">
            <a:off x="8229371" y="4617720"/>
            <a:ext cx="2133524" cy="91440"/>
          </a:xfrm>
          <a:prstGeom prst="line">
            <a:avLst/>
          </a:prstGeom>
          <a:noFill/>
          <a:ln w="33020">
            <a:solidFill>
              <a:srgbClr val="2F6B5F"/>
            </a:solidFill>
            <a:prstDash val="solid"/>
          </a:ln>
        </p:spPr>
      </p:sp>
      <p:sp>
        <p:nvSpPr>
          <p:cNvPr id="17" name="Text 15"/>
          <p:cNvSpPr/>
          <p:nvPr/>
        </p:nvSpPr>
        <p:spPr>
          <a:xfrm>
            <a:off x="10454335" y="4361688"/>
            <a:ext cx="1097280" cy="256032"/>
          </a:xfrm>
          <a:prstGeom prst="rect">
            <a:avLst/>
          </a:prstGeom>
          <a:noFill/>
          <a:ln/>
        </p:spPr>
        <p:txBody>
          <a:bodyPr wrap="square" lIns="0" tIns="0" rIns="0" bIns="0" rtlCol="0" anchor="ctr"/>
          <a:lstStyle/>
          <a:p>
            <a:pPr indent="0" marL="0">
              <a:buNone/>
            </a:pPr>
            <a:r>
              <a:rPr lang="en-US" sz="1050" b="1" dirty="0">
                <a:solidFill>
                  <a:srgbClr val="2F6B5F"/>
                </a:solidFill>
                <a:latin typeface="Calibri" pitchFamily="34" charset="0"/>
                <a:ea typeface="Calibri" pitchFamily="34" charset="-122"/>
                <a:cs typeface="Calibri" pitchFamily="34" charset="-120"/>
              </a:rPr>
              <a:t>in-sample</a:t>
            </a:r>
            <a:endParaRPr lang="en-US" sz="1050" dirty="0"/>
          </a:p>
        </p:txBody>
      </p:sp>
      <p:sp>
        <p:nvSpPr>
          <p:cNvPr id="18" name="Shape 16"/>
          <p:cNvSpPr/>
          <p:nvPr/>
        </p:nvSpPr>
        <p:spPr>
          <a:xfrm>
            <a:off x="1828800" y="4892040"/>
            <a:ext cx="2133524" cy="91440"/>
          </a:xfrm>
          <a:prstGeom prst="line">
            <a:avLst/>
          </a:prstGeom>
          <a:noFill/>
          <a:ln w="33020">
            <a:solidFill>
              <a:srgbClr val="A8442A"/>
            </a:solidFill>
            <a:prstDash val="solid"/>
          </a:ln>
        </p:spPr>
      </p:sp>
      <p:sp>
        <p:nvSpPr>
          <p:cNvPr id="19" name="Shape 17"/>
          <p:cNvSpPr/>
          <p:nvPr/>
        </p:nvSpPr>
        <p:spPr>
          <a:xfrm>
            <a:off x="3962324" y="4983480"/>
            <a:ext cx="2133524" cy="91440"/>
          </a:xfrm>
          <a:prstGeom prst="line">
            <a:avLst/>
          </a:prstGeom>
          <a:noFill/>
          <a:ln w="33020">
            <a:solidFill>
              <a:srgbClr val="A8442A"/>
            </a:solidFill>
            <a:prstDash val="solid"/>
          </a:ln>
        </p:spPr>
      </p:sp>
      <p:sp>
        <p:nvSpPr>
          <p:cNvPr id="20" name="Shape 18"/>
          <p:cNvSpPr/>
          <p:nvPr/>
        </p:nvSpPr>
        <p:spPr>
          <a:xfrm>
            <a:off x="6095848" y="5074920"/>
            <a:ext cx="2133524" cy="91440"/>
          </a:xfrm>
          <a:prstGeom prst="line">
            <a:avLst/>
          </a:prstGeom>
          <a:noFill/>
          <a:ln w="33020">
            <a:solidFill>
              <a:srgbClr val="A8442A"/>
            </a:solidFill>
            <a:prstDash val="solid"/>
          </a:ln>
        </p:spPr>
      </p:sp>
      <p:sp>
        <p:nvSpPr>
          <p:cNvPr id="21" name="Shape 19"/>
          <p:cNvSpPr/>
          <p:nvPr/>
        </p:nvSpPr>
        <p:spPr>
          <a:xfrm>
            <a:off x="8229371" y="5166360"/>
            <a:ext cx="2133524" cy="91440"/>
          </a:xfrm>
          <a:prstGeom prst="line">
            <a:avLst/>
          </a:prstGeom>
          <a:noFill/>
          <a:ln w="33020">
            <a:solidFill>
              <a:srgbClr val="A8442A"/>
            </a:solidFill>
            <a:prstDash val="solid"/>
          </a:ln>
        </p:spPr>
      </p:sp>
      <p:sp>
        <p:nvSpPr>
          <p:cNvPr id="22" name="Text 20"/>
          <p:cNvSpPr/>
          <p:nvPr/>
        </p:nvSpPr>
        <p:spPr>
          <a:xfrm>
            <a:off x="10454335" y="5166360"/>
            <a:ext cx="1097280" cy="256032"/>
          </a:xfrm>
          <a:prstGeom prst="rect">
            <a:avLst/>
          </a:prstGeom>
          <a:noFill/>
          <a:ln/>
        </p:spPr>
        <p:txBody>
          <a:bodyPr wrap="square" lIns="0" tIns="0" rIns="0" bIns="0" rtlCol="0" anchor="ctr"/>
          <a:lstStyle/>
          <a:p>
            <a:pPr indent="0" marL="0">
              <a:buNone/>
            </a:pPr>
            <a:r>
              <a:rPr lang="en-US" sz="1050" b="1" dirty="0">
                <a:solidFill>
                  <a:srgbClr val="A8442A"/>
                </a:solidFill>
                <a:latin typeface="Calibri" pitchFamily="34" charset="0"/>
                <a:ea typeface="Calibri" pitchFamily="34" charset="-122"/>
                <a:cs typeface="Calibri" pitchFamily="34" charset="-120"/>
              </a:rPr>
              <a:t>held-out</a:t>
            </a:r>
            <a:endParaRPr lang="en-US" sz="1050" dirty="0"/>
          </a:p>
        </p:txBody>
      </p:sp>
      <p:sp>
        <p:nvSpPr>
          <p:cNvPr id="23" name="Shape 21"/>
          <p:cNvSpPr/>
          <p:nvPr/>
        </p:nvSpPr>
        <p:spPr>
          <a:xfrm>
            <a:off x="640080" y="5632704"/>
            <a:ext cx="10911535" cy="566928"/>
          </a:xfrm>
          <a:prstGeom prst="roundRect">
            <a:avLst>
              <a:gd name="adj" fmla="val 9677"/>
            </a:avLst>
          </a:prstGeom>
          <a:solidFill>
            <a:srgbClr val="FFFFFF"/>
          </a:solidFill>
          <a:ln w="9525">
            <a:solidFill>
              <a:srgbClr val="DCD8D1"/>
            </a:solidFill>
            <a:prstDash val="solid"/>
          </a:ln>
        </p:spPr>
      </p:sp>
      <p:sp>
        <p:nvSpPr>
          <p:cNvPr id="24" name="Text 22"/>
          <p:cNvSpPr/>
          <p:nvPr/>
        </p:nvSpPr>
        <p:spPr>
          <a:xfrm>
            <a:off x="914400" y="5632704"/>
            <a:ext cx="10362895" cy="566928"/>
          </a:xfrm>
          <a:prstGeom prst="rect">
            <a:avLst/>
          </a:prstGeom>
          <a:noFill/>
          <a:ln/>
        </p:spPr>
        <p:txBody>
          <a:bodyPr wrap="square" lIns="0" tIns="0" rIns="0" bIns="0" rtlCol="0" anchor="ctr"/>
          <a:lstStyle/>
          <a:p>
            <a:pPr indent="0" marL="0">
              <a:buNone/>
            </a:pPr>
            <a:r>
              <a:rPr lang="en-US" sz="1250" b="1" dirty="0">
                <a:solidFill>
                  <a:srgbClr val="A8442A"/>
                </a:solidFill>
                <a:latin typeface="Calibri" pitchFamily="34" charset="0"/>
                <a:ea typeface="Calibri" pitchFamily="34" charset="-122"/>
                <a:cs typeface="Calibri" pitchFamily="34" charset="-120"/>
              </a:rPr>
              <a:t>Ditolak. </a:t>
            </a:r>
            <a:pPr indent="0" marL="0">
              <a:buNone/>
            </a:pPr>
            <a:r>
              <a:rPr lang="en-US" sz="1250" dirty="0">
                <a:solidFill>
                  <a:srgbClr val="3A4048"/>
                </a:solidFill>
                <a:latin typeface="Calibri" pitchFamily="34" charset="0"/>
                <a:ea typeface="Calibri" pitchFamily="34" charset="-122"/>
                <a:cs typeface="Calibri" pitchFamily="34" charset="-120"/>
              </a:rPr>
              <a:t>Tanpa uji split-half, konfigurasi ini akan terlihat sebagai perbaikan terbesar kedua dalam proyek, dan akan merugikan kami di data uji.</a:t>
            </a:r>
            <a:endParaRPr lang="en-US" sz="1250" dirty="0"/>
          </a:p>
        </p:txBody>
      </p:sp>
      <p:sp>
        <p:nvSpPr>
          <p:cNvPr id="26" name="Shape 23"/>
          <p:cNvSpPr/>
          <p:nvPr/>
        </p:nvSpPr>
        <p:spPr>
          <a:xfrm>
            <a:off x="640080" y="6400800"/>
            <a:ext cx="1572768" cy="45720"/>
          </a:xfrm>
          <a:prstGeom prst="rect">
            <a:avLst/>
          </a:prstGeom>
          <a:solidFill>
            <a:srgbClr val="DCD8D1"/>
          </a:solidFill>
          <a:ln/>
        </p:spPr>
      </p:sp>
      <p:sp>
        <p:nvSpPr>
          <p:cNvPr id="27" name="Text 2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8" name="Shape 25"/>
          <p:cNvSpPr/>
          <p:nvPr/>
        </p:nvSpPr>
        <p:spPr>
          <a:xfrm>
            <a:off x="2304288" y="6400800"/>
            <a:ext cx="1572768" cy="45720"/>
          </a:xfrm>
          <a:prstGeom prst="rect">
            <a:avLst/>
          </a:prstGeom>
          <a:solidFill>
            <a:srgbClr val="DCD8D1"/>
          </a:solidFill>
          <a:ln/>
        </p:spPr>
      </p:sp>
      <p:sp>
        <p:nvSpPr>
          <p:cNvPr id="29" name="Text 2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0" name="Shape 27"/>
          <p:cNvSpPr/>
          <p:nvPr/>
        </p:nvSpPr>
        <p:spPr>
          <a:xfrm>
            <a:off x="3968496" y="6400800"/>
            <a:ext cx="1572768" cy="45720"/>
          </a:xfrm>
          <a:prstGeom prst="rect">
            <a:avLst/>
          </a:prstGeom>
          <a:solidFill>
            <a:srgbClr val="DCD8D1"/>
          </a:solidFill>
          <a:ln/>
        </p:spPr>
      </p:sp>
      <p:sp>
        <p:nvSpPr>
          <p:cNvPr id="31" name="Text 2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2" name="Shape 29"/>
          <p:cNvSpPr/>
          <p:nvPr/>
        </p:nvSpPr>
        <p:spPr>
          <a:xfrm>
            <a:off x="5632704" y="6400800"/>
            <a:ext cx="1572768" cy="45720"/>
          </a:xfrm>
          <a:prstGeom prst="rect">
            <a:avLst/>
          </a:prstGeom>
          <a:solidFill>
            <a:srgbClr val="A8442A"/>
          </a:solidFill>
          <a:ln/>
        </p:spPr>
      </p:sp>
      <p:sp>
        <p:nvSpPr>
          <p:cNvPr id="33" name="Text 3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Disiplin estimasi</a:t>
            </a:r>
            <a:endParaRPr lang="en-US" sz="850" dirty="0"/>
          </a:p>
        </p:txBody>
      </p:sp>
      <p:sp>
        <p:nvSpPr>
          <p:cNvPr id="34" name="Shape 31"/>
          <p:cNvSpPr/>
          <p:nvPr/>
        </p:nvSpPr>
        <p:spPr>
          <a:xfrm>
            <a:off x="7296912" y="6400800"/>
            <a:ext cx="1572768" cy="45720"/>
          </a:xfrm>
          <a:prstGeom prst="rect">
            <a:avLst/>
          </a:prstGeom>
          <a:solidFill>
            <a:srgbClr val="DCD8D1"/>
          </a:solidFill>
          <a:ln/>
        </p:spPr>
      </p:sp>
      <p:sp>
        <p:nvSpPr>
          <p:cNvPr id="35" name="Text 3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6" name="Shape 33"/>
          <p:cNvSpPr/>
          <p:nvPr/>
        </p:nvSpPr>
        <p:spPr>
          <a:xfrm>
            <a:off x="8961120" y="6400800"/>
            <a:ext cx="1572768" cy="45720"/>
          </a:xfrm>
          <a:prstGeom prst="rect">
            <a:avLst/>
          </a:prstGeom>
          <a:solidFill>
            <a:srgbClr val="DCD8D1"/>
          </a:solidFill>
          <a:ln/>
        </p:spPr>
      </p:sp>
      <p:sp>
        <p:nvSpPr>
          <p:cNvPr id="37" name="Text 3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38" name="Text 3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Di antara varian yang sama-sama masuk akal, tidak ada kriteria yang memandu.</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Dua puluh konfigurasi, lima cara menggabungkan model dikali empat strategi ambang yang wajar.</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2514600"/>
          <a:ext cx="6675120" cy="914400"/>
        </p:xfrm>
        <a:graphic>
          <a:graphicData uri="http://schemas.openxmlformats.org/drawingml/2006/table">
            <a:tbl>
              <a:tblPr/>
              <a:tblGrid>
                <a:gridCol w="4206240"/>
                <a:gridCol w="2468880"/>
              </a:tblGrid>
              <a:tr h="457200">
                <a:tc>
                  <a:txBody>
                    <a:bodyPr/>
                    <a:lstStyle/>
                    <a:p>
                      <a:pPr algn="l" indent="0" marL="0">
                        <a:buNone/>
                      </a:pPr>
                      <a:r>
                        <a:rPr lang="en-US" sz="1200" b="1" dirty="0">
                          <a:solidFill>
                            <a:srgbClr val="16191D"/>
                          </a:solidFill>
                          <a:latin typeface="Calibri" pitchFamily="34" charset="0"/>
                          <a:ea typeface="Calibri" pitchFamily="34" charset="-122"/>
                          <a:cs typeface="Calibri" pitchFamily="34" charset="-120"/>
                        </a:rPr>
                        <a:t>Kriteria seleksi berbasis data latih</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16191D"/>
                          </a:solidFill>
                          <a:latin typeface="Calibri" pitchFamily="34" charset="0"/>
                          <a:ea typeface="Calibri" pitchFamily="34" charset="-122"/>
                          <a:cs typeface="Calibri" pitchFamily="34" charset="-120"/>
                        </a:rPr>
                        <a:t>Korelasi dengan kinerja pada data uji</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5720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QWK out-of-fold</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00" b="1" dirty="0">
                          <a:solidFill>
                            <a:srgbClr val="A8442A"/>
                          </a:solidFill>
                          <a:latin typeface="Calibri" pitchFamily="34" charset="0"/>
                          <a:ea typeface="Calibri" pitchFamily="34" charset="-122"/>
                          <a:cs typeface="Calibri" pitchFamily="34" charset="-120"/>
                        </a:rPr>
                        <a:t>≈ 0,08</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57200">
                <a:tc>
                  <a:txBody>
                    <a:bodyPr/>
                    <a:lstStyle/>
                    <a:p>
                      <a:pPr algn="l" indent="0" marL="0">
                        <a:buNone/>
                      </a:pPr>
                      <a:r>
                        <a:rPr lang="en-US" sz="1200" dirty="0">
                          <a:solidFill>
                            <a:srgbClr val="3A4048"/>
                          </a:solidFill>
                          <a:latin typeface="Calibri" pitchFamily="34" charset="0"/>
                          <a:ea typeface="Calibri" pitchFamily="34" charset="-122"/>
                          <a:cs typeface="Calibri" pitchFamily="34" charset="-120"/>
                        </a:rPr>
                        <a:t>QWK held-out dari uji split-half</a:t>
                      </a:r>
                      <a:endParaRPr lang="en-US" sz="12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00" b="1" dirty="0">
                          <a:solidFill>
                            <a:srgbClr val="A8442A"/>
                          </a:solidFill>
                          <a:latin typeface="Calibri" pitchFamily="34" charset="0"/>
                          <a:ea typeface="Calibri" pitchFamily="34" charset="-122"/>
                          <a:cs typeface="Calibri" pitchFamily="34" charset="-120"/>
                        </a:rPr>
                        <a:t>≈ 0,16</a:t>
                      </a:r>
                      <a:endParaRPr lang="en-US" sz="12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Text 2"/>
          <p:cNvSpPr/>
          <p:nvPr/>
        </p:nvSpPr>
        <p:spPr>
          <a:xfrm>
            <a:off x="7772400" y="2560320"/>
            <a:ext cx="3779215" cy="603504"/>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0,003</a:t>
            </a:r>
            <a:endParaRPr lang="en-US" sz="3400" dirty="0"/>
          </a:p>
        </p:txBody>
      </p:sp>
      <p:sp>
        <p:nvSpPr>
          <p:cNvPr id="6" name="Text 3"/>
          <p:cNvSpPr/>
          <p:nvPr/>
        </p:nvSpPr>
        <p:spPr>
          <a:xfrm>
            <a:off x="7772400" y="3200400"/>
            <a:ext cx="377921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Rentang QWK di antara kedua puluh konfigurasi itu</a:t>
            </a:r>
            <a:endParaRPr lang="en-US" sz="1150" dirty="0"/>
          </a:p>
        </p:txBody>
      </p:sp>
      <p:sp>
        <p:nvSpPr>
          <p:cNvPr id="7" name="Text 4"/>
          <p:cNvSpPr/>
          <p:nvPr/>
        </p:nvSpPr>
        <p:spPr>
          <a:xfrm>
            <a:off x="7772400" y="3749040"/>
            <a:ext cx="3779215" cy="603504"/>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25</a:t>
            </a:r>
            <a:endParaRPr lang="en-US" sz="3400" dirty="0"/>
          </a:p>
        </p:txBody>
      </p:sp>
      <p:sp>
        <p:nvSpPr>
          <p:cNvPr id="8" name="Text 5"/>
          <p:cNvSpPr/>
          <p:nvPr/>
        </p:nvSpPr>
        <p:spPr>
          <a:xfrm>
            <a:off x="7772400" y="4389120"/>
            <a:ext cx="377921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Konfigurasi dievaluasi selama pengembangan</a:t>
            </a:r>
            <a:endParaRPr lang="en-US" sz="1150" dirty="0"/>
          </a:p>
        </p:txBody>
      </p:sp>
      <p:sp>
        <p:nvSpPr>
          <p:cNvPr id="9" name="Shape 6"/>
          <p:cNvSpPr/>
          <p:nvPr/>
        </p:nvSpPr>
        <p:spPr>
          <a:xfrm>
            <a:off x="640080" y="4114800"/>
            <a:ext cx="6675120" cy="1600200"/>
          </a:xfrm>
          <a:prstGeom prst="roundRect">
            <a:avLst>
              <a:gd name="adj" fmla="val 3429"/>
            </a:avLst>
          </a:prstGeom>
          <a:solidFill>
            <a:srgbClr val="ECE7DF"/>
          </a:solidFill>
          <a:ln w="9525">
            <a:solidFill>
              <a:srgbClr val="DCD8D1"/>
            </a:solidFill>
            <a:prstDash val="solid"/>
          </a:ln>
        </p:spPr>
      </p:sp>
      <p:sp>
        <p:nvSpPr>
          <p:cNvPr id="10" name="Text 7"/>
          <p:cNvSpPr/>
          <p:nvPr/>
        </p:nvSpPr>
        <p:spPr>
          <a:xfrm>
            <a:off x="914400" y="4279392"/>
            <a:ext cx="6126480" cy="132588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Angka ini sempat terlihat jauh lebih informatif ketika kelima strategi diperhitungkan. Ternyata seluruhnya digerakkan satu strategi yang memang jelas buruk, yaitu pencocokan distribusi. Setelah strategi itu dikeluarkan, kedua kriteria praktis tidak berkorelasi.</a:t>
            </a:r>
            <a:endParaRPr lang="en-US" sz="1150" dirty="0"/>
          </a:p>
        </p:txBody>
      </p:sp>
      <p:sp>
        <p:nvSpPr>
          <p:cNvPr id="11" name="Shape 8"/>
          <p:cNvSpPr/>
          <p:nvPr/>
        </p:nvSpPr>
        <p:spPr>
          <a:xfrm>
            <a:off x="640080" y="5541264"/>
            <a:ext cx="10911535" cy="640080"/>
          </a:xfrm>
          <a:prstGeom prst="roundRect">
            <a:avLst>
              <a:gd name="adj" fmla="val 8571"/>
            </a:avLst>
          </a:prstGeom>
          <a:solidFill>
            <a:srgbClr val="16191D"/>
          </a:solidFill>
          <a:ln w="9525">
            <a:solidFill>
              <a:srgbClr val="16191D"/>
            </a:solidFill>
            <a:prstDash val="solid"/>
          </a:ln>
        </p:spPr>
      </p:sp>
      <p:sp>
        <p:nvSpPr>
          <p:cNvPr id="12" name="Text 9"/>
          <p:cNvSpPr/>
          <p:nvPr/>
        </p:nvSpPr>
        <p:spPr>
          <a:xfrm>
            <a:off x="640080" y="5541264"/>
            <a:ext cx="10911535"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Mengejar skor tertinggi pada rentang ini bukan optimasi. Itu memilih derau.</a:t>
            </a:r>
            <a:endParaRPr lang="en-US" sz="1600" dirty="0"/>
          </a:p>
        </p:txBody>
      </p:sp>
      <p:sp>
        <p:nvSpPr>
          <p:cNvPr id="14" name="Shape 10"/>
          <p:cNvSpPr/>
          <p:nvPr/>
        </p:nvSpPr>
        <p:spPr>
          <a:xfrm>
            <a:off x="640080" y="6400800"/>
            <a:ext cx="1572768" cy="45720"/>
          </a:xfrm>
          <a:prstGeom prst="rect">
            <a:avLst/>
          </a:prstGeom>
          <a:solidFill>
            <a:srgbClr val="DCD8D1"/>
          </a:solidFill>
          <a:ln/>
        </p:spPr>
      </p:sp>
      <p:sp>
        <p:nvSpPr>
          <p:cNvPr id="15" name="Text 1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6" name="Shape 12"/>
          <p:cNvSpPr/>
          <p:nvPr/>
        </p:nvSpPr>
        <p:spPr>
          <a:xfrm>
            <a:off x="2304288" y="6400800"/>
            <a:ext cx="1572768" cy="45720"/>
          </a:xfrm>
          <a:prstGeom prst="rect">
            <a:avLst/>
          </a:prstGeom>
          <a:solidFill>
            <a:srgbClr val="DCD8D1"/>
          </a:solidFill>
          <a:ln/>
        </p:spPr>
      </p:sp>
      <p:sp>
        <p:nvSpPr>
          <p:cNvPr id="17" name="Text 1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8" name="Shape 14"/>
          <p:cNvSpPr/>
          <p:nvPr/>
        </p:nvSpPr>
        <p:spPr>
          <a:xfrm>
            <a:off x="3968496" y="6400800"/>
            <a:ext cx="1572768" cy="45720"/>
          </a:xfrm>
          <a:prstGeom prst="rect">
            <a:avLst/>
          </a:prstGeom>
          <a:solidFill>
            <a:srgbClr val="DCD8D1"/>
          </a:solidFill>
          <a:ln/>
        </p:spPr>
      </p:sp>
      <p:sp>
        <p:nvSpPr>
          <p:cNvPr id="19" name="Text 1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0" name="Shape 16"/>
          <p:cNvSpPr/>
          <p:nvPr/>
        </p:nvSpPr>
        <p:spPr>
          <a:xfrm>
            <a:off x="5632704" y="6400800"/>
            <a:ext cx="1572768" cy="45720"/>
          </a:xfrm>
          <a:prstGeom prst="rect">
            <a:avLst/>
          </a:prstGeom>
          <a:solidFill>
            <a:srgbClr val="A8442A"/>
          </a:solidFill>
          <a:ln/>
        </p:spPr>
      </p:sp>
      <p:sp>
        <p:nvSpPr>
          <p:cNvPr id="21" name="Text 1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Disiplin estimasi</a:t>
            </a:r>
            <a:endParaRPr lang="en-US" sz="850" dirty="0"/>
          </a:p>
        </p:txBody>
      </p:sp>
      <p:sp>
        <p:nvSpPr>
          <p:cNvPr id="22" name="Shape 18"/>
          <p:cNvSpPr/>
          <p:nvPr/>
        </p:nvSpPr>
        <p:spPr>
          <a:xfrm>
            <a:off x="7296912" y="6400800"/>
            <a:ext cx="1572768" cy="45720"/>
          </a:xfrm>
          <a:prstGeom prst="rect">
            <a:avLst/>
          </a:prstGeom>
          <a:solidFill>
            <a:srgbClr val="DCD8D1"/>
          </a:solidFill>
          <a:ln/>
        </p:spPr>
      </p:sp>
      <p:sp>
        <p:nvSpPr>
          <p:cNvPr id="23" name="Text 1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4" name="Shape 20"/>
          <p:cNvSpPr/>
          <p:nvPr/>
        </p:nvSpPr>
        <p:spPr>
          <a:xfrm>
            <a:off x="8961120" y="6400800"/>
            <a:ext cx="1572768" cy="45720"/>
          </a:xfrm>
          <a:prstGeom prst="rect">
            <a:avLst/>
          </a:prstGeom>
          <a:solidFill>
            <a:srgbClr val="DCD8D1"/>
          </a:solidFill>
          <a:ln/>
        </p:spPr>
      </p:sp>
      <p:sp>
        <p:nvSpPr>
          <p:cNvPr id="25" name="Text 2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6" name="Text 2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V</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Hasilnya, dan</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di mana ia gagal.</a:t>
            </a:r>
            <a:endParaRPr lang="en-US" sz="3600" dirty="0"/>
          </a:p>
        </p:txBody>
      </p:sp>
      <p:sp>
        <p:nvSpPr>
          <p:cNvPr id="4" name="Text 2"/>
          <p:cNvSpPr/>
          <p:nvPr/>
        </p:nvSpPr>
        <p:spPr>
          <a:xfrm>
            <a:off x="640080" y="3648456"/>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Angka akhir, peta penalti, kegagalan per subkelompok, lalu pertanyaan apakah angka ini bisa dinaikkan sama sekali.</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QWK out-of-fold 0,48425</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Satu sel menyumbang 35,8% penalti</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Kurva belajar lima titik</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Derau papan skor 0,7 sigma</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QWK out-of-fold 0,48425, dari lima fold penuh.</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Matriks konfusi out-of-fold atas seluruh 95.609 baris latih.</a:t>
            </a:r>
            <a:endParaRPr lang="en-US" sz="1400" dirty="0"/>
          </a:p>
        </p:txBody>
      </p:sp>
      <p:sp>
        <p:nvSpPr>
          <p:cNvPr id="4" name="Text 2"/>
          <p:cNvSpPr/>
          <p:nvPr/>
        </p:nvSpPr>
        <p:spPr>
          <a:xfrm>
            <a:off x="2286000" y="2084832"/>
            <a:ext cx="4681728"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5" name="Text 3"/>
          <p:cNvSpPr/>
          <p:nvPr/>
        </p:nvSpPr>
        <p:spPr>
          <a:xfrm>
            <a:off x="2286000"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3456432"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7" name="Text 5"/>
          <p:cNvSpPr/>
          <p:nvPr/>
        </p:nvSpPr>
        <p:spPr>
          <a:xfrm>
            <a:off x="4626864"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8" name="Text 6"/>
          <p:cNvSpPr/>
          <p:nvPr/>
        </p:nvSpPr>
        <p:spPr>
          <a:xfrm>
            <a:off x="5797296"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9" name="Text 7"/>
          <p:cNvSpPr/>
          <p:nvPr/>
        </p:nvSpPr>
        <p:spPr>
          <a:xfrm>
            <a:off x="804672" y="399592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0" name="Text 8"/>
          <p:cNvSpPr/>
          <p:nvPr/>
        </p:nvSpPr>
        <p:spPr>
          <a:xfrm>
            <a:off x="1847088" y="2743200"/>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1" name="Shape 9"/>
          <p:cNvSpPr/>
          <p:nvPr/>
        </p:nvSpPr>
        <p:spPr>
          <a:xfrm>
            <a:off x="2286000" y="2743200"/>
            <a:ext cx="1124712" cy="649224"/>
          </a:xfrm>
          <a:prstGeom prst="rect">
            <a:avLst/>
          </a:prstGeom>
          <a:solidFill>
            <a:srgbClr val="ECE7DF"/>
          </a:solidFill>
          <a:ln w="15240">
            <a:solidFill>
              <a:srgbClr val="FFFFFF"/>
            </a:solidFill>
            <a:prstDash val="solid"/>
          </a:ln>
        </p:spPr>
      </p:sp>
      <p:sp>
        <p:nvSpPr>
          <p:cNvPr id="12" name="Text 10"/>
          <p:cNvSpPr/>
          <p:nvPr/>
        </p:nvSpPr>
        <p:spPr>
          <a:xfrm>
            <a:off x="2286000" y="2743200"/>
            <a:ext cx="1124712" cy="649224"/>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30.414</a:t>
            </a:r>
            <a:endParaRPr lang="en-US" sz="1150" dirty="0"/>
          </a:p>
        </p:txBody>
      </p:sp>
      <p:sp>
        <p:nvSpPr>
          <p:cNvPr id="13" name="Shape 11"/>
          <p:cNvSpPr/>
          <p:nvPr/>
        </p:nvSpPr>
        <p:spPr>
          <a:xfrm>
            <a:off x="3456432" y="2743200"/>
            <a:ext cx="1124712" cy="649224"/>
          </a:xfrm>
          <a:prstGeom prst="rect">
            <a:avLst/>
          </a:prstGeom>
          <a:solidFill>
            <a:srgbClr val="C68573"/>
          </a:solidFill>
          <a:ln w="15240">
            <a:solidFill>
              <a:srgbClr val="FFFFFF"/>
            </a:solidFill>
            <a:prstDash val="solid"/>
          </a:ln>
        </p:spPr>
      </p:sp>
      <p:sp>
        <p:nvSpPr>
          <p:cNvPr id="14" name="Text 12"/>
          <p:cNvSpPr/>
          <p:nvPr/>
        </p:nvSpPr>
        <p:spPr>
          <a:xfrm>
            <a:off x="3456432" y="2743200"/>
            <a:ext cx="1124712" cy="6492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11.918</a:t>
            </a:r>
            <a:endParaRPr lang="en-US" sz="1150" dirty="0"/>
          </a:p>
        </p:txBody>
      </p:sp>
      <p:sp>
        <p:nvSpPr>
          <p:cNvPr id="15" name="Shape 13"/>
          <p:cNvSpPr/>
          <p:nvPr/>
        </p:nvSpPr>
        <p:spPr>
          <a:xfrm>
            <a:off x="4626864" y="2743200"/>
            <a:ext cx="1124712" cy="649224"/>
          </a:xfrm>
          <a:prstGeom prst="rect">
            <a:avLst/>
          </a:prstGeom>
          <a:solidFill>
            <a:srgbClr val="F1E1DB"/>
          </a:solidFill>
          <a:ln w="15240">
            <a:solidFill>
              <a:srgbClr val="FFFFFF"/>
            </a:solidFill>
            <a:prstDash val="solid"/>
          </a:ln>
        </p:spPr>
      </p:sp>
      <p:sp>
        <p:nvSpPr>
          <p:cNvPr id="16" name="Text 14"/>
          <p:cNvSpPr/>
          <p:nvPr/>
        </p:nvSpPr>
        <p:spPr>
          <a:xfrm>
            <a:off x="4626864" y="2743200"/>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576</a:t>
            </a:r>
            <a:endParaRPr lang="en-US" sz="1150" dirty="0"/>
          </a:p>
        </p:txBody>
      </p:sp>
      <p:sp>
        <p:nvSpPr>
          <p:cNvPr id="17" name="Shape 15"/>
          <p:cNvSpPr/>
          <p:nvPr/>
        </p:nvSpPr>
        <p:spPr>
          <a:xfrm>
            <a:off x="5797296" y="2743200"/>
            <a:ext cx="1124712" cy="649224"/>
          </a:xfrm>
          <a:prstGeom prst="rect">
            <a:avLst/>
          </a:prstGeom>
          <a:solidFill>
            <a:srgbClr val="F2E6DF"/>
          </a:solidFill>
          <a:ln w="15240">
            <a:solidFill>
              <a:srgbClr val="FFFFFF"/>
            </a:solidFill>
            <a:prstDash val="solid"/>
          </a:ln>
        </p:spPr>
      </p:sp>
      <p:sp>
        <p:nvSpPr>
          <p:cNvPr id="18" name="Text 16"/>
          <p:cNvSpPr/>
          <p:nvPr/>
        </p:nvSpPr>
        <p:spPr>
          <a:xfrm>
            <a:off x="5797296" y="2743200"/>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60</a:t>
            </a:r>
            <a:endParaRPr lang="en-US" sz="1150" dirty="0"/>
          </a:p>
        </p:txBody>
      </p:sp>
      <p:sp>
        <p:nvSpPr>
          <p:cNvPr id="19" name="Text 17"/>
          <p:cNvSpPr/>
          <p:nvPr/>
        </p:nvSpPr>
        <p:spPr>
          <a:xfrm>
            <a:off x="1847088" y="3438144"/>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0" name="Shape 18"/>
          <p:cNvSpPr/>
          <p:nvPr/>
        </p:nvSpPr>
        <p:spPr>
          <a:xfrm>
            <a:off x="2286000" y="3438144"/>
            <a:ext cx="1124712" cy="649224"/>
          </a:xfrm>
          <a:prstGeom prst="rect">
            <a:avLst/>
          </a:prstGeom>
          <a:solidFill>
            <a:srgbClr val="BC6E5A"/>
          </a:solidFill>
          <a:ln w="15240">
            <a:solidFill>
              <a:srgbClr val="FFFFFF"/>
            </a:solidFill>
            <a:prstDash val="solid"/>
          </a:ln>
        </p:spPr>
      </p:sp>
      <p:sp>
        <p:nvSpPr>
          <p:cNvPr id="21" name="Text 19"/>
          <p:cNvSpPr/>
          <p:nvPr/>
        </p:nvSpPr>
        <p:spPr>
          <a:xfrm>
            <a:off x="2286000" y="3438144"/>
            <a:ext cx="1124712" cy="64922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14.757</a:t>
            </a:r>
            <a:endParaRPr lang="en-US" sz="1150" dirty="0"/>
          </a:p>
        </p:txBody>
      </p:sp>
      <p:sp>
        <p:nvSpPr>
          <p:cNvPr id="22" name="Shape 20"/>
          <p:cNvSpPr/>
          <p:nvPr/>
        </p:nvSpPr>
        <p:spPr>
          <a:xfrm>
            <a:off x="3456432" y="3438144"/>
            <a:ext cx="1124712" cy="649224"/>
          </a:xfrm>
          <a:prstGeom prst="rect">
            <a:avLst/>
          </a:prstGeom>
          <a:solidFill>
            <a:srgbClr val="ECE7DF"/>
          </a:solidFill>
          <a:ln w="15240">
            <a:solidFill>
              <a:srgbClr val="FFFFFF"/>
            </a:solidFill>
            <a:prstDash val="solid"/>
          </a:ln>
        </p:spPr>
      </p:sp>
      <p:sp>
        <p:nvSpPr>
          <p:cNvPr id="23" name="Text 21"/>
          <p:cNvSpPr/>
          <p:nvPr/>
        </p:nvSpPr>
        <p:spPr>
          <a:xfrm>
            <a:off x="3456432" y="3438144"/>
            <a:ext cx="1124712" cy="649224"/>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28.477</a:t>
            </a:r>
            <a:endParaRPr lang="en-US" sz="1150" dirty="0"/>
          </a:p>
        </p:txBody>
      </p:sp>
      <p:sp>
        <p:nvSpPr>
          <p:cNvPr id="24" name="Shape 22"/>
          <p:cNvSpPr/>
          <p:nvPr/>
        </p:nvSpPr>
        <p:spPr>
          <a:xfrm>
            <a:off x="4626864" y="3438144"/>
            <a:ext cx="1124712" cy="649224"/>
          </a:xfrm>
          <a:prstGeom prst="rect">
            <a:avLst/>
          </a:prstGeom>
          <a:solidFill>
            <a:srgbClr val="E2C2B8"/>
          </a:solidFill>
          <a:ln w="15240">
            <a:solidFill>
              <a:srgbClr val="FFFFFF"/>
            </a:solidFill>
            <a:prstDash val="solid"/>
          </a:ln>
        </p:spPr>
      </p:sp>
      <p:sp>
        <p:nvSpPr>
          <p:cNvPr id="25" name="Text 23"/>
          <p:cNvSpPr/>
          <p:nvPr/>
        </p:nvSpPr>
        <p:spPr>
          <a:xfrm>
            <a:off x="4626864" y="3438144"/>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4.389</a:t>
            </a:r>
            <a:endParaRPr lang="en-US" sz="1150" dirty="0"/>
          </a:p>
        </p:txBody>
      </p:sp>
      <p:sp>
        <p:nvSpPr>
          <p:cNvPr id="26" name="Shape 24"/>
          <p:cNvSpPr/>
          <p:nvPr/>
        </p:nvSpPr>
        <p:spPr>
          <a:xfrm>
            <a:off x="5797296" y="3438144"/>
            <a:ext cx="1124712" cy="649224"/>
          </a:xfrm>
          <a:prstGeom prst="rect">
            <a:avLst/>
          </a:prstGeom>
          <a:solidFill>
            <a:srgbClr val="F1E1DB"/>
          </a:solidFill>
          <a:ln w="15240">
            <a:solidFill>
              <a:srgbClr val="FFFFFF"/>
            </a:solidFill>
            <a:prstDash val="solid"/>
          </a:ln>
        </p:spPr>
      </p:sp>
      <p:sp>
        <p:nvSpPr>
          <p:cNvPr id="27" name="Text 25"/>
          <p:cNvSpPr/>
          <p:nvPr/>
        </p:nvSpPr>
        <p:spPr>
          <a:xfrm>
            <a:off x="5797296" y="3438144"/>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566</a:t>
            </a:r>
            <a:endParaRPr lang="en-US" sz="1150" dirty="0"/>
          </a:p>
        </p:txBody>
      </p:sp>
      <p:sp>
        <p:nvSpPr>
          <p:cNvPr id="28" name="Text 26"/>
          <p:cNvSpPr/>
          <p:nvPr/>
        </p:nvSpPr>
        <p:spPr>
          <a:xfrm>
            <a:off x="1847088" y="4133088"/>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29" name="Shape 27"/>
          <p:cNvSpPr/>
          <p:nvPr/>
        </p:nvSpPr>
        <p:spPr>
          <a:xfrm>
            <a:off x="2286000" y="4133088"/>
            <a:ext cx="1124712" cy="649224"/>
          </a:xfrm>
          <a:prstGeom prst="rect">
            <a:avLst/>
          </a:prstGeom>
          <a:solidFill>
            <a:srgbClr val="F2E5DE"/>
          </a:solidFill>
          <a:ln w="15240">
            <a:solidFill>
              <a:srgbClr val="FFFFFF"/>
            </a:solidFill>
            <a:prstDash val="solid"/>
          </a:ln>
        </p:spPr>
      </p:sp>
      <p:sp>
        <p:nvSpPr>
          <p:cNvPr id="30" name="Text 28"/>
          <p:cNvSpPr/>
          <p:nvPr/>
        </p:nvSpPr>
        <p:spPr>
          <a:xfrm>
            <a:off x="2286000" y="4133088"/>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157</a:t>
            </a:r>
            <a:endParaRPr lang="en-US" sz="1150" dirty="0"/>
          </a:p>
        </p:txBody>
      </p:sp>
      <p:sp>
        <p:nvSpPr>
          <p:cNvPr id="31" name="Shape 29"/>
          <p:cNvSpPr/>
          <p:nvPr/>
        </p:nvSpPr>
        <p:spPr>
          <a:xfrm>
            <a:off x="3456432" y="4133088"/>
            <a:ext cx="1124712" cy="649224"/>
          </a:xfrm>
          <a:prstGeom prst="rect">
            <a:avLst/>
          </a:prstGeom>
          <a:solidFill>
            <a:srgbClr val="EDDBD3"/>
          </a:solidFill>
          <a:ln w="15240">
            <a:solidFill>
              <a:srgbClr val="FFFFFF"/>
            </a:solidFill>
            <a:prstDash val="solid"/>
          </a:ln>
        </p:spPr>
      </p:sp>
      <p:sp>
        <p:nvSpPr>
          <p:cNvPr id="32" name="Text 30"/>
          <p:cNvSpPr/>
          <p:nvPr/>
        </p:nvSpPr>
        <p:spPr>
          <a:xfrm>
            <a:off x="3456432" y="4133088"/>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1.412</a:t>
            </a:r>
            <a:endParaRPr lang="en-US" sz="1150" dirty="0"/>
          </a:p>
        </p:txBody>
      </p:sp>
      <p:sp>
        <p:nvSpPr>
          <p:cNvPr id="33" name="Shape 31"/>
          <p:cNvSpPr/>
          <p:nvPr/>
        </p:nvSpPr>
        <p:spPr>
          <a:xfrm>
            <a:off x="4626864" y="4133088"/>
            <a:ext cx="1124712" cy="649224"/>
          </a:xfrm>
          <a:prstGeom prst="rect">
            <a:avLst/>
          </a:prstGeom>
          <a:solidFill>
            <a:srgbClr val="ECE7DF"/>
          </a:solidFill>
          <a:ln w="15240">
            <a:solidFill>
              <a:srgbClr val="FFFFFF"/>
            </a:solidFill>
            <a:prstDash val="solid"/>
          </a:ln>
        </p:spPr>
      </p:sp>
      <p:sp>
        <p:nvSpPr>
          <p:cNvPr id="34" name="Text 32"/>
          <p:cNvSpPr/>
          <p:nvPr/>
        </p:nvSpPr>
        <p:spPr>
          <a:xfrm>
            <a:off x="4626864" y="4133088"/>
            <a:ext cx="1124712" cy="649224"/>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1.369</a:t>
            </a:r>
            <a:endParaRPr lang="en-US" sz="1150" dirty="0"/>
          </a:p>
        </p:txBody>
      </p:sp>
      <p:sp>
        <p:nvSpPr>
          <p:cNvPr id="35" name="Shape 33"/>
          <p:cNvSpPr/>
          <p:nvPr/>
        </p:nvSpPr>
        <p:spPr>
          <a:xfrm>
            <a:off x="5797296" y="4133088"/>
            <a:ext cx="1124712" cy="649224"/>
          </a:xfrm>
          <a:prstGeom prst="rect">
            <a:avLst/>
          </a:prstGeom>
          <a:solidFill>
            <a:srgbClr val="F0E1DA"/>
          </a:solidFill>
          <a:ln w="15240">
            <a:solidFill>
              <a:srgbClr val="FFFFFF"/>
            </a:solidFill>
            <a:prstDash val="solid"/>
          </a:ln>
        </p:spPr>
      </p:sp>
      <p:sp>
        <p:nvSpPr>
          <p:cNvPr id="36" name="Text 34"/>
          <p:cNvSpPr/>
          <p:nvPr/>
        </p:nvSpPr>
        <p:spPr>
          <a:xfrm>
            <a:off x="5797296" y="4133088"/>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621</a:t>
            </a:r>
            <a:endParaRPr lang="en-US" sz="1150" dirty="0"/>
          </a:p>
        </p:txBody>
      </p:sp>
      <p:sp>
        <p:nvSpPr>
          <p:cNvPr id="37" name="Text 35"/>
          <p:cNvSpPr/>
          <p:nvPr/>
        </p:nvSpPr>
        <p:spPr>
          <a:xfrm>
            <a:off x="1847088" y="4828032"/>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38" name="Shape 36"/>
          <p:cNvSpPr/>
          <p:nvPr/>
        </p:nvSpPr>
        <p:spPr>
          <a:xfrm>
            <a:off x="2286000" y="4828032"/>
            <a:ext cx="1124712" cy="649224"/>
          </a:xfrm>
          <a:prstGeom prst="rect">
            <a:avLst/>
          </a:prstGeom>
          <a:solidFill>
            <a:srgbClr val="F2E5DF"/>
          </a:solidFill>
          <a:ln w="15240">
            <a:solidFill>
              <a:srgbClr val="FFFFFF"/>
            </a:solidFill>
            <a:prstDash val="solid"/>
          </a:ln>
        </p:spPr>
      </p:sp>
      <p:sp>
        <p:nvSpPr>
          <p:cNvPr id="39" name="Text 37"/>
          <p:cNvSpPr/>
          <p:nvPr/>
        </p:nvSpPr>
        <p:spPr>
          <a:xfrm>
            <a:off x="2286000" y="4828032"/>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140</a:t>
            </a:r>
            <a:endParaRPr lang="en-US" sz="1150" dirty="0"/>
          </a:p>
        </p:txBody>
      </p:sp>
      <p:sp>
        <p:nvSpPr>
          <p:cNvPr id="40" name="Shape 38"/>
          <p:cNvSpPr/>
          <p:nvPr/>
        </p:nvSpPr>
        <p:spPr>
          <a:xfrm>
            <a:off x="3456432" y="4828032"/>
            <a:ext cx="1124712" cy="649224"/>
          </a:xfrm>
          <a:prstGeom prst="rect">
            <a:avLst/>
          </a:prstGeom>
          <a:solidFill>
            <a:srgbClr val="F2E4DE"/>
          </a:solidFill>
          <a:ln w="15240">
            <a:solidFill>
              <a:srgbClr val="FFFFFF"/>
            </a:solidFill>
            <a:prstDash val="solid"/>
          </a:ln>
        </p:spPr>
      </p:sp>
      <p:sp>
        <p:nvSpPr>
          <p:cNvPr id="41" name="Text 39"/>
          <p:cNvSpPr/>
          <p:nvPr/>
        </p:nvSpPr>
        <p:spPr>
          <a:xfrm>
            <a:off x="3456432" y="4828032"/>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226</a:t>
            </a:r>
            <a:endParaRPr lang="en-US" sz="1150" dirty="0"/>
          </a:p>
        </p:txBody>
      </p:sp>
      <p:sp>
        <p:nvSpPr>
          <p:cNvPr id="42" name="Shape 40"/>
          <p:cNvSpPr/>
          <p:nvPr/>
        </p:nvSpPr>
        <p:spPr>
          <a:xfrm>
            <a:off x="4626864" y="4828032"/>
            <a:ext cx="1124712" cy="649224"/>
          </a:xfrm>
          <a:prstGeom prst="rect">
            <a:avLst/>
          </a:prstGeom>
          <a:solidFill>
            <a:srgbClr val="F2E4DD"/>
          </a:solidFill>
          <a:ln w="15240">
            <a:solidFill>
              <a:srgbClr val="FFFFFF"/>
            </a:solidFill>
            <a:prstDash val="solid"/>
          </a:ln>
        </p:spPr>
      </p:sp>
      <p:sp>
        <p:nvSpPr>
          <p:cNvPr id="43" name="Text 41"/>
          <p:cNvSpPr/>
          <p:nvPr/>
        </p:nvSpPr>
        <p:spPr>
          <a:xfrm>
            <a:off x="4626864" y="4828032"/>
            <a:ext cx="1124712" cy="649224"/>
          </a:xfrm>
          <a:prstGeom prst="rect">
            <a:avLst/>
          </a:prstGeom>
          <a:noFill/>
          <a:ln/>
        </p:spPr>
        <p:txBody>
          <a:bodyPr wrap="square" lIns="0" tIns="0" rIns="0" bIns="0" rtlCol="0" anchor="ctr"/>
          <a:lstStyle/>
          <a:p>
            <a:pPr algn="ctr" indent="0" marL="0">
              <a:buNone/>
            </a:pPr>
            <a:r>
              <a:rPr lang="en-US" sz="1150" b="1" dirty="0">
                <a:solidFill>
                  <a:srgbClr val="16191D"/>
                </a:solidFill>
                <a:latin typeface="Calibri" pitchFamily="34" charset="0"/>
                <a:ea typeface="Calibri" pitchFamily="34" charset="-122"/>
                <a:cs typeface="Calibri" pitchFamily="34" charset="-120"/>
              </a:rPr>
              <a:t>262</a:t>
            </a:r>
            <a:endParaRPr lang="en-US" sz="1150" dirty="0"/>
          </a:p>
        </p:txBody>
      </p:sp>
      <p:sp>
        <p:nvSpPr>
          <p:cNvPr id="44" name="Shape 42"/>
          <p:cNvSpPr/>
          <p:nvPr/>
        </p:nvSpPr>
        <p:spPr>
          <a:xfrm>
            <a:off x="5797296" y="4828032"/>
            <a:ext cx="1124712" cy="649224"/>
          </a:xfrm>
          <a:prstGeom prst="rect">
            <a:avLst/>
          </a:prstGeom>
          <a:solidFill>
            <a:srgbClr val="ECE7DF"/>
          </a:solidFill>
          <a:ln w="15240">
            <a:solidFill>
              <a:srgbClr val="FFFFFF"/>
            </a:solidFill>
            <a:prstDash val="solid"/>
          </a:ln>
        </p:spPr>
      </p:sp>
      <p:sp>
        <p:nvSpPr>
          <p:cNvPr id="45" name="Text 43"/>
          <p:cNvSpPr/>
          <p:nvPr/>
        </p:nvSpPr>
        <p:spPr>
          <a:xfrm>
            <a:off x="5797296" y="4828032"/>
            <a:ext cx="1124712" cy="649224"/>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265</a:t>
            </a:r>
            <a:endParaRPr lang="en-US" sz="1150" dirty="0"/>
          </a:p>
        </p:txBody>
      </p:sp>
      <p:sp>
        <p:nvSpPr>
          <p:cNvPr id="46" name="Text 44"/>
          <p:cNvSpPr/>
          <p:nvPr/>
        </p:nvSpPr>
        <p:spPr>
          <a:xfrm>
            <a:off x="1737360" y="5623560"/>
            <a:ext cx="493776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Warna mengikuti jumlah baris. Diagonalnya prediksi yang tepat.</a:t>
            </a:r>
            <a:endParaRPr lang="en-US" sz="1050" dirty="0"/>
          </a:p>
        </p:txBody>
      </p:sp>
      <p:sp>
        <p:nvSpPr>
          <p:cNvPr id="47" name="Text 45"/>
          <p:cNvSpPr/>
          <p:nvPr/>
        </p:nvSpPr>
        <p:spPr>
          <a:xfrm>
            <a:off x="7589520" y="2377440"/>
            <a:ext cx="3962095" cy="585216"/>
          </a:xfrm>
          <a:prstGeom prst="rect">
            <a:avLst/>
          </a:prstGeom>
          <a:noFill/>
          <a:ln/>
        </p:spPr>
        <p:txBody>
          <a:bodyPr wrap="square" lIns="0" tIns="0" rIns="0" bIns="0" rtlCol="0" anchor="b"/>
          <a:lstStyle/>
          <a:p>
            <a:pPr algn="l" indent="0" marL="0">
              <a:buNone/>
            </a:pPr>
            <a:r>
              <a:rPr lang="en-US" sz="3200" b="1" dirty="0">
                <a:solidFill>
                  <a:srgbClr val="16191D"/>
                </a:solidFill>
                <a:latin typeface="Cambria" pitchFamily="34" charset="0"/>
                <a:ea typeface="Cambria" pitchFamily="34" charset="-122"/>
                <a:cs typeface="Cambria" pitchFamily="34" charset="-120"/>
              </a:rPr>
              <a:t>0,48425</a:t>
            </a:r>
            <a:endParaRPr lang="en-US" sz="3200" dirty="0"/>
          </a:p>
        </p:txBody>
      </p:sp>
      <p:sp>
        <p:nvSpPr>
          <p:cNvPr id="48" name="Text 46"/>
          <p:cNvSpPr/>
          <p:nvPr/>
        </p:nvSpPr>
        <p:spPr>
          <a:xfrm>
            <a:off x="7589520" y="2999232"/>
            <a:ext cx="396209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QWK out-of-fold</a:t>
            </a:r>
            <a:endParaRPr lang="en-US" sz="1150" dirty="0"/>
          </a:p>
        </p:txBody>
      </p:sp>
      <p:sp>
        <p:nvSpPr>
          <p:cNvPr id="49" name="Text 47"/>
          <p:cNvSpPr/>
          <p:nvPr/>
        </p:nvSpPr>
        <p:spPr>
          <a:xfrm>
            <a:off x="7589520" y="3611880"/>
            <a:ext cx="3962095" cy="585216"/>
          </a:xfrm>
          <a:prstGeom prst="rect">
            <a:avLst/>
          </a:prstGeom>
          <a:noFill/>
          <a:ln/>
        </p:spPr>
        <p:txBody>
          <a:bodyPr wrap="square" lIns="0" tIns="0" rIns="0" bIns="0" rtlCol="0" anchor="b"/>
          <a:lstStyle/>
          <a:p>
            <a:pPr algn="l" indent="0" marL="0">
              <a:buNone/>
            </a:pPr>
            <a:r>
              <a:rPr lang="en-US" sz="3200" b="1" dirty="0">
                <a:solidFill>
                  <a:srgbClr val="16191D"/>
                </a:solidFill>
                <a:latin typeface="Cambria" pitchFamily="34" charset="0"/>
                <a:ea typeface="Cambria" pitchFamily="34" charset="-122"/>
                <a:cs typeface="Cambria" pitchFamily="34" charset="-120"/>
              </a:rPr>
              <a:t>0,63305</a:t>
            </a:r>
            <a:endParaRPr lang="en-US" sz="3200" dirty="0"/>
          </a:p>
        </p:txBody>
      </p:sp>
      <p:sp>
        <p:nvSpPr>
          <p:cNvPr id="50" name="Text 48"/>
          <p:cNvSpPr/>
          <p:nvPr/>
        </p:nvSpPr>
        <p:spPr>
          <a:xfrm>
            <a:off x="7589520" y="4233672"/>
            <a:ext cx="396209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Akurasi out-of-fold</a:t>
            </a:r>
            <a:endParaRPr lang="en-US" sz="1150" dirty="0"/>
          </a:p>
        </p:txBody>
      </p:sp>
      <p:sp>
        <p:nvSpPr>
          <p:cNvPr id="51" name="Text 49"/>
          <p:cNvSpPr/>
          <p:nvPr/>
        </p:nvSpPr>
        <p:spPr>
          <a:xfrm>
            <a:off x="7589520" y="4846320"/>
            <a:ext cx="3962095" cy="585216"/>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0,00000</a:t>
            </a:r>
            <a:endParaRPr lang="en-US" sz="3200" dirty="0"/>
          </a:p>
        </p:txBody>
      </p:sp>
      <p:sp>
        <p:nvSpPr>
          <p:cNvPr id="52" name="Text 50"/>
          <p:cNvSpPr/>
          <p:nvPr/>
        </p:nvSpPr>
        <p:spPr>
          <a:xfrm>
            <a:off x="7589520" y="5468112"/>
            <a:ext cx="396209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QWK baseline kelas mayoritas</a:t>
            </a:r>
            <a:endParaRPr lang="en-US" sz="1150" dirty="0"/>
          </a:p>
        </p:txBody>
      </p:sp>
      <p:sp>
        <p:nvSpPr>
          <p:cNvPr id="53" name="Shape 51"/>
          <p:cNvSpPr/>
          <p:nvPr/>
        </p:nvSpPr>
        <p:spPr>
          <a:xfrm>
            <a:off x="7589520" y="5486400"/>
            <a:ext cx="3962095" cy="658368"/>
          </a:xfrm>
          <a:prstGeom prst="roundRect">
            <a:avLst>
              <a:gd name="adj" fmla="val 8333"/>
            </a:avLst>
          </a:prstGeom>
          <a:solidFill>
            <a:srgbClr val="ECE7DF"/>
          </a:solidFill>
          <a:ln w="9525">
            <a:solidFill>
              <a:srgbClr val="DCD8D1"/>
            </a:solidFill>
            <a:prstDash val="solid"/>
          </a:ln>
        </p:spPr>
      </p:sp>
      <p:sp>
        <p:nvSpPr>
          <p:cNvPr id="54" name="Text 52"/>
          <p:cNvSpPr/>
          <p:nvPr/>
        </p:nvSpPr>
        <p:spPr>
          <a:xfrm>
            <a:off x="7845552" y="5486400"/>
            <a:ext cx="3450031" cy="658368"/>
          </a:xfrm>
          <a:prstGeom prst="rect">
            <a:avLst/>
          </a:prstGeom>
          <a:noFill/>
          <a:ln/>
        </p:spPr>
        <p:txBody>
          <a:bodyPr wrap="square" lIns="0" tIns="0" rIns="0" bIns="0" rtlCol="0" anchor="ctr"/>
          <a:lstStyle/>
          <a:p>
            <a:pPr indent="0" marL="0">
              <a:buNone/>
            </a:pPr>
            <a:r>
              <a:rPr lang="en-US" sz="1150" i="1" dirty="0">
                <a:solidFill>
                  <a:srgbClr val="16191D"/>
                </a:solidFill>
                <a:latin typeface="Calibri" pitchFamily="34" charset="0"/>
                <a:ea typeface="Calibri" pitchFamily="34" charset="-122"/>
                <a:cs typeface="Calibri" pitchFamily="34" charset="-120"/>
              </a:rPr>
              <a:t>Kelas 4 tertangkap 265 kali. argmax menangkapnya 5 kali.</a:t>
            </a:r>
            <a:endParaRPr lang="en-US" sz="1150" dirty="0"/>
          </a:p>
        </p:txBody>
      </p:sp>
      <p:sp>
        <p:nvSpPr>
          <p:cNvPr id="56" name="Shape 53"/>
          <p:cNvSpPr/>
          <p:nvPr/>
        </p:nvSpPr>
        <p:spPr>
          <a:xfrm>
            <a:off x="640080" y="6400800"/>
            <a:ext cx="1572768" cy="45720"/>
          </a:xfrm>
          <a:prstGeom prst="rect">
            <a:avLst/>
          </a:prstGeom>
          <a:solidFill>
            <a:srgbClr val="DCD8D1"/>
          </a:solidFill>
          <a:ln/>
        </p:spPr>
      </p:sp>
      <p:sp>
        <p:nvSpPr>
          <p:cNvPr id="57" name="Text 5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58" name="Shape 55"/>
          <p:cNvSpPr/>
          <p:nvPr/>
        </p:nvSpPr>
        <p:spPr>
          <a:xfrm>
            <a:off x="2304288" y="6400800"/>
            <a:ext cx="1572768" cy="45720"/>
          </a:xfrm>
          <a:prstGeom prst="rect">
            <a:avLst/>
          </a:prstGeom>
          <a:solidFill>
            <a:srgbClr val="DCD8D1"/>
          </a:solidFill>
          <a:ln/>
        </p:spPr>
      </p:sp>
      <p:sp>
        <p:nvSpPr>
          <p:cNvPr id="59" name="Text 5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60" name="Shape 57"/>
          <p:cNvSpPr/>
          <p:nvPr/>
        </p:nvSpPr>
        <p:spPr>
          <a:xfrm>
            <a:off x="3968496" y="6400800"/>
            <a:ext cx="1572768" cy="45720"/>
          </a:xfrm>
          <a:prstGeom prst="rect">
            <a:avLst/>
          </a:prstGeom>
          <a:solidFill>
            <a:srgbClr val="DCD8D1"/>
          </a:solidFill>
          <a:ln/>
        </p:spPr>
      </p:sp>
      <p:sp>
        <p:nvSpPr>
          <p:cNvPr id="61" name="Text 5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62" name="Shape 59"/>
          <p:cNvSpPr/>
          <p:nvPr/>
        </p:nvSpPr>
        <p:spPr>
          <a:xfrm>
            <a:off x="5632704" y="6400800"/>
            <a:ext cx="1572768" cy="45720"/>
          </a:xfrm>
          <a:prstGeom prst="rect">
            <a:avLst/>
          </a:prstGeom>
          <a:solidFill>
            <a:srgbClr val="DCD8D1"/>
          </a:solidFill>
          <a:ln/>
        </p:spPr>
      </p:sp>
      <p:sp>
        <p:nvSpPr>
          <p:cNvPr id="63" name="Text 6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4" name="Shape 61"/>
          <p:cNvSpPr/>
          <p:nvPr/>
        </p:nvSpPr>
        <p:spPr>
          <a:xfrm>
            <a:off x="7296912" y="6400800"/>
            <a:ext cx="1572768" cy="45720"/>
          </a:xfrm>
          <a:prstGeom prst="rect">
            <a:avLst/>
          </a:prstGeom>
          <a:solidFill>
            <a:srgbClr val="A8442A"/>
          </a:solidFill>
          <a:ln/>
        </p:spPr>
      </p:sp>
      <p:sp>
        <p:nvSpPr>
          <p:cNvPr id="65" name="Text 6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66" name="Shape 63"/>
          <p:cNvSpPr/>
          <p:nvPr/>
        </p:nvSpPr>
        <p:spPr>
          <a:xfrm>
            <a:off x="8961120" y="6400800"/>
            <a:ext cx="1572768" cy="45720"/>
          </a:xfrm>
          <a:prstGeom prst="rect">
            <a:avLst/>
          </a:prstGeom>
          <a:solidFill>
            <a:srgbClr val="DCD8D1"/>
          </a:solidFill>
          <a:ln/>
        </p:spPr>
      </p:sp>
      <p:sp>
        <p:nvSpPr>
          <p:cNvPr id="67" name="Text 6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8" name="Text 6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Seberapa baik 0,484? Dua penggaris untuk membacanya.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Skor kappa tidak punya satuan intuitif, jadi kami menaruhnya pada skala baku dan pada batas teoretis.</a:t>
            </a:r>
            <a:endParaRPr lang="en-US" sz="1400" dirty="0"/>
          </a:p>
        </p:txBody>
      </p:sp>
      <p:sp>
        <p:nvSpPr>
          <p:cNvPr id="4" name="Text 2"/>
          <p:cNvSpPr/>
          <p:nvPr/>
        </p:nvSpPr>
        <p:spPr>
          <a:xfrm>
            <a:off x="640080" y="2286000"/>
            <a:ext cx="54864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SKALA LANDIS &amp; KOCH (1977)</a:t>
            </a:r>
            <a:endParaRPr lang="en-US" sz="1050" dirty="0"/>
          </a:p>
        </p:txBody>
      </p:sp>
      <p:sp>
        <p:nvSpPr>
          <p:cNvPr id="5" name="Shape 3"/>
          <p:cNvSpPr/>
          <p:nvPr/>
        </p:nvSpPr>
        <p:spPr>
          <a:xfrm>
            <a:off x="640080" y="2697480"/>
            <a:ext cx="2145731" cy="566928"/>
          </a:xfrm>
          <a:prstGeom prst="rect">
            <a:avLst/>
          </a:prstGeom>
          <a:solidFill>
            <a:srgbClr val="F4F1EC"/>
          </a:solidFill>
          <a:ln/>
        </p:spPr>
      </p:sp>
      <p:sp>
        <p:nvSpPr>
          <p:cNvPr id="6" name="Text 4"/>
          <p:cNvSpPr/>
          <p:nvPr/>
        </p:nvSpPr>
        <p:spPr>
          <a:xfrm>
            <a:off x="640080" y="2697480"/>
            <a:ext cx="2145731" cy="566928"/>
          </a:xfrm>
          <a:prstGeom prst="rect">
            <a:avLst/>
          </a:prstGeom>
          <a:noFill/>
          <a:ln/>
        </p:spPr>
        <p:txBody>
          <a:bodyPr wrap="square" lIns="0" tIns="0" rIns="0" bIns="0" rtlCol="0" anchor="ctr"/>
          <a:lstStyle/>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sedikit</a:t>
            </a:r>
            <a:endParaRPr lang="en-US" sz="1050" dirty="0"/>
          </a:p>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0,00–0,20</a:t>
            </a:r>
            <a:endParaRPr lang="en-US" sz="1050" dirty="0"/>
          </a:p>
        </p:txBody>
      </p:sp>
      <p:sp>
        <p:nvSpPr>
          <p:cNvPr id="7" name="Shape 5"/>
          <p:cNvSpPr/>
          <p:nvPr/>
        </p:nvSpPr>
        <p:spPr>
          <a:xfrm>
            <a:off x="2822387" y="2697480"/>
            <a:ext cx="2145731" cy="566928"/>
          </a:xfrm>
          <a:prstGeom prst="rect">
            <a:avLst/>
          </a:prstGeom>
          <a:solidFill>
            <a:srgbClr val="F4F1EC"/>
          </a:solidFill>
          <a:ln/>
        </p:spPr>
      </p:sp>
      <p:sp>
        <p:nvSpPr>
          <p:cNvPr id="8" name="Text 6"/>
          <p:cNvSpPr/>
          <p:nvPr/>
        </p:nvSpPr>
        <p:spPr>
          <a:xfrm>
            <a:off x="2822387" y="2697480"/>
            <a:ext cx="2145731" cy="566928"/>
          </a:xfrm>
          <a:prstGeom prst="rect">
            <a:avLst/>
          </a:prstGeom>
          <a:noFill/>
          <a:ln/>
        </p:spPr>
        <p:txBody>
          <a:bodyPr wrap="square" lIns="0" tIns="0" rIns="0" bIns="0" rtlCol="0" anchor="ctr"/>
          <a:lstStyle/>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cukup</a:t>
            </a:r>
            <a:endParaRPr lang="en-US" sz="1050" dirty="0"/>
          </a:p>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0,21–0,40</a:t>
            </a:r>
            <a:endParaRPr lang="en-US" sz="1050" dirty="0"/>
          </a:p>
        </p:txBody>
      </p:sp>
      <p:sp>
        <p:nvSpPr>
          <p:cNvPr id="9" name="Shape 7"/>
          <p:cNvSpPr/>
          <p:nvPr/>
        </p:nvSpPr>
        <p:spPr>
          <a:xfrm>
            <a:off x="5004694" y="2697480"/>
            <a:ext cx="2145731" cy="566928"/>
          </a:xfrm>
          <a:prstGeom prst="rect">
            <a:avLst/>
          </a:prstGeom>
          <a:solidFill>
            <a:srgbClr val="2F6B5F"/>
          </a:solidFill>
          <a:ln/>
        </p:spPr>
      </p:sp>
      <p:sp>
        <p:nvSpPr>
          <p:cNvPr id="10" name="Text 8"/>
          <p:cNvSpPr/>
          <p:nvPr/>
        </p:nvSpPr>
        <p:spPr>
          <a:xfrm>
            <a:off x="5004694" y="2697480"/>
            <a:ext cx="2145731" cy="566928"/>
          </a:xfrm>
          <a:prstGeom prst="rect">
            <a:avLst/>
          </a:prstGeom>
          <a:noFill/>
          <a:ln/>
        </p:spPr>
        <p:txBody>
          <a:bodyPr wrap="square" lIns="0" tIns="0" rIns="0" bIns="0" rtlCol="0" anchor="ctr"/>
          <a:lstStyle/>
          <a:p>
            <a:pPr algn="ctr" indent="0" marL="0">
              <a:lnSpc>
                <a:spcPts val="1300"/>
              </a:lnSpc>
              <a:buNone/>
            </a:pPr>
            <a:r>
              <a:rPr lang="en-US" sz="1050" b="1" dirty="0">
                <a:solidFill>
                  <a:srgbClr val="FFFFFF"/>
                </a:solidFill>
                <a:latin typeface="Calibri" pitchFamily="34" charset="0"/>
                <a:ea typeface="Calibri" pitchFamily="34" charset="-122"/>
                <a:cs typeface="Calibri" pitchFamily="34" charset="-120"/>
              </a:rPr>
              <a:t>sedang</a:t>
            </a:r>
            <a:endParaRPr lang="en-US" sz="1050" dirty="0"/>
          </a:p>
          <a:p>
            <a:pPr algn="ctr" indent="0" marL="0">
              <a:lnSpc>
                <a:spcPts val="1300"/>
              </a:lnSpc>
              <a:buNone/>
            </a:pPr>
            <a:r>
              <a:rPr lang="en-US" sz="1050" b="1" dirty="0">
                <a:solidFill>
                  <a:srgbClr val="FFFFFF"/>
                </a:solidFill>
                <a:latin typeface="Calibri" pitchFamily="34" charset="0"/>
                <a:ea typeface="Calibri" pitchFamily="34" charset="-122"/>
                <a:cs typeface="Calibri" pitchFamily="34" charset="-120"/>
              </a:rPr>
              <a:t>0,41–0,60</a:t>
            </a:r>
            <a:endParaRPr lang="en-US" sz="1050" dirty="0"/>
          </a:p>
        </p:txBody>
      </p:sp>
      <p:sp>
        <p:nvSpPr>
          <p:cNvPr id="11" name="Shape 9"/>
          <p:cNvSpPr/>
          <p:nvPr/>
        </p:nvSpPr>
        <p:spPr>
          <a:xfrm>
            <a:off x="7187001" y="2697480"/>
            <a:ext cx="2145731" cy="566928"/>
          </a:xfrm>
          <a:prstGeom prst="rect">
            <a:avLst/>
          </a:prstGeom>
          <a:solidFill>
            <a:srgbClr val="F4F1EC"/>
          </a:solidFill>
          <a:ln/>
        </p:spPr>
      </p:sp>
      <p:sp>
        <p:nvSpPr>
          <p:cNvPr id="12" name="Text 10"/>
          <p:cNvSpPr/>
          <p:nvPr/>
        </p:nvSpPr>
        <p:spPr>
          <a:xfrm>
            <a:off x="7187001" y="2697480"/>
            <a:ext cx="2145731" cy="566928"/>
          </a:xfrm>
          <a:prstGeom prst="rect">
            <a:avLst/>
          </a:prstGeom>
          <a:noFill/>
          <a:ln/>
        </p:spPr>
        <p:txBody>
          <a:bodyPr wrap="square" lIns="0" tIns="0" rIns="0" bIns="0" rtlCol="0" anchor="ctr"/>
          <a:lstStyle/>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substansial</a:t>
            </a:r>
            <a:endParaRPr lang="en-US" sz="1050" dirty="0"/>
          </a:p>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0,61–0,80</a:t>
            </a:r>
            <a:endParaRPr lang="en-US" sz="1050" dirty="0"/>
          </a:p>
        </p:txBody>
      </p:sp>
      <p:sp>
        <p:nvSpPr>
          <p:cNvPr id="13" name="Shape 11"/>
          <p:cNvSpPr/>
          <p:nvPr/>
        </p:nvSpPr>
        <p:spPr>
          <a:xfrm>
            <a:off x="9369308" y="2697480"/>
            <a:ext cx="2145731" cy="566928"/>
          </a:xfrm>
          <a:prstGeom prst="rect">
            <a:avLst/>
          </a:prstGeom>
          <a:solidFill>
            <a:srgbClr val="F4F1EC"/>
          </a:solidFill>
          <a:ln/>
        </p:spPr>
      </p:sp>
      <p:sp>
        <p:nvSpPr>
          <p:cNvPr id="14" name="Text 12"/>
          <p:cNvSpPr/>
          <p:nvPr/>
        </p:nvSpPr>
        <p:spPr>
          <a:xfrm>
            <a:off x="9369308" y="2697480"/>
            <a:ext cx="2145731" cy="566928"/>
          </a:xfrm>
          <a:prstGeom prst="rect">
            <a:avLst/>
          </a:prstGeom>
          <a:noFill/>
          <a:ln/>
        </p:spPr>
        <p:txBody>
          <a:bodyPr wrap="square" lIns="0" tIns="0" rIns="0" bIns="0" rtlCol="0" anchor="ctr"/>
          <a:lstStyle/>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hampir sempurna</a:t>
            </a:r>
            <a:endParaRPr lang="en-US" sz="1050" dirty="0"/>
          </a:p>
          <a:p>
            <a:pPr algn="ctr" indent="0" marL="0">
              <a:lnSpc>
                <a:spcPts val="1300"/>
              </a:lnSpc>
              <a:buNone/>
            </a:pPr>
            <a:r>
              <a:rPr lang="en-US" sz="1050" dirty="0">
                <a:solidFill>
                  <a:srgbClr val="3A4048"/>
                </a:solidFill>
                <a:latin typeface="Calibri" pitchFamily="34" charset="0"/>
                <a:ea typeface="Calibri" pitchFamily="34" charset="-122"/>
                <a:cs typeface="Calibri" pitchFamily="34" charset="-120"/>
              </a:rPr>
              <a:t>0,81–1,00</a:t>
            </a:r>
            <a:endParaRPr lang="en-US" sz="1050" dirty="0"/>
          </a:p>
        </p:txBody>
      </p:sp>
      <p:sp>
        <p:nvSpPr>
          <p:cNvPr id="15" name="Shape 13"/>
          <p:cNvSpPr/>
          <p:nvPr/>
        </p:nvSpPr>
        <p:spPr>
          <a:xfrm>
            <a:off x="640080" y="3291840"/>
            <a:ext cx="0" cy="274320"/>
          </a:xfrm>
          <a:prstGeom prst="line">
            <a:avLst/>
          </a:prstGeom>
          <a:noFill/>
          <a:ln w="22860">
            <a:solidFill>
              <a:srgbClr val="6E747C"/>
            </a:solidFill>
            <a:prstDash val="solid"/>
          </a:ln>
        </p:spPr>
      </p:sp>
      <p:sp>
        <p:nvSpPr>
          <p:cNvPr id="16" name="Text 14"/>
          <p:cNvSpPr/>
          <p:nvPr/>
        </p:nvSpPr>
        <p:spPr>
          <a:xfrm>
            <a:off x="685800" y="3566160"/>
            <a:ext cx="2194560" cy="237744"/>
          </a:xfrm>
          <a:prstGeom prst="rect">
            <a:avLst/>
          </a:prstGeom>
          <a:noFill/>
          <a:ln/>
        </p:spPr>
        <p:txBody>
          <a:bodyPr wrap="square" lIns="0" tIns="0" rIns="0" bIns="0" rtlCol="0" anchor="ctr"/>
          <a:lstStyle/>
          <a:p>
            <a:pPr algn="l" indent="0" marL="0">
              <a:buNone/>
            </a:pPr>
            <a:r>
              <a:rPr lang="en-US" sz="1050" dirty="0">
                <a:solidFill>
                  <a:srgbClr val="6E747C"/>
                </a:solidFill>
                <a:latin typeface="Calibri" pitchFamily="34" charset="0"/>
                <a:ea typeface="Calibri" pitchFamily="34" charset="-122"/>
                <a:cs typeface="Calibri" pitchFamily="34" charset="-120"/>
              </a:rPr>
              <a:t>kelas mayoritas 0,000</a:t>
            </a:r>
            <a:endParaRPr lang="en-US" sz="1050" dirty="0"/>
          </a:p>
        </p:txBody>
      </p:sp>
      <p:sp>
        <p:nvSpPr>
          <p:cNvPr id="17" name="Shape 15"/>
          <p:cNvSpPr/>
          <p:nvPr/>
        </p:nvSpPr>
        <p:spPr>
          <a:xfrm>
            <a:off x="5162911" y="3291840"/>
            <a:ext cx="0" cy="530352"/>
          </a:xfrm>
          <a:prstGeom prst="line">
            <a:avLst/>
          </a:prstGeom>
          <a:noFill/>
          <a:ln w="22860">
            <a:solidFill>
              <a:srgbClr val="D8A25E"/>
            </a:solidFill>
            <a:prstDash val="solid"/>
          </a:ln>
        </p:spPr>
      </p:sp>
      <p:sp>
        <p:nvSpPr>
          <p:cNvPr id="18" name="Text 16"/>
          <p:cNvSpPr/>
          <p:nvPr/>
        </p:nvSpPr>
        <p:spPr>
          <a:xfrm>
            <a:off x="4065631" y="3822192"/>
            <a:ext cx="2194560" cy="237744"/>
          </a:xfrm>
          <a:prstGeom prst="rect">
            <a:avLst/>
          </a:prstGeom>
          <a:noFill/>
          <a:ln/>
        </p:spPr>
        <p:txBody>
          <a:bodyPr wrap="square" lIns="0" tIns="0" rIns="0" bIns="0" rtlCol="0" anchor="ctr"/>
          <a:lstStyle/>
          <a:p>
            <a:pPr algn="ctr" indent="0" marL="0">
              <a:buNone/>
            </a:pPr>
            <a:r>
              <a:rPr lang="en-US" sz="1050" dirty="0">
                <a:solidFill>
                  <a:srgbClr val="D8A25E"/>
                </a:solidFill>
                <a:latin typeface="Calibri" pitchFamily="34" charset="0"/>
                <a:ea typeface="Calibri" pitchFamily="34" charset="-122"/>
                <a:cs typeface="Calibri" pitchFamily="34" charset="-120"/>
              </a:rPr>
              <a:t>LightGBM argmax 0,414</a:t>
            </a:r>
            <a:endParaRPr lang="en-US" sz="1050" dirty="0"/>
          </a:p>
        </p:txBody>
      </p:sp>
      <p:sp>
        <p:nvSpPr>
          <p:cNvPr id="19" name="Shape 17"/>
          <p:cNvSpPr/>
          <p:nvPr/>
        </p:nvSpPr>
        <p:spPr>
          <a:xfrm>
            <a:off x="5923991" y="3291840"/>
            <a:ext cx="0" cy="786384"/>
          </a:xfrm>
          <a:prstGeom prst="line">
            <a:avLst/>
          </a:prstGeom>
          <a:noFill/>
          <a:ln w="22860">
            <a:solidFill>
              <a:srgbClr val="A8442A"/>
            </a:solidFill>
            <a:prstDash val="solid"/>
          </a:ln>
        </p:spPr>
      </p:sp>
      <p:sp>
        <p:nvSpPr>
          <p:cNvPr id="20" name="Text 18"/>
          <p:cNvSpPr/>
          <p:nvPr/>
        </p:nvSpPr>
        <p:spPr>
          <a:xfrm>
            <a:off x="4826711" y="4078224"/>
            <a:ext cx="2194560" cy="237744"/>
          </a:xfrm>
          <a:prstGeom prst="rect">
            <a:avLst/>
          </a:prstGeom>
          <a:noFill/>
          <a:ln/>
        </p:spPr>
        <p:txBody>
          <a:bodyPr wrap="square" lIns="0" tIns="0" rIns="0" bIns="0" rtlCol="0" anchor="ctr"/>
          <a:lstStyle/>
          <a:p>
            <a:pPr algn="ctr" indent="0" marL="0">
              <a:buNone/>
            </a:pPr>
            <a:r>
              <a:rPr lang="en-US" sz="1050" b="1" dirty="0">
                <a:solidFill>
                  <a:srgbClr val="A8442A"/>
                </a:solidFill>
                <a:latin typeface="Calibri" pitchFamily="34" charset="0"/>
                <a:ea typeface="Calibri" pitchFamily="34" charset="-122"/>
                <a:cs typeface="Calibri" pitchFamily="34" charset="-120"/>
              </a:rPr>
              <a:t>pipeline kami 0,484</a:t>
            </a:r>
            <a:endParaRPr lang="en-US" sz="1050" dirty="0"/>
          </a:p>
        </p:txBody>
      </p:sp>
      <p:sp>
        <p:nvSpPr>
          <p:cNvPr id="21" name="Shape 19"/>
          <p:cNvSpPr/>
          <p:nvPr/>
        </p:nvSpPr>
        <p:spPr>
          <a:xfrm>
            <a:off x="640080" y="4526280"/>
            <a:ext cx="5257800" cy="1645920"/>
          </a:xfrm>
          <a:prstGeom prst="roundRect">
            <a:avLst>
              <a:gd name="adj" fmla="val 3333"/>
            </a:avLst>
          </a:prstGeom>
          <a:solidFill>
            <a:srgbClr val="F4F1EC"/>
          </a:solidFill>
          <a:ln w="9525">
            <a:solidFill>
              <a:srgbClr val="DCD8D1"/>
            </a:solidFill>
            <a:prstDash val="solid"/>
          </a:ln>
        </p:spPr>
      </p:sp>
      <p:sp>
        <p:nvSpPr>
          <p:cNvPr id="22" name="Text 20"/>
          <p:cNvSpPr/>
          <p:nvPr/>
        </p:nvSpPr>
        <p:spPr>
          <a:xfrm>
            <a:off x="914400" y="4663440"/>
            <a:ext cx="4709160" cy="274320"/>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Penggaris 1: skala baku</a:t>
            </a:r>
            <a:endParaRPr lang="en-US" sz="1300" dirty="0"/>
          </a:p>
        </p:txBody>
      </p:sp>
      <p:sp>
        <p:nvSpPr>
          <p:cNvPr id="23" name="Text 21"/>
          <p:cNvSpPr/>
          <p:nvPr/>
        </p:nvSpPr>
        <p:spPr>
          <a:xfrm>
            <a:off x="914400" y="4974336"/>
            <a:ext cx="4709160" cy="109728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0,484 jatuh di kategori kesepakatan sedang. Kenaikan dari argmax memindahkan model yang sama dari batas bawah ke tengah kategori itu.</a:t>
            </a:r>
            <a:endParaRPr lang="en-US" sz="1150" dirty="0"/>
          </a:p>
        </p:txBody>
      </p:sp>
      <p:sp>
        <p:nvSpPr>
          <p:cNvPr id="24" name="Shape 22"/>
          <p:cNvSpPr/>
          <p:nvPr/>
        </p:nvSpPr>
        <p:spPr>
          <a:xfrm>
            <a:off x="6281928" y="4526280"/>
            <a:ext cx="5257800" cy="1645920"/>
          </a:xfrm>
          <a:prstGeom prst="roundRect">
            <a:avLst>
              <a:gd name="adj" fmla="val 3333"/>
            </a:avLst>
          </a:prstGeom>
          <a:solidFill>
            <a:srgbClr val="16191D"/>
          </a:solidFill>
          <a:ln w="9525">
            <a:solidFill>
              <a:srgbClr val="16191D"/>
            </a:solidFill>
            <a:prstDash val="solid"/>
          </a:ln>
        </p:spPr>
      </p:sp>
      <p:sp>
        <p:nvSpPr>
          <p:cNvPr id="25" name="Text 23"/>
          <p:cNvSpPr/>
          <p:nvPr/>
        </p:nvSpPr>
        <p:spPr>
          <a:xfrm>
            <a:off x="6556248" y="4663440"/>
            <a:ext cx="47091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Penggaris 2: batas teoretis</a:t>
            </a:r>
            <a:endParaRPr lang="en-US" sz="1300" dirty="0"/>
          </a:p>
        </p:txBody>
      </p:sp>
      <p:sp>
        <p:nvSpPr>
          <p:cNvPr id="26" name="Text 24"/>
          <p:cNvSpPr/>
          <p:nvPr/>
        </p:nvSpPr>
        <p:spPr>
          <a:xfrm>
            <a:off x="6556248" y="4974336"/>
            <a:ext cx="4709160" cy="1097280"/>
          </a:xfrm>
          <a:prstGeom prst="rect">
            <a:avLst/>
          </a:prstGeom>
          <a:noFill/>
          <a:ln/>
        </p:spPr>
        <p:txBody>
          <a:bodyPr wrap="square" lIns="0" tIns="0" rIns="0" bIns="0" rtlCol="0" anchor="t"/>
          <a:lstStyle/>
          <a:p>
            <a:pPr indent="0" marL="0">
              <a:lnSpc>
                <a:spcPts val="1600"/>
              </a:lnSpc>
              <a:buNone/>
            </a:pPr>
            <a:r>
              <a:rPr lang="en-US" sz="1150" dirty="0">
                <a:solidFill>
                  <a:srgbClr val="9AA0A7"/>
                </a:solidFill>
                <a:latin typeface="Calibri" pitchFamily="34" charset="0"/>
                <a:ea typeface="Calibri" pitchFamily="34" charset="-122"/>
                <a:cs typeface="Calibri" pitchFamily="34" charset="-120"/>
              </a:rPr>
              <a:t>Studi kembar Lykken &amp; Tellegen (1996) memperkirakan sekitar separuh variasi kesejahteraan subjektif terkait faktor bawaan yang tidak diukur survei kesehatan mana pun. Plafon kami konsisten dengan itu.</a:t>
            </a:r>
            <a:endParaRPr lang="en-US" sz="1150" dirty="0"/>
          </a:p>
        </p:txBody>
      </p:sp>
      <p:sp>
        <p:nvSpPr>
          <p:cNvPr id="28" name="Shape 25"/>
          <p:cNvSpPr/>
          <p:nvPr/>
        </p:nvSpPr>
        <p:spPr>
          <a:xfrm>
            <a:off x="640080" y="6400800"/>
            <a:ext cx="1572768" cy="45720"/>
          </a:xfrm>
          <a:prstGeom prst="rect">
            <a:avLst/>
          </a:prstGeom>
          <a:solidFill>
            <a:srgbClr val="DCD8D1"/>
          </a:solidFill>
          <a:ln/>
        </p:spPr>
      </p:sp>
      <p:sp>
        <p:nvSpPr>
          <p:cNvPr id="29" name="Text 2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0" name="Shape 27"/>
          <p:cNvSpPr/>
          <p:nvPr/>
        </p:nvSpPr>
        <p:spPr>
          <a:xfrm>
            <a:off x="2304288" y="6400800"/>
            <a:ext cx="1572768" cy="45720"/>
          </a:xfrm>
          <a:prstGeom prst="rect">
            <a:avLst/>
          </a:prstGeom>
          <a:solidFill>
            <a:srgbClr val="DCD8D1"/>
          </a:solidFill>
          <a:ln/>
        </p:spPr>
      </p:sp>
      <p:sp>
        <p:nvSpPr>
          <p:cNvPr id="31" name="Text 2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2" name="Shape 29"/>
          <p:cNvSpPr/>
          <p:nvPr/>
        </p:nvSpPr>
        <p:spPr>
          <a:xfrm>
            <a:off x="3968496" y="6400800"/>
            <a:ext cx="1572768" cy="45720"/>
          </a:xfrm>
          <a:prstGeom prst="rect">
            <a:avLst/>
          </a:prstGeom>
          <a:solidFill>
            <a:srgbClr val="DCD8D1"/>
          </a:solidFill>
          <a:ln/>
        </p:spPr>
      </p:sp>
      <p:sp>
        <p:nvSpPr>
          <p:cNvPr id="33" name="Text 3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4" name="Shape 31"/>
          <p:cNvSpPr/>
          <p:nvPr/>
        </p:nvSpPr>
        <p:spPr>
          <a:xfrm>
            <a:off x="5632704" y="6400800"/>
            <a:ext cx="1572768" cy="45720"/>
          </a:xfrm>
          <a:prstGeom prst="rect">
            <a:avLst/>
          </a:prstGeom>
          <a:solidFill>
            <a:srgbClr val="DCD8D1"/>
          </a:solidFill>
          <a:ln/>
        </p:spPr>
      </p:sp>
      <p:sp>
        <p:nvSpPr>
          <p:cNvPr id="35" name="Text 3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6" name="Shape 33"/>
          <p:cNvSpPr/>
          <p:nvPr/>
        </p:nvSpPr>
        <p:spPr>
          <a:xfrm>
            <a:off x="7296912" y="6400800"/>
            <a:ext cx="1572768" cy="45720"/>
          </a:xfrm>
          <a:prstGeom prst="rect">
            <a:avLst/>
          </a:prstGeom>
          <a:solidFill>
            <a:srgbClr val="A8442A"/>
          </a:solidFill>
          <a:ln/>
        </p:spPr>
      </p:sp>
      <p:sp>
        <p:nvSpPr>
          <p:cNvPr id="37" name="Text 3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38" name="Shape 35"/>
          <p:cNvSpPr/>
          <p:nvPr/>
        </p:nvSpPr>
        <p:spPr>
          <a:xfrm>
            <a:off x="8961120" y="6400800"/>
            <a:ext cx="1572768" cy="45720"/>
          </a:xfrm>
          <a:prstGeom prst="rect">
            <a:avLst/>
          </a:prstGeom>
          <a:solidFill>
            <a:srgbClr val="DCD8D1"/>
          </a:solidFill>
          <a:ln/>
        </p:spPr>
      </p:sp>
      <p:sp>
        <p:nvSpPr>
          <p:cNvPr id="39" name="Text 3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0" name="Text 3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Satu sel memikul 35,8% seluruh penalti.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Sumbangan tiap sel terhadap total penalti QWK, dalam persen.</a:t>
            </a:r>
            <a:endParaRPr lang="en-US" sz="1400" dirty="0"/>
          </a:p>
        </p:txBody>
      </p:sp>
      <p:sp>
        <p:nvSpPr>
          <p:cNvPr id="4" name="Text 2"/>
          <p:cNvSpPr/>
          <p:nvPr/>
        </p:nvSpPr>
        <p:spPr>
          <a:xfrm>
            <a:off x="2286000" y="2084832"/>
            <a:ext cx="4681728"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5" name="Text 3"/>
          <p:cNvSpPr/>
          <p:nvPr/>
        </p:nvSpPr>
        <p:spPr>
          <a:xfrm>
            <a:off x="2286000"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3456432"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7" name="Text 5"/>
          <p:cNvSpPr/>
          <p:nvPr/>
        </p:nvSpPr>
        <p:spPr>
          <a:xfrm>
            <a:off x="4626864"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8" name="Text 6"/>
          <p:cNvSpPr/>
          <p:nvPr/>
        </p:nvSpPr>
        <p:spPr>
          <a:xfrm>
            <a:off x="5797296" y="2377440"/>
            <a:ext cx="1170432"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9" name="Text 7"/>
          <p:cNvSpPr/>
          <p:nvPr/>
        </p:nvSpPr>
        <p:spPr>
          <a:xfrm>
            <a:off x="804672" y="399592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0" name="Text 8"/>
          <p:cNvSpPr/>
          <p:nvPr/>
        </p:nvSpPr>
        <p:spPr>
          <a:xfrm>
            <a:off x="1847088" y="2743200"/>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1" name="Shape 9"/>
          <p:cNvSpPr/>
          <p:nvPr/>
        </p:nvSpPr>
        <p:spPr>
          <a:xfrm>
            <a:off x="2286000" y="2743200"/>
            <a:ext cx="1124712" cy="649224"/>
          </a:xfrm>
          <a:prstGeom prst="rect">
            <a:avLst/>
          </a:prstGeom>
          <a:solidFill>
            <a:srgbClr val="ECE7DF"/>
          </a:solidFill>
          <a:ln w="15240">
            <a:solidFill>
              <a:srgbClr val="FFFFFF"/>
            </a:solidFill>
            <a:prstDash val="solid"/>
          </a:ln>
        </p:spPr>
      </p:sp>
      <p:sp>
        <p:nvSpPr>
          <p:cNvPr id="12" name="Text 10"/>
          <p:cNvSpPr/>
          <p:nvPr/>
        </p:nvSpPr>
        <p:spPr>
          <a:xfrm>
            <a:off x="2286000" y="2743200"/>
            <a:ext cx="1124712" cy="649224"/>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0</a:t>
            </a:r>
            <a:endParaRPr lang="en-US" sz="1200" dirty="0"/>
          </a:p>
        </p:txBody>
      </p:sp>
      <p:sp>
        <p:nvSpPr>
          <p:cNvPr id="13" name="Shape 11"/>
          <p:cNvSpPr/>
          <p:nvPr/>
        </p:nvSpPr>
        <p:spPr>
          <a:xfrm>
            <a:off x="3456432" y="2743200"/>
            <a:ext cx="1124712" cy="649224"/>
          </a:xfrm>
          <a:prstGeom prst="rect">
            <a:avLst/>
          </a:prstGeom>
          <a:solidFill>
            <a:srgbClr val="B7644E"/>
          </a:solidFill>
          <a:ln w="15240">
            <a:solidFill>
              <a:srgbClr val="FFFFFF"/>
            </a:solidFill>
            <a:prstDash val="solid"/>
          </a:ln>
        </p:spPr>
      </p:sp>
      <p:sp>
        <p:nvSpPr>
          <p:cNvPr id="14" name="Text 12"/>
          <p:cNvSpPr/>
          <p:nvPr/>
        </p:nvSpPr>
        <p:spPr>
          <a:xfrm>
            <a:off x="3456432" y="2743200"/>
            <a:ext cx="1124712" cy="6492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28,89</a:t>
            </a:r>
            <a:endParaRPr lang="en-US" sz="1200" dirty="0"/>
          </a:p>
        </p:txBody>
      </p:sp>
      <p:sp>
        <p:nvSpPr>
          <p:cNvPr id="15" name="Shape 13"/>
          <p:cNvSpPr/>
          <p:nvPr/>
        </p:nvSpPr>
        <p:spPr>
          <a:xfrm>
            <a:off x="4626864" y="2743200"/>
            <a:ext cx="1124712" cy="649224"/>
          </a:xfrm>
          <a:prstGeom prst="rect">
            <a:avLst/>
          </a:prstGeom>
          <a:solidFill>
            <a:srgbClr val="E7CDC4"/>
          </a:solidFill>
          <a:ln w="15240">
            <a:solidFill>
              <a:srgbClr val="FFFFFF"/>
            </a:solidFill>
            <a:prstDash val="solid"/>
          </a:ln>
        </p:spPr>
      </p:sp>
      <p:sp>
        <p:nvSpPr>
          <p:cNvPr id="16" name="Text 14"/>
          <p:cNvSpPr/>
          <p:nvPr/>
        </p:nvSpPr>
        <p:spPr>
          <a:xfrm>
            <a:off x="4626864" y="2743200"/>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5,58</a:t>
            </a:r>
            <a:endParaRPr lang="en-US" sz="1200" dirty="0"/>
          </a:p>
        </p:txBody>
      </p:sp>
      <p:sp>
        <p:nvSpPr>
          <p:cNvPr id="17" name="Shape 15"/>
          <p:cNvSpPr/>
          <p:nvPr/>
        </p:nvSpPr>
        <p:spPr>
          <a:xfrm>
            <a:off x="5797296" y="2743200"/>
            <a:ext cx="1124712" cy="649224"/>
          </a:xfrm>
          <a:prstGeom prst="rect">
            <a:avLst/>
          </a:prstGeom>
          <a:solidFill>
            <a:srgbClr val="F0E0D9"/>
          </a:solidFill>
          <a:ln w="15240">
            <a:solidFill>
              <a:srgbClr val="FFFFFF"/>
            </a:solidFill>
            <a:prstDash val="solid"/>
          </a:ln>
        </p:spPr>
      </p:sp>
      <p:sp>
        <p:nvSpPr>
          <p:cNvPr id="18" name="Text 16"/>
          <p:cNvSpPr/>
          <p:nvPr/>
        </p:nvSpPr>
        <p:spPr>
          <a:xfrm>
            <a:off x="5797296" y="2743200"/>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1,31</a:t>
            </a:r>
            <a:endParaRPr lang="en-US" sz="1200" dirty="0"/>
          </a:p>
        </p:txBody>
      </p:sp>
      <p:sp>
        <p:nvSpPr>
          <p:cNvPr id="19" name="Text 17"/>
          <p:cNvSpPr/>
          <p:nvPr/>
        </p:nvSpPr>
        <p:spPr>
          <a:xfrm>
            <a:off x="1847088" y="3438144"/>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0" name="Shape 18"/>
          <p:cNvSpPr/>
          <p:nvPr/>
        </p:nvSpPr>
        <p:spPr>
          <a:xfrm>
            <a:off x="2286000" y="3438144"/>
            <a:ext cx="1124712" cy="649224"/>
          </a:xfrm>
          <a:prstGeom prst="rect">
            <a:avLst/>
          </a:prstGeom>
          <a:solidFill>
            <a:srgbClr val="A8442A"/>
          </a:solidFill>
          <a:ln w="15240">
            <a:solidFill>
              <a:srgbClr val="FFFFFF"/>
            </a:solidFill>
            <a:prstDash val="solid"/>
          </a:ln>
        </p:spPr>
      </p:sp>
      <p:sp>
        <p:nvSpPr>
          <p:cNvPr id="21" name="Text 19"/>
          <p:cNvSpPr/>
          <p:nvPr/>
        </p:nvSpPr>
        <p:spPr>
          <a:xfrm>
            <a:off x="2286000" y="3438144"/>
            <a:ext cx="1124712" cy="6492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35,77</a:t>
            </a:r>
            <a:endParaRPr lang="en-US" sz="1200" dirty="0"/>
          </a:p>
        </p:txBody>
      </p:sp>
      <p:sp>
        <p:nvSpPr>
          <p:cNvPr id="22" name="Shape 20"/>
          <p:cNvSpPr/>
          <p:nvPr/>
        </p:nvSpPr>
        <p:spPr>
          <a:xfrm>
            <a:off x="3456432" y="3438144"/>
            <a:ext cx="1124712" cy="649224"/>
          </a:xfrm>
          <a:prstGeom prst="rect">
            <a:avLst/>
          </a:prstGeom>
          <a:solidFill>
            <a:srgbClr val="ECE7DF"/>
          </a:solidFill>
          <a:ln w="15240">
            <a:solidFill>
              <a:srgbClr val="FFFFFF"/>
            </a:solidFill>
            <a:prstDash val="solid"/>
          </a:ln>
        </p:spPr>
      </p:sp>
      <p:sp>
        <p:nvSpPr>
          <p:cNvPr id="23" name="Text 21"/>
          <p:cNvSpPr/>
          <p:nvPr/>
        </p:nvSpPr>
        <p:spPr>
          <a:xfrm>
            <a:off x="3456432" y="3438144"/>
            <a:ext cx="1124712" cy="649224"/>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0</a:t>
            </a:r>
            <a:endParaRPr lang="en-US" sz="1200" dirty="0"/>
          </a:p>
        </p:txBody>
      </p:sp>
      <p:sp>
        <p:nvSpPr>
          <p:cNvPr id="24" name="Shape 22"/>
          <p:cNvSpPr/>
          <p:nvPr/>
        </p:nvSpPr>
        <p:spPr>
          <a:xfrm>
            <a:off x="4626864" y="3438144"/>
            <a:ext cx="1124712" cy="649224"/>
          </a:xfrm>
          <a:prstGeom prst="rect">
            <a:avLst/>
          </a:prstGeom>
          <a:solidFill>
            <a:srgbClr val="DDB6AA"/>
          </a:solidFill>
          <a:ln w="15240">
            <a:solidFill>
              <a:srgbClr val="FFFFFF"/>
            </a:solidFill>
            <a:prstDash val="solid"/>
          </a:ln>
        </p:spPr>
      </p:sp>
      <p:sp>
        <p:nvSpPr>
          <p:cNvPr id="25" name="Text 23"/>
          <p:cNvSpPr/>
          <p:nvPr/>
        </p:nvSpPr>
        <p:spPr>
          <a:xfrm>
            <a:off x="4626864" y="3438144"/>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10,64</a:t>
            </a:r>
            <a:endParaRPr lang="en-US" sz="1200" dirty="0"/>
          </a:p>
        </p:txBody>
      </p:sp>
      <p:sp>
        <p:nvSpPr>
          <p:cNvPr id="26" name="Shape 24"/>
          <p:cNvSpPr/>
          <p:nvPr/>
        </p:nvSpPr>
        <p:spPr>
          <a:xfrm>
            <a:off x="5797296" y="3438144"/>
            <a:ext cx="1124712" cy="649224"/>
          </a:xfrm>
          <a:prstGeom prst="rect">
            <a:avLst/>
          </a:prstGeom>
          <a:solidFill>
            <a:srgbClr val="E7CDC4"/>
          </a:solidFill>
          <a:ln w="15240">
            <a:solidFill>
              <a:srgbClr val="FFFFFF"/>
            </a:solidFill>
            <a:prstDash val="solid"/>
          </a:ln>
        </p:spPr>
      </p:sp>
      <p:sp>
        <p:nvSpPr>
          <p:cNvPr id="27" name="Text 25"/>
          <p:cNvSpPr/>
          <p:nvPr/>
        </p:nvSpPr>
        <p:spPr>
          <a:xfrm>
            <a:off x="5797296" y="3438144"/>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5,49</a:t>
            </a:r>
            <a:endParaRPr lang="en-US" sz="1200" dirty="0"/>
          </a:p>
        </p:txBody>
      </p:sp>
      <p:sp>
        <p:nvSpPr>
          <p:cNvPr id="28" name="Text 26"/>
          <p:cNvSpPr/>
          <p:nvPr/>
        </p:nvSpPr>
        <p:spPr>
          <a:xfrm>
            <a:off x="1847088" y="4133088"/>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29" name="Shape 27"/>
          <p:cNvSpPr/>
          <p:nvPr/>
        </p:nvSpPr>
        <p:spPr>
          <a:xfrm>
            <a:off x="2286000" y="4133088"/>
            <a:ext cx="1124712" cy="649224"/>
          </a:xfrm>
          <a:prstGeom prst="rect">
            <a:avLst/>
          </a:prstGeom>
          <a:solidFill>
            <a:srgbClr val="F0DFD8"/>
          </a:solidFill>
          <a:ln w="15240">
            <a:solidFill>
              <a:srgbClr val="FFFFFF"/>
            </a:solidFill>
            <a:prstDash val="solid"/>
          </a:ln>
        </p:spPr>
      </p:sp>
      <p:sp>
        <p:nvSpPr>
          <p:cNvPr id="30" name="Text 28"/>
          <p:cNvSpPr/>
          <p:nvPr/>
        </p:nvSpPr>
        <p:spPr>
          <a:xfrm>
            <a:off x="2286000" y="4133088"/>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1,52</a:t>
            </a:r>
            <a:endParaRPr lang="en-US" sz="1200" dirty="0"/>
          </a:p>
        </p:txBody>
      </p:sp>
      <p:sp>
        <p:nvSpPr>
          <p:cNvPr id="31" name="Shape 29"/>
          <p:cNvSpPr/>
          <p:nvPr/>
        </p:nvSpPr>
        <p:spPr>
          <a:xfrm>
            <a:off x="3456432" y="4133088"/>
            <a:ext cx="1124712" cy="649224"/>
          </a:xfrm>
          <a:prstGeom prst="rect">
            <a:avLst/>
          </a:prstGeom>
          <a:solidFill>
            <a:srgbClr val="ECD7CF"/>
          </a:solidFill>
          <a:ln w="15240">
            <a:solidFill>
              <a:srgbClr val="FFFFFF"/>
            </a:solidFill>
            <a:prstDash val="solid"/>
          </a:ln>
        </p:spPr>
      </p:sp>
      <p:sp>
        <p:nvSpPr>
          <p:cNvPr id="32" name="Text 30"/>
          <p:cNvSpPr/>
          <p:nvPr/>
        </p:nvSpPr>
        <p:spPr>
          <a:xfrm>
            <a:off x="3456432" y="4133088"/>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3,42</a:t>
            </a:r>
            <a:endParaRPr lang="en-US" sz="1200" dirty="0"/>
          </a:p>
        </p:txBody>
      </p:sp>
      <p:sp>
        <p:nvSpPr>
          <p:cNvPr id="33" name="Shape 31"/>
          <p:cNvSpPr/>
          <p:nvPr/>
        </p:nvSpPr>
        <p:spPr>
          <a:xfrm>
            <a:off x="4626864" y="4133088"/>
            <a:ext cx="1124712" cy="649224"/>
          </a:xfrm>
          <a:prstGeom prst="rect">
            <a:avLst/>
          </a:prstGeom>
          <a:solidFill>
            <a:srgbClr val="ECE7DF"/>
          </a:solidFill>
          <a:ln w="15240">
            <a:solidFill>
              <a:srgbClr val="FFFFFF"/>
            </a:solidFill>
            <a:prstDash val="solid"/>
          </a:ln>
        </p:spPr>
      </p:sp>
      <p:sp>
        <p:nvSpPr>
          <p:cNvPr id="34" name="Text 32"/>
          <p:cNvSpPr/>
          <p:nvPr/>
        </p:nvSpPr>
        <p:spPr>
          <a:xfrm>
            <a:off x="4626864" y="4133088"/>
            <a:ext cx="1124712" cy="649224"/>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0</a:t>
            </a:r>
            <a:endParaRPr lang="en-US" sz="1200" dirty="0"/>
          </a:p>
        </p:txBody>
      </p:sp>
      <p:sp>
        <p:nvSpPr>
          <p:cNvPr id="35" name="Shape 33"/>
          <p:cNvSpPr/>
          <p:nvPr/>
        </p:nvSpPr>
        <p:spPr>
          <a:xfrm>
            <a:off x="5797296" y="4133088"/>
            <a:ext cx="1124712" cy="649224"/>
          </a:xfrm>
          <a:prstGeom prst="rect">
            <a:avLst/>
          </a:prstGeom>
          <a:solidFill>
            <a:srgbClr val="F0DFD8"/>
          </a:solidFill>
          <a:ln w="15240">
            <a:solidFill>
              <a:srgbClr val="FFFFFF"/>
            </a:solidFill>
            <a:prstDash val="solid"/>
          </a:ln>
        </p:spPr>
      </p:sp>
      <p:sp>
        <p:nvSpPr>
          <p:cNvPr id="36" name="Text 34"/>
          <p:cNvSpPr/>
          <p:nvPr/>
        </p:nvSpPr>
        <p:spPr>
          <a:xfrm>
            <a:off x="5797296" y="4133088"/>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1,51</a:t>
            </a:r>
            <a:endParaRPr lang="en-US" sz="1200" dirty="0"/>
          </a:p>
        </p:txBody>
      </p:sp>
      <p:sp>
        <p:nvSpPr>
          <p:cNvPr id="37" name="Text 35"/>
          <p:cNvSpPr/>
          <p:nvPr/>
        </p:nvSpPr>
        <p:spPr>
          <a:xfrm>
            <a:off x="1847088" y="4828032"/>
            <a:ext cx="292608" cy="69494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38" name="Shape 36"/>
          <p:cNvSpPr/>
          <p:nvPr/>
        </p:nvSpPr>
        <p:spPr>
          <a:xfrm>
            <a:off x="2286000" y="4828032"/>
            <a:ext cx="1124712" cy="649224"/>
          </a:xfrm>
          <a:prstGeom prst="rect">
            <a:avLst/>
          </a:prstGeom>
          <a:solidFill>
            <a:srgbClr val="ECD8D0"/>
          </a:solidFill>
          <a:ln w="15240">
            <a:solidFill>
              <a:srgbClr val="FFFFFF"/>
            </a:solidFill>
            <a:prstDash val="solid"/>
          </a:ln>
        </p:spPr>
      </p:sp>
      <p:sp>
        <p:nvSpPr>
          <p:cNvPr id="39" name="Text 37"/>
          <p:cNvSpPr/>
          <p:nvPr/>
        </p:nvSpPr>
        <p:spPr>
          <a:xfrm>
            <a:off x="2286000" y="4828032"/>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3,05</a:t>
            </a:r>
            <a:endParaRPr lang="en-US" sz="1200" dirty="0"/>
          </a:p>
        </p:txBody>
      </p:sp>
      <p:sp>
        <p:nvSpPr>
          <p:cNvPr id="40" name="Shape 38"/>
          <p:cNvSpPr/>
          <p:nvPr/>
        </p:nvSpPr>
        <p:spPr>
          <a:xfrm>
            <a:off x="3456432" y="4828032"/>
            <a:ext cx="1124712" cy="649224"/>
          </a:xfrm>
          <a:prstGeom prst="rect">
            <a:avLst/>
          </a:prstGeom>
          <a:solidFill>
            <a:srgbClr val="EEDCD5"/>
          </a:solidFill>
          <a:ln w="15240">
            <a:solidFill>
              <a:srgbClr val="FFFFFF"/>
            </a:solidFill>
            <a:prstDash val="solid"/>
          </a:ln>
        </p:spPr>
      </p:sp>
      <p:sp>
        <p:nvSpPr>
          <p:cNvPr id="41" name="Text 39"/>
          <p:cNvSpPr/>
          <p:nvPr/>
        </p:nvSpPr>
        <p:spPr>
          <a:xfrm>
            <a:off x="3456432" y="4828032"/>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2,19</a:t>
            </a:r>
            <a:endParaRPr lang="en-US" sz="1200" dirty="0"/>
          </a:p>
        </p:txBody>
      </p:sp>
      <p:sp>
        <p:nvSpPr>
          <p:cNvPr id="42" name="Shape 40"/>
          <p:cNvSpPr/>
          <p:nvPr/>
        </p:nvSpPr>
        <p:spPr>
          <a:xfrm>
            <a:off x="4626864" y="4828032"/>
            <a:ext cx="1124712" cy="649224"/>
          </a:xfrm>
          <a:prstGeom prst="rect">
            <a:avLst/>
          </a:prstGeom>
          <a:solidFill>
            <a:srgbClr val="F1E3DD"/>
          </a:solidFill>
          <a:ln w="15240">
            <a:solidFill>
              <a:srgbClr val="FFFFFF"/>
            </a:solidFill>
            <a:prstDash val="solid"/>
          </a:ln>
        </p:spPr>
      </p:sp>
      <p:sp>
        <p:nvSpPr>
          <p:cNvPr id="43" name="Text 41"/>
          <p:cNvSpPr/>
          <p:nvPr/>
        </p:nvSpPr>
        <p:spPr>
          <a:xfrm>
            <a:off x="4626864" y="4828032"/>
            <a:ext cx="1124712" cy="64922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0,64</a:t>
            </a:r>
            <a:endParaRPr lang="en-US" sz="1200" dirty="0"/>
          </a:p>
        </p:txBody>
      </p:sp>
      <p:sp>
        <p:nvSpPr>
          <p:cNvPr id="44" name="Shape 42"/>
          <p:cNvSpPr/>
          <p:nvPr/>
        </p:nvSpPr>
        <p:spPr>
          <a:xfrm>
            <a:off x="5797296" y="4828032"/>
            <a:ext cx="1124712" cy="649224"/>
          </a:xfrm>
          <a:prstGeom prst="rect">
            <a:avLst/>
          </a:prstGeom>
          <a:solidFill>
            <a:srgbClr val="ECE7DF"/>
          </a:solidFill>
          <a:ln w="15240">
            <a:solidFill>
              <a:srgbClr val="FFFFFF"/>
            </a:solidFill>
            <a:prstDash val="solid"/>
          </a:ln>
        </p:spPr>
      </p:sp>
      <p:sp>
        <p:nvSpPr>
          <p:cNvPr id="45" name="Text 43"/>
          <p:cNvSpPr/>
          <p:nvPr/>
        </p:nvSpPr>
        <p:spPr>
          <a:xfrm>
            <a:off x="5797296" y="4828032"/>
            <a:ext cx="1124712" cy="649224"/>
          </a:xfrm>
          <a:prstGeom prst="rect">
            <a:avLst/>
          </a:prstGeom>
          <a:noFill/>
          <a:ln/>
        </p:spPr>
        <p:txBody>
          <a:bodyPr wrap="square" lIns="0" tIns="0" rIns="0" bIns="0" rtlCol="0" anchor="ctr"/>
          <a:lstStyle/>
          <a:p>
            <a:pPr algn="ctr" indent="0" marL="0">
              <a:buNone/>
            </a:pPr>
            <a:r>
              <a:rPr lang="en-US" sz="1200" b="1" dirty="0">
                <a:solidFill>
                  <a:srgbClr val="3A4048"/>
                </a:solidFill>
                <a:latin typeface="Calibri" pitchFamily="34" charset="0"/>
                <a:ea typeface="Calibri" pitchFamily="34" charset="-122"/>
                <a:cs typeface="Calibri" pitchFamily="34" charset="-120"/>
              </a:rPr>
              <a:t>0</a:t>
            </a:r>
            <a:endParaRPr lang="en-US" sz="1200" dirty="0"/>
          </a:p>
        </p:txBody>
      </p:sp>
      <p:sp>
        <p:nvSpPr>
          <p:cNvPr id="46" name="Text 44"/>
          <p:cNvSpPr/>
          <p:nvPr/>
        </p:nvSpPr>
        <p:spPr>
          <a:xfrm>
            <a:off x="1737360" y="5623560"/>
            <a:ext cx="4937760" cy="310896"/>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Sel merah adalah aktual 2 yang diprediksi 1.</a:t>
            </a:r>
            <a:endParaRPr lang="en-US" sz="1050" dirty="0"/>
          </a:p>
        </p:txBody>
      </p:sp>
      <p:sp>
        <p:nvSpPr>
          <p:cNvPr id="47" name="Shape 45"/>
          <p:cNvSpPr/>
          <p:nvPr/>
        </p:nvSpPr>
        <p:spPr>
          <a:xfrm>
            <a:off x="7589520" y="2377440"/>
            <a:ext cx="3962095" cy="1600200"/>
          </a:xfrm>
          <a:prstGeom prst="roundRect">
            <a:avLst>
              <a:gd name="adj" fmla="val 3429"/>
            </a:avLst>
          </a:prstGeom>
          <a:solidFill>
            <a:srgbClr val="ECE7DF"/>
          </a:solidFill>
          <a:ln w="9525">
            <a:solidFill>
              <a:srgbClr val="DCD8D1"/>
            </a:solidFill>
            <a:prstDash val="solid"/>
          </a:ln>
        </p:spPr>
      </p:sp>
      <p:sp>
        <p:nvSpPr>
          <p:cNvPr id="48" name="Text 46"/>
          <p:cNvSpPr/>
          <p:nvPr/>
        </p:nvSpPr>
        <p:spPr>
          <a:xfrm>
            <a:off x="7863840" y="2578608"/>
            <a:ext cx="3413455" cy="585216"/>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64,7%</a:t>
            </a:r>
            <a:endParaRPr lang="en-US" sz="3200" dirty="0"/>
          </a:p>
        </p:txBody>
      </p:sp>
      <p:sp>
        <p:nvSpPr>
          <p:cNvPr id="49" name="Text 47"/>
          <p:cNvSpPr/>
          <p:nvPr/>
        </p:nvSpPr>
        <p:spPr>
          <a:xfrm>
            <a:off x="7863840" y="3200400"/>
            <a:ext cx="3413455" cy="420624"/>
          </a:xfrm>
          <a:prstGeom prst="rect">
            <a:avLst/>
          </a:prstGeom>
          <a:noFill/>
          <a:ln/>
        </p:spPr>
        <p:txBody>
          <a:bodyPr wrap="square" lIns="0" tIns="0" rIns="0" bIns="0" rtlCol="0" anchor="t"/>
          <a:lstStyle/>
          <a:p>
            <a:pPr algn="l" indent="0" marL="0">
              <a:lnSpc>
                <a:spcPts val="1300"/>
              </a:lnSpc>
              <a:buNone/>
            </a:pPr>
            <a:r>
              <a:rPr lang="en-US" sz="1150" dirty="0">
                <a:solidFill>
                  <a:srgbClr val="6E747C"/>
                </a:solidFill>
                <a:latin typeface="Calibri" pitchFamily="34" charset="0"/>
                <a:ea typeface="Calibri" pitchFamily="34" charset="-122"/>
                <a:cs typeface="Calibri" pitchFamily="34" charset="-120"/>
              </a:rPr>
              <a:t>Porsi penalti yang datang hanya dari kebingungan kelas 1 dan 2</a:t>
            </a:r>
            <a:endParaRPr lang="en-US" sz="1150" dirty="0"/>
          </a:p>
        </p:txBody>
      </p:sp>
      <p:sp>
        <p:nvSpPr>
          <p:cNvPr id="50" name="Text 48"/>
          <p:cNvSpPr/>
          <p:nvPr/>
        </p:nvSpPr>
        <p:spPr>
          <a:xfrm>
            <a:off x="7589520" y="4206240"/>
            <a:ext cx="3962095" cy="137160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Keduanya memang berdekatan secara substantif. Membedakan "Sangat puas" dari "Puas" sebagian bersifat subjektif pada tingkat responden, dan kemungkinan besar tidak dapat dipisahkan lebih jauh dari variabel yang tersedia.</a:t>
            </a:r>
            <a:endParaRPr lang="en-US" sz="1200" dirty="0"/>
          </a:p>
        </p:txBody>
      </p:sp>
      <p:sp>
        <p:nvSpPr>
          <p:cNvPr id="51" name="Shape 49"/>
          <p:cNvSpPr/>
          <p:nvPr/>
        </p:nvSpPr>
        <p:spPr>
          <a:xfrm>
            <a:off x="7589520" y="5541264"/>
            <a:ext cx="3962095" cy="603504"/>
          </a:xfrm>
          <a:prstGeom prst="roundRect">
            <a:avLst>
              <a:gd name="adj" fmla="val 9091"/>
            </a:avLst>
          </a:prstGeom>
          <a:solidFill>
            <a:srgbClr val="FFFFFF"/>
          </a:solidFill>
          <a:ln w="9525">
            <a:solidFill>
              <a:srgbClr val="DCD8D1"/>
            </a:solidFill>
            <a:prstDash val="solid"/>
          </a:ln>
        </p:spPr>
      </p:sp>
      <p:sp>
        <p:nvSpPr>
          <p:cNvPr id="52" name="Text 50"/>
          <p:cNvSpPr/>
          <p:nvPr/>
        </p:nvSpPr>
        <p:spPr>
          <a:xfrm>
            <a:off x="7845552" y="5541264"/>
            <a:ext cx="3450031" cy="603504"/>
          </a:xfrm>
          <a:prstGeom prst="rect">
            <a:avLst/>
          </a:prstGeom>
          <a:noFill/>
          <a:ln/>
        </p:spPr>
        <p:txBody>
          <a:bodyPr wrap="square" lIns="0" tIns="0" rIns="0" bIns="0" rtlCol="0" anchor="ctr"/>
          <a:lstStyle/>
          <a:p>
            <a:pPr indent="0" marL="0">
              <a:buNone/>
            </a:pPr>
            <a:r>
              <a:rPr lang="en-US" sz="1150" b="1" dirty="0">
                <a:solidFill>
                  <a:srgbClr val="2F6B5F"/>
                </a:solidFill>
                <a:latin typeface="Calibri" pitchFamily="34" charset="0"/>
                <a:ea typeface="Calibri" pitchFamily="34" charset="-122"/>
                <a:cs typeface="Calibri" pitchFamily="34" charset="-120"/>
              </a:rPr>
              <a:t>Galat berjarak tiga hanya menyumbang 4,36%.</a:t>
            </a:r>
            <a:endParaRPr lang="en-US" sz="1150" dirty="0"/>
          </a:p>
        </p:txBody>
      </p:sp>
      <p:sp>
        <p:nvSpPr>
          <p:cNvPr id="54" name="Shape 51"/>
          <p:cNvSpPr/>
          <p:nvPr/>
        </p:nvSpPr>
        <p:spPr>
          <a:xfrm>
            <a:off x="640080" y="6400800"/>
            <a:ext cx="1572768" cy="45720"/>
          </a:xfrm>
          <a:prstGeom prst="rect">
            <a:avLst/>
          </a:prstGeom>
          <a:solidFill>
            <a:srgbClr val="DCD8D1"/>
          </a:solidFill>
          <a:ln/>
        </p:spPr>
      </p:sp>
      <p:sp>
        <p:nvSpPr>
          <p:cNvPr id="55" name="Text 5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56" name="Shape 53"/>
          <p:cNvSpPr/>
          <p:nvPr/>
        </p:nvSpPr>
        <p:spPr>
          <a:xfrm>
            <a:off x="2304288" y="6400800"/>
            <a:ext cx="1572768" cy="45720"/>
          </a:xfrm>
          <a:prstGeom prst="rect">
            <a:avLst/>
          </a:prstGeom>
          <a:solidFill>
            <a:srgbClr val="DCD8D1"/>
          </a:solidFill>
          <a:ln/>
        </p:spPr>
      </p:sp>
      <p:sp>
        <p:nvSpPr>
          <p:cNvPr id="57" name="Text 5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58" name="Shape 55"/>
          <p:cNvSpPr/>
          <p:nvPr/>
        </p:nvSpPr>
        <p:spPr>
          <a:xfrm>
            <a:off x="3968496" y="6400800"/>
            <a:ext cx="1572768" cy="45720"/>
          </a:xfrm>
          <a:prstGeom prst="rect">
            <a:avLst/>
          </a:prstGeom>
          <a:solidFill>
            <a:srgbClr val="DCD8D1"/>
          </a:solidFill>
          <a:ln/>
        </p:spPr>
      </p:sp>
      <p:sp>
        <p:nvSpPr>
          <p:cNvPr id="59" name="Text 5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60" name="Shape 57"/>
          <p:cNvSpPr/>
          <p:nvPr/>
        </p:nvSpPr>
        <p:spPr>
          <a:xfrm>
            <a:off x="5632704" y="6400800"/>
            <a:ext cx="1572768" cy="45720"/>
          </a:xfrm>
          <a:prstGeom prst="rect">
            <a:avLst/>
          </a:prstGeom>
          <a:solidFill>
            <a:srgbClr val="DCD8D1"/>
          </a:solidFill>
          <a:ln/>
        </p:spPr>
      </p:sp>
      <p:sp>
        <p:nvSpPr>
          <p:cNvPr id="61" name="Text 5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2" name="Shape 59"/>
          <p:cNvSpPr/>
          <p:nvPr/>
        </p:nvSpPr>
        <p:spPr>
          <a:xfrm>
            <a:off x="7296912" y="6400800"/>
            <a:ext cx="1572768" cy="45720"/>
          </a:xfrm>
          <a:prstGeom prst="rect">
            <a:avLst/>
          </a:prstGeom>
          <a:solidFill>
            <a:srgbClr val="A8442A"/>
          </a:solidFill>
          <a:ln/>
        </p:spPr>
      </p:sp>
      <p:sp>
        <p:nvSpPr>
          <p:cNvPr id="63" name="Text 6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64" name="Shape 61"/>
          <p:cNvSpPr/>
          <p:nvPr/>
        </p:nvSpPr>
        <p:spPr>
          <a:xfrm>
            <a:off x="8961120" y="6400800"/>
            <a:ext cx="1572768" cy="45720"/>
          </a:xfrm>
          <a:prstGeom prst="rect">
            <a:avLst/>
          </a:prstGeom>
          <a:solidFill>
            <a:srgbClr val="DCD8D1"/>
          </a:solidFill>
          <a:ln/>
        </p:spPr>
      </p:sp>
      <p:sp>
        <p:nvSpPr>
          <p:cNvPr id="65" name="Text 6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6" name="Text 6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Model ini menangkap kelas langka. argmax tidak sama sekali.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Presisi, recall, dan F1 per kelas pada prediksi out-of-fold.</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2651760"/>
                <a:gridCol w="1463040"/>
                <a:gridCol w="1463040"/>
                <a:gridCol w="1463040"/>
                <a:gridCol w="1920240"/>
                <a:gridCol w="1947672"/>
              </a:tblGrid>
              <a:tr h="347472">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Kelas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presisi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recall</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jumlah aktual</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jumlah prediksi</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1  Sangat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0,6689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0,7078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0,6878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42.968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45.468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2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0,6775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0,5909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0,6313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48.189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42.033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3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0,2076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0,3847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0,2696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3.559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6.596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4  Sangat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0,1753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0,2968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0,2204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893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1.512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4343400"/>
            <a:ext cx="5257800" cy="1783080"/>
          </a:xfrm>
          <a:prstGeom prst="roundRect">
            <a:avLst>
              <a:gd name="adj" fmla="val 3077"/>
            </a:avLst>
          </a:prstGeom>
          <a:solidFill>
            <a:srgbClr val="ECE7DF"/>
          </a:solidFill>
          <a:ln w="9525">
            <a:solidFill>
              <a:srgbClr val="DCD8D1"/>
            </a:solidFill>
            <a:prstDash val="solid"/>
          </a:ln>
        </p:spPr>
      </p:sp>
      <p:sp>
        <p:nvSpPr>
          <p:cNvPr id="6" name="Text 3"/>
          <p:cNvSpPr/>
          <p:nvPr/>
        </p:nvSpPr>
        <p:spPr>
          <a:xfrm>
            <a:off x="914400" y="4498848"/>
            <a:ext cx="4709160" cy="274320"/>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Recall rendah, tapi tiap tangkapan bernilai besar</a:t>
            </a:r>
            <a:endParaRPr lang="en-US" sz="1300" dirty="0"/>
          </a:p>
        </p:txBody>
      </p:sp>
      <p:sp>
        <p:nvSpPr>
          <p:cNvPr id="7" name="Text 4"/>
          <p:cNvSpPr/>
          <p:nvPr/>
        </p:nvSpPr>
        <p:spPr>
          <a:xfrm>
            <a:off x="914400" y="4828032"/>
            <a:ext cx="4709160" cy="118872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Penalti kuadratik membuat satu kelas 4 yang berhasil ditangkap menghapus penalti sembilan kali lipat. Kolom jumlah prediksi sengaja melebihi jumlah aktual: itulah harga keberanian yang dibayar dengan presisi.</a:t>
            </a:r>
            <a:endParaRPr lang="en-US" sz="1150" dirty="0"/>
          </a:p>
        </p:txBody>
      </p:sp>
      <p:sp>
        <p:nvSpPr>
          <p:cNvPr id="8" name="Shape 5"/>
          <p:cNvSpPr/>
          <p:nvPr/>
        </p:nvSpPr>
        <p:spPr>
          <a:xfrm>
            <a:off x="6281928" y="4343400"/>
            <a:ext cx="5257800" cy="1783080"/>
          </a:xfrm>
          <a:prstGeom prst="roundRect">
            <a:avLst>
              <a:gd name="adj" fmla="val 3077"/>
            </a:avLst>
          </a:prstGeom>
          <a:solidFill>
            <a:srgbClr val="FFFFFF"/>
          </a:solidFill>
          <a:ln w="9525">
            <a:solidFill>
              <a:srgbClr val="DCD8D1"/>
            </a:solidFill>
            <a:prstDash val="solid"/>
          </a:ln>
        </p:spPr>
      </p:sp>
      <p:sp>
        <p:nvSpPr>
          <p:cNvPr id="9" name="Text 6"/>
          <p:cNvSpPr/>
          <p:nvPr/>
        </p:nvSpPr>
        <p:spPr>
          <a:xfrm>
            <a:off x="6556248" y="4498848"/>
            <a:ext cx="4709160" cy="274320"/>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Kalibrasi diperiksa, koreksi tidak diperlukan</a:t>
            </a:r>
            <a:endParaRPr lang="en-US" sz="1300" dirty="0"/>
          </a:p>
        </p:txBody>
      </p:sp>
      <p:sp>
        <p:nvSpPr>
          <p:cNvPr id="10" name="Text 7"/>
          <p:cNvSpPr/>
          <p:nvPr/>
        </p:nvSpPr>
        <p:spPr>
          <a:xfrm>
            <a:off x="6556248" y="4828032"/>
            <a:ext cx="4709160" cy="1188720"/>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Diagram reliabilitas mengikuti garis diagonal cukup dekat, sehingga Platt scaling maupun regresi isotonik tidak dipakai. Rata-rata lintas lima fold dan lima model sendiri sudah meredam sifat terlalu percaya diri boosting.</a:t>
            </a:r>
            <a:endParaRPr lang="en-US" sz="1150" dirty="0"/>
          </a:p>
        </p:txBody>
      </p:sp>
      <p:sp>
        <p:nvSpPr>
          <p:cNvPr id="12" name="Shape 8"/>
          <p:cNvSpPr/>
          <p:nvPr/>
        </p:nvSpPr>
        <p:spPr>
          <a:xfrm>
            <a:off x="640080" y="6400800"/>
            <a:ext cx="1572768" cy="45720"/>
          </a:xfrm>
          <a:prstGeom prst="rect">
            <a:avLst/>
          </a:prstGeom>
          <a:solidFill>
            <a:srgbClr val="DCD8D1"/>
          </a:solidFill>
          <a:ln/>
        </p:spPr>
      </p:sp>
      <p:sp>
        <p:nvSpPr>
          <p:cNvPr id="13" name="Text 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4" name="Shape 10"/>
          <p:cNvSpPr/>
          <p:nvPr/>
        </p:nvSpPr>
        <p:spPr>
          <a:xfrm>
            <a:off x="2304288" y="6400800"/>
            <a:ext cx="1572768" cy="45720"/>
          </a:xfrm>
          <a:prstGeom prst="rect">
            <a:avLst/>
          </a:prstGeom>
          <a:solidFill>
            <a:srgbClr val="DCD8D1"/>
          </a:solidFill>
          <a:ln/>
        </p:spPr>
      </p:sp>
      <p:sp>
        <p:nvSpPr>
          <p:cNvPr id="15" name="Text 1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6" name="Shape 12"/>
          <p:cNvSpPr/>
          <p:nvPr/>
        </p:nvSpPr>
        <p:spPr>
          <a:xfrm>
            <a:off x="3968496" y="6400800"/>
            <a:ext cx="1572768" cy="45720"/>
          </a:xfrm>
          <a:prstGeom prst="rect">
            <a:avLst/>
          </a:prstGeom>
          <a:solidFill>
            <a:srgbClr val="DCD8D1"/>
          </a:solidFill>
          <a:ln/>
        </p:spPr>
      </p:sp>
      <p:sp>
        <p:nvSpPr>
          <p:cNvPr id="17" name="Text 1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8" name="Shape 14"/>
          <p:cNvSpPr/>
          <p:nvPr/>
        </p:nvSpPr>
        <p:spPr>
          <a:xfrm>
            <a:off x="5632704" y="6400800"/>
            <a:ext cx="1572768" cy="45720"/>
          </a:xfrm>
          <a:prstGeom prst="rect">
            <a:avLst/>
          </a:prstGeom>
          <a:solidFill>
            <a:srgbClr val="DCD8D1"/>
          </a:solidFill>
          <a:ln/>
        </p:spPr>
      </p:sp>
      <p:sp>
        <p:nvSpPr>
          <p:cNvPr id="19" name="Text 1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0" name="Shape 16"/>
          <p:cNvSpPr/>
          <p:nvPr/>
        </p:nvSpPr>
        <p:spPr>
          <a:xfrm>
            <a:off x="7296912" y="6400800"/>
            <a:ext cx="1572768" cy="45720"/>
          </a:xfrm>
          <a:prstGeom prst="rect">
            <a:avLst/>
          </a:prstGeom>
          <a:solidFill>
            <a:srgbClr val="A8442A"/>
          </a:solidFill>
          <a:ln/>
        </p:spPr>
      </p:sp>
      <p:sp>
        <p:nvSpPr>
          <p:cNvPr id="21" name="Text 1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22" name="Shape 18"/>
          <p:cNvSpPr/>
          <p:nvPr/>
        </p:nvSpPr>
        <p:spPr>
          <a:xfrm>
            <a:off x="8961120" y="6400800"/>
            <a:ext cx="1572768" cy="45720"/>
          </a:xfrm>
          <a:prstGeom prst="rect">
            <a:avLst/>
          </a:prstGeom>
          <a:solidFill>
            <a:srgbClr val="DCD8D1"/>
          </a:solidFill>
          <a:ln/>
        </p:spPr>
      </p:sp>
      <p:sp>
        <p:nvSpPr>
          <p:cNvPr id="23" name="Text 1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4" name="Text 2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Tidak ada subkelompok yang ditinggalkan model ini.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Rata-rata skor bisa menyembunyikan kegagalan sistematis, jadi kami memecahnya per kelompok.</a:t>
            </a:r>
            <a:endParaRPr lang="en-US" sz="1400" dirty="0"/>
          </a:p>
        </p:txBody>
      </p:sp>
      <p:sp>
        <p:nvSpPr>
          <p:cNvPr id="4" name="Text 2"/>
          <p:cNvSpPr/>
          <p:nvPr/>
        </p:nvSpPr>
        <p:spPr>
          <a:xfrm>
            <a:off x="640080" y="2194560"/>
            <a:ext cx="5257800" cy="274320"/>
          </a:xfrm>
          <a:prstGeom prst="rect">
            <a:avLst/>
          </a:prstGeom>
          <a:noFill/>
          <a:ln/>
        </p:spPr>
        <p:txBody>
          <a:bodyPr wrap="square" lIns="0" tIns="0" rIns="0" bIns="0" rtlCol="0" anchor="ctr"/>
          <a:lstStyle/>
          <a:p>
            <a:pPr indent="0" marL="0">
              <a:buNone/>
            </a:pPr>
            <a:r>
              <a:rPr lang="en-US" sz="950" b="1" spc="120" kern="0" dirty="0">
                <a:solidFill>
                  <a:srgbClr val="6E747C"/>
                </a:solidFill>
                <a:latin typeface="Calibri" pitchFamily="34" charset="0"/>
                <a:ea typeface="Calibri" pitchFamily="34" charset="-122"/>
                <a:cs typeface="Calibri" pitchFamily="34" charset="-120"/>
              </a:rPr>
              <a:t>MENURUT JENIS KELAMIN</a:t>
            </a:r>
            <a:endParaRPr lang="en-US" sz="950" dirty="0"/>
          </a:p>
        </p:txBody>
      </p:sp>
      <p:sp>
        <p:nvSpPr>
          <p:cNvPr id="5" name="Text 3"/>
          <p:cNvSpPr/>
          <p:nvPr/>
        </p:nvSpPr>
        <p:spPr>
          <a:xfrm>
            <a:off x="640080" y="2487168"/>
            <a:ext cx="2103120" cy="310896"/>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Laki-laki  (40.381)</a:t>
            </a:r>
            <a:endParaRPr lang="en-US" sz="1050" dirty="0"/>
          </a:p>
        </p:txBody>
      </p:sp>
      <p:sp>
        <p:nvSpPr>
          <p:cNvPr id="6" name="Shape 4"/>
          <p:cNvSpPr/>
          <p:nvPr/>
        </p:nvSpPr>
        <p:spPr>
          <a:xfrm>
            <a:off x="2852928" y="2551176"/>
            <a:ext cx="2157984" cy="182880"/>
          </a:xfrm>
          <a:prstGeom prst="rect">
            <a:avLst/>
          </a:prstGeom>
          <a:solidFill>
            <a:srgbClr val="F4F1EC"/>
          </a:solidFill>
          <a:ln/>
        </p:spPr>
      </p:sp>
      <p:sp>
        <p:nvSpPr>
          <p:cNvPr id="7" name="Shape 5"/>
          <p:cNvSpPr/>
          <p:nvPr/>
        </p:nvSpPr>
        <p:spPr>
          <a:xfrm>
            <a:off x="2852928" y="2551176"/>
            <a:ext cx="2008170" cy="182880"/>
          </a:xfrm>
          <a:prstGeom prst="rect">
            <a:avLst/>
          </a:prstGeom>
          <a:solidFill>
            <a:srgbClr val="2F6B5F"/>
          </a:solidFill>
          <a:ln/>
        </p:spPr>
      </p:sp>
      <p:sp>
        <p:nvSpPr>
          <p:cNvPr id="8" name="Text 6"/>
          <p:cNvSpPr/>
          <p:nvPr/>
        </p:nvSpPr>
        <p:spPr>
          <a:xfrm>
            <a:off x="5102352" y="2487168"/>
            <a:ext cx="777240" cy="310896"/>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0,4839</a:t>
            </a:r>
            <a:endParaRPr lang="en-US" sz="1050" dirty="0"/>
          </a:p>
        </p:txBody>
      </p:sp>
      <p:sp>
        <p:nvSpPr>
          <p:cNvPr id="9" name="Text 7"/>
          <p:cNvSpPr/>
          <p:nvPr/>
        </p:nvSpPr>
        <p:spPr>
          <a:xfrm>
            <a:off x="640080" y="2852928"/>
            <a:ext cx="2103120" cy="310896"/>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Perempuan  (47.753)</a:t>
            </a:r>
            <a:endParaRPr lang="en-US" sz="1050" dirty="0"/>
          </a:p>
        </p:txBody>
      </p:sp>
      <p:sp>
        <p:nvSpPr>
          <p:cNvPr id="10" name="Shape 8"/>
          <p:cNvSpPr/>
          <p:nvPr/>
        </p:nvSpPr>
        <p:spPr>
          <a:xfrm>
            <a:off x="2852928" y="2916936"/>
            <a:ext cx="2157984" cy="182880"/>
          </a:xfrm>
          <a:prstGeom prst="rect">
            <a:avLst/>
          </a:prstGeom>
          <a:solidFill>
            <a:srgbClr val="F4F1EC"/>
          </a:solidFill>
          <a:ln/>
        </p:spPr>
      </p:sp>
      <p:sp>
        <p:nvSpPr>
          <p:cNvPr id="11" name="Shape 9"/>
          <p:cNvSpPr/>
          <p:nvPr/>
        </p:nvSpPr>
        <p:spPr>
          <a:xfrm>
            <a:off x="2852928" y="2916936"/>
            <a:ext cx="2006925" cy="182880"/>
          </a:xfrm>
          <a:prstGeom prst="rect">
            <a:avLst/>
          </a:prstGeom>
          <a:solidFill>
            <a:srgbClr val="2F6B5F"/>
          </a:solidFill>
          <a:ln/>
        </p:spPr>
      </p:sp>
      <p:sp>
        <p:nvSpPr>
          <p:cNvPr id="12" name="Text 10"/>
          <p:cNvSpPr/>
          <p:nvPr/>
        </p:nvSpPr>
        <p:spPr>
          <a:xfrm>
            <a:off x="5102352" y="2852928"/>
            <a:ext cx="777240" cy="310896"/>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0,4836</a:t>
            </a:r>
            <a:endParaRPr lang="en-US" sz="1050" dirty="0"/>
          </a:p>
        </p:txBody>
      </p:sp>
      <p:sp>
        <p:nvSpPr>
          <p:cNvPr id="13" name="Text 11"/>
          <p:cNvSpPr/>
          <p:nvPr/>
        </p:nvSpPr>
        <p:spPr>
          <a:xfrm>
            <a:off x="640080" y="3310128"/>
            <a:ext cx="5257800" cy="274320"/>
          </a:xfrm>
          <a:prstGeom prst="rect">
            <a:avLst/>
          </a:prstGeom>
          <a:noFill/>
          <a:ln/>
        </p:spPr>
        <p:txBody>
          <a:bodyPr wrap="square" lIns="0" tIns="0" rIns="0" bIns="0" rtlCol="0" anchor="ctr"/>
          <a:lstStyle/>
          <a:p>
            <a:pPr indent="0" marL="0">
              <a:buNone/>
            </a:pPr>
            <a:r>
              <a:rPr lang="en-US" sz="950" b="1" spc="120" kern="0" dirty="0">
                <a:solidFill>
                  <a:srgbClr val="6E747C"/>
                </a:solidFill>
                <a:latin typeface="Calibri" pitchFamily="34" charset="0"/>
                <a:ea typeface="Calibri" pitchFamily="34" charset="-122"/>
                <a:cs typeface="Calibri" pitchFamily="34" charset="-120"/>
              </a:rPr>
              <a:t>MENURUT KELOMPOK USIA</a:t>
            </a:r>
            <a:endParaRPr lang="en-US" sz="950" dirty="0"/>
          </a:p>
        </p:txBody>
      </p:sp>
      <p:sp>
        <p:nvSpPr>
          <p:cNvPr id="14" name="Text 12"/>
          <p:cNvSpPr/>
          <p:nvPr/>
        </p:nvSpPr>
        <p:spPr>
          <a:xfrm>
            <a:off x="640080" y="3602736"/>
            <a:ext cx="2103120" cy="292608"/>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18 sampai 29  (11.350)</a:t>
            </a:r>
            <a:endParaRPr lang="en-US" sz="1050" dirty="0"/>
          </a:p>
        </p:txBody>
      </p:sp>
      <p:sp>
        <p:nvSpPr>
          <p:cNvPr id="15" name="Shape 13"/>
          <p:cNvSpPr/>
          <p:nvPr/>
        </p:nvSpPr>
        <p:spPr>
          <a:xfrm>
            <a:off x="2852928" y="3666744"/>
            <a:ext cx="2157984" cy="164592"/>
          </a:xfrm>
          <a:prstGeom prst="rect">
            <a:avLst/>
          </a:prstGeom>
          <a:solidFill>
            <a:srgbClr val="F4F1EC"/>
          </a:solidFill>
          <a:ln/>
        </p:spPr>
      </p:sp>
      <p:sp>
        <p:nvSpPr>
          <p:cNvPr id="16" name="Shape 14"/>
          <p:cNvSpPr/>
          <p:nvPr/>
        </p:nvSpPr>
        <p:spPr>
          <a:xfrm>
            <a:off x="2852928" y="3666744"/>
            <a:ext cx="1868316" cy="164592"/>
          </a:xfrm>
          <a:prstGeom prst="rect">
            <a:avLst/>
          </a:prstGeom>
          <a:solidFill>
            <a:srgbClr val="D8A25E"/>
          </a:solidFill>
          <a:ln/>
        </p:spPr>
      </p:sp>
      <p:sp>
        <p:nvSpPr>
          <p:cNvPr id="17" name="Text 15"/>
          <p:cNvSpPr/>
          <p:nvPr/>
        </p:nvSpPr>
        <p:spPr>
          <a:xfrm>
            <a:off x="5102352" y="3602736"/>
            <a:ext cx="777240" cy="292608"/>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0,4502</a:t>
            </a:r>
            <a:endParaRPr lang="en-US" sz="1050" dirty="0"/>
          </a:p>
        </p:txBody>
      </p:sp>
      <p:sp>
        <p:nvSpPr>
          <p:cNvPr id="18" name="Text 16"/>
          <p:cNvSpPr/>
          <p:nvPr/>
        </p:nvSpPr>
        <p:spPr>
          <a:xfrm>
            <a:off x="640080" y="3941064"/>
            <a:ext cx="2103120" cy="292608"/>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30 sampai 44  (20.815)</a:t>
            </a:r>
            <a:endParaRPr lang="en-US" sz="1050" dirty="0"/>
          </a:p>
        </p:txBody>
      </p:sp>
      <p:sp>
        <p:nvSpPr>
          <p:cNvPr id="19" name="Shape 17"/>
          <p:cNvSpPr/>
          <p:nvPr/>
        </p:nvSpPr>
        <p:spPr>
          <a:xfrm>
            <a:off x="2852928" y="4005072"/>
            <a:ext cx="2157984" cy="164592"/>
          </a:xfrm>
          <a:prstGeom prst="rect">
            <a:avLst/>
          </a:prstGeom>
          <a:solidFill>
            <a:srgbClr val="F4F1EC"/>
          </a:solidFill>
          <a:ln/>
        </p:spPr>
      </p:sp>
      <p:sp>
        <p:nvSpPr>
          <p:cNvPr id="20" name="Shape 18"/>
          <p:cNvSpPr/>
          <p:nvPr/>
        </p:nvSpPr>
        <p:spPr>
          <a:xfrm>
            <a:off x="2852928" y="4005072"/>
            <a:ext cx="1971235" cy="164592"/>
          </a:xfrm>
          <a:prstGeom prst="rect">
            <a:avLst/>
          </a:prstGeom>
          <a:solidFill>
            <a:srgbClr val="8FB0A4"/>
          </a:solidFill>
          <a:ln/>
        </p:spPr>
      </p:sp>
      <p:sp>
        <p:nvSpPr>
          <p:cNvPr id="21" name="Text 19"/>
          <p:cNvSpPr/>
          <p:nvPr/>
        </p:nvSpPr>
        <p:spPr>
          <a:xfrm>
            <a:off x="5102352" y="3941064"/>
            <a:ext cx="777240" cy="292608"/>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0,4750</a:t>
            </a:r>
            <a:endParaRPr lang="en-US" sz="1050" dirty="0"/>
          </a:p>
        </p:txBody>
      </p:sp>
      <p:sp>
        <p:nvSpPr>
          <p:cNvPr id="22" name="Text 20"/>
          <p:cNvSpPr/>
          <p:nvPr/>
        </p:nvSpPr>
        <p:spPr>
          <a:xfrm>
            <a:off x="640080" y="4279392"/>
            <a:ext cx="2103120" cy="292608"/>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45 sampai 59  (19.342)</a:t>
            </a:r>
            <a:endParaRPr lang="en-US" sz="1050" dirty="0"/>
          </a:p>
        </p:txBody>
      </p:sp>
      <p:sp>
        <p:nvSpPr>
          <p:cNvPr id="23" name="Shape 21"/>
          <p:cNvSpPr/>
          <p:nvPr/>
        </p:nvSpPr>
        <p:spPr>
          <a:xfrm>
            <a:off x="2852928" y="4343400"/>
            <a:ext cx="2157984" cy="164592"/>
          </a:xfrm>
          <a:prstGeom prst="rect">
            <a:avLst/>
          </a:prstGeom>
          <a:solidFill>
            <a:srgbClr val="F4F1EC"/>
          </a:solidFill>
          <a:ln/>
        </p:spPr>
      </p:sp>
      <p:sp>
        <p:nvSpPr>
          <p:cNvPr id="24" name="Shape 22"/>
          <p:cNvSpPr/>
          <p:nvPr/>
        </p:nvSpPr>
        <p:spPr>
          <a:xfrm>
            <a:off x="2852928" y="4343400"/>
            <a:ext cx="2060875" cy="164592"/>
          </a:xfrm>
          <a:prstGeom prst="rect">
            <a:avLst/>
          </a:prstGeom>
          <a:solidFill>
            <a:srgbClr val="2F6B5F"/>
          </a:solidFill>
          <a:ln/>
        </p:spPr>
      </p:sp>
      <p:sp>
        <p:nvSpPr>
          <p:cNvPr id="25" name="Text 23"/>
          <p:cNvSpPr/>
          <p:nvPr/>
        </p:nvSpPr>
        <p:spPr>
          <a:xfrm>
            <a:off x="5102352" y="4279392"/>
            <a:ext cx="777240" cy="292608"/>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0,4966</a:t>
            </a:r>
            <a:endParaRPr lang="en-US" sz="1050" dirty="0"/>
          </a:p>
        </p:txBody>
      </p:sp>
      <p:sp>
        <p:nvSpPr>
          <p:cNvPr id="26" name="Text 24"/>
          <p:cNvSpPr/>
          <p:nvPr/>
        </p:nvSpPr>
        <p:spPr>
          <a:xfrm>
            <a:off x="640080" y="4617720"/>
            <a:ext cx="2103120" cy="292608"/>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60 sampai 74  (24.106)</a:t>
            </a:r>
            <a:endParaRPr lang="en-US" sz="1050" dirty="0"/>
          </a:p>
        </p:txBody>
      </p:sp>
      <p:sp>
        <p:nvSpPr>
          <p:cNvPr id="27" name="Shape 25"/>
          <p:cNvSpPr/>
          <p:nvPr/>
        </p:nvSpPr>
        <p:spPr>
          <a:xfrm>
            <a:off x="2852928" y="4681728"/>
            <a:ext cx="2157984" cy="164592"/>
          </a:xfrm>
          <a:prstGeom prst="rect">
            <a:avLst/>
          </a:prstGeom>
          <a:solidFill>
            <a:srgbClr val="F4F1EC"/>
          </a:solidFill>
          <a:ln/>
        </p:spPr>
      </p:sp>
      <p:sp>
        <p:nvSpPr>
          <p:cNvPr id="28" name="Shape 26"/>
          <p:cNvSpPr/>
          <p:nvPr/>
        </p:nvSpPr>
        <p:spPr>
          <a:xfrm>
            <a:off x="2852928" y="4681728"/>
            <a:ext cx="2067515" cy="164592"/>
          </a:xfrm>
          <a:prstGeom prst="rect">
            <a:avLst/>
          </a:prstGeom>
          <a:solidFill>
            <a:srgbClr val="2F6B5F"/>
          </a:solidFill>
          <a:ln/>
        </p:spPr>
      </p:sp>
      <p:sp>
        <p:nvSpPr>
          <p:cNvPr id="29" name="Text 27"/>
          <p:cNvSpPr/>
          <p:nvPr/>
        </p:nvSpPr>
        <p:spPr>
          <a:xfrm>
            <a:off x="5102352" y="4617720"/>
            <a:ext cx="777240" cy="292608"/>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0,4982</a:t>
            </a:r>
            <a:endParaRPr lang="en-US" sz="1050" dirty="0"/>
          </a:p>
        </p:txBody>
      </p:sp>
      <p:sp>
        <p:nvSpPr>
          <p:cNvPr id="30" name="Text 28"/>
          <p:cNvSpPr/>
          <p:nvPr/>
        </p:nvSpPr>
        <p:spPr>
          <a:xfrm>
            <a:off x="640080" y="4956048"/>
            <a:ext cx="2103120" cy="292608"/>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75 ke atas  (12.451)</a:t>
            </a:r>
            <a:endParaRPr lang="en-US" sz="1050" dirty="0"/>
          </a:p>
        </p:txBody>
      </p:sp>
      <p:sp>
        <p:nvSpPr>
          <p:cNvPr id="31" name="Shape 29"/>
          <p:cNvSpPr/>
          <p:nvPr/>
        </p:nvSpPr>
        <p:spPr>
          <a:xfrm>
            <a:off x="2852928" y="5020056"/>
            <a:ext cx="2157984" cy="164592"/>
          </a:xfrm>
          <a:prstGeom prst="rect">
            <a:avLst/>
          </a:prstGeom>
          <a:solidFill>
            <a:srgbClr val="F4F1EC"/>
          </a:solidFill>
          <a:ln/>
        </p:spPr>
      </p:sp>
      <p:sp>
        <p:nvSpPr>
          <p:cNvPr id="32" name="Shape 30"/>
          <p:cNvSpPr/>
          <p:nvPr/>
        </p:nvSpPr>
        <p:spPr>
          <a:xfrm>
            <a:off x="2852928" y="5020056"/>
            <a:ext cx="1965425" cy="164592"/>
          </a:xfrm>
          <a:prstGeom prst="rect">
            <a:avLst/>
          </a:prstGeom>
          <a:solidFill>
            <a:srgbClr val="8FB0A4"/>
          </a:solidFill>
          <a:ln/>
        </p:spPr>
      </p:sp>
      <p:sp>
        <p:nvSpPr>
          <p:cNvPr id="33" name="Text 31"/>
          <p:cNvSpPr/>
          <p:nvPr/>
        </p:nvSpPr>
        <p:spPr>
          <a:xfrm>
            <a:off x="5102352" y="4956048"/>
            <a:ext cx="777240" cy="292608"/>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0,4736</a:t>
            </a:r>
            <a:endParaRPr lang="en-US" sz="1050" dirty="0"/>
          </a:p>
        </p:txBody>
      </p:sp>
      <p:sp>
        <p:nvSpPr>
          <p:cNvPr id="34" name="Text 32"/>
          <p:cNvSpPr/>
          <p:nvPr/>
        </p:nvSpPr>
        <p:spPr>
          <a:xfrm>
            <a:off x="6281928" y="2194560"/>
            <a:ext cx="5257800" cy="274320"/>
          </a:xfrm>
          <a:prstGeom prst="rect">
            <a:avLst/>
          </a:prstGeom>
          <a:noFill/>
          <a:ln/>
        </p:spPr>
        <p:txBody>
          <a:bodyPr wrap="square" lIns="0" tIns="0" rIns="0" bIns="0" rtlCol="0" anchor="ctr"/>
          <a:lstStyle/>
          <a:p>
            <a:pPr indent="0" marL="0">
              <a:buNone/>
            </a:pPr>
            <a:r>
              <a:rPr lang="en-US" sz="950" b="1" spc="120" kern="0" dirty="0">
                <a:solidFill>
                  <a:srgbClr val="6E747C"/>
                </a:solidFill>
                <a:latin typeface="Calibri" pitchFamily="34" charset="0"/>
                <a:ea typeface="Calibri" pitchFamily="34" charset="-122"/>
                <a:cs typeface="Calibri" pitchFamily="34" charset="-120"/>
              </a:rPr>
              <a:t>MENURUT TINGKAT PENDIDIKAN, SEPULUH TINGKAT</a:t>
            </a:r>
            <a:endParaRPr lang="en-US" sz="950" dirty="0"/>
          </a:p>
        </p:txBody>
      </p:sp>
      <p:sp>
        <p:nvSpPr>
          <p:cNvPr id="35" name="Shape 33"/>
          <p:cNvSpPr/>
          <p:nvPr/>
        </p:nvSpPr>
        <p:spPr>
          <a:xfrm>
            <a:off x="6464808" y="3619195"/>
            <a:ext cx="397764" cy="660197"/>
          </a:xfrm>
          <a:prstGeom prst="rect">
            <a:avLst/>
          </a:prstGeom>
          <a:solidFill>
            <a:srgbClr val="8FB0A4"/>
          </a:solidFill>
          <a:ln/>
        </p:spPr>
      </p:sp>
      <p:sp>
        <p:nvSpPr>
          <p:cNvPr id="36" name="Text 34"/>
          <p:cNvSpPr/>
          <p:nvPr/>
        </p:nvSpPr>
        <p:spPr>
          <a:xfrm>
            <a:off x="6464808"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a:t>
            </a:r>
            <a:endParaRPr lang="en-US" sz="950" dirty="0"/>
          </a:p>
        </p:txBody>
      </p:sp>
      <p:sp>
        <p:nvSpPr>
          <p:cNvPr id="37" name="Shape 35"/>
          <p:cNvSpPr/>
          <p:nvPr/>
        </p:nvSpPr>
        <p:spPr>
          <a:xfrm>
            <a:off x="6954012" y="4054872"/>
            <a:ext cx="397764" cy="224520"/>
          </a:xfrm>
          <a:prstGeom prst="rect">
            <a:avLst/>
          </a:prstGeom>
          <a:solidFill>
            <a:srgbClr val="A8442A"/>
          </a:solidFill>
          <a:ln/>
        </p:spPr>
      </p:sp>
      <p:sp>
        <p:nvSpPr>
          <p:cNvPr id="38" name="Text 36"/>
          <p:cNvSpPr/>
          <p:nvPr/>
        </p:nvSpPr>
        <p:spPr>
          <a:xfrm>
            <a:off x="6954012"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a:t>
            </a:r>
            <a:endParaRPr lang="en-US" sz="950" dirty="0"/>
          </a:p>
        </p:txBody>
      </p:sp>
      <p:sp>
        <p:nvSpPr>
          <p:cNvPr id="39" name="Shape 37"/>
          <p:cNvSpPr/>
          <p:nvPr/>
        </p:nvSpPr>
        <p:spPr>
          <a:xfrm>
            <a:off x="7443216" y="2832037"/>
            <a:ext cx="397764" cy="1447355"/>
          </a:xfrm>
          <a:prstGeom prst="rect">
            <a:avLst/>
          </a:prstGeom>
          <a:solidFill>
            <a:srgbClr val="8FB0A4"/>
          </a:solidFill>
          <a:ln/>
        </p:spPr>
      </p:sp>
      <p:sp>
        <p:nvSpPr>
          <p:cNvPr id="40" name="Text 38"/>
          <p:cNvSpPr/>
          <p:nvPr/>
        </p:nvSpPr>
        <p:spPr>
          <a:xfrm>
            <a:off x="7443216"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3</a:t>
            </a:r>
            <a:endParaRPr lang="en-US" sz="950" dirty="0"/>
          </a:p>
        </p:txBody>
      </p:sp>
      <p:sp>
        <p:nvSpPr>
          <p:cNvPr id="41" name="Shape 39"/>
          <p:cNvSpPr/>
          <p:nvPr/>
        </p:nvSpPr>
        <p:spPr>
          <a:xfrm>
            <a:off x="7932420" y="3224948"/>
            <a:ext cx="397764" cy="1054444"/>
          </a:xfrm>
          <a:prstGeom prst="rect">
            <a:avLst/>
          </a:prstGeom>
          <a:solidFill>
            <a:srgbClr val="8FB0A4"/>
          </a:solidFill>
          <a:ln/>
        </p:spPr>
      </p:sp>
      <p:sp>
        <p:nvSpPr>
          <p:cNvPr id="42" name="Text 40"/>
          <p:cNvSpPr/>
          <p:nvPr/>
        </p:nvSpPr>
        <p:spPr>
          <a:xfrm>
            <a:off x="7932420"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4</a:t>
            </a:r>
            <a:endParaRPr lang="en-US" sz="950" dirty="0"/>
          </a:p>
        </p:txBody>
      </p:sp>
      <p:sp>
        <p:nvSpPr>
          <p:cNvPr id="43" name="Shape 41"/>
          <p:cNvSpPr/>
          <p:nvPr/>
        </p:nvSpPr>
        <p:spPr>
          <a:xfrm>
            <a:off x="8421624" y="2854757"/>
            <a:ext cx="397764" cy="1424635"/>
          </a:xfrm>
          <a:prstGeom prst="rect">
            <a:avLst/>
          </a:prstGeom>
          <a:solidFill>
            <a:srgbClr val="8FB0A4"/>
          </a:solidFill>
          <a:ln/>
        </p:spPr>
      </p:sp>
      <p:sp>
        <p:nvSpPr>
          <p:cNvPr id="44" name="Text 42"/>
          <p:cNvSpPr/>
          <p:nvPr/>
        </p:nvSpPr>
        <p:spPr>
          <a:xfrm>
            <a:off x="8421624"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5</a:t>
            </a:r>
            <a:endParaRPr lang="en-US" sz="950" dirty="0"/>
          </a:p>
        </p:txBody>
      </p:sp>
      <p:sp>
        <p:nvSpPr>
          <p:cNvPr id="45" name="Shape 43"/>
          <p:cNvSpPr/>
          <p:nvPr/>
        </p:nvSpPr>
        <p:spPr>
          <a:xfrm>
            <a:off x="8910828" y="2904205"/>
            <a:ext cx="397764" cy="1375187"/>
          </a:xfrm>
          <a:prstGeom prst="rect">
            <a:avLst/>
          </a:prstGeom>
          <a:solidFill>
            <a:srgbClr val="8FB0A4"/>
          </a:solidFill>
          <a:ln/>
        </p:spPr>
      </p:sp>
      <p:sp>
        <p:nvSpPr>
          <p:cNvPr id="46" name="Text 44"/>
          <p:cNvSpPr/>
          <p:nvPr/>
        </p:nvSpPr>
        <p:spPr>
          <a:xfrm>
            <a:off x="8910828"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6</a:t>
            </a:r>
            <a:endParaRPr lang="en-US" sz="950" dirty="0"/>
          </a:p>
        </p:txBody>
      </p:sp>
      <p:sp>
        <p:nvSpPr>
          <p:cNvPr id="47" name="Shape 45"/>
          <p:cNvSpPr/>
          <p:nvPr/>
        </p:nvSpPr>
        <p:spPr>
          <a:xfrm>
            <a:off x="9400032" y="2797290"/>
            <a:ext cx="397764" cy="1482102"/>
          </a:xfrm>
          <a:prstGeom prst="rect">
            <a:avLst/>
          </a:prstGeom>
          <a:solidFill>
            <a:srgbClr val="8FB0A4"/>
          </a:solidFill>
          <a:ln/>
        </p:spPr>
      </p:sp>
      <p:sp>
        <p:nvSpPr>
          <p:cNvPr id="48" name="Text 46"/>
          <p:cNvSpPr/>
          <p:nvPr/>
        </p:nvSpPr>
        <p:spPr>
          <a:xfrm>
            <a:off x="9400032"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7</a:t>
            </a:r>
            <a:endParaRPr lang="en-US" sz="950" dirty="0"/>
          </a:p>
        </p:txBody>
      </p:sp>
      <p:sp>
        <p:nvSpPr>
          <p:cNvPr id="49" name="Shape 47"/>
          <p:cNvSpPr/>
          <p:nvPr/>
        </p:nvSpPr>
        <p:spPr>
          <a:xfrm>
            <a:off x="9889236" y="3152781"/>
            <a:ext cx="397764" cy="1126611"/>
          </a:xfrm>
          <a:prstGeom prst="rect">
            <a:avLst/>
          </a:prstGeom>
          <a:solidFill>
            <a:srgbClr val="8FB0A4"/>
          </a:solidFill>
          <a:ln/>
        </p:spPr>
      </p:sp>
      <p:sp>
        <p:nvSpPr>
          <p:cNvPr id="50" name="Text 48"/>
          <p:cNvSpPr/>
          <p:nvPr/>
        </p:nvSpPr>
        <p:spPr>
          <a:xfrm>
            <a:off x="9889236"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8</a:t>
            </a:r>
            <a:endParaRPr lang="en-US" sz="950" dirty="0"/>
          </a:p>
        </p:txBody>
      </p:sp>
      <p:sp>
        <p:nvSpPr>
          <p:cNvPr id="51" name="Shape 49"/>
          <p:cNvSpPr/>
          <p:nvPr/>
        </p:nvSpPr>
        <p:spPr>
          <a:xfrm>
            <a:off x="10378440" y="3350573"/>
            <a:ext cx="397764" cy="928819"/>
          </a:xfrm>
          <a:prstGeom prst="rect">
            <a:avLst/>
          </a:prstGeom>
          <a:solidFill>
            <a:srgbClr val="8FB0A4"/>
          </a:solidFill>
          <a:ln/>
        </p:spPr>
      </p:sp>
      <p:sp>
        <p:nvSpPr>
          <p:cNvPr id="52" name="Text 50"/>
          <p:cNvSpPr/>
          <p:nvPr/>
        </p:nvSpPr>
        <p:spPr>
          <a:xfrm>
            <a:off x="10378440"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9</a:t>
            </a:r>
            <a:endParaRPr lang="en-US" sz="950" dirty="0"/>
          </a:p>
        </p:txBody>
      </p:sp>
      <p:sp>
        <p:nvSpPr>
          <p:cNvPr id="53" name="Shape 51"/>
          <p:cNvSpPr/>
          <p:nvPr/>
        </p:nvSpPr>
        <p:spPr>
          <a:xfrm>
            <a:off x="10867644" y="3174164"/>
            <a:ext cx="397764" cy="1105228"/>
          </a:xfrm>
          <a:prstGeom prst="rect">
            <a:avLst/>
          </a:prstGeom>
          <a:solidFill>
            <a:srgbClr val="8FB0A4"/>
          </a:solidFill>
          <a:ln/>
        </p:spPr>
      </p:sp>
      <p:sp>
        <p:nvSpPr>
          <p:cNvPr id="54" name="Text 52"/>
          <p:cNvSpPr/>
          <p:nvPr/>
        </p:nvSpPr>
        <p:spPr>
          <a:xfrm>
            <a:off x="10867644" y="4315968"/>
            <a:ext cx="397764"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10</a:t>
            </a:r>
            <a:endParaRPr lang="en-US" sz="950" dirty="0"/>
          </a:p>
        </p:txBody>
      </p:sp>
      <p:sp>
        <p:nvSpPr>
          <p:cNvPr id="55" name="Text 53"/>
          <p:cNvSpPr/>
          <p:nvPr/>
        </p:nvSpPr>
        <p:spPr>
          <a:xfrm>
            <a:off x="6281928" y="4608576"/>
            <a:ext cx="5257800" cy="457200"/>
          </a:xfrm>
          <a:prstGeom prst="rect">
            <a:avLst/>
          </a:prstGeom>
          <a:noFill/>
          <a:ln/>
        </p:spPr>
        <p:txBody>
          <a:bodyPr wrap="square" lIns="0" tIns="0" rIns="0" bIns="0" rtlCol="0" anchor="ctr"/>
          <a:lstStyle/>
          <a:p>
            <a:pPr algn="l" indent="0" marL="0">
              <a:buNone/>
            </a:pPr>
            <a:r>
              <a:rPr lang="en-US" sz="1050" i="1" dirty="0">
                <a:solidFill>
                  <a:srgbClr val="6E747C"/>
                </a:solidFill>
                <a:latin typeface="Calibri" pitchFamily="34" charset="0"/>
                <a:ea typeface="Calibri" pitchFamily="34" charset="-122"/>
                <a:cs typeface="Calibri" pitchFamily="34" charset="-120"/>
              </a:rPr>
              <a:t>Rentang 0,3968 sampai 0,4909. Titik terendah adalah tingkat 2, dengan hanya 1.438 responden.</a:t>
            </a:r>
            <a:endParaRPr lang="en-US" sz="1050" dirty="0"/>
          </a:p>
        </p:txBody>
      </p:sp>
      <p:sp>
        <p:nvSpPr>
          <p:cNvPr id="56" name="Shape 54"/>
          <p:cNvSpPr/>
          <p:nvPr/>
        </p:nvSpPr>
        <p:spPr>
          <a:xfrm>
            <a:off x="640080" y="5440680"/>
            <a:ext cx="10911535" cy="731520"/>
          </a:xfrm>
          <a:prstGeom prst="roundRect">
            <a:avLst>
              <a:gd name="adj" fmla="val 7500"/>
            </a:avLst>
          </a:prstGeom>
          <a:solidFill>
            <a:srgbClr val="ECE7DF"/>
          </a:solidFill>
          <a:ln w="9525">
            <a:solidFill>
              <a:srgbClr val="DCD8D1"/>
            </a:solidFill>
            <a:prstDash val="solid"/>
          </a:ln>
        </p:spPr>
      </p:sp>
      <p:sp>
        <p:nvSpPr>
          <p:cNvPr id="57" name="Text 55"/>
          <p:cNvSpPr/>
          <p:nvPr/>
        </p:nvSpPr>
        <p:spPr>
          <a:xfrm>
            <a:off x="914400" y="5440680"/>
            <a:ext cx="10362895" cy="731520"/>
          </a:xfrm>
          <a:prstGeom prst="rect">
            <a:avLst/>
          </a:prstGeom>
          <a:noFill/>
          <a:ln/>
        </p:spPr>
        <p:txBody>
          <a:bodyPr wrap="square" lIns="0" tIns="0" rIns="0" bIns="0" rtlCol="0" anchor="ctr"/>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Bacaan. </a:t>
            </a:r>
            <a:pPr indent="0" marL="0">
              <a:lnSpc>
                <a:spcPts val="1500"/>
              </a:lnSpc>
              <a:buNone/>
            </a:pPr>
            <a:r>
              <a:rPr lang="en-US" sz="1150" dirty="0">
                <a:solidFill>
                  <a:srgbClr val="3A4048"/>
                </a:solidFill>
                <a:latin typeface="Calibri" pitchFamily="34" charset="0"/>
                <a:ea typeface="Calibri" pitchFamily="34" charset="-122"/>
                <a:cs typeface="Calibri" pitchFamily="34" charset="-120"/>
              </a:rPr>
              <a:t>Selisih antar jenis kelamin hanya 0,0003. Variasi antar kelompok usia dan pendidikan sejalan dengan ukuran sampelnya, bukan dengan kegagalan sistematis pada satu segmen populasi.</a:t>
            </a:r>
            <a:endParaRPr lang="en-US" sz="1150" dirty="0"/>
          </a:p>
        </p:txBody>
      </p:sp>
      <p:sp>
        <p:nvSpPr>
          <p:cNvPr id="59" name="Shape 56"/>
          <p:cNvSpPr/>
          <p:nvPr/>
        </p:nvSpPr>
        <p:spPr>
          <a:xfrm>
            <a:off x="640080" y="6400800"/>
            <a:ext cx="1572768" cy="45720"/>
          </a:xfrm>
          <a:prstGeom prst="rect">
            <a:avLst/>
          </a:prstGeom>
          <a:solidFill>
            <a:srgbClr val="DCD8D1"/>
          </a:solidFill>
          <a:ln/>
        </p:spPr>
      </p:sp>
      <p:sp>
        <p:nvSpPr>
          <p:cNvPr id="60"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61" name="Shape 58"/>
          <p:cNvSpPr/>
          <p:nvPr/>
        </p:nvSpPr>
        <p:spPr>
          <a:xfrm>
            <a:off x="2304288" y="6400800"/>
            <a:ext cx="1572768" cy="45720"/>
          </a:xfrm>
          <a:prstGeom prst="rect">
            <a:avLst/>
          </a:prstGeom>
          <a:solidFill>
            <a:srgbClr val="DCD8D1"/>
          </a:solidFill>
          <a:ln/>
        </p:spPr>
      </p:sp>
      <p:sp>
        <p:nvSpPr>
          <p:cNvPr id="62"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63" name="Shape 60"/>
          <p:cNvSpPr/>
          <p:nvPr/>
        </p:nvSpPr>
        <p:spPr>
          <a:xfrm>
            <a:off x="3968496" y="6400800"/>
            <a:ext cx="1572768" cy="45720"/>
          </a:xfrm>
          <a:prstGeom prst="rect">
            <a:avLst/>
          </a:prstGeom>
          <a:solidFill>
            <a:srgbClr val="DCD8D1"/>
          </a:solidFill>
          <a:ln/>
        </p:spPr>
      </p:sp>
      <p:sp>
        <p:nvSpPr>
          <p:cNvPr id="64"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65" name="Shape 62"/>
          <p:cNvSpPr/>
          <p:nvPr/>
        </p:nvSpPr>
        <p:spPr>
          <a:xfrm>
            <a:off x="5632704" y="6400800"/>
            <a:ext cx="1572768" cy="45720"/>
          </a:xfrm>
          <a:prstGeom prst="rect">
            <a:avLst/>
          </a:prstGeom>
          <a:solidFill>
            <a:srgbClr val="DCD8D1"/>
          </a:solidFill>
          <a:ln/>
        </p:spPr>
      </p:sp>
      <p:sp>
        <p:nvSpPr>
          <p:cNvPr id="66"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67" name="Shape 64"/>
          <p:cNvSpPr/>
          <p:nvPr/>
        </p:nvSpPr>
        <p:spPr>
          <a:xfrm>
            <a:off x="7296912" y="6400800"/>
            <a:ext cx="1572768" cy="45720"/>
          </a:xfrm>
          <a:prstGeom prst="rect">
            <a:avLst/>
          </a:prstGeom>
          <a:solidFill>
            <a:srgbClr val="A8442A"/>
          </a:solidFill>
          <a:ln/>
        </p:spPr>
      </p:sp>
      <p:sp>
        <p:nvSpPr>
          <p:cNvPr id="68"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69" name="Shape 66"/>
          <p:cNvSpPr/>
          <p:nvPr/>
        </p:nvSpPr>
        <p:spPr>
          <a:xfrm>
            <a:off x="8961120" y="6400800"/>
            <a:ext cx="1572768" cy="45720"/>
          </a:xfrm>
          <a:prstGeom prst="rect">
            <a:avLst/>
          </a:prstGeom>
          <a:solidFill>
            <a:srgbClr val="DCD8D1"/>
          </a:solidFill>
          <a:ln/>
        </p:spPr>
      </p:sp>
      <p:sp>
        <p:nvSpPr>
          <p:cNvPr id="70"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71"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Yang paling berpengaruh sejalan dengan literatur, bukan dengan artefak.</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Penurunan QWK ketika satu kolom diacak, diukur pada subsampel dengan QWK acuan 0,83695.</a:t>
            </a:r>
            <a:endParaRPr lang="en-US" sz="1400" dirty="0"/>
          </a:p>
        </p:txBody>
      </p:sp>
      <p:sp>
        <p:nvSpPr>
          <p:cNvPr id="4" name="Text 2"/>
          <p:cNvSpPr/>
          <p:nvPr/>
        </p:nvSpPr>
        <p:spPr>
          <a:xfrm>
            <a:off x="640080" y="2286000"/>
            <a:ext cx="2743200" cy="32004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general_health_status</a:t>
            </a:r>
            <a:endParaRPr lang="en-US" sz="1050" dirty="0"/>
          </a:p>
        </p:txBody>
      </p:sp>
      <p:sp>
        <p:nvSpPr>
          <p:cNvPr id="5" name="Shape 3"/>
          <p:cNvSpPr/>
          <p:nvPr/>
        </p:nvSpPr>
        <p:spPr>
          <a:xfrm>
            <a:off x="3493008" y="2350008"/>
            <a:ext cx="3666744" cy="192024"/>
          </a:xfrm>
          <a:prstGeom prst="rect">
            <a:avLst/>
          </a:prstGeom>
          <a:solidFill>
            <a:srgbClr val="F4F1EC"/>
          </a:solidFill>
          <a:ln/>
        </p:spPr>
      </p:sp>
      <p:sp>
        <p:nvSpPr>
          <p:cNvPr id="6" name="Shape 4"/>
          <p:cNvSpPr/>
          <p:nvPr/>
        </p:nvSpPr>
        <p:spPr>
          <a:xfrm>
            <a:off x="3493008" y="2350008"/>
            <a:ext cx="3572567" cy="192024"/>
          </a:xfrm>
          <a:prstGeom prst="rect">
            <a:avLst/>
          </a:prstGeom>
          <a:solidFill>
            <a:srgbClr val="2F6B5F"/>
          </a:solidFill>
          <a:ln/>
        </p:spPr>
      </p:sp>
      <p:sp>
        <p:nvSpPr>
          <p:cNvPr id="7" name="Text 5"/>
          <p:cNvSpPr/>
          <p:nvPr/>
        </p:nvSpPr>
        <p:spPr>
          <a:xfrm>
            <a:off x="7251192" y="2286000"/>
            <a:ext cx="868680" cy="320040"/>
          </a:xfrm>
          <a:prstGeom prst="rect">
            <a:avLst/>
          </a:prstGeom>
          <a:noFill/>
          <a:ln/>
        </p:spPr>
        <p:txBody>
          <a:bodyPr wrap="square" lIns="0" tIns="0" rIns="0" bIns="0" rtlCol="0" anchor="ctr"/>
          <a:lstStyle/>
          <a:p>
            <a:pPr algn="l" indent="0" marL="0">
              <a:buNone/>
            </a:pPr>
            <a:r>
              <a:rPr lang="en-US" sz="1050" b="1" dirty="0">
                <a:solidFill>
                  <a:srgbClr val="2F6B5F"/>
                </a:solidFill>
                <a:latin typeface="Calibri" pitchFamily="34" charset="0"/>
                <a:ea typeface="Calibri" pitchFamily="34" charset="-122"/>
                <a:cs typeface="Calibri" pitchFamily="34" charset="-120"/>
              </a:rPr>
              <a:t>0,09256</a:t>
            </a:r>
            <a:endParaRPr lang="en-US" sz="1050" dirty="0"/>
          </a:p>
        </p:txBody>
      </p:sp>
      <p:sp>
        <p:nvSpPr>
          <p:cNvPr id="8" name="Text 6"/>
          <p:cNvSpPr/>
          <p:nvPr/>
        </p:nvSpPr>
        <p:spPr>
          <a:xfrm>
            <a:off x="640080" y="2660904"/>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depression_frequency</a:t>
            </a:r>
            <a:endParaRPr lang="en-US" sz="1050" dirty="0"/>
          </a:p>
        </p:txBody>
      </p:sp>
      <p:sp>
        <p:nvSpPr>
          <p:cNvPr id="9" name="Shape 7"/>
          <p:cNvSpPr/>
          <p:nvPr/>
        </p:nvSpPr>
        <p:spPr>
          <a:xfrm>
            <a:off x="3493008" y="2724912"/>
            <a:ext cx="3666744" cy="192024"/>
          </a:xfrm>
          <a:prstGeom prst="rect">
            <a:avLst/>
          </a:prstGeom>
          <a:solidFill>
            <a:srgbClr val="F4F1EC"/>
          </a:solidFill>
          <a:ln/>
        </p:spPr>
      </p:sp>
      <p:sp>
        <p:nvSpPr>
          <p:cNvPr id="10" name="Shape 8"/>
          <p:cNvSpPr/>
          <p:nvPr/>
        </p:nvSpPr>
        <p:spPr>
          <a:xfrm>
            <a:off x="3493008" y="2724912"/>
            <a:ext cx="1433890" cy="192024"/>
          </a:xfrm>
          <a:prstGeom prst="rect">
            <a:avLst/>
          </a:prstGeom>
          <a:solidFill>
            <a:srgbClr val="2F6B5F"/>
          </a:solidFill>
          <a:ln/>
        </p:spPr>
      </p:sp>
      <p:sp>
        <p:nvSpPr>
          <p:cNvPr id="11" name="Text 9"/>
          <p:cNvSpPr/>
          <p:nvPr/>
        </p:nvSpPr>
        <p:spPr>
          <a:xfrm>
            <a:off x="7251192" y="2660904"/>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0,03715</a:t>
            </a:r>
            <a:endParaRPr lang="en-US" sz="1050" dirty="0"/>
          </a:p>
        </p:txBody>
      </p:sp>
      <p:sp>
        <p:nvSpPr>
          <p:cNvPr id="12" name="Text 10"/>
          <p:cNvSpPr/>
          <p:nvPr/>
        </p:nvSpPr>
        <p:spPr>
          <a:xfrm>
            <a:off x="640080" y="3035808"/>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age</a:t>
            </a:r>
            <a:endParaRPr lang="en-US" sz="1050" dirty="0"/>
          </a:p>
        </p:txBody>
      </p:sp>
      <p:sp>
        <p:nvSpPr>
          <p:cNvPr id="13" name="Shape 11"/>
          <p:cNvSpPr/>
          <p:nvPr/>
        </p:nvSpPr>
        <p:spPr>
          <a:xfrm>
            <a:off x="3493008" y="3099816"/>
            <a:ext cx="3666744" cy="192024"/>
          </a:xfrm>
          <a:prstGeom prst="rect">
            <a:avLst/>
          </a:prstGeom>
          <a:solidFill>
            <a:srgbClr val="F4F1EC"/>
          </a:solidFill>
          <a:ln/>
        </p:spPr>
      </p:sp>
      <p:sp>
        <p:nvSpPr>
          <p:cNvPr id="14" name="Shape 12"/>
          <p:cNvSpPr/>
          <p:nvPr/>
        </p:nvSpPr>
        <p:spPr>
          <a:xfrm>
            <a:off x="3493008" y="3099816"/>
            <a:ext cx="1193815" cy="192024"/>
          </a:xfrm>
          <a:prstGeom prst="rect">
            <a:avLst/>
          </a:prstGeom>
          <a:solidFill>
            <a:srgbClr val="8FB0A4"/>
          </a:solidFill>
          <a:ln/>
        </p:spPr>
      </p:sp>
      <p:sp>
        <p:nvSpPr>
          <p:cNvPr id="15" name="Text 13"/>
          <p:cNvSpPr/>
          <p:nvPr/>
        </p:nvSpPr>
        <p:spPr>
          <a:xfrm>
            <a:off x="7251192" y="3035808"/>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0,03093</a:t>
            </a:r>
            <a:endParaRPr lang="en-US" sz="1050" dirty="0"/>
          </a:p>
        </p:txBody>
      </p:sp>
      <p:sp>
        <p:nvSpPr>
          <p:cNvPr id="16" name="Text 14"/>
          <p:cNvSpPr/>
          <p:nvPr/>
        </p:nvSpPr>
        <p:spPr>
          <a:xfrm>
            <a:off x="640080" y="3410712"/>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survey_weight</a:t>
            </a:r>
            <a:endParaRPr lang="en-US" sz="1050" dirty="0"/>
          </a:p>
        </p:txBody>
      </p:sp>
      <p:sp>
        <p:nvSpPr>
          <p:cNvPr id="17" name="Shape 15"/>
          <p:cNvSpPr/>
          <p:nvPr/>
        </p:nvSpPr>
        <p:spPr>
          <a:xfrm>
            <a:off x="3493008" y="3474720"/>
            <a:ext cx="3666744" cy="192024"/>
          </a:xfrm>
          <a:prstGeom prst="rect">
            <a:avLst/>
          </a:prstGeom>
          <a:solidFill>
            <a:srgbClr val="F4F1EC"/>
          </a:solidFill>
          <a:ln/>
        </p:spPr>
      </p:sp>
      <p:sp>
        <p:nvSpPr>
          <p:cNvPr id="18" name="Shape 16"/>
          <p:cNvSpPr/>
          <p:nvPr/>
        </p:nvSpPr>
        <p:spPr>
          <a:xfrm>
            <a:off x="3493008" y="3474720"/>
            <a:ext cx="1164867" cy="192024"/>
          </a:xfrm>
          <a:prstGeom prst="rect">
            <a:avLst/>
          </a:prstGeom>
          <a:solidFill>
            <a:srgbClr val="D8A25E"/>
          </a:solidFill>
          <a:ln/>
        </p:spPr>
      </p:sp>
      <p:sp>
        <p:nvSpPr>
          <p:cNvPr id="19" name="Text 17"/>
          <p:cNvSpPr/>
          <p:nvPr/>
        </p:nvSpPr>
        <p:spPr>
          <a:xfrm>
            <a:off x="7251192" y="3410712"/>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0,03018</a:t>
            </a:r>
            <a:endParaRPr lang="en-US" sz="1050" dirty="0"/>
          </a:p>
        </p:txBody>
      </p:sp>
      <p:sp>
        <p:nvSpPr>
          <p:cNvPr id="20" name="Text 18"/>
          <p:cNvSpPr/>
          <p:nvPr/>
        </p:nvSpPr>
        <p:spPr>
          <a:xfrm>
            <a:off x="640080" y="3785616"/>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pseudo_stratum</a:t>
            </a:r>
            <a:endParaRPr lang="en-US" sz="1050" dirty="0"/>
          </a:p>
        </p:txBody>
      </p:sp>
      <p:sp>
        <p:nvSpPr>
          <p:cNvPr id="21" name="Shape 19"/>
          <p:cNvSpPr/>
          <p:nvPr/>
        </p:nvSpPr>
        <p:spPr>
          <a:xfrm>
            <a:off x="3493008" y="3849624"/>
            <a:ext cx="3666744" cy="192024"/>
          </a:xfrm>
          <a:prstGeom prst="rect">
            <a:avLst/>
          </a:prstGeom>
          <a:solidFill>
            <a:srgbClr val="F4F1EC"/>
          </a:solidFill>
          <a:ln/>
        </p:spPr>
      </p:sp>
      <p:sp>
        <p:nvSpPr>
          <p:cNvPr id="22" name="Shape 20"/>
          <p:cNvSpPr/>
          <p:nvPr/>
        </p:nvSpPr>
        <p:spPr>
          <a:xfrm>
            <a:off x="3493008" y="3849624"/>
            <a:ext cx="1088830" cy="192024"/>
          </a:xfrm>
          <a:prstGeom prst="rect">
            <a:avLst/>
          </a:prstGeom>
          <a:solidFill>
            <a:srgbClr val="D8A25E"/>
          </a:solidFill>
          <a:ln/>
        </p:spPr>
      </p:sp>
      <p:sp>
        <p:nvSpPr>
          <p:cNvPr id="23" name="Text 21"/>
          <p:cNvSpPr/>
          <p:nvPr/>
        </p:nvSpPr>
        <p:spPr>
          <a:xfrm>
            <a:off x="7251192" y="3785616"/>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0,02821</a:t>
            </a:r>
            <a:endParaRPr lang="en-US" sz="1050" dirty="0"/>
          </a:p>
        </p:txBody>
      </p:sp>
      <p:sp>
        <p:nvSpPr>
          <p:cNvPr id="24" name="Text 22"/>
          <p:cNvSpPr/>
          <p:nvPr/>
        </p:nvSpPr>
        <p:spPr>
          <a:xfrm>
            <a:off x="640080" y="4160520"/>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income_to_poverty_ratio</a:t>
            </a:r>
            <a:endParaRPr lang="en-US" sz="1050" dirty="0"/>
          </a:p>
        </p:txBody>
      </p:sp>
      <p:sp>
        <p:nvSpPr>
          <p:cNvPr id="25" name="Shape 23"/>
          <p:cNvSpPr/>
          <p:nvPr/>
        </p:nvSpPr>
        <p:spPr>
          <a:xfrm>
            <a:off x="3493008" y="4224528"/>
            <a:ext cx="3666744" cy="192024"/>
          </a:xfrm>
          <a:prstGeom prst="rect">
            <a:avLst/>
          </a:prstGeom>
          <a:solidFill>
            <a:srgbClr val="F4F1EC"/>
          </a:solidFill>
          <a:ln/>
        </p:spPr>
      </p:sp>
      <p:sp>
        <p:nvSpPr>
          <p:cNvPr id="26" name="Shape 24"/>
          <p:cNvSpPr/>
          <p:nvPr/>
        </p:nvSpPr>
        <p:spPr>
          <a:xfrm>
            <a:off x="3493008" y="4224528"/>
            <a:ext cx="1026302" cy="192024"/>
          </a:xfrm>
          <a:prstGeom prst="rect">
            <a:avLst/>
          </a:prstGeom>
          <a:solidFill>
            <a:srgbClr val="8FB0A4"/>
          </a:solidFill>
          <a:ln/>
        </p:spPr>
      </p:sp>
      <p:sp>
        <p:nvSpPr>
          <p:cNvPr id="27" name="Text 25"/>
          <p:cNvSpPr/>
          <p:nvPr/>
        </p:nvSpPr>
        <p:spPr>
          <a:xfrm>
            <a:off x="7251192" y="4160520"/>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0,02659</a:t>
            </a:r>
            <a:endParaRPr lang="en-US" sz="1050" dirty="0"/>
          </a:p>
        </p:txBody>
      </p:sp>
      <p:sp>
        <p:nvSpPr>
          <p:cNvPr id="28" name="Text 26"/>
          <p:cNvSpPr/>
          <p:nvPr/>
        </p:nvSpPr>
        <p:spPr>
          <a:xfrm>
            <a:off x="640080" y="4535424"/>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weight_pounds</a:t>
            </a:r>
            <a:endParaRPr lang="en-US" sz="1050" dirty="0"/>
          </a:p>
        </p:txBody>
      </p:sp>
      <p:sp>
        <p:nvSpPr>
          <p:cNvPr id="29" name="Shape 27"/>
          <p:cNvSpPr/>
          <p:nvPr/>
        </p:nvSpPr>
        <p:spPr>
          <a:xfrm>
            <a:off x="3493008" y="4599432"/>
            <a:ext cx="3666744" cy="192024"/>
          </a:xfrm>
          <a:prstGeom prst="rect">
            <a:avLst/>
          </a:prstGeom>
          <a:solidFill>
            <a:srgbClr val="F4F1EC"/>
          </a:solidFill>
          <a:ln/>
        </p:spPr>
      </p:sp>
      <p:sp>
        <p:nvSpPr>
          <p:cNvPr id="30" name="Shape 28"/>
          <p:cNvSpPr/>
          <p:nvPr/>
        </p:nvSpPr>
        <p:spPr>
          <a:xfrm>
            <a:off x="3493008" y="4599432"/>
            <a:ext cx="978442" cy="192024"/>
          </a:xfrm>
          <a:prstGeom prst="rect">
            <a:avLst/>
          </a:prstGeom>
          <a:solidFill>
            <a:srgbClr val="8FB0A4"/>
          </a:solidFill>
          <a:ln/>
        </p:spPr>
      </p:sp>
      <p:sp>
        <p:nvSpPr>
          <p:cNvPr id="31" name="Text 29"/>
          <p:cNvSpPr/>
          <p:nvPr/>
        </p:nvSpPr>
        <p:spPr>
          <a:xfrm>
            <a:off x="7251192" y="4535424"/>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0,02535</a:t>
            </a:r>
            <a:endParaRPr lang="en-US" sz="1050" dirty="0"/>
          </a:p>
        </p:txBody>
      </p:sp>
      <p:sp>
        <p:nvSpPr>
          <p:cNvPr id="32" name="Text 30"/>
          <p:cNvSpPr/>
          <p:nvPr/>
        </p:nvSpPr>
        <p:spPr>
          <a:xfrm>
            <a:off x="640080" y="4910328"/>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pseudo_psu</a:t>
            </a:r>
            <a:endParaRPr lang="en-US" sz="1050" dirty="0"/>
          </a:p>
        </p:txBody>
      </p:sp>
      <p:sp>
        <p:nvSpPr>
          <p:cNvPr id="33" name="Shape 31"/>
          <p:cNvSpPr/>
          <p:nvPr/>
        </p:nvSpPr>
        <p:spPr>
          <a:xfrm>
            <a:off x="3493008" y="4974336"/>
            <a:ext cx="3666744" cy="192024"/>
          </a:xfrm>
          <a:prstGeom prst="rect">
            <a:avLst/>
          </a:prstGeom>
          <a:solidFill>
            <a:srgbClr val="F4F1EC"/>
          </a:solidFill>
          <a:ln/>
        </p:spPr>
      </p:sp>
      <p:sp>
        <p:nvSpPr>
          <p:cNvPr id="34" name="Shape 32"/>
          <p:cNvSpPr/>
          <p:nvPr/>
        </p:nvSpPr>
        <p:spPr>
          <a:xfrm>
            <a:off x="3493008" y="4974336"/>
            <a:ext cx="962617" cy="192024"/>
          </a:xfrm>
          <a:prstGeom prst="rect">
            <a:avLst/>
          </a:prstGeom>
          <a:solidFill>
            <a:srgbClr val="D8A25E"/>
          </a:solidFill>
          <a:ln/>
        </p:spPr>
      </p:sp>
      <p:sp>
        <p:nvSpPr>
          <p:cNvPr id="35" name="Text 33"/>
          <p:cNvSpPr/>
          <p:nvPr/>
        </p:nvSpPr>
        <p:spPr>
          <a:xfrm>
            <a:off x="7251192" y="4910328"/>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0,02494</a:t>
            </a:r>
            <a:endParaRPr lang="en-US" sz="1050" dirty="0"/>
          </a:p>
        </p:txBody>
      </p:sp>
      <p:sp>
        <p:nvSpPr>
          <p:cNvPr id="36" name="Text 34"/>
          <p:cNvSpPr/>
          <p:nvPr/>
        </p:nvSpPr>
        <p:spPr>
          <a:xfrm>
            <a:off x="640080" y="5285232"/>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height_inches</a:t>
            </a:r>
            <a:endParaRPr lang="en-US" sz="1050" dirty="0"/>
          </a:p>
        </p:txBody>
      </p:sp>
      <p:sp>
        <p:nvSpPr>
          <p:cNvPr id="37" name="Shape 35"/>
          <p:cNvSpPr/>
          <p:nvPr/>
        </p:nvSpPr>
        <p:spPr>
          <a:xfrm>
            <a:off x="3493008" y="5349240"/>
            <a:ext cx="3666744" cy="192024"/>
          </a:xfrm>
          <a:prstGeom prst="rect">
            <a:avLst/>
          </a:prstGeom>
          <a:solidFill>
            <a:srgbClr val="F4F1EC"/>
          </a:solidFill>
          <a:ln/>
        </p:spPr>
      </p:sp>
      <p:sp>
        <p:nvSpPr>
          <p:cNvPr id="38" name="Shape 36"/>
          <p:cNvSpPr/>
          <p:nvPr/>
        </p:nvSpPr>
        <p:spPr>
          <a:xfrm>
            <a:off x="3493008" y="5349240"/>
            <a:ext cx="638399" cy="192024"/>
          </a:xfrm>
          <a:prstGeom prst="rect">
            <a:avLst/>
          </a:prstGeom>
          <a:solidFill>
            <a:srgbClr val="3A4048"/>
          </a:solidFill>
          <a:ln/>
        </p:spPr>
      </p:sp>
      <p:sp>
        <p:nvSpPr>
          <p:cNvPr id="39" name="Text 37"/>
          <p:cNvSpPr/>
          <p:nvPr/>
        </p:nvSpPr>
        <p:spPr>
          <a:xfrm>
            <a:off x="7251192" y="5285232"/>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0,01654</a:t>
            </a:r>
            <a:endParaRPr lang="en-US" sz="1050" dirty="0"/>
          </a:p>
        </p:txBody>
      </p:sp>
      <p:sp>
        <p:nvSpPr>
          <p:cNvPr id="40" name="Text 38"/>
          <p:cNvSpPr/>
          <p:nvPr/>
        </p:nvSpPr>
        <p:spPr>
          <a:xfrm>
            <a:off x="640080" y="5660136"/>
            <a:ext cx="2743200" cy="320040"/>
          </a:xfrm>
          <a:prstGeom prst="rect">
            <a:avLst/>
          </a:prstGeom>
          <a:noFill/>
          <a:ln/>
        </p:spPr>
        <p:txBody>
          <a:bodyPr wrap="square" lIns="0" tIns="0" rIns="0" bIns="0" rtlCol="0" anchor="ctr"/>
          <a:lstStyle/>
          <a:p>
            <a:pPr algn="r" indent="0" marL="0">
              <a:buNone/>
            </a:pPr>
            <a:r>
              <a:rPr lang="en-US" sz="1050" dirty="0">
                <a:solidFill>
                  <a:srgbClr val="3A4048"/>
                </a:solidFill>
                <a:latin typeface="Calibri" pitchFamily="34" charset="0"/>
                <a:ea typeface="Calibri" pitchFamily="34" charset="-122"/>
                <a:cs typeface="Calibri" pitchFamily="34" charset="-120"/>
              </a:rPr>
              <a:t>interview_month</a:t>
            </a:r>
            <a:endParaRPr lang="en-US" sz="1050" dirty="0"/>
          </a:p>
        </p:txBody>
      </p:sp>
      <p:sp>
        <p:nvSpPr>
          <p:cNvPr id="41" name="Shape 39"/>
          <p:cNvSpPr/>
          <p:nvPr/>
        </p:nvSpPr>
        <p:spPr>
          <a:xfrm>
            <a:off x="3493008" y="5724144"/>
            <a:ext cx="3666744" cy="192024"/>
          </a:xfrm>
          <a:prstGeom prst="rect">
            <a:avLst/>
          </a:prstGeom>
          <a:solidFill>
            <a:srgbClr val="F4F1EC"/>
          </a:solidFill>
          <a:ln/>
        </p:spPr>
      </p:sp>
      <p:sp>
        <p:nvSpPr>
          <p:cNvPr id="42" name="Shape 40"/>
          <p:cNvSpPr/>
          <p:nvPr/>
        </p:nvSpPr>
        <p:spPr>
          <a:xfrm>
            <a:off x="3493008" y="5724144"/>
            <a:ext cx="585135" cy="192024"/>
          </a:xfrm>
          <a:prstGeom prst="rect">
            <a:avLst/>
          </a:prstGeom>
          <a:solidFill>
            <a:srgbClr val="3A4048"/>
          </a:solidFill>
          <a:ln/>
        </p:spPr>
      </p:sp>
      <p:sp>
        <p:nvSpPr>
          <p:cNvPr id="43" name="Text 41"/>
          <p:cNvSpPr/>
          <p:nvPr/>
        </p:nvSpPr>
        <p:spPr>
          <a:xfrm>
            <a:off x="7251192" y="5660136"/>
            <a:ext cx="868680" cy="320040"/>
          </a:xfrm>
          <a:prstGeom prst="rect">
            <a:avLst/>
          </a:prstGeom>
          <a:noFill/>
          <a:ln/>
        </p:spPr>
        <p:txBody>
          <a:bodyPr wrap="square" lIns="0" tIns="0" rIns="0" bIns="0" rtlCol="0" anchor="ctr"/>
          <a:lstStyle/>
          <a:p>
            <a:pPr algn="l" indent="0" marL="0">
              <a:buNone/>
            </a:pPr>
            <a:r>
              <a:rPr lang="en-US" sz="1050" dirty="0">
                <a:solidFill>
                  <a:srgbClr val="3A4048"/>
                </a:solidFill>
                <a:latin typeface="Calibri" pitchFamily="34" charset="0"/>
                <a:ea typeface="Calibri" pitchFamily="34" charset="-122"/>
                <a:cs typeface="Calibri" pitchFamily="34" charset="-120"/>
              </a:rPr>
              <a:t>0,01516</a:t>
            </a:r>
            <a:endParaRPr lang="en-US" sz="1050" dirty="0"/>
          </a:p>
        </p:txBody>
      </p:sp>
      <p:sp>
        <p:nvSpPr>
          <p:cNvPr id="44" name="Shape 42"/>
          <p:cNvSpPr/>
          <p:nvPr/>
        </p:nvSpPr>
        <p:spPr>
          <a:xfrm>
            <a:off x="8458200" y="2286000"/>
            <a:ext cx="3093415" cy="1965960"/>
          </a:xfrm>
          <a:prstGeom prst="roundRect">
            <a:avLst>
              <a:gd name="adj" fmla="val 2791"/>
            </a:avLst>
          </a:prstGeom>
          <a:solidFill>
            <a:srgbClr val="ECE7DF"/>
          </a:solidFill>
          <a:ln w="9525">
            <a:solidFill>
              <a:srgbClr val="DCD8D1"/>
            </a:solidFill>
            <a:prstDash val="solid"/>
          </a:ln>
        </p:spPr>
      </p:sp>
      <p:sp>
        <p:nvSpPr>
          <p:cNvPr id="45" name="Text 43"/>
          <p:cNvSpPr/>
          <p:nvPr/>
        </p:nvSpPr>
        <p:spPr>
          <a:xfrm>
            <a:off x="8714232" y="2450592"/>
            <a:ext cx="2581351" cy="274320"/>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Kenapa bobot survei muncul</a:t>
            </a:r>
            <a:endParaRPr lang="en-US" sz="1300" dirty="0"/>
          </a:p>
        </p:txBody>
      </p:sp>
      <p:sp>
        <p:nvSpPr>
          <p:cNvPr id="46" name="Text 44"/>
          <p:cNvSpPr/>
          <p:nvPr/>
        </p:nvSpPr>
        <p:spPr>
          <a:xfrm>
            <a:off x="8714232" y="2779776"/>
            <a:ext cx="2581351" cy="137160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survey_weight, pseudo_psu, dan pseudo_stratum adalah struktur pengambilan sampel. Ketiganya membawa informasi geografis dan demografis secara tidak langsung, jadi kehadirannya masuk akal, bukan kebocoran.</a:t>
            </a:r>
            <a:endParaRPr lang="en-US" sz="1100" dirty="0"/>
          </a:p>
        </p:txBody>
      </p:sp>
      <p:sp>
        <p:nvSpPr>
          <p:cNvPr id="47" name="Shape 45"/>
          <p:cNvSpPr/>
          <p:nvPr/>
        </p:nvSpPr>
        <p:spPr>
          <a:xfrm>
            <a:off x="8458200" y="4389120"/>
            <a:ext cx="3093415" cy="1463040"/>
          </a:xfrm>
          <a:prstGeom prst="roundRect">
            <a:avLst>
              <a:gd name="adj" fmla="val 3750"/>
            </a:avLst>
          </a:prstGeom>
          <a:solidFill>
            <a:srgbClr val="16191D"/>
          </a:solidFill>
          <a:ln w="9525">
            <a:solidFill>
              <a:srgbClr val="16191D"/>
            </a:solidFill>
            <a:prstDash val="solid"/>
          </a:ln>
        </p:spPr>
      </p:sp>
      <p:sp>
        <p:nvSpPr>
          <p:cNvPr id="48" name="Text 46"/>
          <p:cNvSpPr/>
          <p:nvPr/>
        </p:nvSpPr>
        <p:spPr>
          <a:xfrm>
            <a:off x="8714232" y="4389120"/>
            <a:ext cx="2581351" cy="1463040"/>
          </a:xfrm>
          <a:prstGeom prst="rect">
            <a:avLst/>
          </a:prstGeom>
          <a:noFill/>
          <a:ln/>
        </p:spPr>
        <p:txBody>
          <a:bodyPr wrap="square" lIns="0" tIns="0" rIns="0" bIns="0" rtlCol="0" anchor="ctr"/>
          <a:lstStyle/>
          <a:p>
            <a:pPr indent="0" marL="0">
              <a:lnSpc>
                <a:spcPts val="1600"/>
              </a:lnSpc>
              <a:buNone/>
            </a:pPr>
            <a:r>
              <a:rPr lang="en-US" sz="1150" i="1" dirty="0">
                <a:solidFill>
                  <a:srgbClr val="FFFFFF"/>
                </a:solidFill>
                <a:latin typeface="Calibri" pitchFamily="34" charset="0"/>
                <a:ea typeface="Calibri" pitchFamily="34" charset="-122"/>
                <a:cs typeface="Calibri" pitchFamily="34" charset="-120"/>
              </a:rPr>
              <a:t>Tidak ada satu pun fitur dominan. Sinyalnya tersebar tipis, persis seperti yang diramalkan EDA.</a:t>
            </a:r>
            <a:endParaRPr lang="en-US" sz="1150" dirty="0"/>
          </a:p>
        </p:txBody>
      </p:sp>
      <p:sp>
        <p:nvSpPr>
          <p:cNvPr id="50" name="Shape 47"/>
          <p:cNvSpPr/>
          <p:nvPr/>
        </p:nvSpPr>
        <p:spPr>
          <a:xfrm>
            <a:off x="640080" y="6400800"/>
            <a:ext cx="1572768" cy="45720"/>
          </a:xfrm>
          <a:prstGeom prst="rect">
            <a:avLst/>
          </a:prstGeom>
          <a:solidFill>
            <a:srgbClr val="DCD8D1"/>
          </a:solidFill>
          <a:ln/>
        </p:spPr>
      </p:sp>
      <p:sp>
        <p:nvSpPr>
          <p:cNvPr id="51" name="Text 4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52" name="Shape 49"/>
          <p:cNvSpPr/>
          <p:nvPr/>
        </p:nvSpPr>
        <p:spPr>
          <a:xfrm>
            <a:off x="2304288" y="6400800"/>
            <a:ext cx="1572768" cy="45720"/>
          </a:xfrm>
          <a:prstGeom prst="rect">
            <a:avLst/>
          </a:prstGeom>
          <a:solidFill>
            <a:srgbClr val="DCD8D1"/>
          </a:solidFill>
          <a:ln/>
        </p:spPr>
      </p:sp>
      <p:sp>
        <p:nvSpPr>
          <p:cNvPr id="53" name="Text 5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54" name="Shape 51"/>
          <p:cNvSpPr/>
          <p:nvPr/>
        </p:nvSpPr>
        <p:spPr>
          <a:xfrm>
            <a:off x="3968496" y="6400800"/>
            <a:ext cx="1572768" cy="45720"/>
          </a:xfrm>
          <a:prstGeom prst="rect">
            <a:avLst/>
          </a:prstGeom>
          <a:solidFill>
            <a:srgbClr val="DCD8D1"/>
          </a:solidFill>
          <a:ln/>
        </p:spPr>
      </p:sp>
      <p:sp>
        <p:nvSpPr>
          <p:cNvPr id="55" name="Text 5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56" name="Shape 53"/>
          <p:cNvSpPr/>
          <p:nvPr/>
        </p:nvSpPr>
        <p:spPr>
          <a:xfrm>
            <a:off x="5632704" y="6400800"/>
            <a:ext cx="1572768" cy="45720"/>
          </a:xfrm>
          <a:prstGeom prst="rect">
            <a:avLst/>
          </a:prstGeom>
          <a:solidFill>
            <a:srgbClr val="DCD8D1"/>
          </a:solidFill>
          <a:ln/>
        </p:spPr>
      </p:sp>
      <p:sp>
        <p:nvSpPr>
          <p:cNvPr id="57" name="Text 5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58" name="Shape 55"/>
          <p:cNvSpPr/>
          <p:nvPr/>
        </p:nvSpPr>
        <p:spPr>
          <a:xfrm>
            <a:off x="7296912" y="6400800"/>
            <a:ext cx="1572768" cy="45720"/>
          </a:xfrm>
          <a:prstGeom prst="rect">
            <a:avLst/>
          </a:prstGeom>
          <a:solidFill>
            <a:srgbClr val="A8442A"/>
          </a:solidFill>
          <a:ln/>
        </p:spPr>
      </p:sp>
      <p:sp>
        <p:nvSpPr>
          <p:cNvPr id="59" name="Text 5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60" name="Shape 57"/>
          <p:cNvSpPr/>
          <p:nvPr/>
        </p:nvSpPr>
        <p:spPr>
          <a:xfrm>
            <a:off x="8961120" y="6400800"/>
            <a:ext cx="1572768" cy="45720"/>
          </a:xfrm>
          <a:prstGeom prst="rect">
            <a:avLst/>
          </a:prstGeom>
          <a:solidFill>
            <a:srgbClr val="DCD8D1"/>
          </a:solidFill>
          <a:ln/>
        </p:spPr>
      </p:sp>
      <p:sp>
        <p:nvSpPr>
          <p:cNvPr id="61" name="Text 5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62" name="Text 5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Plafon ini milik data, bukan milik kami.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Pipeline dilatih ulang penuh pada 12, 25, 45, 70, dan 100 persen data.</a:t>
            </a:r>
            <a:endParaRPr lang="en-US" sz="1400" dirty="0"/>
          </a:p>
        </p:txBody>
      </p:sp>
      <p:graphicFrame>
        <p:nvGraphicFramePr>
          <p:cNvPr id="4" name="Chart 0" descr=""/>
          <p:cNvGraphicFramePr/>
          <p:nvPr/>
        </p:nvGraphicFramePr>
        <p:xfrm>
          <a:off x="594360" y="2194560"/>
          <a:ext cx="612648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5285232"/>
            <a:ext cx="6035040" cy="310896"/>
          </a:xfrm>
          <a:prstGeom prst="rect">
            <a:avLst/>
          </a:prstGeom>
          <a:noFill/>
          <a:ln/>
        </p:spPr>
        <p:txBody>
          <a:bodyPr wrap="square" lIns="0" tIns="0" rIns="0" bIns="0" rtlCol="0" anchor="ctr"/>
          <a:lstStyle/>
          <a:p>
            <a:pPr algn="ctr" indent="0" marL="0">
              <a:buNone/>
            </a:pPr>
            <a:r>
              <a:rPr lang="en-US" sz="1050" i="1" dirty="0">
                <a:solidFill>
                  <a:srgbClr val="6E747C"/>
                </a:solidFill>
                <a:latin typeface="Calibri" pitchFamily="34" charset="0"/>
                <a:ea typeface="Calibri" pitchFamily="34" charset="-122"/>
                <a:cs typeface="Calibri" pitchFamily="34" charset="-120"/>
              </a:rPr>
              <a:t>Jumlah baris data latih</a:t>
            </a:r>
            <a:endParaRPr lang="en-US" sz="1050" dirty="0"/>
          </a:p>
        </p:txBody>
      </p:sp>
      <p:sp>
        <p:nvSpPr>
          <p:cNvPr id="6" name="Shape 3"/>
          <p:cNvSpPr/>
          <p:nvPr/>
        </p:nvSpPr>
        <p:spPr>
          <a:xfrm>
            <a:off x="6858000" y="2194560"/>
            <a:ext cx="4693615" cy="713232"/>
          </a:xfrm>
          <a:prstGeom prst="roundRect">
            <a:avLst>
              <a:gd name="adj" fmla="val 7692"/>
            </a:avLst>
          </a:prstGeom>
          <a:solidFill>
            <a:srgbClr val="16191D"/>
          </a:solidFill>
          <a:ln w="9525">
            <a:solidFill>
              <a:srgbClr val="16191D"/>
            </a:solidFill>
            <a:prstDash val="solid"/>
          </a:ln>
        </p:spPr>
      </p:sp>
      <p:sp>
        <p:nvSpPr>
          <p:cNvPr id="7" name="Text 4"/>
          <p:cNvSpPr/>
          <p:nvPr/>
        </p:nvSpPr>
        <p:spPr>
          <a:xfrm>
            <a:off x="6967728" y="2194560"/>
            <a:ext cx="4474159" cy="713232"/>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QWK = 0,29209 + 0,01613 · ln(n)</a:t>
            </a:r>
            <a:endParaRPr lang="en-US" sz="1450" dirty="0"/>
          </a:p>
        </p:txBody>
      </p:sp>
      <p:sp>
        <p:nvSpPr>
          <p:cNvPr id="8" name="Text 5"/>
          <p:cNvSpPr/>
          <p:nvPr/>
        </p:nvSpPr>
        <p:spPr>
          <a:xfrm>
            <a:off x="6858000" y="3017520"/>
            <a:ext cx="3097786" cy="402336"/>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R² kecocokan terhadap lima titik</a:t>
            </a:r>
            <a:endParaRPr lang="en-US" sz="1150" dirty="0"/>
          </a:p>
        </p:txBody>
      </p:sp>
      <p:sp>
        <p:nvSpPr>
          <p:cNvPr id="9" name="Text 6"/>
          <p:cNvSpPr/>
          <p:nvPr/>
        </p:nvSpPr>
        <p:spPr>
          <a:xfrm>
            <a:off x="9955786" y="3017520"/>
            <a:ext cx="1595829" cy="402336"/>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0,9143</a:t>
            </a:r>
            <a:endParaRPr lang="en-US" sz="1150" dirty="0"/>
          </a:p>
        </p:txBody>
      </p:sp>
      <p:sp>
        <p:nvSpPr>
          <p:cNvPr id="10" name="Shape 7"/>
          <p:cNvSpPr/>
          <p:nvPr/>
        </p:nvSpPr>
        <p:spPr>
          <a:xfrm>
            <a:off x="6858000" y="3419856"/>
            <a:ext cx="4693615" cy="0"/>
          </a:xfrm>
          <a:prstGeom prst="line">
            <a:avLst/>
          </a:prstGeom>
          <a:noFill/>
          <a:ln w="7620">
            <a:solidFill>
              <a:srgbClr val="DCD8D1"/>
            </a:solidFill>
            <a:prstDash val="solid"/>
          </a:ln>
        </p:spPr>
      </p:sp>
      <p:sp>
        <p:nvSpPr>
          <p:cNvPr id="11" name="Text 8"/>
          <p:cNvSpPr/>
          <p:nvPr/>
        </p:nvSpPr>
        <p:spPr>
          <a:xfrm>
            <a:off x="6858000" y="3419856"/>
            <a:ext cx="3097786" cy="402336"/>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Kenaikan per penggandaan data</a:t>
            </a:r>
            <a:endParaRPr lang="en-US" sz="1150" dirty="0"/>
          </a:p>
        </p:txBody>
      </p:sp>
      <p:sp>
        <p:nvSpPr>
          <p:cNvPr id="12" name="Text 9"/>
          <p:cNvSpPr/>
          <p:nvPr/>
        </p:nvSpPr>
        <p:spPr>
          <a:xfrm>
            <a:off x="9955786" y="3419856"/>
            <a:ext cx="1595829" cy="402336"/>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+0,01118</a:t>
            </a:r>
            <a:endParaRPr lang="en-US" sz="11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858000" y="3977640"/>
          <a:ext cx="4693615" cy="914400"/>
        </p:xfrm>
        <a:graphic>
          <a:graphicData uri="http://schemas.openxmlformats.org/drawingml/2006/table">
            <a:tbl>
              <a:tblPr/>
              <a:tblGrid>
                <a:gridCol w="960120"/>
                <a:gridCol w="1417320"/>
                <a:gridCol w="868680"/>
                <a:gridCol w="1444752"/>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Target QWK</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Baris dibutuhkan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Kelipatan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Setara waktu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213.000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 2 tahun survei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396.000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 4 tahun survei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0,55</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8.790.000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92×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 88 tahun survei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195.000.000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2.041×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 1.950 tahun survei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4" name="Text 10"/>
          <p:cNvSpPr/>
          <p:nvPr/>
        </p:nvSpPr>
        <p:spPr>
          <a:xfrm>
            <a:off x="6858000" y="5815584"/>
            <a:ext cx="4693615"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Kurvanya masih melambat, jadi angka ini justru terlalu optimistis.</a:t>
            </a:r>
            <a:endParaRPr lang="en-US" sz="1000" dirty="0"/>
          </a:p>
        </p:txBody>
      </p:sp>
      <p:sp>
        <p:nvSpPr>
          <p:cNvPr id="16" name="Shape 11"/>
          <p:cNvSpPr/>
          <p:nvPr/>
        </p:nvSpPr>
        <p:spPr>
          <a:xfrm>
            <a:off x="640080" y="6400800"/>
            <a:ext cx="1572768" cy="45720"/>
          </a:xfrm>
          <a:prstGeom prst="rect">
            <a:avLst/>
          </a:prstGeom>
          <a:solidFill>
            <a:srgbClr val="DCD8D1"/>
          </a:solidFill>
          <a:ln/>
        </p:spPr>
      </p:sp>
      <p:sp>
        <p:nvSpPr>
          <p:cNvPr id="17" name="Text 1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8" name="Shape 13"/>
          <p:cNvSpPr/>
          <p:nvPr/>
        </p:nvSpPr>
        <p:spPr>
          <a:xfrm>
            <a:off x="2304288" y="6400800"/>
            <a:ext cx="1572768" cy="45720"/>
          </a:xfrm>
          <a:prstGeom prst="rect">
            <a:avLst/>
          </a:prstGeom>
          <a:solidFill>
            <a:srgbClr val="DCD8D1"/>
          </a:solidFill>
          <a:ln/>
        </p:spPr>
      </p:sp>
      <p:sp>
        <p:nvSpPr>
          <p:cNvPr id="19" name="Text 1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0" name="Shape 15"/>
          <p:cNvSpPr/>
          <p:nvPr/>
        </p:nvSpPr>
        <p:spPr>
          <a:xfrm>
            <a:off x="3968496" y="6400800"/>
            <a:ext cx="1572768" cy="45720"/>
          </a:xfrm>
          <a:prstGeom prst="rect">
            <a:avLst/>
          </a:prstGeom>
          <a:solidFill>
            <a:srgbClr val="DCD8D1"/>
          </a:solidFill>
          <a:ln/>
        </p:spPr>
      </p:sp>
      <p:sp>
        <p:nvSpPr>
          <p:cNvPr id="21" name="Text 1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2" name="Shape 17"/>
          <p:cNvSpPr/>
          <p:nvPr/>
        </p:nvSpPr>
        <p:spPr>
          <a:xfrm>
            <a:off x="5632704" y="6400800"/>
            <a:ext cx="1572768" cy="45720"/>
          </a:xfrm>
          <a:prstGeom prst="rect">
            <a:avLst/>
          </a:prstGeom>
          <a:solidFill>
            <a:srgbClr val="DCD8D1"/>
          </a:solidFill>
          <a:ln/>
        </p:spPr>
      </p:sp>
      <p:sp>
        <p:nvSpPr>
          <p:cNvPr id="23" name="Text 1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4" name="Shape 19"/>
          <p:cNvSpPr/>
          <p:nvPr/>
        </p:nvSpPr>
        <p:spPr>
          <a:xfrm>
            <a:off x="7296912" y="6400800"/>
            <a:ext cx="1572768" cy="45720"/>
          </a:xfrm>
          <a:prstGeom prst="rect">
            <a:avLst/>
          </a:prstGeom>
          <a:solidFill>
            <a:srgbClr val="A8442A"/>
          </a:solidFill>
          <a:ln/>
        </p:spPr>
      </p:sp>
      <p:sp>
        <p:nvSpPr>
          <p:cNvPr id="25" name="Text 2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26" name="Shape 21"/>
          <p:cNvSpPr/>
          <p:nvPr/>
        </p:nvSpPr>
        <p:spPr>
          <a:xfrm>
            <a:off x="8961120" y="6400800"/>
            <a:ext cx="1572768" cy="45720"/>
          </a:xfrm>
          <a:prstGeom prst="rect">
            <a:avLst/>
          </a:prstGeom>
          <a:solidFill>
            <a:srgbClr val="DCD8D1"/>
          </a:solidFill>
          <a:ln/>
        </p:spPr>
      </p:sp>
      <p:sp>
        <p:nvSpPr>
          <p:cNvPr id="27" name="Text 2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28" name="Text 2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peringkat teratas tidak dapat dibedakan secara statistik.</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Bootstrap 400 kali atas matriks konfusi out-of-fold kami sendiri, pada irisan seukuran papan skor publik.</a:t>
            </a:r>
            <a:endParaRPr lang="en-US" sz="1400" dirty="0"/>
          </a:p>
        </p:txBody>
      </p:sp>
      <p:sp>
        <p:nvSpPr>
          <p:cNvPr id="4" name="Text 2"/>
          <p:cNvSpPr/>
          <p:nvPr/>
        </p:nvSpPr>
        <p:spPr>
          <a:xfrm>
            <a:off x="640080" y="2395728"/>
            <a:ext cx="54864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INTERVAL 95% · IRISAN 7.100 BARIS</a:t>
            </a:r>
            <a:endParaRPr lang="en-US" sz="1050" dirty="0"/>
          </a:p>
        </p:txBody>
      </p:sp>
      <p:sp>
        <p:nvSpPr>
          <p:cNvPr id="5" name="Shape 3"/>
          <p:cNvSpPr/>
          <p:nvPr/>
        </p:nvSpPr>
        <p:spPr>
          <a:xfrm>
            <a:off x="1928553" y="3063240"/>
            <a:ext cx="4945740" cy="512064"/>
          </a:xfrm>
          <a:prstGeom prst="rect">
            <a:avLst/>
          </a:prstGeom>
          <a:solidFill>
            <a:srgbClr val="8FB0A4"/>
          </a:solidFill>
          <a:ln/>
        </p:spPr>
      </p:sp>
      <p:sp>
        <p:nvSpPr>
          <p:cNvPr id="6" name="Shape 4"/>
          <p:cNvSpPr/>
          <p:nvPr/>
        </p:nvSpPr>
        <p:spPr>
          <a:xfrm>
            <a:off x="4604420" y="2834640"/>
            <a:ext cx="0" cy="969264"/>
          </a:xfrm>
          <a:prstGeom prst="line">
            <a:avLst/>
          </a:prstGeom>
          <a:noFill/>
          <a:ln w="27940">
            <a:solidFill>
              <a:srgbClr val="16191D"/>
            </a:solidFill>
            <a:prstDash val="solid"/>
          </a:ln>
        </p:spPr>
      </p:sp>
      <p:sp>
        <p:nvSpPr>
          <p:cNvPr id="7" name="Text 5"/>
          <p:cNvSpPr/>
          <p:nvPr/>
        </p:nvSpPr>
        <p:spPr>
          <a:xfrm>
            <a:off x="3507140" y="2651760"/>
            <a:ext cx="2194560" cy="219456"/>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QWK kami 0,48425</a:t>
            </a:r>
            <a:endParaRPr lang="en-US" sz="1050" dirty="0"/>
          </a:p>
        </p:txBody>
      </p:sp>
      <p:sp>
        <p:nvSpPr>
          <p:cNvPr id="8" name="Shape 6"/>
          <p:cNvSpPr/>
          <p:nvPr/>
        </p:nvSpPr>
        <p:spPr>
          <a:xfrm>
            <a:off x="1005840" y="3840480"/>
            <a:ext cx="6766560" cy="0"/>
          </a:xfrm>
          <a:prstGeom prst="line">
            <a:avLst/>
          </a:prstGeom>
          <a:noFill/>
          <a:ln w="10160">
            <a:solidFill>
              <a:srgbClr val="3A4048"/>
            </a:solidFill>
            <a:prstDash val="solid"/>
          </a:ln>
        </p:spPr>
      </p:sp>
      <p:sp>
        <p:nvSpPr>
          <p:cNvPr id="9" name="Shape 7"/>
          <p:cNvSpPr/>
          <p:nvPr/>
        </p:nvSpPr>
        <p:spPr>
          <a:xfrm>
            <a:off x="1620982" y="3840480"/>
            <a:ext cx="0" cy="64008"/>
          </a:xfrm>
          <a:prstGeom prst="line">
            <a:avLst/>
          </a:prstGeom>
          <a:noFill/>
          <a:ln w="10160">
            <a:solidFill>
              <a:srgbClr val="3A4048"/>
            </a:solidFill>
            <a:prstDash val="solid"/>
          </a:ln>
        </p:spPr>
      </p:sp>
      <p:sp>
        <p:nvSpPr>
          <p:cNvPr id="10" name="Text 8"/>
          <p:cNvSpPr/>
          <p:nvPr/>
        </p:nvSpPr>
        <p:spPr>
          <a:xfrm>
            <a:off x="1255222" y="3913632"/>
            <a:ext cx="731520" cy="219456"/>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a:t>
            </a:r>
            <a:endParaRPr lang="en-US" sz="950" dirty="0"/>
          </a:p>
        </p:txBody>
      </p:sp>
      <p:sp>
        <p:nvSpPr>
          <p:cNvPr id="11" name="Shape 9"/>
          <p:cNvSpPr/>
          <p:nvPr/>
        </p:nvSpPr>
        <p:spPr>
          <a:xfrm>
            <a:off x="2851265" y="3840480"/>
            <a:ext cx="0" cy="64008"/>
          </a:xfrm>
          <a:prstGeom prst="line">
            <a:avLst/>
          </a:prstGeom>
          <a:noFill/>
          <a:ln w="10160">
            <a:solidFill>
              <a:srgbClr val="3A4048"/>
            </a:solidFill>
            <a:prstDash val="solid"/>
          </a:ln>
        </p:spPr>
      </p:sp>
      <p:sp>
        <p:nvSpPr>
          <p:cNvPr id="12" name="Text 10"/>
          <p:cNvSpPr/>
          <p:nvPr/>
        </p:nvSpPr>
        <p:spPr>
          <a:xfrm>
            <a:off x="2485505" y="3913632"/>
            <a:ext cx="731520" cy="219456"/>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0,47</a:t>
            </a:r>
            <a:endParaRPr lang="en-US" sz="950" dirty="0"/>
          </a:p>
        </p:txBody>
      </p:sp>
      <p:sp>
        <p:nvSpPr>
          <p:cNvPr id="13" name="Shape 11"/>
          <p:cNvSpPr/>
          <p:nvPr/>
        </p:nvSpPr>
        <p:spPr>
          <a:xfrm>
            <a:off x="4081549" y="3840480"/>
            <a:ext cx="0" cy="64008"/>
          </a:xfrm>
          <a:prstGeom prst="line">
            <a:avLst/>
          </a:prstGeom>
          <a:noFill/>
          <a:ln w="10160">
            <a:solidFill>
              <a:srgbClr val="3A4048"/>
            </a:solidFill>
            <a:prstDash val="solid"/>
          </a:ln>
        </p:spPr>
      </p:sp>
      <p:sp>
        <p:nvSpPr>
          <p:cNvPr id="14" name="Text 12"/>
          <p:cNvSpPr/>
          <p:nvPr/>
        </p:nvSpPr>
        <p:spPr>
          <a:xfrm>
            <a:off x="3715789" y="3913632"/>
            <a:ext cx="731520" cy="219456"/>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0,48</a:t>
            </a:r>
            <a:endParaRPr lang="en-US" sz="950" dirty="0"/>
          </a:p>
        </p:txBody>
      </p:sp>
      <p:sp>
        <p:nvSpPr>
          <p:cNvPr id="15" name="Shape 13"/>
          <p:cNvSpPr/>
          <p:nvPr/>
        </p:nvSpPr>
        <p:spPr>
          <a:xfrm>
            <a:off x="5311833" y="3840480"/>
            <a:ext cx="0" cy="64008"/>
          </a:xfrm>
          <a:prstGeom prst="line">
            <a:avLst/>
          </a:prstGeom>
          <a:noFill/>
          <a:ln w="10160">
            <a:solidFill>
              <a:srgbClr val="3A4048"/>
            </a:solidFill>
            <a:prstDash val="solid"/>
          </a:ln>
        </p:spPr>
      </p:sp>
      <p:sp>
        <p:nvSpPr>
          <p:cNvPr id="16" name="Text 14"/>
          <p:cNvSpPr/>
          <p:nvPr/>
        </p:nvSpPr>
        <p:spPr>
          <a:xfrm>
            <a:off x="4946073" y="3913632"/>
            <a:ext cx="731520" cy="219456"/>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0,49</a:t>
            </a:r>
            <a:endParaRPr lang="en-US" sz="950" dirty="0"/>
          </a:p>
        </p:txBody>
      </p:sp>
      <p:sp>
        <p:nvSpPr>
          <p:cNvPr id="17" name="Shape 15"/>
          <p:cNvSpPr/>
          <p:nvPr/>
        </p:nvSpPr>
        <p:spPr>
          <a:xfrm>
            <a:off x="6542116" y="3840480"/>
            <a:ext cx="0" cy="64008"/>
          </a:xfrm>
          <a:prstGeom prst="line">
            <a:avLst/>
          </a:prstGeom>
          <a:noFill/>
          <a:ln w="10160">
            <a:solidFill>
              <a:srgbClr val="3A4048"/>
            </a:solidFill>
            <a:prstDash val="solid"/>
          </a:ln>
        </p:spPr>
      </p:sp>
      <p:sp>
        <p:nvSpPr>
          <p:cNvPr id="18" name="Text 16"/>
          <p:cNvSpPr/>
          <p:nvPr/>
        </p:nvSpPr>
        <p:spPr>
          <a:xfrm>
            <a:off x="6176356" y="3913632"/>
            <a:ext cx="731520" cy="219456"/>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0,50</a:t>
            </a:r>
            <a:endParaRPr lang="en-US" sz="950" dirty="0"/>
          </a:p>
        </p:txBody>
      </p:sp>
      <p:sp>
        <p:nvSpPr>
          <p:cNvPr id="19" name="Text 17"/>
          <p:cNvSpPr/>
          <p:nvPr/>
        </p:nvSpPr>
        <p:spPr>
          <a:xfrm>
            <a:off x="1471353" y="3602736"/>
            <a:ext cx="914400" cy="219456"/>
          </a:xfrm>
          <a:prstGeom prst="rect">
            <a:avLst/>
          </a:prstGeom>
          <a:noFill/>
          <a:ln/>
        </p:spPr>
        <p:txBody>
          <a:bodyPr wrap="square" lIns="0" tIns="0" rIns="0" bIns="0" rtlCol="0" anchor="ctr"/>
          <a:lstStyle/>
          <a:p>
            <a:pPr algn="ctr" indent="0" marL="0">
              <a:buNone/>
            </a:pPr>
            <a:r>
              <a:rPr lang="en-US" sz="950" i="1" dirty="0">
                <a:solidFill>
                  <a:srgbClr val="6E747C"/>
                </a:solidFill>
                <a:latin typeface="Calibri" pitchFamily="34" charset="0"/>
                <a:ea typeface="Calibri" pitchFamily="34" charset="-122"/>
                <a:cs typeface="Calibri" pitchFamily="34" charset="-120"/>
              </a:rPr>
              <a:t>0,4625</a:t>
            </a:r>
            <a:endParaRPr lang="en-US" sz="950" dirty="0"/>
          </a:p>
        </p:txBody>
      </p:sp>
      <p:sp>
        <p:nvSpPr>
          <p:cNvPr id="20" name="Text 18"/>
          <p:cNvSpPr/>
          <p:nvPr/>
        </p:nvSpPr>
        <p:spPr>
          <a:xfrm>
            <a:off x="6417093" y="3602736"/>
            <a:ext cx="914400" cy="219456"/>
          </a:xfrm>
          <a:prstGeom prst="rect">
            <a:avLst/>
          </a:prstGeom>
          <a:noFill/>
          <a:ln/>
        </p:spPr>
        <p:txBody>
          <a:bodyPr wrap="square" lIns="0" tIns="0" rIns="0" bIns="0" rtlCol="0" anchor="ctr"/>
          <a:lstStyle/>
          <a:p>
            <a:pPr algn="ctr" indent="0" marL="0">
              <a:buNone/>
            </a:pPr>
            <a:r>
              <a:rPr lang="en-US" sz="950" i="1" dirty="0">
                <a:solidFill>
                  <a:srgbClr val="6E747C"/>
                </a:solidFill>
                <a:latin typeface="Calibri" pitchFamily="34" charset="0"/>
                <a:ea typeface="Calibri" pitchFamily="34" charset="-122"/>
                <a:cs typeface="Calibri" pitchFamily="34" charset="-120"/>
              </a:rPr>
              <a:t>0,5027</a:t>
            </a:r>
            <a:endParaRPr lang="en-US" sz="950" dirty="0"/>
          </a:p>
        </p:txBody>
      </p:sp>
      <p:sp>
        <p:nvSpPr>
          <p:cNvPr id="21" name="Shape 19"/>
          <p:cNvSpPr/>
          <p:nvPr/>
        </p:nvSpPr>
        <p:spPr>
          <a:xfrm>
            <a:off x="4143063" y="4343400"/>
            <a:ext cx="922713" cy="274320"/>
          </a:xfrm>
          <a:prstGeom prst="rect">
            <a:avLst/>
          </a:prstGeom>
          <a:solidFill>
            <a:srgbClr val="A8442A"/>
          </a:solidFill>
          <a:ln/>
        </p:spPr>
      </p:sp>
      <p:sp>
        <p:nvSpPr>
          <p:cNvPr id="22" name="Text 20"/>
          <p:cNvSpPr/>
          <p:nvPr/>
        </p:nvSpPr>
        <p:spPr>
          <a:xfrm>
            <a:off x="640080" y="4663440"/>
            <a:ext cx="7498080" cy="256032"/>
          </a:xfrm>
          <a:prstGeom prst="rect">
            <a:avLst/>
          </a:prstGeom>
          <a:noFill/>
          <a:ln/>
        </p:spPr>
        <p:txBody>
          <a:bodyPr wrap="square" lIns="0" tIns="0" rIns="0" bIns="0" rtlCol="0" anchor="ctr"/>
          <a:lstStyle/>
          <a:p>
            <a:pPr algn="ctr" indent="0" marL="0">
              <a:buNone/>
            </a:pPr>
            <a:r>
              <a:rPr lang="en-US" sz="1100" b="1" dirty="0">
                <a:solidFill>
                  <a:srgbClr val="A8442A"/>
                </a:solidFill>
                <a:latin typeface="Calibri" pitchFamily="34" charset="0"/>
                <a:ea typeface="Calibri" pitchFamily="34" charset="-122"/>
                <a:cs typeface="Calibri" pitchFamily="34" charset="-120"/>
              </a:rPr>
              <a:t>selisih peringkat 4 sampai 9 = 0,0075</a:t>
            </a:r>
            <a:endParaRPr lang="en-US" sz="1100" dirty="0"/>
          </a:p>
        </p:txBody>
      </p:sp>
      <p:sp>
        <p:nvSpPr>
          <p:cNvPr id="23" name="Text 21"/>
          <p:cNvSpPr/>
          <p:nvPr/>
        </p:nvSpPr>
        <p:spPr>
          <a:xfrm>
            <a:off x="640080" y="4956048"/>
            <a:ext cx="7498080" cy="310896"/>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Batang merah digambar dengan skala sumbu yang sama. Ia muat berkali-kali di dalam interval.</a:t>
            </a:r>
            <a:endParaRPr lang="en-US" sz="1000" dirty="0"/>
          </a:p>
        </p:txBody>
      </p:sp>
      <p:sp>
        <p:nvSpPr>
          <p:cNvPr id="24" name="Text 22"/>
          <p:cNvSpPr/>
          <p:nvPr/>
        </p:nvSpPr>
        <p:spPr>
          <a:xfrm>
            <a:off x="8366760" y="2331720"/>
            <a:ext cx="3184855" cy="512064"/>
          </a:xfrm>
          <a:prstGeom prst="rect">
            <a:avLst/>
          </a:prstGeom>
          <a:noFill/>
          <a:ln/>
        </p:spPr>
        <p:txBody>
          <a:bodyPr wrap="square" lIns="0" tIns="0" rIns="0" bIns="0" rtlCol="0" anchor="b"/>
          <a:lstStyle/>
          <a:p>
            <a:pPr algn="l" indent="0" marL="0">
              <a:buNone/>
            </a:pPr>
            <a:r>
              <a:rPr lang="en-US" sz="2800" b="1" dirty="0">
                <a:solidFill>
                  <a:srgbClr val="16191D"/>
                </a:solidFill>
                <a:latin typeface="Cambria" pitchFamily="34" charset="0"/>
                <a:ea typeface="Cambria" pitchFamily="34" charset="-122"/>
                <a:cs typeface="Cambria" pitchFamily="34" charset="-120"/>
              </a:rPr>
              <a:t>0,0050</a:t>
            </a:r>
            <a:endParaRPr lang="en-US" sz="2800" dirty="0"/>
          </a:p>
        </p:txBody>
      </p:sp>
      <p:sp>
        <p:nvSpPr>
          <p:cNvPr id="25" name="Text 23"/>
          <p:cNvSpPr/>
          <p:nvPr/>
        </p:nvSpPr>
        <p:spPr>
          <a:xfrm>
            <a:off x="8366760" y="2880360"/>
            <a:ext cx="31848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sd QWK pada irisan seukuran seluruh data uji (23.666)</a:t>
            </a:r>
            <a:endParaRPr lang="en-US" sz="1050" dirty="0"/>
          </a:p>
        </p:txBody>
      </p:sp>
      <p:sp>
        <p:nvSpPr>
          <p:cNvPr id="26" name="Text 24"/>
          <p:cNvSpPr/>
          <p:nvPr/>
        </p:nvSpPr>
        <p:spPr>
          <a:xfrm>
            <a:off x="8366760" y="3410712"/>
            <a:ext cx="3184855" cy="512064"/>
          </a:xfrm>
          <a:prstGeom prst="rect">
            <a:avLst/>
          </a:prstGeom>
          <a:noFill/>
          <a:ln/>
        </p:spPr>
        <p:txBody>
          <a:bodyPr wrap="square" lIns="0" tIns="0" rIns="0" bIns="0" rtlCol="0" anchor="b"/>
          <a:lstStyle/>
          <a:p>
            <a:pPr algn="l" indent="0" marL="0">
              <a:buNone/>
            </a:pPr>
            <a:r>
              <a:rPr lang="en-US" sz="2800" b="1" dirty="0">
                <a:solidFill>
                  <a:srgbClr val="16191D"/>
                </a:solidFill>
                <a:latin typeface="Cambria" pitchFamily="34" charset="0"/>
                <a:ea typeface="Cambria" pitchFamily="34" charset="-122"/>
                <a:cs typeface="Cambria" pitchFamily="34" charset="-120"/>
              </a:rPr>
              <a:t>0,0105</a:t>
            </a:r>
            <a:endParaRPr lang="en-US" sz="2800" dirty="0"/>
          </a:p>
        </p:txBody>
      </p:sp>
      <p:sp>
        <p:nvSpPr>
          <p:cNvPr id="27" name="Text 25"/>
          <p:cNvSpPr/>
          <p:nvPr/>
        </p:nvSpPr>
        <p:spPr>
          <a:xfrm>
            <a:off x="8366760" y="3959352"/>
            <a:ext cx="31848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sd QWK pada irisan seukuran papan skor publik (7.100)</a:t>
            </a:r>
            <a:endParaRPr lang="en-US" sz="1050" dirty="0"/>
          </a:p>
        </p:txBody>
      </p:sp>
      <p:sp>
        <p:nvSpPr>
          <p:cNvPr id="28" name="Text 26"/>
          <p:cNvSpPr/>
          <p:nvPr/>
        </p:nvSpPr>
        <p:spPr>
          <a:xfrm>
            <a:off x="8366760" y="4489704"/>
            <a:ext cx="3184855" cy="512064"/>
          </a:xfrm>
          <a:prstGeom prst="rect">
            <a:avLst/>
          </a:prstGeom>
          <a:noFill/>
          <a:ln/>
        </p:spPr>
        <p:txBody>
          <a:bodyPr wrap="square" lIns="0" tIns="0" rIns="0" bIns="0" rtlCol="0" anchor="b"/>
          <a:lstStyle/>
          <a:p>
            <a:pPr algn="l" indent="0" marL="0">
              <a:buNone/>
            </a:pPr>
            <a:r>
              <a:rPr lang="en-US" sz="2800" b="1" dirty="0">
                <a:solidFill>
                  <a:srgbClr val="A8442A"/>
                </a:solidFill>
                <a:latin typeface="Cambria" pitchFamily="34" charset="0"/>
                <a:ea typeface="Cambria" pitchFamily="34" charset="-122"/>
                <a:cs typeface="Cambria" pitchFamily="34" charset="-120"/>
              </a:rPr>
              <a:t>0,7 σ</a:t>
            </a:r>
            <a:endParaRPr lang="en-US" sz="2800" dirty="0"/>
          </a:p>
        </p:txBody>
      </p:sp>
      <p:sp>
        <p:nvSpPr>
          <p:cNvPr id="29" name="Text 27"/>
          <p:cNvSpPr/>
          <p:nvPr/>
        </p:nvSpPr>
        <p:spPr>
          <a:xfrm>
            <a:off x="8366760" y="5038344"/>
            <a:ext cx="318485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lebar enam peringkat berturut-turut, dalam satuan sd</a:t>
            </a:r>
            <a:endParaRPr lang="en-US" sz="1050" dirty="0"/>
          </a:p>
        </p:txBody>
      </p:sp>
      <p:sp>
        <p:nvSpPr>
          <p:cNvPr id="30" name="Shape 28"/>
          <p:cNvSpPr/>
          <p:nvPr/>
        </p:nvSpPr>
        <p:spPr>
          <a:xfrm>
            <a:off x="640080" y="5486400"/>
            <a:ext cx="10911535" cy="658368"/>
          </a:xfrm>
          <a:prstGeom prst="roundRect">
            <a:avLst>
              <a:gd name="adj" fmla="val 8333"/>
            </a:avLst>
          </a:prstGeom>
          <a:solidFill>
            <a:srgbClr val="ECE7DF"/>
          </a:solidFill>
          <a:ln w="9525">
            <a:solidFill>
              <a:srgbClr val="DCD8D1"/>
            </a:solidFill>
            <a:prstDash val="solid"/>
          </a:ln>
        </p:spPr>
      </p:sp>
      <p:sp>
        <p:nvSpPr>
          <p:cNvPr id="31" name="Text 29"/>
          <p:cNvSpPr/>
          <p:nvPr/>
        </p:nvSpPr>
        <p:spPr>
          <a:xfrm>
            <a:off x="914400" y="5486400"/>
            <a:ext cx="10362895" cy="658368"/>
          </a:xfrm>
          <a:prstGeom prst="rect">
            <a:avLst/>
          </a:prstGeom>
          <a:noFill/>
          <a:ln/>
        </p:spPr>
        <p:txBody>
          <a:bodyPr wrap="square" lIns="0" tIns="0" rIns="0" bIns="0" rtlCol="0" anchor="ctr"/>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Cara membacanya. </a:t>
            </a:r>
            <a:pPr indent="0" marL="0">
              <a:lnSpc>
                <a:spcPts val="1500"/>
              </a:lnSpc>
              <a:buNone/>
            </a:pPr>
            <a:r>
              <a:rPr lang="en-US" sz="1150" dirty="0">
                <a:solidFill>
                  <a:srgbClr val="3A4048"/>
                </a:solidFill>
                <a:latin typeface="Calibri" pitchFamily="34" charset="0"/>
                <a:ea typeface="Calibri" pitchFamily="34" charset="-122"/>
                <a:cs typeface="Calibri" pitchFamily="34" charset="-120"/>
              </a:rPr>
              <a:t>Selisih di bawah sekitar 0,02 QWK pada papan skor publik belum melampaui dua simpangan baku, jadi urutan di kisaran itu lebih banyak ditentukan irisan data daripada metodologi.</a:t>
            </a:r>
            <a:endParaRPr lang="en-US" sz="1150" dirty="0"/>
          </a:p>
        </p:txBody>
      </p:sp>
      <p:sp>
        <p:nvSpPr>
          <p:cNvPr id="33" name="Shape 30"/>
          <p:cNvSpPr/>
          <p:nvPr/>
        </p:nvSpPr>
        <p:spPr>
          <a:xfrm>
            <a:off x="640080" y="6400800"/>
            <a:ext cx="1572768" cy="45720"/>
          </a:xfrm>
          <a:prstGeom prst="rect">
            <a:avLst/>
          </a:prstGeom>
          <a:solidFill>
            <a:srgbClr val="DCD8D1"/>
          </a:solidFill>
          <a:ln/>
        </p:spPr>
      </p:sp>
      <p:sp>
        <p:nvSpPr>
          <p:cNvPr id="34" name="Text 3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5" name="Shape 32"/>
          <p:cNvSpPr/>
          <p:nvPr/>
        </p:nvSpPr>
        <p:spPr>
          <a:xfrm>
            <a:off x="2304288" y="6400800"/>
            <a:ext cx="1572768" cy="45720"/>
          </a:xfrm>
          <a:prstGeom prst="rect">
            <a:avLst/>
          </a:prstGeom>
          <a:solidFill>
            <a:srgbClr val="DCD8D1"/>
          </a:solidFill>
          <a:ln/>
        </p:spPr>
      </p:sp>
      <p:sp>
        <p:nvSpPr>
          <p:cNvPr id="36" name="Text 3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7" name="Shape 34"/>
          <p:cNvSpPr/>
          <p:nvPr/>
        </p:nvSpPr>
        <p:spPr>
          <a:xfrm>
            <a:off x="3968496" y="6400800"/>
            <a:ext cx="1572768" cy="45720"/>
          </a:xfrm>
          <a:prstGeom prst="rect">
            <a:avLst/>
          </a:prstGeom>
          <a:solidFill>
            <a:srgbClr val="DCD8D1"/>
          </a:solidFill>
          <a:ln/>
        </p:spPr>
      </p:sp>
      <p:sp>
        <p:nvSpPr>
          <p:cNvPr id="38" name="Text 3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9" name="Shape 36"/>
          <p:cNvSpPr/>
          <p:nvPr/>
        </p:nvSpPr>
        <p:spPr>
          <a:xfrm>
            <a:off x="5632704" y="6400800"/>
            <a:ext cx="1572768" cy="45720"/>
          </a:xfrm>
          <a:prstGeom prst="rect">
            <a:avLst/>
          </a:prstGeom>
          <a:solidFill>
            <a:srgbClr val="DCD8D1"/>
          </a:solidFill>
          <a:ln/>
        </p:spPr>
      </p:sp>
      <p:sp>
        <p:nvSpPr>
          <p:cNvPr id="40" name="Text 3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1" name="Shape 38"/>
          <p:cNvSpPr/>
          <p:nvPr/>
        </p:nvSpPr>
        <p:spPr>
          <a:xfrm>
            <a:off x="7296912" y="6400800"/>
            <a:ext cx="1572768" cy="45720"/>
          </a:xfrm>
          <a:prstGeom prst="rect">
            <a:avLst/>
          </a:prstGeom>
          <a:solidFill>
            <a:srgbClr val="A8442A"/>
          </a:solidFill>
          <a:ln/>
        </p:spPr>
      </p:sp>
      <p:sp>
        <p:nvSpPr>
          <p:cNvPr id="42" name="Text 3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Hasil &amp; plafon</a:t>
            </a:r>
            <a:endParaRPr lang="en-US" sz="850" dirty="0"/>
          </a:p>
        </p:txBody>
      </p:sp>
      <p:sp>
        <p:nvSpPr>
          <p:cNvPr id="43" name="Shape 40"/>
          <p:cNvSpPr/>
          <p:nvPr/>
        </p:nvSpPr>
        <p:spPr>
          <a:xfrm>
            <a:off x="8961120" y="6400800"/>
            <a:ext cx="1572768" cy="45720"/>
          </a:xfrm>
          <a:prstGeom prst="rect">
            <a:avLst/>
          </a:prstGeom>
          <a:solidFill>
            <a:srgbClr val="DCD8D1"/>
          </a:solidFill>
          <a:ln/>
        </p:spPr>
      </p:sp>
      <p:sp>
        <p:nvSpPr>
          <p:cNvPr id="44" name="Text 4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Reproduksi &amp; produk</a:t>
            </a:r>
            <a:endParaRPr lang="en-US" sz="850" dirty="0"/>
          </a:p>
        </p:txBody>
      </p:sp>
      <p:sp>
        <p:nvSpPr>
          <p:cNvPr id="45" name="Text 4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1965960"/>
            <a:ext cx="3657600" cy="292608"/>
          </a:xfrm>
          <a:prstGeom prst="rect">
            <a:avLst/>
          </a:prstGeom>
          <a:noFill/>
          <a:ln/>
        </p:spPr>
        <p:txBody>
          <a:bodyPr wrap="square" lIns="0" tIns="0" rIns="0" bIns="0" rtlCol="0" anchor="ctr"/>
          <a:lstStyle/>
          <a:p>
            <a:pPr indent="0" marL="0">
              <a:buNone/>
            </a:pPr>
            <a:r>
              <a:rPr lang="en-US" sz="1100" b="1" spc="200" kern="0" dirty="0">
                <a:solidFill>
                  <a:srgbClr val="8FB0A4"/>
                </a:solidFill>
                <a:latin typeface="Calibri" pitchFamily="34" charset="0"/>
                <a:ea typeface="Calibri" pitchFamily="34" charset="-122"/>
                <a:cs typeface="Calibri" pitchFamily="34" charset="-120"/>
              </a:rPr>
              <a:t>BABAK VI</a:t>
            </a:r>
            <a:endParaRPr lang="en-US" sz="1100" dirty="0"/>
          </a:p>
        </p:txBody>
      </p:sp>
      <p:sp>
        <p:nvSpPr>
          <p:cNvPr id="3" name="Text 1"/>
          <p:cNvSpPr/>
          <p:nvPr/>
        </p:nvSpPr>
        <p:spPr>
          <a:xfrm>
            <a:off x="640080" y="2359152"/>
            <a:ext cx="6583680" cy="137160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Bisa diulang,</a:t>
            </a:r>
            <a:endParaRPr lang="en-US" sz="3600" dirty="0"/>
          </a:p>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dan bisa dipakai.</a:t>
            </a:r>
            <a:endParaRPr lang="en-US" sz="3600" dirty="0"/>
          </a:p>
        </p:txBody>
      </p:sp>
      <p:sp>
        <p:nvSpPr>
          <p:cNvPr id="4" name="Text 2"/>
          <p:cNvSpPr/>
          <p:nvPr/>
        </p:nvSpPr>
        <p:spPr>
          <a:xfrm>
            <a:off x="640080" y="3648456"/>
            <a:ext cx="6035040" cy="731520"/>
          </a:xfrm>
          <a:prstGeom prst="rect">
            <a:avLst/>
          </a:prstGeom>
          <a:noFill/>
          <a:ln/>
        </p:spPr>
        <p:txBody>
          <a:bodyPr wrap="square" lIns="0" tIns="0" rIns="0" bIns="0" rtlCol="0" anchor="t"/>
          <a:lstStyle/>
          <a:p>
            <a:pPr indent="0" marL="0">
              <a:lnSpc>
                <a:spcPts val="2000"/>
              </a:lnSpc>
              <a:buNone/>
            </a:pPr>
            <a:r>
              <a:rPr lang="en-US" sz="1400" dirty="0">
                <a:solidFill>
                  <a:srgbClr val="9AA0A7"/>
                </a:solidFill>
                <a:latin typeface="Calibri" pitchFamily="34" charset="0"/>
                <a:ea typeface="Calibri" pitchFamily="34" charset="-122"/>
                <a:cs typeface="Calibri" pitchFamily="34" charset="-120"/>
              </a:rPr>
              <a:t>Angka yang tidak dapat direproduksi bukan hasil. Angka yang tidak dapat dipakai bukan manfaat.</a:t>
            </a:r>
            <a:endParaRPr lang="en-US" sz="1400" dirty="0"/>
          </a:p>
        </p:txBody>
      </p:sp>
      <p:sp>
        <p:nvSpPr>
          <p:cNvPr id="5" name="Shape 3"/>
          <p:cNvSpPr/>
          <p:nvPr/>
        </p:nvSpPr>
        <p:spPr>
          <a:xfrm>
            <a:off x="7772400" y="2103120"/>
            <a:ext cx="3779215" cy="0"/>
          </a:xfrm>
          <a:prstGeom prst="line">
            <a:avLst/>
          </a:prstGeom>
          <a:noFill/>
          <a:ln w="12700">
            <a:solidFill>
              <a:srgbClr val="3A4048"/>
            </a:solidFill>
            <a:prstDash val="solid"/>
          </a:ln>
        </p:spPr>
      </p:sp>
      <p:sp>
        <p:nvSpPr>
          <p:cNvPr id="6" name="Text 4"/>
          <p:cNvSpPr/>
          <p:nvPr/>
        </p:nvSpPr>
        <p:spPr>
          <a:xfrm>
            <a:off x="7772400" y="2304288"/>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Artefak model 84 MB, dimuat ulang</a:t>
            </a:r>
            <a:endParaRPr lang="en-US" sz="1200" dirty="0"/>
          </a:p>
        </p:txBody>
      </p:sp>
      <p:sp>
        <p:nvSpPr>
          <p:cNvPr id="7" name="Text 5"/>
          <p:cNvSpPr/>
          <p:nvPr/>
        </p:nvSpPr>
        <p:spPr>
          <a:xfrm>
            <a:off x="7772400" y="2706624"/>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Tujuh uji integritas submission</a:t>
            </a:r>
            <a:endParaRPr lang="en-US" sz="1200" dirty="0"/>
          </a:p>
        </p:txBody>
      </p:sp>
      <p:sp>
        <p:nvSpPr>
          <p:cNvPr id="8" name="Text 6"/>
          <p:cNvSpPr/>
          <p:nvPr/>
        </p:nvSpPr>
        <p:spPr>
          <a:xfrm>
            <a:off x="7772400" y="3108960"/>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Keterbatasan yang kami akui sendiri</a:t>
            </a:r>
            <a:endParaRPr lang="en-US" sz="1200" dirty="0"/>
          </a:p>
        </p:txBody>
      </p:sp>
      <p:sp>
        <p:nvSpPr>
          <p:cNvPr id="9" name="Text 7"/>
          <p:cNvSpPr/>
          <p:nvPr/>
        </p:nvSpPr>
        <p:spPr>
          <a:xfrm>
            <a:off x="7772400" y="3511296"/>
            <a:ext cx="3779215" cy="365760"/>
          </a:xfrm>
          <a:prstGeom prst="rect">
            <a:avLst/>
          </a:prstGeom>
          <a:noFill/>
          <a:ln/>
        </p:spPr>
        <p:txBody>
          <a:bodyPr wrap="square" lIns="0" tIns="0" rIns="0" bIns="0" rtlCol="0" anchor="ctr"/>
          <a:lstStyle/>
          <a:p>
            <a:pPr indent="0" marL="0">
              <a:buNone/>
            </a:pPr>
            <a:r>
              <a:rPr lang="en-US" sz="1200" dirty="0">
                <a:solidFill>
                  <a:srgbClr val="9AA0A7"/>
                </a:solidFill>
                <a:latin typeface="Calibri" pitchFamily="34" charset="0"/>
                <a:ea typeface="Calibri" pitchFamily="34" charset="-122"/>
                <a:cs typeface="Calibri" pitchFamily="34" charset="-120"/>
              </a:rPr>
              <a:t>Prototipe berjalan di peramban</a:t>
            </a:r>
            <a:endParaRPr lang="en-US" sz="1200" dirty="0"/>
          </a:p>
        </p:txBody>
      </p:sp>
      <p:sp>
        <p:nvSpPr>
          <p:cNvPr id="10"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Satu eksekusi menghasilkan model, submission, dan angka di slide ini.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Seluruh sumber keacakan yang dapat dikendalikan sudah dikunci dan dicatat.</a:t>
            </a:r>
            <a:endParaRPr lang="en-US" sz="1400" dirty="0"/>
          </a:p>
        </p:txBody>
      </p:sp>
      <p:sp>
        <p:nvSpPr>
          <p:cNvPr id="4" name="Shape 2"/>
          <p:cNvSpPr/>
          <p:nvPr/>
        </p:nvSpPr>
        <p:spPr>
          <a:xfrm>
            <a:off x="640080" y="2286000"/>
            <a:ext cx="3520440" cy="2377440"/>
          </a:xfrm>
          <a:prstGeom prst="roundRect">
            <a:avLst>
              <a:gd name="adj" fmla="val 2308"/>
            </a:avLst>
          </a:prstGeom>
          <a:solidFill>
            <a:srgbClr val="F4F1EC"/>
          </a:solidFill>
          <a:ln w="9525">
            <a:solidFill>
              <a:srgbClr val="DCD8D1"/>
            </a:solidFill>
            <a:prstDash val="solid"/>
          </a:ln>
        </p:spPr>
      </p:sp>
      <p:sp>
        <p:nvSpPr>
          <p:cNvPr id="5" name="Text 3"/>
          <p:cNvSpPr/>
          <p:nvPr/>
        </p:nvSpPr>
        <p:spPr>
          <a:xfrm>
            <a:off x="914400" y="2450592"/>
            <a:ext cx="2971800" cy="274320"/>
          </a:xfrm>
          <a:prstGeom prst="rect">
            <a:avLst/>
          </a:prstGeom>
          <a:noFill/>
          <a:ln/>
        </p:spPr>
        <p:txBody>
          <a:bodyPr wrap="square" lIns="0" tIns="0" rIns="0" bIns="0" rtlCol="0" anchor="ctr"/>
          <a:lstStyle/>
          <a:p>
            <a:pPr indent="0" marL="0">
              <a:buNone/>
            </a:pPr>
            <a:r>
              <a:rPr lang="en-US" sz="1350" b="1" dirty="0">
                <a:solidFill>
                  <a:srgbClr val="16191D"/>
                </a:solidFill>
                <a:latin typeface="Cambria" pitchFamily="34" charset="0"/>
                <a:ea typeface="Cambria" pitchFamily="34" charset="-122"/>
                <a:cs typeface="Cambria" pitchFamily="34" charset="-120"/>
              </a:rPr>
              <a:t>Yang dikunci</a:t>
            </a:r>
            <a:endParaRPr lang="en-US" sz="1350" dirty="0"/>
          </a:p>
        </p:txBody>
      </p:sp>
      <p:sp>
        <p:nvSpPr>
          <p:cNvPr id="6" name="Text 4"/>
          <p:cNvSpPr/>
          <p:nvPr/>
        </p:nvSpPr>
        <p:spPr>
          <a:xfrm>
            <a:off x="914400" y="2779776"/>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SEED</a:t>
            </a:r>
            <a:endParaRPr lang="en-US" sz="1050" dirty="0"/>
          </a:p>
        </p:txBody>
      </p:sp>
      <p:sp>
        <p:nvSpPr>
          <p:cNvPr id="7" name="Text 5"/>
          <p:cNvSpPr/>
          <p:nvPr/>
        </p:nvSpPr>
        <p:spPr>
          <a:xfrm>
            <a:off x="2756916" y="2779776"/>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42</a:t>
            </a:r>
            <a:endParaRPr lang="en-US" sz="1050" dirty="0"/>
          </a:p>
        </p:txBody>
      </p:sp>
      <p:sp>
        <p:nvSpPr>
          <p:cNvPr id="8" name="Shape 6"/>
          <p:cNvSpPr/>
          <p:nvPr/>
        </p:nvSpPr>
        <p:spPr>
          <a:xfrm>
            <a:off x="914400" y="3035808"/>
            <a:ext cx="2971800" cy="0"/>
          </a:xfrm>
          <a:prstGeom prst="line">
            <a:avLst/>
          </a:prstGeom>
          <a:noFill/>
          <a:ln w="7620">
            <a:solidFill>
              <a:srgbClr val="DCD8D1"/>
            </a:solidFill>
            <a:prstDash val="solid"/>
          </a:ln>
        </p:spPr>
      </p:sp>
      <p:sp>
        <p:nvSpPr>
          <p:cNvPr id="9" name="Text 7"/>
          <p:cNvSpPr/>
          <p:nvPr/>
        </p:nvSpPr>
        <p:spPr>
          <a:xfrm>
            <a:off x="914400" y="3035808"/>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Seed per fold</a:t>
            </a:r>
            <a:endParaRPr lang="en-US" sz="1050" dirty="0"/>
          </a:p>
        </p:txBody>
      </p:sp>
      <p:sp>
        <p:nvSpPr>
          <p:cNvPr id="10" name="Text 8"/>
          <p:cNvSpPr/>
          <p:nvPr/>
        </p:nvSpPr>
        <p:spPr>
          <a:xfrm>
            <a:off x="2756916" y="3035808"/>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 sampai 4</a:t>
            </a:r>
            <a:endParaRPr lang="en-US" sz="1050" dirty="0"/>
          </a:p>
        </p:txBody>
      </p:sp>
      <p:sp>
        <p:nvSpPr>
          <p:cNvPr id="11" name="Shape 9"/>
          <p:cNvSpPr/>
          <p:nvPr/>
        </p:nvSpPr>
        <p:spPr>
          <a:xfrm>
            <a:off x="914400" y="3291840"/>
            <a:ext cx="2971800" cy="0"/>
          </a:xfrm>
          <a:prstGeom prst="line">
            <a:avLst/>
          </a:prstGeom>
          <a:noFill/>
          <a:ln w="7620">
            <a:solidFill>
              <a:srgbClr val="DCD8D1"/>
            </a:solidFill>
            <a:prstDash val="solid"/>
          </a:ln>
        </p:spPr>
      </p:sp>
      <p:sp>
        <p:nvSpPr>
          <p:cNvPr id="12" name="Text 10"/>
          <p:cNvSpPr/>
          <p:nvPr/>
        </p:nvSpPr>
        <p:spPr>
          <a:xfrm>
            <a:off x="914400" y="3291840"/>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PYTHONHASHSEED</a:t>
            </a:r>
            <a:endParaRPr lang="en-US" sz="1050" dirty="0"/>
          </a:p>
        </p:txBody>
      </p:sp>
      <p:sp>
        <p:nvSpPr>
          <p:cNvPr id="13" name="Text 11"/>
          <p:cNvSpPr/>
          <p:nvPr/>
        </p:nvSpPr>
        <p:spPr>
          <a:xfrm>
            <a:off x="2756916" y="3291840"/>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diatur</a:t>
            </a:r>
            <a:endParaRPr lang="en-US" sz="1050" dirty="0"/>
          </a:p>
        </p:txBody>
      </p:sp>
      <p:sp>
        <p:nvSpPr>
          <p:cNvPr id="14" name="Shape 12"/>
          <p:cNvSpPr/>
          <p:nvPr/>
        </p:nvSpPr>
        <p:spPr>
          <a:xfrm>
            <a:off x="914400" y="3547872"/>
            <a:ext cx="2971800" cy="0"/>
          </a:xfrm>
          <a:prstGeom prst="line">
            <a:avLst/>
          </a:prstGeom>
          <a:noFill/>
          <a:ln w="7620">
            <a:solidFill>
              <a:srgbClr val="DCD8D1"/>
            </a:solidFill>
            <a:prstDash val="solid"/>
          </a:ln>
        </p:spPr>
      </p:sp>
      <p:sp>
        <p:nvSpPr>
          <p:cNvPr id="15" name="Text 13"/>
          <p:cNvSpPr/>
          <p:nvPr/>
        </p:nvSpPr>
        <p:spPr>
          <a:xfrm>
            <a:off x="914400" y="3547872"/>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Python</a:t>
            </a:r>
            <a:endParaRPr lang="en-US" sz="1050" dirty="0"/>
          </a:p>
        </p:txBody>
      </p:sp>
      <p:sp>
        <p:nvSpPr>
          <p:cNvPr id="16" name="Text 14"/>
          <p:cNvSpPr/>
          <p:nvPr/>
        </p:nvSpPr>
        <p:spPr>
          <a:xfrm>
            <a:off x="2756916" y="3547872"/>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3.11.9</a:t>
            </a:r>
            <a:endParaRPr lang="en-US" sz="1050" dirty="0"/>
          </a:p>
        </p:txBody>
      </p:sp>
      <p:sp>
        <p:nvSpPr>
          <p:cNvPr id="17" name="Shape 15"/>
          <p:cNvSpPr/>
          <p:nvPr/>
        </p:nvSpPr>
        <p:spPr>
          <a:xfrm>
            <a:off x="914400" y="3803904"/>
            <a:ext cx="2971800" cy="0"/>
          </a:xfrm>
          <a:prstGeom prst="line">
            <a:avLst/>
          </a:prstGeom>
          <a:noFill/>
          <a:ln w="7620">
            <a:solidFill>
              <a:srgbClr val="DCD8D1"/>
            </a:solidFill>
            <a:prstDash val="solid"/>
          </a:ln>
        </p:spPr>
      </p:sp>
      <p:sp>
        <p:nvSpPr>
          <p:cNvPr id="18" name="Text 16"/>
          <p:cNvSpPr/>
          <p:nvPr/>
        </p:nvSpPr>
        <p:spPr>
          <a:xfrm>
            <a:off x="914400" y="3803904"/>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LightGBM</a:t>
            </a:r>
            <a:endParaRPr lang="en-US" sz="1050" dirty="0"/>
          </a:p>
        </p:txBody>
      </p:sp>
      <p:sp>
        <p:nvSpPr>
          <p:cNvPr id="19" name="Text 17"/>
          <p:cNvSpPr/>
          <p:nvPr/>
        </p:nvSpPr>
        <p:spPr>
          <a:xfrm>
            <a:off x="2756916" y="3803904"/>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4.7.0</a:t>
            </a:r>
            <a:endParaRPr lang="en-US" sz="1050" dirty="0"/>
          </a:p>
        </p:txBody>
      </p:sp>
      <p:sp>
        <p:nvSpPr>
          <p:cNvPr id="20" name="Shape 18"/>
          <p:cNvSpPr/>
          <p:nvPr/>
        </p:nvSpPr>
        <p:spPr>
          <a:xfrm>
            <a:off x="914400" y="4059936"/>
            <a:ext cx="2971800" cy="0"/>
          </a:xfrm>
          <a:prstGeom prst="line">
            <a:avLst/>
          </a:prstGeom>
          <a:noFill/>
          <a:ln w="7620">
            <a:solidFill>
              <a:srgbClr val="DCD8D1"/>
            </a:solidFill>
            <a:prstDash val="solid"/>
          </a:ln>
        </p:spPr>
      </p:sp>
      <p:sp>
        <p:nvSpPr>
          <p:cNvPr id="21" name="Text 19"/>
          <p:cNvSpPr/>
          <p:nvPr/>
        </p:nvSpPr>
        <p:spPr>
          <a:xfrm>
            <a:off x="914400" y="4059936"/>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XGBoost</a:t>
            </a:r>
            <a:endParaRPr lang="en-US" sz="1050" dirty="0"/>
          </a:p>
        </p:txBody>
      </p:sp>
      <p:sp>
        <p:nvSpPr>
          <p:cNvPr id="22" name="Text 20"/>
          <p:cNvSpPr/>
          <p:nvPr/>
        </p:nvSpPr>
        <p:spPr>
          <a:xfrm>
            <a:off x="2756916" y="4059936"/>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3.2.0</a:t>
            </a:r>
            <a:endParaRPr lang="en-US" sz="1050" dirty="0"/>
          </a:p>
        </p:txBody>
      </p:sp>
      <p:sp>
        <p:nvSpPr>
          <p:cNvPr id="23" name="Shape 21"/>
          <p:cNvSpPr/>
          <p:nvPr/>
        </p:nvSpPr>
        <p:spPr>
          <a:xfrm>
            <a:off x="914400" y="4315968"/>
            <a:ext cx="2971800" cy="0"/>
          </a:xfrm>
          <a:prstGeom prst="line">
            <a:avLst/>
          </a:prstGeom>
          <a:noFill/>
          <a:ln w="7620">
            <a:solidFill>
              <a:srgbClr val="DCD8D1"/>
            </a:solidFill>
            <a:prstDash val="solid"/>
          </a:ln>
        </p:spPr>
      </p:sp>
      <p:sp>
        <p:nvSpPr>
          <p:cNvPr id="24" name="Text 22"/>
          <p:cNvSpPr/>
          <p:nvPr/>
        </p:nvSpPr>
        <p:spPr>
          <a:xfrm>
            <a:off x="914400" y="4315968"/>
            <a:ext cx="1842516" cy="256032"/>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CatBoost</a:t>
            </a:r>
            <a:endParaRPr lang="en-US" sz="1050" dirty="0"/>
          </a:p>
        </p:txBody>
      </p:sp>
      <p:sp>
        <p:nvSpPr>
          <p:cNvPr id="25" name="Text 23"/>
          <p:cNvSpPr/>
          <p:nvPr/>
        </p:nvSpPr>
        <p:spPr>
          <a:xfrm>
            <a:off x="2756916" y="4315968"/>
            <a:ext cx="1129284" cy="256032"/>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1.2.10</a:t>
            </a:r>
            <a:endParaRPr lang="en-US" sz="1050" dirty="0"/>
          </a:p>
        </p:txBody>
      </p:sp>
      <p:sp>
        <p:nvSpPr>
          <p:cNvPr id="26" name="Shape 24"/>
          <p:cNvSpPr/>
          <p:nvPr/>
        </p:nvSpPr>
        <p:spPr>
          <a:xfrm>
            <a:off x="4471416" y="2286000"/>
            <a:ext cx="3520440" cy="2377440"/>
          </a:xfrm>
          <a:prstGeom prst="roundRect">
            <a:avLst>
              <a:gd name="adj" fmla="val 2308"/>
            </a:avLst>
          </a:prstGeom>
          <a:solidFill>
            <a:srgbClr val="FFFFFF"/>
          </a:solidFill>
          <a:ln w="9525">
            <a:solidFill>
              <a:srgbClr val="DCD8D1"/>
            </a:solidFill>
            <a:prstDash val="solid"/>
          </a:ln>
        </p:spPr>
      </p:sp>
      <p:sp>
        <p:nvSpPr>
          <p:cNvPr id="27" name="Text 25"/>
          <p:cNvSpPr/>
          <p:nvPr/>
        </p:nvSpPr>
        <p:spPr>
          <a:xfrm>
            <a:off x="4745736" y="2450592"/>
            <a:ext cx="2971800" cy="274320"/>
          </a:xfrm>
          <a:prstGeom prst="rect">
            <a:avLst/>
          </a:prstGeom>
          <a:noFill/>
          <a:ln/>
        </p:spPr>
        <p:txBody>
          <a:bodyPr wrap="square" lIns="0" tIns="0" rIns="0" bIns="0" rtlCol="0" anchor="ctr"/>
          <a:lstStyle/>
          <a:p>
            <a:pPr indent="0" marL="0">
              <a:buNone/>
            </a:pPr>
            <a:r>
              <a:rPr lang="en-US" sz="1350" b="1" dirty="0">
                <a:solidFill>
                  <a:srgbClr val="16191D"/>
                </a:solidFill>
                <a:latin typeface="Cambria" pitchFamily="34" charset="0"/>
                <a:ea typeface="Cambria" pitchFamily="34" charset="-122"/>
                <a:cs typeface="Cambria" pitchFamily="34" charset="-120"/>
              </a:rPr>
              <a:t>Artefak yang tersimpan</a:t>
            </a:r>
            <a:endParaRPr lang="en-US" sz="1350" dirty="0"/>
          </a:p>
        </p:txBody>
      </p:sp>
      <p:sp>
        <p:nvSpPr>
          <p:cNvPr id="28" name="Text 26"/>
          <p:cNvSpPr/>
          <p:nvPr/>
        </p:nvSpPr>
        <p:spPr>
          <a:xfrm>
            <a:off x="4745736" y="2779776"/>
            <a:ext cx="1842516"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model_warkab.joblib</a:t>
            </a:r>
            <a:endParaRPr lang="en-US" sz="1050" dirty="0"/>
          </a:p>
        </p:txBody>
      </p:sp>
      <p:sp>
        <p:nvSpPr>
          <p:cNvPr id="29" name="Text 27"/>
          <p:cNvSpPr/>
          <p:nvPr/>
        </p:nvSpPr>
        <p:spPr>
          <a:xfrm>
            <a:off x="6588252" y="2779776"/>
            <a:ext cx="1129284"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84,0 MB</a:t>
            </a:r>
            <a:endParaRPr lang="en-US" sz="1050" dirty="0"/>
          </a:p>
        </p:txBody>
      </p:sp>
      <p:sp>
        <p:nvSpPr>
          <p:cNvPr id="30" name="Shape 28"/>
          <p:cNvSpPr/>
          <p:nvPr/>
        </p:nvSpPr>
        <p:spPr>
          <a:xfrm>
            <a:off x="4745736" y="3145536"/>
            <a:ext cx="2971800" cy="0"/>
          </a:xfrm>
          <a:prstGeom prst="line">
            <a:avLst/>
          </a:prstGeom>
          <a:noFill/>
          <a:ln w="7620">
            <a:solidFill>
              <a:srgbClr val="DCD8D1"/>
            </a:solidFill>
            <a:prstDash val="solid"/>
          </a:ln>
        </p:spPr>
      </p:sp>
      <p:sp>
        <p:nvSpPr>
          <p:cNvPr id="31" name="Text 29"/>
          <p:cNvSpPr/>
          <p:nvPr/>
        </p:nvSpPr>
        <p:spPr>
          <a:xfrm>
            <a:off x="4745736" y="3145536"/>
            <a:ext cx="1842516"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Isi bundel</a:t>
            </a:r>
            <a:endParaRPr lang="en-US" sz="1050" dirty="0"/>
          </a:p>
        </p:txBody>
      </p:sp>
      <p:sp>
        <p:nvSpPr>
          <p:cNvPr id="32" name="Text 30"/>
          <p:cNvSpPr/>
          <p:nvPr/>
        </p:nvSpPr>
        <p:spPr>
          <a:xfrm>
            <a:off x="6588252" y="3145536"/>
            <a:ext cx="1129284"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model, meta, ambang</a:t>
            </a:r>
            <a:endParaRPr lang="en-US" sz="1050" dirty="0"/>
          </a:p>
        </p:txBody>
      </p:sp>
      <p:sp>
        <p:nvSpPr>
          <p:cNvPr id="33" name="Shape 31"/>
          <p:cNvSpPr/>
          <p:nvPr/>
        </p:nvSpPr>
        <p:spPr>
          <a:xfrm>
            <a:off x="4745736" y="3511296"/>
            <a:ext cx="2971800" cy="0"/>
          </a:xfrm>
          <a:prstGeom prst="line">
            <a:avLst/>
          </a:prstGeom>
          <a:noFill/>
          <a:ln w="7620">
            <a:solidFill>
              <a:srgbClr val="DCD8D1"/>
            </a:solidFill>
            <a:prstDash val="solid"/>
          </a:ln>
        </p:spPr>
      </p:sp>
      <p:sp>
        <p:nvSpPr>
          <p:cNvPr id="34" name="Text 32"/>
          <p:cNvSpPr/>
          <p:nvPr/>
        </p:nvSpPr>
        <p:spPr>
          <a:xfrm>
            <a:off x="4745736" y="3511296"/>
            <a:ext cx="1842516"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Urutan 176 fitur</a:t>
            </a:r>
            <a:endParaRPr lang="en-US" sz="1050" dirty="0"/>
          </a:p>
        </p:txBody>
      </p:sp>
      <p:sp>
        <p:nvSpPr>
          <p:cNvPr id="35" name="Text 33"/>
          <p:cNvSpPr/>
          <p:nvPr/>
        </p:nvSpPr>
        <p:spPr>
          <a:xfrm>
            <a:off x="6588252" y="3511296"/>
            <a:ext cx="1129284"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ikut disimpan</a:t>
            </a:r>
            <a:endParaRPr lang="en-US" sz="1050" dirty="0"/>
          </a:p>
        </p:txBody>
      </p:sp>
      <p:sp>
        <p:nvSpPr>
          <p:cNvPr id="36" name="Shape 34"/>
          <p:cNvSpPr/>
          <p:nvPr/>
        </p:nvSpPr>
        <p:spPr>
          <a:xfrm>
            <a:off x="4745736" y="3877056"/>
            <a:ext cx="2971800" cy="0"/>
          </a:xfrm>
          <a:prstGeom prst="line">
            <a:avLst/>
          </a:prstGeom>
          <a:noFill/>
          <a:ln w="7620">
            <a:solidFill>
              <a:srgbClr val="DCD8D1"/>
            </a:solidFill>
            <a:prstDash val="solid"/>
          </a:ln>
        </p:spPr>
      </p:sp>
      <p:sp>
        <p:nvSpPr>
          <p:cNvPr id="37" name="Text 35"/>
          <p:cNvSpPr/>
          <p:nvPr/>
        </p:nvSpPr>
        <p:spPr>
          <a:xfrm>
            <a:off x="4745736" y="3877056"/>
            <a:ext cx="1842516"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Verifikasi muat ulang</a:t>
            </a:r>
            <a:endParaRPr lang="en-US" sz="1050" dirty="0"/>
          </a:p>
        </p:txBody>
      </p:sp>
      <p:sp>
        <p:nvSpPr>
          <p:cNvPr id="38" name="Text 36"/>
          <p:cNvSpPr/>
          <p:nvPr/>
        </p:nvSpPr>
        <p:spPr>
          <a:xfrm>
            <a:off x="6588252" y="3877056"/>
            <a:ext cx="1129284"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lulus</a:t>
            </a:r>
            <a:endParaRPr lang="en-US" sz="1050" dirty="0"/>
          </a:p>
        </p:txBody>
      </p:sp>
      <p:sp>
        <p:nvSpPr>
          <p:cNvPr id="39" name="Shape 37"/>
          <p:cNvSpPr/>
          <p:nvPr/>
        </p:nvSpPr>
        <p:spPr>
          <a:xfrm>
            <a:off x="4745736" y="4242816"/>
            <a:ext cx="2971800" cy="0"/>
          </a:xfrm>
          <a:prstGeom prst="line">
            <a:avLst/>
          </a:prstGeom>
          <a:noFill/>
          <a:ln w="7620">
            <a:solidFill>
              <a:srgbClr val="DCD8D1"/>
            </a:solidFill>
            <a:prstDash val="solid"/>
          </a:ln>
        </p:spPr>
      </p:sp>
      <p:sp>
        <p:nvSpPr>
          <p:cNvPr id="40" name="Text 38"/>
          <p:cNvSpPr/>
          <p:nvPr/>
        </p:nvSpPr>
        <p:spPr>
          <a:xfrm>
            <a:off x="4745736" y="4242816"/>
            <a:ext cx="1842516"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Total waktu eksekusi</a:t>
            </a:r>
            <a:endParaRPr lang="en-US" sz="1050" dirty="0"/>
          </a:p>
        </p:txBody>
      </p:sp>
      <p:sp>
        <p:nvSpPr>
          <p:cNvPr id="41" name="Text 39"/>
          <p:cNvSpPr/>
          <p:nvPr/>
        </p:nvSpPr>
        <p:spPr>
          <a:xfrm>
            <a:off x="6588252" y="4242816"/>
            <a:ext cx="1129284"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135,1 menit</a:t>
            </a:r>
            <a:endParaRPr lang="en-US" sz="1050" dirty="0"/>
          </a:p>
        </p:txBody>
      </p:sp>
      <p:sp>
        <p:nvSpPr>
          <p:cNvPr id="42" name="Shape 40"/>
          <p:cNvSpPr/>
          <p:nvPr/>
        </p:nvSpPr>
        <p:spPr>
          <a:xfrm>
            <a:off x="8302752" y="2286000"/>
            <a:ext cx="3520440" cy="2377440"/>
          </a:xfrm>
          <a:prstGeom prst="roundRect">
            <a:avLst>
              <a:gd name="adj" fmla="val 2308"/>
            </a:avLst>
          </a:prstGeom>
          <a:solidFill>
            <a:srgbClr val="16191D"/>
          </a:solidFill>
          <a:ln w="9525">
            <a:solidFill>
              <a:srgbClr val="16191D"/>
            </a:solidFill>
            <a:prstDash val="solid"/>
          </a:ln>
        </p:spPr>
      </p:sp>
      <p:sp>
        <p:nvSpPr>
          <p:cNvPr id="43" name="Text 41"/>
          <p:cNvSpPr/>
          <p:nvPr/>
        </p:nvSpPr>
        <p:spPr>
          <a:xfrm>
            <a:off x="8577072" y="2450592"/>
            <a:ext cx="29718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Tujuh uji integritas</a:t>
            </a:r>
            <a:endParaRPr lang="en-US" sz="1350" dirty="0"/>
          </a:p>
        </p:txBody>
      </p:sp>
      <p:sp>
        <p:nvSpPr>
          <p:cNvPr id="44" name="Text 42"/>
          <p:cNvSpPr/>
          <p:nvPr/>
        </p:nvSpPr>
        <p:spPr>
          <a:xfrm>
            <a:off x="8577072" y="2779776"/>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45" name="Text 43"/>
          <p:cNvSpPr/>
          <p:nvPr/>
        </p:nvSpPr>
        <p:spPr>
          <a:xfrm>
            <a:off x="8833104" y="2779776"/>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23.666 baris</a:t>
            </a:r>
            <a:endParaRPr lang="en-US" sz="1050" dirty="0"/>
          </a:p>
        </p:txBody>
      </p:sp>
      <p:sp>
        <p:nvSpPr>
          <p:cNvPr id="46" name="Text 44"/>
          <p:cNvSpPr/>
          <p:nvPr/>
        </p:nvSpPr>
        <p:spPr>
          <a:xfrm>
            <a:off x="8577072" y="3026664"/>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47" name="Text 45"/>
          <p:cNvSpPr/>
          <p:nvPr/>
        </p:nvSpPr>
        <p:spPr>
          <a:xfrm>
            <a:off x="8833104" y="3026664"/>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Seluruh id unik</a:t>
            </a:r>
            <a:endParaRPr lang="en-US" sz="1050" dirty="0"/>
          </a:p>
        </p:txBody>
      </p:sp>
      <p:sp>
        <p:nvSpPr>
          <p:cNvPr id="48" name="Text 46"/>
          <p:cNvSpPr/>
          <p:nvPr/>
        </p:nvSpPr>
        <p:spPr>
          <a:xfrm>
            <a:off x="8577072" y="3273552"/>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49" name="Text 47"/>
          <p:cNvSpPr/>
          <p:nvPr/>
        </p:nvSpPr>
        <p:spPr>
          <a:xfrm>
            <a:off x="8833104" y="3273552"/>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Tidak ada nilai kosong</a:t>
            </a:r>
            <a:endParaRPr lang="en-US" sz="1050" dirty="0"/>
          </a:p>
        </p:txBody>
      </p:sp>
      <p:sp>
        <p:nvSpPr>
          <p:cNvPr id="50" name="Text 48"/>
          <p:cNvSpPr/>
          <p:nvPr/>
        </p:nvSpPr>
        <p:spPr>
          <a:xfrm>
            <a:off x="8577072" y="3520440"/>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51" name="Text 49"/>
          <p:cNvSpPr/>
          <p:nvPr/>
        </p:nvSpPr>
        <p:spPr>
          <a:xfrm>
            <a:off x="8833104" y="3520440"/>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Prediksi dalam {1,2,3,4}</a:t>
            </a:r>
            <a:endParaRPr lang="en-US" sz="1050" dirty="0"/>
          </a:p>
        </p:txBody>
      </p:sp>
      <p:sp>
        <p:nvSpPr>
          <p:cNvPr id="52" name="Text 50"/>
          <p:cNvSpPr/>
          <p:nvPr/>
        </p:nvSpPr>
        <p:spPr>
          <a:xfrm>
            <a:off x="8577072" y="3767328"/>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53" name="Text 51"/>
          <p:cNvSpPr/>
          <p:nvPr/>
        </p:nvSpPr>
        <p:spPr>
          <a:xfrm>
            <a:off x="8833104" y="3767328"/>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Tipe id integer</a:t>
            </a:r>
            <a:endParaRPr lang="en-US" sz="1050" dirty="0"/>
          </a:p>
        </p:txBody>
      </p:sp>
      <p:sp>
        <p:nvSpPr>
          <p:cNvPr id="54" name="Text 52"/>
          <p:cNvSpPr/>
          <p:nvPr/>
        </p:nvSpPr>
        <p:spPr>
          <a:xfrm>
            <a:off x="8577072" y="4014216"/>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55" name="Text 53"/>
          <p:cNvSpPr/>
          <p:nvPr/>
        </p:nvSpPr>
        <p:spPr>
          <a:xfrm>
            <a:off x="8833104" y="4014216"/>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Seluruh id uji terwakili</a:t>
            </a:r>
            <a:endParaRPr lang="en-US" sz="1050" dirty="0"/>
          </a:p>
        </p:txBody>
      </p:sp>
      <p:sp>
        <p:nvSpPr>
          <p:cNvPr id="56" name="Text 54"/>
          <p:cNvSpPr/>
          <p:nvPr/>
        </p:nvSpPr>
        <p:spPr>
          <a:xfrm>
            <a:off x="8577072" y="4261104"/>
            <a:ext cx="256032"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a:t>
            </a:r>
            <a:endParaRPr lang="en-US" sz="1000" dirty="0"/>
          </a:p>
        </p:txBody>
      </p:sp>
      <p:sp>
        <p:nvSpPr>
          <p:cNvPr id="57" name="Text 55"/>
          <p:cNvSpPr/>
          <p:nvPr/>
        </p:nvSpPr>
        <p:spPr>
          <a:xfrm>
            <a:off x="8833104" y="4261104"/>
            <a:ext cx="2715768" cy="23774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Berkas model tersimpan</a:t>
            </a:r>
            <a:endParaRPr lang="en-US" sz="1050" dirty="0"/>
          </a:p>
        </p:txBody>
      </p:sp>
      <p:sp>
        <p:nvSpPr>
          <p:cNvPr id="58" name="Text 56"/>
          <p:cNvSpPr/>
          <p:nvPr/>
        </p:nvSpPr>
        <p:spPr>
          <a:xfrm>
            <a:off x="640080" y="4901184"/>
            <a:ext cx="10911535"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STABILITAS TERHADAP SEED PEMBAGIAN FOLD META</a:t>
            </a:r>
            <a:endParaRPr lang="en-US" sz="1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5230368"/>
          <a:ext cx="6675120" cy="914400"/>
        </p:xfrm>
        <a:graphic>
          <a:graphicData uri="http://schemas.openxmlformats.org/drawingml/2006/table">
            <a:tbl>
              <a:tblPr/>
              <a:tblGrid>
                <a:gridCol w="1737360"/>
                <a:gridCol w="1371600"/>
                <a:gridCol w="1188720"/>
                <a:gridCol w="1188720"/>
                <a:gridCol w="1188720"/>
              </a:tblGrid>
              <a:tr h="246888">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seed fold meta</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QWK OOF</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t₁</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t₂</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t₃</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4688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0,48384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1,5648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2,0077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2,5742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202</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0,48413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1,5617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1,9990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2,5861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999</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0,48390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1,5609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1,9917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2,5680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0" name="Text 57"/>
          <p:cNvSpPr/>
          <p:nvPr/>
        </p:nvSpPr>
        <p:spPr>
          <a:xfrm>
            <a:off x="7726680" y="5120640"/>
            <a:ext cx="1828800" cy="402336"/>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0,00029</a:t>
            </a:r>
            <a:endParaRPr lang="en-US" sz="2200" dirty="0"/>
          </a:p>
        </p:txBody>
      </p:sp>
      <p:sp>
        <p:nvSpPr>
          <p:cNvPr id="61" name="Text 58"/>
          <p:cNvSpPr/>
          <p:nvPr/>
        </p:nvSpPr>
        <p:spPr>
          <a:xfrm>
            <a:off x="7726680" y="5559552"/>
            <a:ext cx="1828800"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rentang QWK antar seed</a:t>
            </a:r>
            <a:endParaRPr lang="en-US" sz="1000" dirty="0"/>
          </a:p>
        </p:txBody>
      </p:sp>
      <p:sp>
        <p:nvSpPr>
          <p:cNvPr id="62" name="Text 59"/>
          <p:cNvSpPr/>
          <p:nvPr/>
        </p:nvSpPr>
        <p:spPr>
          <a:xfrm>
            <a:off x="9692640" y="5120640"/>
            <a:ext cx="1828800" cy="402336"/>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0,00015</a:t>
            </a:r>
            <a:endParaRPr lang="en-US" sz="2200" dirty="0"/>
          </a:p>
        </p:txBody>
      </p:sp>
      <p:sp>
        <p:nvSpPr>
          <p:cNvPr id="63" name="Text 60"/>
          <p:cNvSpPr/>
          <p:nvPr/>
        </p:nvSpPr>
        <p:spPr>
          <a:xfrm>
            <a:off x="9692640" y="5559552"/>
            <a:ext cx="1828800"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sd QWK antar seed</a:t>
            </a:r>
            <a:endParaRPr lang="en-US" sz="1000" dirty="0"/>
          </a:p>
        </p:txBody>
      </p:sp>
      <p:sp>
        <p:nvSpPr>
          <p:cNvPr id="65" name="Shape 61"/>
          <p:cNvSpPr/>
          <p:nvPr/>
        </p:nvSpPr>
        <p:spPr>
          <a:xfrm>
            <a:off x="640080" y="6400800"/>
            <a:ext cx="1572768" cy="45720"/>
          </a:xfrm>
          <a:prstGeom prst="rect">
            <a:avLst/>
          </a:prstGeom>
          <a:solidFill>
            <a:srgbClr val="DCD8D1"/>
          </a:solidFill>
          <a:ln/>
        </p:spPr>
      </p:sp>
      <p:sp>
        <p:nvSpPr>
          <p:cNvPr id="66" name="Text 6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67" name="Shape 63"/>
          <p:cNvSpPr/>
          <p:nvPr/>
        </p:nvSpPr>
        <p:spPr>
          <a:xfrm>
            <a:off x="2304288" y="6400800"/>
            <a:ext cx="1572768" cy="45720"/>
          </a:xfrm>
          <a:prstGeom prst="rect">
            <a:avLst/>
          </a:prstGeom>
          <a:solidFill>
            <a:srgbClr val="DCD8D1"/>
          </a:solidFill>
          <a:ln/>
        </p:spPr>
      </p:sp>
      <p:sp>
        <p:nvSpPr>
          <p:cNvPr id="68" name="Text 6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69" name="Shape 65"/>
          <p:cNvSpPr/>
          <p:nvPr/>
        </p:nvSpPr>
        <p:spPr>
          <a:xfrm>
            <a:off x="3968496" y="6400800"/>
            <a:ext cx="1572768" cy="45720"/>
          </a:xfrm>
          <a:prstGeom prst="rect">
            <a:avLst/>
          </a:prstGeom>
          <a:solidFill>
            <a:srgbClr val="DCD8D1"/>
          </a:solidFill>
          <a:ln/>
        </p:spPr>
      </p:sp>
      <p:sp>
        <p:nvSpPr>
          <p:cNvPr id="70" name="Text 6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71" name="Shape 67"/>
          <p:cNvSpPr/>
          <p:nvPr/>
        </p:nvSpPr>
        <p:spPr>
          <a:xfrm>
            <a:off x="5632704" y="6400800"/>
            <a:ext cx="1572768" cy="45720"/>
          </a:xfrm>
          <a:prstGeom prst="rect">
            <a:avLst/>
          </a:prstGeom>
          <a:solidFill>
            <a:srgbClr val="DCD8D1"/>
          </a:solidFill>
          <a:ln/>
        </p:spPr>
      </p:sp>
      <p:sp>
        <p:nvSpPr>
          <p:cNvPr id="72" name="Text 6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73" name="Shape 69"/>
          <p:cNvSpPr/>
          <p:nvPr/>
        </p:nvSpPr>
        <p:spPr>
          <a:xfrm>
            <a:off x="7296912" y="6400800"/>
            <a:ext cx="1572768" cy="45720"/>
          </a:xfrm>
          <a:prstGeom prst="rect">
            <a:avLst/>
          </a:prstGeom>
          <a:solidFill>
            <a:srgbClr val="DCD8D1"/>
          </a:solidFill>
          <a:ln/>
        </p:spPr>
      </p:sp>
      <p:sp>
        <p:nvSpPr>
          <p:cNvPr id="74" name="Text 7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75" name="Shape 71"/>
          <p:cNvSpPr/>
          <p:nvPr/>
        </p:nvSpPr>
        <p:spPr>
          <a:xfrm>
            <a:off x="8961120" y="6400800"/>
            <a:ext cx="1572768" cy="45720"/>
          </a:xfrm>
          <a:prstGeom prst="rect">
            <a:avLst/>
          </a:prstGeom>
          <a:solidFill>
            <a:srgbClr val="A8442A"/>
          </a:solidFill>
          <a:ln/>
        </p:spPr>
      </p:sp>
      <p:sp>
        <p:nvSpPr>
          <p:cNvPr id="76" name="Text 7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77" name="Text 7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Enam keterbatasan, kami sebut sebelum ditanya.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Daftar ini ada di notebook, bukan hanya di slide.</a:t>
            </a:r>
            <a:endParaRPr lang="en-US" sz="1400" dirty="0"/>
          </a:p>
        </p:txBody>
      </p:sp>
      <p:sp>
        <p:nvSpPr>
          <p:cNvPr id="4" name="Shape 2"/>
          <p:cNvSpPr/>
          <p:nvPr/>
        </p:nvSpPr>
        <p:spPr>
          <a:xfrm>
            <a:off x="640080" y="2286000"/>
            <a:ext cx="5257800" cy="1115568"/>
          </a:xfrm>
          <a:prstGeom prst="roundRect">
            <a:avLst>
              <a:gd name="adj" fmla="val 4918"/>
            </a:avLst>
          </a:prstGeom>
          <a:solidFill>
            <a:srgbClr val="F4F1EC"/>
          </a:solidFill>
          <a:ln w="9525">
            <a:solidFill>
              <a:srgbClr val="DCD8D1"/>
            </a:solidFill>
            <a:prstDash val="solid"/>
          </a:ln>
        </p:spPr>
      </p:sp>
      <p:sp>
        <p:nvSpPr>
          <p:cNvPr id="5" name="Text 3"/>
          <p:cNvSpPr/>
          <p:nvPr/>
        </p:nvSpPr>
        <p:spPr>
          <a:xfrm>
            <a:off x="914400" y="2432304"/>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Batas informasi</a:t>
            </a:r>
            <a:endParaRPr lang="en-US" sz="1300" dirty="0"/>
          </a:p>
        </p:txBody>
      </p:sp>
      <p:sp>
        <p:nvSpPr>
          <p:cNvPr id="6" name="Text 4"/>
          <p:cNvSpPr/>
          <p:nvPr/>
        </p:nvSpPr>
        <p:spPr>
          <a:xfrm>
            <a:off x="914400" y="2743200"/>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Kepribadian, hubungan sosial, dan rasa bermakna tidak terekam survei kesehatan.</a:t>
            </a:r>
            <a:endParaRPr lang="en-US" sz="1100" dirty="0"/>
          </a:p>
        </p:txBody>
      </p:sp>
      <p:sp>
        <p:nvSpPr>
          <p:cNvPr id="7" name="Shape 5"/>
          <p:cNvSpPr/>
          <p:nvPr/>
        </p:nvSpPr>
        <p:spPr>
          <a:xfrm>
            <a:off x="6281928" y="2286000"/>
            <a:ext cx="5257800" cy="1115568"/>
          </a:xfrm>
          <a:prstGeom prst="roundRect">
            <a:avLst>
              <a:gd name="adj" fmla="val 4918"/>
            </a:avLst>
          </a:prstGeom>
          <a:solidFill>
            <a:srgbClr val="FFFFFF"/>
          </a:solidFill>
          <a:ln w="9525">
            <a:solidFill>
              <a:srgbClr val="DCD8D1"/>
            </a:solidFill>
            <a:prstDash val="solid"/>
          </a:ln>
        </p:spPr>
      </p:sp>
      <p:sp>
        <p:nvSpPr>
          <p:cNvPr id="8" name="Text 6"/>
          <p:cNvSpPr/>
          <p:nvPr/>
        </p:nvSpPr>
        <p:spPr>
          <a:xfrm>
            <a:off x="6556248" y="2432304"/>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Kelas 4 sangat kecil</a:t>
            </a:r>
            <a:endParaRPr lang="en-US" sz="1300" dirty="0"/>
          </a:p>
        </p:txBody>
      </p:sp>
      <p:sp>
        <p:nvSpPr>
          <p:cNvPr id="9" name="Text 7"/>
          <p:cNvSpPr/>
          <p:nvPr/>
        </p:nvSpPr>
        <p:spPr>
          <a:xfrm>
            <a:off x="6556248" y="2743200"/>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Hanya 893 sampel latih, sehingga t₃ jadi ambang paling sensitif.</a:t>
            </a:r>
            <a:endParaRPr lang="en-US" sz="1100" dirty="0"/>
          </a:p>
        </p:txBody>
      </p:sp>
      <p:sp>
        <p:nvSpPr>
          <p:cNvPr id="10" name="Shape 8"/>
          <p:cNvSpPr/>
          <p:nvPr/>
        </p:nvSpPr>
        <p:spPr>
          <a:xfrm>
            <a:off x="640080" y="3584448"/>
            <a:ext cx="5257800" cy="1115568"/>
          </a:xfrm>
          <a:prstGeom prst="roundRect">
            <a:avLst>
              <a:gd name="adj" fmla="val 4918"/>
            </a:avLst>
          </a:prstGeom>
          <a:solidFill>
            <a:srgbClr val="F4F1EC"/>
          </a:solidFill>
          <a:ln w="9525">
            <a:solidFill>
              <a:srgbClr val="DCD8D1"/>
            </a:solidFill>
            <a:prstDash val="solid"/>
          </a:ln>
        </p:spPr>
      </p:sp>
      <p:sp>
        <p:nvSpPr>
          <p:cNvPr id="11" name="Text 9"/>
          <p:cNvSpPr/>
          <p:nvPr/>
        </p:nvSpPr>
        <p:spPr>
          <a:xfrm>
            <a:off x="914400" y="3730752"/>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Ambang peka distribusi</a:t>
            </a:r>
            <a:endParaRPr lang="en-US" sz="1300" dirty="0"/>
          </a:p>
        </p:txBody>
      </p:sp>
      <p:sp>
        <p:nvSpPr>
          <p:cNvPr id="12" name="Text 10"/>
          <p:cNvSpPr/>
          <p:nvPr/>
        </p:nvSpPr>
        <p:spPr>
          <a:xfrm>
            <a:off x="914400" y="4041648"/>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Dioptimalkan pada distribusi latih. Pemeriksaan pola kosong menunjukkan risikonya kecil.</a:t>
            </a:r>
            <a:endParaRPr lang="en-US" sz="1100" dirty="0"/>
          </a:p>
        </p:txBody>
      </p:sp>
      <p:sp>
        <p:nvSpPr>
          <p:cNvPr id="13" name="Shape 11"/>
          <p:cNvSpPr/>
          <p:nvPr/>
        </p:nvSpPr>
        <p:spPr>
          <a:xfrm>
            <a:off x="6281928" y="3584448"/>
            <a:ext cx="5257800" cy="1115568"/>
          </a:xfrm>
          <a:prstGeom prst="roundRect">
            <a:avLst>
              <a:gd name="adj" fmla="val 4918"/>
            </a:avLst>
          </a:prstGeom>
          <a:solidFill>
            <a:srgbClr val="FFFFFF"/>
          </a:solidFill>
          <a:ln w="9525">
            <a:solidFill>
              <a:srgbClr val="DCD8D1"/>
            </a:solidFill>
            <a:prstDash val="solid"/>
          </a:ln>
        </p:spPr>
      </p:sp>
      <p:sp>
        <p:nvSpPr>
          <p:cNvPr id="14" name="Text 12"/>
          <p:cNvSpPr/>
          <p:nvPr/>
        </p:nvSpPr>
        <p:spPr>
          <a:xfrm>
            <a:off x="6556248" y="3730752"/>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Ambiguitas kelas 1 dan 2</a:t>
            </a:r>
            <a:endParaRPr lang="en-US" sz="1300" dirty="0"/>
          </a:p>
        </p:txBody>
      </p:sp>
      <p:sp>
        <p:nvSpPr>
          <p:cNvPr id="15" name="Text 13"/>
          <p:cNvSpPr/>
          <p:nvPr/>
        </p:nvSpPr>
        <p:spPr>
          <a:xfrm>
            <a:off x="6556248" y="4041648"/>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Sebagian bersifat subjektif pada tingkat responden, kemungkinan tidak sepenuhnya bisa dipelajari.</a:t>
            </a:r>
            <a:endParaRPr lang="en-US" sz="1100" dirty="0"/>
          </a:p>
        </p:txBody>
      </p:sp>
      <p:sp>
        <p:nvSpPr>
          <p:cNvPr id="16" name="Shape 14"/>
          <p:cNvSpPr/>
          <p:nvPr/>
        </p:nvSpPr>
        <p:spPr>
          <a:xfrm>
            <a:off x="640080" y="4882896"/>
            <a:ext cx="5257800" cy="1115568"/>
          </a:xfrm>
          <a:prstGeom prst="roundRect">
            <a:avLst>
              <a:gd name="adj" fmla="val 4918"/>
            </a:avLst>
          </a:prstGeom>
          <a:solidFill>
            <a:srgbClr val="F4F1EC"/>
          </a:solidFill>
          <a:ln w="9525">
            <a:solidFill>
              <a:srgbClr val="DCD8D1"/>
            </a:solidFill>
            <a:prstDash val="solid"/>
          </a:ln>
        </p:spPr>
      </p:sp>
      <p:sp>
        <p:nvSpPr>
          <p:cNvPr id="17" name="Text 15"/>
          <p:cNvSpPr/>
          <p:nvPr/>
        </p:nvSpPr>
        <p:spPr>
          <a:xfrm>
            <a:off x="914400" y="5029200"/>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Determinisme tidak sempurna</a:t>
            </a:r>
            <a:endParaRPr lang="en-US" sz="1300" dirty="0"/>
          </a:p>
        </p:txBody>
      </p:sp>
      <p:sp>
        <p:nvSpPr>
          <p:cNvPr id="18" name="Text 16"/>
          <p:cNvSpPr/>
          <p:nvPr/>
        </p:nvSpPr>
        <p:spPr>
          <a:xfrm>
            <a:off x="914400" y="5340096"/>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Pustaka boosting multi-thread tidak menjamin hasil bit-identik. Selisih terukur sekitar 0,001 QWK.</a:t>
            </a:r>
            <a:endParaRPr lang="en-US" sz="1100" dirty="0"/>
          </a:p>
        </p:txBody>
      </p:sp>
      <p:sp>
        <p:nvSpPr>
          <p:cNvPr id="19" name="Shape 17"/>
          <p:cNvSpPr/>
          <p:nvPr/>
        </p:nvSpPr>
        <p:spPr>
          <a:xfrm>
            <a:off x="6281928" y="4882896"/>
            <a:ext cx="5257800" cy="1115568"/>
          </a:xfrm>
          <a:prstGeom prst="roundRect">
            <a:avLst>
              <a:gd name="adj" fmla="val 4918"/>
            </a:avLst>
          </a:prstGeom>
          <a:solidFill>
            <a:srgbClr val="FFFFFF"/>
          </a:solidFill>
          <a:ln w="9525">
            <a:solidFill>
              <a:srgbClr val="DCD8D1"/>
            </a:solidFill>
            <a:prstDash val="solid"/>
          </a:ln>
        </p:spPr>
      </p:sp>
      <p:sp>
        <p:nvSpPr>
          <p:cNvPr id="20" name="Text 18"/>
          <p:cNvSpPr/>
          <p:nvPr/>
        </p:nvSpPr>
        <p:spPr>
          <a:xfrm>
            <a:off x="6556248" y="5029200"/>
            <a:ext cx="4709160" cy="292608"/>
          </a:xfrm>
          <a:prstGeom prst="rect">
            <a:avLst/>
          </a:prstGeom>
          <a:noFill/>
          <a:ln/>
        </p:spPr>
        <p:txBody>
          <a:bodyPr wrap="square" lIns="0" tIns="0" rIns="0" bIns="0" rtlCol="0" anchor="ctr"/>
          <a:lstStyle/>
          <a:p>
            <a:pPr indent="0" marL="0">
              <a:buNone/>
            </a:pPr>
            <a:r>
              <a:rPr lang="en-US" sz="1300" b="1" dirty="0">
                <a:solidFill>
                  <a:srgbClr val="16191D"/>
                </a:solidFill>
                <a:latin typeface="Cambria" pitchFamily="34" charset="0"/>
                <a:ea typeface="Cambria" pitchFamily="34" charset="-122"/>
                <a:cs typeface="Cambria" pitchFamily="34" charset="-120"/>
              </a:rPr>
              <a:t>Estimasi ambang tetap bervariasi</a:t>
            </a:r>
            <a:endParaRPr lang="en-US" sz="1300" dirty="0"/>
          </a:p>
        </p:txBody>
      </p:sp>
      <p:sp>
        <p:nvSpPr>
          <p:cNvPr id="21" name="Text 19"/>
          <p:cNvSpPr/>
          <p:nvPr/>
        </p:nvSpPr>
        <p:spPr>
          <a:xfrm>
            <a:off x="6556248" y="5340096"/>
            <a:ext cx="4709160" cy="566928"/>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Reduksi variansi memperkecil, tidak menghilangkan. sd t₃ antar bootstrap 0,0392.</a:t>
            </a:r>
            <a:endParaRPr lang="en-US" sz="1100" dirty="0"/>
          </a:p>
        </p:txBody>
      </p:sp>
      <p:sp>
        <p:nvSpPr>
          <p:cNvPr id="23" name="Shape 20"/>
          <p:cNvSpPr/>
          <p:nvPr/>
        </p:nvSpPr>
        <p:spPr>
          <a:xfrm>
            <a:off x="640080" y="6400800"/>
            <a:ext cx="1572768" cy="45720"/>
          </a:xfrm>
          <a:prstGeom prst="rect">
            <a:avLst/>
          </a:prstGeom>
          <a:solidFill>
            <a:srgbClr val="DCD8D1"/>
          </a:solidFill>
          <a:ln/>
        </p:spPr>
      </p:sp>
      <p:sp>
        <p:nvSpPr>
          <p:cNvPr id="24"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5" name="Shape 22"/>
          <p:cNvSpPr/>
          <p:nvPr/>
        </p:nvSpPr>
        <p:spPr>
          <a:xfrm>
            <a:off x="2304288" y="6400800"/>
            <a:ext cx="1572768" cy="45720"/>
          </a:xfrm>
          <a:prstGeom prst="rect">
            <a:avLst/>
          </a:prstGeom>
          <a:solidFill>
            <a:srgbClr val="DCD8D1"/>
          </a:solidFill>
          <a:ln/>
        </p:spPr>
      </p:sp>
      <p:sp>
        <p:nvSpPr>
          <p:cNvPr id="26"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7" name="Shape 24"/>
          <p:cNvSpPr/>
          <p:nvPr/>
        </p:nvSpPr>
        <p:spPr>
          <a:xfrm>
            <a:off x="3968496" y="6400800"/>
            <a:ext cx="1572768" cy="45720"/>
          </a:xfrm>
          <a:prstGeom prst="rect">
            <a:avLst/>
          </a:prstGeom>
          <a:solidFill>
            <a:srgbClr val="DCD8D1"/>
          </a:solidFill>
          <a:ln/>
        </p:spPr>
      </p:sp>
      <p:sp>
        <p:nvSpPr>
          <p:cNvPr id="28"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9" name="Shape 26"/>
          <p:cNvSpPr/>
          <p:nvPr/>
        </p:nvSpPr>
        <p:spPr>
          <a:xfrm>
            <a:off x="5632704" y="6400800"/>
            <a:ext cx="1572768" cy="45720"/>
          </a:xfrm>
          <a:prstGeom prst="rect">
            <a:avLst/>
          </a:prstGeom>
          <a:solidFill>
            <a:srgbClr val="DCD8D1"/>
          </a:solidFill>
          <a:ln/>
        </p:spPr>
      </p:sp>
      <p:sp>
        <p:nvSpPr>
          <p:cNvPr id="30"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1" name="Shape 28"/>
          <p:cNvSpPr/>
          <p:nvPr/>
        </p:nvSpPr>
        <p:spPr>
          <a:xfrm>
            <a:off x="7296912" y="6400800"/>
            <a:ext cx="1572768" cy="45720"/>
          </a:xfrm>
          <a:prstGeom prst="rect">
            <a:avLst/>
          </a:prstGeom>
          <a:solidFill>
            <a:srgbClr val="DCD8D1"/>
          </a:solidFill>
          <a:ln/>
        </p:spPr>
      </p:sp>
      <p:sp>
        <p:nvSpPr>
          <p:cNvPr id="32"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33" name="Shape 30"/>
          <p:cNvSpPr/>
          <p:nvPr/>
        </p:nvSpPr>
        <p:spPr>
          <a:xfrm>
            <a:off x="8961120" y="6400800"/>
            <a:ext cx="1572768" cy="45720"/>
          </a:xfrm>
          <a:prstGeom prst="rect">
            <a:avLst/>
          </a:prstGeom>
          <a:solidFill>
            <a:srgbClr val="A8442A"/>
          </a:solidFill>
          <a:ln/>
        </p:spPr>
      </p:sp>
      <p:sp>
        <p:nvSpPr>
          <p:cNvPr id="34"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Setiap ketentuan panitia, dan letak pemenuhannya.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Pemetaan ini juga ada sebagai tabel di bagian 14 notebook.</a:t>
            </a:r>
            <a:endParaRPr lang="en-US" sz="14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2331720"/>
          <a:ext cx="10911535" cy="914400"/>
        </p:xfrm>
        <a:graphic>
          <a:graphicData uri="http://schemas.openxmlformats.org/drawingml/2006/table">
            <a:tbl>
              <a:tblPr/>
              <a:tblGrid>
                <a:gridCol w="914400"/>
                <a:gridCol w="3017520"/>
                <a:gridCol w="5029200"/>
                <a:gridCol w="1947672"/>
              </a:tblGrid>
              <a:tr h="30175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Pasal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Ketentuan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Cara pemenuhan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Lokasi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B.1.a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Dilarang data eksternal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Hanya train_final.csv dan test_final.csv</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B.1.b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Bebas memilih pustaka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LightGBM, XGBoost, CatBoost, scikit-learn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B.1.c</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Dilarang pelabelan manual dan probing papan skor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Seluruh ambang dan pemilihan model dari OOF latih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8, 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B.1.d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Integritas tim</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Dikerjakan internal tim</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B.1.e</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Transparansi metodologi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Tiap keputusan disertai alasan dan bukti empiris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3, 5, 11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Alur end-to-end lengkap</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Import, EDA, preprocessing, training, evaluasi, submission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1 sampai 12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Random seed eksplisit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SEED 42, FOLD_SEEDS, PYTHONHASHSEED</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1, 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Model tersimpan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model_warkab.joblib beserta verifikasi muat ulang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12.1, 12.4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Seluruh output terlihat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Notebook dijalankan penuh sebelum dikumpulkan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Seluruh sel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0175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Reproduksibilitas skor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Submission dihasilkan langsung oleh notebook ini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Bagian 12.2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705856"/>
            <a:ext cx="10911535" cy="457200"/>
          </a:xfrm>
          <a:prstGeom prst="roundRect">
            <a:avLst>
              <a:gd name="adj" fmla="val 12000"/>
            </a:avLst>
          </a:prstGeom>
          <a:solidFill>
            <a:srgbClr val="ECE7DF"/>
          </a:solidFill>
          <a:ln w="9525">
            <a:solidFill>
              <a:srgbClr val="DCD8D1"/>
            </a:solidFill>
            <a:prstDash val="solid"/>
          </a:ln>
        </p:spPr>
      </p:sp>
      <p:sp>
        <p:nvSpPr>
          <p:cNvPr id="6" name="Text 3"/>
          <p:cNvSpPr/>
          <p:nvPr/>
        </p:nvSpPr>
        <p:spPr>
          <a:xfrm>
            <a:off x="914400" y="5705856"/>
            <a:ext cx="10362895" cy="457200"/>
          </a:xfrm>
          <a:prstGeom prst="rect">
            <a:avLst/>
          </a:prstGeom>
          <a:noFill/>
          <a:ln/>
        </p:spPr>
        <p:txBody>
          <a:bodyPr wrap="square" lIns="0" tIns="0" rIns="0" bIns="0" rtlCol="0" anchor="ctr"/>
          <a:lstStyle/>
          <a:p>
            <a:pPr indent="0" marL="0">
              <a:buNone/>
            </a:pPr>
            <a:r>
              <a:rPr lang="en-US" sz="1150" dirty="0">
                <a:solidFill>
                  <a:srgbClr val="3A4048"/>
                </a:solidFill>
                <a:latin typeface="Calibri" pitchFamily="34" charset="0"/>
                <a:ea typeface="Calibri" pitchFamily="34" charset="-122"/>
                <a:cs typeface="Calibri" pitchFamily="34" charset="-120"/>
              </a:rPr>
              <a:t>Berkas submission dan berkas model berasal dari satu eksekusi yang sama, sehingga skor notebook dan skor papan peringkat berasal dari satu proses identik.</a:t>
            </a:r>
            <a:endParaRPr lang="en-US" sz="1150" dirty="0"/>
          </a:p>
        </p:txBody>
      </p:sp>
      <p:sp>
        <p:nvSpPr>
          <p:cNvPr id="8" name="Shape 4"/>
          <p:cNvSpPr/>
          <p:nvPr/>
        </p:nvSpPr>
        <p:spPr>
          <a:xfrm>
            <a:off x="640080" y="6400800"/>
            <a:ext cx="1572768" cy="45720"/>
          </a:xfrm>
          <a:prstGeom prst="rect">
            <a:avLst/>
          </a:prstGeom>
          <a:solidFill>
            <a:srgbClr val="DCD8D1"/>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8" name="Shape 14"/>
          <p:cNvSpPr/>
          <p:nvPr/>
        </p:nvSpPr>
        <p:spPr>
          <a:xfrm>
            <a:off x="8961120" y="6400800"/>
            <a:ext cx="1572768" cy="45720"/>
          </a:xfrm>
          <a:prstGeom prst="rect">
            <a:avLst/>
          </a:prstGeom>
          <a:solidFill>
            <a:srgbClr val="A8442A"/>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Dari notebook ke alat yang bisa dipakai.</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Aturan keputusan yang sama persis, berjalan penuh di peramban, tanpa server.</a:t>
            </a:r>
            <a:endParaRPr lang="en-US" sz="1400" dirty="0"/>
          </a:p>
        </p:txBody>
      </p:sp>
      <p:pic>
        <p:nvPicPr>
          <p:cNvPr id="4" name="Image 0" descr="shot_lifescope.png">    </p:cNvPr>
          <p:cNvPicPr>
            <a:picLocks noChangeAspect="1"/>
          </p:cNvPicPr>
          <p:nvPr/>
        </p:nvPicPr>
        <p:blipFill>
          <a:blip r:embed="rId1"/>
          <a:stretch>
            <a:fillRect/>
          </a:stretch>
        </p:blipFill>
        <p:spPr>
          <a:xfrm>
            <a:off x="640080" y="2286000"/>
            <a:ext cx="6583680" cy="3660526"/>
          </a:xfrm>
          <a:prstGeom prst="rect">
            <a:avLst/>
          </a:prstGeom>
          <a:effectLst>
            <a:outerShdw sx="100000" sy="100000" kx="0" ky="0" algn="bl" rotWithShape="0" blurRad="152400" dist="38100" dir="5400000">
              <a:srgbClr val="16191D">
                <a:alpha val="10000"/>
              </a:srgbClr>
            </a:outerShdw>
          </a:effectLst>
        </p:spPr>
      </p:pic>
      <p:sp>
        <p:nvSpPr>
          <p:cNvPr id="5" name="Text 2"/>
          <p:cNvSpPr/>
          <p:nvPr/>
        </p:nvSpPr>
        <p:spPr>
          <a:xfrm>
            <a:off x="640080" y="5998464"/>
            <a:ext cx="6583680" cy="274320"/>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Tiap kotak satu responden. Yang berwarna hangat adalah 4,7% yang dicari.</a:t>
            </a:r>
            <a:endParaRPr lang="en-US" sz="1000" dirty="0"/>
          </a:p>
        </p:txBody>
      </p:sp>
      <p:sp>
        <p:nvSpPr>
          <p:cNvPr id="6" name="Shape 3"/>
          <p:cNvSpPr/>
          <p:nvPr/>
        </p:nvSpPr>
        <p:spPr>
          <a:xfrm>
            <a:off x="7955280" y="2286000"/>
            <a:ext cx="3596335" cy="1051560"/>
          </a:xfrm>
          <a:prstGeom prst="roundRect">
            <a:avLst>
              <a:gd name="adj" fmla="val 5217"/>
            </a:avLst>
          </a:prstGeom>
          <a:solidFill>
            <a:srgbClr val="16191D"/>
          </a:solidFill>
          <a:ln w="9525">
            <a:solidFill>
              <a:srgbClr val="16191D"/>
            </a:solidFill>
            <a:prstDash val="solid"/>
          </a:ln>
        </p:spPr>
      </p:sp>
      <p:sp>
        <p:nvSpPr>
          <p:cNvPr id="7" name="Text 4"/>
          <p:cNvSpPr/>
          <p:nvPr/>
        </p:nvSpPr>
        <p:spPr>
          <a:xfrm>
            <a:off x="8229600" y="2450592"/>
            <a:ext cx="304769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8" name="Text 5">
            <a:hlinkClick r:id="rId2" tooltip=""/>
          </p:cNvPr>
          <p:cNvSpPr/>
          <p:nvPr/>
        </p:nvSpPr>
        <p:spPr>
          <a:xfrm>
            <a:off x="8229600" y="2761488"/>
            <a:ext cx="3047695" cy="384048"/>
          </a:xfrm>
          <a:prstGeom prst="rect">
            <a:avLst/>
          </a:prstGeom>
          <a:noFill/>
          <a:ln/>
        </p:spPr>
        <p:txBody>
          <a:bodyPr wrap="square" lIns="0" tIns="0" rIns="0" bIns="0" rtlCol="0" anchor="ctr"/>
          <a:lstStyle/>
          <a:p>
            <a:pPr indent="0" marL="0">
              <a:buNone/>
            </a:pPr>
            <a:r>
              <a:rPr lang="en-US" sz="10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9" name="Shape 6"/>
          <p:cNvSpPr/>
          <p:nvPr/>
        </p:nvSpPr>
        <p:spPr>
          <a:xfrm>
            <a:off x="7955280" y="3666744"/>
            <a:ext cx="219456" cy="219456"/>
          </a:xfrm>
          <a:prstGeom prst="ellipse">
            <a:avLst/>
          </a:prstGeom>
          <a:solidFill>
            <a:srgbClr val="2F6B5F"/>
          </a:solidFill>
          <a:ln/>
        </p:spPr>
      </p:sp>
      <p:sp>
        <p:nvSpPr>
          <p:cNvPr id="10" name="Text 7"/>
          <p:cNvSpPr/>
          <p:nvPr/>
        </p:nvSpPr>
        <p:spPr>
          <a:xfrm>
            <a:off x="8302752" y="3611880"/>
            <a:ext cx="3248863" cy="310896"/>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Surrogate 440 pohon, 17 fitur</a:t>
            </a:r>
            <a:endParaRPr lang="en-US" sz="1250" dirty="0"/>
          </a:p>
        </p:txBody>
      </p:sp>
      <p:sp>
        <p:nvSpPr>
          <p:cNvPr id="11" name="Text 8"/>
          <p:cNvSpPr/>
          <p:nvPr/>
        </p:nvSpPr>
        <p:spPr>
          <a:xfrm>
            <a:off x="8302752" y="3922776"/>
            <a:ext cx="3248863" cy="475488"/>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QWK 0,46752, yaitu 96,5% dari pipeline penuh</a:t>
            </a:r>
            <a:endParaRPr lang="en-US" sz="1050" dirty="0"/>
          </a:p>
        </p:txBody>
      </p:sp>
      <p:sp>
        <p:nvSpPr>
          <p:cNvPr id="12" name="Shape 9"/>
          <p:cNvSpPr/>
          <p:nvPr/>
        </p:nvSpPr>
        <p:spPr>
          <a:xfrm>
            <a:off x="7955280" y="4535424"/>
            <a:ext cx="219456" cy="219456"/>
          </a:xfrm>
          <a:prstGeom prst="ellipse">
            <a:avLst/>
          </a:prstGeom>
          <a:solidFill>
            <a:srgbClr val="8FB0A4"/>
          </a:solidFill>
          <a:ln/>
        </p:spPr>
      </p:sp>
      <p:sp>
        <p:nvSpPr>
          <p:cNvPr id="13" name="Text 10"/>
          <p:cNvSpPr/>
          <p:nvPr/>
        </p:nvSpPr>
        <p:spPr>
          <a:xfrm>
            <a:off x="8302752" y="4480560"/>
            <a:ext cx="3248863" cy="310896"/>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Ambang dapat digeser langsung</a:t>
            </a:r>
            <a:endParaRPr lang="en-US" sz="1250" dirty="0"/>
          </a:p>
        </p:txBody>
      </p:sp>
      <p:sp>
        <p:nvSpPr>
          <p:cNvPr id="14" name="Text 11"/>
          <p:cNvSpPr/>
          <p:nvPr/>
        </p:nvSpPr>
        <p:spPr>
          <a:xfrm>
            <a:off x="8302752" y="4791456"/>
            <a:ext cx="3248863" cy="475488"/>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Seret t₃ pada histogram, jumlah tertangkap terhitung ulang</a:t>
            </a:r>
            <a:endParaRPr lang="en-US" sz="1050" dirty="0"/>
          </a:p>
        </p:txBody>
      </p:sp>
      <p:sp>
        <p:nvSpPr>
          <p:cNvPr id="15" name="Shape 12"/>
          <p:cNvSpPr/>
          <p:nvPr/>
        </p:nvSpPr>
        <p:spPr>
          <a:xfrm>
            <a:off x="7955280" y="5404104"/>
            <a:ext cx="219456" cy="219456"/>
          </a:xfrm>
          <a:prstGeom prst="ellipse">
            <a:avLst/>
          </a:prstGeom>
          <a:solidFill>
            <a:srgbClr val="D8A25E"/>
          </a:solidFill>
          <a:ln/>
        </p:spPr>
      </p:sp>
      <p:sp>
        <p:nvSpPr>
          <p:cNvPr id="16" name="Text 13"/>
          <p:cNvSpPr/>
          <p:nvPr/>
        </p:nvSpPr>
        <p:spPr>
          <a:xfrm>
            <a:off x="8302752" y="5349240"/>
            <a:ext cx="3248863" cy="310896"/>
          </a:xfrm>
          <a:prstGeom prst="rect">
            <a:avLst/>
          </a:prstGeom>
          <a:noFill/>
          <a:ln/>
        </p:spPr>
        <p:txBody>
          <a:bodyPr wrap="square" lIns="0" tIns="0" rIns="0" bIns="0" rtlCol="0" anchor="ctr"/>
          <a:lstStyle/>
          <a:p>
            <a:pPr indent="0" marL="0">
              <a:buNone/>
            </a:pPr>
            <a:r>
              <a:rPr lang="en-US" sz="1250" b="1" dirty="0">
                <a:solidFill>
                  <a:srgbClr val="16191D"/>
                </a:solidFill>
                <a:latin typeface="Cambria" pitchFamily="34" charset="0"/>
                <a:ea typeface="Cambria" pitchFamily="34" charset="-122"/>
                <a:cs typeface="Cambria" pitchFamily="34" charset="-120"/>
              </a:rPr>
              <a:t>Tombol (i) di tiap istilah</a:t>
            </a:r>
            <a:endParaRPr lang="en-US" sz="1250" dirty="0"/>
          </a:p>
        </p:txBody>
      </p:sp>
      <p:sp>
        <p:nvSpPr>
          <p:cNvPr id="17" name="Text 14"/>
          <p:cNvSpPr/>
          <p:nvPr/>
        </p:nvSpPr>
        <p:spPr>
          <a:xfrm>
            <a:off x="8302752" y="5660136"/>
            <a:ext cx="3248863" cy="475488"/>
          </a:xfrm>
          <a:prstGeom prst="rect">
            <a:avLst/>
          </a:prstGeom>
          <a:noFill/>
          <a:ln/>
        </p:spPr>
        <p:txBody>
          <a:bodyPr wrap="square" lIns="0" tIns="0" rIns="0" bIns="0" rtlCol="0" anchor="t"/>
          <a:lstStyle/>
          <a:p>
            <a:pPr indent="0" marL="0">
              <a:lnSpc>
                <a:spcPts val="1400"/>
              </a:lnSpc>
              <a:buNone/>
            </a:pPr>
            <a:r>
              <a:rPr lang="en-US" sz="1050" dirty="0">
                <a:solidFill>
                  <a:srgbClr val="6E747C"/>
                </a:solidFill>
                <a:latin typeface="Calibri" pitchFamily="34" charset="0"/>
                <a:ea typeface="Calibri" pitchFamily="34" charset="-122"/>
                <a:cs typeface="Calibri" pitchFamily="34" charset="-120"/>
              </a:rPr>
              <a:t>Rumus dan definisi muncul saat diklik, siap untuk tanya jawab</a:t>
            </a:r>
            <a:endParaRPr lang="en-US" sz="1050" dirty="0"/>
          </a:p>
        </p:txBody>
      </p:sp>
      <p:sp>
        <p:nvSpPr>
          <p:cNvPr id="19" name="Shape 15"/>
          <p:cNvSpPr/>
          <p:nvPr/>
        </p:nvSpPr>
        <p:spPr>
          <a:xfrm>
            <a:off x="640080" y="6400800"/>
            <a:ext cx="1572768" cy="45720"/>
          </a:xfrm>
          <a:prstGeom prst="rect">
            <a:avLst/>
          </a:prstGeom>
          <a:solidFill>
            <a:srgbClr val="DCD8D1"/>
          </a:solidFill>
          <a:ln/>
        </p:spPr>
      </p:sp>
      <p:sp>
        <p:nvSpPr>
          <p:cNvPr id="20" name="Text 1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1" name="Shape 17"/>
          <p:cNvSpPr/>
          <p:nvPr/>
        </p:nvSpPr>
        <p:spPr>
          <a:xfrm>
            <a:off x="2304288" y="6400800"/>
            <a:ext cx="1572768" cy="45720"/>
          </a:xfrm>
          <a:prstGeom prst="rect">
            <a:avLst/>
          </a:prstGeom>
          <a:solidFill>
            <a:srgbClr val="DCD8D1"/>
          </a:solidFill>
          <a:ln/>
        </p:spPr>
      </p:sp>
      <p:sp>
        <p:nvSpPr>
          <p:cNvPr id="22" name="Text 1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3" name="Shape 19"/>
          <p:cNvSpPr/>
          <p:nvPr/>
        </p:nvSpPr>
        <p:spPr>
          <a:xfrm>
            <a:off x="3968496" y="6400800"/>
            <a:ext cx="1572768" cy="45720"/>
          </a:xfrm>
          <a:prstGeom prst="rect">
            <a:avLst/>
          </a:prstGeom>
          <a:solidFill>
            <a:srgbClr val="DCD8D1"/>
          </a:solidFill>
          <a:ln/>
        </p:spPr>
      </p:sp>
      <p:sp>
        <p:nvSpPr>
          <p:cNvPr id="24" name="Text 2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5" name="Shape 21"/>
          <p:cNvSpPr/>
          <p:nvPr/>
        </p:nvSpPr>
        <p:spPr>
          <a:xfrm>
            <a:off x="5632704" y="6400800"/>
            <a:ext cx="1572768" cy="45720"/>
          </a:xfrm>
          <a:prstGeom prst="rect">
            <a:avLst/>
          </a:prstGeom>
          <a:solidFill>
            <a:srgbClr val="DCD8D1"/>
          </a:solidFill>
          <a:ln/>
        </p:spPr>
      </p:sp>
      <p:sp>
        <p:nvSpPr>
          <p:cNvPr id="26" name="Text 2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7" name="Shape 23"/>
          <p:cNvSpPr/>
          <p:nvPr/>
        </p:nvSpPr>
        <p:spPr>
          <a:xfrm>
            <a:off x="7296912" y="6400800"/>
            <a:ext cx="1572768" cy="45720"/>
          </a:xfrm>
          <a:prstGeom prst="rect">
            <a:avLst/>
          </a:prstGeom>
          <a:solidFill>
            <a:srgbClr val="DCD8D1"/>
          </a:solidFill>
          <a:ln/>
        </p:spPr>
      </p:sp>
      <p:sp>
        <p:nvSpPr>
          <p:cNvPr id="28" name="Text 2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9" name="Shape 25"/>
          <p:cNvSpPr/>
          <p:nvPr/>
        </p:nvSpPr>
        <p:spPr>
          <a:xfrm>
            <a:off x="8961120" y="6400800"/>
            <a:ext cx="1572768" cy="45720"/>
          </a:xfrm>
          <a:prstGeom prst="rect">
            <a:avLst/>
          </a:prstGeom>
          <a:solidFill>
            <a:srgbClr val="A8442A"/>
          </a:solidFill>
          <a:ln/>
        </p:spPr>
      </p:sp>
      <p:sp>
        <p:nvSpPr>
          <p:cNvPr id="30" name="Text 2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31" name="Text 2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Yang berubah: dari satu angka agregat menjadi daftar bernama.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Survei melaporkan berapa persen. Alat ini menunjuk siapa saja, lalu mengurutkannya.</a:t>
            </a:r>
            <a:endParaRPr lang="en-US" sz="1400" dirty="0"/>
          </a:p>
        </p:txBody>
      </p:sp>
      <p:sp>
        <p:nvSpPr>
          <p:cNvPr id="4" name="Shape 2"/>
          <p:cNvSpPr/>
          <p:nvPr/>
        </p:nvSpPr>
        <p:spPr>
          <a:xfrm>
            <a:off x="640080" y="2377440"/>
            <a:ext cx="4937760" cy="3108960"/>
          </a:xfrm>
          <a:prstGeom prst="roundRect">
            <a:avLst>
              <a:gd name="adj" fmla="val 1765"/>
            </a:avLst>
          </a:prstGeom>
          <a:solidFill>
            <a:srgbClr val="F4F1EC"/>
          </a:solidFill>
          <a:ln w="9525">
            <a:solidFill>
              <a:srgbClr val="DCD8D1"/>
            </a:solidFill>
            <a:prstDash val="solid"/>
          </a:ln>
        </p:spPr>
      </p:sp>
      <p:sp>
        <p:nvSpPr>
          <p:cNvPr id="5" name="Text 3"/>
          <p:cNvSpPr/>
          <p:nvPr/>
        </p:nvSpPr>
        <p:spPr>
          <a:xfrm>
            <a:off x="950976" y="2578608"/>
            <a:ext cx="431596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TERSEDIA SEKARANG</a:t>
            </a:r>
            <a:endParaRPr lang="en-US" sz="1050" dirty="0"/>
          </a:p>
        </p:txBody>
      </p:sp>
      <p:sp>
        <p:nvSpPr>
          <p:cNvPr id="6" name="Text 4"/>
          <p:cNvSpPr/>
          <p:nvPr/>
        </p:nvSpPr>
        <p:spPr>
          <a:xfrm>
            <a:off x="950976" y="2926080"/>
            <a:ext cx="4315968" cy="731520"/>
          </a:xfrm>
          <a:prstGeom prst="rect">
            <a:avLst/>
          </a:prstGeom>
          <a:noFill/>
          <a:ln/>
        </p:spPr>
        <p:txBody>
          <a:bodyPr wrap="square" lIns="0" tIns="0" rIns="0" bIns="0" rtlCol="0" anchor="ctr"/>
          <a:lstStyle/>
          <a:p>
            <a:pPr indent="0" marL="0">
              <a:buNone/>
            </a:pPr>
            <a:r>
              <a:rPr lang="en-US" sz="4400" b="1" dirty="0">
                <a:solidFill>
                  <a:srgbClr val="16191D"/>
                </a:solidFill>
                <a:latin typeface="Cambria" pitchFamily="34" charset="0"/>
                <a:ea typeface="Cambria" pitchFamily="34" charset="-122"/>
                <a:cs typeface="Cambria" pitchFamily="34" charset="-120"/>
              </a:rPr>
              <a:t>4,7%</a:t>
            </a:r>
            <a:endParaRPr lang="en-US" sz="4400" dirty="0"/>
          </a:p>
        </p:txBody>
      </p:sp>
      <p:sp>
        <p:nvSpPr>
          <p:cNvPr id="7" name="Text 5"/>
          <p:cNvSpPr/>
          <p:nvPr/>
        </p:nvSpPr>
        <p:spPr>
          <a:xfrm>
            <a:off x="950976" y="3767328"/>
            <a:ext cx="4315968" cy="109728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Satu angka agregat di laporan survei. Tidak memberi tahu siapa orangnya, jadi tidak ada yang bisa ditindaklanjuti.</a:t>
            </a:r>
            <a:endParaRPr lang="en-US" sz="1200" dirty="0"/>
          </a:p>
        </p:txBody>
      </p:sp>
      <p:sp>
        <p:nvSpPr>
          <p:cNvPr id="8" name="Text 6"/>
          <p:cNvSpPr/>
          <p:nvPr/>
        </p:nvSpPr>
        <p:spPr>
          <a:xfrm>
            <a:off x="5577840" y="2377440"/>
            <a:ext cx="1188720" cy="3108960"/>
          </a:xfrm>
          <a:prstGeom prst="rect">
            <a:avLst/>
          </a:prstGeom>
          <a:noFill/>
          <a:ln/>
        </p:spPr>
        <p:txBody>
          <a:bodyPr wrap="square" lIns="0" tIns="0" rIns="0" bIns="0" rtlCol="0" anchor="ctr"/>
          <a:lstStyle/>
          <a:p>
            <a:pPr algn="ctr" indent="0" marL="0">
              <a:buNone/>
            </a:pPr>
            <a:r>
              <a:rPr lang="en-US" sz="2600" dirty="0">
                <a:solidFill>
                  <a:srgbClr val="9AA0A7"/>
                </a:solidFill>
                <a:latin typeface="Calibri" pitchFamily="34" charset="0"/>
                <a:ea typeface="Calibri" pitchFamily="34" charset="-122"/>
                <a:cs typeface="Calibri" pitchFamily="34" charset="-120"/>
              </a:rPr>
              <a:t>→</a:t>
            </a:r>
            <a:endParaRPr lang="en-US" sz="2600" dirty="0"/>
          </a:p>
        </p:txBody>
      </p:sp>
      <p:sp>
        <p:nvSpPr>
          <p:cNvPr id="9" name="Shape 7"/>
          <p:cNvSpPr/>
          <p:nvPr/>
        </p:nvSpPr>
        <p:spPr>
          <a:xfrm>
            <a:off x="6766560" y="2377440"/>
            <a:ext cx="4937760" cy="3108960"/>
          </a:xfrm>
          <a:prstGeom prst="roundRect">
            <a:avLst>
              <a:gd name="adj" fmla="val 1765"/>
            </a:avLst>
          </a:prstGeom>
          <a:solidFill>
            <a:srgbClr val="FFFFFF"/>
          </a:solidFill>
          <a:ln w="9525">
            <a:solidFill>
              <a:srgbClr val="DCD8D1"/>
            </a:solidFill>
            <a:prstDash val="solid"/>
          </a:ln>
        </p:spPr>
      </p:sp>
      <p:sp>
        <p:nvSpPr>
          <p:cNvPr id="10" name="Text 8"/>
          <p:cNvSpPr/>
          <p:nvPr/>
        </p:nvSpPr>
        <p:spPr>
          <a:xfrm>
            <a:off x="7077456" y="2578608"/>
            <a:ext cx="431596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YANG DIHASILKAN LIFESCOPE</a:t>
            </a:r>
            <a:endParaRPr lang="en-US" sz="1050" dirty="0"/>
          </a:p>
        </p:txBody>
      </p:sp>
      <p:sp>
        <p:nvSpPr>
          <p:cNvPr id="11" name="Shape 9"/>
          <p:cNvSpPr/>
          <p:nvPr/>
        </p:nvSpPr>
        <p:spPr>
          <a:xfrm>
            <a:off x="7077456" y="3008376"/>
            <a:ext cx="274320" cy="274320"/>
          </a:xfrm>
          <a:prstGeom prst="rect">
            <a:avLst/>
          </a:prstGeom>
          <a:solidFill>
            <a:srgbClr val="A8442A"/>
          </a:solidFill>
          <a:ln/>
        </p:spPr>
      </p:sp>
      <p:sp>
        <p:nvSpPr>
          <p:cNvPr id="12" name="Text 10"/>
          <p:cNvSpPr/>
          <p:nvPr/>
        </p:nvSpPr>
        <p:spPr>
          <a:xfrm>
            <a:off x="7077456" y="300837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13" name="Text 11"/>
          <p:cNvSpPr/>
          <p:nvPr/>
        </p:nvSpPr>
        <p:spPr>
          <a:xfrm>
            <a:off x="7479792" y="2962656"/>
            <a:ext cx="1005840" cy="36576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2,932</a:t>
            </a:r>
            <a:endParaRPr lang="en-US" sz="1250" dirty="0"/>
          </a:p>
        </p:txBody>
      </p:sp>
      <p:sp>
        <p:nvSpPr>
          <p:cNvPr id="14" name="Text 12"/>
          <p:cNvSpPr/>
          <p:nvPr/>
        </p:nvSpPr>
        <p:spPr>
          <a:xfrm>
            <a:off x="8549640" y="2962656"/>
            <a:ext cx="2834640" cy="365760"/>
          </a:xfrm>
          <a:prstGeom prst="rect">
            <a:avLst/>
          </a:prstGeom>
          <a:noFill/>
          <a:ln/>
        </p:spPr>
        <p:txBody>
          <a:bodyPr wrap="square" lIns="0" tIns="0" rIns="0" bIns="0" rtlCol="0" anchor="ctr"/>
          <a:lstStyle/>
          <a:p>
            <a:pPr indent="0" marL="0">
              <a:buNone/>
            </a:pPr>
            <a:r>
              <a:rPr lang="en-US" sz="1150" dirty="0">
                <a:solidFill>
                  <a:srgbClr val="6E747C"/>
                </a:solidFill>
                <a:latin typeface="Calibri" pitchFamily="34" charset="0"/>
                <a:ea typeface="Calibri" pitchFamily="34" charset="-122"/>
                <a:cs typeface="Calibri" pitchFamily="34" charset="-120"/>
              </a:rPr>
              <a:t>Responden #1</a:t>
            </a:r>
            <a:endParaRPr lang="en-US" sz="1150" dirty="0"/>
          </a:p>
        </p:txBody>
      </p:sp>
      <p:sp>
        <p:nvSpPr>
          <p:cNvPr id="15" name="Shape 13"/>
          <p:cNvSpPr/>
          <p:nvPr/>
        </p:nvSpPr>
        <p:spPr>
          <a:xfrm>
            <a:off x="7077456" y="3465576"/>
            <a:ext cx="274320" cy="274320"/>
          </a:xfrm>
          <a:prstGeom prst="rect">
            <a:avLst/>
          </a:prstGeom>
          <a:solidFill>
            <a:srgbClr val="A8442A"/>
          </a:solidFill>
          <a:ln/>
        </p:spPr>
      </p:sp>
      <p:sp>
        <p:nvSpPr>
          <p:cNvPr id="16" name="Text 14"/>
          <p:cNvSpPr/>
          <p:nvPr/>
        </p:nvSpPr>
        <p:spPr>
          <a:xfrm>
            <a:off x="7077456" y="346557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17" name="Text 15"/>
          <p:cNvSpPr/>
          <p:nvPr/>
        </p:nvSpPr>
        <p:spPr>
          <a:xfrm>
            <a:off x="7479792" y="3419856"/>
            <a:ext cx="1005840" cy="36576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2,790</a:t>
            </a:r>
            <a:endParaRPr lang="en-US" sz="1250" dirty="0"/>
          </a:p>
        </p:txBody>
      </p:sp>
      <p:sp>
        <p:nvSpPr>
          <p:cNvPr id="18" name="Text 16"/>
          <p:cNvSpPr/>
          <p:nvPr/>
        </p:nvSpPr>
        <p:spPr>
          <a:xfrm>
            <a:off x="8549640" y="3419856"/>
            <a:ext cx="2834640" cy="365760"/>
          </a:xfrm>
          <a:prstGeom prst="rect">
            <a:avLst/>
          </a:prstGeom>
          <a:noFill/>
          <a:ln/>
        </p:spPr>
        <p:txBody>
          <a:bodyPr wrap="square" lIns="0" tIns="0" rIns="0" bIns="0" rtlCol="0" anchor="ctr"/>
          <a:lstStyle/>
          <a:p>
            <a:pPr indent="0" marL="0">
              <a:buNone/>
            </a:pPr>
            <a:r>
              <a:rPr lang="en-US" sz="1150" dirty="0">
                <a:solidFill>
                  <a:srgbClr val="6E747C"/>
                </a:solidFill>
                <a:latin typeface="Calibri" pitchFamily="34" charset="0"/>
                <a:ea typeface="Calibri" pitchFamily="34" charset="-122"/>
                <a:cs typeface="Calibri" pitchFamily="34" charset="-120"/>
              </a:rPr>
              <a:t>Responden #2</a:t>
            </a:r>
            <a:endParaRPr lang="en-US" sz="1150" dirty="0"/>
          </a:p>
        </p:txBody>
      </p:sp>
      <p:sp>
        <p:nvSpPr>
          <p:cNvPr id="19" name="Shape 17"/>
          <p:cNvSpPr/>
          <p:nvPr/>
        </p:nvSpPr>
        <p:spPr>
          <a:xfrm>
            <a:off x="7077456" y="3922776"/>
            <a:ext cx="274320" cy="274320"/>
          </a:xfrm>
          <a:prstGeom prst="rect">
            <a:avLst/>
          </a:prstGeom>
          <a:solidFill>
            <a:srgbClr val="A8442A"/>
          </a:solidFill>
          <a:ln/>
        </p:spPr>
      </p:sp>
      <p:sp>
        <p:nvSpPr>
          <p:cNvPr id="20" name="Text 18"/>
          <p:cNvSpPr/>
          <p:nvPr/>
        </p:nvSpPr>
        <p:spPr>
          <a:xfrm>
            <a:off x="7077456" y="392277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21" name="Text 19"/>
          <p:cNvSpPr/>
          <p:nvPr/>
        </p:nvSpPr>
        <p:spPr>
          <a:xfrm>
            <a:off x="7479792" y="3877056"/>
            <a:ext cx="1005840" cy="36576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2,738</a:t>
            </a:r>
            <a:endParaRPr lang="en-US" sz="1250" dirty="0"/>
          </a:p>
        </p:txBody>
      </p:sp>
      <p:sp>
        <p:nvSpPr>
          <p:cNvPr id="22" name="Text 20"/>
          <p:cNvSpPr/>
          <p:nvPr/>
        </p:nvSpPr>
        <p:spPr>
          <a:xfrm>
            <a:off x="8549640" y="3877056"/>
            <a:ext cx="2834640" cy="365760"/>
          </a:xfrm>
          <a:prstGeom prst="rect">
            <a:avLst/>
          </a:prstGeom>
          <a:noFill/>
          <a:ln/>
        </p:spPr>
        <p:txBody>
          <a:bodyPr wrap="square" lIns="0" tIns="0" rIns="0" bIns="0" rtlCol="0" anchor="ctr"/>
          <a:lstStyle/>
          <a:p>
            <a:pPr indent="0" marL="0">
              <a:buNone/>
            </a:pPr>
            <a:r>
              <a:rPr lang="en-US" sz="1150" dirty="0">
                <a:solidFill>
                  <a:srgbClr val="6E747C"/>
                </a:solidFill>
                <a:latin typeface="Calibri" pitchFamily="34" charset="0"/>
                <a:ea typeface="Calibri" pitchFamily="34" charset="-122"/>
                <a:cs typeface="Calibri" pitchFamily="34" charset="-120"/>
              </a:rPr>
              <a:t>Responden #3</a:t>
            </a:r>
            <a:endParaRPr lang="en-US" sz="1150" dirty="0"/>
          </a:p>
        </p:txBody>
      </p:sp>
      <p:sp>
        <p:nvSpPr>
          <p:cNvPr id="23" name="Shape 21"/>
          <p:cNvSpPr/>
          <p:nvPr/>
        </p:nvSpPr>
        <p:spPr>
          <a:xfrm>
            <a:off x="7077456" y="4379976"/>
            <a:ext cx="274320" cy="274320"/>
          </a:xfrm>
          <a:prstGeom prst="rect">
            <a:avLst/>
          </a:prstGeom>
          <a:solidFill>
            <a:srgbClr val="D8A25E"/>
          </a:solidFill>
          <a:ln/>
        </p:spPr>
      </p:sp>
      <p:sp>
        <p:nvSpPr>
          <p:cNvPr id="24" name="Text 22"/>
          <p:cNvSpPr/>
          <p:nvPr/>
        </p:nvSpPr>
        <p:spPr>
          <a:xfrm>
            <a:off x="7077456" y="437997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5" name="Text 23"/>
          <p:cNvSpPr/>
          <p:nvPr/>
        </p:nvSpPr>
        <p:spPr>
          <a:xfrm>
            <a:off x="7479792" y="4334256"/>
            <a:ext cx="1005840" cy="365760"/>
          </a:xfrm>
          <a:prstGeom prst="rect">
            <a:avLst/>
          </a:prstGeom>
          <a:noFill/>
          <a:ln/>
        </p:spPr>
        <p:txBody>
          <a:bodyPr wrap="square" lIns="0" tIns="0" rIns="0" bIns="0" rtlCol="0" anchor="ctr"/>
          <a:lstStyle/>
          <a:p>
            <a:pPr indent="0" marL="0">
              <a:buNone/>
            </a:pPr>
            <a:r>
              <a:rPr lang="en-US" sz="1250" b="1" dirty="0">
                <a:solidFill>
                  <a:srgbClr val="16191D"/>
                </a:solidFill>
                <a:latin typeface="Calibri" pitchFamily="34" charset="0"/>
                <a:ea typeface="Calibri" pitchFamily="34" charset="-122"/>
                <a:cs typeface="Calibri" pitchFamily="34" charset="-120"/>
              </a:rPr>
              <a:t>2,445</a:t>
            </a:r>
            <a:endParaRPr lang="en-US" sz="1250" dirty="0"/>
          </a:p>
        </p:txBody>
      </p:sp>
      <p:sp>
        <p:nvSpPr>
          <p:cNvPr id="26" name="Text 24"/>
          <p:cNvSpPr/>
          <p:nvPr/>
        </p:nvSpPr>
        <p:spPr>
          <a:xfrm>
            <a:off x="8549640" y="4334256"/>
            <a:ext cx="2834640" cy="365760"/>
          </a:xfrm>
          <a:prstGeom prst="rect">
            <a:avLst/>
          </a:prstGeom>
          <a:noFill/>
          <a:ln/>
        </p:spPr>
        <p:txBody>
          <a:bodyPr wrap="square" lIns="0" tIns="0" rIns="0" bIns="0" rtlCol="0" anchor="ctr"/>
          <a:lstStyle/>
          <a:p>
            <a:pPr indent="0" marL="0">
              <a:buNone/>
            </a:pPr>
            <a:r>
              <a:rPr lang="en-US" sz="1150" dirty="0">
                <a:solidFill>
                  <a:srgbClr val="6E747C"/>
                </a:solidFill>
                <a:latin typeface="Calibri" pitchFamily="34" charset="0"/>
                <a:ea typeface="Calibri" pitchFamily="34" charset="-122"/>
                <a:cs typeface="Calibri" pitchFamily="34" charset="-120"/>
              </a:rPr>
              <a:t>Responden #4</a:t>
            </a:r>
            <a:endParaRPr lang="en-US" sz="1150" dirty="0"/>
          </a:p>
        </p:txBody>
      </p:sp>
      <p:sp>
        <p:nvSpPr>
          <p:cNvPr id="27" name="Text 25"/>
          <p:cNvSpPr/>
          <p:nvPr/>
        </p:nvSpPr>
        <p:spPr>
          <a:xfrm>
            <a:off x="7077456" y="4846320"/>
            <a:ext cx="4315968" cy="54864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Terurut menurut prioritas, siap dibagi ke petugas lapangan atau diekspor.</a:t>
            </a:r>
            <a:endParaRPr lang="en-US" sz="1200" dirty="0"/>
          </a:p>
        </p:txBody>
      </p:sp>
      <p:sp>
        <p:nvSpPr>
          <p:cNvPr id="28" name="Text 26"/>
          <p:cNvSpPr/>
          <p:nvPr/>
        </p:nvSpPr>
        <p:spPr>
          <a:xfrm>
            <a:off x="640080" y="5715000"/>
            <a:ext cx="10911535" cy="310896"/>
          </a:xfrm>
          <a:prstGeom prst="rect">
            <a:avLst/>
          </a:prstGeom>
          <a:noFill/>
          <a:ln/>
        </p:spPr>
        <p:txBody>
          <a:bodyPr wrap="square" lIns="0" tIns="0" rIns="0" bIns="0" rtlCol="0" anchor="ctr"/>
          <a:lstStyle/>
          <a:p>
            <a:pPr algn="ctr" indent="0" marL="0">
              <a:buNone/>
            </a:pPr>
            <a:r>
              <a:rPr lang="en-US" sz="1200" i="1" dirty="0">
                <a:solidFill>
                  <a:srgbClr val="6E747C"/>
                </a:solidFill>
                <a:latin typeface="Calibri" pitchFamily="34" charset="0"/>
                <a:ea typeface="Calibri" pitchFamily="34" charset="-122"/>
                <a:cs typeface="Calibri" pitchFamily="34" charset="-120"/>
              </a:rPr>
              <a:t>Model ini alat penapisan tingkat populasi, bukan diagnosis individual.</a:t>
            </a:r>
            <a:endParaRPr lang="en-US" sz="1200" dirty="0"/>
          </a:p>
        </p:txBody>
      </p:sp>
      <p:sp>
        <p:nvSpPr>
          <p:cNvPr id="30" name="Shape 27"/>
          <p:cNvSpPr/>
          <p:nvPr/>
        </p:nvSpPr>
        <p:spPr>
          <a:xfrm>
            <a:off x="640080" y="6400800"/>
            <a:ext cx="1572768" cy="45720"/>
          </a:xfrm>
          <a:prstGeom prst="rect">
            <a:avLst/>
          </a:prstGeom>
          <a:solidFill>
            <a:srgbClr val="DCD8D1"/>
          </a:solidFill>
          <a:ln/>
        </p:spPr>
      </p:sp>
      <p:sp>
        <p:nvSpPr>
          <p:cNvPr id="31" name="Text 2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32" name="Shape 29"/>
          <p:cNvSpPr/>
          <p:nvPr/>
        </p:nvSpPr>
        <p:spPr>
          <a:xfrm>
            <a:off x="2304288" y="6400800"/>
            <a:ext cx="1572768" cy="45720"/>
          </a:xfrm>
          <a:prstGeom prst="rect">
            <a:avLst/>
          </a:prstGeom>
          <a:solidFill>
            <a:srgbClr val="DCD8D1"/>
          </a:solidFill>
          <a:ln/>
        </p:spPr>
      </p:sp>
      <p:sp>
        <p:nvSpPr>
          <p:cNvPr id="33" name="Text 3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34" name="Shape 31"/>
          <p:cNvSpPr/>
          <p:nvPr/>
        </p:nvSpPr>
        <p:spPr>
          <a:xfrm>
            <a:off x="3968496" y="6400800"/>
            <a:ext cx="1572768" cy="45720"/>
          </a:xfrm>
          <a:prstGeom prst="rect">
            <a:avLst/>
          </a:prstGeom>
          <a:solidFill>
            <a:srgbClr val="DCD8D1"/>
          </a:solidFill>
          <a:ln/>
        </p:spPr>
      </p:sp>
      <p:sp>
        <p:nvSpPr>
          <p:cNvPr id="35" name="Text 3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36" name="Shape 33"/>
          <p:cNvSpPr/>
          <p:nvPr/>
        </p:nvSpPr>
        <p:spPr>
          <a:xfrm>
            <a:off x="5632704" y="6400800"/>
            <a:ext cx="1572768" cy="45720"/>
          </a:xfrm>
          <a:prstGeom prst="rect">
            <a:avLst/>
          </a:prstGeom>
          <a:solidFill>
            <a:srgbClr val="DCD8D1"/>
          </a:solidFill>
          <a:ln/>
        </p:spPr>
      </p:sp>
      <p:sp>
        <p:nvSpPr>
          <p:cNvPr id="37" name="Text 3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38" name="Shape 35"/>
          <p:cNvSpPr/>
          <p:nvPr/>
        </p:nvSpPr>
        <p:spPr>
          <a:xfrm>
            <a:off x="7296912" y="6400800"/>
            <a:ext cx="1572768" cy="45720"/>
          </a:xfrm>
          <a:prstGeom prst="rect">
            <a:avLst/>
          </a:prstGeom>
          <a:solidFill>
            <a:srgbClr val="DCD8D1"/>
          </a:solidFill>
          <a:ln/>
        </p:spPr>
      </p:sp>
      <p:sp>
        <p:nvSpPr>
          <p:cNvPr id="39" name="Text 3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40" name="Shape 37"/>
          <p:cNvSpPr/>
          <p:nvPr/>
        </p:nvSpPr>
        <p:spPr>
          <a:xfrm>
            <a:off x="8961120" y="6400800"/>
            <a:ext cx="1572768" cy="45720"/>
          </a:xfrm>
          <a:prstGeom prst="rect">
            <a:avLst/>
          </a:prstGeom>
          <a:solidFill>
            <a:srgbClr val="A8442A"/>
          </a:solidFill>
          <a:ln/>
        </p:spPr>
      </p:sp>
      <p:sp>
        <p:nvSpPr>
          <p:cNvPr id="41" name="Text 3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42" name="Text 3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Empat langkah, masing-masing dengan syaratnya.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Kami menuliskan syaratnya karena melewatinya adalah cara model seperti ini gagal.</a:t>
            </a:r>
            <a:endParaRPr lang="en-US" sz="1400" dirty="0"/>
          </a:p>
        </p:txBody>
      </p:sp>
      <p:sp>
        <p:nvSpPr>
          <p:cNvPr id="4" name="Shape 2"/>
          <p:cNvSpPr/>
          <p:nvPr/>
        </p:nvSpPr>
        <p:spPr>
          <a:xfrm>
            <a:off x="640080" y="2286000"/>
            <a:ext cx="2439848" cy="2148840"/>
          </a:xfrm>
          <a:prstGeom prst="roundRect">
            <a:avLst>
              <a:gd name="adj" fmla="val 2553"/>
            </a:avLst>
          </a:prstGeom>
          <a:solidFill>
            <a:srgbClr val="F4F1EC"/>
          </a:solidFill>
          <a:ln w="9525">
            <a:solidFill>
              <a:srgbClr val="DCD8D1"/>
            </a:solidFill>
            <a:prstDash val="solid"/>
          </a:ln>
        </p:spPr>
      </p:sp>
      <p:sp>
        <p:nvSpPr>
          <p:cNvPr id="5" name="Shape 3"/>
          <p:cNvSpPr/>
          <p:nvPr/>
        </p:nvSpPr>
        <p:spPr>
          <a:xfrm>
            <a:off x="914400" y="2487168"/>
            <a:ext cx="365760" cy="365760"/>
          </a:xfrm>
          <a:prstGeom prst="ellipse">
            <a:avLst/>
          </a:prstGeom>
          <a:solidFill>
            <a:srgbClr val="2F6B5F"/>
          </a:solidFill>
          <a:ln/>
        </p:spPr>
      </p:sp>
      <p:sp>
        <p:nvSpPr>
          <p:cNvPr id="6" name="Text 4"/>
          <p:cNvSpPr/>
          <p:nvPr/>
        </p:nvSpPr>
        <p:spPr>
          <a:xfrm>
            <a:off x="914400"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914400"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Penapisan retrospektif</a:t>
            </a:r>
            <a:endParaRPr lang="en-US" sz="1300" dirty="0"/>
          </a:p>
        </p:txBody>
      </p:sp>
      <p:sp>
        <p:nvSpPr>
          <p:cNvPr id="8" name="Text 6"/>
          <p:cNvSpPr/>
          <p:nvPr/>
        </p:nvSpPr>
        <p:spPr>
          <a:xfrm>
            <a:off x="914400"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Jalankan pada gelombang survei yang sudah ada.</a:t>
            </a:r>
            <a:endParaRPr lang="en-US" sz="1050" dirty="0"/>
          </a:p>
        </p:txBody>
      </p:sp>
      <p:sp>
        <p:nvSpPr>
          <p:cNvPr id="9" name="Text 7"/>
          <p:cNvSpPr/>
          <p:nvPr/>
        </p:nvSpPr>
        <p:spPr>
          <a:xfrm>
            <a:off x="914400"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tidak ada. Bisa hari ini.</a:t>
            </a:r>
            <a:endParaRPr lang="en-US" sz="1000" dirty="0"/>
          </a:p>
        </p:txBody>
      </p:sp>
      <p:sp>
        <p:nvSpPr>
          <p:cNvPr id="10" name="Shape 8"/>
          <p:cNvSpPr/>
          <p:nvPr/>
        </p:nvSpPr>
        <p:spPr>
          <a:xfrm>
            <a:off x="3463976" y="2286000"/>
            <a:ext cx="2439848" cy="2148840"/>
          </a:xfrm>
          <a:prstGeom prst="roundRect">
            <a:avLst>
              <a:gd name="adj" fmla="val 2553"/>
            </a:avLst>
          </a:prstGeom>
          <a:solidFill>
            <a:srgbClr val="F4F1EC"/>
          </a:solidFill>
          <a:ln w="9525">
            <a:solidFill>
              <a:srgbClr val="DCD8D1"/>
            </a:solidFill>
            <a:prstDash val="solid"/>
          </a:ln>
        </p:spPr>
      </p:sp>
      <p:sp>
        <p:nvSpPr>
          <p:cNvPr id="11" name="Shape 9"/>
          <p:cNvSpPr/>
          <p:nvPr/>
        </p:nvSpPr>
        <p:spPr>
          <a:xfrm>
            <a:off x="3738296" y="2487168"/>
            <a:ext cx="365760" cy="365760"/>
          </a:xfrm>
          <a:prstGeom prst="ellipse">
            <a:avLst/>
          </a:prstGeom>
          <a:solidFill>
            <a:srgbClr val="8FB0A4"/>
          </a:solidFill>
          <a:ln/>
        </p:spPr>
      </p:sp>
      <p:sp>
        <p:nvSpPr>
          <p:cNvPr id="12" name="Text 10"/>
          <p:cNvSpPr/>
          <p:nvPr/>
        </p:nvSpPr>
        <p:spPr>
          <a:xfrm>
            <a:off x="3738296" y="24871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3738296"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Prioritisasi tindak lanjut</a:t>
            </a:r>
            <a:endParaRPr lang="en-US" sz="1300" dirty="0"/>
          </a:p>
        </p:txBody>
      </p:sp>
      <p:sp>
        <p:nvSpPr>
          <p:cNvPr id="14" name="Text 12"/>
          <p:cNvSpPr/>
          <p:nvPr/>
        </p:nvSpPr>
        <p:spPr>
          <a:xfrm>
            <a:off x="3738296"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Pakai peringkat E[y], bukan label, untuk menyusun antrean.</a:t>
            </a:r>
            <a:endParaRPr lang="en-US" sz="1050" dirty="0"/>
          </a:p>
        </p:txBody>
      </p:sp>
      <p:sp>
        <p:nvSpPr>
          <p:cNvPr id="15" name="Text 13"/>
          <p:cNvSpPr/>
          <p:nvPr/>
        </p:nvSpPr>
        <p:spPr>
          <a:xfrm>
            <a:off x="3738296"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t₃ dikalibrasi untuk sensitivitas.</a:t>
            </a:r>
            <a:endParaRPr lang="en-US" sz="1000" dirty="0"/>
          </a:p>
        </p:txBody>
      </p:sp>
      <p:sp>
        <p:nvSpPr>
          <p:cNvPr id="16" name="Shape 14"/>
          <p:cNvSpPr/>
          <p:nvPr/>
        </p:nvSpPr>
        <p:spPr>
          <a:xfrm>
            <a:off x="6287872" y="2286000"/>
            <a:ext cx="2439848" cy="2148840"/>
          </a:xfrm>
          <a:prstGeom prst="roundRect">
            <a:avLst>
              <a:gd name="adj" fmla="val 2553"/>
            </a:avLst>
          </a:prstGeom>
          <a:solidFill>
            <a:srgbClr val="FFFFFF"/>
          </a:solidFill>
          <a:ln w="9525">
            <a:solidFill>
              <a:srgbClr val="DCD8D1"/>
            </a:solidFill>
            <a:prstDash val="solid"/>
          </a:ln>
        </p:spPr>
      </p:sp>
      <p:sp>
        <p:nvSpPr>
          <p:cNvPr id="17" name="Shape 15"/>
          <p:cNvSpPr/>
          <p:nvPr/>
        </p:nvSpPr>
        <p:spPr>
          <a:xfrm>
            <a:off x="6562192" y="2487168"/>
            <a:ext cx="365760" cy="365760"/>
          </a:xfrm>
          <a:prstGeom prst="ellipse">
            <a:avLst/>
          </a:prstGeom>
          <a:solidFill>
            <a:srgbClr val="D8A25E"/>
          </a:solidFill>
          <a:ln/>
        </p:spPr>
      </p:sp>
      <p:sp>
        <p:nvSpPr>
          <p:cNvPr id="18" name="Text 16"/>
          <p:cNvSpPr/>
          <p:nvPr/>
        </p:nvSpPr>
        <p:spPr>
          <a:xfrm>
            <a:off x="6562192"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6562192"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Instrumen 17 pertanyaan</a:t>
            </a:r>
            <a:endParaRPr lang="en-US" sz="1300" dirty="0"/>
          </a:p>
        </p:txBody>
      </p:sp>
      <p:sp>
        <p:nvSpPr>
          <p:cNvPr id="20" name="Text 18"/>
          <p:cNvSpPr/>
          <p:nvPr/>
        </p:nvSpPr>
        <p:spPr>
          <a:xfrm>
            <a:off x="6562192"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Wawancara singkat menggantikan kuesioner penuh.</a:t>
            </a:r>
            <a:endParaRPr lang="en-US" sz="1050" dirty="0"/>
          </a:p>
        </p:txBody>
      </p:sp>
      <p:sp>
        <p:nvSpPr>
          <p:cNvPr id="21" name="Text 19"/>
          <p:cNvSpPr/>
          <p:nvPr/>
        </p:nvSpPr>
        <p:spPr>
          <a:xfrm>
            <a:off x="6562192"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validasi ulang pada populasi sasaran.</a:t>
            </a:r>
            <a:endParaRPr lang="en-US" sz="1000" dirty="0"/>
          </a:p>
        </p:txBody>
      </p:sp>
      <p:sp>
        <p:nvSpPr>
          <p:cNvPr id="22" name="Shape 20"/>
          <p:cNvSpPr/>
          <p:nvPr/>
        </p:nvSpPr>
        <p:spPr>
          <a:xfrm>
            <a:off x="9111767" y="2286000"/>
            <a:ext cx="2439848" cy="2148840"/>
          </a:xfrm>
          <a:prstGeom prst="roundRect">
            <a:avLst>
              <a:gd name="adj" fmla="val 2553"/>
            </a:avLst>
          </a:prstGeom>
          <a:solidFill>
            <a:srgbClr val="FFFFFF"/>
          </a:solidFill>
          <a:ln w="9525">
            <a:solidFill>
              <a:srgbClr val="DCD8D1"/>
            </a:solidFill>
            <a:prstDash val="solid"/>
          </a:ln>
        </p:spPr>
      </p:sp>
      <p:sp>
        <p:nvSpPr>
          <p:cNvPr id="23" name="Shape 21"/>
          <p:cNvSpPr/>
          <p:nvPr/>
        </p:nvSpPr>
        <p:spPr>
          <a:xfrm>
            <a:off x="9386087" y="2487168"/>
            <a:ext cx="365760" cy="365760"/>
          </a:xfrm>
          <a:prstGeom prst="ellipse">
            <a:avLst/>
          </a:prstGeom>
          <a:solidFill>
            <a:srgbClr val="A8442A"/>
          </a:solidFill>
          <a:ln/>
        </p:spPr>
      </p:sp>
      <p:sp>
        <p:nvSpPr>
          <p:cNvPr id="24" name="Text 22"/>
          <p:cNvSpPr/>
          <p:nvPr/>
        </p:nvSpPr>
        <p:spPr>
          <a:xfrm>
            <a:off x="9386087"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9386087"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Tambah variabel</a:t>
            </a:r>
            <a:endParaRPr lang="en-US" sz="1300" dirty="0"/>
          </a:p>
        </p:txBody>
      </p:sp>
      <p:sp>
        <p:nvSpPr>
          <p:cNvPr id="26" name="Text 24"/>
          <p:cNvSpPr/>
          <p:nvPr/>
        </p:nvSpPr>
        <p:spPr>
          <a:xfrm>
            <a:off x="9386087"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Kepribadian dan hubungan sosial adalah yang hilang.</a:t>
            </a:r>
            <a:endParaRPr lang="en-US" sz="1050" dirty="0"/>
          </a:p>
        </p:txBody>
      </p:sp>
      <p:sp>
        <p:nvSpPr>
          <p:cNvPr id="27" name="Text 25"/>
          <p:cNvSpPr/>
          <p:nvPr/>
        </p:nvSpPr>
        <p:spPr>
          <a:xfrm>
            <a:off x="9386087"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pengumpulan data baru.</a:t>
            </a:r>
            <a:endParaRPr lang="en-US" sz="1000" dirty="0"/>
          </a:p>
        </p:txBody>
      </p:sp>
      <p:sp>
        <p:nvSpPr>
          <p:cNvPr id="28" name="Text 26"/>
          <p:cNvSpPr/>
          <p:nvPr/>
        </p:nvSpPr>
        <p:spPr>
          <a:xfrm>
            <a:off x="640080" y="4626864"/>
            <a:ext cx="10911535"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Tiga saran yang kami pegang sendiri</a:t>
            </a:r>
            <a:endParaRPr lang="en-US" sz="1500" dirty="0"/>
          </a:p>
        </p:txBody>
      </p:sp>
      <p:sp>
        <p:nvSpPr>
          <p:cNvPr id="29" name="Text 27"/>
          <p:cNvSpPr/>
          <p:nvPr/>
        </p:nvSpPr>
        <p:spPr>
          <a:xfrm>
            <a:off x="640080" y="5010912"/>
            <a:ext cx="274320" cy="365760"/>
          </a:xfrm>
          <a:prstGeom prst="rect">
            <a:avLst/>
          </a:prstGeom>
          <a:noFill/>
          <a:ln/>
        </p:spPr>
        <p:txBody>
          <a:bodyPr wrap="square" lIns="0" tIns="0" rIns="0" bIns="0" rtlCol="0" anchor="ctr"/>
          <a:lstStyle/>
          <a:p>
            <a:pPr indent="0" marL="0">
              <a:buNone/>
            </a:pPr>
            <a:r>
              <a:rPr lang="en-US" sz="1100" b="1" dirty="0">
                <a:solidFill>
                  <a:srgbClr val="2F6B5F"/>
                </a:solidFill>
                <a:latin typeface="Calibri" pitchFamily="34" charset="0"/>
                <a:ea typeface="Calibri" pitchFamily="34" charset="-122"/>
                <a:cs typeface="Calibri" pitchFamily="34" charset="-120"/>
              </a:rPr>
              <a:t>1</a:t>
            </a:r>
            <a:endParaRPr lang="en-US" sz="1100" dirty="0"/>
          </a:p>
        </p:txBody>
      </p:sp>
      <p:sp>
        <p:nvSpPr>
          <p:cNvPr id="30" name="Text 28"/>
          <p:cNvSpPr/>
          <p:nvPr/>
        </p:nvSpPr>
        <p:spPr>
          <a:xfrm>
            <a:off x="969264" y="5010912"/>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Pakai untuk populasi, bukan individu</a:t>
            </a:r>
            <a:endParaRPr lang="en-US" sz="1200" dirty="0"/>
          </a:p>
        </p:txBody>
      </p:sp>
      <p:sp>
        <p:nvSpPr>
          <p:cNvPr id="31" name="Text 29"/>
          <p:cNvSpPr/>
          <p:nvPr/>
        </p:nvSpPr>
        <p:spPr>
          <a:xfrm>
            <a:off x="5166360" y="5010912"/>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Sebaran E[y] kelas 1 dan 2 bertumpang tindih lebar. Untuk seribu orang agregatnya andal.</a:t>
            </a:r>
            <a:endParaRPr lang="en-US" sz="1100" dirty="0"/>
          </a:p>
        </p:txBody>
      </p:sp>
      <p:sp>
        <p:nvSpPr>
          <p:cNvPr id="32" name="Shape 30"/>
          <p:cNvSpPr/>
          <p:nvPr/>
        </p:nvSpPr>
        <p:spPr>
          <a:xfrm>
            <a:off x="640080" y="5394960"/>
            <a:ext cx="10911535" cy="0"/>
          </a:xfrm>
          <a:prstGeom prst="line">
            <a:avLst/>
          </a:prstGeom>
          <a:noFill/>
          <a:ln w="7620">
            <a:solidFill>
              <a:srgbClr val="DCD8D1"/>
            </a:solidFill>
            <a:prstDash val="solid"/>
          </a:ln>
        </p:spPr>
      </p:sp>
      <p:sp>
        <p:nvSpPr>
          <p:cNvPr id="33" name="Text 31"/>
          <p:cNvSpPr/>
          <p:nvPr/>
        </p:nvSpPr>
        <p:spPr>
          <a:xfrm>
            <a:off x="640080" y="5413248"/>
            <a:ext cx="274320" cy="365760"/>
          </a:xfrm>
          <a:prstGeom prst="rect">
            <a:avLst/>
          </a:prstGeom>
          <a:noFill/>
          <a:ln/>
        </p:spPr>
        <p:txBody>
          <a:bodyPr wrap="square" lIns="0" tIns="0" rIns="0" bIns="0" rtlCol="0" anchor="ctr"/>
          <a:lstStyle/>
          <a:p>
            <a:pPr indent="0" marL="0">
              <a:buNone/>
            </a:pPr>
            <a:r>
              <a:rPr lang="en-US" sz="1100" b="1" dirty="0">
                <a:solidFill>
                  <a:srgbClr val="8FB0A4"/>
                </a:solidFill>
                <a:latin typeface="Calibri" pitchFamily="34" charset="0"/>
                <a:ea typeface="Calibri" pitchFamily="34" charset="-122"/>
                <a:cs typeface="Calibri" pitchFamily="34" charset="-120"/>
              </a:rPr>
              <a:t>2</a:t>
            </a:r>
            <a:endParaRPr lang="en-US" sz="1100" dirty="0"/>
          </a:p>
        </p:txBody>
      </p:sp>
      <p:sp>
        <p:nvSpPr>
          <p:cNvPr id="34" name="Text 32"/>
          <p:cNvSpPr/>
          <p:nvPr/>
        </p:nvSpPr>
        <p:spPr>
          <a:xfrm>
            <a:off x="969264" y="5413248"/>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Tambah variabel, bukan tambah model</a:t>
            </a:r>
            <a:endParaRPr lang="en-US" sz="1200" dirty="0"/>
          </a:p>
        </p:txBody>
      </p:sp>
      <p:sp>
        <p:nvSpPr>
          <p:cNvPr id="35" name="Text 33"/>
          <p:cNvSpPr/>
          <p:nvPr/>
        </p:nvSpPr>
        <p:spPr>
          <a:xfrm>
            <a:off x="5166360" y="5413248"/>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Kurva belajar menunjukkan pengembalian dari algoritma sudah habis.</a:t>
            </a:r>
            <a:endParaRPr lang="en-US" sz="1100" dirty="0"/>
          </a:p>
        </p:txBody>
      </p:sp>
      <p:sp>
        <p:nvSpPr>
          <p:cNvPr id="36" name="Shape 34"/>
          <p:cNvSpPr/>
          <p:nvPr/>
        </p:nvSpPr>
        <p:spPr>
          <a:xfrm>
            <a:off x="640080" y="5797296"/>
            <a:ext cx="10911535" cy="0"/>
          </a:xfrm>
          <a:prstGeom prst="line">
            <a:avLst/>
          </a:prstGeom>
          <a:noFill/>
          <a:ln w="7620">
            <a:solidFill>
              <a:srgbClr val="DCD8D1"/>
            </a:solidFill>
            <a:prstDash val="solid"/>
          </a:ln>
        </p:spPr>
      </p:sp>
      <p:sp>
        <p:nvSpPr>
          <p:cNvPr id="37" name="Text 35"/>
          <p:cNvSpPr/>
          <p:nvPr/>
        </p:nvSpPr>
        <p:spPr>
          <a:xfrm>
            <a:off x="640080" y="5815584"/>
            <a:ext cx="274320" cy="365760"/>
          </a:xfrm>
          <a:prstGeom prst="rect">
            <a:avLst/>
          </a:prstGeom>
          <a:noFill/>
          <a:ln/>
        </p:spPr>
        <p:txBody>
          <a:bodyPr wrap="square" lIns="0" tIns="0" rIns="0" bIns="0" rtlCol="0" anchor="ctr"/>
          <a:lstStyle/>
          <a:p>
            <a:pPr indent="0" marL="0">
              <a:buNone/>
            </a:pPr>
            <a:r>
              <a:rPr lang="en-US" sz="1100" b="1" dirty="0">
                <a:solidFill>
                  <a:srgbClr val="D8A25E"/>
                </a:solidFill>
                <a:latin typeface="Calibri" pitchFamily="34" charset="0"/>
                <a:ea typeface="Calibri" pitchFamily="34" charset="-122"/>
                <a:cs typeface="Calibri" pitchFamily="34" charset="-120"/>
              </a:rPr>
              <a:t>3</a:t>
            </a:r>
            <a:endParaRPr lang="en-US" sz="1100" dirty="0"/>
          </a:p>
        </p:txBody>
      </p:sp>
      <p:sp>
        <p:nvSpPr>
          <p:cNvPr id="38" name="Text 36"/>
          <p:cNvSpPr/>
          <p:nvPr/>
        </p:nvSpPr>
        <p:spPr>
          <a:xfrm>
            <a:off x="969264" y="5815584"/>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Baca 0,47 sampai 0,50 sebagai satu kelompok</a:t>
            </a:r>
            <a:endParaRPr lang="en-US" sz="1200" dirty="0"/>
          </a:p>
        </p:txBody>
      </p:sp>
      <p:sp>
        <p:nvSpPr>
          <p:cNvPr id="39" name="Text 37"/>
          <p:cNvSpPr/>
          <p:nvPr/>
        </p:nvSpPr>
        <p:spPr>
          <a:xfrm>
            <a:off x="5166360" y="5815584"/>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Selisih di dalam kisaran itu lebih mencerminkan derau sampling daripada kualitas metodologi.</a:t>
            </a:r>
            <a:endParaRPr lang="en-US" sz="1100" dirty="0"/>
          </a:p>
        </p:txBody>
      </p:sp>
      <p:sp>
        <p:nvSpPr>
          <p:cNvPr id="41" name="Shape 38"/>
          <p:cNvSpPr/>
          <p:nvPr/>
        </p:nvSpPr>
        <p:spPr>
          <a:xfrm>
            <a:off x="640080" y="6400800"/>
            <a:ext cx="1572768" cy="45720"/>
          </a:xfrm>
          <a:prstGeom prst="rect">
            <a:avLst/>
          </a:prstGeom>
          <a:solidFill>
            <a:srgbClr val="DCD8D1"/>
          </a:solidFill>
          <a:ln/>
        </p:spPr>
      </p:sp>
      <p:sp>
        <p:nvSpPr>
          <p:cNvPr id="42" name="Text 3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43" name="Shape 40"/>
          <p:cNvSpPr/>
          <p:nvPr/>
        </p:nvSpPr>
        <p:spPr>
          <a:xfrm>
            <a:off x="2304288" y="6400800"/>
            <a:ext cx="1572768" cy="45720"/>
          </a:xfrm>
          <a:prstGeom prst="rect">
            <a:avLst/>
          </a:prstGeom>
          <a:solidFill>
            <a:srgbClr val="DCD8D1"/>
          </a:solidFill>
          <a:ln/>
        </p:spPr>
      </p:sp>
      <p:sp>
        <p:nvSpPr>
          <p:cNvPr id="44" name="Text 4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45" name="Shape 42"/>
          <p:cNvSpPr/>
          <p:nvPr/>
        </p:nvSpPr>
        <p:spPr>
          <a:xfrm>
            <a:off x="3968496" y="6400800"/>
            <a:ext cx="1572768" cy="45720"/>
          </a:xfrm>
          <a:prstGeom prst="rect">
            <a:avLst/>
          </a:prstGeom>
          <a:solidFill>
            <a:srgbClr val="DCD8D1"/>
          </a:solidFill>
          <a:ln/>
        </p:spPr>
      </p:sp>
      <p:sp>
        <p:nvSpPr>
          <p:cNvPr id="46" name="Text 4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47" name="Shape 44"/>
          <p:cNvSpPr/>
          <p:nvPr/>
        </p:nvSpPr>
        <p:spPr>
          <a:xfrm>
            <a:off x="5632704" y="6400800"/>
            <a:ext cx="1572768" cy="45720"/>
          </a:xfrm>
          <a:prstGeom prst="rect">
            <a:avLst/>
          </a:prstGeom>
          <a:solidFill>
            <a:srgbClr val="DCD8D1"/>
          </a:solidFill>
          <a:ln/>
        </p:spPr>
      </p:sp>
      <p:sp>
        <p:nvSpPr>
          <p:cNvPr id="48" name="Text 4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49" name="Shape 46"/>
          <p:cNvSpPr/>
          <p:nvPr/>
        </p:nvSpPr>
        <p:spPr>
          <a:xfrm>
            <a:off x="7296912" y="6400800"/>
            <a:ext cx="1572768" cy="45720"/>
          </a:xfrm>
          <a:prstGeom prst="rect">
            <a:avLst/>
          </a:prstGeom>
          <a:solidFill>
            <a:srgbClr val="DCD8D1"/>
          </a:solidFill>
          <a:ln/>
        </p:spPr>
      </p:sp>
      <p:sp>
        <p:nvSpPr>
          <p:cNvPr id="50" name="Text 4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51" name="Shape 48"/>
          <p:cNvSpPr/>
          <p:nvPr/>
        </p:nvSpPr>
        <p:spPr>
          <a:xfrm>
            <a:off x="8961120" y="6400800"/>
            <a:ext cx="1572768" cy="45720"/>
          </a:xfrm>
          <a:prstGeom prst="rect">
            <a:avLst/>
          </a:prstGeom>
          <a:solidFill>
            <a:srgbClr val="A8442A"/>
          </a:solidFill>
          <a:ln/>
        </p:spPr>
      </p:sp>
      <p:sp>
        <p:nvSpPr>
          <p:cNvPr id="52" name="Text 4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53" name="Text 5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91440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463040"/>
            <a:ext cx="6949440" cy="2286000"/>
          </a:xfrm>
          <a:prstGeom prst="rect">
            <a:avLst/>
          </a:prstGeom>
          <a:noFill/>
          <a:ln/>
        </p:spPr>
        <p:txBody>
          <a:bodyPr wrap="square" lIns="0" tIns="0" rIns="0" bIns="0" rtlCol="0" anchor="t"/>
          <a:lstStyle/>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Kami tidak mengejar angka.</a:t>
            </a:r>
            <a:endParaRPr lang="en-US" sz="3300" dirty="0"/>
          </a:p>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Kami memetakan batasnya,</a:t>
            </a:r>
            <a:endParaRPr lang="en-US" sz="3300" dirty="0"/>
          </a:p>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lalu berhenti tepat di sana.</a:t>
            </a:r>
            <a:endParaRPr lang="en-US" sz="3300" dirty="0"/>
          </a:p>
        </p:txBody>
      </p:sp>
      <p:sp>
        <p:nvSpPr>
          <p:cNvPr id="4" name="Text 2"/>
          <p:cNvSpPr/>
          <p:nvPr/>
        </p:nvSpPr>
        <p:spPr>
          <a:xfrm>
            <a:off x="640080" y="3931920"/>
            <a:ext cx="667512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punya angka yang mendasarinya, dan setiap angka dapat dijalankan ulang dari notebook yang kami kumpulkan.</a:t>
            </a:r>
            <a:endParaRPr lang="en-US" sz="1400" dirty="0"/>
          </a:p>
        </p:txBody>
      </p:sp>
      <p:sp>
        <p:nvSpPr>
          <p:cNvPr id="5" name="Text 3"/>
          <p:cNvSpPr/>
          <p:nvPr/>
        </p:nvSpPr>
        <p:spPr>
          <a:xfrm>
            <a:off x="8138160" y="1463040"/>
            <a:ext cx="341345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138160" y="1828800"/>
            <a:ext cx="3413455" cy="548640"/>
          </a:xfrm>
          <a:prstGeom prst="rect">
            <a:avLst/>
          </a:prstGeom>
          <a:noFill/>
          <a:ln/>
        </p:spPr>
        <p:txBody>
          <a:bodyPr wrap="square" lIns="0" tIns="0" rIns="0" bIns="0" rtlCol="0" anchor="b"/>
          <a:lstStyle/>
          <a:p>
            <a:pPr algn="l" indent="0" marL="0">
              <a:buNone/>
            </a:pPr>
            <a:r>
              <a:rPr lang="en-US" sz="3000" b="1" dirty="0">
                <a:solidFill>
                  <a:srgbClr val="8FB0A4"/>
                </a:solidFill>
                <a:latin typeface="Cambria" pitchFamily="34" charset="0"/>
                <a:ea typeface="Cambria" pitchFamily="34" charset="-122"/>
                <a:cs typeface="Cambria" pitchFamily="34" charset="-120"/>
              </a:rPr>
              <a:t>+0,06269</a:t>
            </a:r>
            <a:endParaRPr lang="en-US" sz="3000" dirty="0"/>
          </a:p>
        </p:txBody>
      </p:sp>
      <p:sp>
        <p:nvSpPr>
          <p:cNvPr id="7" name="Text 5"/>
          <p:cNvSpPr/>
          <p:nvPr/>
        </p:nvSpPr>
        <p:spPr>
          <a:xfrm>
            <a:off x="8138160" y="2414016"/>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138160" y="3035808"/>
            <a:ext cx="3413455" cy="548640"/>
          </a:xfrm>
          <a:prstGeom prst="rect">
            <a:avLst/>
          </a:prstGeom>
          <a:noFill/>
          <a:ln/>
        </p:spPr>
        <p:txBody>
          <a:bodyPr wrap="square" lIns="0" tIns="0" rIns="0" bIns="0" rtlCol="0" anchor="b"/>
          <a:lstStyle/>
          <a:p>
            <a:pPr algn="l" indent="0" marL="0">
              <a:buNone/>
            </a:pPr>
            <a:r>
              <a:rPr lang="en-US" sz="3000" b="1" dirty="0">
                <a:solidFill>
                  <a:srgbClr val="D8A25E"/>
                </a:solidFill>
                <a:latin typeface="Cambria" pitchFamily="34" charset="0"/>
                <a:ea typeface="Cambria" pitchFamily="34" charset="-122"/>
                <a:cs typeface="Cambria" pitchFamily="34" charset="-120"/>
              </a:rPr>
              <a:t>0,9143</a:t>
            </a:r>
            <a:endParaRPr lang="en-US" sz="3000" dirty="0"/>
          </a:p>
        </p:txBody>
      </p:sp>
      <p:sp>
        <p:nvSpPr>
          <p:cNvPr id="9" name="Text 7"/>
          <p:cNvSpPr/>
          <p:nvPr/>
        </p:nvSpPr>
        <p:spPr>
          <a:xfrm>
            <a:off x="8138160" y="3621024"/>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138160" y="4242816"/>
            <a:ext cx="341345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0,7 σ</a:t>
            </a:r>
            <a:endParaRPr lang="en-US" sz="3000" dirty="0"/>
          </a:p>
        </p:txBody>
      </p:sp>
      <p:sp>
        <p:nvSpPr>
          <p:cNvPr id="11" name="Text 9"/>
          <p:cNvSpPr/>
          <p:nvPr/>
        </p:nvSpPr>
        <p:spPr>
          <a:xfrm>
            <a:off x="8138160" y="4828032"/>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394960"/>
            <a:ext cx="10911535" cy="0"/>
          </a:xfrm>
          <a:prstGeom prst="line">
            <a:avLst/>
          </a:prstGeom>
          <a:noFill/>
          <a:ln w="12700">
            <a:solidFill>
              <a:srgbClr val="3A4048"/>
            </a:solidFill>
            <a:prstDash val="solid"/>
          </a:ln>
        </p:spPr>
      </p:sp>
      <p:sp>
        <p:nvSpPr>
          <p:cNvPr id="13" name="Text 11"/>
          <p:cNvSpPr/>
          <p:nvPr/>
        </p:nvSpPr>
        <p:spPr>
          <a:xfrm>
            <a:off x="640080" y="5468112"/>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a:hlinkClick r:id="rId1" tooltip=""/>
          </p:cNvPr>
          <p:cNvSpPr/>
          <p:nvPr/>
        </p:nvSpPr>
        <p:spPr>
          <a:xfrm>
            <a:off x="640080" y="5815584"/>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15" name="Text 13">
            <a:hlinkClick r:id="rId2" tooltip=""/>
          </p:cNvPr>
          <p:cNvSpPr/>
          <p:nvPr/>
        </p:nvSpPr>
        <p:spPr>
          <a:xfrm>
            <a:off x="640080" y="6035040"/>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6" name="Text 14"/>
          <p:cNvSpPr/>
          <p:nvPr/>
        </p:nvSpPr>
        <p:spPr>
          <a:xfrm>
            <a:off x="6583680" y="5669280"/>
            <a:ext cx="4965192" cy="365760"/>
          </a:xfrm>
          <a:prstGeom prst="rect">
            <a:avLst/>
          </a:prstGeom>
          <a:noFill/>
          <a:ln/>
        </p:spPr>
        <p:txBody>
          <a:bodyPr wrap="square" lIns="0" tIns="0" rIns="0" bIns="0" rtlCol="0" anchor="ctr"/>
          <a:lstStyle/>
          <a:p>
            <a:pPr algn="r" indent="0" marL="0">
              <a:buNone/>
            </a:pPr>
            <a:r>
              <a:rPr lang="en-US" sz="1400" i="1" dirty="0">
                <a:solidFill>
                  <a:srgbClr val="8FB0A4"/>
                </a:solidFill>
                <a:latin typeface="Calibri" pitchFamily="34" charset="0"/>
                <a:ea typeface="Calibri" pitchFamily="34" charset="-122"/>
                <a:cs typeface="Calibri" pitchFamily="34" charset="-120"/>
              </a:rPr>
              <a:t>Terima kasih, kami siap menjawab pertanyaan.</a:t>
            </a:r>
            <a:endParaRPr lang="en-US" sz="140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A.1</a:t>
            </a:r>
            <a:endParaRPr lang="en-US" sz="1050" dirty="0"/>
          </a:p>
        </p:txBody>
      </p:sp>
      <p:sp>
        <p:nvSpPr>
          <p:cNvPr id="3" name="Text 1"/>
          <p:cNvSpPr/>
          <p:nvPr/>
        </p:nvSpPr>
        <p:spPr>
          <a:xfrm>
            <a:off x="640080" y="877824"/>
            <a:ext cx="10911535" cy="585216"/>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Sepuluh pendekatan yang diuji lalu ditolak.</a:t>
            </a:r>
            <a:endParaRPr lang="en-US" sz="2800" dirty="0"/>
          </a:p>
        </p:txBody>
      </p:sp>
      <p:sp>
        <p:nvSpPr>
          <p:cNvPr id="4" name="Text 2"/>
          <p:cNvSpPr/>
          <p:nvPr/>
        </p:nvSpPr>
        <p:spPr>
          <a:xfrm>
            <a:off x="640080" y="1517904"/>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Hasil negatif kami laporkan selengkap hasil positif, karena ia menjelaskan kenapa arsitektur akhirnya sesederhana ini.</a:t>
            </a:r>
            <a:endParaRPr lang="en-US" sz="14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2121408"/>
          <a:ext cx="10911535" cy="914400"/>
        </p:xfrm>
        <a:graphic>
          <a:graphicData uri="http://schemas.openxmlformats.org/drawingml/2006/table">
            <a:tbl>
              <a:tblPr/>
              <a:tblGrid>
                <a:gridCol w="4206240"/>
                <a:gridCol w="4937760"/>
                <a:gridCol w="1764792"/>
              </a:tblGrid>
              <a:tr h="310896">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Pendekatan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Alasan ditolak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Bukti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Fitur komposit domain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Tidak ada perbaikan pada ablasi CV</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5.1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Konversi kode 7/8/9 menjadi NaN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Tidak ada perbaikan, kode membawa sinyal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3.3, 5.1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Target encoding rumah tangga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Lift hanya +1,6pp, dan justru menurunkan skor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3.5</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Kolom id sebagai fitur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Spearman 0,006, tidak informatif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3.6</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argmax probabilitas</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QWK jauh di bawah ambang batas ordinal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9</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MLP sebagai model utama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QWK di bawah seluruh model pohon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7.1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Ambang batas titik tunggal</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Selisih in-sample dan held-out paling besar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9.1</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Kalibrasi Platt atau isotonik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Diagram reliabilitas sudah mendekati diagonal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9.2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Indikator tahun survei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Distribusi target stabil antar tahun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3.8</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Seleksi fitur agresif</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Sinyal tersebar tipis, tidak ada fitur dominan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Bagian 3.7</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Shape 3"/>
          <p:cNvSpPr/>
          <p:nvPr/>
        </p:nvSpPr>
        <p:spPr>
          <a:xfrm>
            <a:off x="640080" y="5632704"/>
            <a:ext cx="10911535" cy="548640"/>
          </a:xfrm>
          <a:prstGeom prst="roundRect">
            <a:avLst>
              <a:gd name="adj" fmla="val 10000"/>
            </a:avLst>
          </a:prstGeom>
          <a:solidFill>
            <a:srgbClr val="ECE7DF"/>
          </a:solidFill>
          <a:ln w="9525">
            <a:solidFill>
              <a:srgbClr val="DCD8D1"/>
            </a:solidFill>
            <a:prstDash val="solid"/>
          </a:ln>
        </p:spPr>
      </p:sp>
      <p:sp>
        <p:nvSpPr>
          <p:cNvPr id="7" name="Text 4"/>
          <p:cNvSpPr/>
          <p:nvPr/>
        </p:nvSpPr>
        <p:spPr>
          <a:xfrm>
            <a:off x="914400" y="5632704"/>
            <a:ext cx="10362895" cy="548640"/>
          </a:xfrm>
          <a:prstGeom prst="rect">
            <a:avLst/>
          </a:prstGeom>
          <a:noFill/>
          <a:ln/>
        </p:spPr>
        <p:txBody>
          <a:bodyPr wrap="square" lIns="0" tIns="0" rIns="0" bIns="0" rtlCol="0" anchor="ctr"/>
          <a:lstStyle/>
          <a:p>
            <a:pPr indent="0" marL="0">
              <a:buNone/>
            </a:pPr>
            <a:r>
              <a:rPr lang="en-US" sz="1150" b="1" dirty="0">
                <a:solidFill>
                  <a:srgbClr val="16191D"/>
                </a:solidFill>
                <a:latin typeface="Calibri" pitchFamily="34" charset="0"/>
                <a:ea typeface="Calibri" pitchFamily="34" charset="-122"/>
                <a:cs typeface="Calibri" pitchFamily="34" charset="-120"/>
              </a:rPr>
              <a:t>Prinsip parsimoni. </a:t>
            </a:r>
            <a:pPr indent="0" marL="0">
              <a:buNone/>
            </a:pPr>
            <a:r>
              <a:rPr lang="en-US" sz="1150" dirty="0">
                <a:solidFill>
                  <a:srgbClr val="3A4048"/>
                </a:solidFill>
                <a:latin typeface="Calibri" pitchFamily="34" charset="0"/>
                <a:ea typeface="Calibri" pitchFamily="34" charset="-122"/>
                <a:cs typeface="Calibri" pitchFamily="34" charset="-120"/>
              </a:rPr>
              <a:t>Menyertakan komponen yang tidak terbukti berkontribusi hanya menambah kompleksitas dan memperbesar risiko overfitting. Setiap penolakan didasarkan pada pengukuran.</a:t>
            </a:r>
            <a:endParaRPr lang="en-US" sz="1150" dirty="0"/>
          </a:p>
        </p:txBody>
      </p:sp>
      <p:sp>
        <p:nvSpPr>
          <p:cNvPr id="9" name="Shape 5"/>
          <p:cNvSpPr/>
          <p:nvPr/>
        </p:nvSpPr>
        <p:spPr>
          <a:xfrm>
            <a:off x="640080" y="6400800"/>
            <a:ext cx="1572768" cy="45720"/>
          </a:xfrm>
          <a:prstGeom prst="rect">
            <a:avLst/>
          </a:prstGeom>
          <a:solidFill>
            <a:srgbClr val="DCD8D1"/>
          </a:solidFill>
          <a:ln/>
        </p:spPr>
      </p:sp>
      <p:sp>
        <p:nvSpPr>
          <p:cNvPr id="10" name="Text 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1" name="Shape 7"/>
          <p:cNvSpPr/>
          <p:nvPr/>
        </p:nvSpPr>
        <p:spPr>
          <a:xfrm>
            <a:off x="2304288" y="6400800"/>
            <a:ext cx="1572768" cy="45720"/>
          </a:xfrm>
          <a:prstGeom prst="rect">
            <a:avLst/>
          </a:prstGeom>
          <a:solidFill>
            <a:srgbClr val="DCD8D1"/>
          </a:solidFill>
          <a:ln/>
        </p:spPr>
      </p:sp>
      <p:sp>
        <p:nvSpPr>
          <p:cNvPr id="12" name="Text 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3" name="Shape 9"/>
          <p:cNvSpPr/>
          <p:nvPr/>
        </p:nvSpPr>
        <p:spPr>
          <a:xfrm>
            <a:off x="3968496" y="6400800"/>
            <a:ext cx="1572768" cy="45720"/>
          </a:xfrm>
          <a:prstGeom prst="rect">
            <a:avLst/>
          </a:prstGeom>
          <a:solidFill>
            <a:srgbClr val="DCD8D1"/>
          </a:solidFill>
          <a:ln/>
        </p:spPr>
      </p:sp>
      <p:sp>
        <p:nvSpPr>
          <p:cNvPr id="14" name="Text 1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5" name="Shape 11"/>
          <p:cNvSpPr/>
          <p:nvPr/>
        </p:nvSpPr>
        <p:spPr>
          <a:xfrm>
            <a:off x="5632704" y="6400800"/>
            <a:ext cx="1572768" cy="45720"/>
          </a:xfrm>
          <a:prstGeom prst="rect">
            <a:avLst/>
          </a:prstGeom>
          <a:solidFill>
            <a:srgbClr val="DCD8D1"/>
          </a:solidFill>
          <a:ln/>
        </p:spPr>
      </p:sp>
      <p:sp>
        <p:nvSpPr>
          <p:cNvPr id="16" name="Text 1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7" name="Shape 13"/>
          <p:cNvSpPr/>
          <p:nvPr/>
        </p:nvSpPr>
        <p:spPr>
          <a:xfrm>
            <a:off x="7296912" y="6400800"/>
            <a:ext cx="1572768" cy="45720"/>
          </a:xfrm>
          <a:prstGeom prst="rect">
            <a:avLst/>
          </a:prstGeom>
          <a:solidFill>
            <a:srgbClr val="DCD8D1"/>
          </a:solidFill>
          <a:ln/>
        </p:spPr>
      </p:sp>
      <p:sp>
        <p:nvSpPr>
          <p:cNvPr id="18" name="Text 1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9" name="Shape 15"/>
          <p:cNvSpPr/>
          <p:nvPr/>
        </p:nvSpPr>
        <p:spPr>
          <a:xfrm>
            <a:off x="8961120" y="6400800"/>
            <a:ext cx="1572768" cy="45720"/>
          </a:xfrm>
          <a:prstGeom prst="rect">
            <a:avLst/>
          </a:prstGeom>
          <a:solidFill>
            <a:srgbClr val="A8442A"/>
          </a:solidFill>
          <a:ln/>
        </p:spPr>
      </p:sp>
      <p:sp>
        <p:nvSpPr>
          <p:cNvPr id="20" name="Text 1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21"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A.2</a:t>
            </a:r>
            <a:endParaRPr lang="en-US" sz="1050" dirty="0"/>
          </a:p>
        </p:txBody>
      </p:sp>
      <p:sp>
        <p:nvSpPr>
          <p:cNvPr id="3" name="Text 1"/>
          <p:cNvSpPr/>
          <p:nvPr/>
        </p:nvSpPr>
        <p:spPr>
          <a:xfrm>
            <a:off x="640080" y="877824"/>
            <a:ext cx="10911535" cy="585216"/>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Sebelas eksperimen di luar notebook, lengkap dengan angkanya.</a:t>
            </a:r>
            <a:endParaRPr lang="en-US" sz="2800" dirty="0"/>
          </a:p>
        </p:txBody>
      </p:sp>
      <p:sp>
        <p:nvSpPr>
          <p:cNvPr id="4" name="Text 2"/>
          <p:cNvSpPr/>
          <p:nvPr/>
        </p:nvSpPr>
        <p:spPr>
          <a:xfrm>
            <a:off x="640080" y="1517904"/>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Dijalankan selama pengembangan, tidak dimasukkan ke notebook karena memperpanjang eksekusi tanpa mengubah kesimpulan.</a:t>
            </a:r>
            <a:endParaRPr lang="en-US" sz="14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2121408"/>
          <a:ext cx="10911535" cy="914400"/>
        </p:xfrm>
        <a:graphic>
          <a:graphicData uri="http://schemas.openxmlformats.org/drawingml/2006/table">
            <a:tbl>
              <a:tblPr/>
              <a:tblGrid>
                <a:gridCol w="3383280"/>
                <a:gridCol w="3657600"/>
                <a:gridCol w="1737360"/>
                <a:gridCol w="2130552"/>
              </a:tblGrid>
              <a:tr h="292608">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Eksperimen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Cakupan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Kesimpulan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Pencarian hyperparameter acak</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28 konfigurasi LightGBM</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0,465 – 0,467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Tidak ada yang menonjol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Rekonstruksi nilai hilang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3.030.768 sel dipulihkan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0,4755 – 0,4806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Datar di tiga tingkat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Pembobotan sampel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4 tingkat bobot minoritas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0,458 – 0,469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Menurun monoton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Self-training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Pseudo-label data uji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Tidak menembus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Pembobotan survei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survey_weight sebagai bobot latih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0,4726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Tidak menembus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Bagging 9 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6 LightGBM + 3 CatBoost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0,4820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Di bawah stacking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Blending 25 kandidat</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Greedy, z-score, rank-average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0,4834 – 0,4839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Setara yang terbaik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Vektor nilai kelas terlatih</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Mengganti bobot (1,2,3,4)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Optimum tetap (1,2,3,4)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Aturan linear pada simpleks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argmax(W·p + b), 20 parameter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0,4744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Di bawah ordinal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Model fondasi tabular</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TabPFN v2 pada GPU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tidak selesai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85 menit per bag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Ambang batas per segmen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A8442A"/>
                          </a:solidFill>
                          <a:latin typeface="Calibri" pitchFamily="34" charset="0"/>
                          <a:ea typeface="Calibri" pitchFamily="34" charset="-122"/>
                          <a:cs typeface="Calibri" pitchFamily="34" charset="-120"/>
                        </a:rPr>
                        <a:t>Tahun, kesehatan, usia, silangannya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A8442A"/>
                          </a:solidFill>
                          <a:latin typeface="Calibri" pitchFamily="34" charset="0"/>
                          <a:ea typeface="Calibri" pitchFamily="34" charset="-122"/>
                          <a:cs typeface="Calibri" pitchFamily="34" charset="-120"/>
                        </a:rPr>
                        <a:t>tampak naik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Terbukti overfit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3"/>
          <p:cNvSpPr/>
          <p:nvPr/>
        </p:nvSpPr>
        <p:spPr>
          <a:xfrm>
            <a:off x="640080" y="5760720"/>
            <a:ext cx="10911535" cy="457200"/>
          </a:xfrm>
          <a:prstGeom prst="rect">
            <a:avLst/>
          </a:prstGeom>
          <a:noFill/>
          <a:ln/>
        </p:spPr>
        <p:txBody>
          <a:bodyPr wrap="square" lIns="0" tIns="0" rIns="0" bIns="0" rtlCol="0" anchor="ctr"/>
          <a:lstStyle/>
          <a:p>
            <a:pPr indent="0" marL="0">
              <a:buNone/>
            </a:pPr>
            <a:r>
              <a:rPr lang="en-US" sz="1100" i="1" dirty="0">
                <a:solidFill>
                  <a:srgbClr val="6E747C"/>
                </a:solidFill>
                <a:latin typeface="Calibri" pitchFamily="34" charset="0"/>
                <a:ea typeface="Calibri" pitchFamily="34" charset="-122"/>
                <a:cs typeface="Calibri" pitchFamily="34" charset="-120"/>
              </a:rPr>
              <a:t>78 kolom dapat direkonstruksi di atas 95% akurat, lima di antaranya sempurna. Memulihkan seluruh sel yang hilang tidak menaikkan QWK sama sekali: yang dipulihkan adalah redundansi, bukan sinyal.</a:t>
            </a:r>
            <a:endParaRPr lang="en-US" sz="1100" dirty="0"/>
          </a:p>
        </p:txBody>
      </p:sp>
      <p:sp>
        <p:nvSpPr>
          <p:cNvPr id="8" name="Shape 4"/>
          <p:cNvSpPr/>
          <p:nvPr/>
        </p:nvSpPr>
        <p:spPr>
          <a:xfrm>
            <a:off x="640080" y="6400800"/>
            <a:ext cx="1572768" cy="45720"/>
          </a:xfrm>
          <a:prstGeom prst="rect">
            <a:avLst/>
          </a:prstGeom>
          <a:solidFill>
            <a:srgbClr val="DCD8D1"/>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18" name="Shape 14"/>
          <p:cNvSpPr/>
          <p:nvPr/>
        </p:nvSpPr>
        <p:spPr>
          <a:xfrm>
            <a:off x="8961120" y="6400800"/>
            <a:ext cx="1572768" cy="45720"/>
          </a:xfrm>
          <a:prstGeom prst="rect">
            <a:avLst/>
          </a:prstGeom>
          <a:solidFill>
            <a:srgbClr val="A8442A"/>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A.3</a:t>
            </a:r>
            <a:endParaRPr lang="en-US" sz="1050" dirty="0"/>
          </a:p>
        </p:txBody>
      </p:sp>
      <p:sp>
        <p:nvSpPr>
          <p:cNvPr id="3" name="Text 1"/>
          <p:cNvSpPr/>
          <p:nvPr/>
        </p:nvSpPr>
        <p:spPr>
          <a:xfrm>
            <a:off x="640080" y="877824"/>
            <a:ext cx="10911535" cy="548640"/>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Daftar pustaka.</a:t>
            </a:r>
            <a:endParaRPr lang="en-US" sz="2800" dirty="0"/>
          </a:p>
        </p:txBody>
      </p:sp>
      <p:sp>
        <p:nvSpPr>
          <p:cNvPr id="4" name="Text 2"/>
          <p:cNvSpPr/>
          <p:nvPr/>
        </p:nvSpPr>
        <p:spPr>
          <a:xfrm>
            <a:off x="640080" y="162763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Chen, T., &amp; Guestrin, C. (2016). XGBoost: A scalable tree boosting system. Proceedings of KDD 2016.</a:t>
            </a:r>
            <a:endParaRPr lang="en-US" sz="1050" dirty="0"/>
          </a:p>
        </p:txBody>
      </p:sp>
      <p:sp>
        <p:nvSpPr>
          <p:cNvPr id="5" name="Text 3"/>
          <p:cNvSpPr/>
          <p:nvPr/>
        </p:nvSpPr>
        <p:spPr>
          <a:xfrm>
            <a:off x="640080" y="195681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Cohen, J. (1968). Weighted kappa: Nominal scale agreement with provision for scaled disagreement or partial credit. Psychological Bulletin, 70(4).</a:t>
            </a:r>
            <a:endParaRPr lang="en-US" sz="1050" dirty="0"/>
          </a:p>
        </p:txBody>
      </p:sp>
      <p:sp>
        <p:nvSpPr>
          <p:cNvPr id="6" name="Text 4"/>
          <p:cNvSpPr/>
          <p:nvPr/>
        </p:nvSpPr>
        <p:spPr>
          <a:xfrm>
            <a:off x="640080" y="228600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Efron, B. (1979). Bootstrap methods: Another look at the jackknife. The Annals of Statistics, 7(1).</a:t>
            </a:r>
            <a:endParaRPr lang="en-US" sz="1050" dirty="0"/>
          </a:p>
        </p:txBody>
      </p:sp>
      <p:sp>
        <p:nvSpPr>
          <p:cNvPr id="7" name="Text 5"/>
          <p:cNvSpPr/>
          <p:nvPr/>
        </p:nvSpPr>
        <p:spPr>
          <a:xfrm>
            <a:off x="640080" y="261518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Frank, E., &amp; Hall, M. (2001). A simple approach to ordinal classification. ECML 2001, LNCS 2167.</a:t>
            </a:r>
            <a:endParaRPr lang="en-US" sz="1050" dirty="0"/>
          </a:p>
        </p:txBody>
      </p:sp>
      <p:sp>
        <p:nvSpPr>
          <p:cNvPr id="8" name="Text 6"/>
          <p:cNvSpPr/>
          <p:nvPr/>
        </p:nvSpPr>
        <p:spPr>
          <a:xfrm>
            <a:off x="640080" y="2944368"/>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Friedman, J. H. (2001). Greedy function approximation: A gradient boosting machine. The Annals of Statistics, 29(5).</a:t>
            </a:r>
            <a:endParaRPr lang="en-US" sz="1050" dirty="0"/>
          </a:p>
        </p:txBody>
      </p:sp>
      <p:sp>
        <p:nvSpPr>
          <p:cNvPr id="9" name="Text 7"/>
          <p:cNvSpPr/>
          <p:nvPr/>
        </p:nvSpPr>
        <p:spPr>
          <a:xfrm>
            <a:off x="640080" y="327355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Huber, P. J. (1964). Robust estimation of a location parameter. The Annals of Mathematical Statistics, 35(1).</a:t>
            </a:r>
            <a:endParaRPr lang="en-US" sz="1050" dirty="0"/>
          </a:p>
        </p:txBody>
      </p:sp>
      <p:sp>
        <p:nvSpPr>
          <p:cNvPr id="10" name="Text 8"/>
          <p:cNvSpPr/>
          <p:nvPr/>
        </p:nvSpPr>
        <p:spPr>
          <a:xfrm>
            <a:off x="640080" y="360273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Kahneman, D., &amp; Deaton, A. (2010). High income improves evaluation of life but not emotional well-being. PNAS, 107(38).</a:t>
            </a:r>
            <a:endParaRPr lang="en-US" sz="1050" dirty="0"/>
          </a:p>
        </p:txBody>
      </p:sp>
      <p:sp>
        <p:nvSpPr>
          <p:cNvPr id="11" name="Text 9"/>
          <p:cNvSpPr/>
          <p:nvPr/>
        </p:nvSpPr>
        <p:spPr>
          <a:xfrm>
            <a:off x="640080" y="393192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Ke, G., dkk. (2017). LightGBM: A highly efficient gradient boosting decision tree. NeurIPS 2017.</a:t>
            </a:r>
            <a:endParaRPr lang="en-US" sz="1050" dirty="0"/>
          </a:p>
        </p:txBody>
      </p:sp>
      <p:sp>
        <p:nvSpPr>
          <p:cNvPr id="12" name="Text 10"/>
          <p:cNvSpPr/>
          <p:nvPr/>
        </p:nvSpPr>
        <p:spPr>
          <a:xfrm>
            <a:off x="640080" y="426110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Landis, J. R., &amp; Koch, G. G. (1977). The measurement of observer agreement for categorical data. Biometrics, 33(1).</a:t>
            </a:r>
            <a:endParaRPr lang="en-US" sz="1050" dirty="0"/>
          </a:p>
        </p:txBody>
      </p:sp>
      <p:sp>
        <p:nvSpPr>
          <p:cNvPr id="13" name="Text 11"/>
          <p:cNvSpPr/>
          <p:nvPr/>
        </p:nvSpPr>
        <p:spPr>
          <a:xfrm>
            <a:off x="640080" y="4590288"/>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Lykken, D., &amp; Tellegen, A. (1996). Happiness is a stochastic phenomenon. Psychological Science, 7(3).</a:t>
            </a:r>
            <a:endParaRPr lang="en-US" sz="1050" dirty="0"/>
          </a:p>
        </p:txBody>
      </p:sp>
      <p:sp>
        <p:nvSpPr>
          <p:cNvPr id="14" name="Text 12"/>
          <p:cNvSpPr/>
          <p:nvPr/>
        </p:nvSpPr>
        <p:spPr>
          <a:xfrm>
            <a:off x="640080" y="491947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OECD. (2013). OECD Guidelines on Measuring Subjective Well-being. OECD Publishing, Paris.</a:t>
            </a:r>
            <a:endParaRPr lang="en-US" sz="1050" dirty="0"/>
          </a:p>
        </p:txBody>
      </p:sp>
      <p:sp>
        <p:nvSpPr>
          <p:cNvPr id="15" name="Text 13"/>
          <p:cNvSpPr/>
          <p:nvPr/>
        </p:nvSpPr>
        <p:spPr>
          <a:xfrm>
            <a:off x="640080" y="524865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Prokhorenkova, L., dkk. (2018). CatBoost: Unbiased boosting with categorical features. NeurIPS 2018.</a:t>
            </a:r>
            <a:endParaRPr lang="en-US" sz="1050" dirty="0"/>
          </a:p>
        </p:txBody>
      </p:sp>
      <p:sp>
        <p:nvSpPr>
          <p:cNvPr id="16" name="Text 14"/>
          <p:cNvSpPr/>
          <p:nvPr/>
        </p:nvSpPr>
        <p:spPr>
          <a:xfrm>
            <a:off x="640080" y="557784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Wolpert, D. H. (1992). Stacked generalization. Neural Networks, 5(2).</a:t>
            </a:r>
            <a:endParaRPr lang="en-US" sz="1050" dirty="0"/>
          </a:p>
        </p:txBody>
      </p:sp>
      <p:sp>
        <p:nvSpPr>
          <p:cNvPr id="17" name="Text 15"/>
          <p:cNvSpPr/>
          <p:nvPr/>
        </p:nvSpPr>
        <p:spPr>
          <a:xfrm>
            <a:off x="640080" y="590702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World Health Organization. (2023). Depressive disorder (depression), fact sheet.</a:t>
            </a:r>
            <a:endParaRPr lang="en-US" sz="1050" dirty="0"/>
          </a:p>
        </p:txBody>
      </p:sp>
      <p:sp>
        <p:nvSpPr>
          <p:cNvPr id="19" name="Shape 16"/>
          <p:cNvSpPr/>
          <p:nvPr/>
        </p:nvSpPr>
        <p:spPr>
          <a:xfrm>
            <a:off x="640080" y="6400800"/>
            <a:ext cx="1572768" cy="45720"/>
          </a:xfrm>
          <a:prstGeom prst="rect">
            <a:avLst/>
          </a:prstGeom>
          <a:solidFill>
            <a:srgbClr val="DCD8D1"/>
          </a:solidFill>
          <a:ln/>
        </p:spPr>
      </p:sp>
      <p:sp>
        <p:nvSpPr>
          <p:cNvPr id="20" name="Text 1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Latar &amp; data</a:t>
            </a:r>
            <a:endParaRPr lang="en-US" sz="850" dirty="0"/>
          </a:p>
        </p:txBody>
      </p:sp>
      <p:sp>
        <p:nvSpPr>
          <p:cNvPr id="21" name="Shape 18"/>
          <p:cNvSpPr/>
          <p:nvPr/>
        </p:nvSpPr>
        <p:spPr>
          <a:xfrm>
            <a:off x="2304288" y="6400800"/>
            <a:ext cx="1572768" cy="45720"/>
          </a:xfrm>
          <a:prstGeom prst="rect">
            <a:avLst/>
          </a:prstGeom>
          <a:solidFill>
            <a:srgbClr val="DCD8D1"/>
          </a:solidFill>
          <a:ln/>
        </p:spPr>
      </p:sp>
      <p:sp>
        <p:nvSpPr>
          <p:cNvPr id="22" name="Text 1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EDA</a:t>
            </a:r>
            <a:endParaRPr lang="en-US" sz="850" dirty="0"/>
          </a:p>
        </p:txBody>
      </p:sp>
      <p:sp>
        <p:nvSpPr>
          <p:cNvPr id="23" name="Shape 20"/>
          <p:cNvSpPr/>
          <p:nvPr/>
        </p:nvSpPr>
        <p:spPr>
          <a:xfrm>
            <a:off x="3968496" y="6400800"/>
            <a:ext cx="1572768" cy="45720"/>
          </a:xfrm>
          <a:prstGeom prst="rect">
            <a:avLst/>
          </a:prstGeom>
          <a:solidFill>
            <a:srgbClr val="DCD8D1"/>
          </a:solidFill>
          <a:ln/>
        </p:spPr>
      </p:sp>
      <p:sp>
        <p:nvSpPr>
          <p:cNvPr id="24" name="Text 2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Pipeline</a:t>
            </a:r>
            <a:endParaRPr lang="en-US" sz="850" dirty="0"/>
          </a:p>
        </p:txBody>
      </p:sp>
      <p:sp>
        <p:nvSpPr>
          <p:cNvPr id="25" name="Shape 22"/>
          <p:cNvSpPr/>
          <p:nvPr/>
        </p:nvSpPr>
        <p:spPr>
          <a:xfrm>
            <a:off x="5632704" y="6400800"/>
            <a:ext cx="1572768" cy="45720"/>
          </a:xfrm>
          <a:prstGeom prst="rect">
            <a:avLst/>
          </a:prstGeom>
          <a:solidFill>
            <a:srgbClr val="DCD8D1"/>
          </a:solidFill>
          <a:ln/>
        </p:spPr>
      </p:sp>
      <p:sp>
        <p:nvSpPr>
          <p:cNvPr id="26" name="Text 2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Disiplin estimasi</a:t>
            </a:r>
            <a:endParaRPr lang="en-US" sz="850" dirty="0"/>
          </a:p>
        </p:txBody>
      </p:sp>
      <p:sp>
        <p:nvSpPr>
          <p:cNvPr id="27" name="Shape 24"/>
          <p:cNvSpPr/>
          <p:nvPr/>
        </p:nvSpPr>
        <p:spPr>
          <a:xfrm>
            <a:off x="7296912" y="6400800"/>
            <a:ext cx="1572768" cy="45720"/>
          </a:xfrm>
          <a:prstGeom prst="rect">
            <a:avLst/>
          </a:prstGeom>
          <a:solidFill>
            <a:srgbClr val="DCD8D1"/>
          </a:solidFill>
          <a:ln/>
        </p:spPr>
      </p:sp>
      <p:sp>
        <p:nvSpPr>
          <p:cNvPr id="28" name="Text 2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Hasil &amp; plafon</a:t>
            </a:r>
            <a:endParaRPr lang="en-US" sz="850" dirty="0"/>
          </a:p>
        </p:txBody>
      </p:sp>
      <p:sp>
        <p:nvSpPr>
          <p:cNvPr id="29" name="Shape 26"/>
          <p:cNvSpPr/>
          <p:nvPr/>
        </p:nvSpPr>
        <p:spPr>
          <a:xfrm>
            <a:off x="8961120" y="6400800"/>
            <a:ext cx="1572768" cy="45720"/>
          </a:xfrm>
          <a:prstGeom prst="rect">
            <a:avLst/>
          </a:prstGeom>
          <a:solidFill>
            <a:srgbClr val="A8442A"/>
          </a:solidFill>
          <a:ln/>
        </p:spPr>
      </p:sp>
      <p:sp>
        <p:nvSpPr>
          <p:cNvPr id="30" name="Text 2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Reproduksi &amp; produk</a:t>
            </a:r>
            <a:endParaRPr lang="en-US" sz="85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Prediksi life_satisfaction dioptimalkan untuk Quadratic Weighted Kappa</dc:subject>
  <dc:creator>Tim Warkab</dc:creator>
  <cp:lastModifiedBy>Tim Warkab</cp:lastModifiedBy>
  <cp:revision>1</cp:revision>
  <dcterms:created xsi:type="dcterms:W3CDTF">2026-09-16T11:53:05Z</dcterms:created>
  <dcterms:modified xsi:type="dcterms:W3CDTF">2026-09-16T11:53:05Z</dcterms:modified>
</cp:coreProperties>
</file>