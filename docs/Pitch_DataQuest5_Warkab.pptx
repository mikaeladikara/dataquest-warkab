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charts/chart1.xml" ContentType="application/vnd.openxmlformats-officedocument.drawingml.chart+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QWK terukur</c:v>
                </c:pt>
              </c:strCache>
            </c:strRef>
          </c:tx>
          <c:spPr>
            <a:solidFill>
              <a:srgbClr val="A8442A"/>
            </a:solidFill>
            <a:ln w="27940" cap="flat">
              <a:solidFill>
                <a:srgbClr val="A8442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A8442A"/>
              </a:solidFill>
              <a:ln w="9525" cap="flat">
                <a:solidFill>
                  <a:srgbClr val="A8442A"/>
                </a:solidFill>
                <a:prstDash val="solid"/>
                <a:round/>
              </a:ln>
              <a:effectLst/>
            </c:spPr>
          </c:marker>
          <c:cat>
            <c:multiLvlStrRef>
              <c:f>Sheet1!$A$2:$A$6</c:f>
              <c:multiLvlStrCache>
                <c:ptCount val="5"/>
                <c:lvl>
                  <c:pt idx="0">
                    <c:v>11.473</c:v>
                  </c:pt>
                  <c:pt idx="1">
                    <c:v>23.902</c:v>
                  </c:pt>
                  <c:pt idx="2">
                    <c:v>43.024</c:v>
                  </c:pt>
                  <c:pt idx="3">
                    <c:v>66.926</c:v>
                  </c:pt>
                  <c:pt idx="4">
                    <c:v>95.609</c:v>
                  </c:pt>
                </c:lvl>
              </c:multiLvlStrCache>
            </c:multiLvlStrRef>
          </c:cat>
          <c:val>
            <c:numRef>
              <c:f>Sheet1!$B$2:$B$6</c:f>
              <c:numCache>
                <c:formatCode>General</c:formatCode>
                <c:ptCount val="5"/>
                <c:pt idx="0">
                  <c:v>0.43883</c:v>
                </c:pt>
                <c:pt idx="1">
                  <c:v>0.46162</c:v>
                </c:pt>
                <c:pt idx="2">
                  <c:v>0.46391</c:v>
                </c:pt>
                <c:pt idx="3">
                  <c:v>0.46911</c:v>
                </c:pt>
                <c:pt idx="4">
                  <c:v>0.47669</c:v>
                </c:pt>
              </c:numCache>
            </c:numRef>
          </c:val>
          <c:smooth val="0"/>
        </c:ser>
        <c:ser>
          <c:idx val="1"/>
          <c:order val="1"/>
          <c:tx>
            <c:strRef>
              <c:f>Sheet1!$C$1</c:f>
              <c:strCache>
                <c:ptCount val="1"/>
                <c:pt idx="0">
                  <c:v>model log</c:v>
                </c:pt>
              </c:strCache>
            </c:strRef>
          </c:tx>
          <c:spPr>
            <a:solidFill>
              <a:srgbClr val="3A4048"/>
            </a:solidFill>
            <a:ln w="27940" cap="flat">
              <a:solidFill>
                <a:srgbClr val="3A4048"/>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3A4048"/>
              </a:solidFill>
              <a:ln w="9525" cap="flat">
                <a:solidFill>
                  <a:srgbClr val="3A4048"/>
                </a:solidFill>
                <a:prstDash val="solid"/>
                <a:round/>
              </a:ln>
              <a:effectLst/>
            </c:spPr>
          </c:marker>
          <c:cat>
            <c:multiLvlStrRef>
              <c:f>Sheet1!$A$2:$A$6</c:f>
              <c:multiLvlStrCache>
                <c:ptCount val="5"/>
                <c:lvl>
                  <c:pt idx="0">
                    <c:v>11.473</c:v>
                  </c:pt>
                  <c:pt idx="1">
                    <c:v>23.902</c:v>
                  </c:pt>
                  <c:pt idx="2">
                    <c:v>43.024</c:v>
                  </c:pt>
                  <c:pt idx="3">
                    <c:v>66.926</c:v>
                  </c:pt>
                  <c:pt idx="4">
                    <c:v>95.609</c:v>
                  </c:pt>
                </c:lvl>
              </c:multiLvlStrCache>
            </c:multiLvlStrRef>
          </c:cat>
          <c:val>
            <c:numRef>
              <c:f>Sheet1!$C$2:$C$6</c:f>
              <c:numCache>
                <c:formatCode>General</c:formatCode>
                <c:ptCount val="5"/>
                <c:pt idx="0">
                  <c:v>0.44287</c:v>
                </c:pt>
                <c:pt idx="1">
                  <c:v>0.45471</c:v>
                </c:pt>
                <c:pt idx="2">
                  <c:v>0.46419</c:v>
                </c:pt>
                <c:pt idx="3">
                  <c:v>0.47132</c:v>
                </c:pt>
                <c:pt idx="4">
                  <c:v>0.47707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800" b="0" i="0" u="none" strike="noStrike">
                <a:solidFill>
                  <a:srgbClr val="3A4048"/>
                </a:solidFill>
                <a:latin typeface="Arial"/>
              </a:defRPr>
            </a:pPr>
            <a:endParaRPr lang="en-US"/>
          </a:p>
        </c:txPr>
        <c:crossAx val="2094734552"/>
        <c:crosses val="autoZero"/>
        <c:auto val="1"/>
        <c:lblAlgn val="ctr"/>
        <c:noMultiLvlLbl val="1"/>
      </c:catAx>
      <c:valAx>
        <c:axId val="2094734552"/>
        <c:scaling>
          <c:orientation val="minMax"/>
          <c:max val="0.485"/>
          <c:min val="0.43"/>
        </c:scaling>
        <c:delete val="0"/>
        <c:axPos val="l"/>
        <c:majorGridlines>
          <c:spPr>
            <a:ln w="6350" cap="flat">
              <a:solidFill>
                <a:srgbClr val="DCD8D1"/>
              </a:solidFill>
              <a:prstDash val="solid"/>
              <a:round/>
            </a:ln>
          </c:spPr>
        </c:majorGridlines>
        <c:numFmt formatCode="0.00"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E747C"/>
                </a:solidFill>
                <a:latin typeface="Arial"/>
              </a:defRPr>
            </a:pPr>
            <a:endParaRPr lang="en-US"/>
          </a:p>
        </c:txPr>
        <c:crossAx val="2094734554"/>
        <c:crosses val="autoZero"/>
        <c:crossBetween val="between"/>
        <c:majorUnit val="0.01"/>
      </c:valAx>
      <c:spPr>
        <a:solidFill>
          <a:srgbClr val="F4F1EC"/>
        </a:solidFill>
        <a:ln>
          <a:noFill/>
        </a:ln>
        <a:effectLst/>
      </c:spPr>
    </c:plotArea>
    <c:legend>
      <c:legendPos val="b"/>
      <c:overlay val="0"/>
      <c:txPr>
        <a:bodyPr/>
        <a:lstStyle/>
        <a:p>
          <a:pPr>
            <a:defRPr sz="850">
              <a:solidFill>
                <a:srgbClr val="3A4048"/>
              </a:solidFill>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Perkenalkan tim dan target dalam dua kalimat. Distribusi di kanan cukup satu kalimat: dua kelas terbawah hanya 4,7 persen dari data, dan merekalah yang menentukan skor.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Ini kail presentasi. Berhenti sejenak setelah judulnya, biarkan angkanya bekerja. Lima puluh persen akurasi terdengar setengah benar, tetapi Quadratic Weighted Kappa menilainya nol.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Buka dengan konteks: kepuasan hidup adalah ukuran kesejahteraan resmi OECD, dan kelas tidak puas berkaitan dengan beban kesehatan mental yang besar. Ketiga sumber ini hanya kerangka berpikir, tidak dipakai sebagai data latih sesuai pasal B.1.a. Di kanan, tekankan tiga hal: skalanya ordinal, seluruh kolom sudah numerik, dan id di berkas uji tidak unik sehingga submission harus 23.666 baris.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Matriks penalti adalah metrik kompetisi apa adanya: diagonal nol, penalti tumbuh kuadratik. Nilai harapan adalah penduga yang meminimalkan galat kuadratik, jadi ini konsekuensi teori keputusan, bukan trik. Ambang muncul karena keluaran harus berupa label diskret. Implementasi QWK sendiri dibuat karena pencarian ambang butuh puluhan ribu evaluasi, dan selisih 4,44 kali 10 pangkat minus 16 berarti identik secara numerik dengan scikit-learn.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Ini jembatan antara latar belakang dan metodologi. Empat akar ini tidak dikarang setelah hasil keluar, masing-masing punya angka di kolom kedua. Setelah slide ini, sebut bahwa sisa presentasi adalah membuktikan kolom ketiga.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Tiga temuan dalam satu napas. Target: 893 responden kelas 4 hanya 0,93 persen, tetapi satu galat 4 ke 1 berbobot sembilan. Kosong: kolom tertinggi adalah pertanyaan bersyarat, misalnya kehamilan, jadi kosongnya terstruktur. Kode 7, 8, 9: muncul sebagai angka biasa di kolom berisi 1 dan 2, sehingga mudah disalahbaca sebagai nilai ordinal besar.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Monoton: angka 0,96 pada general_health_status berarti hampir satu kelas penuh bergeser dari satu pertanyaan. Tersebar: kondisi ini menguntungkan pohon dengan banyak percabangan dangkal, dan menjelaskan kenapa seleksi fitur tidak membantu. Stabil: kalau hubungan fitur dan target bergeser antar tahun, validasi acak akan menyembunyikannya, jadi kami memeriksanya lebih dulu.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Domain: urutan ini sejalan dengan literatur kesejahteraan subjektif. Kotak gelap adalah argumen substantif untuk plafon, bukan alasan. Jebakan rumah tangga adalah kebocoran semu yang paling menggoda: terlihat brilian, tetapi liftnya hanya 1,6 poin dan model teralihkan sinyal nyaris nol.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Ini tulang punggung metodologi kami dan slide yang paling layak diberi waktu. Bacakan dua atau tiga baris saja, lalu katakan bahwa sepuluh baris ini adalah seluruh isi babak EDA dalam satu halaman. Kolom kanan adalah daftar keputusan yang akan dijalankan di babak berikutnya.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Kolom dasar di tabel adalah yang membedakan ini dari daftar langkah biasa. Ablasi: membuat fitur komposit terlihat rajin, membuangnya setelah terbukti tidak membantu adalah yang sulit. Hasilnya: matriks 95.609 kali 176 untuk pohon, dan versi ternormalisasi kuantil untuk MLP.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Selisih presisi mesin berarti kedua implementasi identik. Seed dipisah antara pembagian fold dan inisialisasi model, sehingga sensitivitas keduanya bisa diuji terpisah, dan itu kami lakukan di slide reproduksibilitas.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Kolom sudut pandang adalah alasan tiap model ada. ord memecah empat kelas menjadi tiga pertanyaan biner, y lebih dari 1, 2, 3, lalu menyusunnya kembali menjadi distribusi yang valid dan monoton. Konvergensi lima model pohon dalam 0,00267 adalah petunjuk pertama analisis plafon.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Memilih kombinasi dari skor OOF tertinggi adalah titik paling rawan di pipeline mana pun. Kami menetapkan pilihan dengan argumen tentang sifat penduga. Bahwa pilihan itu juga tertinggi adalah bonus, bukan dasarnya. Grid t3 paling jarang karena rentang wajarnya paling sempit dan sampelnya paling sedikit.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yang paling mungkin ditanya juri. Akurasi dan QWK mengukur hal berbeda. Tim yang mengoptimalkan akurasi akan sistematis tertinggal di papan peringkat meskipun modelnya sama persis. 0,06269 dibagi total perbaikan dari baseline 4 ke 6, yaitu 0,06977, memberi 89,9 persen.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Studi lima strategi 23,7 menit, split-half 19 menit. Korelasi 20 konfigurasi sempat tampak informatif ketika strategi pencocokan distribusi ikut dihitung, tetapi seluruhnya digerakkan satu strategi yang jelas buruk. Ini alasan struktural kenapa kombinasi dan ambang ditetapkan di muka. Kalau juri bertanya kegagalan terbesar, jawabannya ambang per segmen, dan kami menemukannya sebelum data uji menemukannya.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Baca matriks konfusi dari sudut penalti: dua pojok terjauh tinggal 60 dan 140 baris dari 95 ribu. Peta penalti menjawab ke mana memperbaiki, dan jawabannya ke tempat yang tidak bisa diperbaiki, yaitu kebingungan dua kelas teratas. Dengan argmax, prediksi kelas 4 hanya 0,02 persen dari seluruh label.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Pemeriksaan subkelompok penting kalau model dipakai untuk penapisan populasi. Permutation importance mengonfirmasi EDA dari arah berbeda: mencabut fitur teratas pun hanya menurunkan QWK 0,09 dari acuan 0,84. Angka Lykken dan Tellegen adalah konteks, bukan batas atas QWK yang presisi, jadi ucapkan sebagai konsisten, bukan sebagai bukti.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Kecocokan logaritmik R kuadrat 0,914 pada rentang data hampir sepuluh kali lipat adalah tanda kurva belajar di wilayah pengembalian menurun. Derau dihitung dari matriks konfusi kami sendiri: ambil irisan acak seukuran papan skor publik, hitung QWK, ulangi 400 kali. Ini konteks untuk membaca papan skor, bukan alasan.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Uji seed menjawab apakah hasil bergantung pada pembagian data yang kebetulan menguntungkan: rentang 0,00029. Pasal D bernilai tiga puluh persen penilaian, dan submission kami dihasilkan pada eksekusi yang sama dengan berkas model. Menyebut keterbatasan lebih dulu adalah cara tercepat menutup tanya jawab.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Buka alatnya dan geser t3 di depan juri; jumlah orang tertangkap berubah seketika. Ambang batas bukan konsep abstrak melainkan tuas kebijakan yang bisa diputar sesuai kapasitas petugas. Angka 4,7 persen sudah ada di laporan mana pun; yang belum ada adalah daftar terurut siapa saja, dan nilai harapan memberi urutan itu secara alami.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Saran ketiga adalah yang paling berani dan paling jujur. Kami mengatakan kepada juri bahwa selisih peringkat kami sendiri terhadap peringkat di sekitarnya sebaiknya tidak dibaca sebagai selisih kualitas. Itu konsisten dengan seluruh isi babak plafon.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Tutup dengan tiga angka itu saja. Lalu buka sesi tanya jawab dan siapkan dua slide lampiran berikutnya, karena di situlah daftar eksperimen yang ditolak berada.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cadangan untuk tanya jawab. Kalau juri bertanya apakah kami sudah mencoba sesuatu, kemungkinan besar jawabannya ada di sini beserta nomor bagian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Seluruh pustaka dipakai sebagai landasan metode dan konteks. Tidak ada data dari sumber ini yang masuk ke pelatihan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2" Type="http://schemas.openxmlformats.org/officeDocument/2006/relationships/hyperlink" Target="https://lifescope-mikaeladikara-5555s-projects.vercel.app" TargetMode="External"/><Relationship Id="rId1" Type="http://schemas.openxmlformats.org/officeDocument/2006/relationships/image" Target="../media/image-20-1.png"/><Relationship Id="rId3" Type="http://schemas.openxmlformats.org/officeDocument/2006/relationships/slideLayout" Target="../slideLayouts/slideLayout1.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hyperlink" Target="https://lifescope-mikaeladikara-5555s-projects.vercel.app" TargetMode="External"/><Relationship Id="rId2" Type="http://schemas.openxmlformats.org/officeDocument/2006/relationships/hyperlink" Target="https://github.com/MikaelAdikara/DataQuest-Warkab" TargetMode="External"/><Relationship Id="rId3" Type="http://schemas.openxmlformats.org/officeDocument/2006/relationships/slideLayout" Target="../slideLayouts/slideLayout1.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191D"/>
        </a:solidFill>
      </p:bgPr>
    </p:bg>
    <p:spTree>
      <p:nvGrpSpPr>
        <p:cNvPr id="1" name=""/>
        <p:cNvGrpSpPr/>
        <p:nvPr/>
      </p:nvGrpSpPr>
      <p:grpSpPr>
        <a:xfrm>
          <a:off x="0" y="0"/>
          <a:ext cx="0" cy="0"/>
          <a:chOff x="0" y="0"/>
          <a:chExt cx="0" cy="0"/>
        </a:xfrm>
      </p:grpSpPr>
      <p:sp>
        <p:nvSpPr>
          <p:cNvPr id="2" name="Text 0"/>
          <p:cNvSpPr/>
          <p:nvPr/>
        </p:nvSpPr>
        <p:spPr>
          <a:xfrm>
            <a:off x="640080" y="731520"/>
            <a:ext cx="7315200" cy="274320"/>
          </a:xfrm>
          <a:prstGeom prst="rect">
            <a:avLst/>
          </a:prstGeom>
          <a:noFill/>
          <a:ln/>
        </p:spPr>
        <p:txBody>
          <a:bodyPr wrap="square" lIns="0" tIns="0" rIns="0" bIns="0" rtlCol="0" anchor="ctr"/>
          <a:lstStyle/>
          <a:p>
            <a:pPr indent="0" marL="0">
              <a:buNone/>
            </a:pPr>
            <a:r>
              <a:rPr lang="en-US" sz="1050" b="1" spc="150" kern="0" dirty="0">
                <a:solidFill>
                  <a:srgbClr val="8FB0A4"/>
                </a:solidFill>
                <a:latin typeface="Calibri" pitchFamily="34" charset="0"/>
                <a:ea typeface="Calibri" pitchFamily="34" charset="-122"/>
                <a:cs typeface="Calibri" pitchFamily="34" charset="-120"/>
              </a:rPr>
              <a:t>TIM WARKAB   ·   OBJECTIVE QUEST DATAQUEST 5.0</a:t>
            </a:r>
            <a:endParaRPr lang="en-US" sz="1050" dirty="0"/>
          </a:p>
        </p:txBody>
      </p:sp>
      <p:sp>
        <p:nvSpPr>
          <p:cNvPr id="3" name="Text 1"/>
          <p:cNvSpPr/>
          <p:nvPr/>
        </p:nvSpPr>
        <p:spPr>
          <a:xfrm>
            <a:off x="640080" y="1280160"/>
            <a:ext cx="6766560" cy="1920240"/>
          </a:xfrm>
          <a:prstGeom prst="rect">
            <a:avLst/>
          </a:prstGeom>
          <a:noFill/>
          <a:ln/>
        </p:spPr>
        <p:txBody>
          <a:bodyPr wrap="square" lIns="0" tIns="0" rIns="0" bIns="0" rtlCol="0" anchor="t"/>
          <a:lstStyle/>
          <a:p>
            <a:pPr indent="0" marL="0">
              <a:lnSpc>
                <a:spcPts val="5500"/>
              </a:lnSpc>
              <a:buNone/>
            </a:pPr>
            <a:r>
              <a:rPr lang="en-US" sz="4800" b="1" dirty="0">
                <a:solidFill>
                  <a:srgbClr val="FFFFFF"/>
                </a:solidFill>
                <a:latin typeface="Cambria" pitchFamily="34" charset="0"/>
                <a:ea typeface="Cambria" pitchFamily="34" charset="-122"/>
                <a:cs typeface="Cambria" pitchFamily="34" charset="-120"/>
              </a:rPr>
              <a:t>Membaca Skala,</a:t>
            </a:r>
            <a:endParaRPr lang="en-US" sz="4800" dirty="0"/>
          </a:p>
          <a:p>
            <a:pPr indent="0" marL="0">
              <a:lnSpc>
                <a:spcPts val="5500"/>
              </a:lnSpc>
              <a:buNone/>
            </a:pPr>
            <a:r>
              <a:rPr lang="en-US" sz="4800" b="1" dirty="0">
                <a:solidFill>
                  <a:srgbClr val="FFFFFF"/>
                </a:solidFill>
                <a:latin typeface="Cambria" pitchFamily="34" charset="0"/>
                <a:ea typeface="Cambria" pitchFamily="34" charset="-122"/>
                <a:cs typeface="Cambria" pitchFamily="34" charset="-120"/>
              </a:rPr>
              <a:t>Bukan Menebak Kelas</a:t>
            </a:r>
            <a:endParaRPr lang="en-US" sz="4800" dirty="0"/>
          </a:p>
        </p:txBody>
      </p:sp>
      <p:sp>
        <p:nvSpPr>
          <p:cNvPr id="4" name="Text 2"/>
          <p:cNvSpPr/>
          <p:nvPr/>
        </p:nvSpPr>
        <p:spPr>
          <a:xfrm>
            <a:off x="640080" y="3346704"/>
            <a:ext cx="6583680" cy="457200"/>
          </a:xfrm>
          <a:prstGeom prst="rect">
            <a:avLst/>
          </a:prstGeom>
          <a:noFill/>
          <a:ln/>
        </p:spPr>
        <p:txBody>
          <a:bodyPr wrap="square" lIns="0" tIns="0" rIns="0" bIns="0" rtlCol="0" anchor="ctr"/>
          <a:lstStyle/>
          <a:p>
            <a:pPr indent="0" marL="0">
              <a:buNone/>
            </a:pPr>
            <a:r>
              <a:rPr lang="en-US" sz="1500" dirty="0">
                <a:solidFill>
                  <a:srgbClr val="9AA0A7"/>
                </a:solidFill>
                <a:latin typeface="Calibri" pitchFamily="34" charset="0"/>
                <a:ea typeface="Calibri" pitchFamily="34" charset="-122"/>
                <a:cs typeface="Calibri" pitchFamily="34" charset="-120"/>
              </a:rPr>
              <a:t>Prediksi kepuasan hidup dari 176 variabel survei, dirancang untuk satu metrik.</a:t>
            </a:r>
            <a:endParaRPr lang="en-US" sz="1500" dirty="0"/>
          </a:p>
        </p:txBody>
      </p:sp>
      <p:sp>
        <p:nvSpPr>
          <p:cNvPr id="5" name="Text 3"/>
          <p:cNvSpPr/>
          <p:nvPr/>
        </p:nvSpPr>
        <p:spPr>
          <a:xfrm>
            <a:off x="8138160" y="1280160"/>
            <a:ext cx="3429000" cy="274320"/>
          </a:xfrm>
          <a:prstGeom prst="rect">
            <a:avLst/>
          </a:prstGeom>
          <a:noFill/>
          <a:ln/>
        </p:spPr>
        <p:txBody>
          <a:bodyPr wrap="square" lIns="0" tIns="0" rIns="0" bIns="0" rtlCol="0" anchor="ctr"/>
          <a:lstStyle/>
          <a:p>
            <a:pPr indent="0" marL="0">
              <a:buNone/>
            </a:pPr>
            <a:r>
              <a:rPr lang="en-US" sz="1050" b="1" spc="150" kern="0" dirty="0">
                <a:solidFill>
                  <a:srgbClr val="8FB0A4"/>
                </a:solidFill>
                <a:latin typeface="Calibri" pitchFamily="34" charset="0"/>
                <a:ea typeface="Calibri" pitchFamily="34" charset="-122"/>
                <a:cs typeface="Calibri" pitchFamily="34" charset="-120"/>
              </a:rPr>
              <a:t>DISTRIBUSI TARGET · 95.609 BARIS LATIH</a:t>
            </a:r>
            <a:endParaRPr lang="en-US" sz="1050" dirty="0"/>
          </a:p>
        </p:txBody>
      </p:sp>
      <p:sp>
        <p:nvSpPr>
          <p:cNvPr id="6" name="Shape 4"/>
          <p:cNvSpPr/>
          <p:nvPr/>
        </p:nvSpPr>
        <p:spPr>
          <a:xfrm>
            <a:off x="8138160" y="1664208"/>
            <a:ext cx="3429000" cy="201168"/>
          </a:xfrm>
          <a:prstGeom prst="rect">
            <a:avLst/>
          </a:prstGeom>
          <a:solidFill>
            <a:srgbClr val="2A2F36"/>
          </a:solidFill>
          <a:ln/>
        </p:spPr>
      </p:sp>
      <p:sp>
        <p:nvSpPr>
          <p:cNvPr id="7" name="Shape 5"/>
          <p:cNvSpPr/>
          <p:nvPr/>
        </p:nvSpPr>
        <p:spPr>
          <a:xfrm>
            <a:off x="8138160" y="1664208"/>
            <a:ext cx="1540993" cy="201168"/>
          </a:xfrm>
          <a:prstGeom prst="rect">
            <a:avLst/>
          </a:prstGeom>
          <a:solidFill>
            <a:srgbClr val="2F6B5F"/>
          </a:solidFill>
          <a:ln/>
        </p:spPr>
      </p:sp>
      <p:sp>
        <p:nvSpPr>
          <p:cNvPr id="8" name="Text 6"/>
          <p:cNvSpPr/>
          <p:nvPr/>
        </p:nvSpPr>
        <p:spPr>
          <a:xfrm>
            <a:off x="8138160" y="1883664"/>
            <a:ext cx="2057400" cy="237744"/>
          </a:xfrm>
          <a:prstGeom prst="rect">
            <a:avLst/>
          </a:prstGeom>
          <a:noFill/>
          <a:ln/>
        </p:spPr>
        <p:txBody>
          <a:bodyPr wrap="square" lIns="0" tIns="0" rIns="0" bIns="0" rtlCol="0" anchor="ctr"/>
          <a:lstStyle/>
          <a:p>
            <a:pPr indent="0" marL="0">
              <a:buNone/>
            </a:pPr>
            <a:r>
              <a:rPr lang="en-US" sz="1000" dirty="0">
                <a:solidFill>
                  <a:srgbClr val="FFFFFF"/>
                </a:solidFill>
                <a:latin typeface="Calibri" pitchFamily="34" charset="0"/>
                <a:ea typeface="Calibri" pitchFamily="34" charset="-122"/>
                <a:cs typeface="Calibri" pitchFamily="34" charset="-120"/>
              </a:rPr>
              <a:t>1 · Sangat puas</a:t>
            </a:r>
            <a:endParaRPr lang="en-US" sz="1000" dirty="0"/>
          </a:p>
        </p:txBody>
      </p:sp>
      <p:sp>
        <p:nvSpPr>
          <p:cNvPr id="9" name="Text 7"/>
          <p:cNvSpPr/>
          <p:nvPr/>
        </p:nvSpPr>
        <p:spPr>
          <a:xfrm>
            <a:off x="10195560" y="1883664"/>
            <a:ext cx="1371600" cy="237744"/>
          </a:xfrm>
          <a:prstGeom prst="rect">
            <a:avLst/>
          </a:prstGeom>
          <a:noFill/>
          <a:ln/>
        </p:spPr>
        <p:txBody>
          <a:bodyPr wrap="square" lIns="0" tIns="0" rIns="0" bIns="0" rtlCol="0" anchor="ctr"/>
          <a:lstStyle/>
          <a:p>
            <a:pPr algn="r" indent="0" marL="0">
              <a:buNone/>
            </a:pPr>
            <a:r>
              <a:rPr lang="en-US" sz="1000" dirty="0">
                <a:solidFill>
                  <a:srgbClr val="9AA0A7"/>
                </a:solidFill>
                <a:latin typeface="Calibri" pitchFamily="34" charset="0"/>
                <a:ea typeface="Calibri" pitchFamily="34" charset="-122"/>
                <a:cs typeface="Calibri" pitchFamily="34" charset="-120"/>
              </a:rPr>
              <a:t>42.968</a:t>
            </a:r>
            <a:endParaRPr lang="en-US" sz="1000" dirty="0"/>
          </a:p>
        </p:txBody>
      </p:sp>
      <p:sp>
        <p:nvSpPr>
          <p:cNvPr id="10" name="Shape 8"/>
          <p:cNvSpPr/>
          <p:nvPr/>
        </p:nvSpPr>
        <p:spPr>
          <a:xfrm>
            <a:off x="8138160" y="2304288"/>
            <a:ext cx="3429000" cy="201168"/>
          </a:xfrm>
          <a:prstGeom prst="rect">
            <a:avLst/>
          </a:prstGeom>
          <a:solidFill>
            <a:srgbClr val="2A2F36"/>
          </a:solidFill>
          <a:ln/>
        </p:spPr>
      </p:sp>
      <p:sp>
        <p:nvSpPr>
          <p:cNvPr id="11" name="Shape 9"/>
          <p:cNvSpPr/>
          <p:nvPr/>
        </p:nvSpPr>
        <p:spPr>
          <a:xfrm>
            <a:off x="8138160" y="2304288"/>
            <a:ext cx="1728216" cy="201168"/>
          </a:xfrm>
          <a:prstGeom prst="rect">
            <a:avLst/>
          </a:prstGeom>
          <a:solidFill>
            <a:srgbClr val="8FB0A4"/>
          </a:solidFill>
          <a:ln/>
        </p:spPr>
      </p:sp>
      <p:sp>
        <p:nvSpPr>
          <p:cNvPr id="12" name="Text 10"/>
          <p:cNvSpPr/>
          <p:nvPr/>
        </p:nvSpPr>
        <p:spPr>
          <a:xfrm>
            <a:off x="8138160" y="2523744"/>
            <a:ext cx="2057400" cy="237744"/>
          </a:xfrm>
          <a:prstGeom prst="rect">
            <a:avLst/>
          </a:prstGeom>
          <a:noFill/>
          <a:ln/>
        </p:spPr>
        <p:txBody>
          <a:bodyPr wrap="square" lIns="0" tIns="0" rIns="0" bIns="0" rtlCol="0" anchor="ctr"/>
          <a:lstStyle/>
          <a:p>
            <a:pPr indent="0" marL="0">
              <a:buNone/>
            </a:pPr>
            <a:r>
              <a:rPr lang="en-US" sz="1000" dirty="0">
                <a:solidFill>
                  <a:srgbClr val="FFFFFF"/>
                </a:solidFill>
                <a:latin typeface="Calibri" pitchFamily="34" charset="0"/>
                <a:ea typeface="Calibri" pitchFamily="34" charset="-122"/>
                <a:cs typeface="Calibri" pitchFamily="34" charset="-120"/>
              </a:rPr>
              <a:t>2 · Puas</a:t>
            </a:r>
            <a:endParaRPr lang="en-US" sz="1000" dirty="0"/>
          </a:p>
        </p:txBody>
      </p:sp>
      <p:sp>
        <p:nvSpPr>
          <p:cNvPr id="13" name="Text 11"/>
          <p:cNvSpPr/>
          <p:nvPr/>
        </p:nvSpPr>
        <p:spPr>
          <a:xfrm>
            <a:off x="10195560" y="2523744"/>
            <a:ext cx="1371600" cy="237744"/>
          </a:xfrm>
          <a:prstGeom prst="rect">
            <a:avLst/>
          </a:prstGeom>
          <a:noFill/>
          <a:ln/>
        </p:spPr>
        <p:txBody>
          <a:bodyPr wrap="square" lIns="0" tIns="0" rIns="0" bIns="0" rtlCol="0" anchor="ctr"/>
          <a:lstStyle/>
          <a:p>
            <a:pPr algn="r" indent="0" marL="0">
              <a:buNone/>
            </a:pPr>
            <a:r>
              <a:rPr lang="en-US" sz="1000" dirty="0">
                <a:solidFill>
                  <a:srgbClr val="9AA0A7"/>
                </a:solidFill>
                <a:latin typeface="Calibri" pitchFamily="34" charset="0"/>
                <a:ea typeface="Calibri" pitchFamily="34" charset="-122"/>
                <a:cs typeface="Calibri" pitchFamily="34" charset="-120"/>
              </a:rPr>
              <a:t>48.189</a:t>
            </a:r>
            <a:endParaRPr lang="en-US" sz="1000" dirty="0"/>
          </a:p>
        </p:txBody>
      </p:sp>
      <p:sp>
        <p:nvSpPr>
          <p:cNvPr id="14" name="Shape 12"/>
          <p:cNvSpPr/>
          <p:nvPr/>
        </p:nvSpPr>
        <p:spPr>
          <a:xfrm>
            <a:off x="8138160" y="2944368"/>
            <a:ext cx="3429000" cy="201168"/>
          </a:xfrm>
          <a:prstGeom prst="rect">
            <a:avLst/>
          </a:prstGeom>
          <a:solidFill>
            <a:srgbClr val="2A2F36"/>
          </a:solidFill>
          <a:ln/>
        </p:spPr>
      </p:sp>
      <p:sp>
        <p:nvSpPr>
          <p:cNvPr id="15" name="Shape 13"/>
          <p:cNvSpPr/>
          <p:nvPr/>
        </p:nvSpPr>
        <p:spPr>
          <a:xfrm>
            <a:off x="8138160" y="2944368"/>
            <a:ext cx="127559" cy="201168"/>
          </a:xfrm>
          <a:prstGeom prst="rect">
            <a:avLst/>
          </a:prstGeom>
          <a:solidFill>
            <a:srgbClr val="D8A25E"/>
          </a:solidFill>
          <a:ln/>
        </p:spPr>
      </p:sp>
      <p:sp>
        <p:nvSpPr>
          <p:cNvPr id="16" name="Text 14"/>
          <p:cNvSpPr/>
          <p:nvPr/>
        </p:nvSpPr>
        <p:spPr>
          <a:xfrm>
            <a:off x="8138160" y="3163824"/>
            <a:ext cx="2057400" cy="237744"/>
          </a:xfrm>
          <a:prstGeom prst="rect">
            <a:avLst/>
          </a:prstGeom>
          <a:noFill/>
          <a:ln/>
        </p:spPr>
        <p:txBody>
          <a:bodyPr wrap="square" lIns="0" tIns="0" rIns="0" bIns="0" rtlCol="0" anchor="ctr"/>
          <a:lstStyle/>
          <a:p>
            <a:pPr indent="0" marL="0">
              <a:buNone/>
            </a:pPr>
            <a:r>
              <a:rPr lang="en-US" sz="1000" dirty="0">
                <a:solidFill>
                  <a:srgbClr val="FFFFFF"/>
                </a:solidFill>
                <a:latin typeface="Calibri" pitchFamily="34" charset="0"/>
                <a:ea typeface="Calibri" pitchFamily="34" charset="-122"/>
                <a:cs typeface="Calibri" pitchFamily="34" charset="-120"/>
              </a:rPr>
              <a:t>3 · Tidak puas</a:t>
            </a:r>
            <a:endParaRPr lang="en-US" sz="1000" dirty="0"/>
          </a:p>
        </p:txBody>
      </p:sp>
      <p:sp>
        <p:nvSpPr>
          <p:cNvPr id="17" name="Text 15"/>
          <p:cNvSpPr/>
          <p:nvPr/>
        </p:nvSpPr>
        <p:spPr>
          <a:xfrm>
            <a:off x="10195560" y="3163824"/>
            <a:ext cx="1371600" cy="237744"/>
          </a:xfrm>
          <a:prstGeom prst="rect">
            <a:avLst/>
          </a:prstGeom>
          <a:noFill/>
          <a:ln/>
        </p:spPr>
        <p:txBody>
          <a:bodyPr wrap="square" lIns="0" tIns="0" rIns="0" bIns="0" rtlCol="0" anchor="ctr"/>
          <a:lstStyle/>
          <a:p>
            <a:pPr algn="r" indent="0" marL="0">
              <a:buNone/>
            </a:pPr>
            <a:r>
              <a:rPr lang="en-US" sz="1000" dirty="0">
                <a:solidFill>
                  <a:srgbClr val="9AA0A7"/>
                </a:solidFill>
                <a:latin typeface="Calibri" pitchFamily="34" charset="0"/>
                <a:ea typeface="Calibri" pitchFamily="34" charset="-122"/>
                <a:cs typeface="Calibri" pitchFamily="34" charset="-120"/>
              </a:rPr>
              <a:t>3.559</a:t>
            </a:r>
            <a:endParaRPr lang="en-US" sz="1000" dirty="0"/>
          </a:p>
        </p:txBody>
      </p:sp>
      <p:sp>
        <p:nvSpPr>
          <p:cNvPr id="18" name="Shape 16"/>
          <p:cNvSpPr/>
          <p:nvPr/>
        </p:nvSpPr>
        <p:spPr>
          <a:xfrm>
            <a:off x="8138160" y="3584448"/>
            <a:ext cx="3429000" cy="201168"/>
          </a:xfrm>
          <a:prstGeom prst="rect">
            <a:avLst/>
          </a:prstGeom>
          <a:solidFill>
            <a:srgbClr val="2A2F36"/>
          </a:solidFill>
          <a:ln/>
        </p:spPr>
      </p:sp>
      <p:sp>
        <p:nvSpPr>
          <p:cNvPr id="19" name="Shape 17"/>
          <p:cNvSpPr/>
          <p:nvPr/>
        </p:nvSpPr>
        <p:spPr>
          <a:xfrm>
            <a:off x="8138160" y="3584448"/>
            <a:ext cx="36576" cy="201168"/>
          </a:xfrm>
          <a:prstGeom prst="rect">
            <a:avLst/>
          </a:prstGeom>
          <a:solidFill>
            <a:srgbClr val="A8442A"/>
          </a:solidFill>
          <a:ln/>
        </p:spPr>
      </p:sp>
      <p:sp>
        <p:nvSpPr>
          <p:cNvPr id="20" name="Text 18"/>
          <p:cNvSpPr/>
          <p:nvPr/>
        </p:nvSpPr>
        <p:spPr>
          <a:xfrm>
            <a:off x="8138160" y="3803904"/>
            <a:ext cx="2057400" cy="237744"/>
          </a:xfrm>
          <a:prstGeom prst="rect">
            <a:avLst/>
          </a:prstGeom>
          <a:noFill/>
          <a:ln/>
        </p:spPr>
        <p:txBody>
          <a:bodyPr wrap="square" lIns="0" tIns="0" rIns="0" bIns="0" rtlCol="0" anchor="ctr"/>
          <a:lstStyle/>
          <a:p>
            <a:pPr indent="0" marL="0">
              <a:buNone/>
            </a:pPr>
            <a:r>
              <a:rPr lang="en-US" sz="1000" dirty="0">
                <a:solidFill>
                  <a:srgbClr val="FFFFFF"/>
                </a:solidFill>
                <a:latin typeface="Calibri" pitchFamily="34" charset="0"/>
                <a:ea typeface="Calibri" pitchFamily="34" charset="-122"/>
                <a:cs typeface="Calibri" pitchFamily="34" charset="-120"/>
              </a:rPr>
              <a:t>4 · Sangat tidak puas</a:t>
            </a:r>
            <a:endParaRPr lang="en-US" sz="1000" dirty="0"/>
          </a:p>
        </p:txBody>
      </p:sp>
      <p:sp>
        <p:nvSpPr>
          <p:cNvPr id="21" name="Text 19"/>
          <p:cNvSpPr/>
          <p:nvPr/>
        </p:nvSpPr>
        <p:spPr>
          <a:xfrm>
            <a:off x="10195560" y="3803904"/>
            <a:ext cx="1371600" cy="237744"/>
          </a:xfrm>
          <a:prstGeom prst="rect">
            <a:avLst/>
          </a:prstGeom>
          <a:noFill/>
          <a:ln/>
        </p:spPr>
        <p:txBody>
          <a:bodyPr wrap="square" lIns="0" tIns="0" rIns="0" bIns="0" rtlCol="0" anchor="ctr"/>
          <a:lstStyle/>
          <a:p>
            <a:pPr algn="r" indent="0" marL="0">
              <a:buNone/>
            </a:pPr>
            <a:r>
              <a:rPr lang="en-US" sz="1000" dirty="0">
                <a:solidFill>
                  <a:srgbClr val="9AA0A7"/>
                </a:solidFill>
                <a:latin typeface="Calibri" pitchFamily="34" charset="0"/>
                <a:ea typeface="Calibri" pitchFamily="34" charset="-122"/>
                <a:cs typeface="Calibri" pitchFamily="34" charset="-120"/>
              </a:rPr>
              <a:t>893</a:t>
            </a:r>
            <a:endParaRPr lang="en-US" sz="1000" dirty="0"/>
          </a:p>
        </p:txBody>
      </p:sp>
      <p:sp>
        <p:nvSpPr>
          <p:cNvPr id="22" name="Shape 20"/>
          <p:cNvSpPr/>
          <p:nvPr/>
        </p:nvSpPr>
        <p:spPr>
          <a:xfrm>
            <a:off x="640080" y="5212080"/>
            <a:ext cx="10908792" cy="0"/>
          </a:xfrm>
          <a:prstGeom prst="line">
            <a:avLst/>
          </a:prstGeom>
          <a:noFill/>
          <a:ln w="12700">
            <a:solidFill>
              <a:srgbClr val="3A4048"/>
            </a:solidFill>
            <a:prstDash val="solid"/>
          </a:ln>
        </p:spPr>
      </p:sp>
      <p:sp>
        <p:nvSpPr>
          <p:cNvPr id="23" name="Text 21"/>
          <p:cNvSpPr/>
          <p:nvPr/>
        </p:nvSpPr>
        <p:spPr>
          <a:xfrm>
            <a:off x="640080" y="5431536"/>
            <a:ext cx="2103120" cy="402336"/>
          </a:xfrm>
          <a:prstGeom prst="rect">
            <a:avLst/>
          </a:prstGeom>
          <a:noFill/>
          <a:ln/>
        </p:spPr>
        <p:txBody>
          <a:bodyPr wrap="square" lIns="0" tIns="0" rIns="0" bIns="0" rtlCol="0" anchor="b"/>
          <a:lstStyle/>
          <a:p>
            <a:pPr algn="l" indent="0" marL="0">
              <a:buNone/>
            </a:pPr>
            <a:r>
              <a:rPr lang="en-US" sz="2300" b="1" dirty="0">
                <a:solidFill>
                  <a:srgbClr val="FFFFFF"/>
                </a:solidFill>
                <a:latin typeface="Cambria" pitchFamily="34" charset="0"/>
                <a:ea typeface="Cambria" pitchFamily="34" charset="-122"/>
                <a:cs typeface="Cambria" pitchFamily="34" charset="-120"/>
              </a:rPr>
              <a:t>0,48425</a:t>
            </a:r>
            <a:endParaRPr lang="en-US" sz="2300" dirty="0"/>
          </a:p>
        </p:txBody>
      </p:sp>
      <p:sp>
        <p:nvSpPr>
          <p:cNvPr id="24" name="Text 22"/>
          <p:cNvSpPr/>
          <p:nvPr/>
        </p:nvSpPr>
        <p:spPr>
          <a:xfrm>
            <a:off x="640080" y="5870448"/>
            <a:ext cx="2103120" cy="420624"/>
          </a:xfrm>
          <a:prstGeom prst="rect">
            <a:avLst/>
          </a:prstGeom>
          <a:noFill/>
          <a:ln/>
        </p:spPr>
        <p:txBody>
          <a:bodyPr wrap="square" lIns="0" tIns="0" rIns="0" bIns="0" rtlCol="0" anchor="t"/>
          <a:lstStyle/>
          <a:p>
            <a:pPr algn="l" indent="0" marL="0">
              <a:lnSpc>
                <a:spcPts val="1300"/>
              </a:lnSpc>
              <a:buNone/>
            </a:pPr>
            <a:r>
              <a:rPr lang="en-US" sz="1000" dirty="0">
                <a:solidFill>
                  <a:srgbClr val="9AA0A7"/>
                </a:solidFill>
                <a:latin typeface="Calibri" pitchFamily="34" charset="0"/>
                <a:ea typeface="Calibri" pitchFamily="34" charset="-122"/>
                <a:cs typeface="Calibri" pitchFamily="34" charset="-120"/>
              </a:rPr>
              <a:t>QWK out-of-fold</a:t>
            </a:r>
            <a:endParaRPr lang="en-US" sz="1000" dirty="0"/>
          </a:p>
        </p:txBody>
      </p:sp>
      <p:sp>
        <p:nvSpPr>
          <p:cNvPr id="25" name="Text 23"/>
          <p:cNvSpPr/>
          <p:nvPr/>
        </p:nvSpPr>
        <p:spPr>
          <a:xfrm>
            <a:off x="2852928" y="5431536"/>
            <a:ext cx="2103120" cy="402336"/>
          </a:xfrm>
          <a:prstGeom prst="rect">
            <a:avLst/>
          </a:prstGeom>
          <a:noFill/>
          <a:ln/>
        </p:spPr>
        <p:txBody>
          <a:bodyPr wrap="square" lIns="0" tIns="0" rIns="0" bIns="0" rtlCol="0" anchor="b"/>
          <a:lstStyle/>
          <a:p>
            <a:pPr algn="l" indent="0" marL="0">
              <a:buNone/>
            </a:pPr>
            <a:r>
              <a:rPr lang="en-US" sz="2300" b="1" dirty="0">
                <a:solidFill>
                  <a:srgbClr val="FFFFFF"/>
                </a:solidFill>
                <a:latin typeface="Cambria" pitchFamily="34" charset="0"/>
                <a:ea typeface="Cambria" pitchFamily="34" charset="-122"/>
                <a:cs typeface="Cambria" pitchFamily="34" charset="-120"/>
              </a:rPr>
              <a:t>6</a:t>
            </a:r>
            <a:endParaRPr lang="en-US" sz="2300" dirty="0"/>
          </a:p>
        </p:txBody>
      </p:sp>
      <p:sp>
        <p:nvSpPr>
          <p:cNvPr id="26" name="Text 24"/>
          <p:cNvSpPr/>
          <p:nvPr/>
        </p:nvSpPr>
        <p:spPr>
          <a:xfrm>
            <a:off x="2852928" y="5870448"/>
            <a:ext cx="2103120" cy="420624"/>
          </a:xfrm>
          <a:prstGeom prst="rect">
            <a:avLst/>
          </a:prstGeom>
          <a:noFill/>
          <a:ln/>
        </p:spPr>
        <p:txBody>
          <a:bodyPr wrap="square" lIns="0" tIns="0" rIns="0" bIns="0" rtlCol="0" anchor="t"/>
          <a:lstStyle/>
          <a:p>
            <a:pPr algn="l" indent="0" marL="0">
              <a:lnSpc>
                <a:spcPts val="1300"/>
              </a:lnSpc>
              <a:buNone/>
            </a:pPr>
            <a:r>
              <a:rPr lang="en-US" sz="1000" dirty="0">
                <a:solidFill>
                  <a:srgbClr val="9AA0A7"/>
                </a:solidFill>
                <a:latin typeface="Calibri" pitchFamily="34" charset="0"/>
                <a:ea typeface="Calibri" pitchFamily="34" charset="-122"/>
                <a:cs typeface="Calibri" pitchFamily="34" charset="-120"/>
              </a:rPr>
              <a:t>Keluarga algoritma</a:t>
            </a:r>
            <a:endParaRPr lang="en-US" sz="1000" dirty="0"/>
          </a:p>
        </p:txBody>
      </p:sp>
      <p:sp>
        <p:nvSpPr>
          <p:cNvPr id="27" name="Text 25"/>
          <p:cNvSpPr/>
          <p:nvPr/>
        </p:nvSpPr>
        <p:spPr>
          <a:xfrm>
            <a:off x="5065776" y="5431536"/>
            <a:ext cx="2103120" cy="402336"/>
          </a:xfrm>
          <a:prstGeom prst="rect">
            <a:avLst/>
          </a:prstGeom>
          <a:noFill/>
          <a:ln/>
        </p:spPr>
        <p:txBody>
          <a:bodyPr wrap="square" lIns="0" tIns="0" rIns="0" bIns="0" rtlCol="0" anchor="b"/>
          <a:lstStyle/>
          <a:p>
            <a:pPr algn="l" indent="0" marL="0">
              <a:buNone/>
            </a:pPr>
            <a:r>
              <a:rPr lang="en-US" sz="2300" b="1" dirty="0">
                <a:solidFill>
                  <a:srgbClr val="FFFFFF"/>
                </a:solidFill>
                <a:latin typeface="Cambria" pitchFamily="34" charset="0"/>
                <a:ea typeface="Cambria" pitchFamily="34" charset="-122"/>
                <a:cs typeface="Cambria" pitchFamily="34" charset="-120"/>
              </a:rPr>
              <a:t>176</a:t>
            </a:r>
            <a:endParaRPr lang="en-US" sz="2300" dirty="0"/>
          </a:p>
        </p:txBody>
      </p:sp>
      <p:sp>
        <p:nvSpPr>
          <p:cNvPr id="28" name="Text 26"/>
          <p:cNvSpPr/>
          <p:nvPr/>
        </p:nvSpPr>
        <p:spPr>
          <a:xfrm>
            <a:off x="5065776" y="5870448"/>
            <a:ext cx="2103120" cy="420624"/>
          </a:xfrm>
          <a:prstGeom prst="rect">
            <a:avLst/>
          </a:prstGeom>
          <a:noFill/>
          <a:ln/>
        </p:spPr>
        <p:txBody>
          <a:bodyPr wrap="square" lIns="0" tIns="0" rIns="0" bIns="0" rtlCol="0" anchor="t"/>
          <a:lstStyle/>
          <a:p>
            <a:pPr algn="l" indent="0" marL="0">
              <a:lnSpc>
                <a:spcPts val="1300"/>
              </a:lnSpc>
              <a:buNone/>
            </a:pPr>
            <a:r>
              <a:rPr lang="en-US" sz="1000" dirty="0">
                <a:solidFill>
                  <a:srgbClr val="9AA0A7"/>
                </a:solidFill>
                <a:latin typeface="Calibri" pitchFamily="34" charset="0"/>
                <a:ea typeface="Calibri" pitchFamily="34" charset="-122"/>
                <a:cs typeface="Calibri" pitchFamily="34" charset="-120"/>
              </a:rPr>
              <a:t>Fitur mentah</a:t>
            </a:r>
            <a:endParaRPr lang="en-US" sz="1000" dirty="0"/>
          </a:p>
        </p:txBody>
      </p:sp>
      <p:sp>
        <p:nvSpPr>
          <p:cNvPr id="29" name="Text 27"/>
          <p:cNvSpPr/>
          <p:nvPr/>
        </p:nvSpPr>
        <p:spPr>
          <a:xfrm>
            <a:off x="7278624" y="5431536"/>
            <a:ext cx="2103120" cy="402336"/>
          </a:xfrm>
          <a:prstGeom prst="rect">
            <a:avLst/>
          </a:prstGeom>
          <a:noFill/>
          <a:ln/>
        </p:spPr>
        <p:txBody>
          <a:bodyPr wrap="square" lIns="0" tIns="0" rIns="0" bIns="0" rtlCol="0" anchor="b"/>
          <a:lstStyle/>
          <a:p>
            <a:pPr algn="l" indent="0" marL="0">
              <a:buNone/>
            </a:pPr>
            <a:r>
              <a:rPr lang="en-US" sz="2300" b="1" dirty="0">
                <a:solidFill>
                  <a:srgbClr val="FFFFFF"/>
                </a:solidFill>
                <a:latin typeface="Cambria" pitchFamily="34" charset="0"/>
                <a:ea typeface="Cambria" pitchFamily="34" charset="-122"/>
                <a:cs typeface="Cambria" pitchFamily="34" charset="-120"/>
              </a:rPr>
              <a:t>42</a:t>
            </a:r>
            <a:endParaRPr lang="en-US" sz="2300" dirty="0"/>
          </a:p>
        </p:txBody>
      </p:sp>
      <p:sp>
        <p:nvSpPr>
          <p:cNvPr id="30" name="Text 28"/>
          <p:cNvSpPr/>
          <p:nvPr/>
        </p:nvSpPr>
        <p:spPr>
          <a:xfrm>
            <a:off x="7278624" y="5870448"/>
            <a:ext cx="2103120" cy="420624"/>
          </a:xfrm>
          <a:prstGeom prst="rect">
            <a:avLst/>
          </a:prstGeom>
          <a:noFill/>
          <a:ln/>
        </p:spPr>
        <p:txBody>
          <a:bodyPr wrap="square" lIns="0" tIns="0" rIns="0" bIns="0" rtlCol="0" anchor="t"/>
          <a:lstStyle/>
          <a:p>
            <a:pPr algn="l" indent="0" marL="0">
              <a:lnSpc>
                <a:spcPts val="1300"/>
              </a:lnSpc>
              <a:buNone/>
            </a:pPr>
            <a:r>
              <a:rPr lang="en-US" sz="1000" dirty="0">
                <a:solidFill>
                  <a:srgbClr val="9AA0A7"/>
                </a:solidFill>
                <a:latin typeface="Calibri" pitchFamily="34" charset="0"/>
                <a:ea typeface="Calibri" pitchFamily="34" charset="-122"/>
                <a:cs typeface="Calibri" pitchFamily="34" charset="-120"/>
              </a:rPr>
              <a:t>Seed, dikunci</a:t>
            </a:r>
            <a:endParaRPr lang="en-US" sz="1000" dirty="0"/>
          </a:p>
        </p:txBody>
      </p:sp>
      <p:sp>
        <p:nvSpPr>
          <p:cNvPr id="31" name="Text 29"/>
          <p:cNvSpPr/>
          <p:nvPr/>
        </p:nvSpPr>
        <p:spPr>
          <a:xfrm>
            <a:off x="9491472" y="5431536"/>
            <a:ext cx="2103120" cy="402336"/>
          </a:xfrm>
          <a:prstGeom prst="rect">
            <a:avLst/>
          </a:prstGeom>
          <a:noFill/>
          <a:ln/>
        </p:spPr>
        <p:txBody>
          <a:bodyPr wrap="square" lIns="0" tIns="0" rIns="0" bIns="0" rtlCol="0" anchor="b"/>
          <a:lstStyle/>
          <a:p>
            <a:pPr algn="l" indent="0" marL="0">
              <a:buNone/>
            </a:pPr>
            <a:r>
              <a:rPr lang="en-US" sz="2300" b="1" dirty="0">
                <a:solidFill>
                  <a:srgbClr val="FFFFFF"/>
                </a:solidFill>
                <a:latin typeface="Cambria" pitchFamily="34" charset="0"/>
                <a:ea typeface="Cambria" pitchFamily="34" charset="-122"/>
                <a:cs typeface="Cambria" pitchFamily="34" charset="-120"/>
              </a:rPr>
              <a:t>0</a:t>
            </a:r>
            <a:endParaRPr lang="en-US" sz="2300" dirty="0"/>
          </a:p>
        </p:txBody>
      </p:sp>
      <p:sp>
        <p:nvSpPr>
          <p:cNvPr id="32" name="Text 30"/>
          <p:cNvSpPr/>
          <p:nvPr/>
        </p:nvSpPr>
        <p:spPr>
          <a:xfrm>
            <a:off x="9491472" y="5870448"/>
            <a:ext cx="2103120" cy="420624"/>
          </a:xfrm>
          <a:prstGeom prst="rect">
            <a:avLst/>
          </a:prstGeom>
          <a:noFill/>
          <a:ln/>
        </p:spPr>
        <p:txBody>
          <a:bodyPr wrap="square" lIns="0" tIns="0" rIns="0" bIns="0" rtlCol="0" anchor="t"/>
          <a:lstStyle/>
          <a:p>
            <a:pPr algn="l" indent="0" marL="0">
              <a:lnSpc>
                <a:spcPts val="1300"/>
              </a:lnSpc>
              <a:buNone/>
            </a:pPr>
            <a:r>
              <a:rPr lang="en-US" sz="1000" dirty="0">
                <a:solidFill>
                  <a:srgbClr val="9AA0A7"/>
                </a:solidFill>
                <a:latin typeface="Calibri" pitchFamily="34" charset="0"/>
                <a:ea typeface="Calibri" pitchFamily="34" charset="-122"/>
                <a:cs typeface="Calibri" pitchFamily="34" charset="-120"/>
              </a:rPr>
              <a:t>Baris data eksternal</a:t>
            </a:r>
            <a:endParaRPr lang="en-US" sz="1000" dirty="0"/>
          </a:p>
        </p:txBody>
      </p:sp>
      <p:sp>
        <p:nvSpPr>
          <p:cNvPr id="34" name="Text 31"/>
          <p:cNvSpPr/>
          <p:nvPr/>
        </p:nvSpPr>
        <p:spPr>
          <a:xfrm>
            <a:off x="640080" y="6382512"/>
            <a:ext cx="7315200" cy="274320"/>
          </a:xfrm>
          <a:prstGeom prst="rect">
            <a:avLst/>
          </a:prstGeom>
          <a:noFill/>
          <a:ln/>
        </p:spPr>
        <p:txBody>
          <a:bodyPr wrap="square" lIns="0" tIns="0" rIns="0" bIns="0" rtlCol="0" anchor="ctr"/>
          <a:lstStyle/>
          <a:p>
            <a:pPr indent="0" marL="0">
              <a:buNone/>
            </a:pPr>
            <a:r>
              <a:rPr lang="en-US" sz="900" dirty="0">
                <a:solidFill>
                  <a:srgbClr val="9AA0A7"/>
                </a:solidFill>
                <a:latin typeface="Calibri" pitchFamily="34" charset="0"/>
                <a:ea typeface="Calibri" pitchFamily="34" charset="-122"/>
                <a:cs typeface="Calibri" pitchFamily="34" charset="-120"/>
              </a:rPr>
              <a:t>Tim Warkab  ·  DataQuest 5.0  ·  life_satisfaction / QWK</a:t>
            </a:r>
            <a:endParaRPr lang="en-US" sz="900" dirty="0"/>
          </a:p>
        </p:txBody>
      </p:sp>
      <p:sp>
        <p:nvSpPr>
          <p:cNvPr id="35" name="Text 32"/>
          <p:cNvSpPr/>
          <p:nvPr/>
        </p:nvSpPr>
        <p:spPr>
          <a:xfrm>
            <a:off x="10637215" y="6382512"/>
            <a:ext cx="914400" cy="274320"/>
          </a:xfrm>
          <a:prstGeom prst="rect">
            <a:avLst/>
          </a:prstGeom>
          <a:noFill/>
          <a:ln/>
        </p:spPr>
        <p:txBody>
          <a:bodyPr wrap="square" lIns="0" tIns="0" rIns="0" bIns="0" rtlCol="0" anchor="ctr"/>
          <a:lstStyle/>
          <a:p>
            <a:pPr algn="r" indent="0" marL="0">
              <a:buNone/>
            </a:pPr>
            <a:r>
              <a:rPr lang="en-US" sz="900" b="1" dirty="0">
                <a:solidFill>
                  <a:srgbClr val="9AA0A7"/>
                </a:solidFill>
                <a:latin typeface="Calibri" pitchFamily="34" charset="0"/>
                <a:ea typeface="Calibri" pitchFamily="34" charset="-122"/>
                <a:cs typeface="Calibri"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6191D"/>
        </a:solidFill>
      </p:bgPr>
    </p:bg>
    <p:spTree>
      <p:nvGrpSpPr>
        <p:cNvPr id="1" name=""/>
        <p:cNvGrpSpPr/>
        <p:nvPr/>
      </p:nvGrpSpPr>
      <p:grpSpPr>
        <a:xfrm>
          <a:off x="0" y="0"/>
          <a:ext cx="0" cy="0"/>
          <a:chOff x="0" y="0"/>
          <a:chExt cx="0" cy="0"/>
        </a:xfrm>
      </p:grpSpPr>
      <p:sp>
        <p:nvSpPr>
          <p:cNvPr id="2" name="Text 0"/>
          <p:cNvSpPr/>
          <p:nvPr/>
        </p:nvSpPr>
        <p:spPr>
          <a:xfrm>
            <a:off x="640080" y="713232"/>
            <a:ext cx="5486400" cy="274320"/>
          </a:xfrm>
          <a:prstGeom prst="rect">
            <a:avLst/>
          </a:prstGeom>
          <a:noFill/>
          <a:ln/>
        </p:spPr>
        <p:txBody>
          <a:bodyPr wrap="square" lIns="0" tIns="0" rIns="0" bIns="0" rtlCol="0" anchor="ctr"/>
          <a:lstStyle/>
          <a:p>
            <a:pPr indent="0" marL="0">
              <a:buNone/>
            </a:pPr>
            <a:r>
              <a:rPr lang="en-US" sz="1050" b="1" spc="150" kern="0" dirty="0">
                <a:solidFill>
                  <a:srgbClr val="8FB0A4"/>
                </a:solidFill>
                <a:latin typeface="Calibri" pitchFamily="34" charset="0"/>
                <a:ea typeface="Calibri" pitchFamily="34" charset="-122"/>
                <a:cs typeface="Calibri" pitchFamily="34" charset="-120"/>
              </a:rPr>
              <a:t>PARADOKS YANG MEMBUKA SEGALANYA</a:t>
            </a:r>
            <a:endParaRPr lang="en-US" sz="1050" dirty="0"/>
          </a:p>
        </p:txBody>
      </p:sp>
      <p:sp>
        <p:nvSpPr>
          <p:cNvPr id="3" name="Text 1"/>
          <p:cNvSpPr/>
          <p:nvPr/>
        </p:nvSpPr>
        <p:spPr>
          <a:xfrm>
            <a:off x="640080" y="1234440"/>
            <a:ext cx="5852160" cy="2651760"/>
          </a:xfrm>
          <a:prstGeom prst="rect">
            <a:avLst/>
          </a:prstGeom>
          <a:noFill/>
          <a:ln/>
        </p:spPr>
        <p:txBody>
          <a:bodyPr wrap="square" lIns="0" tIns="0" rIns="0" bIns="0" rtlCol="0" anchor="t"/>
          <a:lstStyle/>
          <a:p>
            <a:pPr indent="0" marL="0">
              <a:lnSpc>
                <a:spcPts val="4480"/>
              </a:lnSpc>
              <a:buNone/>
            </a:pPr>
            <a:r>
              <a:rPr lang="en-US" sz="4000" b="1" dirty="0">
                <a:solidFill>
                  <a:srgbClr val="FFFFFF"/>
                </a:solidFill>
                <a:latin typeface="Cambria" pitchFamily="34" charset="0"/>
                <a:ea typeface="Cambria" pitchFamily="34" charset="-122"/>
                <a:cs typeface="Cambria" pitchFamily="34" charset="-120"/>
              </a:rPr>
              <a:t>Tebakan teraman</a:t>
            </a:r>
            <a:endParaRPr lang="en-US" sz="4000" dirty="0"/>
          </a:p>
          <a:p>
            <a:pPr indent="0" marL="0">
              <a:lnSpc>
                <a:spcPts val="4480"/>
              </a:lnSpc>
              <a:buNone/>
            </a:pPr>
            <a:r>
              <a:rPr lang="en-US" sz="4000" b="1" dirty="0">
                <a:solidFill>
                  <a:srgbClr val="FFFFFF"/>
                </a:solidFill>
                <a:latin typeface="Cambria" pitchFamily="34" charset="0"/>
                <a:ea typeface="Cambria" pitchFamily="34" charset="-122"/>
                <a:cs typeface="Cambria" pitchFamily="34" charset="-120"/>
              </a:rPr>
              <a:t>di kompetisi ini</a:t>
            </a:r>
            <a:endParaRPr lang="en-US" sz="4000" dirty="0"/>
          </a:p>
          <a:p>
            <a:pPr indent="0" marL="0">
              <a:lnSpc>
                <a:spcPts val="4480"/>
              </a:lnSpc>
              <a:buNone/>
            </a:pPr>
            <a:r>
              <a:rPr lang="en-US" sz="4000" b="1" dirty="0">
                <a:solidFill>
                  <a:srgbClr val="FFFFFF"/>
                </a:solidFill>
                <a:latin typeface="Cambria" pitchFamily="34" charset="0"/>
                <a:ea typeface="Cambria" pitchFamily="34" charset="-122"/>
                <a:cs typeface="Cambria" pitchFamily="34" charset="-120"/>
              </a:rPr>
              <a:t>bernilai tepat nol.</a:t>
            </a:r>
            <a:endParaRPr lang="en-US" sz="4000" dirty="0"/>
          </a:p>
        </p:txBody>
      </p:sp>
      <p:sp>
        <p:nvSpPr>
          <p:cNvPr id="4" name="Shape 2"/>
          <p:cNvSpPr/>
          <p:nvPr/>
        </p:nvSpPr>
        <p:spPr>
          <a:xfrm>
            <a:off x="6720840" y="1371600"/>
            <a:ext cx="4830775" cy="2651760"/>
          </a:xfrm>
          <a:prstGeom prst="roundRect">
            <a:avLst>
              <a:gd name="adj" fmla="val 2069"/>
            </a:avLst>
          </a:prstGeom>
          <a:solidFill>
            <a:srgbClr val="20262C"/>
          </a:solidFill>
          <a:ln w="9525">
            <a:solidFill>
              <a:srgbClr val="20262C"/>
            </a:solidFill>
            <a:prstDash val="solid"/>
          </a:ln>
        </p:spPr>
      </p:sp>
      <p:sp>
        <p:nvSpPr>
          <p:cNvPr id="5" name="Text 3"/>
          <p:cNvSpPr/>
          <p:nvPr/>
        </p:nvSpPr>
        <p:spPr>
          <a:xfrm>
            <a:off x="7223760" y="1783080"/>
            <a:ext cx="3824935" cy="658368"/>
          </a:xfrm>
          <a:prstGeom prst="rect">
            <a:avLst/>
          </a:prstGeom>
          <a:noFill/>
          <a:ln/>
        </p:spPr>
        <p:txBody>
          <a:bodyPr wrap="square" lIns="0" tIns="0" rIns="0" bIns="0" rtlCol="0" anchor="b"/>
          <a:lstStyle/>
          <a:p>
            <a:pPr algn="l" indent="0" marL="0">
              <a:buNone/>
            </a:pPr>
            <a:r>
              <a:rPr lang="en-US" sz="4000" b="1" dirty="0">
                <a:solidFill>
                  <a:srgbClr val="FFFFFF"/>
                </a:solidFill>
                <a:latin typeface="Cambria" pitchFamily="34" charset="0"/>
                <a:ea typeface="Cambria" pitchFamily="34" charset="-122"/>
                <a:cs typeface="Cambria" pitchFamily="34" charset="-120"/>
              </a:rPr>
              <a:t>50,402%</a:t>
            </a:r>
            <a:endParaRPr lang="en-US" sz="4000" dirty="0"/>
          </a:p>
        </p:txBody>
      </p:sp>
      <p:sp>
        <p:nvSpPr>
          <p:cNvPr id="6" name="Text 4"/>
          <p:cNvSpPr/>
          <p:nvPr/>
        </p:nvSpPr>
        <p:spPr>
          <a:xfrm>
            <a:off x="7223760" y="2478024"/>
            <a:ext cx="3824935" cy="420624"/>
          </a:xfrm>
          <a:prstGeom prst="rect">
            <a:avLst/>
          </a:prstGeom>
          <a:noFill/>
          <a:ln/>
        </p:spPr>
        <p:txBody>
          <a:bodyPr wrap="square" lIns="0" tIns="0" rIns="0" bIns="0" rtlCol="0" anchor="t"/>
          <a:lstStyle/>
          <a:p>
            <a:pPr algn="l" indent="0" marL="0">
              <a:lnSpc>
                <a:spcPts val="1300"/>
              </a:lnSpc>
              <a:buNone/>
            </a:pPr>
            <a:r>
              <a:rPr lang="en-US" sz="1200" dirty="0">
                <a:solidFill>
                  <a:srgbClr val="9AA0A7"/>
                </a:solidFill>
                <a:latin typeface="Calibri" pitchFamily="34" charset="0"/>
                <a:ea typeface="Calibri" pitchFamily="34" charset="-122"/>
                <a:cs typeface="Calibri" pitchFamily="34" charset="-120"/>
              </a:rPr>
              <a:t>Akurasi bila menebak kelas mayoritas untuk semua orang</a:t>
            </a:r>
            <a:endParaRPr lang="en-US" sz="1200" dirty="0"/>
          </a:p>
        </p:txBody>
      </p:sp>
      <p:sp>
        <p:nvSpPr>
          <p:cNvPr id="7" name="Shape 5"/>
          <p:cNvSpPr/>
          <p:nvPr/>
        </p:nvSpPr>
        <p:spPr>
          <a:xfrm>
            <a:off x="7223760" y="2852928"/>
            <a:ext cx="3824935" cy="0"/>
          </a:xfrm>
          <a:prstGeom prst="line">
            <a:avLst/>
          </a:prstGeom>
          <a:noFill/>
          <a:ln w="12700">
            <a:solidFill>
              <a:srgbClr val="3A4048"/>
            </a:solidFill>
            <a:prstDash val="solid"/>
          </a:ln>
        </p:spPr>
      </p:sp>
      <p:sp>
        <p:nvSpPr>
          <p:cNvPr id="8" name="Text 6"/>
          <p:cNvSpPr/>
          <p:nvPr/>
        </p:nvSpPr>
        <p:spPr>
          <a:xfrm>
            <a:off x="7223760" y="3017520"/>
            <a:ext cx="3824935" cy="658368"/>
          </a:xfrm>
          <a:prstGeom prst="rect">
            <a:avLst/>
          </a:prstGeom>
          <a:noFill/>
          <a:ln/>
        </p:spPr>
        <p:txBody>
          <a:bodyPr wrap="square" lIns="0" tIns="0" rIns="0" bIns="0" rtlCol="0" anchor="b"/>
          <a:lstStyle/>
          <a:p>
            <a:pPr algn="l" indent="0" marL="0">
              <a:buNone/>
            </a:pPr>
            <a:r>
              <a:rPr lang="en-US" sz="4000" b="1" dirty="0">
                <a:solidFill>
                  <a:srgbClr val="A8442A"/>
                </a:solidFill>
                <a:latin typeface="Cambria" pitchFamily="34" charset="0"/>
                <a:ea typeface="Cambria" pitchFamily="34" charset="-122"/>
                <a:cs typeface="Cambria" pitchFamily="34" charset="-120"/>
              </a:rPr>
              <a:t>0,00000</a:t>
            </a:r>
            <a:endParaRPr lang="en-US" sz="4000" dirty="0"/>
          </a:p>
        </p:txBody>
      </p:sp>
      <p:sp>
        <p:nvSpPr>
          <p:cNvPr id="9" name="Text 7"/>
          <p:cNvSpPr/>
          <p:nvPr/>
        </p:nvSpPr>
        <p:spPr>
          <a:xfrm>
            <a:off x="7223760" y="3712464"/>
            <a:ext cx="3824935" cy="420624"/>
          </a:xfrm>
          <a:prstGeom prst="rect">
            <a:avLst/>
          </a:prstGeom>
          <a:noFill/>
          <a:ln/>
        </p:spPr>
        <p:txBody>
          <a:bodyPr wrap="square" lIns="0" tIns="0" rIns="0" bIns="0" rtlCol="0" anchor="t"/>
          <a:lstStyle/>
          <a:p>
            <a:pPr algn="l" indent="0" marL="0">
              <a:lnSpc>
                <a:spcPts val="1300"/>
              </a:lnSpc>
              <a:buNone/>
            </a:pPr>
            <a:r>
              <a:rPr lang="en-US" sz="1200" dirty="0">
                <a:solidFill>
                  <a:srgbClr val="9AA0A7"/>
                </a:solidFill>
                <a:latin typeface="Calibri" pitchFamily="34" charset="0"/>
                <a:ea typeface="Calibri" pitchFamily="34" charset="-122"/>
                <a:cs typeface="Calibri" pitchFamily="34" charset="-120"/>
              </a:rPr>
              <a:t>QWK untuk tebakan yang sama persis</a:t>
            </a:r>
            <a:endParaRPr lang="en-US" sz="1200" dirty="0"/>
          </a:p>
        </p:txBody>
      </p:sp>
      <p:sp>
        <p:nvSpPr>
          <p:cNvPr id="10" name="Text 8"/>
          <p:cNvSpPr/>
          <p:nvPr/>
        </p:nvSpPr>
        <p:spPr>
          <a:xfrm>
            <a:off x="640080" y="4526280"/>
            <a:ext cx="10607040" cy="548640"/>
          </a:xfrm>
          <a:prstGeom prst="rect">
            <a:avLst/>
          </a:prstGeom>
          <a:noFill/>
          <a:ln/>
        </p:spPr>
        <p:txBody>
          <a:bodyPr wrap="square" lIns="0" tIns="0" rIns="0" bIns="0" rtlCol="0" anchor="ctr"/>
          <a:lstStyle/>
          <a:p>
            <a:pPr indent="0" marL="0">
              <a:lnSpc>
                <a:spcPts val="2200"/>
              </a:lnSpc>
              <a:buNone/>
            </a:pPr>
            <a:r>
              <a:rPr lang="en-US" sz="1550" dirty="0">
                <a:solidFill>
                  <a:srgbClr val="9AA0A7"/>
                </a:solidFill>
                <a:latin typeface="Calibri" pitchFamily="34" charset="0"/>
                <a:ea typeface="Calibri" pitchFamily="34" charset="-122"/>
                <a:cs typeface="Calibri" pitchFamily="34" charset="-120"/>
              </a:rPr>
              <a:t>Metrik lomba ini tidak memberi imbalan pada tebakan aman. Seluruh strategi kami turun dari satu fakta itu.</a:t>
            </a:r>
            <a:endParaRPr lang="en-US" sz="1550" dirty="0"/>
          </a:p>
        </p:txBody>
      </p:sp>
      <p:sp>
        <p:nvSpPr>
          <p:cNvPr id="12" name="Text 9"/>
          <p:cNvSpPr/>
          <p:nvPr/>
        </p:nvSpPr>
        <p:spPr>
          <a:xfrm>
            <a:off x="640080" y="6382512"/>
            <a:ext cx="7315200" cy="274320"/>
          </a:xfrm>
          <a:prstGeom prst="rect">
            <a:avLst/>
          </a:prstGeom>
          <a:noFill/>
          <a:ln/>
        </p:spPr>
        <p:txBody>
          <a:bodyPr wrap="square" lIns="0" tIns="0" rIns="0" bIns="0" rtlCol="0" anchor="ctr"/>
          <a:lstStyle/>
          <a:p>
            <a:pPr indent="0" marL="0">
              <a:buNone/>
            </a:pPr>
            <a:r>
              <a:rPr lang="en-US" sz="900" dirty="0">
                <a:solidFill>
                  <a:srgbClr val="9AA0A7"/>
                </a:solidFill>
                <a:latin typeface="Calibri" pitchFamily="34" charset="0"/>
                <a:ea typeface="Calibri" pitchFamily="34" charset="-122"/>
                <a:cs typeface="Calibri" pitchFamily="34" charset="-120"/>
              </a:rPr>
              <a:t>Tim Warkab  ·  DataQuest 5.0  ·  life_satisfaction / QWK</a:t>
            </a:r>
            <a:endParaRPr lang="en-US" sz="900" dirty="0"/>
          </a:p>
        </p:txBody>
      </p:sp>
      <p:sp>
        <p:nvSpPr>
          <p:cNvPr id="13" name="Text 10"/>
          <p:cNvSpPr/>
          <p:nvPr/>
        </p:nvSpPr>
        <p:spPr>
          <a:xfrm>
            <a:off x="10637215" y="6382512"/>
            <a:ext cx="914400" cy="274320"/>
          </a:xfrm>
          <a:prstGeom prst="rect">
            <a:avLst/>
          </a:prstGeom>
          <a:noFill/>
          <a:ln/>
        </p:spPr>
        <p:txBody>
          <a:bodyPr wrap="square" lIns="0" tIns="0" rIns="0" bIns="0" rtlCol="0" anchor="ctr"/>
          <a:lstStyle/>
          <a:p>
            <a:pPr algn="r" indent="0" marL="0">
              <a:buNone/>
            </a:pPr>
            <a:r>
              <a:rPr lang="en-US" sz="900" b="1" dirty="0">
                <a:solidFill>
                  <a:srgbClr val="9AA0A7"/>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84048"/>
            <a:ext cx="10911535" cy="530352"/>
          </a:xfrm>
          <a:prstGeom prst="rect">
            <a:avLst/>
          </a:prstGeom>
          <a:noFill/>
          <a:ln/>
        </p:spPr>
        <p:txBody>
          <a:bodyPr wrap="square" lIns="0" tIns="0" rIns="0" bIns="0" rtlCol="0" anchor="t"/>
          <a:lstStyle/>
          <a:p>
            <a:pPr indent="0" marL="0">
              <a:buNone/>
            </a:pPr>
            <a:r>
              <a:rPr lang="en-US" sz="2400" b="1" dirty="0">
                <a:solidFill>
                  <a:srgbClr val="16191D"/>
                </a:solidFill>
                <a:latin typeface="Cambria" pitchFamily="34" charset="0"/>
                <a:ea typeface="Cambria" pitchFamily="34" charset="-122"/>
                <a:cs typeface="Cambria" pitchFamily="34" charset="-120"/>
              </a:rPr>
              <a:t>Kepuasan hidup adalah indikator kesejahteraan resmi.</a:t>
            </a:r>
            <a:endParaRPr lang="en-US" sz="2400" dirty="0"/>
          </a:p>
        </p:txBody>
      </p:sp>
      <p:sp>
        <p:nvSpPr>
          <p:cNvPr id="3" name="Text 1"/>
          <p:cNvSpPr/>
          <p:nvPr/>
        </p:nvSpPr>
        <p:spPr>
          <a:xfrm>
            <a:off x="640080" y="896112"/>
            <a:ext cx="10911535" cy="310896"/>
          </a:xfrm>
          <a:prstGeom prst="rect">
            <a:avLst/>
          </a:prstGeom>
          <a:noFill/>
          <a:ln/>
        </p:spPr>
        <p:txBody>
          <a:bodyPr wrap="square" lIns="0" tIns="0" rIns="0" bIns="0" rtlCol="0" anchor="t"/>
          <a:lstStyle/>
          <a:p>
            <a:pPr indent="0" marL="0">
              <a:buNone/>
            </a:pPr>
            <a:r>
              <a:rPr lang="en-US" sz="1250" dirty="0">
                <a:solidFill>
                  <a:srgbClr val="6E747C"/>
                </a:solidFill>
                <a:latin typeface="Calibri" pitchFamily="34" charset="0"/>
                <a:ea typeface="Calibri" pitchFamily="34" charset="-122"/>
                <a:cs typeface="Calibri" pitchFamily="34" charset="-120"/>
              </a:rPr>
              <a:t>Tiga temuan riset membingkai masalahnya. Spesifikasi data menentukan batas geraknya.</a:t>
            </a:r>
            <a:endParaRPr lang="en-US" sz="1250" dirty="0"/>
          </a:p>
        </p:txBody>
      </p:sp>
      <p:sp>
        <p:nvSpPr>
          <p:cNvPr id="4" name="Shape 2"/>
          <p:cNvSpPr/>
          <p:nvPr/>
        </p:nvSpPr>
        <p:spPr>
          <a:xfrm>
            <a:off x="640080" y="1371600"/>
            <a:ext cx="6629400" cy="1225296"/>
          </a:xfrm>
          <a:prstGeom prst="roundRect">
            <a:avLst>
              <a:gd name="adj" fmla="val 4478"/>
            </a:avLst>
          </a:prstGeom>
          <a:solidFill>
            <a:srgbClr val="F4F1EC"/>
          </a:solidFill>
          <a:ln w="9525">
            <a:solidFill>
              <a:srgbClr val="DCD8D1"/>
            </a:solidFill>
            <a:prstDash val="solid"/>
          </a:ln>
        </p:spPr>
      </p:sp>
      <p:sp>
        <p:nvSpPr>
          <p:cNvPr id="5" name="Text 3"/>
          <p:cNvSpPr/>
          <p:nvPr/>
        </p:nvSpPr>
        <p:spPr>
          <a:xfrm>
            <a:off x="868680" y="1499616"/>
            <a:ext cx="2194560" cy="201168"/>
          </a:xfrm>
          <a:prstGeom prst="rect">
            <a:avLst/>
          </a:prstGeom>
          <a:noFill/>
          <a:ln/>
        </p:spPr>
        <p:txBody>
          <a:bodyPr wrap="square" lIns="0" tIns="0" rIns="0" bIns="0" rtlCol="0" anchor="ctr"/>
          <a:lstStyle/>
          <a:p>
            <a:pPr indent="0" marL="0">
              <a:buNone/>
            </a:pPr>
            <a:r>
              <a:rPr lang="en-US" sz="850" b="1" spc="120" kern="0" dirty="0">
                <a:solidFill>
                  <a:srgbClr val="6E747C"/>
                </a:solidFill>
                <a:latin typeface="Calibri" pitchFamily="34" charset="0"/>
                <a:ea typeface="Calibri" pitchFamily="34" charset="-122"/>
                <a:cs typeface="Calibri" pitchFamily="34" charset="-120"/>
              </a:rPr>
              <a:t>OECD, 2013</a:t>
            </a:r>
            <a:endParaRPr lang="en-US" sz="850" dirty="0"/>
          </a:p>
        </p:txBody>
      </p:sp>
      <p:sp>
        <p:nvSpPr>
          <p:cNvPr id="6" name="Text 4"/>
          <p:cNvSpPr/>
          <p:nvPr/>
        </p:nvSpPr>
        <p:spPr>
          <a:xfrm>
            <a:off x="868680" y="1737360"/>
            <a:ext cx="2286000" cy="731520"/>
          </a:xfrm>
          <a:prstGeom prst="rect">
            <a:avLst/>
          </a:prstGeom>
          <a:noFill/>
          <a:ln/>
        </p:spPr>
        <p:txBody>
          <a:bodyPr wrap="square" lIns="0" tIns="0" rIns="0" bIns="0" rtlCol="0" anchor="t"/>
          <a:lstStyle/>
          <a:p>
            <a:pPr indent="0" marL="0">
              <a:lnSpc>
                <a:spcPts val="1800"/>
              </a:lnSpc>
              <a:buNone/>
            </a:pPr>
            <a:r>
              <a:rPr lang="en-US" sz="1400" b="1" dirty="0">
                <a:solidFill>
                  <a:srgbClr val="16191D"/>
                </a:solidFill>
                <a:latin typeface="Cambria" pitchFamily="34" charset="0"/>
                <a:ea typeface="Cambria" pitchFamily="34" charset="-122"/>
                <a:cs typeface="Cambria" pitchFamily="34" charset="-120"/>
              </a:rPr>
              <a:t>Standar pengukuran</a:t>
            </a:r>
            <a:endParaRPr lang="en-US" sz="1400" dirty="0"/>
          </a:p>
        </p:txBody>
      </p:sp>
      <p:sp>
        <p:nvSpPr>
          <p:cNvPr id="7" name="Text 5"/>
          <p:cNvSpPr/>
          <p:nvPr/>
        </p:nvSpPr>
        <p:spPr>
          <a:xfrm>
            <a:off x="3291840" y="1517904"/>
            <a:ext cx="3749040" cy="548640"/>
          </a:xfrm>
          <a:prstGeom prst="rect">
            <a:avLst/>
          </a:prstGeom>
          <a:noFill/>
          <a:ln/>
        </p:spPr>
        <p:txBody>
          <a:bodyPr wrap="square" lIns="0" tIns="0" rIns="0" bIns="0" rtlCol="0" anchor="t"/>
          <a:lstStyle/>
          <a:p>
            <a:pPr algn="l" indent="0" marL="0">
              <a:lnSpc>
                <a:spcPts val="1418"/>
              </a:lnSpc>
              <a:buNone/>
            </a:pPr>
            <a:r>
              <a:rPr lang="en-US" sz="1050" dirty="0">
                <a:solidFill>
                  <a:srgbClr val="3A4048"/>
                </a:solidFill>
                <a:latin typeface="Calibri" pitchFamily="34" charset="0"/>
                <a:ea typeface="Calibri" pitchFamily="34" charset="-122"/>
                <a:cs typeface="Calibri" pitchFamily="34" charset="-120"/>
              </a:rPr>
              <a:t>Evaluasi hidup dijadikan ukuran inti kesejahteraan nasional, berdampingan dengan PDB.</a:t>
            </a:r>
            <a:endParaRPr lang="en-US" sz="1050" dirty="0"/>
          </a:p>
        </p:txBody>
      </p:sp>
      <p:sp>
        <p:nvSpPr>
          <p:cNvPr id="8" name="Text 6"/>
          <p:cNvSpPr/>
          <p:nvPr/>
        </p:nvSpPr>
        <p:spPr>
          <a:xfrm>
            <a:off x="3291840" y="2103120"/>
            <a:ext cx="3749040" cy="420624"/>
          </a:xfrm>
          <a:prstGeom prst="rect">
            <a:avLst/>
          </a:prstGeom>
          <a:noFill/>
          <a:ln/>
        </p:spPr>
        <p:txBody>
          <a:bodyPr wrap="square" lIns="0" tIns="0" rIns="0" bIns="0" rtlCol="0" anchor="t"/>
          <a:lstStyle/>
          <a:p>
            <a:pPr algn="l" indent="0" marL="0">
              <a:lnSpc>
                <a:spcPts val="1350"/>
              </a:lnSpc>
              <a:buNone/>
            </a:pPr>
            <a:r>
              <a:rPr lang="en-US" sz="1000" b="1" dirty="0">
                <a:solidFill>
                  <a:srgbClr val="2F6B5F"/>
                </a:solidFill>
                <a:latin typeface="Calibri" pitchFamily="34" charset="0"/>
                <a:ea typeface="Calibri" pitchFamily="34" charset="-122"/>
                <a:cs typeface="Calibri" pitchFamily="34" charset="-120"/>
              </a:rPr>
              <a:t>Artinya: Target ini dipakai pembuat kebijakan.</a:t>
            </a:r>
            <a:endParaRPr lang="en-US" sz="1000" dirty="0"/>
          </a:p>
        </p:txBody>
      </p:sp>
      <p:sp>
        <p:nvSpPr>
          <p:cNvPr id="9" name="Shape 7"/>
          <p:cNvSpPr/>
          <p:nvPr/>
        </p:nvSpPr>
        <p:spPr>
          <a:xfrm>
            <a:off x="640080" y="2724912"/>
            <a:ext cx="6629400" cy="1225296"/>
          </a:xfrm>
          <a:prstGeom prst="roundRect">
            <a:avLst>
              <a:gd name="adj" fmla="val 4478"/>
            </a:avLst>
          </a:prstGeom>
          <a:solidFill>
            <a:srgbClr val="16191D"/>
          </a:solidFill>
          <a:ln w="9525">
            <a:solidFill>
              <a:srgbClr val="16191D"/>
            </a:solidFill>
            <a:prstDash val="solid"/>
          </a:ln>
        </p:spPr>
      </p:sp>
      <p:sp>
        <p:nvSpPr>
          <p:cNvPr id="10" name="Text 8"/>
          <p:cNvSpPr/>
          <p:nvPr/>
        </p:nvSpPr>
        <p:spPr>
          <a:xfrm>
            <a:off x="868680" y="2852928"/>
            <a:ext cx="2194560" cy="201168"/>
          </a:xfrm>
          <a:prstGeom prst="rect">
            <a:avLst/>
          </a:prstGeom>
          <a:noFill/>
          <a:ln/>
        </p:spPr>
        <p:txBody>
          <a:bodyPr wrap="square" lIns="0" tIns="0" rIns="0" bIns="0" rtlCol="0" anchor="ctr"/>
          <a:lstStyle/>
          <a:p>
            <a:pPr indent="0" marL="0">
              <a:buNone/>
            </a:pPr>
            <a:r>
              <a:rPr lang="en-US" sz="850" b="1" spc="120" kern="0" dirty="0">
                <a:solidFill>
                  <a:srgbClr val="8FB0A4"/>
                </a:solidFill>
                <a:latin typeface="Calibri" pitchFamily="34" charset="0"/>
                <a:ea typeface="Calibri" pitchFamily="34" charset="-122"/>
                <a:cs typeface="Calibri" pitchFamily="34" charset="-120"/>
              </a:rPr>
              <a:t>WHO, 2023</a:t>
            </a:r>
            <a:endParaRPr lang="en-US" sz="850" dirty="0"/>
          </a:p>
        </p:txBody>
      </p:sp>
      <p:sp>
        <p:nvSpPr>
          <p:cNvPr id="11" name="Text 9"/>
          <p:cNvSpPr/>
          <p:nvPr/>
        </p:nvSpPr>
        <p:spPr>
          <a:xfrm>
            <a:off x="868680" y="3090672"/>
            <a:ext cx="2286000" cy="731520"/>
          </a:xfrm>
          <a:prstGeom prst="rect">
            <a:avLst/>
          </a:prstGeom>
          <a:noFill/>
          <a:ln/>
        </p:spPr>
        <p:txBody>
          <a:bodyPr wrap="square" lIns="0" tIns="0" rIns="0" bIns="0" rtlCol="0" anchor="t"/>
          <a:lstStyle/>
          <a:p>
            <a:pPr indent="0" marL="0">
              <a:lnSpc>
                <a:spcPts val="1800"/>
              </a:lnSpc>
              <a:buNone/>
            </a:pPr>
            <a:r>
              <a:rPr lang="en-US" sz="1900" b="1" dirty="0">
                <a:solidFill>
                  <a:srgbClr val="FFFFFF"/>
                </a:solidFill>
                <a:latin typeface="Cambria" pitchFamily="34" charset="0"/>
                <a:ea typeface="Cambria" pitchFamily="34" charset="-122"/>
                <a:cs typeface="Cambria" pitchFamily="34" charset="-120"/>
              </a:rPr>
              <a:t>± 280 juta orang</a:t>
            </a:r>
            <a:endParaRPr lang="en-US" sz="1900" dirty="0"/>
          </a:p>
        </p:txBody>
      </p:sp>
      <p:sp>
        <p:nvSpPr>
          <p:cNvPr id="12" name="Text 10"/>
          <p:cNvSpPr/>
          <p:nvPr/>
        </p:nvSpPr>
        <p:spPr>
          <a:xfrm>
            <a:off x="3291840" y="2871216"/>
            <a:ext cx="3749040" cy="548640"/>
          </a:xfrm>
          <a:prstGeom prst="rect">
            <a:avLst/>
          </a:prstGeom>
          <a:noFill/>
          <a:ln/>
        </p:spPr>
        <p:txBody>
          <a:bodyPr wrap="square" lIns="0" tIns="0" rIns="0" bIns="0" rtlCol="0" anchor="t"/>
          <a:lstStyle/>
          <a:p>
            <a:pPr algn="l" indent="0" marL="0">
              <a:lnSpc>
                <a:spcPts val="1418"/>
              </a:lnSpc>
              <a:buNone/>
            </a:pPr>
            <a:r>
              <a:rPr lang="en-US" sz="1050" dirty="0">
                <a:solidFill>
                  <a:srgbClr val="9AA0A7"/>
                </a:solidFill>
                <a:latin typeface="Calibri" pitchFamily="34" charset="0"/>
                <a:ea typeface="Calibri" pitchFamily="34" charset="-122"/>
                <a:cs typeface="Calibri" pitchFamily="34" charset="-120"/>
              </a:rPr>
              <a:t>hidup dengan depresi, sekitar 5% orang dewasa dunia.</a:t>
            </a:r>
            <a:endParaRPr lang="en-US" sz="1050" dirty="0"/>
          </a:p>
        </p:txBody>
      </p:sp>
      <p:sp>
        <p:nvSpPr>
          <p:cNvPr id="13" name="Text 11"/>
          <p:cNvSpPr/>
          <p:nvPr/>
        </p:nvSpPr>
        <p:spPr>
          <a:xfrm>
            <a:off x="3291840" y="3456432"/>
            <a:ext cx="3749040" cy="420624"/>
          </a:xfrm>
          <a:prstGeom prst="rect">
            <a:avLst/>
          </a:prstGeom>
          <a:noFill/>
          <a:ln/>
        </p:spPr>
        <p:txBody>
          <a:bodyPr wrap="square" lIns="0" tIns="0" rIns="0" bIns="0" rtlCol="0" anchor="t"/>
          <a:lstStyle/>
          <a:p>
            <a:pPr algn="l" indent="0" marL="0">
              <a:lnSpc>
                <a:spcPts val="1350"/>
              </a:lnSpc>
              <a:buNone/>
            </a:pPr>
            <a:r>
              <a:rPr lang="en-US" sz="1000" b="1" dirty="0">
                <a:solidFill>
                  <a:srgbClr val="8FB0A4"/>
                </a:solidFill>
                <a:latin typeface="Calibri" pitchFamily="34" charset="0"/>
                <a:ea typeface="Calibri" pitchFamily="34" charset="-122"/>
                <a:cs typeface="Calibri" pitchFamily="34" charset="-120"/>
              </a:rPr>
              <a:t>Artinya: Menemukan kelas 3 dan 4 lebih dini bernilai kesehatan masyarakat.</a:t>
            </a:r>
            <a:endParaRPr lang="en-US" sz="1000" dirty="0"/>
          </a:p>
        </p:txBody>
      </p:sp>
      <p:sp>
        <p:nvSpPr>
          <p:cNvPr id="14" name="Shape 12"/>
          <p:cNvSpPr/>
          <p:nvPr/>
        </p:nvSpPr>
        <p:spPr>
          <a:xfrm>
            <a:off x="640080" y="4078224"/>
            <a:ext cx="6629400" cy="1225296"/>
          </a:xfrm>
          <a:prstGeom prst="roundRect">
            <a:avLst>
              <a:gd name="adj" fmla="val 4478"/>
            </a:avLst>
          </a:prstGeom>
          <a:solidFill>
            <a:srgbClr val="F4F1EC"/>
          </a:solidFill>
          <a:ln w="9525">
            <a:solidFill>
              <a:srgbClr val="DCD8D1"/>
            </a:solidFill>
            <a:prstDash val="solid"/>
          </a:ln>
        </p:spPr>
      </p:sp>
      <p:sp>
        <p:nvSpPr>
          <p:cNvPr id="15" name="Text 13"/>
          <p:cNvSpPr/>
          <p:nvPr/>
        </p:nvSpPr>
        <p:spPr>
          <a:xfrm>
            <a:off x="868680" y="4206240"/>
            <a:ext cx="2194560" cy="201168"/>
          </a:xfrm>
          <a:prstGeom prst="rect">
            <a:avLst/>
          </a:prstGeom>
          <a:noFill/>
          <a:ln/>
        </p:spPr>
        <p:txBody>
          <a:bodyPr wrap="square" lIns="0" tIns="0" rIns="0" bIns="0" rtlCol="0" anchor="ctr"/>
          <a:lstStyle/>
          <a:p>
            <a:pPr indent="0" marL="0">
              <a:buNone/>
            </a:pPr>
            <a:r>
              <a:rPr lang="en-US" sz="850" b="1" spc="120" kern="0" dirty="0">
                <a:solidFill>
                  <a:srgbClr val="6E747C"/>
                </a:solidFill>
                <a:latin typeface="Calibri" pitchFamily="34" charset="0"/>
                <a:ea typeface="Calibri" pitchFamily="34" charset="-122"/>
                <a:cs typeface="Calibri" pitchFamily="34" charset="-120"/>
              </a:rPr>
              <a:t>KAHNEMAN &amp; DEATON, 2010</a:t>
            </a:r>
            <a:endParaRPr lang="en-US" sz="850" dirty="0"/>
          </a:p>
        </p:txBody>
      </p:sp>
      <p:sp>
        <p:nvSpPr>
          <p:cNvPr id="16" name="Text 14"/>
          <p:cNvSpPr/>
          <p:nvPr/>
        </p:nvSpPr>
        <p:spPr>
          <a:xfrm>
            <a:off x="868680" y="4443984"/>
            <a:ext cx="2286000" cy="731520"/>
          </a:xfrm>
          <a:prstGeom prst="rect">
            <a:avLst/>
          </a:prstGeom>
          <a:noFill/>
          <a:ln/>
        </p:spPr>
        <p:txBody>
          <a:bodyPr wrap="square" lIns="0" tIns="0" rIns="0" bIns="0" rtlCol="0" anchor="t"/>
          <a:lstStyle/>
          <a:p>
            <a:pPr indent="0" marL="0">
              <a:lnSpc>
                <a:spcPts val="1800"/>
              </a:lnSpc>
              <a:buNone/>
            </a:pPr>
            <a:r>
              <a:rPr lang="en-US" sz="1400" b="1" dirty="0">
                <a:solidFill>
                  <a:srgbClr val="16191D"/>
                </a:solidFill>
                <a:latin typeface="Cambria" pitchFamily="34" charset="0"/>
                <a:ea typeface="Cambria" pitchFamily="34" charset="-122"/>
                <a:cs typeface="Cambria" pitchFamily="34" charset="-120"/>
              </a:rPr>
              <a:t>Pendapatan dan evaluasi hidup</a:t>
            </a:r>
            <a:endParaRPr lang="en-US" sz="1400" dirty="0"/>
          </a:p>
        </p:txBody>
      </p:sp>
      <p:sp>
        <p:nvSpPr>
          <p:cNvPr id="17" name="Text 15"/>
          <p:cNvSpPr/>
          <p:nvPr/>
        </p:nvSpPr>
        <p:spPr>
          <a:xfrm>
            <a:off x="3291840" y="4224528"/>
            <a:ext cx="3749040" cy="548640"/>
          </a:xfrm>
          <a:prstGeom prst="rect">
            <a:avLst/>
          </a:prstGeom>
          <a:noFill/>
          <a:ln/>
        </p:spPr>
        <p:txBody>
          <a:bodyPr wrap="square" lIns="0" tIns="0" rIns="0" bIns="0" rtlCol="0" anchor="t"/>
          <a:lstStyle/>
          <a:p>
            <a:pPr algn="l" indent="0" marL="0">
              <a:lnSpc>
                <a:spcPts val="1418"/>
              </a:lnSpc>
              <a:buNone/>
            </a:pPr>
            <a:r>
              <a:rPr lang="en-US" sz="1050" dirty="0">
                <a:solidFill>
                  <a:srgbClr val="3A4048"/>
                </a:solidFill>
                <a:latin typeface="Calibri" pitchFamily="34" charset="0"/>
                <a:ea typeface="Calibri" pitchFamily="34" charset="-122"/>
                <a:cs typeface="Calibri" pitchFamily="34" charset="-120"/>
              </a:rPr>
              <a:t>Evaluasi hidup naik mengikuti logaritma pendapatan.</a:t>
            </a:r>
            <a:endParaRPr lang="en-US" sz="1050" dirty="0"/>
          </a:p>
        </p:txBody>
      </p:sp>
      <p:sp>
        <p:nvSpPr>
          <p:cNvPr id="18" name="Text 16"/>
          <p:cNvSpPr/>
          <p:nvPr/>
        </p:nvSpPr>
        <p:spPr>
          <a:xfrm>
            <a:off x="3291840" y="4809744"/>
            <a:ext cx="3749040" cy="420624"/>
          </a:xfrm>
          <a:prstGeom prst="rect">
            <a:avLst/>
          </a:prstGeom>
          <a:noFill/>
          <a:ln/>
        </p:spPr>
        <p:txBody>
          <a:bodyPr wrap="square" lIns="0" tIns="0" rIns="0" bIns="0" rtlCol="0" anchor="t"/>
          <a:lstStyle/>
          <a:p>
            <a:pPr algn="l" indent="0" marL="0">
              <a:lnSpc>
                <a:spcPts val="1350"/>
              </a:lnSpc>
              <a:buNone/>
            </a:pPr>
            <a:r>
              <a:rPr lang="en-US" sz="1000" b="1" dirty="0">
                <a:solidFill>
                  <a:srgbClr val="2F6B5F"/>
                </a:solidFill>
                <a:latin typeface="Calibri" pitchFamily="34" charset="0"/>
                <a:ea typeface="Calibri" pitchFamily="34" charset="-122"/>
                <a:cs typeface="Calibri" pitchFamily="34" charset="-120"/>
              </a:rPr>
              <a:t>Artinya: income_to_poverty_ratio wajar muncul di fitur teratas.</a:t>
            </a:r>
            <a:endParaRPr lang="en-US" sz="1000" dirty="0"/>
          </a:p>
        </p:txBody>
      </p:sp>
      <p:sp>
        <p:nvSpPr>
          <p:cNvPr id="19" name="Shape 17"/>
          <p:cNvSpPr/>
          <p:nvPr/>
        </p:nvSpPr>
        <p:spPr>
          <a:xfrm>
            <a:off x="640080" y="5449824"/>
            <a:ext cx="6629400" cy="768096"/>
          </a:xfrm>
          <a:prstGeom prst="roundRect">
            <a:avLst>
              <a:gd name="adj" fmla="val 7143"/>
            </a:avLst>
          </a:prstGeom>
          <a:solidFill>
            <a:srgbClr val="ECE7DF"/>
          </a:solidFill>
          <a:ln w="9525">
            <a:solidFill>
              <a:srgbClr val="DCD8D1"/>
            </a:solidFill>
            <a:prstDash val="solid"/>
          </a:ln>
        </p:spPr>
      </p:sp>
      <p:sp>
        <p:nvSpPr>
          <p:cNvPr id="20" name="Text 18"/>
          <p:cNvSpPr/>
          <p:nvPr/>
        </p:nvSpPr>
        <p:spPr>
          <a:xfrm>
            <a:off x="868680" y="5449824"/>
            <a:ext cx="6172200" cy="768096"/>
          </a:xfrm>
          <a:prstGeom prst="rect">
            <a:avLst/>
          </a:prstGeom>
          <a:noFill/>
          <a:ln/>
        </p:spPr>
        <p:txBody>
          <a:bodyPr wrap="square" lIns="0" tIns="0" rIns="0" bIns="0" rtlCol="0" anchor="ctr"/>
          <a:lstStyle/>
          <a:p>
            <a:pPr algn="l" indent="0" marL="0">
              <a:lnSpc>
                <a:spcPts val="1485"/>
              </a:lnSpc>
              <a:buNone/>
            </a:pPr>
            <a:r>
              <a:rPr lang="en-US" sz="1100" i="1" dirty="0">
                <a:solidFill>
                  <a:srgbClr val="16191D"/>
                </a:solidFill>
                <a:latin typeface="Calibri" pitchFamily="34" charset="0"/>
                <a:ea typeface="Calibri" pitchFamily="34" charset="-122"/>
                <a:cs typeface="Calibri" pitchFamily="34" charset="-120"/>
              </a:rPr>
              <a:t>Rumusan masalah: dari 176 variabel survei kesehatan, seberapa tepat seseorang bisa ditempatkan pada skala kepuasan hidup, dan siapa yang paling perlu ditindaklanjuti?</a:t>
            </a:r>
            <a:endParaRPr lang="en-US" sz="1100" dirty="0"/>
          </a:p>
        </p:txBody>
      </p:sp>
      <p:sp>
        <p:nvSpPr>
          <p:cNvPr id="21" name="Shape 19"/>
          <p:cNvSpPr/>
          <p:nvPr/>
        </p:nvSpPr>
        <p:spPr>
          <a:xfrm>
            <a:off x="7543800" y="1371600"/>
            <a:ext cx="4007815" cy="4846320"/>
          </a:xfrm>
          <a:prstGeom prst="roundRect">
            <a:avLst>
              <a:gd name="adj" fmla="val 1369"/>
            </a:avLst>
          </a:prstGeom>
          <a:solidFill>
            <a:srgbClr val="FFFFFF"/>
          </a:solidFill>
          <a:ln w="9525">
            <a:solidFill>
              <a:srgbClr val="DCD8D1"/>
            </a:solidFill>
            <a:prstDash val="solid"/>
          </a:ln>
        </p:spPr>
      </p:sp>
      <p:sp>
        <p:nvSpPr>
          <p:cNvPr id="22" name="Text 20"/>
          <p:cNvSpPr/>
          <p:nvPr/>
        </p:nvSpPr>
        <p:spPr>
          <a:xfrm>
            <a:off x="7744968" y="1499616"/>
            <a:ext cx="3605479" cy="201168"/>
          </a:xfrm>
          <a:prstGeom prst="rect">
            <a:avLst/>
          </a:prstGeom>
          <a:noFill/>
          <a:ln/>
        </p:spPr>
        <p:txBody>
          <a:bodyPr wrap="square" lIns="0" tIns="0" rIns="0" bIns="0" rtlCol="0" anchor="ctr"/>
          <a:lstStyle/>
          <a:p>
            <a:pPr indent="0" marL="0">
              <a:buNone/>
            </a:pPr>
            <a:r>
              <a:rPr lang="en-US" sz="850" b="1" spc="120" kern="0" dirty="0">
                <a:solidFill>
                  <a:srgbClr val="6E747C"/>
                </a:solidFill>
                <a:latin typeface="Calibri" pitchFamily="34" charset="0"/>
                <a:ea typeface="Calibri" pitchFamily="34" charset="-122"/>
                <a:cs typeface="Calibri" pitchFamily="34" charset="-120"/>
              </a:rPr>
              <a:t>SPESIFIKASI DATA</a:t>
            </a:r>
            <a:endParaRPr lang="en-US" sz="850" dirty="0"/>
          </a:p>
        </p:txBody>
      </p:sp>
      <p:sp>
        <p:nvSpPr>
          <p:cNvPr id="23" name="Text 21"/>
          <p:cNvSpPr/>
          <p:nvPr/>
        </p:nvSpPr>
        <p:spPr>
          <a:xfrm>
            <a:off x="7744968" y="1700784"/>
            <a:ext cx="3605479" cy="475488"/>
          </a:xfrm>
          <a:prstGeom prst="rect">
            <a:avLst/>
          </a:prstGeom>
          <a:noFill/>
          <a:ln/>
        </p:spPr>
        <p:txBody>
          <a:bodyPr wrap="square" lIns="0" tIns="0" rIns="0" bIns="0" rtlCol="0" anchor="t"/>
          <a:lstStyle/>
          <a:p>
            <a:pPr indent="0" marL="0">
              <a:lnSpc>
                <a:spcPts val="1600"/>
              </a:lnSpc>
              <a:buNone/>
            </a:pPr>
            <a:r>
              <a:rPr lang="en-US" sz="1300" b="1" dirty="0">
                <a:solidFill>
                  <a:srgbClr val="16191D"/>
                </a:solidFill>
                <a:latin typeface="Cambria" pitchFamily="34" charset="0"/>
                <a:ea typeface="Cambria" pitchFamily="34" charset="-122"/>
                <a:cs typeface="Cambria" pitchFamily="34" charset="-120"/>
              </a:rPr>
              <a:t>Satu pertanyaan survei, empat jawaban berurutan</a:t>
            </a:r>
            <a:endParaRPr lang="en-US" sz="1300" dirty="0"/>
          </a:p>
        </p:txBody>
      </p:sp>
      <p:sp>
        <p:nvSpPr>
          <p:cNvPr id="24" name="Text 22"/>
          <p:cNvSpPr/>
          <p:nvPr/>
        </p:nvSpPr>
        <p:spPr>
          <a:xfrm>
            <a:off x="7744968" y="2212848"/>
            <a:ext cx="1600200" cy="274320"/>
          </a:xfrm>
          <a:prstGeom prst="rect">
            <a:avLst/>
          </a:prstGeom>
          <a:noFill/>
          <a:ln/>
        </p:spPr>
        <p:txBody>
          <a:bodyPr wrap="square" lIns="0" tIns="0" rIns="0" bIns="0" rtlCol="0" anchor="ctr"/>
          <a:lstStyle/>
          <a:p>
            <a:pPr indent="0" marL="0">
              <a:buNone/>
            </a:pPr>
            <a:r>
              <a:rPr lang="en-US" sz="1000" dirty="0">
                <a:solidFill>
                  <a:srgbClr val="16191D"/>
                </a:solidFill>
                <a:latin typeface="Calibri" pitchFamily="34" charset="0"/>
                <a:ea typeface="Calibri" pitchFamily="34" charset="-122"/>
                <a:cs typeface="Calibri" pitchFamily="34" charset="-120"/>
              </a:rPr>
              <a:t>1  Sangat puas</a:t>
            </a:r>
            <a:endParaRPr lang="en-US" sz="1000" dirty="0"/>
          </a:p>
        </p:txBody>
      </p:sp>
      <p:sp>
        <p:nvSpPr>
          <p:cNvPr id="25" name="Shape 23"/>
          <p:cNvSpPr/>
          <p:nvPr/>
        </p:nvSpPr>
        <p:spPr>
          <a:xfrm>
            <a:off x="9372600" y="2286000"/>
            <a:ext cx="1208622" cy="146304"/>
          </a:xfrm>
          <a:prstGeom prst="rect">
            <a:avLst/>
          </a:prstGeom>
          <a:solidFill>
            <a:srgbClr val="2F6B5F"/>
          </a:solidFill>
          <a:ln/>
        </p:spPr>
      </p:sp>
      <p:sp>
        <p:nvSpPr>
          <p:cNvPr id="26" name="Text 24"/>
          <p:cNvSpPr/>
          <p:nvPr/>
        </p:nvSpPr>
        <p:spPr>
          <a:xfrm>
            <a:off x="10637215" y="2212848"/>
            <a:ext cx="713232" cy="274320"/>
          </a:xfrm>
          <a:prstGeom prst="rect">
            <a:avLst/>
          </a:prstGeom>
          <a:noFill/>
          <a:ln/>
        </p:spPr>
        <p:txBody>
          <a:bodyPr wrap="square" lIns="0" tIns="0" rIns="0" bIns="0" rtlCol="0" anchor="ctr"/>
          <a:lstStyle/>
          <a:p>
            <a:pPr algn="r" indent="0" marL="0">
              <a:buNone/>
            </a:pPr>
            <a:r>
              <a:rPr lang="en-US" sz="1000" b="1" dirty="0">
                <a:solidFill>
                  <a:srgbClr val="16191D"/>
                </a:solidFill>
                <a:latin typeface="Calibri" pitchFamily="34" charset="0"/>
                <a:ea typeface="Calibri" pitchFamily="34" charset="-122"/>
                <a:cs typeface="Calibri" pitchFamily="34" charset="-120"/>
              </a:rPr>
              <a:t>42.968</a:t>
            </a:r>
            <a:endParaRPr lang="en-US" sz="1000" dirty="0"/>
          </a:p>
        </p:txBody>
      </p:sp>
      <p:sp>
        <p:nvSpPr>
          <p:cNvPr id="27" name="Text 25"/>
          <p:cNvSpPr/>
          <p:nvPr/>
        </p:nvSpPr>
        <p:spPr>
          <a:xfrm>
            <a:off x="7744968" y="2542032"/>
            <a:ext cx="1600200" cy="274320"/>
          </a:xfrm>
          <a:prstGeom prst="rect">
            <a:avLst/>
          </a:prstGeom>
          <a:noFill/>
          <a:ln/>
        </p:spPr>
        <p:txBody>
          <a:bodyPr wrap="square" lIns="0" tIns="0" rIns="0" bIns="0" rtlCol="0" anchor="ctr"/>
          <a:lstStyle/>
          <a:p>
            <a:pPr indent="0" marL="0">
              <a:buNone/>
            </a:pPr>
            <a:r>
              <a:rPr lang="en-US" sz="1000" dirty="0">
                <a:solidFill>
                  <a:srgbClr val="16191D"/>
                </a:solidFill>
                <a:latin typeface="Calibri" pitchFamily="34" charset="0"/>
                <a:ea typeface="Calibri" pitchFamily="34" charset="-122"/>
                <a:cs typeface="Calibri" pitchFamily="34" charset="-120"/>
              </a:rPr>
              <a:t>2  Puas</a:t>
            </a:r>
            <a:endParaRPr lang="en-US" sz="1000" dirty="0"/>
          </a:p>
        </p:txBody>
      </p:sp>
      <p:sp>
        <p:nvSpPr>
          <p:cNvPr id="28" name="Shape 26"/>
          <p:cNvSpPr/>
          <p:nvPr/>
        </p:nvSpPr>
        <p:spPr>
          <a:xfrm>
            <a:off x="9372600" y="2615184"/>
            <a:ext cx="1355464" cy="146304"/>
          </a:xfrm>
          <a:prstGeom prst="rect">
            <a:avLst/>
          </a:prstGeom>
          <a:solidFill>
            <a:srgbClr val="8FB0A4"/>
          </a:solidFill>
          <a:ln/>
        </p:spPr>
      </p:sp>
      <p:sp>
        <p:nvSpPr>
          <p:cNvPr id="29" name="Text 27"/>
          <p:cNvSpPr/>
          <p:nvPr/>
        </p:nvSpPr>
        <p:spPr>
          <a:xfrm>
            <a:off x="10637215" y="2542032"/>
            <a:ext cx="713232" cy="274320"/>
          </a:xfrm>
          <a:prstGeom prst="rect">
            <a:avLst/>
          </a:prstGeom>
          <a:noFill/>
          <a:ln/>
        </p:spPr>
        <p:txBody>
          <a:bodyPr wrap="square" lIns="0" tIns="0" rIns="0" bIns="0" rtlCol="0" anchor="ctr"/>
          <a:lstStyle/>
          <a:p>
            <a:pPr algn="r" indent="0" marL="0">
              <a:buNone/>
            </a:pPr>
            <a:r>
              <a:rPr lang="en-US" sz="1000" b="1" dirty="0">
                <a:solidFill>
                  <a:srgbClr val="16191D"/>
                </a:solidFill>
                <a:latin typeface="Calibri" pitchFamily="34" charset="0"/>
                <a:ea typeface="Calibri" pitchFamily="34" charset="-122"/>
                <a:cs typeface="Calibri" pitchFamily="34" charset="-120"/>
              </a:rPr>
              <a:t>48.189</a:t>
            </a:r>
            <a:endParaRPr lang="en-US" sz="1000" dirty="0"/>
          </a:p>
        </p:txBody>
      </p:sp>
      <p:sp>
        <p:nvSpPr>
          <p:cNvPr id="30" name="Text 28"/>
          <p:cNvSpPr/>
          <p:nvPr/>
        </p:nvSpPr>
        <p:spPr>
          <a:xfrm>
            <a:off x="7744968" y="2871216"/>
            <a:ext cx="1600200" cy="274320"/>
          </a:xfrm>
          <a:prstGeom prst="rect">
            <a:avLst/>
          </a:prstGeom>
          <a:noFill/>
          <a:ln/>
        </p:spPr>
        <p:txBody>
          <a:bodyPr wrap="square" lIns="0" tIns="0" rIns="0" bIns="0" rtlCol="0" anchor="ctr"/>
          <a:lstStyle/>
          <a:p>
            <a:pPr indent="0" marL="0">
              <a:buNone/>
            </a:pPr>
            <a:r>
              <a:rPr lang="en-US" sz="1000" dirty="0">
                <a:solidFill>
                  <a:srgbClr val="16191D"/>
                </a:solidFill>
                <a:latin typeface="Calibri" pitchFamily="34" charset="0"/>
                <a:ea typeface="Calibri" pitchFamily="34" charset="-122"/>
                <a:cs typeface="Calibri" pitchFamily="34" charset="-120"/>
              </a:rPr>
              <a:t>3  Tidak puas</a:t>
            </a:r>
            <a:endParaRPr lang="en-US" sz="1000" dirty="0"/>
          </a:p>
        </p:txBody>
      </p:sp>
      <p:sp>
        <p:nvSpPr>
          <p:cNvPr id="31" name="Shape 29"/>
          <p:cNvSpPr/>
          <p:nvPr/>
        </p:nvSpPr>
        <p:spPr>
          <a:xfrm>
            <a:off x="9372600" y="2944368"/>
            <a:ext cx="100046" cy="146304"/>
          </a:xfrm>
          <a:prstGeom prst="rect">
            <a:avLst/>
          </a:prstGeom>
          <a:solidFill>
            <a:srgbClr val="D8A25E"/>
          </a:solidFill>
          <a:ln/>
        </p:spPr>
      </p:sp>
      <p:sp>
        <p:nvSpPr>
          <p:cNvPr id="32" name="Text 30"/>
          <p:cNvSpPr/>
          <p:nvPr/>
        </p:nvSpPr>
        <p:spPr>
          <a:xfrm>
            <a:off x="10637215" y="2871216"/>
            <a:ext cx="713232" cy="274320"/>
          </a:xfrm>
          <a:prstGeom prst="rect">
            <a:avLst/>
          </a:prstGeom>
          <a:noFill/>
          <a:ln/>
        </p:spPr>
        <p:txBody>
          <a:bodyPr wrap="square" lIns="0" tIns="0" rIns="0" bIns="0" rtlCol="0" anchor="ctr"/>
          <a:lstStyle/>
          <a:p>
            <a:pPr algn="r" indent="0" marL="0">
              <a:buNone/>
            </a:pPr>
            <a:r>
              <a:rPr lang="en-US" sz="1000" b="1" dirty="0">
                <a:solidFill>
                  <a:srgbClr val="16191D"/>
                </a:solidFill>
                <a:latin typeface="Calibri" pitchFamily="34" charset="0"/>
                <a:ea typeface="Calibri" pitchFamily="34" charset="-122"/>
                <a:cs typeface="Calibri" pitchFamily="34" charset="-120"/>
              </a:rPr>
              <a:t>3.559</a:t>
            </a:r>
            <a:endParaRPr lang="en-US" sz="1000" dirty="0"/>
          </a:p>
        </p:txBody>
      </p:sp>
      <p:sp>
        <p:nvSpPr>
          <p:cNvPr id="33" name="Text 31"/>
          <p:cNvSpPr/>
          <p:nvPr/>
        </p:nvSpPr>
        <p:spPr>
          <a:xfrm>
            <a:off x="7744968" y="3200400"/>
            <a:ext cx="1600200" cy="274320"/>
          </a:xfrm>
          <a:prstGeom prst="rect">
            <a:avLst/>
          </a:prstGeom>
          <a:noFill/>
          <a:ln/>
        </p:spPr>
        <p:txBody>
          <a:bodyPr wrap="square" lIns="0" tIns="0" rIns="0" bIns="0" rtlCol="0" anchor="ctr"/>
          <a:lstStyle/>
          <a:p>
            <a:pPr indent="0" marL="0">
              <a:buNone/>
            </a:pPr>
            <a:r>
              <a:rPr lang="en-US" sz="1000" dirty="0">
                <a:solidFill>
                  <a:srgbClr val="16191D"/>
                </a:solidFill>
                <a:latin typeface="Calibri" pitchFamily="34" charset="0"/>
                <a:ea typeface="Calibri" pitchFamily="34" charset="-122"/>
                <a:cs typeface="Calibri" pitchFamily="34" charset="-120"/>
              </a:rPr>
              <a:t>4  Sangat tidak puas</a:t>
            </a:r>
            <a:endParaRPr lang="en-US" sz="1000" dirty="0"/>
          </a:p>
        </p:txBody>
      </p:sp>
      <p:sp>
        <p:nvSpPr>
          <p:cNvPr id="34" name="Shape 32"/>
          <p:cNvSpPr/>
          <p:nvPr/>
        </p:nvSpPr>
        <p:spPr>
          <a:xfrm>
            <a:off x="9372600" y="3273552"/>
            <a:ext cx="36576" cy="146304"/>
          </a:xfrm>
          <a:prstGeom prst="rect">
            <a:avLst/>
          </a:prstGeom>
          <a:solidFill>
            <a:srgbClr val="A8442A"/>
          </a:solidFill>
          <a:ln/>
        </p:spPr>
      </p:sp>
      <p:sp>
        <p:nvSpPr>
          <p:cNvPr id="35" name="Text 33"/>
          <p:cNvSpPr/>
          <p:nvPr/>
        </p:nvSpPr>
        <p:spPr>
          <a:xfrm>
            <a:off x="10637215" y="3200400"/>
            <a:ext cx="713232" cy="274320"/>
          </a:xfrm>
          <a:prstGeom prst="rect">
            <a:avLst/>
          </a:prstGeom>
          <a:noFill/>
          <a:ln/>
        </p:spPr>
        <p:txBody>
          <a:bodyPr wrap="square" lIns="0" tIns="0" rIns="0" bIns="0" rtlCol="0" anchor="ctr"/>
          <a:lstStyle/>
          <a:p>
            <a:pPr algn="r" indent="0" marL="0">
              <a:buNone/>
            </a:pPr>
            <a:r>
              <a:rPr lang="en-US" sz="1000" b="1" dirty="0">
                <a:solidFill>
                  <a:srgbClr val="16191D"/>
                </a:solidFill>
                <a:latin typeface="Calibri" pitchFamily="34" charset="0"/>
                <a:ea typeface="Calibri" pitchFamily="34" charset="-122"/>
                <a:cs typeface="Calibri" pitchFamily="34" charset="-120"/>
              </a:rPr>
              <a:t>893</a:t>
            </a:r>
            <a:endParaRPr lang="en-US" sz="1000" dirty="0"/>
          </a:p>
        </p:txBody>
      </p:sp>
      <p:sp>
        <p:nvSpPr>
          <p:cNvPr id="36" name="Text 34"/>
          <p:cNvSpPr/>
          <p:nvPr/>
        </p:nvSpPr>
        <p:spPr>
          <a:xfrm>
            <a:off x="7744968" y="3630168"/>
            <a:ext cx="2235397" cy="310896"/>
          </a:xfrm>
          <a:prstGeom prst="rect">
            <a:avLst/>
          </a:prstGeom>
          <a:noFill/>
          <a:ln/>
        </p:spPr>
        <p:txBody>
          <a:bodyPr wrap="square" lIns="0" tIns="0" rIns="0" bIns="0" rtlCol="0" anchor="ctr"/>
          <a:lstStyle/>
          <a:p>
            <a:pPr indent="0" marL="0">
              <a:buNone/>
            </a:pPr>
            <a:r>
              <a:rPr lang="en-US" sz="1000" dirty="0">
                <a:solidFill>
                  <a:srgbClr val="3A4048"/>
                </a:solidFill>
                <a:latin typeface="Calibri" pitchFamily="34" charset="0"/>
                <a:ea typeface="Calibri" pitchFamily="34" charset="-122"/>
                <a:cs typeface="Calibri" pitchFamily="34" charset="-120"/>
              </a:rPr>
              <a:t>train_final.csv</a:t>
            </a:r>
            <a:endParaRPr lang="en-US" sz="1000" dirty="0"/>
          </a:p>
        </p:txBody>
      </p:sp>
      <p:sp>
        <p:nvSpPr>
          <p:cNvPr id="37" name="Text 35"/>
          <p:cNvSpPr/>
          <p:nvPr/>
        </p:nvSpPr>
        <p:spPr>
          <a:xfrm>
            <a:off x="9980365" y="3630168"/>
            <a:ext cx="1370082" cy="310896"/>
          </a:xfrm>
          <a:prstGeom prst="rect">
            <a:avLst/>
          </a:prstGeom>
          <a:noFill/>
          <a:ln/>
        </p:spPr>
        <p:txBody>
          <a:bodyPr wrap="square" lIns="0" tIns="0" rIns="0" bIns="0" rtlCol="0" anchor="ctr"/>
          <a:lstStyle/>
          <a:p>
            <a:pPr algn="r" indent="0" marL="0">
              <a:buNone/>
            </a:pPr>
            <a:r>
              <a:rPr lang="en-US" sz="1000" b="1" dirty="0">
                <a:solidFill>
                  <a:srgbClr val="16191D"/>
                </a:solidFill>
                <a:latin typeface="Calibri" pitchFamily="34" charset="0"/>
                <a:ea typeface="Calibri" pitchFamily="34" charset="-122"/>
                <a:cs typeface="Calibri" pitchFamily="34" charset="-120"/>
              </a:rPr>
              <a:t>95.609 × 179</a:t>
            </a:r>
            <a:endParaRPr lang="en-US" sz="1000" dirty="0"/>
          </a:p>
        </p:txBody>
      </p:sp>
      <p:sp>
        <p:nvSpPr>
          <p:cNvPr id="38" name="Shape 36"/>
          <p:cNvSpPr/>
          <p:nvPr/>
        </p:nvSpPr>
        <p:spPr>
          <a:xfrm>
            <a:off x="7744968" y="3941064"/>
            <a:ext cx="3605479" cy="0"/>
          </a:xfrm>
          <a:prstGeom prst="line">
            <a:avLst/>
          </a:prstGeom>
          <a:noFill/>
          <a:ln w="7620">
            <a:solidFill>
              <a:srgbClr val="DCD8D1"/>
            </a:solidFill>
            <a:prstDash val="solid"/>
          </a:ln>
        </p:spPr>
      </p:sp>
      <p:sp>
        <p:nvSpPr>
          <p:cNvPr id="39" name="Text 37"/>
          <p:cNvSpPr/>
          <p:nvPr/>
        </p:nvSpPr>
        <p:spPr>
          <a:xfrm>
            <a:off x="7744968" y="3941064"/>
            <a:ext cx="2235397" cy="310896"/>
          </a:xfrm>
          <a:prstGeom prst="rect">
            <a:avLst/>
          </a:prstGeom>
          <a:noFill/>
          <a:ln/>
        </p:spPr>
        <p:txBody>
          <a:bodyPr wrap="square" lIns="0" tIns="0" rIns="0" bIns="0" rtlCol="0" anchor="ctr"/>
          <a:lstStyle/>
          <a:p>
            <a:pPr indent="0" marL="0">
              <a:buNone/>
            </a:pPr>
            <a:r>
              <a:rPr lang="en-US" sz="1000" dirty="0">
                <a:solidFill>
                  <a:srgbClr val="3A4048"/>
                </a:solidFill>
                <a:latin typeface="Calibri" pitchFamily="34" charset="0"/>
                <a:ea typeface="Calibri" pitchFamily="34" charset="-122"/>
                <a:cs typeface="Calibri" pitchFamily="34" charset="-120"/>
              </a:rPr>
              <a:t>test_final.csv</a:t>
            </a:r>
            <a:endParaRPr lang="en-US" sz="1000" dirty="0"/>
          </a:p>
        </p:txBody>
      </p:sp>
      <p:sp>
        <p:nvSpPr>
          <p:cNvPr id="40" name="Text 38"/>
          <p:cNvSpPr/>
          <p:nvPr/>
        </p:nvSpPr>
        <p:spPr>
          <a:xfrm>
            <a:off x="9980365" y="3941064"/>
            <a:ext cx="1370082" cy="310896"/>
          </a:xfrm>
          <a:prstGeom prst="rect">
            <a:avLst/>
          </a:prstGeom>
          <a:noFill/>
          <a:ln/>
        </p:spPr>
        <p:txBody>
          <a:bodyPr wrap="square" lIns="0" tIns="0" rIns="0" bIns="0" rtlCol="0" anchor="ctr"/>
          <a:lstStyle/>
          <a:p>
            <a:pPr algn="r" indent="0" marL="0">
              <a:buNone/>
            </a:pPr>
            <a:r>
              <a:rPr lang="en-US" sz="1000" b="1" dirty="0">
                <a:solidFill>
                  <a:srgbClr val="16191D"/>
                </a:solidFill>
                <a:latin typeface="Calibri" pitchFamily="34" charset="0"/>
                <a:ea typeface="Calibri" pitchFamily="34" charset="-122"/>
                <a:cs typeface="Calibri" pitchFamily="34" charset="-120"/>
              </a:rPr>
              <a:t>23.902 × 178</a:t>
            </a:r>
            <a:endParaRPr lang="en-US" sz="1000" dirty="0"/>
          </a:p>
        </p:txBody>
      </p:sp>
      <p:sp>
        <p:nvSpPr>
          <p:cNvPr id="41" name="Shape 39"/>
          <p:cNvSpPr/>
          <p:nvPr/>
        </p:nvSpPr>
        <p:spPr>
          <a:xfrm>
            <a:off x="7744968" y="4251960"/>
            <a:ext cx="3605479" cy="0"/>
          </a:xfrm>
          <a:prstGeom prst="line">
            <a:avLst/>
          </a:prstGeom>
          <a:noFill/>
          <a:ln w="7620">
            <a:solidFill>
              <a:srgbClr val="DCD8D1"/>
            </a:solidFill>
            <a:prstDash val="solid"/>
          </a:ln>
        </p:spPr>
      </p:sp>
      <p:sp>
        <p:nvSpPr>
          <p:cNvPr id="42" name="Text 40"/>
          <p:cNvSpPr/>
          <p:nvPr/>
        </p:nvSpPr>
        <p:spPr>
          <a:xfrm>
            <a:off x="7744968" y="4251960"/>
            <a:ext cx="2235397" cy="310896"/>
          </a:xfrm>
          <a:prstGeom prst="rect">
            <a:avLst/>
          </a:prstGeom>
          <a:noFill/>
          <a:ln/>
        </p:spPr>
        <p:txBody>
          <a:bodyPr wrap="square" lIns="0" tIns="0" rIns="0" bIns="0" rtlCol="0" anchor="ctr"/>
          <a:lstStyle/>
          <a:p>
            <a:pPr indent="0" marL="0">
              <a:buNone/>
            </a:pPr>
            <a:r>
              <a:rPr lang="en-US" sz="1000" dirty="0">
                <a:solidFill>
                  <a:srgbClr val="3A4048"/>
                </a:solidFill>
                <a:latin typeface="Calibri" pitchFamily="34" charset="0"/>
                <a:ea typeface="Calibri" pitchFamily="34" charset="-122"/>
                <a:cs typeface="Calibri" pitchFamily="34" charset="-120"/>
              </a:rPr>
              <a:t>data_dictionary.csv</a:t>
            </a:r>
            <a:endParaRPr lang="en-US" sz="1000" dirty="0"/>
          </a:p>
        </p:txBody>
      </p:sp>
      <p:sp>
        <p:nvSpPr>
          <p:cNvPr id="43" name="Text 41"/>
          <p:cNvSpPr/>
          <p:nvPr/>
        </p:nvSpPr>
        <p:spPr>
          <a:xfrm>
            <a:off x="9980365" y="4251960"/>
            <a:ext cx="1370082" cy="310896"/>
          </a:xfrm>
          <a:prstGeom prst="rect">
            <a:avLst/>
          </a:prstGeom>
          <a:noFill/>
          <a:ln/>
        </p:spPr>
        <p:txBody>
          <a:bodyPr wrap="square" lIns="0" tIns="0" rIns="0" bIns="0" rtlCol="0" anchor="ctr"/>
          <a:lstStyle/>
          <a:p>
            <a:pPr algn="r" indent="0" marL="0">
              <a:buNone/>
            </a:pPr>
            <a:r>
              <a:rPr lang="en-US" sz="1000" b="1" dirty="0">
                <a:solidFill>
                  <a:srgbClr val="16191D"/>
                </a:solidFill>
                <a:latin typeface="Calibri" pitchFamily="34" charset="0"/>
                <a:ea typeface="Calibri" pitchFamily="34" charset="-122"/>
                <a:cs typeface="Calibri" pitchFamily="34" charset="-120"/>
              </a:rPr>
              <a:t>187 × 3</a:t>
            </a:r>
            <a:endParaRPr lang="en-US" sz="1000" dirty="0"/>
          </a:p>
        </p:txBody>
      </p:sp>
      <p:sp>
        <p:nvSpPr>
          <p:cNvPr id="44" name="Shape 42"/>
          <p:cNvSpPr/>
          <p:nvPr/>
        </p:nvSpPr>
        <p:spPr>
          <a:xfrm>
            <a:off x="7744968" y="4562856"/>
            <a:ext cx="3605479" cy="0"/>
          </a:xfrm>
          <a:prstGeom prst="line">
            <a:avLst/>
          </a:prstGeom>
          <a:noFill/>
          <a:ln w="7620">
            <a:solidFill>
              <a:srgbClr val="DCD8D1"/>
            </a:solidFill>
            <a:prstDash val="solid"/>
          </a:ln>
        </p:spPr>
      </p:sp>
      <p:sp>
        <p:nvSpPr>
          <p:cNvPr id="45" name="Text 43"/>
          <p:cNvSpPr/>
          <p:nvPr/>
        </p:nvSpPr>
        <p:spPr>
          <a:xfrm>
            <a:off x="7744968" y="4562856"/>
            <a:ext cx="2235397" cy="310896"/>
          </a:xfrm>
          <a:prstGeom prst="rect">
            <a:avLst/>
          </a:prstGeom>
          <a:noFill/>
          <a:ln/>
        </p:spPr>
        <p:txBody>
          <a:bodyPr wrap="square" lIns="0" tIns="0" rIns="0" bIns="0" rtlCol="0" anchor="ctr"/>
          <a:lstStyle/>
          <a:p>
            <a:pPr indent="0" marL="0">
              <a:buNone/>
            </a:pPr>
            <a:r>
              <a:rPr lang="en-US" sz="1000" dirty="0">
                <a:solidFill>
                  <a:srgbClr val="3A4048"/>
                </a:solidFill>
                <a:latin typeface="Calibri" pitchFamily="34" charset="0"/>
                <a:ea typeface="Calibri" pitchFamily="34" charset="-122"/>
                <a:cs typeface="Calibri" pitchFamily="34" charset="-120"/>
              </a:rPr>
              <a:t>Fitur numerik dipakai</a:t>
            </a:r>
            <a:endParaRPr lang="en-US" sz="1000" dirty="0"/>
          </a:p>
        </p:txBody>
      </p:sp>
      <p:sp>
        <p:nvSpPr>
          <p:cNvPr id="46" name="Text 44"/>
          <p:cNvSpPr/>
          <p:nvPr/>
        </p:nvSpPr>
        <p:spPr>
          <a:xfrm>
            <a:off x="9980365" y="4562856"/>
            <a:ext cx="1370082" cy="310896"/>
          </a:xfrm>
          <a:prstGeom prst="rect">
            <a:avLst/>
          </a:prstGeom>
          <a:noFill/>
          <a:ln/>
        </p:spPr>
        <p:txBody>
          <a:bodyPr wrap="square" lIns="0" tIns="0" rIns="0" bIns="0" rtlCol="0" anchor="ctr"/>
          <a:lstStyle/>
          <a:p>
            <a:pPr algn="r" indent="0" marL="0">
              <a:buNone/>
            </a:pPr>
            <a:r>
              <a:rPr lang="en-US" sz="1000" b="1" dirty="0">
                <a:solidFill>
                  <a:srgbClr val="16191D"/>
                </a:solidFill>
                <a:latin typeface="Calibri" pitchFamily="34" charset="0"/>
                <a:ea typeface="Calibri" pitchFamily="34" charset="-122"/>
                <a:cs typeface="Calibri" pitchFamily="34" charset="-120"/>
              </a:rPr>
              <a:t>176</a:t>
            </a:r>
            <a:endParaRPr lang="en-US" sz="1000" dirty="0"/>
          </a:p>
        </p:txBody>
      </p:sp>
      <p:sp>
        <p:nvSpPr>
          <p:cNvPr id="47" name="Shape 45"/>
          <p:cNvSpPr/>
          <p:nvPr/>
        </p:nvSpPr>
        <p:spPr>
          <a:xfrm>
            <a:off x="7744968" y="4873752"/>
            <a:ext cx="3605479" cy="0"/>
          </a:xfrm>
          <a:prstGeom prst="line">
            <a:avLst/>
          </a:prstGeom>
          <a:noFill/>
          <a:ln w="7620">
            <a:solidFill>
              <a:srgbClr val="DCD8D1"/>
            </a:solidFill>
            <a:prstDash val="solid"/>
          </a:ln>
        </p:spPr>
      </p:sp>
      <p:sp>
        <p:nvSpPr>
          <p:cNvPr id="48" name="Text 46"/>
          <p:cNvSpPr/>
          <p:nvPr/>
        </p:nvSpPr>
        <p:spPr>
          <a:xfrm>
            <a:off x="7744968" y="4873752"/>
            <a:ext cx="2235397" cy="310896"/>
          </a:xfrm>
          <a:prstGeom prst="rect">
            <a:avLst/>
          </a:prstGeom>
          <a:noFill/>
          <a:ln/>
        </p:spPr>
        <p:txBody>
          <a:bodyPr wrap="square" lIns="0" tIns="0" rIns="0" bIns="0" rtlCol="0" anchor="ctr"/>
          <a:lstStyle/>
          <a:p>
            <a:pPr indent="0" marL="0">
              <a:buNone/>
            </a:pPr>
            <a:r>
              <a:rPr lang="en-US" sz="1000" dirty="0">
                <a:solidFill>
                  <a:srgbClr val="3A4048"/>
                </a:solidFill>
                <a:latin typeface="Calibri" pitchFamily="34" charset="0"/>
                <a:ea typeface="Calibri" pitchFamily="34" charset="-122"/>
                <a:cs typeface="Calibri" pitchFamily="34" charset="-120"/>
              </a:rPr>
              <a:t>Tahun survei</a:t>
            </a:r>
            <a:endParaRPr lang="en-US" sz="1000" dirty="0"/>
          </a:p>
        </p:txBody>
      </p:sp>
      <p:sp>
        <p:nvSpPr>
          <p:cNvPr id="49" name="Text 47"/>
          <p:cNvSpPr/>
          <p:nvPr/>
        </p:nvSpPr>
        <p:spPr>
          <a:xfrm>
            <a:off x="9980365" y="4873752"/>
            <a:ext cx="1370082" cy="310896"/>
          </a:xfrm>
          <a:prstGeom prst="rect">
            <a:avLst/>
          </a:prstGeom>
          <a:noFill/>
          <a:ln/>
        </p:spPr>
        <p:txBody>
          <a:bodyPr wrap="square" lIns="0" tIns="0" rIns="0" bIns="0" rtlCol="0" anchor="ctr"/>
          <a:lstStyle/>
          <a:p>
            <a:pPr algn="r" indent="0" marL="0">
              <a:buNone/>
            </a:pPr>
            <a:r>
              <a:rPr lang="en-US" sz="1000" b="1" dirty="0">
                <a:solidFill>
                  <a:srgbClr val="16191D"/>
                </a:solidFill>
                <a:latin typeface="Calibri" pitchFamily="34" charset="0"/>
                <a:ea typeface="Calibri" pitchFamily="34" charset="-122"/>
                <a:cs typeface="Calibri" pitchFamily="34" charset="-120"/>
              </a:rPr>
              <a:t>2021 sampai 2024</a:t>
            </a:r>
            <a:endParaRPr lang="en-US" sz="1000" dirty="0"/>
          </a:p>
        </p:txBody>
      </p:sp>
      <p:sp>
        <p:nvSpPr>
          <p:cNvPr id="50" name="Shape 48"/>
          <p:cNvSpPr/>
          <p:nvPr/>
        </p:nvSpPr>
        <p:spPr>
          <a:xfrm>
            <a:off x="7744968" y="5184648"/>
            <a:ext cx="3605479" cy="0"/>
          </a:xfrm>
          <a:prstGeom prst="line">
            <a:avLst/>
          </a:prstGeom>
          <a:noFill/>
          <a:ln w="7620">
            <a:solidFill>
              <a:srgbClr val="DCD8D1"/>
            </a:solidFill>
            <a:prstDash val="solid"/>
          </a:ln>
        </p:spPr>
      </p:sp>
      <p:sp>
        <p:nvSpPr>
          <p:cNvPr id="51" name="Text 49"/>
          <p:cNvSpPr/>
          <p:nvPr/>
        </p:nvSpPr>
        <p:spPr>
          <a:xfrm>
            <a:off x="7744968" y="5184648"/>
            <a:ext cx="2235397" cy="310896"/>
          </a:xfrm>
          <a:prstGeom prst="rect">
            <a:avLst/>
          </a:prstGeom>
          <a:noFill/>
          <a:ln/>
        </p:spPr>
        <p:txBody>
          <a:bodyPr wrap="square" lIns="0" tIns="0" rIns="0" bIns="0" rtlCol="0" anchor="ctr"/>
          <a:lstStyle/>
          <a:p>
            <a:pPr indent="0" marL="0">
              <a:buNone/>
            </a:pPr>
            <a:r>
              <a:rPr lang="en-US" sz="1000" dirty="0">
                <a:solidFill>
                  <a:srgbClr val="3A4048"/>
                </a:solidFill>
                <a:latin typeface="Calibri" pitchFamily="34" charset="0"/>
                <a:ea typeface="Calibri" pitchFamily="34" charset="-122"/>
                <a:cs typeface="Calibri" pitchFamily="34" charset="-120"/>
              </a:rPr>
              <a:t>id unik di berkas uji</a:t>
            </a:r>
            <a:endParaRPr lang="en-US" sz="1000" dirty="0"/>
          </a:p>
        </p:txBody>
      </p:sp>
      <p:sp>
        <p:nvSpPr>
          <p:cNvPr id="52" name="Text 50"/>
          <p:cNvSpPr/>
          <p:nvPr/>
        </p:nvSpPr>
        <p:spPr>
          <a:xfrm>
            <a:off x="9980365" y="5184648"/>
            <a:ext cx="1370082" cy="310896"/>
          </a:xfrm>
          <a:prstGeom prst="rect">
            <a:avLst/>
          </a:prstGeom>
          <a:noFill/>
          <a:ln/>
        </p:spPr>
        <p:txBody>
          <a:bodyPr wrap="square" lIns="0" tIns="0" rIns="0" bIns="0" rtlCol="0" anchor="ctr"/>
          <a:lstStyle/>
          <a:p>
            <a:pPr algn="r" indent="0" marL="0">
              <a:buNone/>
            </a:pPr>
            <a:r>
              <a:rPr lang="en-US" sz="1000" b="1" dirty="0">
                <a:solidFill>
                  <a:srgbClr val="16191D"/>
                </a:solidFill>
                <a:latin typeface="Calibri" pitchFamily="34" charset="0"/>
                <a:ea typeface="Calibri" pitchFamily="34" charset="-122"/>
                <a:cs typeface="Calibri" pitchFamily="34" charset="-120"/>
              </a:rPr>
              <a:t>23.666 dari 23.902</a:t>
            </a:r>
            <a:endParaRPr lang="en-US" sz="1000" dirty="0"/>
          </a:p>
        </p:txBody>
      </p:sp>
      <p:sp>
        <p:nvSpPr>
          <p:cNvPr id="53" name="Shape 51"/>
          <p:cNvSpPr/>
          <p:nvPr/>
        </p:nvSpPr>
        <p:spPr>
          <a:xfrm>
            <a:off x="7744968" y="5495544"/>
            <a:ext cx="3605479" cy="0"/>
          </a:xfrm>
          <a:prstGeom prst="line">
            <a:avLst/>
          </a:prstGeom>
          <a:noFill/>
          <a:ln w="7620">
            <a:solidFill>
              <a:srgbClr val="DCD8D1"/>
            </a:solidFill>
            <a:prstDash val="solid"/>
          </a:ln>
        </p:spPr>
      </p:sp>
      <p:sp>
        <p:nvSpPr>
          <p:cNvPr id="54" name="Text 52"/>
          <p:cNvSpPr/>
          <p:nvPr/>
        </p:nvSpPr>
        <p:spPr>
          <a:xfrm>
            <a:off x="7744968" y="5495544"/>
            <a:ext cx="2235397" cy="310896"/>
          </a:xfrm>
          <a:prstGeom prst="rect">
            <a:avLst/>
          </a:prstGeom>
          <a:noFill/>
          <a:ln/>
        </p:spPr>
        <p:txBody>
          <a:bodyPr wrap="square" lIns="0" tIns="0" rIns="0" bIns="0" rtlCol="0" anchor="ctr"/>
          <a:lstStyle/>
          <a:p>
            <a:pPr indent="0" marL="0">
              <a:buNone/>
            </a:pPr>
            <a:r>
              <a:rPr lang="en-US" sz="1000" dirty="0">
                <a:solidFill>
                  <a:srgbClr val="3A4048"/>
                </a:solidFill>
                <a:latin typeface="Calibri" pitchFamily="34" charset="0"/>
                <a:ea typeface="Calibri" pitchFamily="34" charset="-122"/>
                <a:cs typeface="Calibri" pitchFamily="34" charset="-120"/>
              </a:rPr>
              <a:t>Duplikat penuh</a:t>
            </a:r>
            <a:endParaRPr lang="en-US" sz="1000" dirty="0"/>
          </a:p>
        </p:txBody>
      </p:sp>
      <p:sp>
        <p:nvSpPr>
          <p:cNvPr id="55" name="Text 53"/>
          <p:cNvSpPr/>
          <p:nvPr/>
        </p:nvSpPr>
        <p:spPr>
          <a:xfrm>
            <a:off x="9980365" y="5495544"/>
            <a:ext cx="1370082" cy="310896"/>
          </a:xfrm>
          <a:prstGeom prst="rect">
            <a:avLst/>
          </a:prstGeom>
          <a:noFill/>
          <a:ln/>
        </p:spPr>
        <p:txBody>
          <a:bodyPr wrap="square" lIns="0" tIns="0" rIns="0" bIns="0" rtlCol="0" anchor="ctr"/>
          <a:lstStyle/>
          <a:p>
            <a:pPr algn="r" indent="0" marL="0">
              <a:buNone/>
            </a:pPr>
            <a:r>
              <a:rPr lang="en-US" sz="1000" b="1" dirty="0">
                <a:solidFill>
                  <a:srgbClr val="16191D"/>
                </a:solidFill>
                <a:latin typeface="Calibri" pitchFamily="34" charset="0"/>
                <a:ea typeface="Calibri" pitchFamily="34" charset="-122"/>
                <a:cs typeface="Calibri" pitchFamily="34" charset="-120"/>
              </a:rPr>
              <a:t>1.892 latih, 472 uji</a:t>
            </a:r>
            <a:endParaRPr lang="en-US" sz="1000" dirty="0"/>
          </a:p>
        </p:txBody>
      </p:sp>
      <p:sp>
        <p:nvSpPr>
          <p:cNvPr id="56" name="Shape 54"/>
          <p:cNvSpPr/>
          <p:nvPr/>
        </p:nvSpPr>
        <p:spPr>
          <a:xfrm>
            <a:off x="7744968" y="5806440"/>
            <a:ext cx="3605479" cy="0"/>
          </a:xfrm>
          <a:prstGeom prst="line">
            <a:avLst/>
          </a:prstGeom>
          <a:noFill/>
          <a:ln w="7620">
            <a:solidFill>
              <a:srgbClr val="DCD8D1"/>
            </a:solidFill>
            <a:prstDash val="solid"/>
          </a:ln>
        </p:spPr>
      </p:sp>
      <p:sp>
        <p:nvSpPr>
          <p:cNvPr id="57" name="Text 55"/>
          <p:cNvSpPr/>
          <p:nvPr/>
        </p:nvSpPr>
        <p:spPr>
          <a:xfrm>
            <a:off x="7744968" y="5806440"/>
            <a:ext cx="2235397" cy="310896"/>
          </a:xfrm>
          <a:prstGeom prst="rect">
            <a:avLst/>
          </a:prstGeom>
          <a:noFill/>
          <a:ln/>
        </p:spPr>
        <p:txBody>
          <a:bodyPr wrap="square" lIns="0" tIns="0" rIns="0" bIns="0" rtlCol="0" anchor="ctr"/>
          <a:lstStyle/>
          <a:p>
            <a:pPr indent="0" marL="0">
              <a:buNone/>
            </a:pPr>
            <a:r>
              <a:rPr lang="en-US" sz="1000" dirty="0">
                <a:solidFill>
                  <a:srgbClr val="3A4048"/>
                </a:solidFill>
                <a:latin typeface="Calibri" pitchFamily="34" charset="0"/>
                <a:ea typeface="Calibri" pitchFamily="34" charset="-122"/>
                <a:cs typeface="Calibri" pitchFamily="34" charset="-120"/>
              </a:rPr>
              <a:t>Encoding kategorikal</a:t>
            </a:r>
            <a:endParaRPr lang="en-US" sz="1000" dirty="0"/>
          </a:p>
        </p:txBody>
      </p:sp>
      <p:sp>
        <p:nvSpPr>
          <p:cNvPr id="58" name="Text 56"/>
          <p:cNvSpPr/>
          <p:nvPr/>
        </p:nvSpPr>
        <p:spPr>
          <a:xfrm>
            <a:off x="9980365" y="5806440"/>
            <a:ext cx="1370082" cy="310896"/>
          </a:xfrm>
          <a:prstGeom prst="rect">
            <a:avLst/>
          </a:prstGeom>
          <a:noFill/>
          <a:ln/>
        </p:spPr>
        <p:txBody>
          <a:bodyPr wrap="square" lIns="0" tIns="0" rIns="0" bIns="0" rtlCol="0" anchor="ctr"/>
          <a:lstStyle/>
          <a:p>
            <a:pPr algn="r" indent="0" marL="0">
              <a:buNone/>
            </a:pPr>
            <a:r>
              <a:rPr lang="en-US" sz="1000" b="1" dirty="0">
                <a:solidFill>
                  <a:srgbClr val="16191D"/>
                </a:solidFill>
                <a:latin typeface="Calibri" pitchFamily="34" charset="0"/>
                <a:ea typeface="Calibri" pitchFamily="34" charset="-122"/>
                <a:cs typeface="Calibri" pitchFamily="34" charset="-120"/>
              </a:rPr>
              <a:t>tidak perlu</a:t>
            </a:r>
            <a:endParaRPr lang="en-US" sz="1000" dirty="0"/>
          </a:p>
        </p:txBody>
      </p:sp>
      <p:sp>
        <p:nvSpPr>
          <p:cNvPr id="60" name="Shape 57"/>
          <p:cNvSpPr/>
          <p:nvPr/>
        </p:nvSpPr>
        <p:spPr>
          <a:xfrm>
            <a:off x="640080" y="6400800"/>
            <a:ext cx="1572768" cy="45720"/>
          </a:xfrm>
          <a:prstGeom prst="rect">
            <a:avLst/>
          </a:prstGeom>
          <a:solidFill>
            <a:srgbClr val="A8442A"/>
          </a:solidFill>
          <a:ln/>
        </p:spPr>
      </p:sp>
      <p:sp>
        <p:nvSpPr>
          <p:cNvPr id="61" name="Text 58"/>
          <p:cNvSpPr/>
          <p:nvPr/>
        </p:nvSpPr>
        <p:spPr>
          <a:xfrm>
            <a:off x="640080" y="6464808"/>
            <a:ext cx="1572768" cy="201168"/>
          </a:xfrm>
          <a:prstGeom prst="rect">
            <a:avLst/>
          </a:prstGeom>
          <a:noFill/>
          <a:ln/>
        </p:spPr>
        <p:txBody>
          <a:bodyPr wrap="square" lIns="0" tIns="0" rIns="0" bIns="0" rtlCol="0" anchor="ctr"/>
          <a:lstStyle/>
          <a:p>
            <a:pPr indent="0" marL="0">
              <a:buNone/>
            </a:pPr>
            <a:r>
              <a:rPr lang="en-US" sz="850" b="1" dirty="0">
                <a:solidFill>
                  <a:srgbClr val="16191D"/>
                </a:solidFill>
                <a:latin typeface="Calibri" pitchFamily="34" charset="0"/>
                <a:ea typeface="Calibri" pitchFamily="34" charset="-122"/>
                <a:cs typeface="Calibri" pitchFamily="34" charset="-120"/>
              </a:rPr>
              <a:t>I · Latar &amp; data</a:t>
            </a:r>
            <a:endParaRPr lang="en-US" sz="850" dirty="0"/>
          </a:p>
        </p:txBody>
      </p:sp>
      <p:sp>
        <p:nvSpPr>
          <p:cNvPr id="62" name="Shape 59"/>
          <p:cNvSpPr/>
          <p:nvPr/>
        </p:nvSpPr>
        <p:spPr>
          <a:xfrm>
            <a:off x="2304288" y="6400800"/>
            <a:ext cx="1572768" cy="45720"/>
          </a:xfrm>
          <a:prstGeom prst="rect">
            <a:avLst/>
          </a:prstGeom>
          <a:solidFill>
            <a:srgbClr val="DCD8D1"/>
          </a:solidFill>
          <a:ln/>
        </p:spPr>
      </p:sp>
      <p:sp>
        <p:nvSpPr>
          <p:cNvPr id="63" name="Text 60"/>
          <p:cNvSpPr/>
          <p:nvPr/>
        </p:nvSpPr>
        <p:spPr>
          <a:xfrm>
            <a:off x="2304288"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II · EDA</a:t>
            </a:r>
            <a:endParaRPr lang="en-US" sz="850" dirty="0"/>
          </a:p>
        </p:txBody>
      </p:sp>
      <p:sp>
        <p:nvSpPr>
          <p:cNvPr id="64" name="Shape 61"/>
          <p:cNvSpPr/>
          <p:nvPr/>
        </p:nvSpPr>
        <p:spPr>
          <a:xfrm>
            <a:off x="3968496" y="6400800"/>
            <a:ext cx="1572768" cy="45720"/>
          </a:xfrm>
          <a:prstGeom prst="rect">
            <a:avLst/>
          </a:prstGeom>
          <a:solidFill>
            <a:srgbClr val="DCD8D1"/>
          </a:solidFill>
          <a:ln/>
        </p:spPr>
      </p:sp>
      <p:sp>
        <p:nvSpPr>
          <p:cNvPr id="65" name="Text 62"/>
          <p:cNvSpPr/>
          <p:nvPr/>
        </p:nvSpPr>
        <p:spPr>
          <a:xfrm>
            <a:off x="3968496"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III · Pipeline</a:t>
            </a:r>
            <a:endParaRPr lang="en-US" sz="850" dirty="0"/>
          </a:p>
        </p:txBody>
      </p:sp>
      <p:sp>
        <p:nvSpPr>
          <p:cNvPr id="66" name="Shape 63"/>
          <p:cNvSpPr/>
          <p:nvPr/>
        </p:nvSpPr>
        <p:spPr>
          <a:xfrm>
            <a:off x="5632704" y="6400800"/>
            <a:ext cx="1572768" cy="45720"/>
          </a:xfrm>
          <a:prstGeom prst="rect">
            <a:avLst/>
          </a:prstGeom>
          <a:solidFill>
            <a:srgbClr val="DCD8D1"/>
          </a:solidFill>
          <a:ln/>
        </p:spPr>
      </p:sp>
      <p:sp>
        <p:nvSpPr>
          <p:cNvPr id="67" name="Text 64"/>
          <p:cNvSpPr/>
          <p:nvPr/>
        </p:nvSpPr>
        <p:spPr>
          <a:xfrm>
            <a:off x="5632704"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IV · Disiplin estimasi</a:t>
            </a:r>
            <a:endParaRPr lang="en-US" sz="850" dirty="0"/>
          </a:p>
        </p:txBody>
      </p:sp>
      <p:sp>
        <p:nvSpPr>
          <p:cNvPr id="68" name="Shape 65"/>
          <p:cNvSpPr/>
          <p:nvPr/>
        </p:nvSpPr>
        <p:spPr>
          <a:xfrm>
            <a:off x="7296912" y="6400800"/>
            <a:ext cx="1572768" cy="45720"/>
          </a:xfrm>
          <a:prstGeom prst="rect">
            <a:avLst/>
          </a:prstGeom>
          <a:solidFill>
            <a:srgbClr val="DCD8D1"/>
          </a:solidFill>
          <a:ln/>
        </p:spPr>
      </p:sp>
      <p:sp>
        <p:nvSpPr>
          <p:cNvPr id="69" name="Text 66"/>
          <p:cNvSpPr/>
          <p:nvPr/>
        </p:nvSpPr>
        <p:spPr>
          <a:xfrm>
            <a:off x="7296912"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V · Hasil &amp; plafon</a:t>
            </a:r>
            <a:endParaRPr lang="en-US" sz="850" dirty="0"/>
          </a:p>
        </p:txBody>
      </p:sp>
      <p:sp>
        <p:nvSpPr>
          <p:cNvPr id="70" name="Shape 67"/>
          <p:cNvSpPr/>
          <p:nvPr/>
        </p:nvSpPr>
        <p:spPr>
          <a:xfrm>
            <a:off x="8961120" y="6400800"/>
            <a:ext cx="1572768" cy="45720"/>
          </a:xfrm>
          <a:prstGeom prst="rect">
            <a:avLst/>
          </a:prstGeom>
          <a:solidFill>
            <a:srgbClr val="DCD8D1"/>
          </a:solidFill>
          <a:ln/>
        </p:spPr>
      </p:sp>
      <p:sp>
        <p:nvSpPr>
          <p:cNvPr id="71" name="Text 68"/>
          <p:cNvSpPr/>
          <p:nvPr/>
        </p:nvSpPr>
        <p:spPr>
          <a:xfrm>
            <a:off x="8961120"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VI · Reproduksi &amp; produk</a:t>
            </a:r>
            <a:endParaRPr lang="en-US" sz="850" dirty="0"/>
          </a:p>
        </p:txBody>
      </p:sp>
      <p:sp>
        <p:nvSpPr>
          <p:cNvPr id="72" name="Text 69"/>
          <p:cNvSpPr/>
          <p:nvPr/>
        </p:nvSpPr>
        <p:spPr>
          <a:xfrm>
            <a:off x="10637215" y="6382512"/>
            <a:ext cx="914400" cy="274320"/>
          </a:xfrm>
          <a:prstGeom prst="rect">
            <a:avLst/>
          </a:prstGeom>
          <a:noFill/>
          <a:ln/>
        </p:spPr>
        <p:txBody>
          <a:bodyPr wrap="square" lIns="0" tIns="0" rIns="0" bIns="0" rtlCol="0" anchor="ctr"/>
          <a:lstStyle/>
          <a:p>
            <a:pPr algn="r" indent="0" marL="0">
              <a:buNone/>
            </a:pPr>
            <a:r>
              <a:rPr lang="en-US" sz="900" b="1" dirty="0">
                <a:solidFill>
                  <a:srgbClr val="9AA0A7"/>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84048"/>
            <a:ext cx="10911535" cy="530352"/>
          </a:xfrm>
          <a:prstGeom prst="rect">
            <a:avLst/>
          </a:prstGeom>
          <a:noFill/>
          <a:ln/>
        </p:spPr>
        <p:txBody>
          <a:bodyPr wrap="square" lIns="0" tIns="0" rIns="0" bIns="0" rtlCol="0" anchor="t"/>
          <a:lstStyle/>
          <a:p>
            <a:pPr indent="0" marL="0">
              <a:buNone/>
            </a:pPr>
            <a:r>
              <a:rPr lang="en-US" sz="2400" b="1" dirty="0">
                <a:solidFill>
                  <a:srgbClr val="16191D"/>
                </a:solidFill>
                <a:latin typeface="Cambria" pitchFamily="34" charset="0"/>
                <a:ea typeface="Cambria" pitchFamily="34" charset="-122"/>
                <a:cs typeface="Cambria" pitchFamily="34" charset="-120"/>
              </a:rPr>
              <a:t>QWK menghitung jarak, jadi targetnya skala, bukan empat kotak.</a:t>
            </a:r>
            <a:endParaRPr lang="en-US" sz="2400" dirty="0"/>
          </a:p>
        </p:txBody>
      </p:sp>
      <p:sp>
        <p:nvSpPr>
          <p:cNvPr id="3" name="Text 1"/>
          <p:cNvSpPr/>
          <p:nvPr/>
        </p:nvSpPr>
        <p:spPr>
          <a:xfrm>
            <a:off x="640080" y="896112"/>
            <a:ext cx="10911535" cy="310896"/>
          </a:xfrm>
          <a:prstGeom prst="rect">
            <a:avLst/>
          </a:prstGeom>
          <a:noFill/>
          <a:ln/>
        </p:spPr>
        <p:txBody>
          <a:bodyPr wrap="square" lIns="0" tIns="0" rIns="0" bIns="0" rtlCol="0" anchor="t"/>
          <a:lstStyle/>
          <a:p>
            <a:pPr indent="0" marL="0">
              <a:buNone/>
            </a:pPr>
            <a:r>
              <a:rPr lang="en-US" sz="1250" dirty="0">
                <a:solidFill>
                  <a:srgbClr val="6E747C"/>
                </a:solidFill>
                <a:latin typeface="Calibri" pitchFamily="34" charset="0"/>
                <a:ea typeface="Calibri" pitchFamily="34" charset="-122"/>
                <a:cs typeface="Calibri" pitchFamily="34" charset="-120"/>
              </a:rPr>
              <a:t>Bobot penaltinya kuadratik. Keputusan optimal untuk galat kuadratik adalah nilai harapan, bukan modus.</a:t>
            </a:r>
            <a:endParaRPr lang="en-US" sz="1250" dirty="0"/>
          </a:p>
        </p:txBody>
      </p:sp>
      <p:sp>
        <p:nvSpPr>
          <p:cNvPr id="4" name="Shape 2"/>
          <p:cNvSpPr/>
          <p:nvPr/>
        </p:nvSpPr>
        <p:spPr>
          <a:xfrm>
            <a:off x="640080" y="1371600"/>
            <a:ext cx="4206240" cy="1243584"/>
          </a:xfrm>
          <a:prstGeom prst="roundRect">
            <a:avLst>
              <a:gd name="adj" fmla="val 4412"/>
            </a:avLst>
          </a:prstGeom>
          <a:solidFill>
            <a:srgbClr val="16191D"/>
          </a:solidFill>
          <a:ln w="9525">
            <a:solidFill>
              <a:srgbClr val="16191D"/>
            </a:solidFill>
            <a:prstDash val="solid"/>
          </a:ln>
        </p:spPr>
      </p:sp>
      <p:sp>
        <p:nvSpPr>
          <p:cNvPr id="5" name="Text 3"/>
          <p:cNvSpPr/>
          <p:nvPr/>
        </p:nvSpPr>
        <p:spPr>
          <a:xfrm>
            <a:off x="640080" y="1536192"/>
            <a:ext cx="420624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κ  =  1  −  Σ wᵢⱼ Oᵢⱼ  /  Σ wᵢⱼ Eᵢⱼ</a:t>
            </a:r>
            <a:endParaRPr lang="en-US" sz="1600" dirty="0"/>
          </a:p>
        </p:txBody>
      </p:sp>
      <p:sp>
        <p:nvSpPr>
          <p:cNvPr id="6" name="Text 4"/>
          <p:cNvSpPr/>
          <p:nvPr/>
        </p:nvSpPr>
        <p:spPr>
          <a:xfrm>
            <a:off x="640080" y="2029968"/>
            <a:ext cx="4206240" cy="402336"/>
          </a:xfrm>
          <a:prstGeom prst="rect">
            <a:avLst/>
          </a:prstGeom>
          <a:noFill/>
          <a:ln/>
        </p:spPr>
        <p:txBody>
          <a:bodyPr wrap="square" lIns="0" tIns="0" rIns="0" bIns="0" rtlCol="0" anchor="ctr"/>
          <a:lstStyle/>
          <a:p>
            <a:pPr algn="ctr" indent="0" marL="0">
              <a:buNone/>
            </a:pPr>
            <a:r>
              <a:rPr lang="en-US" sz="1600" b="1" dirty="0">
                <a:solidFill>
                  <a:srgbClr val="8FB0A4"/>
                </a:solidFill>
                <a:latin typeface="Cambria" pitchFamily="34" charset="0"/>
                <a:ea typeface="Cambria" pitchFamily="34" charset="-122"/>
                <a:cs typeface="Cambria" pitchFamily="34" charset="-120"/>
              </a:rPr>
              <a:t>wᵢⱼ  =  (i − j)²  /  9</a:t>
            </a:r>
            <a:endParaRPr lang="en-US" sz="1600" dirty="0"/>
          </a:p>
        </p:txBody>
      </p:sp>
      <p:sp>
        <p:nvSpPr>
          <p:cNvPr id="7" name="Text 5"/>
          <p:cNvSpPr/>
          <p:nvPr/>
        </p:nvSpPr>
        <p:spPr>
          <a:xfrm>
            <a:off x="640080" y="2743200"/>
            <a:ext cx="4206240" cy="822960"/>
          </a:xfrm>
          <a:prstGeom prst="rect">
            <a:avLst/>
          </a:prstGeom>
          <a:noFill/>
          <a:ln/>
        </p:spPr>
        <p:txBody>
          <a:bodyPr wrap="square" lIns="0" tIns="0" rIns="0" bIns="0" rtlCol="0" anchor="t"/>
          <a:lstStyle/>
          <a:p>
            <a:pPr algn="l" indent="0" marL="0">
              <a:lnSpc>
                <a:spcPts val="1418"/>
              </a:lnSpc>
              <a:buNone/>
            </a:pPr>
            <a:r>
              <a:rPr lang="en-US" sz="1050" dirty="0">
                <a:solidFill>
                  <a:srgbClr val="3A4048"/>
                </a:solidFill>
                <a:latin typeface="Calibri" pitchFamily="34" charset="0"/>
                <a:ea typeface="Calibri" pitchFamily="34" charset="-122"/>
                <a:cs typeface="Calibri" pitchFamily="34" charset="-120"/>
              </a:rPr>
              <a:t>O matriks konfusi teramati, E matriks ekspektasi di bawah independensi. Diimplementasikan ulang secara tervektorisasi, 47 kali lebih cepat, selisih terhadap scikit-learn 4,44 × 10⁻¹⁶ pada 200 uji acak.</a:t>
            </a:r>
            <a:endParaRPr lang="en-US" sz="1050" dirty="0"/>
          </a:p>
        </p:txBody>
      </p:sp>
      <p:sp>
        <p:nvSpPr>
          <p:cNvPr id="8" name="Text 6"/>
          <p:cNvSpPr/>
          <p:nvPr/>
        </p:nvSpPr>
        <p:spPr>
          <a:xfrm>
            <a:off x="6583680" y="1216152"/>
            <a:ext cx="3474720" cy="237744"/>
          </a:xfrm>
          <a:prstGeom prst="rect">
            <a:avLst/>
          </a:prstGeom>
          <a:noFill/>
          <a:ln/>
        </p:spPr>
        <p:txBody>
          <a:bodyPr wrap="square" lIns="0" tIns="0" rIns="0" bIns="0" rtlCol="0" anchor="ctr"/>
          <a:lstStyle/>
          <a:p>
            <a:pPr algn="ctr" indent="0" marL="0">
              <a:buNone/>
            </a:pPr>
            <a:r>
              <a:rPr lang="en-US" sz="1050" b="1" dirty="0">
                <a:solidFill>
                  <a:srgbClr val="6E747C"/>
                </a:solidFill>
                <a:latin typeface="Calibri" pitchFamily="34" charset="0"/>
                <a:ea typeface="Calibri" pitchFamily="34" charset="-122"/>
                <a:cs typeface="Calibri" pitchFamily="34" charset="-120"/>
              </a:rPr>
              <a:t>prediksi</a:t>
            </a:r>
            <a:endParaRPr lang="en-US" sz="1050" dirty="0"/>
          </a:p>
        </p:txBody>
      </p:sp>
      <p:sp>
        <p:nvSpPr>
          <p:cNvPr id="9" name="Text 7"/>
          <p:cNvSpPr/>
          <p:nvPr/>
        </p:nvSpPr>
        <p:spPr>
          <a:xfrm>
            <a:off x="6583680" y="1508760"/>
            <a:ext cx="868680" cy="274320"/>
          </a:xfrm>
          <a:prstGeom prst="rect">
            <a:avLst/>
          </a:prstGeom>
          <a:noFill/>
          <a:ln/>
        </p:spPr>
        <p:txBody>
          <a:bodyPr wrap="square" lIns="0" tIns="0" rIns="0" bIns="0" rtlCol="0" anchor="ctr"/>
          <a:lstStyle/>
          <a:p>
            <a:pPr algn="ctr" indent="0" marL="0">
              <a:buNone/>
            </a:pPr>
            <a:r>
              <a:rPr lang="en-US" sz="1150" b="1" dirty="0">
                <a:solidFill>
                  <a:srgbClr val="3A4048"/>
                </a:solidFill>
                <a:latin typeface="Calibri" pitchFamily="34" charset="0"/>
                <a:ea typeface="Calibri" pitchFamily="34" charset="-122"/>
                <a:cs typeface="Calibri" pitchFamily="34" charset="-120"/>
              </a:rPr>
              <a:t>1</a:t>
            </a:r>
            <a:endParaRPr lang="en-US" sz="1150" dirty="0"/>
          </a:p>
        </p:txBody>
      </p:sp>
      <p:sp>
        <p:nvSpPr>
          <p:cNvPr id="10" name="Text 8"/>
          <p:cNvSpPr/>
          <p:nvPr/>
        </p:nvSpPr>
        <p:spPr>
          <a:xfrm>
            <a:off x="7452360" y="1508760"/>
            <a:ext cx="868680" cy="274320"/>
          </a:xfrm>
          <a:prstGeom prst="rect">
            <a:avLst/>
          </a:prstGeom>
          <a:noFill/>
          <a:ln/>
        </p:spPr>
        <p:txBody>
          <a:bodyPr wrap="square" lIns="0" tIns="0" rIns="0" bIns="0" rtlCol="0" anchor="ctr"/>
          <a:lstStyle/>
          <a:p>
            <a:pPr algn="ctr" indent="0" marL="0">
              <a:buNone/>
            </a:pPr>
            <a:r>
              <a:rPr lang="en-US" sz="1150" b="1" dirty="0">
                <a:solidFill>
                  <a:srgbClr val="3A4048"/>
                </a:solidFill>
                <a:latin typeface="Calibri" pitchFamily="34" charset="0"/>
                <a:ea typeface="Calibri" pitchFamily="34" charset="-122"/>
                <a:cs typeface="Calibri" pitchFamily="34" charset="-120"/>
              </a:rPr>
              <a:t>2</a:t>
            </a:r>
            <a:endParaRPr lang="en-US" sz="1150" dirty="0"/>
          </a:p>
        </p:txBody>
      </p:sp>
      <p:sp>
        <p:nvSpPr>
          <p:cNvPr id="11" name="Text 9"/>
          <p:cNvSpPr/>
          <p:nvPr/>
        </p:nvSpPr>
        <p:spPr>
          <a:xfrm>
            <a:off x="8321040" y="1508760"/>
            <a:ext cx="868680" cy="274320"/>
          </a:xfrm>
          <a:prstGeom prst="rect">
            <a:avLst/>
          </a:prstGeom>
          <a:noFill/>
          <a:ln/>
        </p:spPr>
        <p:txBody>
          <a:bodyPr wrap="square" lIns="0" tIns="0" rIns="0" bIns="0" rtlCol="0" anchor="ctr"/>
          <a:lstStyle/>
          <a:p>
            <a:pPr algn="ctr" indent="0" marL="0">
              <a:buNone/>
            </a:pPr>
            <a:r>
              <a:rPr lang="en-US" sz="1150" b="1" dirty="0">
                <a:solidFill>
                  <a:srgbClr val="3A4048"/>
                </a:solidFill>
                <a:latin typeface="Calibri" pitchFamily="34" charset="0"/>
                <a:ea typeface="Calibri" pitchFamily="34" charset="-122"/>
                <a:cs typeface="Calibri" pitchFamily="34" charset="-120"/>
              </a:rPr>
              <a:t>3</a:t>
            </a:r>
            <a:endParaRPr lang="en-US" sz="1150" dirty="0"/>
          </a:p>
        </p:txBody>
      </p:sp>
      <p:sp>
        <p:nvSpPr>
          <p:cNvPr id="12" name="Text 10"/>
          <p:cNvSpPr/>
          <p:nvPr/>
        </p:nvSpPr>
        <p:spPr>
          <a:xfrm>
            <a:off x="9189720" y="1508760"/>
            <a:ext cx="868680" cy="274320"/>
          </a:xfrm>
          <a:prstGeom prst="rect">
            <a:avLst/>
          </a:prstGeom>
          <a:noFill/>
          <a:ln/>
        </p:spPr>
        <p:txBody>
          <a:bodyPr wrap="square" lIns="0" tIns="0" rIns="0" bIns="0" rtlCol="0" anchor="ctr"/>
          <a:lstStyle/>
          <a:p>
            <a:pPr algn="ctr" indent="0" marL="0">
              <a:buNone/>
            </a:pPr>
            <a:r>
              <a:rPr lang="en-US" sz="1150" b="1" dirty="0">
                <a:solidFill>
                  <a:srgbClr val="3A4048"/>
                </a:solidFill>
                <a:latin typeface="Calibri" pitchFamily="34" charset="0"/>
                <a:ea typeface="Calibri" pitchFamily="34" charset="-122"/>
                <a:cs typeface="Calibri" pitchFamily="34" charset="-120"/>
              </a:rPr>
              <a:t>4</a:t>
            </a:r>
            <a:endParaRPr lang="en-US" sz="1150" dirty="0"/>
          </a:p>
        </p:txBody>
      </p:sp>
      <p:sp>
        <p:nvSpPr>
          <p:cNvPr id="13" name="Text 11"/>
          <p:cNvSpPr/>
          <p:nvPr/>
        </p:nvSpPr>
        <p:spPr>
          <a:xfrm>
            <a:off x="5102352" y="2578608"/>
            <a:ext cx="786384" cy="274320"/>
          </a:xfrm>
          <a:prstGeom prst="rect">
            <a:avLst/>
          </a:prstGeom>
          <a:noFill/>
          <a:ln/>
        </p:spPr>
        <p:txBody>
          <a:bodyPr wrap="square" lIns="0" tIns="0" rIns="0" bIns="0" rtlCol="0" anchor="ctr"/>
          <a:lstStyle/>
          <a:p>
            <a:pPr algn="r" indent="0" marL="0">
              <a:buNone/>
            </a:pPr>
            <a:r>
              <a:rPr lang="en-US" sz="1050" b="1" dirty="0">
                <a:solidFill>
                  <a:srgbClr val="6E747C"/>
                </a:solidFill>
                <a:latin typeface="Calibri" pitchFamily="34" charset="0"/>
                <a:ea typeface="Calibri" pitchFamily="34" charset="-122"/>
                <a:cs typeface="Calibri" pitchFamily="34" charset="-120"/>
              </a:rPr>
              <a:t>aktual</a:t>
            </a:r>
            <a:endParaRPr lang="en-US" sz="1050" dirty="0"/>
          </a:p>
        </p:txBody>
      </p:sp>
      <p:sp>
        <p:nvSpPr>
          <p:cNvPr id="14" name="Text 12"/>
          <p:cNvSpPr/>
          <p:nvPr/>
        </p:nvSpPr>
        <p:spPr>
          <a:xfrm>
            <a:off x="6144768" y="1874520"/>
            <a:ext cx="292608" cy="420624"/>
          </a:xfrm>
          <a:prstGeom prst="rect">
            <a:avLst/>
          </a:prstGeom>
          <a:noFill/>
          <a:ln/>
        </p:spPr>
        <p:txBody>
          <a:bodyPr wrap="square" lIns="0" tIns="0" rIns="0" bIns="0" rtlCol="0" anchor="ctr"/>
          <a:lstStyle/>
          <a:p>
            <a:pPr algn="r" indent="0" marL="0">
              <a:buNone/>
            </a:pPr>
            <a:r>
              <a:rPr lang="en-US" sz="1150" b="1" dirty="0">
                <a:solidFill>
                  <a:srgbClr val="3A4048"/>
                </a:solidFill>
                <a:latin typeface="Calibri" pitchFamily="34" charset="0"/>
                <a:ea typeface="Calibri" pitchFamily="34" charset="-122"/>
                <a:cs typeface="Calibri" pitchFamily="34" charset="-120"/>
              </a:rPr>
              <a:t>1</a:t>
            </a:r>
            <a:endParaRPr lang="en-US" sz="1150" dirty="0"/>
          </a:p>
        </p:txBody>
      </p:sp>
      <p:sp>
        <p:nvSpPr>
          <p:cNvPr id="15" name="Shape 13"/>
          <p:cNvSpPr/>
          <p:nvPr/>
        </p:nvSpPr>
        <p:spPr>
          <a:xfrm>
            <a:off x="6583680" y="1874520"/>
            <a:ext cx="822960" cy="374904"/>
          </a:xfrm>
          <a:prstGeom prst="rect">
            <a:avLst/>
          </a:prstGeom>
          <a:solidFill>
            <a:srgbClr val="F4F1EC"/>
          </a:solidFill>
          <a:ln w="15240">
            <a:solidFill>
              <a:srgbClr val="FFFFFF"/>
            </a:solidFill>
            <a:prstDash val="solid"/>
          </a:ln>
        </p:spPr>
      </p:sp>
      <p:sp>
        <p:nvSpPr>
          <p:cNvPr id="16" name="Text 14"/>
          <p:cNvSpPr/>
          <p:nvPr/>
        </p:nvSpPr>
        <p:spPr>
          <a:xfrm>
            <a:off x="6583680" y="1874520"/>
            <a:ext cx="822960" cy="374904"/>
          </a:xfrm>
          <a:prstGeom prst="rect">
            <a:avLst/>
          </a:prstGeom>
          <a:noFill/>
          <a:ln/>
        </p:spPr>
        <p:txBody>
          <a:bodyPr wrap="square" lIns="0" tIns="0" rIns="0" bIns="0" rtlCol="0" anchor="ctr"/>
          <a:lstStyle/>
          <a:p>
            <a:pPr algn="ctr" indent="0" marL="0">
              <a:buNone/>
            </a:pPr>
            <a:r>
              <a:rPr lang="en-US" sz="1200" b="1" dirty="0">
                <a:solidFill>
                  <a:srgbClr val="9AA0A7"/>
                </a:solidFill>
                <a:latin typeface="Calibri" pitchFamily="34" charset="0"/>
                <a:ea typeface="Calibri" pitchFamily="34" charset="-122"/>
                <a:cs typeface="Calibri" pitchFamily="34" charset="-120"/>
              </a:rPr>
              <a:t>0</a:t>
            </a:r>
            <a:endParaRPr lang="en-US" sz="1200" dirty="0"/>
          </a:p>
        </p:txBody>
      </p:sp>
      <p:sp>
        <p:nvSpPr>
          <p:cNvPr id="17" name="Shape 15"/>
          <p:cNvSpPr/>
          <p:nvPr/>
        </p:nvSpPr>
        <p:spPr>
          <a:xfrm>
            <a:off x="7452360" y="1874520"/>
            <a:ext cx="822960" cy="374904"/>
          </a:xfrm>
          <a:prstGeom prst="rect">
            <a:avLst/>
          </a:prstGeom>
          <a:solidFill>
            <a:srgbClr val="8FB0A4"/>
          </a:solidFill>
          <a:ln w="15240">
            <a:solidFill>
              <a:srgbClr val="FFFFFF"/>
            </a:solidFill>
            <a:prstDash val="solid"/>
          </a:ln>
        </p:spPr>
      </p:sp>
      <p:sp>
        <p:nvSpPr>
          <p:cNvPr id="18" name="Text 16"/>
          <p:cNvSpPr/>
          <p:nvPr/>
        </p:nvSpPr>
        <p:spPr>
          <a:xfrm>
            <a:off x="7452360" y="1874520"/>
            <a:ext cx="822960" cy="374904"/>
          </a:xfrm>
          <a:prstGeom prst="rect">
            <a:avLst/>
          </a:prstGeom>
          <a:noFill/>
          <a:ln/>
        </p:spPr>
        <p:txBody>
          <a:bodyPr wrap="square" lIns="0" tIns="0" rIns="0" bIns="0" rtlCol="0" anchor="ctr"/>
          <a:lstStyle/>
          <a:p>
            <a:pPr algn="ctr" indent="0" marL="0">
              <a:buNone/>
            </a:pPr>
            <a:r>
              <a:rPr lang="en-US" sz="1200" b="1" dirty="0">
                <a:solidFill>
                  <a:srgbClr val="16191D"/>
                </a:solidFill>
                <a:latin typeface="Calibri" pitchFamily="34" charset="0"/>
                <a:ea typeface="Calibri" pitchFamily="34" charset="-122"/>
                <a:cs typeface="Calibri" pitchFamily="34" charset="-120"/>
              </a:rPr>
              <a:t>1</a:t>
            </a:r>
            <a:endParaRPr lang="en-US" sz="1200" dirty="0"/>
          </a:p>
        </p:txBody>
      </p:sp>
      <p:sp>
        <p:nvSpPr>
          <p:cNvPr id="19" name="Shape 17"/>
          <p:cNvSpPr/>
          <p:nvPr/>
        </p:nvSpPr>
        <p:spPr>
          <a:xfrm>
            <a:off x="8321040" y="1874520"/>
            <a:ext cx="822960" cy="374904"/>
          </a:xfrm>
          <a:prstGeom prst="rect">
            <a:avLst/>
          </a:prstGeom>
          <a:solidFill>
            <a:srgbClr val="D8A25E"/>
          </a:solidFill>
          <a:ln w="15240">
            <a:solidFill>
              <a:srgbClr val="FFFFFF"/>
            </a:solidFill>
            <a:prstDash val="solid"/>
          </a:ln>
        </p:spPr>
      </p:sp>
      <p:sp>
        <p:nvSpPr>
          <p:cNvPr id="20" name="Text 18"/>
          <p:cNvSpPr/>
          <p:nvPr/>
        </p:nvSpPr>
        <p:spPr>
          <a:xfrm>
            <a:off x="8321040" y="1874520"/>
            <a:ext cx="822960" cy="374904"/>
          </a:xfrm>
          <a:prstGeom prst="rect">
            <a:avLst/>
          </a:prstGeom>
          <a:noFill/>
          <a:ln/>
        </p:spPr>
        <p:txBody>
          <a:bodyPr wrap="square" lIns="0" tIns="0" rIns="0" bIns="0" rtlCol="0" anchor="ctr"/>
          <a:lstStyle/>
          <a:p>
            <a:pPr algn="ctr" indent="0" marL="0">
              <a:buNone/>
            </a:pPr>
            <a:r>
              <a:rPr lang="en-US" sz="1200" b="1" dirty="0">
                <a:solidFill>
                  <a:srgbClr val="16191D"/>
                </a:solidFill>
                <a:latin typeface="Calibri" pitchFamily="34" charset="0"/>
                <a:ea typeface="Calibri" pitchFamily="34" charset="-122"/>
                <a:cs typeface="Calibri" pitchFamily="34" charset="-120"/>
              </a:rPr>
              <a:t>4</a:t>
            </a:r>
            <a:endParaRPr lang="en-US" sz="1200" dirty="0"/>
          </a:p>
        </p:txBody>
      </p:sp>
      <p:sp>
        <p:nvSpPr>
          <p:cNvPr id="21" name="Shape 19"/>
          <p:cNvSpPr/>
          <p:nvPr/>
        </p:nvSpPr>
        <p:spPr>
          <a:xfrm>
            <a:off x="9189720" y="1874520"/>
            <a:ext cx="822960" cy="374904"/>
          </a:xfrm>
          <a:prstGeom prst="rect">
            <a:avLst/>
          </a:prstGeom>
          <a:solidFill>
            <a:srgbClr val="A8442A"/>
          </a:solidFill>
          <a:ln w="15240">
            <a:solidFill>
              <a:srgbClr val="FFFFFF"/>
            </a:solidFill>
            <a:prstDash val="solid"/>
          </a:ln>
        </p:spPr>
      </p:sp>
      <p:sp>
        <p:nvSpPr>
          <p:cNvPr id="22" name="Text 20"/>
          <p:cNvSpPr/>
          <p:nvPr/>
        </p:nvSpPr>
        <p:spPr>
          <a:xfrm>
            <a:off x="9189720" y="1874520"/>
            <a:ext cx="822960" cy="37490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9</a:t>
            </a:r>
            <a:endParaRPr lang="en-US" sz="1200" dirty="0"/>
          </a:p>
        </p:txBody>
      </p:sp>
      <p:sp>
        <p:nvSpPr>
          <p:cNvPr id="23" name="Text 21"/>
          <p:cNvSpPr/>
          <p:nvPr/>
        </p:nvSpPr>
        <p:spPr>
          <a:xfrm>
            <a:off x="6144768" y="2295144"/>
            <a:ext cx="292608" cy="420624"/>
          </a:xfrm>
          <a:prstGeom prst="rect">
            <a:avLst/>
          </a:prstGeom>
          <a:noFill/>
          <a:ln/>
        </p:spPr>
        <p:txBody>
          <a:bodyPr wrap="square" lIns="0" tIns="0" rIns="0" bIns="0" rtlCol="0" anchor="ctr"/>
          <a:lstStyle/>
          <a:p>
            <a:pPr algn="r" indent="0" marL="0">
              <a:buNone/>
            </a:pPr>
            <a:r>
              <a:rPr lang="en-US" sz="1150" b="1" dirty="0">
                <a:solidFill>
                  <a:srgbClr val="3A4048"/>
                </a:solidFill>
                <a:latin typeface="Calibri" pitchFamily="34" charset="0"/>
                <a:ea typeface="Calibri" pitchFamily="34" charset="-122"/>
                <a:cs typeface="Calibri" pitchFamily="34" charset="-120"/>
              </a:rPr>
              <a:t>2</a:t>
            </a:r>
            <a:endParaRPr lang="en-US" sz="1150" dirty="0"/>
          </a:p>
        </p:txBody>
      </p:sp>
      <p:sp>
        <p:nvSpPr>
          <p:cNvPr id="24" name="Shape 22"/>
          <p:cNvSpPr/>
          <p:nvPr/>
        </p:nvSpPr>
        <p:spPr>
          <a:xfrm>
            <a:off x="6583680" y="2295144"/>
            <a:ext cx="822960" cy="374904"/>
          </a:xfrm>
          <a:prstGeom prst="rect">
            <a:avLst/>
          </a:prstGeom>
          <a:solidFill>
            <a:srgbClr val="8FB0A4"/>
          </a:solidFill>
          <a:ln w="15240">
            <a:solidFill>
              <a:srgbClr val="FFFFFF"/>
            </a:solidFill>
            <a:prstDash val="solid"/>
          </a:ln>
        </p:spPr>
      </p:sp>
      <p:sp>
        <p:nvSpPr>
          <p:cNvPr id="25" name="Text 23"/>
          <p:cNvSpPr/>
          <p:nvPr/>
        </p:nvSpPr>
        <p:spPr>
          <a:xfrm>
            <a:off x="6583680" y="2295144"/>
            <a:ext cx="822960" cy="374904"/>
          </a:xfrm>
          <a:prstGeom prst="rect">
            <a:avLst/>
          </a:prstGeom>
          <a:noFill/>
          <a:ln/>
        </p:spPr>
        <p:txBody>
          <a:bodyPr wrap="square" lIns="0" tIns="0" rIns="0" bIns="0" rtlCol="0" anchor="ctr"/>
          <a:lstStyle/>
          <a:p>
            <a:pPr algn="ctr" indent="0" marL="0">
              <a:buNone/>
            </a:pPr>
            <a:r>
              <a:rPr lang="en-US" sz="1200" b="1" dirty="0">
                <a:solidFill>
                  <a:srgbClr val="16191D"/>
                </a:solidFill>
                <a:latin typeface="Calibri" pitchFamily="34" charset="0"/>
                <a:ea typeface="Calibri" pitchFamily="34" charset="-122"/>
                <a:cs typeface="Calibri" pitchFamily="34" charset="-120"/>
              </a:rPr>
              <a:t>1</a:t>
            </a:r>
            <a:endParaRPr lang="en-US" sz="1200" dirty="0"/>
          </a:p>
        </p:txBody>
      </p:sp>
      <p:sp>
        <p:nvSpPr>
          <p:cNvPr id="26" name="Shape 24"/>
          <p:cNvSpPr/>
          <p:nvPr/>
        </p:nvSpPr>
        <p:spPr>
          <a:xfrm>
            <a:off x="7452360" y="2295144"/>
            <a:ext cx="822960" cy="374904"/>
          </a:xfrm>
          <a:prstGeom prst="rect">
            <a:avLst/>
          </a:prstGeom>
          <a:solidFill>
            <a:srgbClr val="F4F1EC"/>
          </a:solidFill>
          <a:ln w="15240">
            <a:solidFill>
              <a:srgbClr val="FFFFFF"/>
            </a:solidFill>
            <a:prstDash val="solid"/>
          </a:ln>
        </p:spPr>
      </p:sp>
      <p:sp>
        <p:nvSpPr>
          <p:cNvPr id="27" name="Text 25"/>
          <p:cNvSpPr/>
          <p:nvPr/>
        </p:nvSpPr>
        <p:spPr>
          <a:xfrm>
            <a:off x="7452360" y="2295144"/>
            <a:ext cx="822960" cy="374904"/>
          </a:xfrm>
          <a:prstGeom prst="rect">
            <a:avLst/>
          </a:prstGeom>
          <a:noFill/>
          <a:ln/>
        </p:spPr>
        <p:txBody>
          <a:bodyPr wrap="square" lIns="0" tIns="0" rIns="0" bIns="0" rtlCol="0" anchor="ctr"/>
          <a:lstStyle/>
          <a:p>
            <a:pPr algn="ctr" indent="0" marL="0">
              <a:buNone/>
            </a:pPr>
            <a:r>
              <a:rPr lang="en-US" sz="1200" b="1" dirty="0">
                <a:solidFill>
                  <a:srgbClr val="9AA0A7"/>
                </a:solidFill>
                <a:latin typeface="Calibri" pitchFamily="34" charset="0"/>
                <a:ea typeface="Calibri" pitchFamily="34" charset="-122"/>
                <a:cs typeface="Calibri" pitchFamily="34" charset="-120"/>
              </a:rPr>
              <a:t>0</a:t>
            </a:r>
            <a:endParaRPr lang="en-US" sz="1200" dirty="0"/>
          </a:p>
        </p:txBody>
      </p:sp>
      <p:sp>
        <p:nvSpPr>
          <p:cNvPr id="28" name="Shape 26"/>
          <p:cNvSpPr/>
          <p:nvPr/>
        </p:nvSpPr>
        <p:spPr>
          <a:xfrm>
            <a:off x="8321040" y="2295144"/>
            <a:ext cx="822960" cy="374904"/>
          </a:xfrm>
          <a:prstGeom prst="rect">
            <a:avLst/>
          </a:prstGeom>
          <a:solidFill>
            <a:srgbClr val="8FB0A4"/>
          </a:solidFill>
          <a:ln w="15240">
            <a:solidFill>
              <a:srgbClr val="FFFFFF"/>
            </a:solidFill>
            <a:prstDash val="solid"/>
          </a:ln>
        </p:spPr>
      </p:sp>
      <p:sp>
        <p:nvSpPr>
          <p:cNvPr id="29" name="Text 27"/>
          <p:cNvSpPr/>
          <p:nvPr/>
        </p:nvSpPr>
        <p:spPr>
          <a:xfrm>
            <a:off x="8321040" y="2295144"/>
            <a:ext cx="822960" cy="374904"/>
          </a:xfrm>
          <a:prstGeom prst="rect">
            <a:avLst/>
          </a:prstGeom>
          <a:noFill/>
          <a:ln/>
        </p:spPr>
        <p:txBody>
          <a:bodyPr wrap="square" lIns="0" tIns="0" rIns="0" bIns="0" rtlCol="0" anchor="ctr"/>
          <a:lstStyle/>
          <a:p>
            <a:pPr algn="ctr" indent="0" marL="0">
              <a:buNone/>
            </a:pPr>
            <a:r>
              <a:rPr lang="en-US" sz="1200" b="1" dirty="0">
                <a:solidFill>
                  <a:srgbClr val="16191D"/>
                </a:solidFill>
                <a:latin typeface="Calibri" pitchFamily="34" charset="0"/>
                <a:ea typeface="Calibri" pitchFamily="34" charset="-122"/>
                <a:cs typeface="Calibri" pitchFamily="34" charset="-120"/>
              </a:rPr>
              <a:t>1</a:t>
            </a:r>
            <a:endParaRPr lang="en-US" sz="1200" dirty="0"/>
          </a:p>
        </p:txBody>
      </p:sp>
      <p:sp>
        <p:nvSpPr>
          <p:cNvPr id="30" name="Shape 28"/>
          <p:cNvSpPr/>
          <p:nvPr/>
        </p:nvSpPr>
        <p:spPr>
          <a:xfrm>
            <a:off x="9189720" y="2295144"/>
            <a:ext cx="822960" cy="374904"/>
          </a:xfrm>
          <a:prstGeom prst="rect">
            <a:avLst/>
          </a:prstGeom>
          <a:solidFill>
            <a:srgbClr val="D8A25E"/>
          </a:solidFill>
          <a:ln w="15240">
            <a:solidFill>
              <a:srgbClr val="FFFFFF"/>
            </a:solidFill>
            <a:prstDash val="solid"/>
          </a:ln>
        </p:spPr>
      </p:sp>
      <p:sp>
        <p:nvSpPr>
          <p:cNvPr id="31" name="Text 29"/>
          <p:cNvSpPr/>
          <p:nvPr/>
        </p:nvSpPr>
        <p:spPr>
          <a:xfrm>
            <a:off x="9189720" y="2295144"/>
            <a:ext cx="822960" cy="374904"/>
          </a:xfrm>
          <a:prstGeom prst="rect">
            <a:avLst/>
          </a:prstGeom>
          <a:noFill/>
          <a:ln/>
        </p:spPr>
        <p:txBody>
          <a:bodyPr wrap="square" lIns="0" tIns="0" rIns="0" bIns="0" rtlCol="0" anchor="ctr"/>
          <a:lstStyle/>
          <a:p>
            <a:pPr algn="ctr" indent="0" marL="0">
              <a:buNone/>
            </a:pPr>
            <a:r>
              <a:rPr lang="en-US" sz="1200" b="1" dirty="0">
                <a:solidFill>
                  <a:srgbClr val="16191D"/>
                </a:solidFill>
                <a:latin typeface="Calibri" pitchFamily="34" charset="0"/>
                <a:ea typeface="Calibri" pitchFamily="34" charset="-122"/>
                <a:cs typeface="Calibri" pitchFamily="34" charset="-120"/>
              </a:rPr>
              <a:t>4</a:t>
            </a:r>
            <a:endParaRPr lang="en-US" sz="1200" dirty="0"/>
          </a:p>
        </p:txBody>
      </p:sp>
      <p:sp>
        <p:nvSpPr>
          <p:cNvPr id="32" name="Text 30"/>
          <p:cNvSpPr/>
          <p:nvPr/>
        </p:nvSpPr>
        <p:spPr>
          <a:xfrm>
            <a:off x="6144768" y="2715768"/>
            <a:ext cx="292608" cy="420624"/>
          </a:xfrm>
          <a:prstGeom prst="rect">
            <a:avLst/>
          </a:prstGeom>
          <a:noFill/>
          <a:ln/>
        </p:spPr>
        <p:txBody>
          <a:bodyPr wrap="square" lIns="0" tIns="0" rIns="0" bIns="0" rtlCol="0" anchor="ctr"/>
          <a:lstStyle/>
          <a:p>
            <a:pPr algn="r" indent="0" marL="0">
              <a:buNone/>
            </a:pPr>
            <a:r>
              <a:rPr lang="en-US" sz="1150" b="1" dirty="0">
                <a:solidFill>
                  <a:srgbClr val="3A4048"/>
                </a:solidFill>
                <a:latin typeface="Calibri" pitchFamily="34" charset="0"/>
                <a:ea typeface="Calibri" pitchFamily="34" charset="-122"/>
                <a:cs typeface="Calibri" pitchFamily="34" charset="-120"/>
              </a:rPr>
              <a:t>3</a:t>
            </a:r>
            <a:endParaRPr lang="en-US" sz="1150" dirty="0"/>
          </a:p>
        </p:txBody>
      </p:sp>
      <p:sp>
        <p:nvSpPr>
          <p:cNvPr id="33" name="Shape 31"/>
          <p:cNvSpPr/>
          <p:nvPr/>
        </p:nvSpPr>
        <p:spPr>
          <a:xfrm>
            <a:off x="6583680" y="2715768"/>
            <a:ext cx="822960" cy="374904"/>
          </a:xfrm>
          <a:prstGeom prst="rect">
            <a:avLst/>
          </a:prstGeom>
          <a:solidFill>
            <a:srgbClr val="D8A25E"/>
          </a:solidFill>
          <a:ln w="15240">
            <a:solidFill>
              <a:srgbClr val="FFFFFF"/>
            </a:solidFill>
            <a:prstDash val="solid"/>
          </a:ln>
        </p:spPr>
      </p:sp>
      <p:sp>
        <p:nvSpPr>
          <p:cNvPr id="34" name="Text 32"/>
          <p:cNvSpPr/>
          <p:nvPr/>
        </p:nvSpPr>
        <p:spPr>
          <a:xfrm>
            <a:off x="6583680" y="2715768"/>
            <a:ext cx="822960" cy="374904"/>
          </a:xfrm>
          <a:prstGeom prst="rect">
            <a:avLst/>
          </a:prstGeom>
          <a:noFill/>
          <a:ln/>
        </p:spPr>
        <p:txBody>
          <a:bodyPr wrap="square" lIns="0" tIns="0" rIns="0" bIns="0" rtlCol="0" anchor="ctr"/>
          <a:lstStyle/>
          <a:p>
            <a:pPr algn="ctr" indent="0" marL="0">
              <a:buNone/>
            </a:pPr>
            <a:r>
              <a:rPr lang="en-US" sz="1200" b="1" dirty="0">
                <a:solidFill>
                  <a:srgbClr val="16191D"/>
                </a:solidFill>
                <a:latin typeface="Calibri" pitchFamily="34" charset="0"/>
                <a:ea typeface="Calibri" pitchFamily="34" charset="-122"/>
                <a:cs typeface="Calibri" pitchFamily="34" charset="-120"/>
              </a:rPr>
              <a:t>4</a:t>
            </a:r>
            <a:endParaRPr lang="en-US" sz="1200" dirty="0"/>
          </a:p>
        </p:txBody>
      </p:sp>
      <p:sp>
        <p:nvSpPr>
          <p:cNvPr id="35" name="Shape 33"/>
          <p:cNvSpPr/>
          <p:nvPr/>
        </p:nvSpPr>
        <p:spPr>
          <a:xfrm>
            <a:off x="7452360" y="2715768"/>
            <a:ext cx="822960" cy="374904"/>
          </a:xfrm>
          <a:prstGeom prst="rect">
            <a:avLst/>
          </a:prstGeom>
          <a:solidFill>
            <a:srgbClr val="8FB0A4"/>
          </a:solidFill>
          <a:ln w="15240">
            <a:solidFill>
              <a:srgbClr val="FFFFFF"/>
            </a:solidFill>
            <a:prstDash val="solid"/>
          </a:ln>
        </p:spPr>
      </p:sp>
      <p:sp>
        <p:nvSpPr>
          <p:cNvPr id="36" name="Text 34"/>
          <p:cNvSpPr/>
          <p:nvPr/>
        </p:nvSpPr>
        <p:spPr>
          <a:xfrm>
            <a:off x="7452360" y="2715768"/>
            <a:ext cx="822960" cy="374904"/>
          </a:xfrm>
          <a:prstGeom prst="rect">
            <a:avLst/>
          </a:prstGeom>
          <a:noFill/>
          <a:ln/>
        </p:spPr>
        <p:txBody>
          <a:bodyPr wrap="square" lIns="0" tIns="0" rIns="0" bIns="0" rtlCol="0" anchor="ctr"/>
          <a:lstStyle/>
          <a:p>
            <a:pPr algn="ctr" indent="0" marL="0">
              <a:buNone/>
            </a:pPr>
            <a:r>
              <a:rPr lang="en-US" sz="1200" b="1" dirty="0">
                <a:solidFill>
                  <a:srgbClr val="16191D"/>
                </a:solidFill>
                <a:latin typeface="Calibri" pitchFamily="34" charset="0"/>
                <a:ea typeface="Calibri" pitchFamily="34" charset="-122"/>
                <a:cs typeface="Calibri" pitchFamily="34" charset="-120"/>
              </a:rPr>
              <a:t>1</a:t>
            </a:r>
            <a:endParaRPr lang="en-US" sz="1200" dirty="0"/>
          </a:p>
        </p:txBody>
      </p:sp>
      <p:sp>
        <p:nvSpPr>
          <p:cNvPr id="37" name="Shape 35"/>
          <p:cNvSpPr/>
          <p:nvPr/>
        </p:nvSpPr>
        <p:spPr>
          <a:xfrm>
            <a:off x="8321040" y="2715768"/>
            <a:ext cx="822960" cy="374904"/>
          </a:xfrm>
          <a:prstGeom prst="rect">
            <a:avLst/>
          </a:prstGeom>
          <a:solidFill>
            <a:srgbClr val="F4F1EC"/>
          </a:solidFill>
          <a:ln w="15240">
            <a:solidFill>
              <a:srgbClr val="FFFFFF"/>
            </a:solidFill>
            <a:prstDash val="solid"/>
          </a:ln>
        </p:spPr>
      </p:sp>
      <p:sp>
        <p:nvSpPr>
          <p:cNvPr id="38" name="Text 36"/>
          <p:cNvSpPr/>
          <p:nvPr/>
        </p:nvSpPr>
        <p:spPr>
          <a:xfrm>
            <a:off x="8321040" y="2715768"/>
            <a:ext cx="822960" cy="374904"/>
          </a:xfrm>
          <a:prstGeom prst="rect">
            <a:avLst/>
          </a:prstGeom>
          <a:noFill/>
          <a:ln/>
        </p:spPr>
        <p:txBody>
          <a:bodyPr wrap="square" lIns="0" tIns="0" rIns="0" bIns="0" rtlCol="0" anchor="ctr"/>
          <a:lstStyle/>
          <a:p>
            <a:pPr algn="ctr" indent="0" marL="0">
              <a:buNone/>
            </a:pPr>
            <a:r>
              <a:rPr lang="en-US" sz="1200" b="1" dirty="0">
                <a:solidFill>
                  <a:srgbClr val="9AA0A7"/>
                </a:solidFill>
                <a:latin typeface="Calibri" pitchFamily="34" charset="0"/>
                <a:ea typeface="Calibri" pitchFamily="34" charset="-122"/>
                <a:cs typeface="Calibri" pitchFamily="34" charset="-120"/>
              </a:rPr>
              <a:t>0</a:t>
            </a:r>
            <a:endParaRPr lang="en-US" sz="1200" dirty="0"/>
          </a:p>
        </p:txBody>
      </p:sp>
      <p:sp>
        <p:nvSpPr>
          <p:cNvPr id="39" name="Shape 37"/>
          <p:cNvSpPr/>
          <p:nvPr/>
        </p:nvSpPr>
        <p:spPr>
          <a:xfrm>
            <a:off x="9189720" y="2715768"/>
            <a:ext cx="822960" cy="374904"/>
          </a:xfrm>
          <a:prstGeom prst="rect">
            <a:avLst/>
          </a:prstGeom>
          <a:solidFill>
            <a:srgbClr val="8FB0A4"/>
          </a:solidFill>
          <a:ln w="15240">
            <a:solidFill>
              <a:srgbClr val="FFFFFF"/>
            </a:solidFill>
            <a:prstDash val="solid"/>
          </a:ln>
        </p:spPr>
      </p:sp>
      <p:sp>
        <p:nvSpPr>
          <p:cNvPr id="40" name="Text 38"/>
          <p:cNvSpPr/>
          <p:nvPr/>
        </p:nvSpPr>
        <p:spPr>
          <a:xfrm>
            <a:off x="9189720" y="2715768"/>
            <a:ext cx="822960" cy="374904"/>
          </a:xfrm>
          <a:prstGeom prst="rect">
            <a:avLst/>
          </a:prstGeom>
          <a:noFill/>
          <a:ln/>
        </p:spPr>
        <p:txBody>
          <a:bodyPr wrap="square" lIns="0" tIns="0" rIns="0" bIns="0" rtlCol="0" anchor="ctr"/>
          <a:lstStyle/>
          <a:p>
            <a:pPr algn="ctr" indent="0" marL="0">
              <a:buNone/>
            </a:pPr>
            <a:r>
              <a:rPr lang="en-US" sz="1200" b="1" dirty="0">
                <a:solidFill>
                  <a:srgbClr val="16191D"/>
                </a:solidFill>
                <a:latin typeface="Calibri" pitchFamily="34" charset="0"/>
                <a:ea typeface="Calibri" pitchFamily="34" charset="-122"/>
                <a:cs typeface="Calibri" pitchFamily="34" charset="-120"/>
              </a:rPr>
              <a:t>1</a:t>
            </a:r>
            <a:endParaRPr lang="en-US" sz="1200" dirty="0"/>
          </a:p>
        </p:txBody>
      </p:sp>
      <p:sp>
        <p:nvSpPr>
          <p:cNvPr id="41" name="Text 39"/>
          <p:cNvSpPr/>
          <p:nvPr/>
        </p:nvSpPr>
        <p:spPr>
          <a:xfrm>
            <a:off x="6144768" y="3136392"/>
            <a:ext cx="292608" cy="420624"/>
          </a:xfrm>
          <a:prstGeom prst="rect">
            <a:avLst/>
          </a:prstGeom>
          <a:noFill/>
          <a:ln/>
        </p:spPr>
        <p:txBody>
          <a:bodyPr wrap="square" lIns="0" tIns="0" rIns="0" bIns="0" rtlCol="0" anchor="ctr"/>
          <a:lstStyle/>
          <a:p>
            <a:pPr algn="r" indent="0" marL="0">
              <a:buNone/>
            </a:pPr>
            <a:r>
              <a:rPr lang="en-US" sz="1150" b="1" dirty="0">
                <a:solidFill>
                  <a:srgbClr val="3A4048"/>
                </a:solidFill>
                <a:latin typeface="Calibri" pitchFamily="34" charset="0"/>
                <a:ea typeface="Calibri" pitchFamily="34" charset="-122"/>
                <a:cs typeface="Calibri" pitchFamily="34" charset="-120"/>
              </a:rPr>
              <a:t>4</a:t>
            </a:r>
            <a:endParaRPr lang="en-US" sz="1150" dirty="0"/>
          </a:p>
        </p:txBody>
      </p:sp>
      <p:sp>
        <p:nvSpPr>
          <p:cNvPr id="42" name="Shape 40"/>
          <p:cNvSpPr/>
          <p:nvPr/>
        </p:nvSpPr>
        <p:spPr>
          <a:xfrm>
            <a:off x="6583680" y="3136392"/>
            <a:ext cx="822960" cy="374904"/>
          </a:xfrm>
          <a:prstGeom prst="rect">
            <a:avLst/>
          </a:prstGeom>
          <a:solidFill>
            <a:srgbClr val="A8442A"/>
          </a:solidFill>
          <a:ln w="15240">
            <a:solidFill>
              <a:srgbClr val="FFFFFF"/>
            </a:solidFill>
            <a:prstDash val="solid"/>
          </a:ln>
        </p:spPr>
      </p:sp>
      <p:sp>
        <p:nvSpPr>
          <p:cNvPr id="43" name="Text 41"/>
          <p:cNvSpPr/>
          <p:nvPr/>
        </p:nvSpPr>
        <p:spPr>
          <a:xfrm>
            <a:off x="6583680" y="3136392"/>
            <a:ext cx="822960" cy="37490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9</a:t>
            </a:r>
            <a:endParaRPr lang="en-US" sz="1200" dirty="0"/>
          </a:p>
        </p:txBody>
      </p:sp>
      <p:sp>
        <p:nvSpPr>
          <p:cNvPr id="44" name="Shape 42"/>
          <p:cNvSpPr/>
          <p:nvPr/>
        </p:nvSpPr>
        <p:spPr>
          <a:xfrm>
            <a:off x="7452360" y="3136392"/>
            <a:ext cx="822960" cy="374904"/>
          </a:xfrm>
          <a:prstGeom prst="rect">
            <a:avLst/>
          </a:prstGeom>
          <a:solidFill>
            <a:srgbClr val="D8A25E"/>
          </a:solidFill>
          <a:ln w="15240">
            <a:solidFill>
              <a:srgbClr val="FFFFFF"/>
            </a:solidFill>
            <a:prstDash val="solid"/>
          </a:ln>
        </p:spPr>
      </p:sp>
      <p:sp>
        <p:nvSpPr>
          <p:cNvPr id="45" name="Text 43"/>
          <p:cNvSpPr/>
          <p:nvPr/>
        </p:nvSpPr>
        <p:spPr>
          <a:xfrm>
            <a:off x="7452360" y="3136392"/>
            <a:ext cx="822960" cy="374904"/>
          </a:xfrm>
          <a:prstGeom prst="rect">
            <a:avLst/>
          </a:prstGeom>
          <a:noFill/>
          <a:ln/>
        </p:spPr>
        <p:txBody>
          <a:bodyPr wrap="square" lIns="0" tIns="0" rIns="0" bIns="0" rtlCol="0" anchor="ctr"/>
          <a:lstStyle/>
          <a:p>
            <a:pPr algn="ctr" indent="0" marL="0">
              <a:buNone/>
            </a:pPr>
            <a:r>
              <a:rPr lang="en-US" sz="1200" b="1" dirty="0">
                <a:solidFill>
                  <a:srgbClr val="16191D"/>
                </a:solidFill>
                <a:latin typeface="Calibri" pitchFamily="34" charset="0"/>
                <a:ea typeface="Calibri" pitchFamily="34" charset="-122"/>
                <a:cs typeface="Calibri" pitchFamily="34" charset="-120"/>
              </a:rPr>
              <a:t>4</a:t>
            </a:r>
            <a:endParaRPr lang="en-US" sz="1200" dirty="0"/>
          </a:p>
        </p:txBody>
      </p:sp>
      <p:sp>
        <p:nvSpPr>
          <p:cNvPr id="46" name="Shape 44"/>
          <p:cNvSpPr/>
          <p:nvPr/>
        </p:nvSpPr>
        <p:spPr>
          <a:xfrm>
            <a:off x="8321040" y="3136392"/>
            <a:ext cx="822960" cy="374904"/>
          </a:xfrm>
          <a:prstGeom prst="rect">
            <a:avLst/>
          </a:prstGeom>
          <a:solidFill>
            <a:srgbClr val="8FB0A4"/>
          </a:solidFill>
          <a:ln w="15240">
            <a:solidFill>
              <a:srgbClr val="FFFFFF"/>
            </a:solidFill>
            <a:prstDash val="solid"/>
          </a:ln>
        </p:spPr>
      </p:sp>
      <p:sp>
        <p:nvSpPr>
          <p:cNvPr id="47" name="Text 45"/>
          <p:cNvSpPr/>
          <p:nvPr/>
        </p:nvSpPr>
        <p:spPr>
          <a:xfrm>
            <a:off x="8321040" y="3136392"/>
            <a:ext cx="822960" cy="374904"/>
          </a:xfrm>
          <a:prstGeom prst="rect">
            <a:avLst/>
          </a:prstGeom>
          <a:noFill/>
          <a:ln/>
        </p:spPr>
        <p:txBody>
          <a:bodyPr wrap="square" lIns="0" tIns="0" rIns="0" bIns="0" rtlCol="0" anchor="ctr"/>
          <a:lstStyle/>
          <a:p>
            <a:pPr algn="ctr" indent="0" marL="0">
              <a:buNone/>
            </a:pPr>
            <a:r>
              <a:rPr lang="en-US" sz="1200" b="1" dirty="0">
                <a:solidFill>
                  <a:srgbClr val="16191D"/>
                </a:solidFill>
                <a:latin typeface="Calibri" pitchFamily="34" charset="0"/>
                <a:ea typeface="Calibri" pitchFamily="34" charset="-122"/>
                <a:cs typeface="Calibri" pitchFamily="34" charset="-120"/>
              </a:rPr>
              <a:t>1</a:t>
            </a:r>
            <a:endParaRPr lang="en-US" sz="1200" dirty="0"/>
          </a:p>
        </p:txBody>
      </p:sp>
      <p:sp>
        <p:nvSpPr>
          <p:cNvPr id="48" name="Shape 46"/>
          <p:cNvSpPr/>
          <p:nvPr/>
        </p:nvSpPr>
        <p:spPr>
          <a:xfrm>
            <a:off x="9189720" y="3136392"/>
            <a:ext cx="822960" cy="374904"/>
          </a:xfrm>
          <a:prstGeom prst="rect">
            <a:avLst/>
          </a:prstGeom>
          <a:solidFill>
            <a:srgbClr val="F4F1EC"/>
          </a:solidFill>
          <a:ln w="15240">
            <a:solidFill>
              <a:srgbClr val="FFFFFF"/>
            </a:solidFill>
            <a:prstDash val="solid"/>
          </a:ln>
        </p:spPr>
      </p:sp>
      <p:sp>
        <p:nvSpPr>
          <p:cNvPr id="49" name="Text 47"/>
          <p:cNvSpPr/>
          <p:nvPr/>
        </p:nvSpPr>
        <p:spPr>
          <a:xfrm>
            <a:off x="9189720" y="3136392"/>
            <a:ext cx="822960" cy="374904"/>
          </a:xfrm>
          <a:prstGeom prst="rect">
            <a:avLst/>
          </a:prstGeom>
          <a:noFill/>
          <a:ln/>
        </p:spPr>
        <p:txBody>
          <a:bodyPr wrap="square" lIns="0" tIns="0" rIns="0" bIns="0" rtlCol="0" anchor="ctr"/>
          <a:lstStyle/>
          <a:p>
            <a:pPr algn="ctr" indent="0" marL="0">
              <a:buNone/>
            </a:pPr>
            <a:r>
              <a:rPr lang="en-US" sz="1200" b="1" dirty="0">
                <a:solidFill>
                  <a:srgbClr val="9AA0A7"/>
                </a:solidFill>
                <a:latin typeface="Calibri" pitchFamily="34" charset="0"/>
                <a:ea typeface="Calibri" pitchFamily="34" charset="-122"/>
                <a:cs typeface="Calibri" pitchFamily="34" charset="-120"/>
              </a:rPr>
              <a:t>0</a:t>
            </a:r>
            <a:endParaRPr lang="en-US" sz="1200" dirty="0"/>
          </a:p>
        </p:txBody>
      </p:sp>
      <p:sp>
        <p:nvSpPr>
          <p:cNvPr id="50" name="Text 48"/>
          <p:cNvSpPr/>
          <p:nvPr/>
        </p:nvSpPr>
        <p:spPr>
          <a:xfrm>
            <a:off x="10195560" y="1965960"/>
            <a:ext cx="1371600" cy="1463040"/>
          </a:xfrm>
          <a:prstGeom prst="rect">
            <a:avLst/>
          </a:prstGeom>
          <a:noFill/>
          <a:ln/>
        </p:spPr>
        <p:txBody>
          <a:bodyPr wrap="square" lIns="0" tIns="0" rIns="0" bIns="0" rtlCol="0" anchor="t"/>
          <a:lstStyle/>
          <a:p>
            <a:pPr algn="l" indent="0" marL="0">
              <a:lnSpc>
                <a:spcPts val="1418"/>
              </a:lnSpc>
              <a:buNone/>
            </a:pPr>
            <a:r>
              <a:rPr lang="en-US" sz="1050" b="1" dirty="0">
                <a:solidFill>
                  <a:srgbClr val="A8442A"/>
                </a:solidFill>
                <a:latin typeface="Calibri" pitchFamily="34" charset="0"/>
                <a:ea typeface="Calibri" pitchFamily="34" charset="-122"/>
                <a:cs typeface="Calibri" pitchFamily="34" charset="-120"/>
              </a:rPr>
              <a:t>Menebak kelas 4 sebagai 1 dihukum 9 kali lebih berat daripada menebak 2 sebagai 1.</a:t>
            </a:r>
            <a:endParaRPr lang="en-US" sz="1050" dirty="0"/>
          </a:p>
        </p:txBody>
      </p:sp>
      <p:sp>
        <p:nvSpPr>
          <p:cNvPr id="51" name="Text 49"/>
          <p:cNvSpPr/>
          <p:nvPr/>
        </p:nvSpPr>
        <p:spPr>
          <a:xfrm>
            <a:off x="640080" y="3767328"/>
            <a:ext cx="10911535" cy="411480"/>
          </a:xfrm>
          <a:prstGeom prst="rect">
            <a:avLst/>
          </a:prstGeom>
          <a:noFill/>
          <a:ln/>
        </p:spPr>
        <p:txBody>
          <a:bodyPr wrap="square" lIns="0" tIns="0" rIns="0" bIns="0" rtlCol="0" anchor="ctr"/>
          <a:lstStyle/>
          <a:p>
            <a:pPr algn="ctr" indent="0" marL="0">
              <a:buNone/>
            </a:pPr>
            <a:r>
              <a:rPr lang="en-US" sz="2000" b="1" dirty="0">
                <a:solidFill>
                  <a:srgbClr val="16191D"/>
                </a:solidFill>
                <a:latin typeface="Cambria" pitchFamily="34" charset="0"/>
                <a:ea typeface="Cambria" pitchFamily="34" charset="-122"/>
                <a:cs typeface="Cambria" pitchFamily="34" charset="-120"/>
              </a:rPr>
              <a:t>E[y]  =  Σ pₖ · k</a:t>
            </a:r>
            <a:endParaRPr lang="en-US" sz="2000" dirty="0"/>
          </a:p>
        </p:txBody>
      </p:sp>
      <p:sp>
        <p:nvSpPr>
          <p:cNvPr id="52" name="Shape 50"/>
          <p:cNvSpPr/>
          <p:nvPr/>
        </p:nvSpPr>
        <p:spPr>
          <a:xfrm>
            <a:off x="1005840" y="4315968"/>
            <a:ext cx="2797803" cy="658368"/>
          </a:xfrm>
          <a:prstGeom prst="rect">
            <a:avLst/>
          </a:prstGeom>
          <a:solidFill>
            <a:srgbClr val="2F6B5F"/>
          </a:solidFill>
          <a:ln w="19050">
            <a:solidFill>
              <a:srgbClr val="FFFFFF"/>
            </a:solidFill>
            <a:prstDash val="solid"/>
          </a:ln>
        </p:spPr>
      </p:sp>
      <p:sp>
        <p:nvSpPr>
          <p:cNvPr id="53" name="Text 51"/>
          <p:cNvSpPr/>
          <p:nvPr/>
        </p:nvSpPr>
        <p:spPr>
          <a:xfrm>
            <a:off x="1005840" y="4315968"/>
            <a:ext cx="2797803" cy="65836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kelas 1</a:t>
            </a:r>
            <a:endParaRPr lang="en-US" sz="1200" dirty="0"/>
          </a:p>
        </p:txBody>
      </p:sp>
      <p:sp>
        <p:nvSpPr>
          <p:cNvPr id="54" name="Shape 52"/>
          <p:cNvSpPr/>
          <p:nvPr/>
        </p:nvSpPr>
        <p:spPr>
          <a:xfrm>
            <a:off x="3803643" y="4315968"/>
            <a:ext cx="2302999" cy="658368"/>
          </a:xfrm>
          <a:prstGeom prst="rect">
            <a:avLst/>
          </a:prstGeom>
          <a:solidFill>
            <a:srgbClr val="8FB0A4"/>
          </a:solidFill>
          <a:ln w="19050">
            <a:solidFill>
              <a:srgbClr val="FFFFFF"/>
            </a:solidFill>
            <a:prstDash val="solid"/>
          </a:ln>
        </p:spPr>
      </p:sp>
      <p:sp>
        <p:nvSpPr>
          <p:cNvPr id="55" name="Text 53"/>
          <p:cNvSpPr/>
          <p:nvPr/>
        </p:nvSpPr>
        <p:spPr>
          <a:xfrm>
            <a:off x="3803643" y="4315968"/>
            <a:ext cx="2302999" cy="658368"/>
          </a:xfrm>
          <a:prstGeom prst="rect">
            <a:avLst/>
          </a:prstGeom>
          <a:noFill/>
          <a:ln/>
        </p:spPr>
        <p:txBody>
          <a:bodyPr wrap="square" lIns="0" tIns="0" rIns="0" bIns="0" rtlCol="0" anchor="ctr"/>
          <a:lstStyle/>
          <a:p>
            <a:pPr algn="ctr" indent="0" marL="0">
              <a:buNone/>
            </a:pPr>
            <a:r>
              <a:rPr lang="en-US" sz="1200" b="1" dirty="0">
                <a:solidFill>
                  <a:srgbClr val="16191D"/>
                </a:solidFill>
                <a:latin typeface="Calibri" pitchFamily="34" charset="0"/>
                <a:ea typeface="Calibri" pitchFamily="34" charset="-122"/>
                <a:cs typeface="Calibri" pitchFamily="34" charset="-120"/>
              </a:rPr>
              <a:t>kelas 2</a:t>
            </a:r>
            <a:endParaRPr lang="en-US" sz="1200" dirty="0"/>
          </a:p>
        </p:txBody>
      </p:sp>
      <p:sp>
        <p:nvSpPr>
          <p:cNvPr id="56" name="Shape 54"/>
          <p:cNvSpPr/>
          <p:nvPr/>
        </p:nvSpPr>
        <p:spPr>
          <a:xfrm>
            <a:off x="6106642" y="4315968"/>
            <a:ext cx="1974651" cy="658368"/>
          </a:xfrm>
          <a:prstGeom prst="rect">
            <a:avLst/>
          </a:prstGeom>
          <a:solidFill>
            <a:srgbClr val="D8A25E"/>
          </a:solidFill>
          <a:ln w="19050">
            <a:solidFill>
              <a:srgbClr val="FFFFFF"/>
            </a:solidFill>
            <a:prstDash val="solid"/>
          </a:ln>
        </p:spPr>
      </p:sp>
      <p:sp>
        <p:nvSpPr>
          <p:cNvPr id="57" name="Text 55"/>
          <p:cNvSpPr/>
          <p:nvPr/>
        </p:nvSpPr>
        <p:spPr>
          <a:xfrm>
            <a:off x="6106642" y="4315968"/>
            <a:ext cx="1974651" cy="65836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kelas 3</a:t>
            </a:r>
            <a:endParaRPr lang="en-US" sz="1200" dirty="0"/>
          </a:p>
        </p:txBody>
      </p:sp>
      <p:sp>
        <p:nvSpPr>
          <p:cNvPr id="58" name="Shape 56"/>
          <p:cNvSpPr/>
          <p:nvPr/>
        </p:nvSpPr>
        <p:spPr>
          <a:xfrm>
            <a:off x="8081293" y="4315968"/>
            <a:ext cx="3074387" cy="658368"/>
          </a:xfrm>
          <a:prstGeom prst="rect">
            <a:avLst/>
          </a:prstGeom>
          <a:solidFill>
            <a:srgbClr val="A8442A"/>
          </a:solidFill>
          <a:ln w="19050">
            <a:solidFill>
              <a:srgbClr val="FFFFFF"/>
            </a:solidFill>
            <a:prstDash val="solid"/>
          </a:ln>
        </p:spPr>
      </p:sp>
      <p:sp>
        <p:nvSpPr>
          <p:cNvPr id="59" name="Text 57"/>
          <p:cNvSpPr/>
          <p:nvPr/>
        </p:nvSpPr>
        <p:spPr>
          <a:xfrm>
            <a:off x="8081293" y="4315968"/>
            <a:ext cx="3074387" cy="65836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kelas 4</a:t>
            </a:r>
            <a:endParaRPr lang="en-US" sz="1200" dirty="0"/>
          </a:p>
        </p:txBody>
      </p:sp>
      <p:sp>
        <p:nvSpPr>
          <p:cNvPr id="60" name="Shape 58"/>
          <p:cNvSpPr/>
          <p:nvPr/>
        </p:nvSpPr>
        <p:spPr>
          <a:xfrm>
            <a:off x="3803643" y="4315968"/>
            <a:ext cx="0" cy="841248"/>
          </a:xfrm>
          <a:prstGeom prst="line">
            <a:avLst/>
          </a:prstGeom>
          <a:noFill/>
          <a:ln w="17780">
            <a:solidFill>
              <a:srgbClr val="16191D"/>
            </a:solidFill>
            <a:prstDash val="solid"/>
          </a:ln>
        </p:spPr>
      </p:sp>
      <p:sp>
        <p:nvSpPr>
          <p:cNvPr id="61" name="Text 59"/>
          <p:cNvSpPr/>
          <p:nvPr/>
        </p:nvSpPr>
        <p:spPr>
          <a:xfrm>
            <a:off x="3026403" y="5175504"/>
            <a:ext cx="1554480" cy="237744"/>
          </a:xfrm>
          <a:prstGeom prst="rect">
            <a:avLst/>
          </a:prstGeom>
          <a:noFill/>
          <a:ln/>
        </p:spPr>
        <p:txBody>
          <a:bodyPr wrap="square" lIns="0" tIns="0" rIns="0" bIns="0" rtlCol="0" anchor="ctr"/>
          <a:lstStyle/>
          <a:p>
            <a:pPr algn="ctr" indent="0" marL="0">
              <a:buNone/>
            </a:pPr>
            <a:r>
              <a:rPr lang="en-US" sz="1050" b="1" dirty="0">
                <a:solidFill>
                  <a:srgbClr val="16191D"/>
                </a:solidFill>
                <a:latin typeface="Calibri" pitchFamily="34" charset="0"/>
                <a:ea typeface="Calibri" pitchFamily="34" charset="-122"/>
                <a:cs typeface="Calibri" pitchFamily="34" charset="-120"/>
              </a:rPr>
              <a:t>t1  1,5513</a:t>
            </a:r>
            <a:endParaRPr lang="en-US" sz="1050" dirty="0"/>
          </a:p>
        </p:txBody>
      </p:sp>
      <p:sp>
        <p:nvSpPr>
          <p:cNvPr id="62" name="Shape 60"/>
          <p:cNvSpPr/>
          <p:nvPr/>
        </p:nvSpPr>
        <p:spPr>
          <a:xfrm>
            <a:off x="6106642" y="4315968"/>
            <a:ext cx="0" cy="841248"/>
          </a:xfrm>
          <a:prstGeom prst="line">
            <a:avLst/>
          </a:prstGeom>
          <a:noFill/>
          <a:ln w="17780">
            <a:solidFill>
              <a:srgbClr val="16191D"/>
            </a:solidFill>
            <a:prstDash val="solid"/>
          </a:ln>
        </p:spPr>
      </p:sp>
      <p:sp>
        <p:nvSpPr>
          <p:cNvPr id="63" name="Text 61"/>
          <p:cNvSpPr/>
          <p:nvPr/>
        </p:nvSpPr>
        <p:spPr>
          <a:xfrm>
            <a:off x="5329402" y="5175504"/>
            <a:ext cx="1554480" cy="237744"/>
          </a:xfrm>
          <a:prstGeom prst="rect">
            <a:avLst/>
          </a:prstGeom>
          <a:noFill/>
          <a:ln/>
        </p:spPr>
        <p:txBody>
          <a:bodyPr wrap="square" lIns="0" tIns="0" rIns="0" bIns="0" rtlCol="0" anchor="ctr"/>
          <a:lstStyle/>
          <a:p>
            <a:pPr algn="ctr" indent="0" marL="0">
              <a:buNone/>
            </a:pPr>
            <a:r>
              <a:rPr lang="en-US" sz="1050" b="1" dirty="0">
                <a:solidFill>
                  <a:srgbClr val="16191D"/>
                </a:solidFill>
                <a:latin typeface="Calibri" pitchFamily="34" charset="0"/>
                <a:ea typeface="Calibri" pitchFamily="34" charset="-122"/>
                <a:cs typeface="Calibri" pitchFamily="34" charset="-120"/>
              </a:rPr>
              <a:t>t2  2,0051</a:t>
            </a:r>
            <a:endParaRPr lang="en-US" sz="1050" dirty="0"/>
          </a:p>
        </p:txBody>
      </p:sp>
      <p:sp>
        <p:nvSpPr>
          <p:cNvPr id="64" name="Shape 62"/>
          <p:cNvSpPr/>
          <p:nvPr/>
        </p:nvSpPr>
        <p:spPr>
          <a:xfrm>
            <a:off x="8081293" y="4315968"/>
            <a:ext cx="0" cy="841248"/>
          </a:xfrm>
          <a:prstGeom prst="line">
            <a:avLst/>
          </a:prstGeom>
          <a:noFill/>
          <a:ln w="17780">
            <a:solidFill>
              <a:srgbClr val="16191D"/>
            </a:solidFill>
            <a:prstDash val="solid"/>
          </a:ln>
        </p:spPr>
      </p:sp>
      <p:sp>
        <p:nvSpPr>
          <p:cNvPr id="65" name="Text 63"/>
          <p:cNvSpPr/>
          <p:nvPr/>
        </p:nvSpPr>
        <p:spPr>
          <a:xfrm>
            <a:off x="7304053" y="5175504"/>
            <a:ext cx="1554480" cy="237744"/>
          </a:xfrm>
          <a:prstGeom prst="rect">
            <a:avLst/>
          </a:prstGeom>
          <a:noFill/>
          <a:ln/>
        </p:spPr>
        <p:txBody>
          <a:bodyPr wrap="square" lIns="0" tIns="0" rIns="0" bIns="0" rtlCol="0" anchor="ctr"/>
          <a:lstStyle/>
          <a:p>
            <a:pPr algn="ctr" indent="0" marL="0">
              <a:buNone/>
            </a:pPr>
            <a:r>
              <a:rPr lang="en-US" sz="1050" b="1" dirty="0">
                <a:solidFill>
                  <a:srgbClr val="16191D"/>
                </a:solidFill>
                <a:latin typeface="Calibri" pitchFamily="34" charset="0"/>
                <a:ea typeface="Calibri" pitchFamily="34" charset="-122"/>
                <a:cs typeface="Calibri" pitchFamily="34" charset="-120"/>
              </a:rPr>
              <a:t>t3  2,3942</a:t>
            </a:r>
            <a:endParaRPr lang="en-US" sz="1050" dirty="0"/>
          </a:p>
        </p:txBody>
      </p:sp>
      <p:sp>
        <p:nvSpPr>
          <p:cNvPr id="66" name="Text 64"/>
          <p:cNvSpPr/>
          <p:nvPr/>
        </p:nvSpPr>
        <p:spPr>
          <a:xfrm>
            <a:off x="640080" y="5742432"/>
            <a:ext cx="10911535" cy="365760"/>
          </a:xfrm>
          <a:prstGeom prst="rect">
            <a:avLst/>
          </a:prstGeom>
          <a:noFill/>
          <a:ln/>
        </p:spPr>
        <p:txBody>
          <a:bodyPr wrap="square" lIns="0" tIns="0" rIns="0" bIns="0" rtlCol="0" anchor="t"/>
          <a:lstStyle/>
          <a:p>
            <a:pPr algn="ctr" indent="0" marL="0">
              <a:lnSpc>
                <a:spcPts val="1553"/>
              </a:lnSpc>
              <a:buNone/>
            </a:pPr>
            <a:r>
              <a:rPr lang="en-US" sz="1150" dirty="0">
                <a:solidFill>
                  <a:srgbClr val="3A4048"/>
                </a:solidFill>
                <a:latin typeface="Calibri" pitchFamily="34" charset="0"/>
                <a:ea typeface="Calibri" pitchFamily="34" charset="-122"/>
                <a:cs typeface="Calibri" pitchFamily="34" charset="-120"/>
              </a:rPr>
              <a:t>Tiga ambang itulah keputusan akhir pipeline. Seluruhnya diestimasi dari prediksi out-of-fold data latih, tidak pernah dari data uji.</a:t>
            </a:r>
            <a:endParaRPr lang="en-US" sz="1150" dirty="0"/>
          </a:p>
        </p:txBody>
      </p:sp>
      <p:sp>
        <p:nvSpPr>
          <p:cNvPr id="68" name="Shape 65"/>
          <p:cNvSpPr/>
          <p:nvPr/>
        </p:nvSpPr>
        <p:spPr>
          <a:xfrm>
            <a:off x="640080" y="6400800"/>
            <a:ext cx="1572768" cy="45720"/>
          </a:xfrm>
          <a:prstGeom prst="rect">
            <a:avLst/>
          </a:prstGeom>
          <a:solidFill>
            <a:srgbClr val="A8442A"/>
          </a:solidFill>
          <a:ln/>
        </p:spPr>
      </p:sp>
      <p:sp>
        <p:nvSpPr>
          <p:cNvPr id="69" name="Text 66"/>
          <p:cNvSpPr/>
          <p:nvPr/>
        </p:nvSpPr>
        <p:spPr>
          <a:xfrm>
            <a:off x="640080" y="6464808"/>
            <a:ext cx="1572768" cy="201168"/>
          </a:xfrm>
          <a:prstGeom prst="rect">
            <a:avLst/>
          </a:prstGeom>
          <a:noFill/>
          <a:ln/>
        </p:spPr>
        <p:txBody>
          <a:bodyPr wrap="square" lIns="0" tIns="0" rIns="0" bIns="0" rtlCol="0" anchor="ctr"/>
          <a:lstStyle/>
          <a:p>
            <a:pPr indent="0" marL="0">
              <a:buNone/>
            </a:pPr>
            <a:r>
              <a:rPr lang="en-US" sz="850" b="1" dirty="0">
                <a:solidFill>
                  <a:srgbClr val="16191D"/>
                </a:solidFill>
                <a:latin typeface="Calibri" pitchFamily="34" charset="0"/>
                <a:ea typeface="Calibri" pitchFamily="34" charset="-122"/>
                <a:cs typeface="Calibri" pitchFamily="34" charset="-120"/>
              </a:rPr>
              <a:t>I · Latar &amp; data</a:t>
            </a:r>
            <a:endParaRPr lang="en-US" sz="850" dirty="0"/>
          </a:p>
        </p:txBody>
      </p:sp>
      <p:sp>
        <p:nvSpPr>
          <p:cNvPr id="70" name="Shape 67"/>
          <p:cNvSpPr/>
          <p:nvPr/>
        </p:nvSpPr>
        <p:spPr>
          <a:xfrm>
            <a:off x="2304288" y="6400800"/>
            <a:ext cx="1572768" cy="45720"/>
          </a:xfrm>
          <a:prstGeom prst="rect">
            <a:avLst/>
          </a:prstGeom>
          <a:solidFill>
            <a:srgbClr val="DCD8D1"/>
          </a:solidFill>
          <a:ln/>
        </p:spPr>
      </p:sp>
      <p:sp>
        <p:nvSpPr>
          <p:cNvPr id="71" name="Text 68"/>
          <p:cNvSpPr/>
          <p:nvPr/>
        </p:nvSpPr>
        <p:spPr>
          <a:xfrm>
            <a:off x="2304288"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II · EDA</a:t>
            </a:r>
            <a:endParaRPr lang="en-US" sz="850" dirty="0"/>
          </a:p>
        </p:txBody>
      </p:sp>
      <p:sp>
        <p:nvSpPr>
          <p:cNvPr id="72" name="Shape 69"/>
          <p:cNvSpPr/>
          <p:nvPr/>
        </p:nvSpPr>
        <p:spPr>
          <a:xfrm>
            <a:off x="3968496" y="6400800"/>
            <a:ext cx="1572768" cy="45720"/>
          </a:xfrm>
          <a:prstGeom prst="rect">
            <a:avLst/>
          </a:prstGeom>
          <a:solidFill>
            <a:srgbClr val="DCD8D1"/>
          </a:solidFill>
          <a:ln/>
        </p:spPr>
      </p:sp>
      <p:sp>
        <p:nvSpPr>
          <p:cNvPr id="73" name="Text 70"/>
          <p:cNvSpPr/>
          <p:nvPr/>
        </p:nvSpPr>
        <p:spPr>
          <a:xfrm>
            <a:off x="3968496"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III · Pipeline</a:t>
            </a:r>
            <a:endParaRPr lang="en-US" sz="850" dirty="0"/>
          </a:p>
        </p:txBody>
      </p:sp>
      <p:sp>
        <p:nvSpPr>
          <p:cNvPr id="74" name="Shape 71"/>
          <p:cNvSpPr/>
          <p:nvPr/>
        </p:nvSpPr>
        <p:spPr>
          <a:xfrm>
            <a:off x="5632704" y="6400800"/>
            <a:ext cx="1572768" cy="45720"/>
          </a:xfrm>
          <a:prstGeom prst="rect">
            <a:avLst/>
          </a:prstGeom>
          <a:solidFill>
            <a:srgbClr val="DCD8D1"/>
          </a:solidFill>
          <a:ln/>
        </p:spPr>
      </p:sp>
      <p:sp>
        <p:nvSpPr>
          <p:cNvPr id="75" name="Text 72"/>
          <p:cNvSpPr/>
          <p:nvPr/>
        </p:nvSpPr>
        <p:spPr>
          <a:xfrm>
            <a:off x="5632704"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IV · Disiplin estimasi</a:t>
            </a:r>
            <a:endParaRPr lang="en-US" sz="850" dirty="0"/>
          </a:p>
        </p:txBody>
      </p:sp>
      <p:sp>
        <p:nvSpPr>
          <p:cNvPr id="76" name="Shape 73"/>
          <p:cNvSpPr/>
          <p:nvPr/>
        </p:nvSpPr>
        <p:spPr>
          <a:xfrm>
            <a:off x="7296912" y="6400800"/>
            <a:ext cx="1572768" cy="45720"/>
          </a:xfrm>
          <a:prstGeom prst="rect">
            <a:avLst/>
          </a:prstGeom>
          <a:solidFill>
            <a:srgbClr val="DCD8D1"/>
          </a:solidFill>
          <a:ln/>
        </p:spPr>
      </p:sp>
      <p:sp>
        <p:nvSpPr>
          <p:cNvPr id="77" name="Text 74"/>
          <p:cNvSpPr/>
          <p:nvPr/>
        </p:nvSpPr>
        <p:spPr>
          <a:xfrm>
            <a:off x="7296912"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V · Hasil &amp; plafon</a:t>
            </a:r>
            <a:endParaRPr lang="en-US" sz="850" dirty="0"/>
          </a:p>
        </p:txBody>
      </p:sp>
      <p:sp>
        <p:nvSpPr>
          <p:cNvPr id="78" name="Shape 75"/>
          <p:cNvSpPr/>
          <p:nvPr/>
        </p:nvSpPr>
        <p:spPr>
          <a:xfrm>
            <a:off x="8961120" y="6400800"/>
            <a:ext cx="1572768" cy="45720"/>
          </a:xfrm>
          <a:prstGeom prst="rect">
            <a:avLst/>
          </a:prstGeom>
          <a:solidFill>
            <a:srgbClr val="DCD8D1"/>
          </a:solidFill>
          <a:ln/>
        </p:spPr>
      </p:sp>
      <p:sp>
        <p:nvSpPr>
          <p:cNvPr id="79" name="Text 76"/>
          <p:cNvSpPr/>
          <p:nvPr/>
        </p:nvSpPr>
        <p:spPr>
          <a:xfrm>
            <a:off x="8961120"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VI · Reproduksi &amp; produk</a:t>
            </a:r>
            <a:endParaRPr lang="en-US" sz="850" dirty="0"/>
          </a:p>
        </p:txBody>
      </p:sp>
      <p:sp>
        <p:nvSpPr>
          <p:cNvPr id="80" name="Text 77"/>
          <p:cNvSpPr/>
          <p:nvPr/>
        </p:nvSpPr>
        <p:spPr>
          <a:xfrm>
            <a:off x="10637215" y="6382512"/>
            <a:ext cx="914400" cy="274320"/>
          </a:xfrm>
          <a:prstGeom prst="rect">
            <a:avLst/>
          </a:prstGeom>
          <a:noFill/>
          <a:ln/>
        </p:spPr>
        <p:txBody>
          <a:bodyPr wrap="square" lIns="0" tIns="0" rIns="0" bIns="0" rtlCol="0" anchor="ctr"/>
          <a:lstStyle/>
          <a:p>
            <a:pPr algn="r" indent="0" marL="0">
              <a:buNone/>
            </a:pPr>
            <a:r>
              <a:rPr lang="en-US" sz="900" b="1" dirty="0">
                <a:solidFill>
                  <a:srgbClr val="9AA0A7"/>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566928"/>
            <a:ext cx="10911535" cy="914400"/>
          </a:xfrm>
          <a:prstGeom prst="rect">
            <a:avLst/>
          </a:prstGeom>
          <a:noFill/>
          <a:ln/>
        </p:spPr>
        <p:txBody>
          <a:bodyPr wrap="square" lIns="0" tIns="0" rIns="0" bIns="0" rtlCol="0" anchor="t"/>
          <a:lstStyle/>
          <a:p>
            <a:pPr indent="0" marL="0">
              <a:lnSpc>
                <a:spcPts val="3808"/>
              </a:lnSpc>
              <a:buNone/>
            </a:pPr>
            <a:r>
              <a:rPr lang="en-US" sz="3400" b="1" dirty="0">
                <a:solidFill>
                  <a:srgbClr val="16191D"/>
                </a:solidFill>
                <a:latin typeface="Cambria" pitchFamily="34" charset="0"/>
                <a:ea typeface="Cambria" pitchFamily="34" charset="-122"/>
                <a:cs typeface="Cambria" pitchFamily="34" charset="-120"/>
              </a:rPr>
              <a:t>Kenapa masalah ini sulit: empat akar, empat jawaban.</a:t>
            </a:r>
            <a:endParaRPr lang="en-US" sz="3400" dirty="0"/>
          </a:p>
        </p:txBody>
      </p:sp>
      <p:sp>
        <p:nvSpPr>
          <p:cNvPr id="3" name="Text 1"/>
          <p:cNvSpPr/>
          <p:nvPr/>
        </p:nvSpPr>
        <p:spPr>
          <a:xfrm>
            <a:off x="640080" y="1645920"/>
            <a:ext cx="10911535" cy="384048"/>
          </a:xfrm>
          <a:prstGeom prst="rect">
            <a:avLst/>
          </a:prstGeom>
          <a:noFill/>
          <a:ln/>
        </p:spPr>
        <p:txBody>
          <a:bodyPr wrap="square" lIns="0" tIns="0" rIns="0" bIns="0" rtlCol="0" anchor="t"/>
          <a:lstStyle/>
          <a:p>
            <a:pPr indent="0" marL="0">
              <a:lnSpc>
                <a:spcPts val="1900"/>
              </a:lnSpc>
              <a:buNone/>
            </a:pPr>
            <a:r>
              <a:rPr lang="en-US" sz="1400" dirty="0">
                <a:solidFill>
                  <a:srgbClr val="6E747C"/>
                </a:solidFill>
                <a:latin typeface="Calibri" pitchFamily="34" charset="0"/>
                <a:ea typeface="Calibri" pitchFamily="34" charset="-122"/>
                <a:cs typeface="Calibri" pitchFamily="34" charset="-120"/>
              </a:rPr>
              <a:t>Setiap akar menentukan satu babak berikutnya. Deck ini disusun mengikuti pohon ini.</a:t>
            </a:r>
            <a:endParaRPr lang="en-US" sz="1400" dirty="0"/>
          </a:p>
        </p:txBody>
      </p:sp>
      <p:sp>
        <p:nvSpPr>
          <p:cNvPr id="4" name="Shape 2"/>
          <p:cNvSpPr/>
          <p:nvPr/>
        </p:nvSpPr>
        <p:spPr>
          <a:xfrm>
            <a:off x="640080" y="2926080"/>
            <a:ext cx="2011680" cy="2103120"/>
          </a:xfrm>
          <a:prstGeom prst="roundRect">
            <a:avLst>
              <a:gd name="adj" fmla="val 2727"/>
            </a:avLst>
          </a:prstGeom>
          <a:solidFill>
            <a:srgbClr val="16191D"/>
          </a:solidFill>
          <a:ln w="9525">
            <a:solidFill>
              <a:srgbClr val="16191D"/>
            </a:solidFill>
            <a:prstDash val="solid"/>
          </a:ln>
        </p:spPr>
      </p:sp>
      <p:sp>
        <p:nvSpPr>
          <p:cNvPr id="5" name="Text 3"/>
          <p:cNvSpPr/>
          <p:nvPr/>
        </p:nvSpPr>
        <p:spPr>
          <a:xfrm>
            <a:off x="822960" y="2926080"/>
            <a:ext cx="1645920" cy="2103120"/>
          </a:xfrm>
          <a:prstGeom prst="rect">
            <a:avLst/>
          </a:prstGeom>
          <a:noFill/>
          <a:ln/>
        </p:spPr>
        <p:txBody>
          <a:bodyPr wrap="square" lIns="0" tIns="0" rIns="0" bIns="0" rtlCol="0" anchor="ctr"/>
          <a:lstStyle/>
          <a:p>
            <a:pPr algn="ctr" indent="0" marL="0">
              <a:lnSpc>
                <a:spcPts val="1900"/>
              </a:lnSpc>
              <a:buNone/>
            </a:pPr>
            <a:r>
              <a:rPr lang="en-US" sz="1450" b="1" dirty="0">
                <a:solidFill>
                  <a:srgbClr val="FFFFFF"/>
                </a:solidFill>
                <a:latin typeface="Cambria" pitchFamily="34" charset="0"/>
                <a:ea typeface="Cambria" pitchFamily="34" charset="-122"/>
                <a:cs typeface="Cambria" pitchFamily="34" charset="-120"/>
              </a:rPr>
              <a:t>Prediksi kepuasan hidup yang naif gagal</a:t>
            </a:r>
            <a:endParaRPr lang="en-US" sz="1450" dirty="0"/>
          </a:p>
        </p:txBody>
      </p:sp>
      <p:sp>
        <p:nvSpPr>
          <p:cNvPr id="6" name="Shape 4"/>
          <p:cNvSpPr/>
          <p:nvPr/>
        </p:nvSpPr>
        <p:spPr>
          <a:xfrm>
            <a:off x="2651760" y="3977640"/>
            <a:ext cx="301752" cy="0"/>
          </a:xfrm>
          <a:prstGeom prst="line">
            <a:avLst/>
          </a:prstGeom>
          <a:noFill/>
          <a:ln w="17780">
            <a:solidFill>
              <a:srgbClr val="16191D"/>
            </a:solidFill>
            <a:prstDash val="solid"/>
          </a:ln>
        </p:spPr>
      </p:sp>
      <p:sp>
        <p:nvSpPr>
          <p:cNvPr id="7" name="Shape 5"/>
          <p:cNvSpPr/>
          <p:nvPr/>
        </p:nvSpPr>
        <p:spPr>
          <a:xfrm>
            <a:off x="2953512" y="2487168"/>
            <a:ext cx="0" cy="2980944"/>
          </a:xfrm>
          <a:prstGeom prst="line">
            <a:avLst/>
          </a:prstGeom>
          <a:noFill/>
          <a:ln w="17780">
            <a:solidFill>
              <a:srgbClr val="16191D"/>
            </a:solidFill>
            <a:prstDash val="solid"/>
          </a:ln>
        </p:spPr>
      </p:sp>
      <p:sp>
        <p:nvSpPr>
          <p:cNvPr id="8" name="Text 6"/>
          <p:cNvSpPr/>
          <p:nvPr/>
        </p:nvSpPr>
        <p:spPr>
          <a:xfrm>
            <a:off x="3063240" y="2103120"/>
            <a:ext cx="2286000" cy="237744"/>
          </a:xfrm>
          <a:prstGeom prst="rect">
            <a:avLst/>
          </a:prstGeom>
          <a:noFill/>
          <a:ln/>
        </p:spPr>
        <p:txBody>
          <a:bodyPr wrap="square" lIns="0" tIns="0" rIns="0" bIns="0" rtlCol="0" anchor="ctr"/>
          <a:lstStyle/>
          <a:p>
            <a:pPr indent="0" marL="0">
              <a:buNone/>
            </a:pPr>
            <a:r>
              <a:rPr lang="en-US" sz="900" b="1" spc="120" kern="0" dirty="0">
                <a:solidFill>
                  <a:srgbClr val="6E747C"/>
                </a:solidFill>
                <a:latin typeface="Calibri" pitchFamily="34" charset="0"/>
                <a:ea typeface="Calibri" pitchFamily="34" charset="-122"/>
                <a:cs typeface="Calibri" pitchFamily="34" charset="-120"/>
              </a:rPr>
              <a:t>AKAR</a:t>
            </a:r>
            <a:endParaRPr lang="en-US" sz="900" dirty="0"/>
          </a:p>
        </p:txBody>
      </p:sp>
      <p:sp>
        <p:nvSpPr>
          <p:cNvPr id="9" name="Text 7"/>
          <p:cNvSpPr/>
          <p:nvPr/>
        </p:nvSpPr>
        <p:spPr>
          <a:xfrm>
            <a:off x="5623560" y="2103120"/>
            <a:ext cx="2286000" cy="237744"/>
          </a:xfrm>
          <a:prstGeom prst="rect">
            <a:avLst/>
          </a:prstGeom>
          <a:noFill/>
          <a:ln/>
        </p:spPr>
        <p:txBody>
          <a:bodyPr wrap="square" lIns="0" tIns="0" rIns="0" bIns="0" rtlCol="0" anchor="ctr"/>
          <a:lstStyle/>
          <a:p>
            <a:pPr indent="0" marL="0">
              <a:buNone/>
            </a:pPr>
            <a:r>
              <a:rPr lang="en-US" sz="900" b="1" spc="120" kern="0" dirty="0">
                <a:solidFill>
                  <a:srgbClr val="6E747C"/>
                </a:solidFill>
                <a:latin typeface="Calibri" pitchFamily="34" charset="0"/>
                <a:ea typeface="Calibri" pitchFamily="34" charset="-122"/>
                <a:cs typeface="Calibri" pitchFamily="34" charset="-120"/>
              </a:rPr>
              <a:t>GEJALA DI DATA</a:t>
            </a:r>
            <a:endParaRPr lang="en-US" sz="900" dirty="0"/>
          </a:p>
        </p:txBody>
      </p:sp>
      <p:sp>
        <p:nvSpPr>
          <p:cNvPr id="10" name="Text 8"/>
          <p:cNvSpPr/>
          <p:nvPr/>
        </p:nvSpPr>
        <p:spPr>
          <a:xfrm>
            <a:off x="8001000" y="2103120"/>
            <a:ext cx="2286000" cy="237744"/>
          </a:xfrm>
          <a:prstGeom prst="rect">
            <a:avLst/>
          </a:prstGeom>
          <a:noFill/>
          <a:ln/>
        </p:spPr>
        <p:txBody>
          <a:bodyPr wrap="square" lIns="0" tIns="0" rIns="0" bIns="0" rtlCol="0" anchor="ctr"/>
          <a:lstStyle/>
          <a:p>
            <a:pPr indent="0" marL="0">
              <a:buNone/>
            </a:pPr>
            <a:r>
              <a:rPr lang="en-US" sz="900" b="1" spc="120" kern="0" dirty="0">
                <a:solidFill>
                  <a:srgbClr val="6E747C"/>
                </a:solidFill>
                <a:latin typeface="Calibri" pitchFamily="34" charset="0"/>
                <a:ea typeface="Calibri" pitchFamily="34" charset="-122"/>
                <a:cs typeface="Calibri" pitchFamily="34" charset="-120"/>
              </a:rPr>
              <a:t>JAWABAN KAMI</a:t>
            </a:r>
            <a:endParaRPr lang="en-US" sz="900" dirty="0"/>
          </a:p>
        </p:txBody>
      </p:sp>
      <p:sp>
        <p:nvSpPr>
          <p:cNvPr id="11" name="Text 9"/>
          <p:cNvSpPr/>
          <p:nvPr/>
        </p:nvSpPr>
        <p:spPr>
          <a:xfrm>
            <a:off x="10378440" y="2103120"/>
            <a:ext cx="2286000" cy="237744"/>
          </a:xfrm>
          <a:prstGeom prst="rect">
            <a:avLst/>
          </a:prstGeom>
          <a:noFill/>
          <a:ln/>
        </p:spPr>
        <p:txBody>
          <a:bodyPr wrap="square" lIns="0" tIns="0" rIns="0" bIns="0" rtlCol="0" anchor="ctr"/>
          <a:lstStyle/>
          <a:p>
            <a:pPr indent="0" marL="0">
              <a:buNone/>
            </a:pPr>
            <a:r>
              <a:rPr lang="en-US" sz="900" b="1" spc="120" kern="0" dirty="0">
                <a:solidFill>
                  <a:srgbClr val="6E747C"/>
                </a:solidFill>
                <a:latin typeface="Calibri" pitchFamily="34" charset="0"/>
                <a:ea typeface="Calibri" pitchFamily="34" charset="-122"/>
                <a:cs typeface="Calibri" pitchFamily="34" charset="-120"/>
              </a:rPr>
              <a:t>DIBAHAS DI</a:t>
            </a:r>
            <a:endParaRPr lang="en-US" sz="900" dirty="0"/>
          </a:p>
        </p:txBody>
      </p:sp>
      <p:sp>
        <p:nvSpPr>
          <p:cNvPr id="12" name="Shape 10"/>
          <p:cNvSpPr/>
          <p:nvPr/>
        </p:nvSpPr>
        <p:spPr>
          <a:xfrm>
            <a:off x="2953512" y="2487168"/>
            <a:ext cx="109728" cy="0"/>
          </a:xfrm>
          <a:prstGeom prst="line">
            <a:avLst/>
          </a:prstGeom>
          <a:noFill/>
          <a:ln w="17780">
            <a:solidFill>
              <a:srgbClr val="16191D"/>
            </a:solidFill>
            <a:prstDash val="solid"/>
          </a:ln>
        </p:spPr>
      </p:sp>
      <p:sp>
        <p:nvSpPr>
          <p:cNvPr id="13" name="Shape 11"/>
          <p:cNvSpPr/>
          <p:nvPr/>
        </p:nvSpPr>
        <p:spPr>
          <a:xfrm>
            <a:off x="3063240" y="2304288"/>
            <a:ext cx="365760" cy="365760"/>
          </a:xfrm>
          <a:prstGeom prst="ellipse">
            <a:avLst/>
          </a:prstGeom>
          <a:solidFill>
            <a:srgbClr val="2F6B5F"/>
          </a:solidFill>
          <a:ln/>
        </p:spPr>
      </p:sp>
      <p:sp>
        <p:nvSpPr>
          <p:cNvPr id="14" name="Text 12"/>
          <p:cNvSpPr/>
          <p:nvPr/>
        </p:nvSpPr>
        <p:spPr>
          <a:xfrm>
            <a:off x="3063240" y="2304288"/>
            <a:ext cx="365760"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5" name="Shape 13"/>
          <p:cNvSpPr/>
          <p:nvPr/>
        </p:nvSpPr>
        <p:spPr>
          <a:xfrm>
            <a:off x="3538728" y="2185416"/>
            <a:ext cx="1993392" cy="603504"/>
          </a:xfrm>
          <a:prstGeom prst="roundRect">
            <a:avLst>
              <a:gd name="adj" fmla="val 9091"/>
            </a:avLst>
          </a:prstGeom>
          <a:solidFill>
            <a:srgbClr val="F4F1EC"/>
          </a:solidFill>
          <a:ln w="9525">
            <a:solidFill>
              <a:srgbClr val="DCD8D1"/>
            </a:solidFill>
            <a:prstDash val="solid"/>
          </a:ln>
        </p:spPr>
      </p:sp>
      <p:sp>
        <p:nvSpPr>
          <p:cNvPr id="16" name="Text 14"/>
          <p:cNvSpPr/>
          <p:nvPr/>
        </p:nvSpPr>
        <p:spPr>
          <a:xfrm>
            <a:off x="3630168" y="2185416"/>
            <a:ext cx="1828800" cy="603504"/>
          </a:xfrm>
          <a:prstGeom prst="rect">
            <a:avLst/>
          </a:prstGeom>
          <a:noFill/>
          <a:ln/>
        </p:spPr>
        <p:txBody>
          <a:bodyPr wrap="square" lIns="0" tIns="0" rIns="0" bIns="0" rtlCol="0" anchor="ctr"/>
          <a:lstStyle/>
          <a:p>
            <a:pPr indent="0" marL="0">
              <a:lnSpc>
                <a:spcPts val="1400"/>
              </a:lnSpc>
              <a:buNone/>
            </a:pPr>
            <a:r>
              <a:rPr lang="en-US" sz="1150" b="1" dirty="0">
                <a:solidFill>
                  <a:srgbClr val="16191D"/>
                </a:solidFill>
                <a:latin typeface="Cambria" pitchFamily="34" charset="0"/>
                <a:ea typeface="Cambria" pitchFamily="34" charset="-122"/>
                <a:cs typeface="Cambria" pitchFamily="34" charset="-120"/>
              </a:rPr>
              <a:t>Metrik menghukum jarak</a:t>
            </a:r>
            <a:endParaRPr lang="en-US" sz="1150" dirty="0"/>
          </a:p>
        </p:txBody>
      </p:sp>
      <p:sp>
        <p:nvSpPr>
          <p:cNvPr id="17" name="Text 15"/>
          <p:cNvSpPr/>
          <p:nvPr/>
        </p:nvSpPr>
        <p:spPr>
          <a:xfrm>
            <a:off x="5623560" y="2185416"/>
            <a:ext cx="2240280" cy="603504"/>
          </a:xfrm>
          <a:prstGeom prst="rect">
            <a:avLst/>
          </a:prstGeom>
          <a:noFill/>
          <a:ln/>
        </p:spPr>
        <p:txBody>
          <a:bodyPr wrap="square" lIns="0" tIns="0" rIns="0" bIns="0" rtlCol="0" anchor="ctr"/>
          <a:lstStyle/>
          <a:p>
            <a:pPr indent="0" marL="0">
              <a:lnSpc>
                <a:spcPts val="1300"/>
              </a:lnSpc>
              <a:buNone/>
            </a:pPr>
            <a:r>
              <a:rPr lang="en-US" sz="1050" dirty="0">
                <a:solidFill>
                  <a:srgbClr val="3A4048"/>
                </a:solidFill>
                <a:latin typeface="Calibri" pitchFamily="34" charset="0"/>
                <a:ea typeface="Calibri" pitchFamily="34" charset="-122"/>
                <a:cs typeface="Calibri" pitchFamily="34" charset="-120"/>
              </a:rPr>
              <a:t>Akurasi 50,4% bernilai QWK nol</a:t>
            </a:r>
            <a:endParaRPr lang="en-US" sz="1050" dirty="0"/>
          </a:p>
        </p:txBody>
      </p:sp>
      <p:sp>
        <p:nvSpPr>
          <p:cNvPr id="18" name="Text 16"/>
          <p:cNvSpPr/>
          <p:nvPr/>
        </p:nvSpPr>
        <p:spPr>
          <a:xfrm>
            <a:off x="7726680" y="2185416"/>
            <a:ext cx="256032" cy="603504"/>
          </a:xfrm>
          <a:prstGeom prst="rect">
            <a:avLst/>
          </a:prstGeom>
          <a:noFill/>
          <a:ln/>
        </p:spPr>
        <p:txBody>
          <a:bodyPr wrap="square" lIns="0" tIns="0" rIns="0" bIns="0" rtlCol="0" anchor="ctr"/>
          <a:lstStyle/>
          <a:p>
            <a:pPr algn="ctr" indent="0" marL="0">
              <a:buNone/>
            </a:pPr>
            <a:r>
              <a:rPr lang="en-US" sz="1200" dirty="0">
                <a:solidFill>
                  <a:srgbClr val="9AA0A7"/>
                </a:solidFill>
                <a:latin typeface="Calibri" pitchFamily="34" charset="0"/>
                <a:ea typeface="Calibri" pitchFamily="34" charset="-122"/>
                <a:cs typeface="Calibri" pitchFamily="34" charset="-120"/>
              </a:rPr>
              <a:t>→</a:t>
            </a:r>
            <a:endParaRPr lang="en-US" sz="1200" dirty="0"/>
          </a:p>
        </p:txBody>
      </p:sp>
      <p:sp>
        <p:nvSpPr>
          <p:cNvPr id="19" name="Shape 17"/>
          <p:cNvSpPr/>
          <p:nvPr/>
        </p:nvSpPr>
        <p:spPr>
          <a:xfrm>
            <a:off x="8001000" y="2185416"/>
            <a:ext cx="2240280" cy="603504"/>
          </a:xfrm>
          <a:prstGeom prst="roundRect">
            <a:avLst>
              <a:gd name="adj" fmla="val 9091"/>
            </a:avLst>
          </a:prstGeom>
          <a:solidFill>
            <a:srgbClr val="FFFFFF"/>
          </a:solidFill>
          <a:ln w="9525">
            <a:solidFill>
              <a:srgbClr val="DCD8D1"/>
            </a:solidFill>
            <a:prstDash val="solid"/>
          </a:ln>
        </p:spPr>
      </p:sp>
      <p:sp>
        <p:nvSpPr>
          <p:cNvPr id="20" name="Text 18"/>
          <p:cNvSpPr/>
          <p:nvPr/>
        </p:nvSpPr>
        <p:spPr>
          <a:xfrm>
            <a:off x="8110728" y="2185416"/>
            <a:ext cx="2057400" cy="603504"/>
          </a:xfrm>
          <a:prstGeom prst="rect">
            <a:avLst/>
          </a:prstGeom>
          <a:noFill/>
          <a:ln/>
        </p:spPr>
        <p:txBody>
          <a:bodyPr wrap="square" lIns="0" tIns="0" rIns="0" bIns="0" rtlCol="0" anchor="ctr"/>
          <a:lstStyle/>
          <a:p>
            <a:pPr indent="0" marL="0">
              <a:lnSpc>
                <a:spcPts val="1300"/>
              </a:lnSpc>
              <a:buNone/>
            </a:pPr>
            <a:r>
              <a:rPr lang="en-US" sz="1050" b="1" dirty="0">
                <a:solidFill>
                  <a:srgbClr val="2F6B5F"/>
                </a:solidFill>
                <a:latin typeface="Calibri" pitchFamily="34" charset="0"/>
                <a:ea typeface="Calibri" pitchFamily="34" charset="-122"/>
                <a:cs typeface="Calibri" pitchFamily="34" charset="-120"/>
              </a:rPr>
              <a:t>Nilai harapan + 3 ambang</a:t>
            </a:r>
            <a:endParaRPr lang="en-US" sz="1050" dirty="0"/>
          </a:p>
        </p:txBody>
      </p:sp>
      <p:sp>
        <p:nvSpPr>
          <p:cNvPr id="21" name="Text 19"/>
          <p:cNvSpPr/>
          <p:nvPr/>
        </p:nvSpPr>
        <p:spPr>
          <a:xfrm>
            <a:off x="10378440" y="2185416"/>
            <a:ext cx="1188720" cy="603504"/>
          </a:xfrm>
          <a:prstGeom prst="rect">
            <a:avLst/>
          </a:prstGeom>
          <a:noFill/>
          <a:ln/>
        </p:spPr>
        <p:txBody>
          <a:bodyPr wrap="square" lIns="0" tIns="0" rIns="0" bIns="0" rtlCol="0" anchor="ctr"/>
          <a:lstStyle/>
          <a:p>
            <a:pPr indent="0" marL="0">
              <a:buNone/>
            </a:pPr>
            <a:r>
              <a:rPr lang="en-US" sz="1050" dirty="0">
                <a:solidFill>
                  <a:srgbClr val="6E747C"/>
                </a:solidFill>
                <a:latin typeface="Calibri" pitchFamily="34" charset="0"/>
                <a:ea typeface="Calibri" pitchFamily="34" charset="-122"/>
                <a:cs typeface="Calibri" pitchFamily="34" charset="-120"/>
              </a:rPr>
              <a:t>Babak I dan III</a:t>
            </a:r>
            <a:endParaRPr lang="en-US" sz="1050" dirty="0"/>
          </a:p>
        </p:txBody>
      </p:sp>
      <p:sp>
        <p:nvSpPr>
          <p:cNvPr id="22" name="Shape 20"/>
          <p:cNvSpPr/>
          <p:nvPr/>
        </p:nvSpPr>
        <p:spPr>
          <a:xfrm>
            <a:off x="2953512" y="3355848"/>
            <a:ext cx="109728" cy="0"/>
          </a:xfrm>
          <a:prstGeom prst="line">
            <a:avLst/>
          </a:prstGeom>
          <a:noFill/>
          <a:ln w="17780">
            <a:solidFill>
              <a:srgbClr val="16191D"/>
            </a:solidFill>
            <a:prstDash val="solid"/>
          </a:ln>
        </p:spPr>
      </p:sp>
      <p:sp>
        <p:nvSpPr>
          <p:cNvPr id="23" name="Shape 21"/>
          <p:cNvSpPr/>
          <p:nvPr/>
        </p:nvSpPr>
        <p:spPr>
          <a:xfrm>
            <a:off x="3063240" y="3172968"/>
            <a:ext cx="365760" cy="365760"/>
          </a:xfrm>
          <a:prstGeom prst="ellipse">
            <a:avLst/>
          </a:prstGeom>
          <a:solidFill>
            <a:srgbClr val="8FB0A4"/>
          </a:solidFill>
          <a:ln/>
        </p:spPr>
      </p:sp>
      <p:sp>
        <p:nvSpPr>
          <p:cNvPr id="24" name="Text 22"/>
          <p:cNvSpPr/>
          <p:nvPr/>
        </p:nvSpPr>
        <p:spPr>
          <a:xfrm>
            <a:off x="3063240" y="3172968"/>
            <a:ext cx="365760" cy="365760"/>
          </a:xfrm>
          <a:prstGeom prst="rect">
            <a:avLst/>
          </a:prstGeom>
          <a:noFill/>
          <a:ln/>
        </p:spPr>
        <p:txBody>
          <a:bodyPr wrap="square" lIns="0" tIns="0" rIns="0" bIns="0" rtlCol="0" anchor="ctr"/>
          <a:lstStyle/>
          <a:p>
            <a:pPr algn="ctr" indent="0" marL="0">
              <a:buNone/>
            </a:pPr>
            <a:r>
              <a:rPr lang="en-US" sz="1100" b="1" dirty="0">
                <a:solidFill>
                  <a:srgbClr val="16191D"/>
                </a:solidFill>
                <a:latin typeface="Calibri" pitchFamily="34" charset="0"/>
                <a:ea typeface="Calibri" pitchFamily="34" charset="-122"/>
                <a:cs typeface="Calibri" pitchFamily="34" charset="-120"/>
              </a:rPr>
              <a:t>2</a:t>
            </a:r>
            <a:endParaRPr lang="en-US" sz="1100" dirty="0"/>
          </a:p>
        </p:txBody>
      </p:sp>
      <p:sp>
        <p:nvSpPr>
          <p:cNvPr id="25" name="Shape 23"/>
          <p:cNvSpPr/>
          <p:nvPr/>
        </p:nvSpPr>
        <p:spPr>
          <a:xfrm>
            <a:off x="3538728" y="3054096"/>
            <a:ext cx="1993392" cy="603504"/>
          </a:xfrm>
          <a:prstGeom prst="roundRect">
            <a:avLst>
              <a:gd name="adj" fmla="val 9091"/>
            </a:avLst>
          </a:prstGeom>
          <a:solidFill>
            <a:srgbClr val="F4F1EC"/>
          </a:solidFill>
          <a:ln w="9525">
            <a:solidFill>
              <a:srgbClr val="DCD8D1"/>
            </a:solidFill>
            <a:prstDash val="solid"/>
          </a:ln>
        </p:spPr>
      </p:sp>
      <p:sp>
        <p:nvSpPr>
          <p:cNvPr id="26" name="Text 24"/>
          <p:cNvSpPr/>
          <p:nvPr/>
        </p:nvSpPr>
        <p:spPr>
          <a:xfrm>
            <a:off x="3630168" y="3054096"/>
            <a:ext cx="1828800" cy="603504"/>
          </a:xfrm>
          <a:prstGeom prst="rect">
            <a:avLst/>
          </a:prstGeom>
          <a:noFill/>
          <a:ln/>
        </p:spPr>
        <p:txBody>
          <a:bodyPr wrap="square" lIns="0" tIns="0" rIns="0" bIns="0" rtlCol="0" anchor="ctr"/>
          <a:lstStyle/>
          <a:p>
            <a:pPr indent="0" marL="0">
              <a:lnSpc>
                <a:spcPts val="1400"/>
              </a:lnSpc>
              <a:buNone/>
            </a:pPr>
            <a:r>
              <a:rPr lang="en-US" sz="1150" b="1" dirty="0">
                <a:solidFill>
                  <a:srgbClr val="16191D"/>
                </a:solidFill>
                <a:latin typeface="Cambria" pitchFamily="34" charset="0"/>
                <a:ea typeface="Cambria" pitchFamily="34" charset="-122"/>
                <a:cs typeface="Cambria" pitchFamily="34" charset="-120"/>
              </a:rPr>
              <a:t>Kelas penentu sangat langka</a:t>
            </a:r>
            <a:endParaRPr lang="en-US" sz="1150" dirty="0"/>
          </a:p>
        </p:txBody>
      </p:sp>
      <p:sp>
        <p:nvSpPr>
          <p:cNvPr id="27" name="Text 25"/>
          <p:cNvSpPr/>
          <p:nvPr/>
        </p:nvSpPr>
        <p:spPr>
          <a:xfrm>
            <a:off x="5623560" y="3054096"/>
            <a:ext cx="2240280" cy="603504"/>
          </a:xfrm>
          <a:prstGeom prst="rect">
            <a:avLst/>
          </a:prstGeom>
          <a:noFill/>
          <a:ln/>
        </p:spPr>
        <p:txBody>
          <a:bodyPr wrap="square" lIns="0" tIns="0" rIns="0" bIns="0" rtlCol="0" anchor="ctr"/>
          <a:lstStyle/>
          <a:p>
            <a:pPr indent="0" marL="0">
              <a:lnSpc>
                <a:spcPts val="1300"/>
              </a:lnSpc>
              <a:buNone/>
            </a:pPr>
            <a:r>
              <a:rPr lang="en-US" sz="1050" dirty="0">
                <a:solidFill>
                  <a:srgbClr val="3A4048"/>
                </a:solidFill>
                <a:latin typeface="Calibri" pitchFamily="34" charset="0"/>
                <a:ea typeface="Calibri" pitchFamily="34" charset="-122"/>
                <a:cs typeface="Calibri" pitchFamily="34" charset="-120"/>
              </a:rPr>
              <a:t>Kelas 3 dan 4 hanya 4,7% data</a:t>
            </a:r>
            <a:endParaRPr lang="en-US" sz="1050" dirty="0"/>
          </a:p>
        </p:txBody>
      </p:sp>
      <p:sp>
        <p:nvSpPr>
          <p:cNvPr id="28" name="Text 26"/>
          <p:cNvSpPr/>
          <p:nvPr/>
        </p:nvSpPr>
        <p:spPr>
          <a:xfrm>
            <a:off x="7726680" y="3054096"/>
            <a:ext cx="256032" cy="603504"/>
          </a:xfrm>
          <a:prstGeom prst="rect">
            <a:avLst/>
          </a:prstGeom>
          <a:noFill/>
          <a:ln/>
        </p:spPr>
        <p:txBody>
          <a:bodyPr wrap="square" lIns="0" tIns="0" rIns="0" bIns="0" rtlCol="0" anchor="ctr"/>
          <a:lstStyle/>
          <a:p>
            <a:pPr algn="ctr" indent="0" marL="0">
              <a:buNone/>
            </a:pPr>
            <a:r>
              <a:rPr lang="en-US" sz="1200" dirty="0">
                <a:solidFill>
                  <a:srgbClr val="9AA0A7"/>
                </a:solidFill>
                <a:latin typeface="Calibri" pitchFamily="34" charset="0"/>
                <a:ea typeface="Calibri" pitchFamily="34" charset="-122"/>
                <a:cs typeface="Calibri" pitchFamily="34" charset="-120"/>
              </a:rPr>
              <a:t>→</a:t>
            </a:r>
            <a:endParaRPr lang="en-US" sz="1200" dirty="0"/>
          </a:p>
        </p:txBody>
      </p:sp>
      <p:sp>
        <p:nvSpPr>
          <p:cNvPr id="29" name="Shape 27"/>
          <p:cNvSpPr/>
          <p:nvPr/>
        </p:nvSpPr>
        <p:spPr>
          <a:xfrm>
            <a:off x="8001000" y="3054096"/>
            <a:ext cx="2240280" cy="603504"/>
          </a:xfrm>
          <a:prstGeom prst="roundRect">
            <a:avLst>
              <a:gd name="adj" fmla="val 9091"/>
            </a:avLst>
          </a:prstGeom>
          <a:solidFill>
            <a:srgbClr val="FFFFFF"/>
          </a:solidFill>
          <a:ln w="9525">
            <a:solidFill>
              <a:srgbClr val="DCD8D1"/>
            </a:solidFill>
            <a:prstDash val="solid"/>
          </a:ln>
        </p:spPr>
      </p:sp>
      <p:sp>
        <p:nvSpPr>
          <p:cNvPr id="30" name="Text 28"/>
          <p:cNvSpPr/>
          <p:nvPr/>
        </p:nvSpPr>
        <p:spPr>
          <a:xfrm>
            <a:off x="8110728" y="3054096"/>
            <a:ext cx="2057400" cy="603504"/>
          </a:xfrm>
          <a:prstGeom prst="rect">
            <a:avLst/>
          </a:prstGeom>
          <a:noFill/>
          <a:ln/>
        </p:spPr>
        <p:txBody>
          <a:bodyPr wrap="square" lIns="0" tIns="0" rIns="0" bIns="0" rtlCol="0" anchor="ctr"/>
          <a:lstStyle/>
          <a:p>
            <a:pPr indent="0" marL="0">
              <a:lnSpc>
                <a:spcPts val="1300"/>
              </a:lnSpc>
              <a:buNone/>
            </a:pPr>
            <a:r>
              <a:rPr lang="en-US" sz="1050" b="1" dirty="0">
                <a:solidFill>
                  <a:srgbClr val="2F6B5F"/>
                </a:solidFill>
                <a:latin typeface="Calibri" pitchFamily="34" charset="0"/>
                <a:ea typeface="Calibri" pitchFamily="34" charset="-122"/>
                <a:cs typeface="Calibri" pitchFamily="34" charset="-120"/>
              </a:rPr>
              <a:t>Ambang dioptimalkan, bukan argmax</a:t>
            </a:r>
            <a:endParaRPr lang="en-US" sz="1050" dirty="0"/>
          </a:p>
        </p:txBody>
      </p:sp>
      <p:sp>
        <p:nvSpPr>
          <p:cNvPr id="31" name="Text 29"/>
          <p:cNvSpPr/>
          <p:nvPr/>
        </p:nvSpPr>
        <p:spPr>
          <a:xfrm>
            <a:off x="10378440" y="3054096"/>
            <a:ext cx="1188720" cy="603504"/>
          </a:xfrm>
          <a:prstGeom prst="rect">
            <a:avLst/>
          </a:prstGeom>
          <a:noFill/>
          <a:ln/>
        </p:spPr>
        <p:txBody>
          <a:bodyPr wrap="square" lIns="0" tIns="0" rIns="0" bIns="0" rtlCol="0" anchor="ctr"/>
          <a:lstStyle/>
          <a:p>
            <a:pPr indent="0" marL="0">
              <a:buNone/>
            </a:pPr>
            <a:r>
              <a:rPr lang="en-US" sz="1050" dirty="0">
                <a:solidFill>
                  <a:srgbClr val="6E747C"/>
                </a:solidFill>
                <a:latin typeface="Calibri" pitchFamily="34" charset="0"/>
                <a:ea typeface="Calibri" pitchFamily="34" charset="-122"/>
                <a:cs typeface="Calibri" pitchFamily="34" charset="-120"/>
              </a:rPr>
              <a:t>Babak III</a:t>
            </a:r>
            <a:endParaRPr lang="en-US" sz="1050" dirty="0"/>
          </a:p>
        </p:txBody>
      </p:sp>
      <p:sp>
        <p:nvSpPr>
          <p:cNvPr id="32" name="Shape 30"/>
          <p:cNvSpPr/>
          <p:nvPr/>
        </p:nvSpPr>
        <p:spPr>
          <a:xfrm>
            <a:off x="2953512" y="4224528"/>
            <a:ext cx="109728" cy="0"/>
          </a:xfrm>
          <a:prstGeom prst="line">
            <a:avLst/>
          </a:prstGeom>
          <a:noFill/>
          <a:ln w="17780">
            <a:solidFill>
              <a:srgbClr val="16191D"/>
            </a:solidFill>
            <a:prstDash val="solid"/>
          </a:ln>
        </p:spPr>
      </p:sp>
      <p:sp>
        <p:nvSpPr>
          <p:cNvPr id="33" name="Shape 31"/>
          <p:cNvSpPr/>
          <p:nvPr/>
        </p:nvSpPr>
        <p:spPr>
          <a:xfrm>
            <a:off x="3063240" y="4041648"/>
            <a:ext cx="365760" cy="365760"/>
          </a:xfrm>
          <a:prstGeom prst="ellipse">
            <a:avLst/>
          </a:prstGeom>
          <a:solidFill>
            <a:srgbClr val="D8A25E"/>
          </a:solidFill>
          <a:ln/>
        </p:spPr>
      </p:sp>
      <p:sp>
        <p:nvSpPr>
          <p:cNvPr id="34" name="Text 32"/>
          <p:cNvSpPr/>
          <p:nvPr/>
        </p:nvSpPr>
        <p:spPr>
          <a:xfrm>
            <a:off x="3063240" y="4041648"/>
            <a:ext cx="365760"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35" name="Shape 33"/>
          <p:cNvSpPr/>
          <p:nvPr/>
        </p:nvSpPr>
        <p:spPr>
          <a:xfrm>
            <a:off x="3538728" y="3922776"/>
            <a:ext cx="1993392" cy="603504"/>
          </a:xfrm>
          <a:prstGeom prst="roundRect">
            <a:avLst>
              <a:gd name="adj" fmla="val 9091"/>
            </a:avLst>
          </a:prstGeom>
          <a:solidFill>
            <a:srgbClr val="F4F1EC"/>
          </a:solidFill>
          <a:ln w="9525">
            <a:solidFill>
              <a:srgbClr val="DCD8D1"/>
            </a:solidFill>
            <a:prstDash val="solid"/>
          </a:ln>
        </p:spPr>
      </p:sp>
      <p:sp>
        <p:nvSpPr>
          <p:cNvPr id="36" name="Text 34"/>
          <p:cNvSpPr/>
          <p:nvPr/>
        </p:nvSpPr>
        <p:spPr>
          <a:xfrm>
            <a:off x="3630168" y="3922776"/>
            <a:ext cx="1828800" cy="603504"/>
          </a:xfrm>
          <a:prstGeom prst="rect">
            <a:avLst/>
          </a:prstGeom>
          <a:noFill/>
          <a:ln/>
        </p:spPr>
        <p:txBody>
          <a:bodyPr wrap="square" lIns="0" tIns="0" rIns="0" bIns="0" rtlCol="0" anchor="ctr"/>
          <a:lstStyle/>
          <a:p>
            <a:pPr indent="0" marL="0">
              <a:lnSpc>
                <a:spcPts val="1400"/>
              </a:lnSpc>
              <a:buNone/>
            </a:pPr>
            <a:r>
              <a:rPr lang="en-US" sz="1150" b="1" dirty="0">
                <a:solidFill>
                  <a:srgbClr val="16191D"/>
                </a:solidFill>
                <a:latin typeface="Cambria" pitchFamily="34" charset="0"/>
                <a:ea typeface="Cambria" pitchFamily="34" charset="-122"/>
                <a:cs typeface="Cambria" pitchFamily="34" charset="-120"/>
              </a:rPr>
              <a:t>Ruang pilihan lebar, selisih tipis</a:t>
            </a:r>
            <a:endParaRPr lang="en-US" sz="1150" dirty="0"/>
          </a:p>
        </p:txBody>
      </p:sp>
      <p:sp>
        <p:nvSpPr>
          <p:cNvPr id="37" name="Text 35"/>
          <p:cNvSpPr/>
          <p:nvPr/>
        </p:nvSpPr>
        <p:spPr>
          <a:xfrm>
            <a:off x="5623560" y="3922776"/>
            <a:ext cx="2240280" cy="603504"/>
          </a:xfrm>
          <a:prstGeom prst="rect">
            <a:avLst/>
          </a:prstGeom>
          <a:noFill/>
          <a:ln/>
        </p:spPr>
        <p:txBody>
          <a:bodyPr wrap="square" lIns="0" tIns="0" rIns="0" bIns="0" rtlCol="0" anchor="ctr"/>
          <a:lstStyle/>
          <a:p>
            <a:pPr indent="0" marL="0">
              <a:lnSpc>
                <a:spcPts val="1300"/>
              </a:lnSpc>
              <a:buNone/>
            </a:pPr>
            <a:r>
              <a:rPr lang="en-US" sz="1050" dirty="0">
                <a:solidFill>
                  <a:srgbClr val="3A4048"/>
                </a:solidFill>
                <a:latin typeface="Calibri" pitchFamily="34" charset="0"/>
                <a:ea typeface="Calibri" pitchFamily="34" charset="-122"/>
                <a:cs typeface="Calibri" pitchFamily="34" charset="-120"/>
              </a:rPr>
              <a:t>20 konfigurasi hanya terpaut 0,003</a:t>
            </a:r>
            <a:endParaRPr lang="en-US" sz="1050" dirty="0"/>
          </a:p>
        </p:txBody>
      </p:sp>
      <p:sp>
        <p:nvSpPr>
          <p:cNvPr id="38" name="Text 36"/>
          <p:cNvSpPr/>
          <p:nvPr/>
        </p:nvSpPr>
        <p:spPr>
          <a:xfrm>
            <a:off x="7726680" y="3922776"/>
            <a:ext cx="256032" cy="603504"/>
          </a:xfrm>
          <a:prstGeom prst="rect">
            <a:avLst/>
          </a:prstGeom>
          <a:noFill/>
          <a:ln/>
        </p:spPr>
        <p:txBody>
          <a:bodyPr wrap="square" lIns="0" tIns="0" rIns="0" bIns="0" rtlCol="0" anchor="ctr"/>
          <a:lstStyle/>
          <a:p>
            <a:pPr algn="ctr" indent="0" marL="0">
              <a:buNone/>
            </a:pPr>
            <a:r>
              <a:rPr lang="en-US" sz="1200" dirty="0">
                <a:solidFill>
                  <a:srgbClr val="9AA0A7"/>
                </a:solidFill>
                <a:latin typeface="Calibri" pitchFamily="34" charset="0"/>
                <a:ea typeface="Calibri" pitchFamily="34" charset="-122"/>
                <a:cs typeface="Calibri" pitchFamily="34" charset="-120"/>
              </a:rPr>
              <a:t>→</a:t>
            </a:r>
            <a:endParaRPr lang="en-US" sz="1200" dirty="0"/>
          </a:p>
        </p:txBody>
      </p:sp>
      <p:sp>
        <p:nvSpPr>
          <p:cNvPr id="39" name="Shape 37"/>
          <p:cNvSpPr/>
          <p:nvPr/>
        </p:nvSpPr>
        <p:spPr>
          <a:xfrm>
            <a:off x="8001000" y="3922776"/>
            <a:ext cx="2240280" cy="603504"/>
          </a:xfrm>
          <a:prstGeom prst="roundRect">
            <a:avLst>
              <a:gd name="adj" fmla="val 9091"/>
            </a:avLst>
          </a:prstGeom>
          <a:solidFill>
            <a:srgbClr val="FFFFFF"/>
          </a:solidFill>
          <a:ln w="9525">
            <a:solidFill>
              <a:srgbClr val="DCD8D1"/>
            </a:solidFill>
            <a:prstDash val="solid"/>
          </a:ln>
        </p:spPr>
      </p:sp>
      <p:sp>
        <p:nvSpPr>
          <p:cNvPr id="40" name="Text 38"/>
          <p:cNvSpPr/>
          <p:nvPr/>
        </p:nvSpPr>
        <p:spPr>
          <a:xfrm>
            <a:off x="8110728" y="3922776"/>
            <a:ext cx="2057400" cy="603504"/>
          </a:xfrm>
          <a:prstGeom prst="rect">
            <a:avLst/>
          </a:prstGeom>
          <a:noFill/>
          <a:ln/>
        </p:spPr>
        <p:txBody>
          <a:bodyPr wrap="square" lIns="0" tIns="0" rIns="0" bIns="0" rtlCol="0" anchor="ctr"/>
          <a:lstStyle/>
          <a:p>
            <a:pPr indent="0" marL="0">
              <a:lnSpc>
                <a:spcPts val="1300"/>
              </a:lnSpc>
              <a:buNone/>
            </a:pPr>
            <a:r>
              <a:rPr lang="en-US" sz="1050" b="1" dirty="0">
                <a:solidFill>
                  <a:srgbClr val="2F6B5F"/>
                </a:solidFill>
                <a:latin typeface="Calibri" pitchFamily="34" charset="0"/>
                <a:ea typeface="Calibri" pitchFamily="34" charset="-122"/>
                <a:cs typeface="Calibri" pitchFamily="34" charset="-120"/>
              </a:rPr>
              <a:t>Reduksi variansi, pilihan a priori</a:t>
            </a:r>
            <a:endParaRPr lang="en-US" sz="1050" dirty="0"/>
          </a:p>
        </p:txBody>
      </p:sp>
      <p:sp>
        <p:nvSpPr>
          <p:cNvPr id="41" name="Text 39"/>
          <p:cNvSpPr/>
          <p:nvPr/>
        </p:nvSpPr>
        <p:spPr>
          <a:xfrm>
            <a:off x="10378440" y="3922776"/>
            <a:ext cx="1188720" cy="603504"/>
          </a:xfrm>
          <a:prstGeom prst="rect">
            <a:avLst/>
          </a:prstGeom>
          <a:noFill/>
          <a:ln/>
        </p:spPr>
        <p:txBody>
          <a:bodyPr wrap="square" lIns="0" tIns="0" rIns="0" bIns="0" rtlCol="0" anchor="ctr"/>
          <a:lstStyle/>
          <a:p>
            <a:pPr indent="0" marL="0">
              <a:buNone/>
            </a:pPr>
            <a:r>
              <a:rPr lang="en-US" sz="1050" dirty="0">
                <a:solidFill>
                  <a:srgbClr val="6E747C"/>
                </a:solidFill>
                <a:latin typeface="Calibri" pitchFamily="34" charset="0"/>
                <a:ea typeface="Calibri" pitchFamily="34" charset="-122"/>
                <a:cs typeface="Calibri" pitchFamily="34" charset="-120"/>
              </a:rPr>
              <a:t>Babak IV</a:t>
            </a:r>
            <a:endParaRPr lang="en-US" sz="1050" dirty="0"/>
          </a:p>
        </p:txBody>
      </p:sp>
      <p:sp>
        <p:nvSpPr>
          <p:cNvPr id="42" name="Shape 40"/>
          <p:cNvSpPr/>
          <p:nvPr/>
        </p:nvSpPr>
        <p:spPr>
          <a:xfrm>
            <a:off x="2953512" y="5093208"/>
            <a:ext cx="109728" cy="0"/>
          </a:xfrm>
          <a:prstGeom prst="line">
            <a:avLst/>
          </a:prstGeom>
          <a:noFill/>
          <a:ln w="17780">
            <a:solidFill>
              <a:srgbClr val="16191D"/>
            </a:solidFill>
            <a:prstDash val="solid"/>
          </a:ln>
        </p:spPr>
      </p:sp>
      <p:sp>
        <p:nvSpPr>
          <p:cNvPr id="43" name="Shape 41"/>
          <p:cNvSpPr/>
          <p:nvPr/>
        </p:nvSpPr>
        <p:spPr>
          <a:xfrm>
            <a:off x="3063240" y="4910328"/>
            <a:ext cx="365760" cy="365760"/>
          </a:xfrm>
          <a:prstGeom prst="ellipse">
            <a:avLst/>
          </a:prstGeom>
          <a:solidFill>
            <a:srgbClr val="A8442A"/>
          </a:solidFill>
          <a:ln/>
        </p:spPr>
      </p:sp>
      <p:sp>
        <p:nvSpPr>
          <p:cNvPr id="44" name="Text 42"/>
          <p:cNvSpPr/>
          <p:nvPr/>
        </p:nvSpPr>
        <p:spPr>
          <a:xfrm>
            <a:off x="3063240" y="4910328"/>
            <a:ext cx="365760"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45" name="Shape 43"/>
          <p:cNvSpPr/>
          <p:nvPr/>
        </p:nvSpPr>
        <p:spPr>
          <a:xfrm>
            <a:off x="3538728" y="4791456"/>
            <a:ext cx="1993392" cy="603504"/>
          </a:xfrm>
          <a:prstGeom prst="roundRect">
            <a:avLst>
              <a:gd name="adj" fmla="val 9091"/>
            </a:avLst>
          </a:prstGeom>
          <a:solidFill>
            <a:srgbClr val="F4F1EC"/>
          </a:solidFill>
          <a:ln w="9525">
            <a:solidFill>
              <a:srgbClr val="DCD8D1"/>
            </a:solidFill>
            <a:prstDash val="solid"/>
          </a:ln>
        </p:spPr>
      </p:sp>
      <p:sp>
        <p:nvSpPr>
          <p:cNvPr id="46" name="Text 44"/>
          <p:cNvSpPr/>
          <p:nvPr/>
        </p:nvSpPr>
        <p:spPr>
          <a:xfrm>
            <a:off x="3630168" y="4791456"/>
            <a:ext cx="1828800" cy="603504"/>
          </a:xfrm>
          <a:prstGeom prst="rect">
            <a:avLst/>
          </a:prstGeom>
          <a:noFill/>
          <a:ln/>
        </p:spPr>
        <p:txBody>
          <a:bodyPr wrap="square" lIns="0" tIns="0" rIns="0" bIns="0" rtlCol="0" anchor="ctr"/>
          <a:lstStyle/>
          <a:p>
            <a:pPr indent="0" marL="0">
              <a:lnSpc>
                <a:spcPts val="1400"/>
              </a:lnSpc>
              <a:buNone/>
            </a:pPr>
            <a:r>
              <a:rPr lang="en-US" sz="1150" b="1" dirty="0">
                <a:solidFill>
                  <a:srgbClr val="16191D"/>
                </a:solidFill>
                <a:latin typeface="Cambria" pitchFamily="34" charset="0"/>
                <a:ea typeface="Cambria" pitchFamily="34" charset="-122"/>
                <a:cs typeface="Cambria" pitchFamily="34" charset="-120"/>
              </a:rPr>
              <a:t>Penentu utamanya tak terekam</a:t>
            </a:r>
            <a:endParaRPr lang="en-US" sz="1150" dirty="0"/>
          </a:p>
        </p:txBody>
      </p:sp>
      <p:sp>
        <p:nvSpPr>
          <p:cNvPr id="47" name="Text 45"/>
          <p:cNvSpPr/>
          <p:nvPr/>
        </p:nvSpPr>
        <p:spPr>
          <a:xfrm>
            <a:off x="5623560" y="4791456"/>
            <a:ext cx="2240280" cy="603504"/>
          </a:xfrm>
          <a:prstGeom prst="rect">
            <a:avLst/>
          </a:prstGeom>
          <a:noFill/>
          <a:ln/>
        </p:spPr>
        <p:txBody>
          <a:bodyPr wrap="square" lIns="0" tIns="0" rIns="0" bIns="0" rtlCol="0" anchor="ctr"/>
          <a:lstStyle/>
          <a:p>
            <a:pPr indent="0" marL="0">
              <a:lnSpc>
                <a:spcPts val="1300"/>
              </a:lnSpc>
              <a:buNone/>
            </a:pPr>
            <a:r>
              <a:rPr lang="en-US" sz="1050" dirty="0">
                <a:solidFill>
                  <a:srgbClr val="3A4048"/>
                </a:solidFill>
                <a:latin typeface="Calibri" pitchFamily="34" charset="0"/>
                <a:ea typeface="Calibri" pitchFamily="34" charset="-122"/>
                <a:cs typeface="Calibri" pitchFamily="34" charset="-120"/>
              </a:rPr>
              <a:t>Kepribadian dan relasi sosial absen</a:t>
            </a:r>
            <a:endParaRPr lang="en-US" sz="1050" dirty="0"/>
          </a:p>
        </p:txBody>
      </p:sp>
      <p:sp>
        <p:nvSpPr>
          <p:cNvPr id="48" name="Text 46"/>
          <p:cNvSpPr/>
          <p:nvPr/>
        </p:nvSpPr>
        <p:spPr>
          <a:xfrm>
            <a:off x="7726680" y="4791456"/>
            <a:ext cx="256032" cy="603504"/>
          </a:xfrm>
          <a:prstGeom prst="rect">
            <a:avLst/>
          </a:prstGeom>
          <a:noFill/>
          <a:ln/>
        </p:spPr>
        <p:txBody>
          <a:bodyPr wrap="square" lIns="0" tIns="0" rIns="0" bIns="0" rtlCol="0" anchor="ctr"/>
          <a:lstStyle/>
          <a:p>
            <a:pPr algn="ctr" indent="0" marL="0">
              <a:buNone/>
            </a:pPr>
            <a:r>
              <a:rPr lang="en-US" sz="1200" dirty="0">
                <a:solidFill>
                  <a:srgbClr val="9AA0A7"/>
                </a:solidFill>
                <a:latin typeface="Calibri" pitchFamily="34" charset="0"/>
                <a:ea typeface="Calibri" pitchFamily="34" charset="-122"/>
                <a:cs typeface="Calibri" pitchFamily="34" charset="-120"/>
              </a:rPr>
              <a:t>→</a:t>
            </a:r>
            <a:endParaRPr lang="en-US" sz="1200" dirty="0"/>
          </a:p>
        </p:txBody>
      </p:sp>
      <p:sp>
        <p:nvSpPr>
          <p:cNvPr id="49" name="Shape 47"/>
          <p:cNvSpPr/>
          <p:nvPr/>
        </p:nvSpPr>
        <p:spPr>
          <a:xfrm>
            <a:off x="8001000" y="4791456"/>
            <a:ext cx="2240280" cy="603504"/>
          </a:xfrm>
          <a:prstGeom prst="roundRect">
            <a:avLst>
              <a:gd name="adj" fmla="val 9091"/>
            </a:avLst>
          </a:prstGeom>
          <a:solidFill>
            <a:srgbClr val="FFFFFF"/>
          </a:solidFill>
          <a:ln w="9525">
            <a:solidFill>
              <a:srgbClr val="DCD8D1"/>
            </a:solidFill>
            <a:prstDash val="solid"/>
          </a:ln>
        </p:spPr>
      </p:sp>
      <p:sp>
        <p:nvSpPr>
          <p:cNvPr id="50" name="Text 48"/>
          <p:cNvSpPr/>
          <p:nvPr/>
        </p:nvSpPr>
        <p:spPr>
          <a:xfrm>
            <a:off x="8110728" y="4791456"/>
            <a:ext cx="2057400" cy="603504"/>
          </a:xfrm>
          <a:prstGeom prst="rect">
            <a:avLst/>
          </a:prstGeom>
          <a:noFill/>
          <a:ln/>
        </p:spPr>
        <p:txBody>
          <a:bodyPr wrap="square" lIns="0" tIns="0" rIns="0" bIns="0" rtlCol="0" anchor="ctr"/>
          <a:lstStyle/>
          <a:p>
            <a:pPr indent="0" marL="0">
              <a:lnSpc>
                <a:spcPts val="1300"/>
              </a:lnSpc>
              <a:buNone/>
            </a:pPr>
            <a:r>
              <a:rPr lang="en-US" sz="1050" b="1" dirty="0">
                <a:solidFill>
                  <a:srgbClr val="2F6B5F"/>
                </a:solidFill>
                <a:latin typeface="Calibri" pitchFamily="34" charset="0"/>
                <a:ea typeface="Calibri" pitchFamily="34" charset="-122"/>
                <a:cs typeface="Calibri" pitchFamily="34" charset="-120"/>
              </a:rPr>
              <a:t>Analisis plafon kuantitatif</a:t>
            </a:r>
            <a:endParaRPr lang="en-US" sz="1050" dirty="0"/>
          </a:p>
        </p:txBody>
      </p:sp>
      <p:sp>
        <p:nvSpPr>
          <p:cNvPr id="51" name="Text 49"/>
          <p:cNvSpPr/>
          <p:nvPr/>
        </p:nvSpPr>
        <p:spPr>
          <a:xfrm>
            <a:off x="10378440" y="4791456"/>
            <a:ext cx="1188720" cy="603504"/>
          </a:xfrm>
          <a:prstGeom prst="rect">
            <a:avLst/>
          </a:prstGeom>
          <a:noFill/>
          <a:ln/>
        </p:spPr>
        <p:txBody>
          <a:bodyPr wrap="square" lIns="0" tIns="0" rIns="0" bIns="0" rtlCol="0" anchor="ctr"/>
          <a:lstStyle/>
          <a:p>
            <a:pPr indent="0" marL="0">
              <a:buNone/>
            </a:pPr>
            <a:r>
              <a:rPr lang="en-US" sz="1050" dirty="0">
                <a:solidFill>
                  <a:srgbClr val="6E747C"/>
                </a:solidFill>
                <a:latin typeface="Calibri" pitchFamily="34" charset="0"/>
                <a:ea typeface="Calibri" pitchFamily="34" charset="-122"/>
                <a:cs typeface="Calibri" pitchFamily="34" charset="-120"/>
              </a:rPr>
              <a:t>Babak V</a:t>
            </a:r>
            <a:endParaRPr lang="en-US" sz="1050" dirty="0"/>
          </a:p>
        </p:txBody>
      </p:sp>
      <p:sp>
        <p:nvSpPr>
          <p:cNvPr id="53" name="Shape 50"/>
          <p:cNvSpPr/>
          <p:nvPr/>
        </p:nvSpPr>
        <p:spPr>
          <a:xfrm>
            <a:off x="640080" y="6400800"/>
            <a:ext cx="1572768" cy="45720"/>
          </a:xfrm>
          <a:prstGeom prst="rect">
            <a:avLst/>
          </a:prstGeom>
          <a:solidFill>
            <a:srgbClr val="A8442A"/>
          </a:solidFill>
          <a:ln/>
        </p:spPr>
      </p:sp>
      <p:sp>
        <p:nvSpPr>
          <p:cNvPr id="54" name="Text 51"/>
          <p:cNvSpPr/>
          <p:nvPr/>
        </p:nvSpPr>
        <p:spPr>
          <a:xfrm>
            <a:off x="640080" y="6464808"/>
            <a:ext cx="1572768" cy="201168"/>
          </a:xfrm>
          <a:prstGeom prst="rect">
            <a:avLst/>
          </a:prstGeom>
          <a:noFill/>
          <a:ln/>
        </p:spPr>
        <p:txBody>
          <a:bodyPr wrap="square" lIns="0" tIns="0" rIns="0" bIns="0" rtlCol="0" anchor="ctr"/>
          <a:lstStyle/>
          <a:p>
            <a:pPr indent="0" marL="0">
              <a:buNone/>
            </a:pPr>
            <a:r>
              <a:rPr lang="en-US" sz="850" b="1" dirty="0">
                <a:solidFill>
                  <a:srgbClr val="16191D"/>
                </a:solidFill>
                <a:latin typeface="Calibri" pitchFamily="34" charset="0"/>
                <a:ea typeface="Calibri" pitchFamily="34" charset="-122"/>
                <a:cs typeface="Calibri" pitchFamily="34" charset="-120"/>
              </a:rPr>
              <a:t>I · Latar &amp; data</a:t>
            </a:r>
            <a:endParaRPr lang="en-US" sz="850" dirty="0"/>
          </a:p>
        </p:txBody>
      </p:sp>
      <p:sp>
        <p:nvSpPr>
          <p:cNvPr id="55" name="Shape 52"/>
          <p:cNvSpPr/>
          <p:nvPr/>
        </p:nvSpPr>
        <p:spPr>
          <a:xfrm>
            <a:off x="2304288" y="6400800"/>
            <a:ext cx="1572768" cy="45720"/>
          </a:xfrm>
          <a:prstGeom prst="rect">
            <a:avLst/>
          </a:prstGeom>
          <a:solidFill>
            <a:srgbClr val="DCD8D1"/>
          </a:solidFill>
          <a:ln/>
        </p:spPr>
      </p:sp>
      <p:sp>
        <p:nvSpPr>
          <p:cNvPr id="56" name="Text 53"/>
          <p:cNvSpPr/>
          <p:nvPr/>
        </p:nvSpPr>
        <p:spPr>
          <a:xfrm>
            <a:off x="2304288"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II · EDA</a:t>
            </a:r>
            <a:endParaRPr lang="en-US" sz="850" dirty="0"/>
          </a:p>
        </p:txBody>
      </p:sp>
      <p:sp>
        <p:nvSpPr>
          <p:cNvPr id="57" name="Shape 54"/>
          <p:cNvSpPr/>
          <p:nvPr/>
        </p:nvSpPr>
        <p:spPr>
          <a:xfrm>
            <a:off x="3968496" y="6400800"/>
            <a:ext cx="1572768" cy="45720"/>
          </a:xfrm>
          <a:prstGeom prst="rect">
            <a:avLst/>
          </a:prstGeom>
          <a:solidFill>
            <a:srgbClr val="DCD8D1"/>
          </a:solidFill>
          <a:ln/>
        </p:spPr>
      </p:sp>
      <p:sp>
        <p:nvSpPr>
          <p:cNvPr id="58" name="Text 55"/>
          <p:cNvSpPr/>
          <p:nvPr/>
        </p:nvSpPr>
        <p:spPr>
          <a:xfrm>
            <a:off x="3968496"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III · Pipeline</a:t>
            </a:r>
            <a:endParaRPr lang="en-US" sz="850" dirty="0"/>
          </a:p>
        </p:txBody>
      </p:sp>
      <p:sp>
        <p:nvSpPr>
          <p:cNvPr id="59" name="Shape 56"/>
          <p:cNvSpPr/>
          <p:nvPr/>
        </p:nvSpPr>
        <p:spPr>
          <a:xfrm>
            <a:off x="5632704" y="6400800"/>
            <a:ext cx="1572768" cy="45720"/>
          </a:xfrm>
          <a:prstGeom prst="rect">
            <a:avLst/>
          </a:prstGeom>
          <a:solidFill>
            <a:srgbClr val="DCD8D1"/>
          </a:solidFill>
          <a:ln/>
        </p:spPr>
      </p:sp>
      <p:sp>
        <p:nvSpPr>
          <p:cNvPr id="60" name="Text 57"/>
          <p:cNvSpPr/>
          <p:nvPr/>
        </p:nvSpPr>
        <p:spPr>
          <a:xfrm>
            <a:off x="5632704"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IV · Disiplin estimasi</a:t>
            </a:r>
            <a:endParaRPr lang="en-US" sz="850" dirty="0"/>
          </a:p>
        </p:txBody>
      </p:sp>
      <p:sp>
        <p:nvSpPr>
          <p:cNvPr id="61" name="Shape 58"/>
          <p:cNvSpPr/>
          <p:nvPr/>
        </p:nvSpPr>
        <p:spPr>
          <a:xfrm>
            <a:off x="7296912" y="6400800"/>
            <a:ext cx="1572768" cy="45720"/>
          </a:xfrm>
          <a:prstGeom prst="rect">
            <a:avLst/>
          </a:prstGeom>
          <a:solidFill>
            <a:srgbClr val="DCD8D1"/>
          </a:solidFill>
          <a:ln/>
        </p:spPr>
      </p:sp>
      <p:sp>
        <p:nvSpPr>
          <p:cNvPr id="62" name="Text 59"/>
          <p:cNvSpPr/>
          <p:nvPr/>
        </p:nvSpPr>
        <p:spPr>
          <a:xfrm>
            <a:off x="7296912"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V · Hasil &amp; plafon</a:t>
            </a:r>
            <a:endParaRPr lang="en-US" sz="850" dirty="0"/>
          </a:p>
        </p:txBody>
      </p:sp>
      <p:sp>
        <p:nvSpPr>
          <p:cNvPr id="63" name="Shape 60"/>
          <p:cNvSpPr/>
          <p:nvPr/>
        </p:nvSpPr>
        <p:spPr>
          <a:xfrm>
            <a:off x="8961120" y="6400800"/>
            <a:ext cx="1572768" cy="45720"/>
          </a:xfrm>
          <a:prstGeom prst="rect">
            <a:avLst/>
          </a:prstGeom>
          <a:solidFill>
            <a:srgbClr val="DCD8D1"/>
          </a:solidFill>
          <a:ln/>
        </p:spPr>
      </p:sp>
      <p:sp>
        <p:nvSpPr>
          <p:cNvPr id="64" name="Text 61"/>
          <p:cNvSpPr/>
          <p:nvPr/>
        </p:nvSpPr>
        <p:spPr>
          <a:xfrm>
            <a:off x="8961120"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VI · Reproduksi &amp; produk</a:t>
            </a:r>
            <a:endParaRPr lang="en-US" sz="850" dirty="0"/>
          </a:p>
        </p:txBody>
      </p:sp>
      <p:sp>
        <p:nvSpPr>
          <p:cNvPr id="65" name="Text 62"/>
          <p:cNvSpPr/>
          <p:nvPr/>
        </p:nvSpPr>
        <p:spPr>
          <a:xfrm>
            <a:off x="10637215" y="6382512"/>
            <a:ext cx="914400" cy="274320"/>
          </a:xfrm>
          <a:prstGeom prst="rect">
            <a:avLst/>
          </a:prstGeom>
          <a:noFill/>
          <a:ln/>
        </p:spPr>
        <p:txBody>
          <a:bodyPr wrap="square" lIns="0" tIns="0" rIns="0" bIns="0" rtlCol="0" anchor="ctr"/>
          <a:lstStyle/>
          <a:p>
            <a:pPr algn="r" indent="0" marL="0">
              <a:buNone/>
            </a:pPr>
            <a:r>
              <a:rPr lang="en-US" sz="900" b="1" dirty="0">
                <a:solidFill>
                  <a:srgbClr val="9AA0A7"/>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84048"/>
            <a:ext cx="10911535" cy="530352"/>
          </a:xfrm>
          <a:prstGeom prst="rect">
            <a:avLst/>
          </a:prstGeom>
          <a:noFill/>
          <a:ln/>
        </p:spPr>
        <p:txBody>
          <a:bodyPr wrap="square" lIns="0" tIns="0" rIns="0" bIns="0" rtlCol="0" anchor="t"/>
          <a:lstStyle/>
          <a:p>
            <a:pPr indent="0" marL="0">
              <a:buNone/>
            </a:pPr>
            <a:r>
              <a:rPr lang="en-US" sz="2400" b="1" dirty="0">
                <a:solidFill>
                  <a:srgbClr val="16191D"/>
                </a:solidFill>
                <a:latin typeface="Cambria" pitchFamily="34" charset="0"/>
                <a:ea typeface="Cambria" pitchFamily="34" charset="-122"/>
                <a:cs typeface="Cambria" pitchFamily="34" charset="-120"/>
              </a:rPr>
              <a:t>EDA 1 · Target timpang, kosong merata, kode 7/8/9 bermakna.</a:t>
            </a:r>
            <a:endParaRPr lang="en-US" sz="2400" dirty="0"/>
          </a:p>
        </p:txBody>
      </p:sp>
      <p:sp>
        <p:nvSpPr>
          <p:cNvPr id="3" name="Text 1"/>
          <p:cNvSpPr/>
          <p:nvPr/>
        </p:nvSpPr>
        <p:spPr>
          <a:xfrm>
            <a:off x="640080" y="896112"/>
            <a:ext cx="10911535" cy="310896"/>
          </a:xfrm>
          <a:prstGeom prst="rect">
            <a:avLst/>
          </a:prstGeom>
          <a:noFill/>
          <a:ln/>
        </p:spPr>
        <p:txBody>
          <a:bodyPr wrap="square" lIns="0" tIns="0" rIns="0" bIns="0" rtlCol="0" anchor="t"/>
          <a:lstStyle/>
          <a:p>
            <a:pPr indent="0" marL="0">
              <a:buNone/>
            </a:pPr>
            <a:r>
              <a:rPr lang="en-US" sz="1250" dirty="0">
                <a:solidFill>
                  <a:srgbClr val="6E747C"/>
                </a:solidFill>
                <a:latin typeface="Calibri" pitchFamily="34" charset="0"/>
                <a:ea typeface="Calibri" pitchFamily="34" charset="-122"/>
                <a:cs typeface="Calibri" pitchFamily="34" charset="-120"/>
              </a:rPr>
              <a:t>Tiga temuan pertama, masing-masing langsung menjadi keputusan desain.</a:t>
            </a:r>
            <a:endParaRPr lang="en-US" sz="1250" dirty="0"/>
          </a:p>
        </p:txBody>
      </p:sp>
      <p:sp>
        <p:nvSpPr>
          <p:cNvPr id="4" name="Shape 2"/>
          <p:cNvSpPr/>
          <p:nvPr/>
        </p:nvSpPr>
        <p:spPr>
          <a:xfrm>
            <a:off x="640080" y="1371600"/>
            <a:ext cx="3484778" cy="4846320"/>
          </a:xfrm>
          <a:prstGeom prst="roundRect">
            <a:avLst>
              <a:gd name="adj" fmla="val 1574"/>
            </a:avLst>
          </a:prstGeom>
          <a:solidFill>
            <a:srgbClr val="F4F1EC"/>
          </a:solidFill>
          <a:ln w="9525">
            <a:solidFill>
              <a:srgbClr val="DCD8D1"/>
            </a:solidFill>
            <a:prstDash val="solid"/>
          </a:ln>
        </p:spPr>
      </p:sp>
      <p:sp>
        <p:nvSpPr>
          <p:cNvPr id="5" name="Text 3"/>
          <p:cNvSpPr/>
          <p:nvPr/>
        </p:nvSpPr>
        <p:spPr>
          <a:xfrm>
            <a:off x="841248" y="1499616"/>
            <a:ext cx="3082442" cy="201168"/>
          </a:xfrm>
          <a:prstGeom prst="rect">
            <a:avLst/>
          </a:prstGeom>
          <a:noFill/>
          <a:ln/>
        </p:spPr>
        <p:txBody>
          <a:bodyPr wrap="square" lIns="0" tIns="0" rIns="0" bIns="0" rtlCol="0" anchor="ctr"/>
          <a:lstStyle/>
          <a:p>
            <a:pPr indent="0" marL="0">
              <a:buNone/>
            </a:pPr>
            <a:r>
              <a:rPr lang="en-US" sz="850" b="1" spc="120" kern="0" dirty="0">
                <a:solidFill>
                  <a:srgbClr val="6E747C"/>
                </a:solidFill>
                <a:latin typeface="Calibri" pitchFamily="34" charset="0"/>
                <a:ea typeface="Calibri" pitchFamily="34" charset="-122"/>
                <a:cs typeface="Calibri" pitchFamily="34" charset="-120"/>
              </a:rPr>
              <a:t>3.1 · DISTRIBUSI TARGET</a:t>
            </a:r>
            <a:endParaRPr lang="en-US" sz="850" dirty="0"/>
          </a:p>
        </p:txBody>
      </p:sp>
      <p:sp>
        <p:nvSpPr>
          <p:cNvPr id="6" name="Text 4"/>
          <p:cNvSpPr/>
          <p:nvPr/>
        </p:nvSpPr>
        <p:spPr>
          <a:xfrm>
            <a:off x="841248" y="1700784"/>
            <a:ext cx="3082442" cy="475488"/>
          </a:xfrm>
          <a:prstGeom prst="rect">
            <a:avLst/>
          </a:prstGeom>
          <a:noFill/>
          <a:ln/>
        </p:spPr>
        <p:txBody>
          <a:bodyPr wrap="square" lIns="0" tIns="0" rIns="0" bIns="0" rtlCol="0" anchor="t"/>
          <a:lstStyle/>
          <a:p>
            <a:pPr indent="0" marL="0">
              <a:lnSpc>
                <a:spcPts val="1600"/>
              </a:lnSpc>
              <a:buNone/>
            </a:pPr>
            <a:r>
              <a:rPr lang="en-US" sz="1300" b="1" dirty="0">
                <a:solidFill>
                  <a:srgbClr val="16191D"/>
                </a:solidFill>
                <a:latin typeface="Cambria" pitchFamily="34" charset="0"/>
                <a:ea typeface="Cambria" pitchFamily="34" charset="-122"/>
                <a:cs typeface="Cambria" pitchFamily="34" charset="-120"/>
              </a:rPr>
              <a:t>Dua kelas menguasai 95,3%, bukan penentu skor</a:t>
            </a:r>
            <a:endParaRPr lang="en-US" sz="1300" dirty="0"/>
          </a:p>
        </p:txBody>
      </p:sp>
      <p:sp>
        <p:nvSpPr>
          <p:cNvPr id="7" name="Text 5"/>
          <p:cNvSpPr/>
          <p:nvPr/>
        </p:nvSpPr>
        <p:spPr>
          <a:xfrm>
            <a:off x="841248" y="2212848"/>
            <a:ext cx="1371600" cy="256032"/>
          </a:xfrm>
          <a:prstGeom prst="rect">
            <a:avLst/>
          </a:prstGeom>
          <a:noFill/>
          <a:ln/>
        </p:spPr>
        <p:txBody>
          <a:bodyPr wrap="square" lIns="0" tIns="0" rIns="0" bIns="0" rtlCol="0" anchor="ctr"/>
          <a:lstStyle/>
          <a:p>
            <a:pPr indent="0" marL="0">
              <a:buNone/>
            </a:pPr>
            <a:r>
              <a:rPr lang="en-US" sz="1000" dirty="0">
                <a:solidFill>
                  <a:srgbClr val="16191D"/>
                </a:solidFill>
                <a:latin typeface="Calibri" pitchFamily="34" charset="0"/>
                <a:ea typeface="Calibri" pitchFamily="34" charset="-122"/>
                <a:cs typeface="Calibri" pitchFamily="34" charset="-120"/>
              </a:rPr>
              <a:t>Sangat puas</a:t>
            </a:r>
            <a:endParaRPr lang="en-US" sz="1000" dirty="0"/>
          </a:p>
        </p:txBody>
      </p:sp>
      <p:sp>
        <p:nvSpPr>
          <p:cNvPr id="8" name="Shape 6"/>
          <p:cNvSpPr/>
          <p:nvPr/>
        </p:nvSpPr>
        <p:spPr>
          <a:xfrm>
            <a:off x="2240280" y="2267712"/>
            <a:ext cx="1047472" cy="164592"/>
          </a:xfrm>
          <a:prstGeom prst="rect">
            <a:avLst/>
          </a:prstGeom>
          <a:solidFill>
            <a:srgbClr val="2F6B5F"/>
          </a:solidFill>
          <a:ln/>
        </p:spPr>
      </p:sp>
      <p:sp>
        <p:nvSpPr>
          <p:cNvPr id="9" name="Text 7"/>
          <p:cNvSpPr/>
          <p:nvPr/>
        </p:nvSpPr>
        <p:spPr>
          <a:xfrm>
            <a:off x="3256178" y="2212848"/>
            <a:ext cx="685800" cy="256032"/>
          </a:xfrm>
          <a:prstGeom prst="rect">
            <a:avLst/>
          </a:prstGeom>
          <a:noFill/>
          <a:ln/>
        </p:spPr>
        <p:txBody>
          <a:bodyPr wrap="square" lIns="0" tIns="0" rIns="0" bIns="0" rtlCol="0" anchor="ctr"/>
          <a:lstStyle/>
          <a:p>
            <a:pPr algn="r" indent="0" marL="0">
              <a:buNone/>
            </a:pPr>
            <a:r>
              <a:rPr lang="en-US" sz="1000" b="1" dirty="0">
                <a:solidFill>
                  <a:srgbClr val="16191D"/>
                </a:solidFill>
                <a:latin typeface="Calibri" pitchFamily="34" charset="0"/>
                <a:ea typeface="Calibri" pitchFamily="34" charset="-122"/>
                <a:cs typeface="Calibri" pitchFamily="34" charset="-120"/>
              </a:rPr>
              <a:t>44,94%</a:t>
            </a:r>
            <a:endParaRPr lang="en-US" sz="1000" dirty="0"/>
          </a:p>
        </p:txBody>
      </p:sp>
      <p:sp>
        <p:nvSpPr>
          <p:cNvPr id="10" name="Text 8"/>
          <p:cNvSpPr/>
          <p:nvPr/>
        </p:nvSpPr>
        <p:spPr>
          <a:xfrm>
            <a:off x="841248" y="2670048"/>
            <a:ext cx="1371600" cy="256032"/>
          </a:xfrm>
          <a:prstGeom prst="rect">
            <a:avLst/>
          </a:prstGeom>
          <a:noFill/>
          <a:ln/>
        </p:spPr>
        <p:txBody>
          <a:bodyPr wrap="square" lIns="0" tIns="0" rIns="0" bIns="0" rtlCol="0" anchor="ctr"/>
          <a:lstStyle/>
          <a:p>
            <a:pPr indent="0" marL="0">
              <a:buNone/>
            </a:pPr>
            <a:r>
              <a:rPr lang="en-US" sz="1000" dirty="0">
                <a:solidFill>
                  <a:srgbClr val="16191D"/>
                </a:solidFill>
                <a:latin typeface="Calibri" pitchFamily="34" charset="0"/>
                <a:ea typeface="Calibri" pitchFamily="34" charset="-122"/>
                <a:cs typeface="Calibri" pitchFamily="34" charset="-120"/>
              </a:rPr>
              <a:t>Puas</a:t>
            </a:r>
            <a:endParaRPr lang="en-US" sz="1000" dirty="0"/>
          </a:p>
        </p:txBody>
      </p:sp>
      <p:sp>
        <p:nvSpPr>
          <p:cNvPr id="11" name="Shape 9"/>
          <p:cNvSpPr/>
          <p:nvPr/>
        </p:nvSpPr>
        <p:spPr>
          <a:xfrm>
            <a:off x="2240280" y="2724912"/>
            <a:ext cx="1174735" cy="164592"/>
          </a:xfrm>
          <a:prstGeom prst="rect">
            <a:avLst/>
          </a:prstGeom>
          <a:solidFill>
            <a:srgbClr val="8FB0A4"/>
          </a:solidFill>
          <a:ln/>
        </p:spPr>
      </p:sp>
      <p:sp>
        <p:nvSpPr>
          <p:cNvPr id="12" name="Text 10"/>
          <p:cNvSpPr/>
          <p:nvPr/>
        </p:nvSpPr>
        <p:spPr>
          <a:xfrm>
            <a:off x="3256178" y="2670048"/>
            <a:ext cx="685800" cy="256032"/>
          </a:xfrm>
          <a:prstGeom prst="rect">
            <a:avLst/>
          </a:prstGeom>
          <a:noFill/>
          <a:ln/>
        </p:spPr>
        <p:txBody>
          <a:bodyPr wrap="square" lIns="0" tIns="0" rIns="0" bIns="0" rtlCol="0" anchor="ctr"/>
          <a:lstStyle/>
          <a:p>
            <a:pPr algn="r" indent="0" marL="0">
              <a:buNone/>
            </a:pPr>
            <a:r>
              <a:rPr lang="en-US" sz="1000" b="1" dirty="0">
                <a:solidFill>
                  <a:srgbClr val="16191D"/>
                </a:solidFill>
                <a:latin typeface="Calibri" pitchFamily="34" charset="0"/>
                <a:ea typeface="Calibri" pitchFamily="34" charset="-122"/>
                <a:cs typeface="Calibri" pitchFamily="34" charset="-120"/>
              </a:rPr>
              <a:t>50,40%</a:t>
            </a:r>
            <a:endParaRPr lang="en-US" sz="1000" dirty="0"/>
          </a:p>
        </p:txBody>
      </p:sp>
      <p:sp>
        <p:nvSpPr>
          <p:cNvPr id="13" name="Text 11"/>
          <p:cNvSpPr/>
          <p:nvPr/>
        </p:nvSpPr>
        <p:spPr>
          <a:xfrm>
            <a:off x="841248" y="3127248"/>
            <a:ext cx="1371600" cy="256032"/>
          </a:xfrm>
          <a:prstGeom prst="rect">
            <a:avLst/>
          </a:prstGeom>
          <a:noFill/>
          <a:ln/>
        </p:spPr>
        <p:txBody>
          <a:bodyPr wrap="square" lIns="0" tIns="0" rIns="0" bIns="0" rtlCol="0" anchor="ctr"/>
          <a:lstStyle/>
          <a:p>
            <a:pPr indent="0" marL="0">
              <a:buNone/>
            </a:pPr>
            <a:r>
              <a:rPr lang="en-US" sz="1000" dirty="0">
                <a:solidFill>
                  <a:srgbClr val="16191D"/>
                </a:solidFill>
                <a:latin typeface="Calibri" pitchFamily="34" charset="0"/>
                <a:ea typeface="Calibri" pitchFamily="34" charset="-122"/>
                <a:cs typeface="Calibri" pitchFamily="34" charset="-120"/>
              </a:rPr>
              <a:t>Tidak puas</a:t>
            </a:r>
            <a:endParaRPr lang="en-US" sz="1000" dirty="0"/>
          </a:p>
        </p:txBody>
      </p:sp>
      <p:sp>
        <p:nvSpPr>
          <p:cNvPr id="14" name="Shape 12"/>
          <p:cNvSpPr/>
          <p:nvPr/>
        </p:nvSpPr>
        <p:spPr>
          <a:xfrm>
            <a:off x="2240280" y="3182112"/>
            <a:ext cx="86707" cy="164592"/>
          </a:xfrm>
          <a:prstGeom prst="rect">
            <a:avLst/>
          </a:prstGeom>
          <a:solidFill>
            <a:srgbClr val="D8A25E"/>
          </a:solidFill>
          <a:ln/>
        </p:spPr>
      </p:sp>
      <p:sp>
        <p:nvSpPr>
          <p:cNvPr id="15" name="Text 13"/>
          <p:cNvSpPr/>
          <p:nvPr/>
        </p:nvSpPr>
        <p:spPr>
          <a:xfrm>
            <a:off x="3256178" y="3127248"/>
            <a:ext cx="685800" cy="256032"/>
          </a:xfrm>
          <a:prstGeom prst="rect">
            <a:avLst/>
          </a:prstGeom>
          <a:noFill/>
          <a:ln/>
        </p:spPr>
        <p:txBody>
          <a:bodyPr wrap="square" lIns="0" tIns="0" rIns="0" bIns="0" rtlCol="0" anchor="ctr"/>
          <a:lstStyle/>
          <a:p>
            <a:pPr algn="r" indent="0" marL="0">
              <a:buNone/>
            </a:pPr>
            <a:r>
              <a:rPr lang="en-US" sz="1000" b="1" dirty="0">
                <a:solidFill>
                  <a:srgbClr val="16191D"/>
                </a:solidFill>
                <a:latin typeface="Calibri" pitchFamily="34" charset="0"/>
                <a:ea typeface="Calibri" pitchFamily="34" charset="-122"/>
                <a:cs typeface="Calibri" pitchFamily="34" charset="-120"/>
              </a:rPr>
              <a:t>3,72%</a:t>
            </a:r>
            <a:endParaRPr lang="en-US" sz="1000" dirty="0"/>
          </a:p>
        </p:txBody>
      </p:sp>
      <p:sp>
        <p:nvSpPr>
          <p:cNvPr id="16" name="Text 14"/>
          <p:cNvSpPr/>
          <p:nvPr/>
        </p:nvSpPr>
        <p:spPr>
          <a:xfrm>
            <a:off x="841248" y="3584448"/>
            <a:ext cx="1371600" cy="256032"/>
          </a:xfrm>
          <a:prstGeom prst="rect">
            <a:avLst/>
          </a:prstGeom>
          <a:noFill/>
          <a:ln/>
        </p:spPr>
        <p:txBody>
          <a:bodyPr wrap="square" lIns="0" tIns="0" rIns="0" bIns="0" rtlCol="0" anchor="ctr"/>
          <a:lstStyle/>
          <a:p>
            <a:pPr indent="0" marL="0">
              <a:buNone/>
            </a:pPr>
            <a:r>
              <a:rPr lang="en-US" sz="1000" dirty="0">
                <a:solidFill>
                  <a:srgbClr val="16191D"/>
                </a:solidFill>
                <a:latin typeface="Calibri" pitchFamily="34" charset="0"/>
                <a:ea typeface="Calibri" pitchFamily="34" charset="-122"/>
                <a:cs typeface="Calibri" pitchFamily="34" charset="-120"/>
              </a:rPr>
              <a:t>Sangat tidak puas</a:t>
            </a:r>
            <a:endParaRPr lang="en-US" sz="1000" dirty="0"/>
          </a:p>
        </p:txBody>
      </p:sp>
      <p:sp>
        <p:nvSpPr>
          <p:cNvPr id="17" name="Shape 15"/>
          <p:cNvSpPr/>
          <p:nvPr/>
        </p:nvSpPr>
        <p:spPr>
          <a:xfrm>
            <a:off x="2240280" y="3639312"/>
            <a:ext cx="36576" cy="164592"/>
          </a:xfrm>
          <a:prstGeom prst="rect">
            <a:avLst/>
          </a:prstGeom>
          <a:solidFill>
            <a:srgbClr val="A8442A"/>
          </a:solidFill>
          <a:ln/>
        </p:spPr>
      </p:sp>
      <p:sp>
        <p:nvSpPr>
          <p:cNvPr id="18" name="Text 16"/>
          <p:cNvSpPr/>
          <p:nvPr/>
        </p:nvSpPr>
        <p:spPr>
          <a:xfrm>
            <a:off x="3256178" y="3584448"/>
            <a:ext cx="685800" cy="256032"/>
          </a:xfrm>
          <a:prstGeom prst="rect">
            <a:avLst/>
          </a:prstGeom>
          <a:noFill/>
          <a:ln/>
        </p:spPr>
        <p:txBody>
          <a:bodyPr wrap="square" lIns="0" tIns="0" rIns="0" bIns="0" rtlCol="0" anchor="ctr"/>
          <a:lstStyle/>
          <a:p>
            <a:pPr algn="r" indent="0" marL="0">
              <a:buNone/>
            </a:pPr>
            <a:r>
              <a:rPr lang="en-US" sz="1000" b="1" dirty="0">
                <a:solidFill>
                  <a:srgbClr val="16191D"/>
                </a:solidFill>
                <a:latin typeface="Calibri" pitchFamily="34" charset="0"/>
                <a:ea typeface="Calibri" pitchFamily="34" charset="-122"/>
                <a:cs typeface="Calibri" pitchFamily="34" charset="-120"/>
              </a:rPr>
              <a:t>0,93%</a:t>
            </a:r>
            <a:endParaRPr lang="en-US" sz="1000" dirty="0"/>
          </a:p>
        </p:txBody>
      </p:sp>
      <p:sp>
        <p:nvSpPr>
          <p:cNvPr id="19" name="Text 17"/>
          <p:cNvSpPr/>
          <p:nvPr/>
        </p:nvSpPr>
        <p:spPr>
          <a:xfrm>
            <a:off x="841248" y="3995928"/>
            <a:ext cx="3082442" cy="365760"/>
          </a:xfrm>
          <a:prstGeom prst="rect">
            <a:avLst/>
          </a:prstGeom>
          <a:noFill/>
          <a:ln/>
        </p:spPr>
        <p:txBody>
          <a:bodyPr wrap="square" lIns="0" tIns="0" rIns="0" bIns="0" rtlCol="0" anchor="b"/>
          <a:lstStyle/>
          <a:p>
            <a:pPr algn="l" indent="0" marL="0">
              <a:buNone/>
            </a:pPr>
            <a:r>
              <a:rPr lang="en-US" sz="1700" b="1" dirty="0">
                <a:solidFill>
                  <a:srgbClr val="16191D"/>
                </a:solidFill>
                <a:latin typeface="Cambria" pitchFamily="34" charset="0"/>
                <a:ea typeface="Cambria" pitchFamily="34" charset="-122"/>
                <a:cs typeface="Cambria" pitchFamily="34" charset="-120"/>
              </a:rPr>
              <a:t>50,4% → QWK 0</a:t>
            </a:r>
            <a:endParaRPr lang="en-US" sz="1700" dirty="0"/>
          </a:p>
        </p:txBody>
      </p:sp>
      <p:sp>
        <p:nvSpPr>
          <p:cNvPr id="20" name="Text 18"/>
          <p:cNvSpPr/>
          <p:nvPr/>
        </p:nvSpPr>
        <p:spPr>
          <a:xfrm>
            <a:off x="841248" y="4398264"/>
            <a:ext cx="3082442" cy="420624"/>
          </a:xfrm>
          <a:prstGeom prst="rect">
            <a:avLst/>
          </a:prstGeom>
          <a:noFill/>
          <a:ln/>
        </p:spPr>
        <p:txBody>
          <a:bodyPr wrap="square" lIns="0" tIns="0" rIns="0" bIns="0" rtlCol="0" anchor="t"/>
          <a:lstStyle/>
          <a:p>
            <a:pPr algn="l" indent="0" marL="0">
              <a:lnSpc>
                <a:spcPts val="1300"/>
              </a:lnSpc>
              <a:buNone/>
            </a:pPr>
            <a:r>
              <a:rPr lang="en-US" sz="950" dirty="0">
                <a:solidFill>
                  <a:srgbClr val="6E747C"/>
                </a:solidFill>
                <a:latin typeface="Calibri" pitchFamily="34" charset="0"/>
                <a:ea typeface="Calibri" pitchFamily="34" charset="-122"/>
                <a:cs typeface="Calibri" pitchFamily="34" charset="-120"/>
              </a:rPr>
              <a:t>Tebak kelas mayoritas: akurasi separuh, kappa nol</a:t>
            </a:r>
            <a:endParaRPr lang="en-US" sz="950" dirty="0"/>
          </a:p>
        </p:txBody>
      </p:sp>
      <p:sp>
        <p:nvSpPr>
          <p:cNvPr id="21" name="Text 19"/>
          <p:cNvSpPr/>
          <p:nvPr/>
        </p:nvSpPr>
        <p:spPr>
          <a:xfrm>
            <a:off x="841248" y="4727448"/>
            <a:ext cx="3082442" cy="365760"/>
          </a:xfrm>
          <a:prstGeom prst="rect">
            <a:avLst/>
          </a:prstGeom>
          <a:noFill/>
          <a:ln/>
        </p:spPr>
        <p:txBody>
          <a:bodyPr wrap="square" lIns="0" tIns="0" rIns="0" bIns="0" rtlCol="0" anchor="b"/>
          <a:lstStyle/>
          <a:p>
            <a:pPr algn="l" indent="0" marL="0">
              <a:buNone/>
            </a:pPr>
            <a:r>
              <a:rPr lang="en-US" sz="1700" b="1" dirty="0">
                <a:solidFill>
                  <a:srgbClr val="A8442A"/>
                </a:solidFill>
                <a:latin typeface="Cambria" pitchFamily="34" charset="0"/>
                <a:ea typeface="Cambria" pitchFamily="34" charset="-122"/>
                <a:cs typeface="Cambria" pitchFamily="34" charset="-120"/>
              </a:rPr>
              <a:t>4,7%</a:t>
            </a:r>
            <a:endParaRPr lang="en-US" sz="1700" dirty="0"/>
          </a:p>
        </p:txBody>
      </p:sp>
      <p:sp>
        <p:nvSpPr>
          <p:cNvPr id="22" name="Text 20"/>
          <p:cNvSpPr/>
          <p:nvPr/>
        </p:nvSpPr>
        <p:spPr>
          <a:xfrm>
            <a:off x="841248" y="5129784"/>
            <a:ext cx="3082442" cy="420624"/>
          </a:xfrm>
          <a:prstGeom prst="rect">
            <a:avLst/>
          </a:prstGeom>
          <a:noFill/>
          <a:ln/>
        </p:spPr>
        <p:txBody>
          <a:bodyPr wrap="square" lIns="0" tIns="0" rIns="0" bIns="0" rtlCol="0" anchor="t"/>
          <a:lstStyle/>
          <a:p>
            <a:pPr algn="l" indent="0" marL="0">
              <a:lnSpc>
                <a:spcPts val="1300"/>
              </a:lnSpc>
              <a:buNone/>
            </a:pPr>
            <a:r>
              <a:rPr lang="en-US" sz="950" dirty="0">
                <a:solidFill>
                  <a:srgbClr val="6E747C"/>
                </a:solidFill>
                <a:latin typeface="Calibri" pitchFamily="34" charset="0"/>
                <a:ea typeface="Calibri" pitchFamily="34" charset="-122"/>
                <a:cs typeface="Calibri" pitchFamily="34" charset="-120"/>
              </a:rPr>
              <a:t>kelas 3 + 4, dengan penalti galat terjauh 9 kali</a:t>
            </a:r>
            <a:endParaRPr lang="en-US" sz="950" dirty="0"/>
          </a:p>
        </p:txBody>
      </p:sp>
      <p:sp>
        <p:nvSpPr>
          <p:cNvPr id="23" name="Text 21"/>
          <p:cNvSpPr/>
          <p:nvPr/>
        </p:nvSpPr>
        <p:spPr>
          <a:xfrm>
            <a:off x="841248" y="5559552"/>
            <a:ext cx="3082442" cy="548640"/>
          </a:xfrm>
          <a:prstGeom prst="rect">
            <a:avLst/>
          </a:prstGeom>
          <a:noFill/>
          <a:ln/>
        </p:spPr>
        <p:txBody>
          <a:bodyPr wrap="square" lIns="0" tIns="0" rIns="0" bIns="0" rtlCol="0" anchor="t"/>
          <a:lstStyle/>
          <a:p>
            <a:pPr indent="0" marL="0">
              <a:lnSpc>
                <a:spcPts val="1300"/>
              </a:lnSpc>
              <a:buNone/>
            </a:pPr>
            <a:r>
              <a:rPr lang="en-US" sz="1000" b="1" dirty="0">
                <a:solidFill>
                  <a:srgbClr val="A8442A"/>
                </a:solidFill>
                <a:latin typeface="Calibri" pitchFamily="34" charset="0"/>
                <a:ea typeface="Calibri" pitchFamily="34" charset="-122"/>
                <a:cs typeface="Calibri" pitchFamily="34" charset="-120"/>
              </a:rPr>
              <a:t>Implikasi: </a:t>
            </a:r>
            <a:pPr indent="0" marL="0">
              <a:lnSpc>
                <a:spcPts val="1300"/>
              </a:lnSpc>
              <a:buNone/>
            </a:pPr>
            <a:r>
              <a:rPr lang="en-US" sz="1000" dirty="0">
                <a:solidFill>
                  <a:srgbClr val="3A4048"/>
                </a:solidFill>
                <a:latin typeface="Calibri" pitchFamily="34" charset="0"/>
                <a:ea typeface="Calibri" pitchFamily="34" charset="-122"/>
                <a:cs typeface="Calibri" pitchFamily="34" charset="-120"/>
              </a:rPr>
              <a:t>model harus berani menebak kelas langka, jadi ambang batas dioptimalkan, bukan argmax.</a:t>
            </a:r>
            <a:endParaRPr lang="en-US" sz="1000" dirty="0"/>
          </a:p>
        </p:txBody>
      </p:sp>
      <p:sp>
        <p:nvSpPr>
          <p:cNvPr id="24" name="Shape 22"/>
          <p:cNvSpPr/>
          <p:nvPr/>
        </p:nvSpPr>
        <p:spPr>
          <a:xfrm>
            <a:off x="4353458" y="1371600"/>
            <a:ext cx="3484778" cy="4846320"/>
          </a:xfrm>
          <a:prstGeom prst="roundRect">
            <a:avLst>
              <a:gd name="adj" fmla="val 1574"/>
            </a:avLst>
          </a:prstGeom>
          <a:solidFill>
            <a:srgbClr val="FFFFFF"/>
          </a:solidFill>
          <a:ln w="9525">
            <a:solidFill>
              <a:srgbClr val="DCD8D1"/>
            </a:solidFill>
            <a:prstDash val="solid"/>
          </a:ln>
        </p:spPr>
      </p:sp>
      <p:sp>
        <p:nvSpPr>
          <p:cNvPr id="25" name="Text 23"/>
          <p:cNvSpPr/>
          <p:nvPr/>
        </p:nvSpPr>
        <p:spPr>
          <a:xfrm>
            <a:off x="4554626" y="1499616"/>
            <a:ext cx="3082442" cy="201168"/>
          </a:xfrm>
          <a:prstGeom prst="rect">
            <a:avLst/>
          </a:prstGeom>
          <a:noFill/>
          <a:ln/>
        </p:spPr>
        <p:txBody>
          <a:bodyPr wrap="square" lIns="0" tIns="0" rIns="0" bIns="0" rtlCol="0" anchor="ctr"/>
          <a:lstStyle/>
          <a:p>
            <a:pPr indent="0" marL="0">
              <a:buNone/>
            </a:pPr>
            <a:r>
              <a:rPr lang="en-US" sz="850" b="1" spc="120" kern="0" dirty="0">
                <a:solidFill>
                  <a:srgbClr val="6E747C"/>
                </a:solidFill>
                <a:latin typeface="Calibri" pitchFamily="34" charset="0"/>
                <a:ea typeface="Calibri" pitchFamily="34" charset="-122"/>
                <a:cs typeface="Calibri" pitchFamily="34" charset="-120"/>
              </a:rPr>
              <a:t>3.2 · NILAI KOSONG</a:t>
            </a:r>
            <a:endParaRPr lang="en-US" sz="850" dirty="0"/>
          </a:p>
        </p:txBody>
      </p:sp>
      <p:sp>
        <p:nvSpPr>
          <p:cNvPr id="26" name="Text 24"/>
          <p:cNvSpPr/>
          <p:nvPr/>
        </p:nvSpPr>
        <p:spPr>
          <a:xfrm>
            <a:off x="4554626" y="1700784"/>
            <a:ext cx="3082442" cy="475488"/>
          </a:xfrm>
          <a:prstGeom prst="rect">
            <a:avLst/>
          </a:prstGeom>
          <a:noFill/>
          <a:ln/>
        </p:spPr>
        <p:txBody>
          <a:bodyPr wrap="square" lIns="0" tIns="0" rIns="0" bIns="0" rtlCol="0" anchor="t"/>
          <a:lstStyle/>
          <a:p>
            <a:pPr indent="0" marL="0">
              <a:lnSpc>
                <a:spcPts val="1600"/>
              </a:lnSpc>
              <a:buNone/>
            </a:pPr>
            <a:r>
              <a:rPr lang="en-US" sz="1300" b="1" dirty="0">
                <a:solidFill>
                  <a:srgbClr val="16191D"/>
                </a:solidFill>
                <a:latin typeface="Cambria" pitchFamily="34" charset="0"/>
                <a:ea typeface="Cambria" pitchFamily="34" charset="-122"/>
                <a:cs typeface="Cambria" pitchFamily="34" charset="-120"/>
              </a:rPr>
              <a:t>Setiap kolom punya kosong, tidak satu pun diimputasi</a:t>
            </a:r>
            <a:endParaRPr lang="en-US" sz="1300" dirty="0"/>
          </a:p>
        </p:txBody>
      </p:sp>
      <p:sp>
        <p:nvSpPr>
          <p:cNvPr id="27" name="Text 25"/>
          <p:cNvSpPr/>
          <p:nvPr/>
        </p:nvSpPr>
        <p:spPr>
          <a:xfrm>
            <a:off x="4554626" y="2212848"/>
            <a:ext cx="987552" cy="310896"/>
          </a:xfrm>
          <a:prstGeom prst="rect">
            <a:avLst/>
          </a:prstGeom>
          <a:noFill/>
          <a:ln/>
        </p:spPr>
        <p:txBody>
          <a:bodyPr wrap="square" lIns="0" tIns="0" rIns="0" bIns="0" rtlCol="0" anchor="b"/>
          <a:lstStyle/>
          <a:p>
            <a:pPr algn="l" indent="0" marL="0">
              <a:buNone/>
            </a:pPr>
            <a:r>
              <a:rPr lang="en-US" sz="1400" b="1" dirty="0">
                <a:solidFill>
                  <a:srgbClr val="16191D"/>
                </a:solidFill>
                <a:latin typeface="Cambria" pitchFamily="34" charset="0"/>
                <a:ea typeface="Cambria" pitchFamily="34" charset="-122"/>
                <a:cs typeface="Cambria" pitchFamily="34" charset="-120"/>
              </a:rPr>
              <a:t>14,41%</a:t>
            </a:r>
            <a:endParaRPr lang="en-US" sz="1400" dirty="0"/>
          </a:p>
        </p:txBody>
      </p:sp>
      <p:sp>
        <p:nvSpPr>
          <p:cNvPr id="28" name="Text 26"/>
          <p:cNvSpPr/>
          <p:nvPr/>
        </p:nvSpPr>
        <p:spPr>
          <a:xfrm>
            <a:off x="4554626" y="2560320"/>
            <a:ext cx="987552" cy="420624"/>
          </a:xfrm>
          <a:prstGeom prst="rect">
            <a:avLst/>
          </a:prstGeom>
          <a:noFill/>
          <a:ln/>
        </p:spPr>
        <p:txBody>
          <a:bodyPr wrap="square" lIns="0" tIns="0" rIns="0" bIns="0" rtlCol="0" anchor="t"/>
          <a:lstStyle/>
          <a:p>
            <a:pPr algn="l" indent="0" marL="0">
              <a:lnSpc>
                <a:spcPts val="1300"/>
              </a:lnSpc>
              <a:buNone/>
            </a:pPr>
            <a:r>
              <a:rPr lang="en-US" sz="900" dirty="0">
                <a:solidFill>
                  <a:srgbClr val="6E747C"/>
                </a:solidFill>
                <a:latin typeface="Calibri" pitchFamily="34" charset="0"/>
                <a:ea typeface="Calibri" pitchFamily="34" charset="-122"/>
                <a:cs typeface="Calibri" pitchFamily="34" charset="-120"/>
              </a:rPr>
              <a:t>sel kosong</a:t>
            </a:r>
            <a:endParaRPr lang="en-US" sz="900" dirty="0"/>
          </a:p>
        </p:txBody>
      </p:sp>
      <p:sp>
        <p:nvSpPr>
          <p:cNvPr id="29" name="Text 27"/>
          <p:cNvSpPr/>
          <p:nvPr/>
        </p:nvSpPr>
        <p:spPr>
          <a:xfrm>
            <a:off x="5578754" y="2212848"/>
            <a:ext cx="987552" cy="310896"/>
          </a:xfrm>
          <a:prstGeom prst="rect">
            <a:avLst/>
          </a:prstGeom>
          <a:noFill/>
          <a:ln/>
        </p:spPr>
        <p:txBody>
          <a:bodyPr wrap="square" lIns="0" tIns="0" rIns="0" bIns="0" rtlCol="0" anchor="b"/>
          <a:lstStyle/>
          <a:p>
            <a:pPr algn="l" indent="0" marL="0">
              <a:buNone/>
            </a:pPr>
            <a:r>
              <a:rPr lang="en-US" sz="1400" b="1" dirty="0">
                <a:solidFill>
                  <a:srgbClr val="16191D"/>
                </a:solidFill>
                <a:latin typeface="Cambria" pitchFamily="34" charset="0"/>
                <a:ea typeface="Cambria" pitchFamily="34" charset="-122"/>
                <a:cs typeface="Cambria" pitchFamily="34" charset="-120"/>
              </a:rPr>
              <a:t>0 / 176</a:t>
            </a:r>
            <a:endParaRPr lang="en-US" sz="1400" dirty="0"/>
          </a:p>
        </p:txBody>
      </p:sp>
      <p:sp>
        <p:nvSpPr>
          <p:cNvPr id="30" name="Text 28"/>
          <p:cNvSpPr/>
          <p:nvPr/>
        </p:nvSpPr>
        <p:spPr>
          <a:xfrm>
            <a:off x="5578754" y="2560320"/>
            <a:ext cx="987552" cy="420624"/>
          </a:xfrm>
          <a:prstGeom prst="rect">
            <a:avLst/>
          </a:prstGeom>
          <a:noFill/>
          <a:ln/>
        </p:spPr>
        <p:txBody>
          <a:bodyPr wrap="square" lIns="0" tIns="0" rIns="0" bIns="0" rtlCol="0" anchor="t"/>
          <a:lstStyle/>
          <a:p>
            <a:pPr algn="l" indent="0" marL="0">
              <a:lnSpc>
                <a:spcPts val="1300"/>
              </a:lnSpc>
              <a:buNone/>
            </a:pPr>
            <a:r>
              <a:rPr lang="en-US" sz="900" dirty="0">
                <a:solidFill>
                  <a:srgbClr val="6E747C"/>
                </a:solidFill>
                <a:latin typeface="Calibri" pitchFamily="34" charset="0"/>
                <a:ea typeface="Calibri" pitchFamily="34" charset="-122"/>
                <a:cs typeface="Calibri" pitchFamily="34" charset="-120"/>
              </a:rPr>
              <a:t>kolom bersih</a:t>
            </a:r>
            <a:endParaRPr lang="en-US" sz="900" dirty="0"/>
          </a:p>
        </p:txBody>
      </p:sp>
      <p:sp>
        <p:nvSpPr>
          <p:cNvPr id="31" name="Text 29"/>
          <p:cNvSpPr/>
          <p:nvPr/>
        </p:nvSpPr>
        <p:spPr>
          <a:xfrm>
            <a:off x="6602882" y="2212848"/>
            <a:ext cx="987552" cy="310896"/>
          </a:xfrm>
          <a:prstGeom prst="rect">
            <a:avLst/>
          </a:prstGeom>
          <a:noFill/>
          <a:ln/>
        </p:spPr>
        <p:txBody>
          <a:bodyPr wrap="square" lIns="0" tIns="0" rIns="0" bIns="0" rtlCol="0" anchor="b"/>
          <a:lstStyle/>
          <a:p>
            <a:pPr algn="l" indent="0" marL="0">
              <a:buNone/>
            </a:pPr>
            <a:r>
              <a:rPr lang="en-US" sz="1400" b="1" dirty="0">
                <a:solidFill>
                  <a:srgbClr val="16191D"/>
                </a:solidFill>
                <a:latin typeface="Cambria" pitchFamily="34" charset="0"/>
                <a:ea typeface="Cambria" pitchFamily="34" charset="-122"/>
                <a:cs typeface="Cambria" pitchFamily="34" charset="-120"/>
              </a:rPr>
              <a:t>25,4</a:t>
            </a:r>
            <a:endParaRPr lang="en-US" sz="1400" dirty="0"/>
          </a:p>
        </p:txBody>
      </p:sp>
      <p:sp>
        <p:nvSpPr>
          <p:cNvPr id="32" name="Text 30"/>
          <p:cNvSpPr/>
          <p:nvPr/>
        </p:nvSpPr>
        <p:spPr>
          <a:xfrm>
            <a:off x="6602882" y="2560320"/>
            <a:ext cx="987552" cy="420624"/>
          </a:xfrm>
          <a:prstGeom prst="rect">
            <a:avLst/>
          </a:prstGeom>
          <a:noFill/>
          <a:ln/>
        </p:spPr>
        <p:txBody>
          <a:bodyPr wrap="square" lIns="0" tIns="0" rIns="0" bIns="0" rtlCol="0" anchor="t"/>
          <a:lstStyle/>
          <a:p>
            <a:pPr algn="l" indent="0" marL="0">
              <a:lnSpc>
                <a:spcPts val="1300"/>
              </a:lnSpc>
              <a:buNone/>
            </a:pPr>
            <a:r>
              <a:rPr lang="en-US" sz="900" dirty="0">
                <a:solidFill>
                  <a:srgbClr val="6E747C"/>
                </a:solidFill>
                <a:latin typeface="Calibri" pitchFamily="34" charset="0"/>
                <a:ea typeface="Calibri" pitchFamily="34" charset="-122"/>
                <a:cs typeface="Calibri" pitchFamily="34" charset="-120"/>
              </a:rPr>
              <a:t>kosong per baris</a:t>
            </a:r>
            <a:endParaRPr lang="en-US" sz="9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4554626" y="3081528"/>
          <a:ext cx="3082442" cy="914400"/>
        </p:xfrm>
        <a:graphic>
          <a:graphicData uri="http://schemas.openxmlformats.org/drawingml/2006/table">
            <a:tbl>
              <a:tblPr/>
              <a:tblGrid>
                <a:gridCol w="1691640"/>
                <a:gridCol w="694944"/>
                <a:gridCol w="694944"/>
              </a:tblGrid>
              <a:tr h="256032">
                <a:tc>
                  <a:txBody>
                    <a:bodyPr/>
                    <a:lstStyle/>
                    <a:p>
                      <a:pPr algn="l" indent="0" marL="0">
                        <a:buNone/>
                      </a:pPr>
                      <a:r>
                        <a:rPr lang="en-US" sz="900" b="1" dirty="0">
                          <a:solidFill>
                            <a:srgbClr val="16191D"/>
                          </a:solidFill>
                          <a:latin typeface="Calibri" pitchFamily="34" charset="0"/>
                          <a:ea typeface="Calibri" pitchFamily="34" charset="-122"/>
                          <a:cs typeface="Calibri" pitchFamily="34" charset="-120"/>
                        </a:rPr>
                        <a:t>Kolom</a:t>
                      </a:r>
                      <a:endParaRPr lang="en-US" sz="900" dirty="0">
                        <a:latin typeface="Calibri" charset="0"/>
                        <a:ea typeface="Calibri" charset="0"/>
                        <a:cs typeface="Calibri" charset="0"/>
                      </a:endParaRPr>
                    </a:p>
                  </a:txBody>
                  <a:tcPr marL="25400" marR="101600" marT="63500" marB="63500" anchor="ctr">
                    <a:lnL w="0" cap="flat" cmpd="sng" algn="ctr">
                      <a:noFill/>
                    </a:lnL>
                    <a:lnR w="0" cap="flat" cmpd="sng" algn="ctr">
                      <a:noFill/>
                    </a:lnR>
                    <a:lnT w="17780" cap="flat" cmpd="sng" algn="ctr">
                      <a:solidFill>
                        <a:srgbClr val="16191D"/>
                      </a:solidFill>
                      <a:prstDash val="solid"/>
                      <a:round/>
                      <a:headEnd type="none" w="med" len="med"/>
                      <a:tailEnd type="none" w="med" len="med"/>
                    </a:lnT>
                    <a:lnB w="10160" cap="flat" cmpd="sng" algn="ctr">
                      <a:solidFill>
                        <a:srgbClr val="16191D"/>
                      </a:solidFill>
                      <a:prstDash val="solid"/>
                      <a:round/>
                      <a:headEnd type="none" w="med" len="med"/>
                      <a:tailEnd type="none" w="med" len="med"/>
                    </a:lnB>
                  </a:tcPr>
                </a:tc>
                <a:tc>
                  <a:txBody>
                    <a:bodyPr/>
                    <a:lstStyle/>
                    <a:p>
                      <a:pPr algn="r" indent="0" marL="0">
                        <a:buNone/>
                      </a:pPr>
                      <a:r>
                        <a:rPr lang="en-US" sz="900" b="1" dirty="0">
                          <a:solidFill>
                            <a:srgbClr val="16191D"/>
                          </a:solidFill>
                          <a:latin typeface="Calibri" pitchFamily="34" charset="0"/>
                          <a:ea typeface="Calibri" pitchFamily="34" charset="-122"/>
                          <a:cs typeface="Calibri" pitchFamily="34" charset="-120"/>
                        </a:rPr>
                        <a:t>latih</a:t>
                      </a:r>
                      <a:endParaRPr lang="en-US" sz="900" dirty="0">
                        <a:latin typeface="Calibri" charset="0"/>
                        <a:ea typeface="Calibri" charset="0"/>
                        <a:cs typeface="Calibri" charset="0"/>
                      </a:endParaRPr>
                    </a:p>
                  </a:txBody>
                  <a:tcPr marL="101600" marR="101600" marT="63500" marB="63500" anchor="ctr">
                    <a:lnL w="0" cap="flat" cmpd="sng" algn="ctr">
                      <a:noFill/>
                    </a:lnL>
                    <a:lnR w="0" cap="flat" cmpd="sng" algn="ctr">
                      <a:noFill/>
                    </a:lnR>
                    <a:lnT w="17780" cap="flat" cmpd="sng" algn="ctr">
                      <a:solidFill>
                        <a:srgbClr val="16191D"/>
                      </a:solidFill>
                      <a:prstDash val="solid"/>
                      <a:round/>
                      <a:headEnd type="none" w="med" len="med"/>
                      <a:tailEnd type="none" w="med" len="med"/>
                    </a:lnT>
                    <a:lnB w="10160" cap="flat" cmpd="sng" algn="ctr">
                      <a:solidFill>
                        <a:srgbClr val="16191D"/>
                      </a:solidFill>
                      <a:prstDash val="solid"/>
                      <a:round/>
                      <a:headEnd type="none" w="med" len="med"/>
                      <a:tailEnd type="none" w="med" len="med"/>
                    </a:lnB>
                  </a:tcPr>
                </a:tc>
                <a:tc>
                  <a:txBody>
                    <a:bodyPr/>
                    <a:lstStyle/>
                    <a:p>
                      <a:pPr algn="r" indent="0" marL="0">
                        <a:buNone/>
                      </a:pPr>
                      <a:r>
                        <a:rPr lang="en-US" sz="900" b="1" dirty="0">
                          <a:solidFill>
                            <a:srgbClr val="16191D"/>
                          </a:solidFill>
                          <a:latin typeface="Calibri" pitchFamily="34" charset="0"/>
                          <a:ea typeface="Calibri" pitchFamily="34" charset="-122"/>
                          <a:cs typeface="Calibri" pitchFamily="34" charset="-120"/>
                        </a:rPr>
                        <a:t>uji</a:t>
                      </a:r>
                      <a:endParaRPr lang="en-US" sz="900" dirty="0">
                        <a:latin typeface="Calibri" charset="0"/>
                        <a:ea typeface="Calibri" charset="0"/>
                        <a:cs typeface="Calibri" charset="0"/>
                      </a:endParaRPr>
                    </a:p>
                  </a:txBody>
                  <a:tcPr marL="101600" marR="101600" marT="63500" marB="63500" anchor="ctr">
                    <a:lnL w="0" cap="flat" cmpd="sng" algn="ctr">
                      <a:noFill/>
                    </a:lnL>
                    <a:lnR w="0" cap="flat" cmpd="sng" algn="ctr">
                      <a:noFill/>
                    </a:lnR>
                    <a:lnT w="17780" cap="flat" cmpd="sng" algn="ctr">
                      <a:solidFill>
                        <a:srgbClr val="16191D"/>
                      </a:solidFill>
                      <a:prstDash val="solid"/>
                      <a:round/>
                      <a:headEnd type="none" w="med" len="med"/>
                      <a:tailEnd type="none" w="med" len="med"/>
                    </a:lnT>
                    <a:lnB w="10160" cap="flat" cmpd="sng" algn="ctr">
                      <a:solidFill>
                        <a:srgbClr val="16191D"/>
                      </a:solidFill>
                      <a:prstDash val="solid"/>
                      <a:round/>
                      <a:headEnd type="none" w="med" len="med"/>
                      <a:tailEnd type="none" w="med" len="med"/>
                    </a:lnB>
                  </a:tcPr>
                </a:tc>
              </a:tr>
              <a:tr h="256032">
                <a:tc>
                  <a:txBody>
                    <a:bodyPr/>
                    <a:lstStyle/>
                    <a:p>
                      <a:pPr algn="l" indent="0" marL="0">
                        <a:buNone/>
                      </a:pPr>
                      <a:r>
                        <a:rPr lang="en-US" sz="900" dirty="0">
                          <a:solidFill>
                            <a:srgbClr val="3A4048"/>
                          </a:solidFill>
                          <a:latin typeface="Calibri" pitchFamily="34" charset="0"/>
                          <a:ea typeface="Calibri" pitchFamily="34" charset="-122"/>
                          <a:cs typeface="Calibri" pitchFamily="34" charset="-120"/>
                        </a:rPr>
                        <a:t>flu_vaccine_year</a:t>
                      </a:r>
                      <a:endParaRPr lang="en-US" sz="90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900" dirty="0">
                          <a:solidFill>
                            <a:srgbClr val="3A4048"/>
                          </a:solidFill>
                          <a:latin typeface="Calibri" pitchFamily="34" charset="0"/>
                          <a:ea typeface="Calibri" pitchFamily="34" charset="-122"/>
                          <a:cs typeface="Calibri" pitchFamily="34" charset="-120"/>
                        </a:rPr>
                        <a:t>53,85%</a:t>
                      </a:r>
                      <a:endParaRPr lang="en-US" sz="9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900" dirty="0">
                          <a:solidFill>
                            <a:srgbClr val="3A4048"/>
                          </a:solidFill>
                          <a:latin typeface="Calibri" pitchFamily="34" charset="0"/>
                          <a:ea typeface="Calibri" pitchFamily="34" charset="-122"/>
                          <a:cs typeface="Calibri" pitchFamily="34" charset="-120"/>
                        </a:rPr>
                        <a:t>54,28%</a:t>
                      </a:r>
                      <a:endParaRPr lang="en-US" sz="9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256032">
                <a:tc>
                  <a:txBody>
                    <a:bodyPr/>
                    <a:lstStyle/>
                    <a:p>
                      <a:pPr algn="l" indent="0" marL="0">
                        <a:buNone/>
                      </a:pPr>
                      <a:r>
                        <a:rPr lang="en-US" sz="900" dirty="0">
                          <a:solidFill>
                            <a:srgbClr val="3A4048"/>
                          </a:solidFill>
                          <a:latin typeface="Calibri" pitchFamily="34" charset="0"/>
                          <a:ea typeface="Calibri" pitchFamily="34" charset="-122"/>
                          <a:cs typeface="Calibri" pitchFamily="34" charset="-120"/>
                        </a:rPr>
                        <a:t>ever_married</a:t>
                      </a:r>
                      <a:endParaRPr lang="en-US" sz="90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900" dirty="0">
                          <a:solidFill>
                            <a:srgbClr val="3A4048"/>
                          </a:solidFill>
                          <a:latin typeface="Calibri" pitchFamily="34" charset="0"/>
                          <a:ea typeface="Calibri" pitchFamily="34" charset="-122"/>
                          <a:cs typeface="Calibri" pitchFamily="34" charset="-120"/>
                        </a:rPr>
                        <a:t>52,11%</a:t>
                      </a:r>
                      <a:endParaRPr lang="en-US" sz="9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900" dirty="0">
                          <a:solidFill>
                            <a:srgbClr val="3A4048"/>
                          </a:solidFill>
                          <a:latin typeface="Calibri" pitchFamily="34" charset="0"/>
                          <a:ea typeface="Calibri" pitchFamily="34" charset="-122"/>
                          <a:cs typeface="Calibri" pitchFamily="34" charset="-120"/>
                        </a:rPr>
                        <a:t>52,09%</a:t>
                      </a:r>
                      <a:endParaRPr lang="en-US" sz="9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256032">
                <a:tc>
                  <a:txBody>
                    <a:bodyPr/>
                    <a:lstStyle/>
                    <a:p>
                      <a:pPr algn="l" indent="0" marL="0">
                        <a:buNone/>
                      </a:pPr>
                      <a:r>
                        <a:rPr lang="en-US" sz="900" dirty="0">
                          <a:solidFill>
                            <a:srgbClr val="3A4048"/>
                          </a:solidFill>
                          <a:latin typeface="Calibri" pitchFamily="34" charset="0"/>
                          <a:ea typeface="Calibri" pitchFamily="34" charset="-122"/>
                          <a:cs typeface="Calibri" pitchFamily="34" charset="-120"/>
                        </a:rPr>
                        <a:t>gestational_diabetes_ever</a:t>
                      </a:r>
                      <a:endParaRPr lang="en-US" sz="90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900" dirty="0">
                          <a:solidFill>
                            <a:srgbClr val="3A4048"/>
                          </a:solidFill>
                          <a:latin typeface="Calibri" pitchFamily="34" charset="0"/>
                          <a:ea typeface="Calibri" pitchFamily="34" charset="-122"/>
                          <a:cs typeface="Calibri" pitchFamily="34" charset="-120"/>
                        </a:rPr>
                        <a:t>50,02%</a:t>
                      </a:r>
                      <a:endParaRPr lang="en-US" sz="9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900" dirty="0">
                          <a:solidFill>
                            <a:srgbClr val="3A4048"/>
                          </a:solidFill>
                          <a:latin typeface="Calibri" pitchFamily="34" charset="0"/>
                          <a:ea typeface="Calibri" pitchFamily="34" charset="-122"/>
                          <a:cs typeface="Calibri" pitchFamily="34" charset="-120"/>
                        </a:rPr>
                        <a:t>49,21%</a:t>
                      </a:r>
                      <a:endParaRPr lang="en-US" sz="9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256032">
                <a:tc>
                  <a:txBody>
                    <a:bodyPr/>
                    <a:lstStyle/>
                    <a:p>
                      <a:pPr algn="l" indent="0" marL="0">
                        <a:buNone/>
                      </a:pPr>
                      <a:r>
                        <a:rPr lang="en-US" sz="900" dirty="0">
                          <a:solidFill>
                            <a:srgbClr val="3A4048"/>
                          </a:solidFill>
                          <a:latin typeface="Calibri" pitchFamily="34" charset="0"/>
                          <a:ea typeface="Calibri" pitchFamily="34" charset="-122"/>
                          <a:cs typeface="Calibri" pitchFamily="34" charset="-120"/>
                        </a:rPr>
                        <a:t>works_full_time</a:t>
                      </a:r>
                      <a:endParaRPr lang="en-US" sz="90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900" dirty="0">
                          <a:solidFill>
                            <a:srgbClr val="3A4048"/>
                          </a:solidFill>
                          <a:latin typeface="Calibri" pitchFamily="34" charset="0"/>
                          <a:ea typeface="Calibri" pitchFamily="34" charset="-122"/>
                          <a:cs typeface="Calibri" pitchFamily="34" charset="-120"/>
                        </a:rPr>
                        <a:t>48,59%</a:t>
                      </a:r>
                      <a:endParaRPr lang="en-US" sz="9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900" dirty="0">
                          <a:solidFill>
                            <a:srgbClr val="3A4048"/>
                          </a:solidFill>
                          <a:latin typeface="Calibri" pitchFamily="34" charset="0"/>
                          <a:ea typeface="Calibri" pitchFamily="34" charset="-122"/>
                          <a:cs typeface="Calibri" pitchFamily="34" charset="-120"/>
                        </a:rPr>
                        <a:t>48,57%</a:t>
                      </a:r>
                      <a:endParaRPr lang="en-US" sz="9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256032">
                <a:tc>
                  <a:txBody>
                    <a:bodyPr/>
                    <a:lstStyle/>
                    <a:p>
                      <a:pPr algn="l" indent="0" marL="0">
                        <a:buNone/>
                      </a:pPr>
                      <a:r>
                        <a:rPr lang="en-US" sz="900" dirty="0">
                          <a:solidFill>
                            <a:srgbClr val="3A4048"/>
                          </a:solidFill>
                          <a:latin typeface="Calibri" pitchFamily="34" charset="0"/>
                          <a:ea typeface="Calibri" pitchFamily="34" charset="-122"/>
                          <a:cs typeface="Calibri" pitchFamily="34" charset="-120"/>
                        </a:rPr>
                        <a:t>hours_worked_per_week</a:t>
                      </a:r>
                      <a:endParaRPr lang="en-US" sz="90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17780" cap="flat" cmpd="sng" algn="ctr">
                      <a:solidFill>
                        <a:srgbClr val="16191D"/>
                      </a:solidFill>
                      <a:prstDash val="solid"/>
                      <a:round/>
                      <a:headEnd type="none" w="med" len="med"/>
                      <a:tailEnd type="none" w="med" len="med"/>
                    </a:lnB>
                  </a:tcPr>
                </a:tc>
                <a:tc>
                  <a:txBody>
                    <a:bodyPr/>
                    <a:lstStyle/>
                    <a:p>
                      <a:pPr algn="r" indent="0" marL="0">
                        <a:buNone/>
                      </a:pPr>
                      <a:r>
                        <a:rPr lang="en-US" sz="900" dirty="0">
                          <a:solidFill>
                            <a:srgbClr val="3A4048"/>
                          </a:solidFill>
                          <a:latin typeface="Calibri" pitchFamily="34" charset="0"/>
                          <a:ea typeface="Calibri" pitchFamily="34" charset="-122"/>
                          <a:cs typeface="Calibri" pitchFamily="34" charset="-120"/>
                        </a:rPr>
                        <a:t>48,51%</a:t>
                      </a:r>
                      <a:endParaRPr lang="en-US" sz="9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17780" cap="flat" cmpd="sng" algn="ctr">
                      <a:solidFill>
                        <a:srgbClr val="16191D"/>
                      </a:solidFill>
                      <a:prstDash val="solid"/>
                      <a:round/>
                      <a:headEnd type="none" w="med" len="med"/>
                      <a:tailEnd type="none" w="med" len="med"/>
                    </a:lnB>
                  </a:tcPr>
                </a:tc>
                <a:tc>
                  <a:txBody>
                    <a:bodyPr/>
                    <a:lstStyle/>
                    <a:p>
                      <a:pPr algn="r" indent="0" marL="0">
                        <a:buNone/>
                      </a:pPr>
                      <a:r>
                        <a:rPr lang="en-US" sz="900" dirty="0">
                          <a:solidFill>
                            <a:srgbClr val="3A4048"/>
                          </a:solidFill>
                          <a:latin typeface="Calibri" pitchFamily="34" charset="0"/>
                          <a:ea typeface="Calibri" pitchFamily="34" charset="-122"/>
                          <a:cs typeface="Calibri" pitchFamily="34" charset="-120"/>
                        </a:rPr>
                        <a:t>48,41%</a:t>
                      </a:r>
                      <a:endParaRPr lang="en-US" sz="9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17780" cap="flat" cmpd="sng" algn="ctr">
                      <a:solidFill>
                        <a:srgbClr val="16191D"/>
                      </a:solidFill>
                      <a:prstDash val="solid"/>
                      <a:round/>
                      <a:headEnd type="none" w="med" len="med"/>
                      <a:tailEnd type="none" w="med" len="med"/>
                    </a:lnB>
                  </a:tcPr>
                </a:tc>
              </a:tr>
            </a:tbl>
          </a:graphicData>
        </a:graphic>
      </p:graphicFrame>
      <p:sp>
        <p:nvSpPr>
          <p:cNvPr id="34" name="Text 31"/>
          <p:cNvSpPr/>
          <p:nvPr/>
        </p:nvSpPr>
        <p:spPr>
          <a:xfrm>
            <a:off x="4554626" y="4727448"/>
            <a:ext cx="3082442" cy="1005840"/>
          </a:xfrm>
          <a:prstGeom prst="rect">
            <a:avLst/>
          </a:prstGeom>
          <a:noFill/>
          <a:ln/>
        </p:spPr>
        <p:txBody>
          <a:bodyPr wrap="square" lIns="0" tIns="0" rIns="0" bIns="0" rtlCol="0" anchor="t"/>
          <a:lstStyle/>
          <a:p>
            <a:pPr algn="l" indent="0" marL="0">
              <a:lnSpc>
                <a:spcPts val="1283"/>
              </a:lnSpc>
              <a:buNone/>
            </a:pPr>
            <a:r>
              <a:rPr lang="en-US" sz="950" dirty="0">
                <a:solidFill>
                  <a:srgbClr val="3A4048"/>
                </a:solidFill>
                <a:latin typeface="Calibri" pitchFamily="34" charset="0"/>
                <a:ea typeface="Calibri" pitchFamily="34" charset="-122"/>
                <a:cs typeface="Calibri" pitchFamily="34" charset="-120"/>
              </a:rPr>
              <a:t>Pola kosong latih dan uji hampir identik, dan kosong tertinggi adalah pertanyaan bersyarat. Boosting mempelajari arah cabang NaN sendiri, sementara imputasi median menciptakan massa buatan.</a:t>
            </a:r>
            <a:endParaRPr lang="en-US" sz="950" dirty="0"/>
          </a:p>
        </p:txBody>
      </p:sp>
      <p:sp>
        <p:nvSpPr>
          <p:cNvPr id="35" name="Text 32"/>
          <p:cNvSpPr/>
          <p:nvPr/>
        </p:nvSpPr>
        <p:spPr>
          <a:xfrm>
            <a:off x="4554626" y="5559552"/>
            <a:ext cx="3082442" cy="548640"/>
          </a:xfrm>
          <a:prstGeom prst="rect">
            <a:avLst/>
          </a:prstGeom>
          <a:noFill/>
          <a:ln/>
        </p:spPr>
        <p:txBody>
          <a:bodyPr wrap="square" lIns="0" tIns="0" rIns="0" bIns="0" rtlCol="0" anchor="t"/>
          <a:lstStyle/>
          <a:p>
            <a:pPr indent="0" marL="0">
              <a:lnSpc>
                <a:spcPts val="1300"/>
              </a:lnSpc>
              <a:buNone/>
            </a:pPr>
            <a:r>
              <a:rPr lang="en-US" sz="1000" b="1" dirty="0">
                <a:solidFill>
                  <a:srgbClr val="A8442A"/>
                </a:solidFill>
                <a:latin typeface="Calibri" pitchFamily="34" charset="0"/>
                <a:ea typeface="Calibri" pitchFamily="34" charset="-122"/>
                <a:cs typeface="Calibri" pitchFamily="34" charset="-120"/>
              </a:rPr>
              <a:t>Implikasi: </a:t>
            </a:r>
            <a:pPr indent="0" marL="0">
              <a:lnSpc>
                <a:spcPts val="1300"/>
              </a:lnSpc>
              <a:buNone/>
            </a:pPr>
            <a:r>
              <a:rPr lang="en-US" sz="1000" dirty="0">
                <a:solidFill>
                  <a:srgbClr val="3A4048"/>
                </a:solidFill>
                <a:latin typeface="Calibri" pitchFamily="34" charset="0"/>
                <a:ea typeface="Calibri" pitchFamily="34" charset="-122"/>
                <a:cs typeface="Calibri" pitchFamily="34" charset="-120"/>
              </a:rPr>
              <a:t>tanpa imputasi. Diuji ulang lewat ablasi, bukan diasumsikan.</a:t>
            </a:r>
            <a:endParaRPr lang="en-US" sz="1000" dirty="0"/>
          </a:p>
        </p:txBody>
      </p:sp>
      <p:sp>
        <p:nvSpPr>
          <p:cNvPr id="36" name="Shape 33"/>
          <p:cNvSpPr/>
          <p:nvPr/>
        </p:nvSpPr>
        <p:spPr>
          <a:xfrm>
            <a:off x="8066837" y="1371600"/>
            <a:ext cx="3484778" cy="4846320"/>
          </a:xfrm>
          <a:prstGeom prst="roundRect">
            <a:avLst>
              <a:gd name="adj" fmla="val 1574"/>
            </a:avLst>
          </a:prstGeom>
          <a:solidFill>
            <a:srgbClr val="F4F1EC"/>
          </a:solidFill>
          <a:ln w="9525">
            <a:solidFill>
              <a:srgbClr val="DCD8D1"/>
            </a:solidFill>
            <a:prstDash val="solid"/>
          </a:ln>
        </p:spPr>
      </p:sp>
      <p:sp>
        <p:nvSpPr>
          <p:cNvPr id="37" name="Text 34"/>
          <p:cNvSpPr/>
          <p:nvPr/>
        </p:nvSpPr>
        <p:spPr>
          <a:xfrm>
            <a:off x="8268005" y="1499616"/>
            <a:ext cx="3082442" cy="201168"/>
          </a:xfrm>
          <a:prstGeom prst="rect">
            <a:avLst/>
          </a:prstGeom>
          <a:noFill/>
          <a:ln/>
        </p:spPr>
        <p:txBody>
          <a:bodyPr wrap="square" lIns="0" tIns="0" rIns="0" bIns="0" rtlCol="0" anchor="ctr"/>
          <a:lstStyle/>
          <a:p>
            <a:pPr indent="0" marL="0">
              <a:buNone/>
            </a:pPr>
            <a:r>
              <a:rPr lang="en-US" sz="850" b="1" spc="120" kern="0" dirty="0">
                <a:solidFill>
                  <a:srgbClr val="6E747C"/>
                </a:solidFill>
                <a:latin typeface="Calibri" pitchFamily="34" charset="0"/>
                <a:ea typeface="Calibri" pitchFamily="34" charset="-122"/>
                <a:cs typeface="Calibri" pitchFamily="34" charset="-120"/>
              </a:rPr>
              <a:t>3.3 · KODE 7 / 8 / 9</a:t>
            </a:r>
            <a:endParaRPr lang="en-US" sz="850" dirty="0"/>
          </a:p>
        </p:txBody>
      </p:sp>
      <p:sp>
        <p:nvSpPr>
          <p:cNvPr id="38" name="Text 35"/>
          <p:cNvSpPr/>
          <p:nvPr/>
        </p:nvSpPr>
        <p:spPr>
          <a:xfrm>
            <a:off x="8268005" y="1700784"/>
            <a:ext cx="3082442" cy="475488"/>
          </a:xfrm>
          <a:prstGeom prst="rect">
            <a:avLst/>
          </a:prstGeom>
          <a:noFill/>
          <a:ln/>
        </p:spPr>
        <p:txBody>
          <a:bodyPr wrap="square" lIns="0" tIns="0" rIns="0" bIns="0" rtlCol="0" anchor="t"/>
          <a:lstStyle/>
          <a:p>
            <a:pPr indent="0" marL="0">
              <a:lnSpc>
                <a:spcPts val="1600"/>
              </a:lnSpc>
              <a:buNone/>
            </a:pPr>
            <a:r>
              <a:rPr lang="en-US" sz="1300" b="1" dirty="0">
                <a:solidFill>
                  <a:srgbClr val="16191D"/>
                </a:solidFill>
                <a:latin typeface="Cambria" pitchFamily="34" charset="0"/>
                <a:ea typeface="Cambria" pitchFamily="34" charset="-122"/>
                <a:cs typeface="Cambria" pitchFamily="34" charset="-120"/>
              </a:rPr>
              <a:t>Menolak, tidak terjawab, tidak tahu: bukan sampah</a:t>
            </a:r>
            <a:endParaRPr lang="en-US" sz="1300" dirty="0"/>
          </a:p>
        </p:txBody>
      </p:sp>
      <p:sp>
        <p:nvSpPr>
          <p:cNvPr id="39" name="Text 36"/>
          <p:cNvSpPr/>
          <p:nvPr/>
        </p:nvSpPr>
        <p:spPr>
          <a:xfrm>
            <a:off x="8268005" y="2212848"/>
            <a:ext cx="3082442" cy="347472"/>
          </a:xfrm>
          <a:prstGeom prst="rect">
            <a:avLst/>
          </a:prstGeom>
          <a:noFill/>
          <a:ln/>
        </p:spPr>
        <p:txBody>
          <a:bodyPr wrap="square" lIns="0" tIns="0" rIns="0" bIns="0" rtlCol="0" anchor="b"/>
          <a:lstStyle/>
          <a:p>
            <a:pPr algn="l" indent="0" marL="0">
              <a:buNone/>
            </a:pPr>
            <a:r>
              <a:rPr lang="en-US" sz="1600" b="1" dirty="0">
                <a:solidFill>
                  <a:srgbClr val="16191D"/>
                </a:solidFill>
                <a:latin typeface="Cambria" pitchFamily="34" charset="0"/>
                <a:ea typeface="Cambria" pitchFamily="34" charset="-122"/>
                <a:cs typeface="Cambria" pitchFamily="34" charset="-120"/>
              </a:rPr>
              <a:t>84 kolom</a:t>
            </a:r>
            <a:endParaRPr lang="en-US" sz="1600" dirty="0"/>
          </a:p>
        </p:txBody>
      </p:sp>
      <p:sp>
        <p:nvSpPr>
          <p:cNvPr id="40" name="Text 37"/>
          <p:cNvSpPr/>
          <p:nvPr/>
        </p:nvSpPr>
        <p:spPr>
          <a:xfrm>
            <a:off x="8268005" y="2596896"/>
            <a:ext cx="3082442" cy="420624"/>
          </a:xfrm>
          <a:prstGeom prst="rect">
            <a:avLst/>
          </a:prstGeom>
          <a:noFill/>
          <a:ln/>
        </p:spPr>
        <p:txBody>
          <a:bodyPr wrap="square" lIns="0" tIns="0" rIns="0" bIns="0" rtlCol="0" anchor="t"/>
          <a:lstStyle/>
          <a:p>
            <a:pPr algn="l" indent="0" marL="0">
              <a:lnSpc>
                <a:spcPts val="1300"/>
              </a:lnSpc>
              <a:buNone/>
            </a:pPr>
            <a:r>
              <a:rPr lang="en-US" sz="950" dirty="0">
                <a:solidFill>
                  <a:srgbClr val="6E747C"/>
                </a:solidFill>
                <a:latin typeface="Calibri" pitchFamily="34" charset="0"/>
                <a:ea typeface="Calibri" pitchFamily="34" charset="-122"/>
                <a:cs typeface="Calibri" pitchFamily="34" charset="-120"/>
              </a:rPr>
              <a:t>biner Ya/Tidak memuat kode 7, 8, atau 9 (tertinggi 8,12%)</a:t>
            </a:r>
            <a:endParaRPr lang="en-US" sz="950" dirty="0"/>
          </a:p>
        </p:txBody>
      </p:sp>
      <p:sp>
        <p:nvSpPr>
          <p:cNvPr id="41" name="Text 38"/>
          <p:cNvSpPr/>
          <p:nvPr/>
        </p:nvSpPr>
        <p:spPr>
          <a:xfrm>
            <a:off x="8268005" y="3081528"/>
            <a:ext cx="3082442" cy="219456"/>
          </a:xfrm>
          <a:prstGeom prst="rect">
            <a:avLst/>
          </a:prstGeom>
          <a:noFill/>
          <a:ln/>
        </p:spPr>
        <p:txBody>
          <a:bodyPr wrap="square" lIns="0" tIns="0" rIns="0" bIns="0" rtlCol="0" anchor="ctr"/>
          <a:lstStyle/>
          <a:p>
            <a:pPr indent="0" marL="0">
              <a:buNone/>
            </a:pPr>
            <a:r>
              <a:rPr lang="en-US" sz="950" b="1" dirty="0">
                <a:solidFill>
                  <a:srgbClr val="16191D"/>
                </a:solidFill>
                <a:latin typeface="Calibri" pitchFamily="34" charset="0"/>
                <a:ea typeface="Calibri" pitchFamily="34" charset="-122"/>
                <a:cs typeface="Calibri" pitchFamily="34" charset="-120"/>
              </a:rPr>
              <a:t>Rata-rata target menurut general_health_status</a:t>
            </a:r>
            <a:endParaRPr lang="en-US" sz="950" dirty="0"/>
          </a:p>
        </p:txBody>
      </p:sp>
      <p:sp>
        <p:nvSpPr>
          <p:cNvPr id="42" name="Text 39"/>
          <p:cNvSpPr/>
          <p:nvPr/>
        </p:nvSpPr>
        <p:spPr>
          <a:xfrm>
            <a:off x="8268005" y="3364992"/>
            <a:ext cx="1005840" cy="256032"/>
          </a:xfrm>
          <a:prstGeom prst="rect">
            <a:avLst/>
          </a:prstGeom>
          <a:noFill/>
          <a:ln/>
        </p:spPr>
        <p:txBody>
          <a:bodyPr wrap="square" lIns="0" tIns="0" rIns="0" bIns="0" rtlCol="0" anchor="ctr"/>
          <a:lstStyle/>
          <a:p>
            <a:pPr indent="0" marL="0">
              <a:buNone/>
            </a:pPr>
            <a:r>
              <a:rPr lang="en-US" sz="950" dirty="0">
                <a:solidFill>
                  <a:srgbClr val="3A4048"/>
                </a:solidFill>
                <a:latin typeface="Calibri" pitchFamily="34" charset="0"/>
                <a:ea typeface="Calibri" pitchFamily="34" charset="-122"/>
                <a:cs typeface="Calibri" pitchFamily="34" charset="-120"/>
              </a:rPr>
              <a:t>1 Sangat baik</a:t>
            </a:r>
            <a:endParaRPr lang="en-US" sz="950" dirty="0"/>
          </a:p>
        </p:txBody>
      </p:sp>
      <p:sp>
        <p:nvSpPr>
          <p:cNvPr id="43" name="Shape 40"/>
          <p:cNvSpPr/>
          <p:nvPr/>
        </p:nvSpPr>
        <p:spPr>
          <a:xfrm>
            <a:off x="9301277" y="3419856"/>
            <a:ext cx="162154" cy="146304"/>
          </a:xfrm>
          <a:prstGeom prst="rect">
            <a:avLst/>
          </a:prstGeom>
          <a:solidFill>
            <a:srgbClr val="2F6B5F"/>
          </a:solidFill>
          <a:ln/>
        </p:spPr>
      </p:sp>
      <p:sp>
        <p:nvSpPr>
          <p:cNvPr id="44" name="Text 41"/>
          <p:cNvSpPr/>
          <p:nvPr/>
        </p:nvSpPr>
        <p:spPr>
          <a:xfrm>
            <a:off x="10820095" y="3364992"/>
            <a:ext cx="530352" cy="256032"/>
          </a:xfrm>
          <a:prstGeom prst="rect">
            <a:avLst/>
          </a:prstGeom>
          <a:noFill/>
          <a:ln/>
        </p:spPr>
        <p:txBody>
          <a:bodyPr wrap="square" lIns="0" tIns="0" rIns="0" bIns="0" rtlCol="0" anchor="ctr"/>
          <a:lstStyle/>
          <a:p>
            <a:pPr algn="r" indent="0" marL="0">
              <a:buNone/>
            </a:pPr>
            <a:r>
              <a:rPr lang="en-US" sz="950" b="1" dirty="0">
                <a:solidFill>
                  <a:srgbClr val="16191D"/>
                </a:solidFill>
                <a:latin typeface="Calibri" pitchFamily="34" charset="0"/>
                <a:ea typeface="Calibri" pitchFamily="34" charset="-122"/>
                <a:cs typeface="Calibri" pitchFamily="34" charset="-120"/>
              </a:rPr>
              <a:t>1,333</a:t>
            </a:r>
            <a:endParaRPr lang="en-US" sz="950" dirty="0"/>
          </a:p>
        </p:txBody>
      </p:sp>
      <p:sp>
        <p:nvSpPr>
          <p:cNvPr id="45" name="Text 42"/>
          <p:cNvSpPr/>
          <p:nvPr/>
        </p:nvSpPr>
        <p:spPr>
          <a:xfrm>
            <a:off x="8268005" y="3694176"/>
            <a:ext cx="1005840" cy="256032"/>
          </a:xfrm>
          <a:prstGeom prst="rect">
            <a:avLst/>
          </a:prstGeom>
          <a:noFill/>
          <a:ln/>
        </p:spPr>
        <p:txBody>
          <a:bodyPr wrap="square" lIns="0" tIns="0" rIns="0" bIns="0" rtlCol="0" anchor="ctr"/>
          <a:lstStyle/>
          <a:p>
            <a:pPr indent="0" marL="0">
              <a:buNone/>
            </a:pPr>
            <a:r>
              <a:rPr lang="en-US" sz="950" dirty="0">
                <a:solidFill>
                  <a:srgbClr val="3A4048"/>
                </a:solidFill>
                <a:latin typeface="Calibri" pitchFamily="34" charset="0"/>
                <a:ea typeface="Calibri" pitchFamily="34" charset="-122"/>
                <a:cs typeface="Calibri" pitchFamily="34" charset="-120"/>
              </a:rPr>
              <a:t>2 Baik</a:t>
            </a:r>
            <a:endParaRPr lang="en-US" sz="950" dirty="0"/>
          </a:p>
        </p:txBody>
      </p:sp>
      <p:sp>
        <p:nvSpPr>
          <p:cNvPr id="46" name="Shape 43"/>
          <p:cNvSpPr/>
          <p:nvPr/>
        </p:nvSpPr>
        <p:spPr>
          <a:xfrm>
            <a:off x="9301277" y="3749040"/>
            <a:ext cx="357226" cy="146304"/>
          </a:xfrm>
          <a:prstGeom prst="rect">
            <a:avLst/>
          </a:prstGeom>
          <a:solidFill>
            <a:srgbClr val="8FB0A4"/>
          </a:solidFill>
          <a:ln/>
        </p:spPr>
      </p:sp>
      <p:sp>
        <p:nvSpPr>
          <p:cNvPr id="47" name="Text 44"/>
          <p:cNvSpPr/>
          <p:nvPr/>
        </p:nvSpPr>
        <p:spPr>
          <a:xfrm>
            <a:off x="10820095" y="3694176"/>
            <a:ext cx="530352" cy="256032"/>
          </a:xfrm>
          <a:prstGeom prst="rect">
            <a:avLst/>
          </a:prstGeom>
          <a:noFill/>
          <a:ln/>
        </p:spPr>
        <p:txBody>
          <a:bodyPr wrap="square" lIns="0" tIns="0" rIns="0" bIns="0" rtlCol="0" anchor="ctr"/>
          <a:lstStyle/>
          <a:p>
            <a:pPr algn="r" indent="0" marL="0">
              <a:buNone/>
            </a:pPr>
            <a:r>
              <a:rPr lang="en-US" sz="950" b="1" dirty="0">
                <a:solidFill>
                  <a:srgbClr val="16191D"/>
                </a:solidFill>
                <a:latin typeface="Calibri" pitchFamily="34" charset="0"/>
                <a:ea typeface="Calibri" pitchFamily="34" charset="-122"/>
                <a:cs typeface="Calibri" pitchFamily="34" charset="-120"/>
              </a:rPr>
              <a:t>1,493</a:t>
            </a:r>
            <a:endParaRPr lang="en-US" sz="950" dirty="0"/>
          </a:p>
        </p:txBody>
      </p:sp>
      <p:sp>
        <p:nvSpPr>
          <p:cNvPr id="48" name="Text 45"/>
          <p:cNvSpPr/>
          <p:nvPr/>
        </p:nvSpPr>
        <p:spPr>
          <a:xfrm>
            <a:off x="8268005" y="4023360"/>
            <a:ext cx="1005840" cy="256032"/>
          </a:xfrm>
          <a:prstGeom prst="rect">
            <a:avLst/>
          </a:prstGeom>
          <a:noFill/>
          <a:ln/>
        </p:spPr>
        <p:txBody>
          <a:bodyPr wrap="square" lIns="0" tIns="0" rIns="0" bIns="0" rtlCol="0" anchor="ctr"/>
          <a:lstStyle/>
          <a:p>
            <a:pPr indent="0" marL="0">
              <a:buNone/>
            </a:pPr>
            <a:r>
              <a:rPr lang="en-US" sz="950" dirty="0">
                <a:solidFill>
                  <a:srgbClr val="3A4048"/>
                </a:solidFill>
                <a:latin typeface="Calibri" pitchFamily="34" charset="0"/>
                <a:ea typeface="Calibri" pitchFamily="34" charset="-122"/>
                <a:cs typeface="Calibri" pitchFamily="34" charset="-120"/>
              </a:rPr>
              <a:t>3 Cukup</a:t>
            </a:r>
            <a:endParaRPr lang="en-US" sz="950" dirty="0"/>
          </a:p>
        </p:txBody>
      </p:sp>
      <p:sp>
        <p:nvSpPr>
          <p:cNvPr id="49" name="Shape 46"/>
          <p:cNvSpPr/>
          <p:nvPr/>
        </p:nvSpPr>
        <p:spPr>
          <a:xfrm>
            <a:off x="9301277" y="4078224"/>
            <a:ext cx="631546" cy="146304"/>
          </a:xfrm>
          <a:prstGeom prst="rect">
            <a:avLst/>
          </a:prstGeom>
          <a:solidFill>
            <a:srgbClr val="D8A25E"/>
          </a:solidFill>
          <a:ln/>
        </p:spPr>
      </p:sp>
      <p:sp>
        <p:nvSpPr>
          <p:cNvPr id="50" name="Text 47"/>
          <p:cNvSpPr/>
          <p:nvPr/>
        </p:nvSpPr>
        <p:spPr>
          <a:xfrm>
            <a:off x="10820095" y="4023360"/>
            <a:ext cx="530352" cy="256032"/>
          </a:xfrm>
          <a:prstGeom prst="rect">
            <a:avLst/>
          </a:prstGeom>
          <a:noFill/>
          <a:ln/>
        </p:spPr>
        <p:txBody>
          <a:bodyPr wrap="square" lIns="0" tIns="0" rIns="0" bIns="0" rtlCol="0" anchor="ctr"/>
          <a:lstStyle/>
          <a:p>
            <a:pPr algn="r" indent="0" marL="0">
              <a:buNone/>
            </a:pPr>
            <a:r>
              <a:rPr lang="en-US" sz="950" b="1" dirty="0">
                <a:solidFill>
                  <a:srgbClr val="16191D"/>
                </a:solidFill>
                <a:latin typeface="Calibri" pitchFamily="34" charset="0"/>
                <a:ea typeface="Calibri" pitchFamily="34" charset="-122"/>
                <a:cs typeface="Calibri" pitchFamily="34" charset="-120"/>
              </a:rPr>
              <a:t>1,718</a:t>
            </a:r>
            <a:endParaRPr lang="en-US" sz="950" dirty="0"/>
          </a:p>
        </p:txBody>
      </p:sp>
      <p:sp>
        <p:nvSpPr>
          <p:cNvPr id="51" name="Text 48"/>
          <p:cNvSpPr/>
          <p:nvPr/>
        </p:nvSpPr>
        <p:spPr>
          <a:xfrm>
            <a:off x="8268005" y="4352544"/>
            <a:ext cx="1005840" cy="256032"/>
          </a:xfrm>
          <a:prstGeom prst="rect">
            <a:avLst/>
          </a:prstGeom>
          <a:noFill/>
          <a:ln/>
        </p:spPr>
        <p:txBody>
          <a:bodyPr wrap="square" lIns="0" tIns="0" rIns="0" bIns="0" rtlCol="0" anchor="ctr"/>
          <a:lstStyle/>
          <a:p>
            <a:pPr indent="0" marL="0">
              <a:buNone/>
            </a:pPr>
            <a:r>
              <a:rPr lang="en-US" sz="950" dirty="0">
                <a:solidFill>
                  <a:srgbClr val="3A4048"/>
                </a:solidFill>
                <a:latin typeface="Calibri" pitchFamily="34" charset="0"/>
                <a:ea typeface="Calibri" pitchFamily="34" charset="-122"/>
                <a:cs typeface="Calibri" pitchFamily="34" charset="-120"/>
              </a:rPr>
              <a:t>4 Kurang</a:t>
            </a:r>
            <a:endParaRPr lang="en-US" sz="950" dirty="0"/>
          </a:p>
        </p:txBody>
      </p:sp>
      <p:sp>
        <p:nvSpPr>
          <p:cNvPr id="52" name="Shape 49"/>
          <p:cNvSpPr/>
          <p:nvPr/>
        </p:nvSpPr>
        <p:spPr>
          <a:xfrm>
            <a:off x="9301277" y="4407408"/>
            <a:ext cx="880262" cy="146304"/>
          </a:xfrm>
          <a:prstGeom prst="rect">
            <a:avLst/>
          </a:prstGeom>
          <a:solidFill>
            <a:srgbClr val="A8442A"/>
          </a:solidFill>
          <a:ln/>
        </p:spPr>
      </p:sp>
      <p:sp>
        <p:nvSpPr>
          <p:cNvPr id="53" name="Text 50"/>
          <p:cNvSpPr/>
          <p:nvPr/>
        </p:nvSpPr>
        <p:spPr>
          <a:xfrm>
            <a:off x="10820095" y="4352544"/>
            <a:ext cx="530352" cy="256032"/>
          </a:xfrm>
          <a:prstGeom prst="rect">
            <a:avLst/>
          </a:prstGeom>
          <a:noFill/>
          <a:ln/>
        </p:spPr>
        <p:txBody>
          <a:bodyPr wrap="square" lIns="0" tIns="0" rIns="0" bIns="0" rtlCol="0" anchor="ctr"/>
          <a:lstStyle/>
          <a:p>
            <a:pPr algn="r" indent="0" marL="0">
              <a:buNone/>
            </a:pPr>
            <a:r>
              <a:rPr lang="en-US" sz="950" b="1" dirty="0">
                <a:solidFill>
                  <a:srgbClr val="16191D"/>
                </a:solidFill>
                <a:latin typeface="Calibri" pitchFamily="34" charset="0"/>
                <a:ea typeface="Calibri" pitchFamily="34" charset="-122"/>
                <a:cs typeface="Calibri" pitchFamily="34" charset="-120"/>
              </a:rPr>
              <a:t>1,922</a:t>
            </a:r>
            <a:endParaRPr lang="en-US" sz="950" dirty="0"/>
          </a:p>
        </p:txBody>
      </p:sp>
      <p:sp>
        <p:nvSpPr>
          <p:cNvPr id="54" name="Text 51"/>
          <p:cNvSpPr/>
          <p:nvPr/>
        </p:nvSpPr>
        <p:spPr>
          <a:xfrm>
            <a:off x="8268005" y="4681728"/>
            <a:ext cx="1005840" cy="256032"/>
          </a:xfrm>
          <a:prstGeom prst="rect">
            <a:avLst/>
          </a:prstGeom>
          <a:noFill/>
          <a:ln/>
        </p:spPr>
        <p:txBody>
          <a:bodyPr wrap="square" lIns="0" tIns="0" rIns="0" bIns="0" rtlCol="0" anchor="ctr"/>
          <a:lstStyle/>
          <a:p>
            <a:pPr indent="0" marL="0">
              <a:buNone/>
            </a:pPr>
            <a:r>
              <a:rPr lang="en-US" sz="950" dirty="0">
                <a:solidFill>
                  <a:srgbClr val="3A4048"/>
                </a:solidFill>
                <a:latin typeface="Calibri" pitchFamily="34" charset="0"/>
                <a:ea typeface="Calibri" pitchFamily="34" charset="-122"/>
                <a:cs typeface="Calibri" pitchFamily="34" charset="-120"/>
              </a:rPr>
              <a:t>5 Buruk</a:t>
            </a:r>
            <a:endParaRPr lang="en-US" sz="950" dirty="0"/>
          </a:p>
        </p:txBody>
      </p:sp>
      <p:sp>
        <p:nvSpPr>
          <p:cNvPr id="55" name="Shape 52"/>
          <p:cNvSpPr/>
          <p:nvPr/>
        </p:nvSpPr>
        <p:spPr>
          <a:xfrm>
            <a:off x="9301277" y="4736592"/>
            <a:ext cx="1330147" cy="146304"/>
          </a:xfrm>
          <a:prstGeom prst="rect">
            <a:avLst/>
          </a:prstGeom>
          <a:solidFill>
            <a:srgbClr val="A8442A"/>
          </a:solidFill>
          <a:ln/>
        </p:spPr>
      </p:sp>
      <p:sp>
        <p:nvSpPr>
          <p:cNvPr id="56" name="Text 53"/>
          <p:cNvSpPr/>
          <p:nvPr/>
        </p:nvSpPr>
        <p:spPr>
          <a:xfrm>
            <a:off x="10820095" y="4681728"/>
            <a:ext cx="530352" cy="256032"/>
          </a:xfrm>
          <a:prstGeom prst="rect">
            <a:avLst/>
          </a:prstGeom>
          <a:noFill/>
          <a:ln/>
        </p:spPr>
        <p:txBody>
          <a:bodyPr wrap="square" lIns="0" tIns="0" rIns="0" bIns="0" rtlCol="0" anchor="ctr"/>
          <a:lstStyle/>
          <a:p>
            <a:pPr algn="r" indent="0" marL="0">
              <a:buNone/>
            </a:pPr>
            <a:r>
              <a:rPr lang="en-US" sz="950" b="1" dirty="0">
                <a:solidFill>
                  <a:srgbClr val="16191D"/>
                </a:solidFill>
                <a:latin typeface="Calibri" pitchFamily="34" charset="0"/>
                <a:ea typeface="Calibri" pitchFamily="34" charset="-122"/>
                <a:cs typeface="Calibri" pitchFamily="34" charset="-120"/>
              </a:rPr>
              <a:t>2,291</a:t>
            </a:r>
            <a:endParaRPr lang="en-US" sz="950" dirty="0"/>
          </a:p>
        </p:txBody>
      </p:sp>
      <p:sp>
        <p:nvSpPr>
          <p:cNvPr id="57" name="Text 54"/>
          <p:cNvSpPr/>
          <p:nvPr/>
        </p:nvSpPr>
        <p:spPr>
          <a:xfrm>
            <a:off x="8268005" y="5047488"/>
            <a:ext cx="3082442" cy="457200"/>
          </a:xfrm>
          <a:prstGeom prst="rect">
            <a:avLst/>
          </a:prstGeom>
          <a:noFill/>
          <a:ln/>
        </p:spPr>
        <p:txBody>
          <a:bodyPr wrap="square" lIns="0" tIns="0" rIns="0" bIns="0" rtlCol="0" anchor="t"/>
          <a:lstStyle/>
          <a:p>
            <a:pPr algn="l" indent="0" marL="0">
              <a:lnSpc>
                <a:spcPts val="1283"/>
              </a:lnSpc>
              <a:buNone/>
            </a:pPr>
            <a:r>
              <a:rPr lang="en-US" sz="950" dirty="0">
                <a:solidFill>
                  <a:srgbClr val="3A4048"/>
                </a:solidFill>
                <a:latin typeface="Calibri" pitchFamily="34" charset="0"/>
                <a:ea typeface="Calibri" pitchFamily="34" charset="-122"/>
                <a:cs typeface="Calibri" pitchFamily="34" charset="-120"/>
              </a:rPr>
              <a:t>Monoton di lima tingkat. Yang menolak menjawab cenderung sedikit lebih tidak puas.</a:t>
            </a:r>
            <a:endParaRPr lang="en-US" sz="950" dirty="0"/>
          </a:p>
        </p:txBody>
      </p:sp>
      <p:sp>
        <p:nvSpPr>
          <p:cNvPr id="58" name="Text 55"/>
          <p:cNvSpPr/>
          <p:nvPr/>
        </p:nvSpPr>
        <p:spPr>
          <a:xfrm>
            <a:off x="8268005" y="5559552"/>
            <a:ext cx="3082442" cy="548640"/>
          </a:xfrm>
          <a:prstGeom prst="rect">
            <a:avLst/>
          </a:prstGeom>
          <a:noFill/>
          <a:ln/>
        </p:spPr>
        <p:txBody>
          <a:bodyPr wrap="square" lIns="0" tIns="0" rIns="0" bIns="0" rtlCol="0" anchor="t"/>
          <a:lstStyle/>
          <a:p>
            <a:pPr indent="0" marL="0">
              <a:lnSpc>
                <a:spcPts val="1300"/>
              </a:lnSpc>
              <a:buNone/>
            </a:pPr>
            <a:r>
              <a:rPr lang="en-US" sz="1000" b="1" dirty="0">
                <a:solidFill>
                  <a:srgbClr val="A8442A"/>
                </a:solidFill>
                <a:latin typeface="Calibri" pitchFamily="34" charset="0"/>
                <a:ea typeface="Calibri" pitchFamily="34" charset="-122"/>
                <a:cs typeface="Calibri" pitchFamily="34" charset="-120"/>
              </a:rPr>
              <a:t>Implikasi: </a:t>
            </a:r>
            <a:pPr indent="0" marL="0">
              <a:lnSpc>
                <a:spcPts val="1300"/>
              </a:lnSpc>
              <a:buNone/>
            </a:pPr>
            <a:r>
              <a:rPr lang="en-US" sz="1000" dirty="0">
                <a:solidFill>
                  <a:srgbClr val="3A4048"/>
                </a:solidFill>
                <a:latin typeface="Calibri" pitchFamily="34" charset="0"/>
                <a:ea typeface="Calibri" pitchFamily="34" charset="-122"/>
                <a:cs typeface="Calibri" pitchFamily="34" charset="-120"/>
              </a:rPr>
              <a:t>kode dipertahankan, pohon mengisolasinya sebagai cabang. Konversi ke NaN diuji dan tidak membantu.</a:t>
            </a:r>
            <a:endParaRPr lang="en-US" sz="1000" dirty="0"/>
          </a:p>
        </p:txBody>
      </p:sp>
      <p:sp>
        <p:nvSpPr>
          <p:cNvPr id="60" name="Shape 56"/>
          <p:cNvSpPr/>
          <p:nvPr/>
        </p:nvSpPr>
        <p:spPr>
          <a:xfrm>
            <a:off x="640080" y="6400800"/>
            <a:ext cx="1572768" cy="45720"/>
          </a:xfrm>
          <a:prstGeom prst="rect">
            <a:avLst/>
          </a:prstGeom>
          <a:solidFill>
            <a:srgbClr val="DCD8D1"/>
          </a:solidFill>
          <a:ln/>
        </p:spPr>
      </p:sp>
      <p:sp>
        <p:nvSpPr>
          <p:cNvPr id="61" name="Text 57"/>
          <p:cNvSpPr/>
          <p:nvPr/>
        </p:nvSpPr>
        <p:spPr>
          <a:xfrm>
            <a:off x="640080"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I · Latar &amp; data</a:t>
            </a:r>
            <a:endParaRPr lang="en-US" sz="850" dirty="0"/>
          </a:p>
        </p:txBody>
      </p:sp>
      <p:sp>
        <p:nvSpPr>
          <p:cNvPr id="62" name="Shape 58"/>
          <p:cNvSpPr/>
          <p:nvPr/>
        </p:nvSpPr>
        <p:spPr>
          <a:xfrm>
            <a:off x="2304288" y="6400800"/>
            <a:ext cx="1572768" cy="45720"/>
          </a:xfrm>
          <a:prstGeom prst="rect">
            <a:avLst/>
          </a:prstGeom>
          <a:solidFill>
            <a:srgbClr val="A8442A"/>
          </a:solidFill>
          <a:ln/>
        </p:spPr>
      </p:sp>
      <p:sp>
        <p:nvSpPr>
          <p:cNvPr id="63" name="Text 59"/>
          <p:cNvSpPr/>
          <p:nvPr/>
        </p:nvSpPr>
        <p:spPr>
          <a:xfrm>
            <a:off x="2304288" y="6464808"/>
            <a:ext cx="1572768" cy="201168"/>
          </a:xfrm>
          <a:prstGeom prst="rect">
            <a:avLst/>
          </a:prstGeom>
          <a:noFill/>
          <a:ln/>
        </p:spPr>
        <p:txBody>
          <a:bodyPr wrap="square" lIns="0" tIns="0" rIns="0" bIns="0" rtlCol="0" anchor="ctr"/>
          <a:lstStyle/>
          <a:p>
            <a:pPr indent="0" marL="0">
              <a:buNone/>
            </a:pPr>
            <a:r>
              <a:rPr lang="en-US" sz="850" b="1" dirty="0">
                <a:solidFill>
                  <a:srgbClr val="16191D"/>
                </a:solidFill>
                <a:latin typeface="Calibri" pitchFamily="34" charset="0"/>
                <a:ea typeface="Calibri" pitchFamily="34" charset="-122"/>
                <a:cs typeface="Calibri" pitchFamily="34" charset="-120"/>
              </a:rPr>
              <a:t>II · EDA</a:t>
            </a:r>
            <a:endParaRPr lang="en-US" sz="850" dirty="0"/>
          </a:p>
        </p:txBody>
      </p:sp>
      <p:sp>
        <p:nvSpPr>
          <p:cNvPr id="64" name="Shape 60"/>
          <p:cNvSpPr/>
          <p:nvPr/>
        </p:nvSpPr>
        <p:spPr>
          <a:xfrm>
            <a:off x="3968496" y="6400800"/>
            <a:ext cx="1572768" cy="45720"/>
          </a:xfrm>
          <a:prstGeom prst="rect">
            <a:avLst/>
          </a:prstGeom>
          <a:solidFill>
            <a:srgbClr val="DCD8D1"/>
          </a:solidFill>
          <a:ln/>
        </p:spPr>
      </p:sp>
      <p:sp>
        <p:nvSpPr>
          <p:cNvPr id="65" name="Text 61"/>
          <p:cNvSpPr/>
          <p:nvPr/>
        </p:nvSpPr>
        <p:spPr>
          <a:xfrm>
            <a:off x="3968496"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III · Pipeline</a:t>
            </a:r>
            <a:endParaRPr lang="en-US" sz="850" dirty="0"/>
          </a:p>
        </p:txBody>
      </p:sp>
      <p:sp>
        <p:nvSpPr>
          <p:cNvPr id="66" name="Shape 62"/>
          <p:cNvSpPr/>
          <p:nvPr/>
        </p:nvSpPr>
        <p:spPr>
          <a:xfrm>
            <a:off x="5632704" y="6400800"/>
            <a:ext cx="1572768" cy="45720"/>
          </a:xfrm>
          <a:prstGeom prst="rect">
            <a:avLst/>
          </a:prstGeom>
          <a:solidFill>
            <a:srgbClr val="DCD8D1"/>
          </a:solidFill>
          <a:ln/>
        </p:spPr>
      </p:sp>
      <p:sp>
        <p:nvSpPr>
          <p:cNvPr id="67" name="Text 63"/>
          <p:cNvSpPr/>
          <p:nvPr/>
        </p:nvSpPr>
        <p:spPr>
          <a:xfrm>
            <a:off x="5632704"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IV · Disiplin estimasi</a:t>
            </a:r>
            <a:endParaRPr lang="en-US" sz="850" dirty="0"/>
          </a:p>
        </p:txBody>
      </p:sp>
      <p:sp>
        <p:nvSpPr>
          <p:cNvPr id="68" name="Shape 64"/>
          <p:cNvSpPr/>
          <p:nvPr/>
        </p:nvSpPr>
        <p:spPr>
          <a:xfrm>
            <a:off x="7296912" y="6400800"/>
            <a:ext cx="1572768" cy="45720"/>
          </a:xfrm>
          <a:prstGeom prst="rect">
            <a:avLst/>
          </a:prstGeom>
          <a:solidFill>
            <a:srgbClr val="DCD8D1"/>
          </a:solidFill>
          <a:ln/>
        </p:spPr>
      </p:sp>
      <p:sp>
        <p:nvSpPr>
          <p:cNvPr id="69" name="Text 65"/>
          <p:cNvSpPr/>
          <p:nvPr/>
        </p:nvSpPr>
        <p:spPr>
          <a:xfrm>
            <a:off x="7296912"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V · Hasil &amp; plafon</a:t>
            </a:r>
            <a:endParaRPr lang="en-US" sz="850" dirty="0"/>
          </a:p>
        </p:txBody>
      </p:sp>
      <p:sp>
        <p:nvSpPr>
          <p:cNvPr id="70" name="Shape 66"/>
          <p:cNvSpPr/>
          <p:nvPr/>
        </p:nvSpPr>
        <p:spPr>
          <a:xfrm>
            <a:off x="8961120" y="6400800"/>
            <a:ext cx="1572768" cy="45720"/>
          </a:xfrm>
          <a:prstGeom prst="rect">
            <a:avLst/>
          </a:prstGeom>
          <a:solidFill>
            <a:srgbClr val="DCD8D1"/>
          </a:solidFill>
          <a:ln/>
        </p:spPr>
      </p:sp>
      <p:sp>
        <p:nvSpPr>
          <p:cNvPr id="71" name="Text 67"/>
          <p:cNvSpPr/>
          <p:nvPr/>
        </p:nvSpPr>
        <p:spPr>
          <a:xfrm>
            <a:off x="8961120"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VI · Reproduksi &amp; produk</a:t>
            </a:r>
            <a:endParaRPr lang="en-US" sz="850" dirty="0"/>
          </a:p>
        </p:txBody>
      </p:sp>
      <p:sp>
        <p:nvSpPr>
          <p:cNvPr id="72" name="Text 68"/>
          <p:cNvSpPr/>
          <p:nvPr/>
        </p:nvSpPr>
        <p:spPr>
          <a:xfrm>
            <a:off x="10637215" y="6382512"/>
            <a:ext cx="914400" cy="274320"/>
          </a:xfrm>
          <a:prstGeom prst="rect">
            <a:avLst/>
          </a:prstGeom>
          <a:noFill/>
          <a:ln/>
        </p:spPr>
        <p:txBody>
          <a:bodyPr wrap="square" lIns="0" tIns="0" rIns="0" bIns="0" rtlCol="0" anchor="ctr"/>
          <a:lstStyle/>
          <a:p>
            <a:pPr algn="r" indent="0" marL="0">
              <a:buNone/>
            </a:pPr>
            <a:r>
              <a:rPr lang="en-US" sz="900" b="1" dirty="0">
                <a:solidFill>
                  <a:srgbClr val="9AA0A7"/>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84048"/>
            <a:ext cx="10911535" cy="530352"/>
          </a:xfrm>
          <a:prstGeom prst="rect">
            <a:avLst/>
          </a:prstGeom>
          <a:noFill/>
          <a:ln/>
        </p:spPr>
        <p:txBody>
          <a:bodyPr wrap="square" lIns="0" tIns="0" rIns="0" bIns="0" rtlCol="0" anchor="t"/>
          <a:lstStyle/>
          <a:p>
            <a:pPr indent="0" marL="0">
              <a:buNone/>
            </a:pPr>
            <a:r>
              <a:rPr lang="en-US" sz="2400" b="1" dirty="0">
                <a:solidFill>
                  <a:srgbClr val="16191D"/>
                </a:solidFill>
                <a:latin typeface="Cambria" pitchFamily="34" charset="0"/>
                <a:ea typeface="Cambria" pitchFamily="34" charset="-122"/>
                <a:cs typeface="Cambria" pitchFamily="34" charset="-120"/>
              </a:rPr>
              <a:t>EDA 2 · Sinyalnya monoton, tersebar tipis, dan stabil empat tahun.</a:t>
            </a:r>
            <a:endParaRPr lang="en-US" sz="2400" dirty="0"/>
          </a:p>
        </p:txBody>
      </p:sp>
      <p:sp>
        <p:nvSpPr>
          <p:cNvPr id="3" name="Text 1"/>
          <p:cNvSpPr/>
          <p:nvPr/>
        </p:nvSpPr>
        <p:spPr>
          <a:xfrm>
            <a:off x="640080" y="896112"/>
            <a:ext cx="10911535" cy="310896"/>
          </a:xfrm>
          <a:prstGeom prst="rect">
            <a:avLst/>
          </a:prstGeom>
          <a:noFill/>
          <a:ln/>
        </p:spPr>
        <p:txBody>
          <a:bodyPr wrap="square" lIns="0" tIns="0" rIns="0" bIns="0" rtlCol="0" anchor="t"/>
          <a:lstStyle/>
          <a:p>
            <a:pPr indent="0" marL="0">
              <a:buNone/>
            </a:pPr>
            <a:r>
              <a:rPr lang="en-US" sz="1250" dirty="0">
                <a:solidFill>
                  <a:srgbClr val="6E747C"/>
                </a:solidFill>
                <a:latin typeface="Calibri" pitchFamily="34" charset="0"/>
                <a:ea typeface="Calibri" pitchFamily="34" charset="-122"/>
                <a:cs typeface="Calibri" pitchFamily="34" charset="-120"/>
              </a:rPr>
              <a:t>Tiga temuan yang menentukan jenis model, jumlah fitur, dan cakupan waktu.</a:t>
            </a:r>
            <a:endParaRPr lang="en-US" sz="1250" dirty="0"/>
          </a:p>
        </p:txBody>
      </p:sp>
      <p:sp>
        <p:nvSpPr>
          <p:cNvPr id="4" name="Shape 2"/>
          <p:cNvSpPr/>
          <p:nvPr/>
        </p:nvSpPr>
        <p:spPr>
          <a:xfrm>
            <a:off x="640080" y="1371600"/>
            <a:ext cx="3484778" cy="4846320"/>
          </a:xfrm>
          <a:prstGeom prst="roundRect">
            <a:avLst>
              <a:gd name="adj" fmla="val 1574"/>
            </a:avLst>
          </a:prstGeom>
          <a:solidFill>
            <a:srgbClr val="F4F1EC"/>
          </a:solidFill>
          <a:ln w="9525">
            <a:solidFill>
              <a:srgbClr val="DCD8D1"/>
            </a:solidFill>
            <a:prstDash val="solid"/>
          </a:ln>
        </p:spPr>
      </p:sp>
      <p:sp>
        <p:nvSpPr>
          <p:cNvPr id="5" name="Text 3"/>
          <p:cNvSpPr/>
          <p:nvPr/>
        </p:nvSpPr>
        <p:spPr>
          <a:xfrm>
            <a:off x="841248" y="1499616"/>
            <a:ext cx="3082442" cy="201168"/>
          </a:xfrm>
          <a:prstGeom prst="rect">
            <a:avLst/>
          </a:prstGeom>
          <a:noFill/>
          <a:ln/>
        </p:spPr>
        <p:txBody>
          <a:bodyPr wrap="square" lIns="0" tIns="0" rIns="0" bIns="0" rtlCol="0" anchor="ctr"/>
          <a:lstStyle/>
          <a:p>
            <a:pPr indent="0" marL="0">
              <a:buNone/>
            </a:pPr>
            <a:r>
              <a:rPr lang="en-US" sz="850" b="1" spc="120" kern="0" dirty="0">
                <a:solidFill>
                  <a:srgbClr val="6E747C"/>
                </a:solidFill>
                <a:latin typeface="Calibri" pitchFamily="34" charset="0"/>
                <a:ea typeface="Calibri" pitchFamily="34" charset="-122"/>
                <a:cs typeface="Calibri" pitchFamily="34" charset="-120"/>
              </a:rPr>
              <a:t>3.4 · PREDIKTOR TERKUAT</a:t>
            </a:r>
            <a:endParaRPr lang="en-US" sz="850" dirty="0"/>
          </a:p>
        </p:txBody>
      </p:sp>
      <p:sp>
        <p:nvSpPr>
          <p:cNvPr id="6" name="Text 4"/>
          <p:cNvSpPr/>
          <p:nvPr/>
        </p:nvSpPr>
        <p:spPr>
          <a:xfrm>
            <a:off x="841248" y="1700784"/>
            <a:ext cx="3082442" cy="475488"/>
          </a:xfrm>
          <a:prstGeom prst="rect">
            <a:avLst/>
          </a:prstGeom>
          <a:noFill/>
          <a:ln/>
        </p:spPr>
        <p:txBody>
          <a:bodyPr wrap="square" lIns="0" tIns="0" rIns="0" bIns="0" rtlCol="0" anchor="t"/>
          <a:lstStyle/>
          <a:p>
            <a:pPr indent="0" marL="0">
              <a:lnSpc>
                <a:spcPts val="1600"/>
              </a:lnSpc>
              <a:buNone/>
            </a:pPr>
            <a:r>
              <a:rPr lang="en-US" sz="1300" b="1" dirty="0">
                <a:solidFill>
                  <a:srgbClr val="16191D"/>
                </a:solidFill>
                <a:latin typeface="Cambria" pitchFamily="34" charset="0"/>
                <a:ea typeface="Cambria" pitchFamily="34" charset="-122"/>
                <a:cs typeface="Cambria" pitchFamily="34" charset="-120"/>
              </a:rPr>
              <a:t>Monoton, jadi layak dibaca sebagai skala</a:t>
            </a:r>
            <a:endParaRPr lang="en-US" sz="1300" dirty="0"/>
          </a:p>
        </p:txBody>
      </p:sp>
      <p:sp>
        <p:nvSpPr>
          <p:cNvPr id="7" name="Text 5"/>
          <p:cNvSpPr/>
          <p:nvPr/>
        </p:nvSpPr>
        <p:spPr>
          <a:xfrm>
            <a:off x="731520" y="2212848"/>
            <a:ext cx="1600200" cy="292608"/>
          </a:xfrm>
          <a:prstGeom prst="rect">
            <a:avLst/>
          </a:prstGeom>
          <a:noFill/>
          <a:ln/>
        </p:spPr>
        <p:txBody>
          <a:bodyPr wrap="square" lIns="0" tIns="0" rIns="0" bIns="0" rtlCol="0" anchor="ctr"/>
          <a:lstStyle/>
          <a:p>
            <a:pPr algn="r" indent="0" marL="0">
              <a:buNone/>
            </a:pPr>
            <a:r>
              <a:rPr lang="en-US" sz="900" dirty="0">
                <a:solidFill>
                  <a:srgbClr val="3A4048"/>
                </a:solidFill>
                <a:latin typeface="Calibri" pitchFamily="34" charset="0"/>
                <a:ea typeface="Calibri" pitchFamily="34" charset="-122"/>
                <a:cs typeface="Calibri" pitchFamily="34" charset="-120"/>
              </a:rPr>
              <a:t>general_health_status</a:t>
            </a:r>
            <a:endParaRPr lang="en-US" sz="900" dirty="0"/>
          </a:p>
        </p:txBody>
      </p:sp>
      <p:sp>
        <p:nvSpPr>
          <p:cNvPr id="8" name="Shape 6"/>
          <p:cNvSpPr/>
          <p:nvPr/>
        </p:nvSpPr>
        <p:spPr>
          <a:xfrm>
            <a:off x="2441448" y="2276856"/>
            <a:ext cx="1025042" cy="164592"/>
          </a:xfrm>
          <a:prstGeom prst="rect">
            <a:avLst/>
          </a:prstGeom>
          <a:solidFill>
            <a:srgbClr val="F4F1EC"/>
          </a:solidFill>
          <a:ln/>
        </p:spPr>
      </p:sp>
      <p:sp>
        <p:nvSpPr>
          <p:cNvPr id="9" name="Shape 7"/>
          <p:cNvSpPr/>
          <p:nvPr/>
        </p:nvSpPr>
        <p:spPr>
          <a:xfrm>
            <a:off x="2441448" y="2276856"/>
            <a:ext cx="982811" cy="164592"/>
          </a:xfrm>
          <a:prstGeom prst="rect">
            <a:avLst/>
          </a:prstGeom>
          <a:solidFill>
            <a:srgbClr val="2F6B5F"/>
          </a:solidFill>
          <a:ln/>
        </p:spPr>
      </p:sp>
      <p:sp>
        <p:nvSpPr>
          <p:cNvPr id="10" name="Text 8"/>
          <p:cNvSpPr/>
          <p:nvPr/>
        </p:nvSpPr>
        <p:spPr>
          <a:xfrm>
            <a:off x="3557930" y="2212848"/>
            <a:ext cx="457200" cy="292608"/>
          </a:xfrm>
          <a:prstGeom prst="rect">
            <a:avLst/>
          </a:prstGeom>
          <a:noFill/>
          <a:ln/>
        </p:spPr>
        <p:txBody>
          <a:bodyPr wrap="square" lIns="0" tIns="0" rIns="0" bIns="0" rtlCol="0" anchor="ctr"/>
          <a:lstStyle/>
          <a:p>
            <a:pPr algn="l" indent="0" marL="0">
              <a:buNone/>
            </a:pPr>
            <a:r>
              <a:rPr lang="en-US" sz="900" dirty="0">
                <a:solidFill>
                  <a:srgbClr val="3A4048"/>
                </a:solidFill>
                <a:latin typeface="Calibri" pitchFamily="34" charset="0"/>
                <a:ea typeface="Calibri" pitchFamily="34" charset="-122"/>
                <a:cs typeface="Calibri" pitchFamily="34" charset="-120"/>
              </a:rPr>
              <a:t>0,959</a:t>
            </a:r>
            <a:endParaRPr lang="en-US" sz="900" dirty="0"/>
          </a:p>
        </p:txBody>
      </p:sp>
      <p:sp>
        <p:nvSpPr>
          <p:cNvPr id="11" name="Text 9"/>
          <p:cNvSpPr/>
          <p:nvPr/>
        </p:nvSpPr>
        <p:spPr>
          <a:xfrm>
            <a:off x="731520" y="2560320"/>
            <a:ext cx="1600200" cy="292608"/>
          </a:xfrm>
          <a:prstGeom prst="rect">
            <a:avLst/>
          </a:prstGeom>
          <a:noFill/>
          <a:ln/>
        </p:spPr>
        <p:txBody>
          <a:bodyPr wrap="square" lIns="0" tIns="0" rIns="0" bIns="0" rtlCol="0" anchor="ctr"/>
          <a:lstStyle/>
          <a:p>
            <a:pPr algn="r" indent="0" marL="0">
              <a:buNone/>
            </a:pPr>
            <a:r>
              <a:rPr lang="en-US" sz="900" dirty="0">
                <a:solidFill>
                  <a:srgbClr val="3A4048"/>
                </a:solidFill>
                <a:latin typeface="Calibri" pitchFamily="34" charset="0"/>
                <a:ea typeface="Calibri" pitchFamily="34" charset="-122"/>
                <a:cs typeface="Calibri" pitchFamily="34" charset="-120"/>
              </a:rPr>
              <a:t>depression_frequency</a:t>
            </a:r>
            <a:endParaRPr lang="en-US" sz="900" dirty="0"/>
          </a:p>
        </p:txBody>
      </p:sp>
      <p:sp>
        <p:nvSpPr>
          <p:cNvPr id="12" name="Shape 10"/>
          <p:cNvSpPr/>
          <p:nvPr/>
        </p:nvSpPr>
        <p:spPr>
          <a:xfrm>
            <a:off x="2441448" y="2624328"/>
            <a:ext cx="1025042" cy="164592"/>
          </a:xfrm>
          <a:prstGeom prst="rect">
            <a:avLst/>
          </a:prstGeom>
          <a:solidFill>
            <a:srgbClr val="F4F1EC"/>
          </a:solidFill>
          <a:ln/>
        </p:spPr>
      </p:sp>
      <p:sp>
        <p:nvSpPr>
          <p:cNvPr id="13" name="Shape 11"/>
          <p:cNvSpPr/>
          <p:nvPr/>
        </p:nvSpPr>
        <p:spPr>
          <a:xfrm>
            <a:off x="2441448" y="2624328"/>
            <a:ext cx="918233" cy="164592"/>
          </a:xfrm>
          <a:prstGeom prst="rect">
            <a:avLst/>
          </a:prstGeom>
          <a:solidFill>
            <a:srgbClr val="2F6B5F"/>
          </a:solidFill>
          <a:ln/>
        </p:spPr>
      </p:sp>
      <p:sp>
        <p:nvSpPr>
          <p:cNvPr id="14" name="Text 12"/>
          <p:cNvSpPr/>
          <p:nvPr/>
        </p:nvSpPr>
        <p:spPr>
          <a:xfrm>
            <a:off x="3557930" y="2560320"/>
            <a:ext cx="457200" cy="292608"/>
          </a:xfrm>
          <a:prstGeom prst="rect">
            <a:avLst/>
          </a:prstGeom>
          <a:noFill/>
          <a:ln/>
        </p:spPr>
        <p:txBody>
          <a:bodyPr wrap="square" lIns="0" tIns="0" rIns="0" bIns="0" rtlCol="0" anchor="ctr"/>
          <a:lstStyle/>
          <a:p>
            <a:pPr algn="l" indent="0" marL="0">
              <a:buNone/>
            </a:pPr>
            <a:r>
              <a:rPr lang="en-US" sz="900" dirty="0">
                <a:solidFill>
                  <a:srgbClr val="3A4048"/>
                </a:solidFill>
                <a:latin typeface="Calibri" pitchFamily="34" charset="0"/>
                <a:ea typeface="Calibri" pitchFamily="34" charset="-122"/>
                <a:cs typeface="Calibri" pitchFamily="34" charset="-120"/>
              </a:rPr>
              <a:t>0,896</a:t>
            </a:r>
            <a:endParaRPr lang="en-US" sz="900" dirty="0"/>
          </a:p>
        </p:txBody>
      </p:sp>
      <p:sp>
        <p:nvSpPr>
          <p:cNvPr id="15" name="Text 13"/>
          <p:cNvSpPr/>
          <p:nvPr/>
        </p:nvSpPr>
        <p:spPr>
          <a:xfrm>
            <a:off x="731520" y="2907792"/>
            <a:ext cx="1600200" cy="292608"/>
          </a:xfrm>
          <a:prstGeom prst="rect">
            <a:avLst/>
          </a:prstGeom>
          <a:noFill/>
          <a:ln/>
        </p:spPr>
        <p:txBody>
          <a:bodyPr wrap="square" lIns="0" tIns="0" rIns="0" bIns="0" rtlCol="0" anchor="ctr"/>
          <a:lstStyle/>
          <a:p>
            <a:pPr algn="r" indent="0" marL="0">
              <a:buNone/>
            </a:pPr>
            <a:r>
              <a:rPr lang="en-US" sz="900" dirty="0">
                <a:solidFill>
                  <a:srgbClr val="3A4048"/>
                </a:solidFill>
                <a:latin typeface="Calibri" pitchFamily="34" charset="0"/>
                <a:ea typeface="Calibri" pitchFamily="34" charset="-122"/>
                <a:cs typeface="Calibri" pitchFamily="34" charset="-120"/>
              </a:rPr>
              <a:t>difficulty_self_care</a:t>
            </a:r>
            <a:endParaRPr lang="en-US" sz="900" dirty="0"/>
          </a:p>
        </p:txBody>
      </p:sp>
      <p:sp>
        <p:nvSpPr>
          <p:cNvPr id="16" name="Shape 14"/>
          <p:cNvSpPr/>
          <p:nvPr/>
        </p:nvSpPr>
        <p:spPr>
          <a:xfrm>
            <a:off x="2441448" y="2971800"/>
            <a:ext cx="1025042" cy="164592"/>
          </a:xfrm>
          <a:prstGeom prst="rect">
            <a:avLst/>
          </a:prstGeom>
          <a:solidFill>
            <a:srgbClr val="F4F1EC"/>
          </a:solidFill>
          <a:ln/>
        </p:spPr>
      </p:sp>
      <p:sp>
        <p:nvSpPr>
          <p:cNvPr id="17" name="Shape 15"/>
          <p:cNvSpPr/>
          <p:nvPr/>
        </p:nvSpPr>
        <p:spPr>
          <a:xfrm>
            <a:off x="2441448" y="2971800"/>
            <a:ext cx="694979" cy="164592"/>
          </a:xfrm>
          <a:prstGeom prst="rect">
            <a:avLst/>
          </a:prstGeom>
          <a:solidFill>
            <a:srgbClr val="8FB0A4"/>
          </a:solidFill>
          <a:ln/>
        </p:spPr>
      </p:sp>
      <p:sp>
        <p:nvSpPr>
          <p:cNvPr id="18" name="Text 16"/>
          <p:cNvSpPr/>
          <p:nvPr/>
        </p:nvSpPr>
        <p:spPr>
          <a:xfrm>
            <a:off x="3557930" y="2907792"/>
            <a:ext cx="457200" cy="292608"/>
          </a:xfrm>
          <a:prstGeom prst="rect">
            <a:avLst/>
          </a:prstGeom>
          <a:noFill/>
          <a:ln/>
        </p:spPr>
        <p:txBody>
          <a:bodyPr wrap="square" lIns="0" tIns="0" rIns="0" bIns="0" rtlCol="0" anchor="ctr"/>
          <a:lstStyle/>
          <a:p>
            <a:pPr algn="l" indent="0" marL="0">
              <a:buNone/>
            </a:pPr>
            <a:r>
              <a:rPr lang="en-US" sz="900" dirty="0">
                <a:solidFill>
                  <a:srgbClr val="3A4048"/>
                </a:solidFill>
                <a:latin typeface="Calibri" pitchFamily="34" charset="0"/>
                <a:ea typeface="Calibri" pitchFamily="34" charset="-122"/>
                <a:cs typeface="Calibri" pitchFamily="34" charset="-120"/>
              </a:rPr>
              <a:t>0,678</a:t>
            </a:r>
            <a:endParaRPr lang="en-US" sz="900" dirty="0"/>
          </a:p>
        </p:txBody>
      </p:sp>
      <p:sp>
        <p:nvSpPr>
          <p:cNvPr id="19" name="Text 17"/>
          <p:cNvSpPr/>
          <p:nvPr/>
        </p:nvSpPr>
        <p:spPr>
          <a:xfrm>
            <a:off x="731520" y="3255264"/>
            <a:ext cx="1600200" cy="292608"/>
          </a:xfrm>
          <a:prstGeom prst="rect">
            <a:avLst/>
          </a:prstGeom>
          <a:noFill/>
          <a:ln/>
        </p:spPr>
        <p:txBody>
          <a:bodyPr wrap="square" lIns="0" tIns="0" rIns="0" bIns="0" rtlCol="0" anchor="ctr"/>
          <a:lstStyle/>
          <a:p>
            <a:pPr algn="r" indent="0" marL="0">
              <a:buNone/>
            </a:pPr>
            <a:r>
              <a:rPr lang="en-US" sz="900" dirty="0">
                <a:solidFill>
                  <a:srgbClr val="3A4048"/>
                </a:solidFill>
                <a:latin typeface="Calibri" pitchFamily="34" charset="0"/>
                <a:ea typeface="Calibri" pitchFamily="34" charset="-122"/>
                <a:cs typeface="Calibri" pitchFamily="34" charset="-120"/>
              </a:rPr>
              <a:t>difficulty_using_hands</a:t>
            </a:r>
            <a:endParaRPr lang="en-US" sz="900" dirty="0"/>
          </a:p>
        </p:txBody>
      </p:sp>
      <p:sp>
        <p:nvSpPr>
          <p:cNvPr id="20" name="Shape 18"/>
          <p:cNvSpPr/>
          <p:nvPr/>
        </p:nvSpPr>
        <p:spPr>
          <a:xfrm>
            <a:off x="2441448" y="3319272"/>
            <a:ext cx="1025042" cy="164592"/>
          </a:xfrm>
          <a:prstGeom prst="rect">
            <a:avLst/>
          </a:prstGeom>
          <a:solidFill>
            <a:srgbClr val="F4F1EC"/>
          </a:solidFill>
          <a:ln/>
        </p:spPr>
      </p:sp>
      <p:sp>
        <p:nvSpPr>
          <p:cNvPr id="21" name="Shape 19"/>
          <p:cNvSpPr/>
          <p:nvPr/>
        </p:nvSpPr>
        <p:spPr>
          <a:xfrm>
            <a:off x="2441448" y="3319272"/>
            <a:ext cx="692929" cy="164592"/>
          </a:xfrm>
          <a:prstGeom prst="rect">
            <a:avLst/>
          </a:prstGeom>
          <a:solidFill>
            <a:srgbClr val="8FB0A4"/>
          </a:solidFill>
          <a:ln/>
        </p:spPr>
      </p:sp>
      <p:sp>
        <p:nvSpPr>
          <p:cNvPr id="22" name="Text 20"/>
          <p:cNvSpPr/>
          <p:nvPr/>
        </p:nvSpPr>
        <p:spPr>
          <a:xfrm>
            <a:off x="3557930" y="3255264"/>
            <a:ext cx="457200" cy="292608"/>
          </a:xfrm>
          <a:prstGeom prst="rect">
            <a:avLst/>
          </a:prstGeom>
          <a:noFill/>
          <a:ln/>
        </p:spPr>
        <p:txBody>
          <a:bodyPr wrap="square" lIns="0" tIns="0" rIns="0" bIns="0" rtlCol="0" anchor="ctr"/>
          <a:lstStyle/>
          <a:p>
            <a:pPr algn="l" indent="0" marL="0">
              <a:buNone/>
            </a:pPr>
            <a:r>
              <a:rPr lang="en-US" sz="900" dirty="0">
                <a:solidFill>
                  <a:srgbClr val="3A4048"/>
                </a:solidFill>
                <a:latin typeface="Calibri" pitchFamily="34" charset="0"/>
                <a:ea typeface="Calibri" pitchFamily="34" charset="-122"/>
                <a:cs typeface="Calibri" pitchFamily="34" charset="-120"/>
              </a:rPr>
              <a:t>0,676</a:t>
            </a:r>
            <a:endParaRPr lang="en-US" sz="900" dirty="0"/>
          </a:p>
        </p:txBody>
      </p:sp>
      <p:sp>
        <p:nvSpPr>
          <p:cNvPr id="23" name="Text 21"/>
          <p:cNvSpPr/>
          <p:nvPr/>
        </p:nvSpPr>
        <p:spPr>
          <a:xfrm>
            <a:off x="731520" y="3602736"/>
            <a:ext cx="1600200" cy="292608"/>
          </a:xfrm>
          <a:prstGeom prst="rect">
            <a:avLst/>
          </a:prstGeom>
          <a:noFill/>
          <a:ln/>
        </p:spPr>
        <p:txBody>
          <a:bodyPr wrap="square" lIns="0" tIns="0" rIns="0" bIns="0" rtlCol="0" anchor="ctr"/>
          <a:lstStyle/>
          <a:p>
            <a:pPr algn="r" indent="0" marL="0">
              <a:buNone/>
            </a:pPr>
            <a:r>
              <a:rPr lang="en-US" sz="900" dirty="0">
                <a:solidFill>
                  <a:srgbClr val="3A4048"/>
                </a:solidFill>
                <a:latin typeface="Calibri" pitchFamily="34" charset="0"/>
                <a:ea typeface="Calibri" pitchFamily="34" charset="-122"/>
                <a:cs typeface="Calibri" pitchFamily="34" charset="-120"/>
              </a:rPr>
              <a:t>difficulty_social_activ.</a:t>
            </a:r>
            <a:endParaRPr lang="en-US" sz="900" dirty="0"/>
          </a:p>
        </p:txBody>
      </p:sp>
      <p:sp>
        <p:nvSpPr>
          <p:cNvPr id="24" name="Shape 22"/>
          <p:cNvSpPr/>
          <p:nvPr/>
        </p:nvSpPr>
        <p:spPr>
          <a:xfrm>
            <a:off x="2441448" y="3666744"/>
            <a:ext cx="1025042" cy="164592"/>
          </a:xfrm>
          <a:prstGeom prst="rect">
            <a:avLst/>
          </a:prstGeom>
          <a:solidFill>
            <a:srgbClr val="F4F1EC"/>
          </a:solidFill>
          <a:ln/>
        </p:spPr>
      </p:sp>
      <p:sp>
        <p:nvSpPr>
          <p:cNvPr id="25" name="Shape 23"/>
          <p:cNvSpPr/>
          <p:nvPr/>
        </p:nvSpPr>
        <p:spPr>
          <a:xfrm>
            <a:off x="2441448" y="3666744"/>
            <a:ext cx="681243" cy="164592"/>
          </a:xfrm>
          <a:prstGeom prst="rect">
            <a:avLst/>
          </a:prstGeom>
          <a:solidFill>
            <a:srgbClr val="8FB0A4"/>
          </a:solidFill>
          <a:ln/>
        </p:spPr>
      </p:sp>
      <p:sp>
        <p:nvSpPr>
          <p:cNvPr id="26" name="Text 24"/>
          <p:cNvSpPr/>
          <p:nvPr/>
        </p:nvSpPr>
        <p:spPr>
          <a:xfrm>
            <a:off x="3557930" y="3602736"/>
            <a:ext cx="457200" cy="292608"/>
          </a:xfrm>
          <a:prstGeom prst="rect">
            <a:avLst/>
          </a:prstGeom>
          <a:noFill/>
          <a:ln/>
        </p:spPr>
        <p:txBody>
          <a:bodyPr wrap="square" lIns="0" tIns="0" rIns="0" bIns="0" rtlCol="0" anchor="ctr"/>
          <a:lstStyle/>
          <a:p>
            <a:pPr algn="l" indent="0" marL="0">
              <a:buNone/>
            </a:pPr>
            <a:r>
              <a:rPr lang="en-US" sz="900" dirty="0">
                <a:solidFill>
                  <a:srgbClr val="3A4048"/>
                </a:solidFill>
                <a:latin typeface="Calibri" pitchFamily="34" charset="0"/>
                <a:ea typeface="Calibri" pitchFamily="34" charset="-122"/>
                <a:cs typeface="Calibri" pitchFamily="34" charset="-120"/>
              </a:rPr>
              <a:t>0,665</a:t>
            </a:r>
            <a:endParaRPr lang="en-US" sz="900" dirty="0"/>
          </a:p>
        </p:txBody>
      </p:sp>
      <p:sp>
        <p:nvSpPr>
          <p:cNvPr id="27" name="Text 25"/>
          <p:cNvSpPr/>
          <p:nvPr/>
        </p:nvSpPr>
        <p:spPr>
          <a:xfrm>
            <a:off x="731520" y="3950208"/>
            <a:ext cx="1600200" cy="292608"/>
          </a:xfrm>
          <a:prstGeom prst="rect">
            <a:avLst/>
          </a:prstGeom>
          <a:noFill/>
          <a:ln/>
        </p:spPr>
        <p:txBody>
          <a:bodyPr wrap="square" lIns="0" tIns="0" rIns="0" bIns="0" rtlCol="0" anchor="ctr"/>
          <a:lstStyle/>
          <a:p>
            <a:pPr algn="r" indent="0" marL="0">
              <a:buNone/>
            </a:pPr>
            <a:r>
              <a:rPr lang="en-US" sz="900" dirty="0">
                <a:solidFill>
                  <a:srgbClr val="3A4048"/>
                </a:solidFill>
                <a:latin typeface="Calibri" pitchFamily="34" charset="0"/>
                <a:ea typeface="Calibri" pitchFamily="34" charset="-122"/>
                <a:cs typeface="Calibri" pitchFamily="34" charset="-120"/>
              </a:rPr>
              <a:t>anxiety_frequency</a:t>
            </a:r>
            <a:endParaRPr lang="en-US" sz="900" dirty="0"/>
          </a:p>
        </p:txBody>
      </p:sp>
      <p:sp>
        <p:nvSpPr>
          <p:cNvPr id="28" name="Shape 26"/>
          <p:cNvSpPr/>
          <p:nvPr/>
        </p:nvSpPr>
        <p:spPr>
          <a:xfrm>
            <a:off x="2441448" y="4014216"/>
            <a:ext cx="1025042" cy="164592"/>
          </a:xfrm>
          <a:prstGeom prst="rect">
            <a:avLst/>
          </a:prstGeom>
          <a:solidFill>
            <a:srgbClr val="F4F1EC"/>
          </a:solidFill>
          <a:ln/>
        </p:spPr>
      </p:sp>
      <p:sp>
        <p:nvSpPr>
          <p:cNvPr id="29" name="Shape 27"/>
          <p:cNvSpPr/>
          <p:nvPr/>
        </p:nvSpPr>
        <p:spPr>
          <a:xfrm>
            <a:off x="2441448" y="4014216"/>
            <a:ext cx="574331" cy="164592"/>
          </a:xfrm>
          <a:prstGeom prst="rect">
            <a:avLst/>
          </a:prstGeom>
          <a:solidFill>
            <a:srgbClr val="D8A25E"/>
          </a:solidFill>
          <a:ln/>
        </p:spPr>
      </p:sp>
      <p:sp>
        <p:nvSpPr>
          <p:cNvPr id="30" name="Text 28"/>
          <p:cNvSpPr/>
          <p:nvPr/>
        </p:nvSpPr>
        <p:spPr>
          <a:xfrm>
            <a:off x="3557930" y="3950208"/>
            <a:ext cx="457200" cy="292608"/>
          </a:xfrm>
          <a:prstGeom prst="rect">
            <a:avLst/>
          </a:prstGeom>
          <a:noFill/>
          <a:ln/>
        </p:spPr>
        <p:txBody>
          <a:bodyPr wrap="square" lIns="0" tIns="0" rIns="0" bIns="0" rtlCol="0" anchor="ctr"/>
          <a:lstStyle/>
          <a:p>
            <a:pPr algn="l" indent="0" marL="0">
              <a:buNone/>
            </a:pPr>
            <a:r>
              <a:rPr lang="en-US" sz="900" dirty="0">
                <a:solidFill>
                  <a:srgbClr val="3A4048"/>
                </a:solidFill>
                <a:latin typeface="Calibri" pitchFamily="34" charset="0"/>
                <a:ea typeface="Calibri" pitchFamily="34" charset="-122"/>
                <a:cs typeface="Calibri" pitchFamily="34" charset="-120"/>
              </a:rPr>
              <a:t>0,560</a:t>
            </a:r>
            <a:endParaRPr lang="en-US" sz="900" dirty="0"/>
          </a:p>
        </p:txBody>
      </p:sp>
      <p:sp>
        <p:nvSpPr>
          <p:cNvPr id="31" name="Text 29"/>
          <p:cNvSpPr/>
          <p:nvPr/>
        </p:nvSpPr>
        <p:spPr>
          <a:xfrm>
            <a:off x="731520" y="4297680"/>
            <a:ext cx="1600200" cy="292608"/>
          </a:xfrm>
          <a:prstGeom prst="rect">
            <a:avLst/>
          </a:prstGeom>
          <a:noFill/>
          <a:ln/>
        </p:spPr>
        <p:txBody>
          <a:bodyPr wrap="square" lIns="0" tIns="0" rIns="0" bIns="0" rtlCol="0" anchor="ctr"/>
          <a:lstStyle/>
          <a:p>
            <a:pPr algn="r" indent="0" marL="0">
              <a:buNone/>
            </a:pPr>
            <a:r>
              <a:rPr lang="en-US" sz="900" dirty="0">
                <a:solidFill>
                  <a:srgbClr val="3A4048"/>
                </a:solidFill>
                <a:latin typeface="Calibri" pitchFamily="34" charset="0"/>
                <a:ea typeface="Calibri" pitchFamily="34" charset="-122"/>
                <a:cs typeface="Calibri" pitchFamily="34" charset="-120"/>
              </a:rPr>
              <a:t>food_security_4cat</a:t>
            </a:r>
            <a:endParaRPr lang="en-US" sz="900" dirty="0"/>
          </a:p>
        </p:txBody>
      </p:sp>
      <p:sp>
        <p:nvSpPr>
          <p:cNvPr id="32" name="Shape 30"/>
          <p:cNvSpPr/>
          <p:nvPr/>
        </p:nvSpPr>
        <p:spPr>
          <a:xfrm>
            <a:off x="2441448" y="4361688"/>
            <a:ext cx="1025042" cy="164592"/>
          </a:xfrm>
          <a:prstGeom prst="rect">
            <a:avLst/>
          </a:prstGeom>
          <a:solidFill>
            <a:srgbClr val="F4F1EC"/>
          </a:solidFill>
          <a:ln/>
        </p:spPr>
      </p:sp>
      <p:sp>
        <p:nvSpPr>
          <p:cNvPr id="33" name="Shape 31"/>
          <p:cNvSpPr/>
          <p:nvPr/>
        </p:nvSpPr>
        <p:spPr>
          <a:xfrm>
            <a:off x="2441448" y="4361688"/>
            <a:ext cx="551575" cy="164592"/>
          </a:xfrm>
          <a:prstGeom prst="rect">
            <a:avLst/>
          </a:prstGeom>
          <a:solidFill>
            <a:srgbClr val="D8A25E"/>
          </a:solidFill>
          <a:ln/>
        </p:spPr>
      </p:sp>
      <p:sp>
        <p:nvSpPr>
          <p:cNvPr id="34" name="Text 32"/>
          <p:cNvSpPr/>
          <p:nvPr/>
        </p:nvSpPr>
        <p:spPr>
          <a:xfrm>
            <a:off x="3557930" y="4297680"/>
            <a:ext cx="457200" cy="292608"/>
          </a:xfrm>
          <a:prstGeom prst="rect">
            <a:avLst/>
          </a:prstGeom>
          <a:noFill/>
          <a:ln/>
        </p:spPr>
        <p:txBody>
          <a:bodyPr wrap="square" lIns="0" tIns="0" rIns="0" bIns="0" rtlCol="0" anchor="ctr"/>
          <a:lstStyle/>
          <a:p>
            <a:pPr algn="l" indent="0" marL="0">
              <a:buNone/>
            </a:pPr>
            <a:r>
              <a:rPr lang="en-US" sz="900" dirty="0">
                <a:solidFill>
                  <a:srgbClr val="3A4048"/>
                </a:solidFill>
                <a:latin typeface="Calibri" pitchFamily="34" charset="0"/>
                <a:ea typeface="Calibri" pitchFamily="34" charset="-122"/>
                <a:cs typeface="Calibri" pitchFamily="34" charset="-120"/>
              </a:rPr>
              <a:t>0,538</a:t>
            </a:r>
            <a:endParaRPr lang="en-US" sz="900" dirty="0"/>
          </a:p>
        </p:txBody>
      </p:sp>
      <p:sp>
        <p:nvSpPr>
          <p:cNvPr id="35" name="Text 33"/>
          <p:cNvSpPr/>
          <p:nvPr/>
        </p:nvSpPr>
        <p:spPr>
          <a:xfrm>
            <a:off x="841248" y="4700016"/>
            <a:ext cx="3082442" cy="310896"/>
          </a:xfrm>
          <a:prstGeom prst="rect">
            <a:avLst/>
          </a:prstGeom>
          <a:noFill/>
          <a:ln/>
        </p:spPr>
        <p:txBody>
          <a:bodyPr wrap="square" lIns="0" tIns="0" rIns="0" bIns="0" rtlCol="0" anchor="ctr"/>
          <a:lstStyle/>
          <a:p>
            <a:pPr algn="l" indent="0" marL="0">
              <a:buNone/>
            </a:pPr>
            <a:r>
              <a:rPr lang="en-US" sz="900" i="1" dirty="0">
                <a:solidFill>
                  <a:srgbClr val="6E747C"/>
                </a:solidFill>
                <a:latin typeface="Calibri" pitchFamily="34" charset="0"/>
                <a:ea typeface="Calibri" pitchFamily="34" charset="-122"/>
                <a:cs typeface="Calibri" pitchFamily="34" charset="-120"/>
              </a:rPr>
              <a:t>Rentang rata-rata target antar tingkat variabel.</a:t>
            </a:r>
            <a:endParaRPr lang="en-US" sz="900" dirty="0"/>
          </a:p>
        </p:txBody>
      </p:sp>
      <p:sp>
        <p:nvSpPr>
          <p:cNvPr id="36" name="Text 34"/>
          <p:cNvSpPr/>
          <p:nvPr/>
        </p:nvSpPr>
        <p:spPr>
          <a:xfrm>
            <a:off x="841248" y="5001768"/>
            <a:ext cx="3082442" cy="640080"/>
          </a:xfrm>
          <a:prstGeom prst="rect">
            <a:avLst/>
          </a:prstGeom>
          <a:noFill/>
          <a:ln/>
        </p:spPr>
        <p:txBody>
          <a:bodyPr wrap="square" lIns="0" tIns="0" rIns="0" bIns="0" rtlCol="0" anchor="t"/>
          <a:lstStyle/>
          <a:p>
            <a:pPr algn="l" indent="0" marL="0">
              <a:lnSpc>
                <a:spcPts val="1283"/>
              </a:lnSpc>
              <a:buNone/>
            </a:pPr>
            <a:r>
              <a:rPr lang="en-US" sz="950" dirty="0">
                <a:solidFill>
                  <a:srgbClr val="3A4048"/>
                </a:solidFill>
                <a:latin typeface="Calibri" pitchFamily="34" charset="0"/>
                <a:ea typeface="Calibri" pitchFamily="34" charset="-122"/>
                <a:cs typeface="Calibri" pitchFamily="34" charset="-120"/>
              </a:rPr>
              <a:t>Kesehatan memburuk, depresi makin sering, pangan makin rapuh: rata-rata target naik konsisten tanpa pembalikan.</a:t>
            </a:r>
            <a:endParaRPr lang="en-US" sz="950" dirty="0"/>
          </a:p>
        </p:txBody>
      </p:sp>
      <p:sp>
        <p:nvSpPr>
          <p:cNvPr id="37" name="Text 35"/>
          <p:cNvSpPr/>
          <p:nvPr/>
        </p:nvSpPr>
        <p:spPr>
          <a:xfrm>
            <a:off x="841248" y="5559552"/>
            <a:ext cx="3082442" cy="548640"/>
          </a:xfrm>
          <a:prstGeom prst="rect">
            <a:avLst/>
          </a:prstGeom>
          <a:noFill/>
          <a:ln/>
        </p:spPr>
        <p:txBody>
          <a:bodyPr wrap="square" lIns="0" tIns="0" rIns="0" bIns="0" rtlCol="0" anchor="t"/>
          <a:lstStyle/>
          <a:p>
            <a:pPr indent="0" marL="0">
              <a:lnSpc>
                <a:spcPts val="1300"/>
              </a:lnSpc>
              <a:buNone/>
            </a:pPr>
            <a:r>
              <a:rPr lang="en-US" sz="1000" b="1" dirty="0">
                <a:solidFill>
                  <a:srgbClr val="A8442A"/>
                </a:solidFill>
                <a:latin typeface="Calibri" pitchFamily="34" charset="0"/>
                <a:ea typeface="Calibri" pitchFamily="34" charset="-122"/>
                <a:cs typeface="Calibri" pitchFamily="34" charset="-120"/>
              </a:rPr>
              <a:t>Implikasi: </a:t>
            </a:r>
            <a:pPr indent="0" marL="0">
              <a:lnSpc>
                <a:spcPts val="1300"/>
              </a:lnSpc>
              <a:buNone/>
            </a:pPr>
            <a:r>
              <a:rPr lang="en-US" sz="1000" dirty="0">
                <a:solidFill>
                  <a:srgbClr val="3A4048"/>
                </a:solidFill>
                <a:latin typeface="Calibri" pitchFamily="34" charset="0"/>
                <a:ea typeface="Calibri" pitchFamily="34" charset="-122"/>
                <a:cs typeface="Calibri" pitchFamily="34" charset="-120"/>
              </a:rPr>
              <a:t>tambah regresi Huber dan dekomposisi biner kumulatif di samping klasifikasi.</a:t>
            </a:r>
            <a:endParaRPr lang="en-US" sz="1000" dirty="0"/>
          </a:p>
        </p:txBody>
      </p:sp>
      <p:sp>
        <p:nvSpPr>
          <p:cNvPr id="38" name="Shape 36"/>
          <p:cNvSpPr/>
          <p:nvPr/>
        </p:nvSpPr>
        <p:spPr>
          <a:xfrm>
            <a:off x="4353458" y="1371600"/>
            <a:ext cx="3484778" cy="4846320"/>
          </a:xfrm>
          <a:prstGeom prst="roundRect">
            <a:avLst>
              <a:gd name="adj" fmla="val 1574"/>
            </a:avLst>
          </a:prstGeom>
          <a:solidFill>
            <a:srgbClr val="FFFFFF"/>
          </a:solidFill>
          <a:ln w="9525">
            <a:solidFill>
              <a:srgbClr val="DCD8D1"/>
            </a:solidFill>
            <a:prstDash val="solid"/>
          </a:ln>
        </p:spPr>
      </p:sp>
      <p:sp>
        <p:nvSpPr>
          <p:cNvPr id="39" name="Text 37"/>
          <p:cNvSpPr/>
          <p:nvPr/>
        </p:nvSpPr>
        <p:spPr>
          <a:xfrm>
            <a:off x="4554626" y="1499616"/>
            <a:ext cx="3082442" cy="201168"/>
          </a:xfrm>
          <a:prstGeom prst="rect">
            <a:avLst/>
          </a:prstGeom>
          <a:noFill/>
          <a:ln/>
        </p:spPr>
        <p:txBody>
          <a:bodyPr wrap="square" lIns="0" tIns="0" rIns="0" bIns="0" rtlCol="0" anchor="ctr"/>
          <a:lstStyle/>
          <a:p>
            <a:pPr indent="0" marL="0">
              <a:buNone/>
            </a:pPr>
            <a:r>
              <a:rPr lang="en-US" sz="850" b="1" spc="120" kern="0" dirty="0">
                <a:solidFill>
                  <a:srgbClr val="6E747C"/>
                </a:solidFill>
                <a:latin typeface="Calibri" pitchFamily="34" charset="0"/>
                <a:ea typeface="Calibri" pitchFamily="34" charset="-122"/>
                <a:cs typeface="Calibri" pitchFamily="34" charset="-120"/>
              </a:rPr>
              <a:t>3.7 · STRUKTUR KORELASI</a:t>
            </a:r>
            <a:endParaRPr lang="en-US" sz="850" dirty="0"/>
          </a:p>
        </p:txBody>
      </p:sp>
      <p:sp>
        <p:nvSpPr>
          <p:cNvPr id="40" name="Text 38"/>
          <p:cNvSpPr/>
          <p:nvPr/>
        </p:nvSpPr>
        <p:spPr>
          <a:xfrm>
            <a:off x="4554626" y="1700784"/>
            <a:ext cx="3082442" cy="475488"/>
          </a:xfrm>
          <a:prstGeom prst="rect">
            <a:avLst/>
          </a:prstGeom>
          <a:noFill/>
          <a:ln/>
        </p:spPr>
        <p:txBody>
          <a:bodyPr wrap="square" lIns="0" tIns="0" rIns="0" bIns="0" rtlCol="0" anchor="t"/>
          <a:lstStyle/>
          <a:p>
            <a:pPr indent="0" marL="0">
              <a:lnSpc>
                <a:spcPts val="1600"/>
              </a:lnSpc>
              <a:buNone/>
            </a:pPr>
            <a:r>
              <a:rPr lang="en-US" sz="1300" b="1" dirty="0">
                <a:solidFill>
                  <a:srgbClr val="16191D"/>
                </a:solidFill>
                <a:latin typeface="Cambria" pitchFamily="34" charset="0"/>
                <a:ea typeface="Cambria" pitchFamily="34" charset="-122"/>
                <a:cs typeface="Cambria" pitchFamily="34" charset="-120"/>
              </a:rPr>
              <a:t>Tidak ada fitur dominan</a:t>
            </a:r>
            <a:endParaRPr lang="en-US" sz="1300" dirty="0"/>
          </a:p>
        </p:txBody>
      </p:sp>
      <p:sp>
        <p:nvSpPr>
          <p:cNvPr id="41" name="Text 39"/>
          <p:cNvSpPr/>
          <p:nvPr/>
        </p:nvSpPr>
        <p:spPr>
          <a:xfrm>
            <a:off x="4554626" y="2212848"/>
            <a:ext cx="1463040" cy="347472"/>
          </a:xfrm>
          <a:prstGeom prst="rect">
            <a:avLst/>
          </a:prstGeom>
          <a:noFill/>
          <a:ln/>
        </p:spPr>
        <p:txBody>
          <a:bodyPr wrap="square" lIns="0" tIns="0" rIns="0" bIns="0" rtlCol="0" anchor="b"/>
          <a:lstStyle/>
          <a:p>
            <a:pPr algn="l" indent="0" marL="0">
              <a:buNone/>
            </a:pPr>
            <a:r>
              <a:rPr lang="en-US" sz="1700" b="1" dirty="0">
                <a:solidFill>
                  <a:srgbClr val="A8442A"/>
                </a:solidFill>
                <a:latin typeface="Cambria" pitchFamily="34" charset="0"/>
                <a:ea typeface="Cambria" pitchFamily="34" charset="-122"/>
                <a:cs typeface="Cambria" pitchFamily="34" charset="-120"/>
              </a:rPr>
              <a:t>0,361</a:t>
            </a:r>
            <a:endParaRPr lang="en-US" sz="1700" dirty="0"/>
          </a:p>
        </p:txBody>
      </p:sp>
      <p:sp>
        <p:nvSpPr>
          <p:cNvPr id="42" name="Text 40"/>
          <p:cNvSpPr/>
          <p:nvPr/>
        </p:nvSpPr>
        <p:spPr>
          <a:xfrm>
            <a:off x="4554626" y="2596896"/>
            <a:ext cx="1463040" cy="420624"/>
          </a:xfrm>
          <a:prstGeom prst="rect">
            <a:avLst/>
          </a:prstGeom>
          <a:noFill/>
          <a:ln/>
        </p:spPr>
        <p:txBody>
          <a:bodyPr wrap="square" lIns="0" tIns="0" rIns="0" bIns="0" rtlCol="0" anchor="t"/>
          <a:lstStyle/>
          <a:p>
            <a:pPr algn="l" indent="0" marL="0">
              <a:lnSpc>
                <a:spcPts val="1300"/>
              </a:lnSpc>
              <a:buNone/>
            </a:pPr>
            <a:r>
              <a:rPr lang="en-US" sz="900" dirty="0">
                <a:solidFill>
                  <a:srgbClr val="6E747C"/>
                </a:solidFill>
                <a:latin typeface="Calibri" pitchFamily="34" charset="0"/>
                <a:ea typeface="Calibri" pitchFamily="34" charset="-122"/>
                <a:cs typeface="Calibri" pitchFamily="34" charset="-120"/>
              </a:rPr>
              <a:t>korelasi tertinggi</a:t>
            </a:r>
            <a:endParaRPr lang="en-US" sz="900" dirty="0"/>
          </a:p>
          <a:p>
            <a:pPr algn="l" indent="0" marL="0">
              <a:lnSpc>
                <a:spcPts val="1300"/>
              </a:lnSpc>
              <a:buNone/>
            </a:pPr>
            <a:r>
              <a:rPr lang="en-US" sz="900" dirty="0">
                <a:solidFill>
                  <a:srgbClr val="6E747C"/>
                </a:solidFill>
                <a:latin typeface="Calibri" pitchFamily="34" charset="0"/>
                <a:ea typeface="Calibri" pitchFamily="34" charset="-122"/>
                <a:cs typeface="Calibri" pitchFamily="34" charset="-120"/>
              </a:rPr>
              <a:t>satu fitur ke target</a:t>
            </a:r>
            <a:endParaRPr lang="en-US" sz="900" dirty="0"/>
          </a:p>
        </p:txBody>
      </p:sp>
      <p:sp>
        <p:nvSpPr>
          <p:cNvPr id="43" name="Text 41"/>
          <p:cNvSpPr/>
          <p:nvPr/>
        </p:nvSpPr>
        <p:spPr>
          <a:xfrm>
            <a:off x="6109106" y="2212848"/>
            <a:ext cx="1463040" cy="347472"/>
          </a:xfrm>
          <a:prstGeom prst="rect">
            <a:avLst/>
          </a:prstGeom>
          <a:noFill/>
          <a:ln/>
        </p:spPr>
        <p:txBody>
          <a:bodyPr wrap="square" lIns="0" tIns="0" rIns="0" bIns="0" rtlCol="0" anchor="b"/>
          <a:lstStyle/>
          <a:p>
            <a:pPr algn="l" indent="0" marL="0">
              <a:buNone/>
            </a:pPr>
            <a:r>
              <a:rPr lang="en-US" sz="1700" b="1" dirty="0">
                <a:solidFill>
                  <a:srgbClr val="16191D"/>
                </a:solidFill>
                <a:latin typeface="Cambria" pitchFamily="34" charset="0"/>
                <a:ea typeface="Cambria" pitchFamily="34" charset="-122"/>
                <a:cs typeface="Cambria" pitchFamily="34" charset="-120"/>
              </a:rPr>
              <a:t>0,037</a:t>
            </a:r>
            <a:endParaRPr lang="en-US" sz="1700" dirty="0"/>
          </a:p>
        </p:txBody>
      </p:sp>
      <p:sp>
        <p:nvSpPr>
          <p:cNvPr id="44" name="Text 42"/>
          <p:cNvSpPr/>
          <p:nvPr/>
        </p:nvSpPr>
        <p:spPr>
          <a:xfrm>
            <a:off x="6109106" y="2596896"/>
            <a:ext cx="1463040" cy="420624"/>
          </a:xfrm>
          <a:prstGeom prst="rect">
            <a:avLst/>
          </a:prstGeom>
          <a:noFill/>
          <a:ln/>
        </p:spPr>
        <p:txBody>
          <a:bodyPr wrap="square" lIns="0" tIns="0" rIns="0" bIns="0" rtlCol="0" anchor="t"/>
          <a:lstStyle/>
          <a:p>
            <a:pPr algn="l" indent="0" marL="0">
              <a:lnSpc>
                <a:spcPts val="1300"/>
              </a:lnSpc>
              <a:buNone/>
            </a:pPr>
            <a:r>
              <a:rPr lang="en-US" sz="900" dirty="0">
                <a:solidFill>
                  <a:srgbClr val="6E747C"/>
                </a:solidFill>
                <a:latin typeface="Calibri" pitchFamily="34" charset="0"/>
                <a:ea typeface="Calibri" pitchFamily="34" charset="-122"/>
                <a:cs typeface="Calibri" pitchFamily="34" charset="-120"/>
              </a:rPr>
              <a:t>median korelasi</a:t>
            </a:r>
            <a:endParaRPr lang="en-US" sz="900" dirty="0"/>
          </a:p>
          <a:p>
            <a:pPr algn="l" indent="0" marL="0">
              <a:lnSpc>
                <a:spcPts val="1300"/>
              </a:lnSpc>
              <a:buNone/>
            </a:pPr>
            <a:r>
              <a:rPr lang="en-US" sz="900" dirty="0">
                <a:solidFill>
                  <a:srgbClr val="6E747C"/>
                </a:solidFill>
                <a:latin typeface="Calibri" pitchFamily="34" charset="0"/>
                <a:ea typeface="Calibri" pitchFamily="34" charset="-122"/>
                <a:cs typeface="Calibri" pitchFamily="34" charset="-120"/>
              </a:rPr>
              <a:t>antar fitur</a:t>
            </a:r>
            <a:endParaRPr lang="en-US" sz="900" dirty="0"/>
          </a:p>
        </p:txBody>
      </p:sp>
      <p:sp>
        <p:nvSpPr>
          <p:cNvPr id="45" name="Text 43"/>
          <p:cNvSpPr/>
          <p:nvPr/>
        </p:nvSpPr>
        <p:spPr>
          <a:xfrm>
            <a:off x="4554626" y="3081528"/>
            <a:ext cx="1463040" cy="347472"/>
          </a:xfrm>
          <a:prstGeom prst="rect">
            <a:avLst/>
          </a:prstGeom>
          <a:noFill/>
          <a:ln/>
        </p:spPr>
        <p:txBody>
          <a:bodyPr wrap="square" lIns="0" tIns="0" rIns="0" bIns="0" rtlCol="0" anchor="b"/>
          <a:lstStyle/>
          <a:p>
            <a:pPr algn="l" indent="0" marL="0">
              <a:buNone/>
            </a:pPr>
            <a:r>
              <a:rPr lang="en-US" sz="1700" b="1" dirty="0">
                <a:solidFill>
                  <a:srgbClr val="16191D"/>
                </a:solidFill>
                <a:latin typeface="Cambria" pitchFamily="34" charset="0"/>
                <a:ea typeface="Cambria" pitchFamily="34" charset="-122"/>
                <a:cs typeface="Cambria" pitchFamily="34" charset="-120"/>
              </a:rPr>
              <a:t>17</a:t>
            </a:r>
            <a:endParaRPr lang="en-US" sz="1700" dirty="0"/>
          </a:p>
        </p:txBody>
      </p:sp>
      <p:sp>
        <p:nvSpPr>
          <p:cNvPr id="46" name="Text 44"/>
          <p:cNvSpPr/>
          <p:nvPr/>
        </p:nvSpPr>
        <p:spPr>
          <a:xfrm>
            <a:off x="4554626" y="3465576"/>
            <a:ext cx="1463040" cy="420624"/>
          </a:xfrm>
          <a:prstGeom prst="rect">
            <a:avLst/>
          </a:prstGeom>
          <a:noFill/>
          <a:ln/>
        </p:spPr>
        <p:txBody>
          <a:bodyPr wrap="square" lIns="0" tIns="0" rIns="0" bIns="0" rtlCol="0" anchor="t"/>
          <a:lstStyle/>
          <a:p>
            <a:pPr algn="l" indent="0" marL="0">
              <a:lnSpc>
                <a:spcPts val="1300"/>
              </a:lnSpc>
              <a:buNone/>
            </a:pPr>
            <a:r>
              <a:rPr lang="en-US" sz="900" dirty="0">
                <a:solidFill>
                  <a:srgbClr val="6E747C"/>
                </a:solidFill>
                <a:latin typeface="Calibri" pitchFamily="34" charset="0"/>
                <a:ea typeface="Calibri" pitchFamily="34" charset="-122"/>
                <a:cs typeface="Calibri" pitchFamily="34" charset="-120"/>
              </a:rPr>
              <a:t>pasangan fitur</a:t>
            </a:r>
            <a:endParaRPr lang="en-US" sz="900" dirty="0"/>
          </a:p>
          <a:p>
            <a:pPr algn="l" indent="0" marL="0">
              <a:lnSpc>
                <a:spcPts val="1300"/>
              </a:lnSpc>
              <a:buNone/>
            </a:pPr>
            <a:r>
              <a:rPr lang="en-US" sz="900" dirty="0">
                <a:solidFill>
                  <a:srgbClr val="6E747C"/>
                </a:solidFill>
                <a:latin typeface="Calibri" pitchFamily="34" charset="0"/>
                <a:ea typeface="Calibri" pitchFamily="34" charset="-122"/>
                <a:cs typeface="Calibri" pitchFamily="34" charset="-120"/>
              </a:rPr>
              <a:t>|ρ| &gt; 0,9</a:t>
            </a:r>
            <a:endParaRPr lang="en-US" sz="900" dirty="0"/>
          </a:p>
        </p:txBody>
      </p:sp>
      <p:sp>
        <p:nvSpPr>
          <p:cNvPr id="47" name="Text 45"/>
          <p:cNvSpPr/>
          <p:nvPr/>
        </p:nvSpPr>
        <p:spPr>
          <a:xfrm>
            <a:off x="6109106" y="3081528"/>
            <a:ext cx="1463040" cy="347472"/>
          </a:xfrm>
          <a:prstGeom prst="rect">
            <a:avLst/>
          </a:prstGeom>
          <a:noFill/>
          <a:ln/>
        </p:spPr>
        <p:txBody>
          <a:bodyPr wrap="square" lIns="0" tIns="0" rIns="0" bIns="0" rtlCol="0" anchor="b"/>
          <a:lstStyle/>
          <a:p>
            <a:pPr algn="l" indent="0" marL="0">
              <a:buNone/>
            </a:pPr>
            <a:r>
              <a:rPr lang="en-US" sz="1700" b="1" dirty="0">
                <a:solidFill>
                  <a:srgbClr val="16191D"/>
                </a:solidFill>
                <a:latin typeface="Cambria" pitchFamily="34" charset="0"/>
                <a:ea typeface="Cambria" pitchFamily="34" charset="-122"/>
                <a:cs typeface="Cambria" pitchFamily="34" charset="-120"/>
              </a:rPr>
              <a:t>14.667</a:t>
            </a:r>
            <a:endParaRPr lang="en-US" sz="1700" dirty="0"/>
          </a:p>
        </p:txBody>
      </p:sp>
      <p:sp>
        <p:nvSpPr>
          <p:cNvPr id="48" name="Text 46"/>
          <p:cNvSpPr/>
          <p:nvPr/>
        </p:nvSpPr>
        <p:spPr>
          <a:xfrm>
            <a:off x="6109106" y="3465576"/>
            <a:ext cx="1463040" cy="420624"/>
          </a:xfrm>
          <a:prstGeom prst="rect">
            <a:avLst/>
          </a:prstGeom>
          <a:noFill/>
          <a:ln/>
        </p:spPr>
        <p:txBody>
          <a:bodyPr wrap="square" lIns="0" tIns="0" rIns="0" bIns="0" rtlCol="0" anchor="t"/>
          <a:lstStyle/>
          <a:p>
            <a:pPr algn="l" indent="0" marL="0">
              <a:lnSpc>
                <a:spcPts val="1300"/>
              </a:lnSpc>
              <a:buNone/>
            </a:pPr>
            <a:r>
              <a:rPr lang="en-US" sz="900" dirty="0">
                <a:solidFill>
                  <a:srgbClr val="6E747C"/>
                </a:solidFill>
                <a:latin typeface="Calibri" pitchFamily="34" charset="0"/>
                <a:ea typeface="Calibri" pitchFamily="34" charset="-122"/>
                <a:cs typeface="Calibri" pitchFamily="34" charset="-120"/>
              </a:rPr>
              <a:t>pasangan</a:t>
            </a:r>
            <a:endParaRPr lang="en-US" sz="900" dirty="0"/>
          </a:p>
          <a:p>
            <a:pPr algn="l" indent="0" marL="0">
              <a:lnSpc>
                <a:spcPts val="1300"/>
              </a:lnSpc>
              <a:buNone/>
            </a:pPr>
            <a:r>
              <a:rPr lang="en-US" sz="900" dirty="0">
                <a:solidFill>
                  <a:srgbClr val="6E747C"/>
                </a:solidFill>
                <a:latin typeface="Calibri" pitchFamily="34" charset="0"/>
                <a:ea typeface="Calibri" pitchFamily="34" charset="-122"/>
                <a:cs typeface="Calibri" pitchFamily="34" charset="-120"/>
              </a:rPr>
              <a:t>diperiksa</a:t>
            </a:r>
            <a:endParaRPr lang="en-US" sz="900" dirty="0"/>
          </a:p>
        </p:txBody>
      </p:sp>
      <p:sp>
        <p:nvSpPr>
          <p:cNvPr id="49" name="Text 47"/>
          <p:cNvSpPr/>
          <p:nvPr/>
        </p:nvSpPr>
        <p:spPr>
          <a:xfrm>
            <a:off x="4554626" y="4041648"/>
            <a:ext cx="2404305" cy="274320"/>
          </a:xfrm>
          <a:prstGeom prst="rect">
            <a:avLst/>
          </a:prstGeom>
          <a:noFill/>
          <a:ln/>
        </p:spPr>
        <p:txBody>
          <a:bodyPr wrap="square" lIns="0" tIns="0" rIns="0" bIns="0" rtlCol="0" anchor="ctr"/>
          <a:lstStyle/>
          <a:p>
            <a:pPr indent="0" marL="0">
              <a:buNone/>
            </a:pPr>
            <a:r>
              <a:rPr lang="en-US" sz="900" dirty="0">
                <a:solidFill>
                  <a:srgbClr val="3A4048"/>
                </a:solidFill>
                <a:latin typeface="Calibri" pitchFamily="34" charset="0"/>
                <a:ea typeface="Calibri" pitchFamily="34" charset="-122"/>
                <a:cs typeface="Calibri" pitchFamily="34" charset="-120"/>
              </a:rPr>
              <a:t>data_year · survey_year</a:t>
            </a:r>
            <a:endParaRPr lang="en-US" sz="900" dirty="0"/>
          </a:p>
        </p:txBody>
      </p:sp>
      <p:sp>
        <p:nvSpPr>
          <p:cNvPr id="50" name="Text 48"/>
          <p:cNvSpPr/>
          <p:nvPr/>
        </p:nvSpPr>
        <p:spPr>
          <a:xfrm>
            <a:off x="6958931" y="4041648"/>
            <a:ext cx="678137" cy="274320"/>
          </a:xfrm>
          <a:prstGeom prst="rect">
            <a:avLst/>
          </a:prstGeom>
          <a:noFill/>
          <a:ln/>
        </p:spPr>
        <p:txBody>
          <a:bodyPr wrap="square" lIns="0" tIns="0" rIns="0" bIns="0" rtlCol="0" anchor="ctr"/>
          <a:lstStyle/>
          <a:p>
            <a:pPr algn="r" indent="0" marL="0">
              <a:buNone/>
            </a:pPr>
            <a:r>
              <a:rPr lang="en-US" sz="900" b="1" dirty="0">
                <a:solidFill>
                  <a:srgbClr val="16191D"/>
                </a:solidFill>
                <a:latin typeface="Calibri" pitchFamily="34" charset="0"/>
                <a:ea typeface="Calibri" pitchFamily="34" charset="-122"/>
                <a:cs typeface="Calibri" pitchFamily="34" charset="-120"/>
              </a:rPr>
              <a:t>1,000</a:t>
            </a:r>
            <a:endParaRPr lang="en-US" sz="900" dirty="0"/>
          </a:p>
        </p:txBody>
      </p:sp>
      <p:sp>
        <p:nvSpPr>
          <p:cNvPr id="51" name="Shape 49"/>
          <p:cNvSpPr/>
          <p:nvPr/>
        </p:nvSpPr>
        <p:spPr>
          <a:xfrm>
            <a:off x="4554626" y="4315968"/>
            <a:ext cx="3082442" cy="0"/>
          </a:xfrm>
          <a:prstGeom prst="line">
            <a:avLst/>
          </a:prstGeom>
          <a:noFill/>
          <a:ln w="7620">
            <a:solidFill>
              <a:srgbClr val="DCD8D1"/>
            </a:solidFill>
            <a:prstDash val="solid"/>
          </a:ln>
        </p:spPr>
      </p:sp>
      <p:sp>
        <p:nvSpPr>
          <p:cNvPr id="52" name="Text 50"/>
          <p:cNvSpPr/>
          <p:nvPr/>
        </p:nvSpPr>
        <p:spPr>
          <a:xfrm>
            <a:off x="4554626" y="4315968"/>
            <a:ext cx="2404305" cy="274320"/>
          </a:xfrm>
          <a:prstGeom prst="rect">
            <a:avLst/>
          </a:prstGeom>
          <a:noFill/>
          <a:ln/>
        </p:spPr>
        <p:txBody>
          <a:bodyPr wrap="square" lIns="0" tIns="0" rIns="0" bIns="0" rtlCol="0" anchor="ctr"/>
          <a:lstStyle/>
          <a:p>
            <a:pPr indent="0" marL="0">
              <a:buNone/>
            </a:pPr>
            <a:r>
              <a:rPr lang="en-US" sz="900" dirty="0">
                <a:solidFill>
                  <a:srgbClr val="3A4048"/>
                </a:solidFill>
                <a:latin typeface="Calibri" pitchFamily="34" charset="0"/>
                <a:ea typeface="Calibri" pitchFamily="34" charset="-122"/>
                <a:cs typeface="Calibri" pitchFamily="34" charset="-120"/>
              </a:rPr>
              <a:t>children_in_family · _household</a:t>
            </a:r>
            <a:endParaRPr lang="en-US" sz="900" dirty="0"/>
          </a:p>
        </p:txBody>
      </p:sp>
      <p:sp>
        <p:nvSpPr>
          <p:cNvPr id="53" name="Text 51"/>
          <p:cNvSpPr/>
          <p:nvPr/>
        </p:nvSpPr>
        <p:spPr>
          <a:xfrm>
            <a:off x="6958931" y="4315968"/>
            <a:ext cx="678137" cy="274320"/>
          </a:xfrm>
          <a:prstGeom prst="rect">
            <a:avLst/>
          </a:prstGeom>
          <a:noFill/>
          <a:ln/>
        </p:spPr>
        <p:txBody>
          <a:bodyPr wrap="square" lIns="0" tIns="0" rIns="0" bIns="0" rtlCol="0" anchor="ctr"/>
          <a:lstStyle/>
          <a:p>
            <a:pPr algn="r" indent="0" marL="0">
              <a:buNone/>
            </a:pPr>
            <a:r>
              <a:rPr lang="en-US" sz="900" b="1" dirty="0">
                <a:solidFill>
                  <a:srgbClr val="16191D"/>
                </a:solidFill>
                <a:latin typeface="Calibri" pitchFamily="34" charset="0"/>
                <a:ea typeface="Calibri" pitchFamily="34" charset="-122"/>
                <a:cs typeface="Calibri" pitchFamily="34" charset="-120"/>
              </a:rPr>
              <a:t>0,998</a:t>
            </a:r>
            <a:endParaRPr lang="en-US" sz="900" dirty="0"/>
          </a:p>
        </p:txBody>
      </p:sp>
      <p:sp>
        <p:nvSpPr>
          <p:cNvPr id="54" name="Shape 52"/>
          <p:cNvSpPr/>
          <p:nvPr/>
        </p:nvSpPr>
        <p:spPr>
          <a:xfrm>
            <a:off x="4554626" y="4590288"/>
            <a:ext cx="3082442" cy="0"/>
          </a:xfrm>
          <a:prstGeom prst="line">
            <a:avLst/>
          </a:prstGeom>
          <a:noFill/>
          <a:ln w="7620">
            <a:solidFill>
              <a:srgbClr val="DCD8D1"/>
            </a:solidFill>
            <a:prstDash val="solid"/>
          </a:ln>
        </p:spPr>
      </p:sp>
      <p:sp>
        <p:nvSpPr>
          <p:cNvPr id="55" name="Text 53"/>
          <p:cNvSpPr/>
          <p:nvPr/>
        </p:nvSpPr>
        <p:spPr>
          <a:xfrm>
            <a:off x="4554626" y="4590288"/>
            <a:ext cx="2404305" cy="274320"/>
          </a:xfrm>
          <a:prstGeom prst="rect">
            <a:avLst/>
          </a:prstGeom>
          <a:noFill/>
          <a:ln/>
        </p:spPr>
        <p:txBody>
          <a:bodyPr wrap="square" lIns="0" tIns="0" rIns="0" bIns="0" rtlCol="0" anchor="ctr"/>
          <a:lstStyle/>
          <a:p>
            <a:pPr indent="0" marL="0">
              <a:buNone/>
            </a:pPr>
            <a:r>
              <a:rPr lang="en-US" sz="900" dirty="0">
                <a:solidFill>
                  <a:srgbClr val="3A4048"/>
                </a:solidFill>
                <a:latin typeface="Calibri" pitchFamily="34" charset="0"/>
                <a:ea typeface="Calibri" pitchFamily="34" charset="-122"/>
                <a:cs typeface="Calibri" pitchFamily="34" charset="-120"/>
              </a:rPr>
              <a:t>ever_used_ecigarette · status</a:t>
            </a:r>
            <a:endParaRPr lang="en-US" sz="900" dirty="0"/>
          </a:p>
        </p:txBody>
      </p:sp>
      <p:sp>
        <p:nvSpPr>
          <p:cNvPr id="56" name="Text 54"/>
          <p:cNvSpPr/>
          <p:nvPr/>
        </p:nvSpPr>
        <p:spPr>
          <a:xfrm>
            <a:off x="6958931" y="4590288"/>
            <a:ext cx="678137" cy="274320"/>
          </a:xfrm>
          <a:prstGeom prst="rect">
            <a:avLst/>
          </a:prstGeom>
          <a:noFill/>
          <a:ln/>
        </p:spPr>
        <p:txBody>
          <a:bodyPr wrap="square" lIns="0" tIns="0" rIns="0" bIns="0" rtlCol="0" anchor="ctr"/>
          <a:lstStyle/>
          <a:p>
            <a:pPr algn="r" indent="0" marL="0">
              <a:buNone/>
            </a:pPr>
            <a:r>
              <a:rPr lang="en-US" sz="900" b="1" dirty="0">
                <a:solidFill>
                  <a:srgbClr val="16191D"/>
                </a:solidFill>
                <a:latin typeface="Calibri" pitchFamily="34" charset="0"/>
                <a:ea typeface="Calibri" pitchFamily="34" charset="-122"/>
                <a:cs typeface="Calibri" pitchFamily="34" charset="-120"/>
              </a:rPr>
              <a:t>0,997</a:t>
            </a:r>
            <a:endParaRPr lang="en-US" sz="900" dirty="0"/>
          </a:p>
        </p:txBody>
      </p:sp>
      <p:sp>
        <p:nvSpPr>
          <p:cNvPr id="57" name="Shape 55"/>
          <p:cNvSpPr/>
          <p:nvPr/>
        </p:nvSpPr>
        <p:spPr>
          <a:xfrm>
            <a:off x="4554626" y="4864608"/>
            <a:ext cx="3082442" cy="0"/>
          </a:xfrm>
          <a:prstGeom prst="line">
            <a:avLst/>
          </a:prstGeom>
          <a:noFill/>
          <a:ln w="7620">
            <a:solidFill>
              <a:srgbClr val="DCD8D1"/>
            </a:solidFill>
            <a:prstDash val="solid"/>
          </a:ln>
        </p:spPr>
      </p:sp>
      <p:sp>
        <p:nvSpPr>
          <p:cNvPr id="58" name="Text 56"/>
          <p:cNvSpPr/>
          <p:nvPr/>
        </p:nvSpPr>
        <p:spPr>
          <a:xfrm>
            <a:off x="4554626" y="4864608"/>
            <a:ext cx="2404305" cy="274320"/>
          </a:xfrm>
          <a:prstGeom prst="rect">
            <a:avLst/>
          </a:prstGeom>
          <a:noFill/>
          <a:ln/>
        </p:spPr>
        <p:txBody>
          <a:bodyPr wrap="square" lIns="0" tIns="0" rIns="0" bIns="0" rtlCol="0" anchor="ctr"/>
          <a:lstStyle/>
          <a:p>
            <a:pPr indent="0" marL="0">
              <a:buNone/>
            </a:pPr>
            <a:r>
              <a:rPr lang="en-US" sz="900" dirty="0">
                <a:solidFill>
                  <a:srgbClr val="3A4048"/>
                </a:solidFill>
                <a:latin typeface="Calibri" pitchFamily="34" charset="0"/>
                <a:ea typeface="Calibri" pitchFamily="34" charset="-122"/>
                <a:cs typeface="Calibri" pitchFamily="34" charset="-120"/>
              </a:rPr>
              <a:t>cancer_ever · types_count</a:t>
            </a:r>
            <a:endParaRPr lang="en-US" sz="900" dirty="0"/>
          </a:p>
        </p:txBody>
      </p:sp>
      <p:sp>
        <p:nvSpPr>
          <p:cNvPr id="59" name="Text 57"/>
          <p:cNvSpPr/>
          <p:nvPr/>
        </p:nvSpPr>
        <p:spPr>
          <a:xfrm>
            <a:off x="6958931" y="4864608"/>
            <a:ext cx="678137" cy="274320"/>
          </a:xfrm>
          <a:prstGeom prst="rect">
            <a:avLst/>
          </a:prstGeom>
          <a:noFill/>
          <a:ln/>
        </p:spPr>
        <p:txBody>
          <a:bodyPr wrap="square" lIns="0" tIns="0" rIns="0" bIns="0" rtlCol="0" anchor="ctr"/>
          <a:lstStyle/>
          <a:p>
            <a:pPr algn="r" indent="0" marL="0">
              <a:buNone/>
            </a:pPr>
            <a:r>
              <a:rPr lang="en-US" sz="900" b="1" dirty="0">
                <a:solidFill>
                  <a:srgbClr val="16191D"/>
                </a:solidFill>
                <a:latin typeface="Calibri" pitchFamily="34" charset="0"/>
                <a:ea typeface="Calibri" pitchFamily="34" charset="-122"/>
                <a:cs typeface="Calibri" pitchFamily="34" charset="-120"/>
              </a:rPr>
              <a:t>0,981</a:t>
            </a:r>
            <a:endParaRPr lang="en-US" sz="900" dirty="0"/>
          </a:p>
        </p:txBody>
      </p:sp>
      <p:sp>
        <p:nvSpPr>
          <p:cNvPr id="60" name="Text 58"/>
          <p:cNvSpPr/>
          <p:nvPr/>
        </p:nvSpPr>
        <p:spPr>
          <a:xfrm>
            <a:off x="4554626" y="5212080"/>
            <a:ext cx="3082442" cy="411480"/>
          </a:xfrm>
          <a:prstGeom prst="rect">
            <a:avLst/>
          </a:prstGeom>
          <a:noFill/>
          <a:ln/>
        </p:spPr>
        <p:txBody>
          <a:bodyPr wrap="square" lIns="0" tIns="0" rIns="0" bIns="0" rtlCol="0" anchor="t"/>
          <a:lstStyle/>
          <a:p>
            <a:pPr algn="l" indent="0" marL="0">
              <a:lnSpc>
                <a:spcPts val="1215"/>
              </a:lnSpc>
              <a:buNone/>
            </a:pPr>
            <a:r>
              <a:rPr lang="en-US" sz="900" dirty="0">
                <a:solidFill>
                  <a:srgbClr val="3A4048"/>
                </a:solidFill>
                <a:latin typeface="Calibri" pitchFamily="34" charset="0"/>
                <a:ea typeface="Calibri" pitchFamily="34" charset="-122"/>
                <a:cs typeface="Calibri" pitchFamily="34" charset="-120"/>
              </a:rPr>
              <a:t>Redundansi terpusat pada pasangan yang memang kembar. Sisanya membawa sinyal kecil masing-masing.</a:t>
            </a:r>
            <a:endParaRPr lang="en-US" sz="900" dirty="0"/>
          </a:p>
        </p:txBody>
      </p:sp>
      <p:sp>
        <p:nvSpPr>
          <p:cNvPr id="61" name="Text 59"/>
          <p:cNvSpPr/>
          <p:nvPr/>
        </p:nvSpPr>
        <p:spPr>
          <a:xfrm>
            <a:off x="4554626" y="5559552"/>
            <a:ext cx="3082442" cy="548640"/>
          </a:xfrm>
          <a:prstGeom prst="rect">
            <a:avLst/>
          </a:prstGeom>
          <a:noFill/>
          <a:ln/>
        </p:spPr>
        <p:txBody>
          <a:bodyPr wrap="square" lIns="0" tIns="0" rIns="0" bIns="0" rtlCol="0" anchor="t"/>
          <a:lstStyle/>
          <a:p>
            <a:pPr indent="0" marL="0">
              <a:lnSpc>
                <a:spcPts val="1300"/>
              </a:lnSpc>
              <a:buNone/>
            </a:pPr>
            <a:r>
              <a:rPr lang="en-US" sz="1000" b="1" dirty="0">
                <a:solidFill>
                  <a:srgbClr val="A8442A"/>
                </a:solidFill>
                <a:latin typeface="Calibri" pitchFamily="34" charset="0"/>
                <a:ea typeface="Calibri" pitchFamily="34" charset="-122"/>
                <a:cs typeface="Calibri" pitchFamily="34" charset="-120"/>
              </a:rPr>
              <a:t>Implikasi: </a:t>
            </a:r>
            <a:pPr indent="0" marL="0">
              <a:lnSpc>
                <a:spcPts val="1300"/>
              </a:lnSpc>
              <a:buNone/>
            </a:pPr>
            <a:r>
              <a:rPr lang="en-US" sz="1000" dirty="0">
                <a:solidFill>
                  <a:srgbClr val="3A4048"/>
                </a:solidFill>
                <a:latin typeface="Calibri" pitchFamily="34" charset="0"/>
                <a:ea typeface="Calibri" pitchFamily="34" charset="-122"/>
                <a:cs typeface="Calibri" pitchFamily="34" charset="-120"/>
              </a:rPr>
              <a:t>seleksi fitur agresif ditolak, seluruh 176 fitur dipertahankan.</a:t>
            </a:r>
            <a:endParaRPr lang="en-US" sz="1000" dirty="0"/>
          </a:p>
        </p:txBody>
      </p:sp>
      <p:sp>
        <p:nvSpPr>
          <p:cNvPr id="62" name="Shape 60"/>
          <p:cNvSpPr/>
          <p:nvPr/>
        </p:nvSpPr>
        <p:spPr>
          <a:xfrm>
            <a:off x="8066837" y="1371600"/>
            <a:ext cx="3484778" cy="4846320"/>
          </a:xfrm>
          <a:prstGeom prst="roundRect">
            <a:avLst>
              <a:gd name="adj" fmla="val 1574"/>
            </a:avLst>
          </a:prstGeom>
          <a:solidFill>
            <a:srgbClr val="F4F1EC"/>
          </a:solidFill>
          <a:ln w="9525">
            <a:solidFill>
              <a:srgbClr val="DCD8D1"/>
            </a:solidFill>
            <a:prstDash val="solid"/>
          </a:ln>
        </p:spPr>
      </p:sp>
      <p:sp>
        <p:nvSpPr>
          <p:cNvPr id="63" name="Text 61"/>
          <p:cNvSpPr/>
          <p:nvPr/>
        </p:nvSpPr>
        <p:spPr>
          <a:xfrm>
            <a:off x="8268005" y="1499616"/>
            <a:ext cx="3082442" cy="201168"/>
          </a:xfrm>
          <a:prstGeom prst="rect">
            <a:avLst/>
          </a:prstGeom>
          <a:noFill/>
          <a:ln/>
        </p:spPr>
        <p:txBody>
          <a:bodyPr wrap="square" lIns="0" tIns="0" rIns="0" bIns="0" rtlCol="0" anchor="ctr"/>
          <a:lstStyle/>
          <a:p>
            <a:pPr indent="0" marL="0">
              <a:buNone/>
            </a:pPr>
            <a:r>
              <a:rPr lang="en-US" sz="850" b="1" spc="120" kern="0" dirty="0">
                <a:solidFill>
                  <a:srgbClr val="6E747C"/>
                </a:solidFill>
                <a:latin typeface="Calibri" pitchFamily="34" charset="0"/>
                <a:ea typeface="Calibri" pitchFamily="34" charset="-122"/>
                <a:cs typeface="Calibri" pitchFamily="34" charset="-120"/>
              </a:rPr>
              <a:t>3.8 · STABILITAS ANTAR TAHUN</a:t>
            </a:r>
            <a:endParaRPr lang="en-US" sz="850" dirty="0"/>
          </a:p>
        </p:txBody>
      </p:sp>
      <p:sp>
        <p:nvSpPr>
          <p:cNvPr id="64" name="Text 62"/>
          <p:cNvSpPr/>
          <p:nvPr/>
        </p:nvSpPr>
        <p:spPr>
          <a:xfrm>
            <a:off x="8268005" y="1700784"/>
            <a:ext cx="3082442" cy="475488"/>
          </a:xfrm>
          <a:prstGeom prst="rect">
            <a:avLst/>
          </a:prstGeom>
          <a:noFill/>
          <a:ln/>
        </p:spPr>
        <p:txBody>
          <a:bodyPr wrap="square" lIns="0" tIns="0" rIns="0" bIns="0" rtlCol="0" anchor="t"/>
          <a:lstStyle/>
          <a:p>
            <a:pPr indent="0" marL="0">
              <a:lnSpc>
                <a:spcPts val="1600"/>
              </a:lnSpc>
              <a:buNone/>
            </a:pPr>
            <a:r>
              <a:rPr lang="en-US" sz="1300" b="1" dirty="0">
                <a:solidFill>
                  <a:srgbClr val="16191D"/>
                </a:solidFill>
                <a:latin typeface="Cambria" pitchFamily="34" charset="0"/>
                <a:ea typeface="Cambria" pitchFamily="34" charset="-122"/>
                <a:cs typeface="Cambria" pitchFamily="34" charset="-120"/>
              </a:rPr>
              <a:t>Melintasi pandemi, perilakunya sama</a:t>
            </a:r>
            <a:endParaRPr lang="en-US" sz="13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8268005" y="2212848"/>
          <a:ext cx="3082442" cy="914400"/>
        </p:xfrm>
        <a:graphic>
          <a:graphicData uri="http://schemas.openxmlformats.org/drawingml/2006/table">
            <a:tbl>
              <a:tblPr/>
              <a:tblGrid>
                <a:gridCol w="594360"/>
                <a:gridCol w="777240"/>
                <a:gridCol w="822960"/>
                <a:gridCol w="886968"/>
              </a:tblGrid>
              <a:tr h="274320">
                <a:tc>
                  <a:txBody>
                    <a:bodyPr/>
                    <a:lstStyle/>
                    <a:p>
                      <a:pPr algn="l" indent="0" marL="0">
                        <a:buNone/>
                      </a:pPr>
                      <a:r>
                        <a:rPr lang="en-US" sz="950" b="1" dirty="0">
                          <a:solidFill>
                            <a:srgbClr val="16191D"/>
                          </a:solidFill>
                          <a:latin typeface="Calibri" pitchFamily="34" charset="0"/>
                          <a:ea typeface="Calibri" pitchFamily="34" charset="-122"/>
                          <a:cs typeface="Calibri" pitchFamily="34" charset="-120"/>
                        </a:rPr>
                        <a:t>Tahun</a:t>
                      </a:r>
                      <a:endParaRPr lang="en-US" sz="950" dirty="0">
                        <a:latin typeface="Calibri" charset="0"/>
                        <a:ea typeface="Calibri" charset="0"/>
                        <a:cs typeface="Calibri" charset="0"/>
                      </a:endParaRPr>
                    </a:p>
                  </a:txBody>
                  <a:tcPr marL="25400" marR="101600" marT="63500" marB="63500" anchor="ctr">
                    <a:lnL w="0" cap="flat" cmpd="sng" algn="ctr">
                      <a:noFill/>
                    </a:lnL>
                    <a:lnR w="0" cap="flat" cmpd="sng" algn="ctr">
                      <a:noFill/>
                    </a:lnR>
                    <a:lnT w="17780" cap="flat" cmpd="sng" algn="ctr">
                      <a:solidFill>
                        <a:srgbClr val="16191D"/>
                      </a:solidFill>
                      <a:prstDash val="solid"/>
                      <a:round/>
                      <a:headEnd type="none" w="med" len="med"/>
                      <a:tailEnd type="none" w="med" len="med"/>
                    </a:lnT>
                    <a:lnB w="10160" cap="flat" cmpd="sng" algn="ctr">
                      <a:solidFill>
                        <a:srgbClr val="16191D"/>
                      </a:solidFill>
                      <a:prstDash val="solid"/>
                      <a:round/>
                      <a:headEnd type="none" w="med" len="med"/>
                      <a:tailEnd type="none" w="med" len="med"/>
                    </a:lnB>
                  </a:tcPr>
                </a:tc>
                <a:tc>
                  <a:txBody>
                    <a:bodyPr/>
                    <a:lstStyle/>
                    <a:p>
                      <a:pPr algn="r" indent="0" marL="0">
                        <a:buNone/>
                      </a:pPr>
                      <a:r>
                        <a:rPr lang="en-US" sz="950" b="1" dirty="0">
                          <a:solidFill>
                            <a:srgbClr val="16191D"/>
                          </a:solidFill>
                          <a:latin typeface="Calibri" pitchFamily="34" charset="0"/>
                          <a:ea typeface="Calibri" pitchFamily="34" charset="-122"/>
                          <a:cs typeface="Calibri" pitchFamily="34" charset="-120"/>
                        </a:rPr>
                        <a:t>n</a:t>
                      </a:r>
                      <a:endParaRPr lang="en-US" sz="950" dirty="0">
                        <a:latin typeface="Calibri" charset="0"/>
                        <a:ea typeface="Calibri" charset="0"/>
                        <a:cs typeface="Calibri" charset="0"/>
                      </a:endParaRPr>
                    </a:p>
                  </a:txBody>
                  <a:tcPr marL="101600" marR="101600" marT="63500" marB="63500" anchor="ctr">
                    <a:lnL w="0" cap="flat" cmpd="sng" algn="ctr">
                      <a:noFill/>
                    </a:lnL>
                    <a:lnR w="0" cap="flat" cmpd="sng" algn="ctr">
                      <a:noFill/>
                    </a:lnR>
                    <a:lnT w="17780" cap="flat" cmpd="sng" algn="ctr">
                      <a:solidFill>
                        <a:srgbClr val="16191D"/>
                      </a:solidFill>
                      <a:prstDash val="solid"/>
                      <a:round/>
                      <a:headEnd type="none" w="med" len="med"/>
                      <a:tailEnd type="none" w="med" len="med"/>
                    </a:lnT>
                    <a:lnB w="10160" cap="flat" cmpd="sng" algn="ctr">
                      <a:solidFill>
                        <a:srgbClr val="16191D"/>
                      </a:solidFill>
                      <a:prstDash val="solid"/>
                      <a:round/>
                      <a:headEnd type="none" w="med" len="med"/>
                      <a:tailEnd type="none" w="med" len="med"/>
                    </a:lnB>
                  </a:tcPr>
                </a:tc>
                <a:tc>
                  <a:txBody>
                    <a:bodyPr/>
                    <a:lstStyle/>
                    <a:p>
                      <a:pPr algn="r" indent="0" marL="0">
                        <a:buNone/>
                      </a:pPr>
                      <a:r>
                        <a:rPr lang="en-US" sz="950" b="1" dirty="0">
                          <a:solidFill>
                            <a:srgbClr val="16191D"/>
                          </a:solidFill>
                          <a:latin typeface="Calibri" pitchFamily="34" charset="0"/>
                          <a:ea typeface="Calibri" pitchFamily="34" charset="-122"/>
                          <a:cs typeface="Calibri" pitchFamily="34" charset="-120"/>
                        </a:rPr>
                        <a:t>rata-rata</a:t>
                      </a:r>
                      <a:endParaRPr lang="en-US" sz="950" dirty="0">
                        <a:latin typeface="Calibri" charset="0"/>
                        <a:ea typeface="Calibri" charset="0"/>
                        <a:cs typeface="Calibri" charset="0"/>
                      </a:endParaRPr>
                    </a:p>
                  </a:txBody>
                  <a:tcPr marL="101600" marR="101600" marT="63500" marB="63500" anchor="ctr">
                    <a:lnL w="0" cap="flat" cmpd="sng" algn="ctr">
                      <a:noFill/>
                    </a:lnL>
                    <a:lnR w="0" cap="flat" cmpd="sng" algn="ctr">
                      <a:noFill/>
                    </a:lnR>
                    <a:lnT w="17780" cap="flat" cmpd="sng" algn="ctr">
                      <a:solidFill>
                        <a:srgbClr val="16191D"/>
                      </a:solidFill>
                      <a:prstDash val="solid"/>
                      <a:round/>
                      <a:headEnd type="none" w="med" len="med"/>
                      <a:tailEnd type="none" w="med" len="med"/>
                    </a:lnT>
                    <a:lnB w="10160" cap="flat" cmpd="sng" algn="ctr">
                      <a:solidFill>
                        <a:srgbClr val="16191D"/>
                      </a:solidFill>
                      <a:prstDash val="solid"/>
                      <a:round/>
                      <a:headEnd type="none" w="med" len="med"/>
                      <a:tailEnd type="none" w="med" len="med"/>
                    </a:lnB>
                  </a:tcPr>
                </a:tc>
                <a:tc>
                  <a:txBody>
                    <a:bodyPr/>
                    <a:lstStyle/>
                    <a:p>
                      <a:pPr algn="r" indent="0" marL="0">
                        <a:buNone/>
                      </a:pPr>
                      <a:r>
                        <a:rPr lang="en-US" sz="950" b="1" dirty="0">
                          <a:solidFill>
                            <a:srgbClr val="16191D"/>
                          </a:solidFill>
                          <a:latin typeface="Calibri" pitchFamily="34" charset="0"/>
                          <a:ea typeface="Calibri" pitchFamily="34" charset="-122"/>
                          <a:cs typeface="Calibri" pitchFamily="34" charset="-120"/>
                        </a:rPr>
                        <a:t>% kls 3+4</a:t>
                      </a:r>
                      <a:endParaRPr lang="en-US" sz="950" dirty="0">
                        <a:latin typeface="Calibri" charset="0"/>
                        <a:ea typeface="Calibri" charset="0"/>
                        <a:cs typeface="Calibri" charset="0"/>
                      </a:endParaRPr>
                    </a:p>
                  </a:txBody>
                  <a:tcPr marL="101600" marR="101600" marT="63500" marB="63500" anchor="ctr">
                    <a:lnL w="0" cap="flat" cmpd="sng" algn="ctr">
                      <a:noFill/>
                    </a:lnL>
                    <a:lnR w="0" cap="flat" cmpd="sng" algn="ctr">
                      <a:noFill/>
                    </a:lnR>
                    <a:lnT w="17780" cap="flat" cmpd="sng" algn="ctr">
                      <a:solidFill>
                        <a:srgbClr val="16191D"/>
                      </a:solidFill>
                      <a:prstDash val="solid"/>
                      <a:round/>
                      <a:headEnd type="none" w="med" len="med"/>
                      <a:tailEnd type="none" w="med" len="med"/>
                    </a:lnT>
                    <a:lnB w="10160" cap="flat" cmpd="sng" algn="ctr">
                      <a:solidFill>
                        <a:srgbClr val="16191D"/>
                      </a:solidFill>
                      <a:prstDash val="solid"/>
                      <a:round/>
                      <a:headEnd type="none" w="med" len="med"/>
                      <a:tailEnd type="none" w="med" len="med"/>
                    </a:lnB>
                  </a:tcPr>
                </a:tc>
              </a:tr>
              <a:tr h="274320">
                <a:tc>
                  <a:txBody>
                    <a:bodyPr/>
                    <a:lstStyle/>
                    <a:p>
                      <a:pPr algn="l" indent="0" marL="0">
                        <a:buNone/>
                      </a:pPr>
                      <a:r>
                        <a:rPr lang="en-US" sz="950" dirty="0">
                          <a:solidFill>
                            <a:srgbClr val="3A4048"/>
                          </a:solidFill>
                          <a:latin typeface="Calibri" pitchFamily="34" charset="0"/>
                          <a:ea typeface="Calibri" pitchFamily="34" charset="-122"/>
                          <a:cs typeface="Calibri" pitchFamily="34" charset="-120"/>
                        </a:rPr>
                        <a:t>2021</a:t>
                      </a:r>
                      <a:endParaRPr lang="en-US" sz="95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950" dirty="0">
                          <a:solidFill>
                            <a:srgbClr val="3A4048"/>
                          </a:solidFill>
                          <a:latin typeface="Calibri" pitchFamily="34" charset="0"/>
                          <a:ea typeface="Calibri" pitchFamily="34" charset="-122"/>
                          <a:cs typeface="Calibri" pitchFamily="34" charset="-120"/>
                        </a:rPr>
                        <a:t>21.464</a:t>
                      </a:r>
                      <a:endParaRPr lang="en-US" sz="9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950" dirty="0">
                          <a:solidFill>
                            <a:srgbClr val="3A4048"/>
                          </a:solidFill>
                          <a:latin typeface="Calibri" pitchFamily="34" charset="0"/>
                          <a:ea typeface="Calibri" pitchFamily="34" charset="-122"/>
                          <a:cs typeface="Calibri" pitchFamily="34" charset="-120"/>
                        </a:rPr>
                        <a:t>1,5914</a:t>
                      </a:r>
                      <a:endParaRPr lang="en-US" sz="9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950" dirty="0">
                          <a:solidFill>
                            <a:srgbClr val="3A4048"/>
                          </a:solidFill>
                          <a:latin typeface="Calibri" pitchFamily="34" charset="0"/>
                          <a:ea typeface="Calibri" pitchFamily="34" charset="-122"/>
                          <a:cs typeface="Calibri" pitchFamily="34" charset="-120"/>
                        </a:rPr>
                        <a:t>5,25%</a:t>
                      </a:r>
                      <a:endParaRPr lang="en-US" sz="9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274320">
                <a:tc>
                  <a:txBody>
                    <a:bodyPr/>
                    <a:lstStyle/>
                    <a:p>
                      <a:pPr algn="l" indent="0" marL="0">
                        <a:buNone/>
                      </a:pPr>
                      <a:r>
                        <a:rPr lang="en-US" sz="950" dirty="0">
                          <a:solidFill>
                            <a:srgbClr val="3A4048"/>
                          </a:solidFill>
                          <a:latin typeface="Calibri" pitchFamily="34" charset="0"/>
                          <a:ea typeface="Calibri" pitchFamily="34" charset="-122"/>
                          <a:cs typeface="Calibri" pitchFamily="34" charset="-120"/>
                        </a:rPr>
                        <a:t>2022</a:t>
                      </a:r>
                      <a:endParaRPr lang="en-US" sz="95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950" dirty="0">
                          <a:solidFill>
                            <a:srgbClr val="3A4048"/>
                          </a:solidFill>
                          <a:latin typeface="Calibri" pitchFamily="34" charset="0"/>
                          <a:ea typeface="Calibri" pitchFamily="34" charset="-122"/>
                          <a:cs typeface="Calibri" pitchFamily="34" charset="-120"/>
                        </a:rPr>
                        <a:t>20.417</a:t>
                      </a:r>
                      <a:endParaRPr lang="en-US" sz="9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950" dirty="0">
                          <a:solidFill>
                            <a:srgbClr val="3A4048"/>
                          </a:solidFill>
                          <a:latin typeface="Calibri" pitchFamily="34" charset="0"/>
                          <a:ea typeface="Calibri" pitchFamily="34" charset="-122"/>
                          <a:cs typeface="Calibri" pitchFamily="34" charset="-120"/>
                        </a:rPr>
                        <a:t>1,6105</a:t>
                      </a:r>
                      <a:endParaRPr lang="en-US" sz="9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950" dirty="0">
                          <a:solidFill>
                            <a:srgbClr val="3A4048"/>
                          </a:solidFill>
                          <a:latin typeface="Calibri" pitchFamily="34" charset="0"/>
                          <a:ea typeface="Calibri" pitchFamily="34" charset="-122"/>
                          <a:cs typeface="Calibri" pitchFamily="34" charset="-120"/>
                        </a:rPr>
                        <a:t>4,53%</a:t>
                      </a:r>
                      <a:endParaRPr lang="en-US" sz="9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274320">
                <a:tc>
                  <a:txBody>
                    <a:bodyPr/>
                    <a:lstStyle/>
                    <a:p>
                      <a:pPr algn="l" indent="0" marL="0">
                        <a:buNone/>
                      </a:pPr>
                      <a:r>
                        <a:rPr lang="en-US" sz="950" dirty="0">
                          <a:solidFill>
                            <a:srgbClr val="3A4048"/>
                          </a:solidFill>
                          <a:latin typeface="Calibri" pitchFamily="34" charset="0"/>
                          <a:ea typeface="Calibri" pitchFamily="34" charset="-122"/>
                          <a:cs typeface="Calibri" pitchFamily="34" charset="-120"/>
                        </a:rPr>
                        <a:t>2023</a:t>
                      </a:r>
                      <a:endParaRPr lang="en-US" sz="95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950" dirty="0">
                          <a:solidFill>
                            <a:srgbClr val="3A4048"/>
                          </a:solidFill>
                          <a:latin typeface="Calibri" pitchFamily="34" charset="0"/>
                          <a:ea typeface="Calibri" pitchFamily="34" charset="-122"/>
                          <a:cs typeface="Calibri" pitchFamily="34" charset="-120"/>
                        </a:rPr>
                        <a:t>21.849</a:t>
                      </a:r>
                      <a:endParaRPr lang="en-US" sz="9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950" dirty="0">
                          <a:solidFill>
                            <a:srgbClr val="3A4048"/>
                          </a:solidFill>
                          <a:latin typeface="Calibri" pitchFamily="34" charset="0"/>
                          <a:ea typeface="Calibri" pitchFamily="34" charset="-122"/>
                          <a:cs typeface="Calibri" pitchFamily="34" charset="-120"/>
                        </a:rPr>
                        <a:t>1,6153</a:t>
                      </a:r>
                      <a:endParaRPr lang="en-US" sz="9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950" dirty="0">
                          <a:solidFill>
                            <a:srgbClr val="3A4048"/>
                          </a:solidFill>
                          <a:latin typeface="Calibri" pitchFamily="34" charset="0"/>
                          <a:ea typeface="Calibri" pitchFamily="34" charset="-122"/>
                          <a:cs typeface="Calibri" pitchFamily="34" charset="-120"/>
                        </a:rPr>
                        <a:t>4,49%</a:t>
                      </a:r>
                      <a:endParaRPr lang="en-US" sz="9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274320">
                <a:tc>
                  <a:txBody>
                    <a:bodyPr/>
                    <a:lstStyle/>
                    <a:p>
                      <a:pPr algn="l" indent="0" marL="0">
                        <a:buNone/>
                      </a:pPr>
                      <a:r>
                        <a:rPr lang="en-US" sz="950" dirty="0">
                          <a:solidFill>
                            <a:srgbClr val="3A4048"/>
                          </a:solidFill>
                          <a:latin typeface="Calibri" pitchFamily="34" charset="0"/>
                          <a:ea typeface="Calibri" pitchFamily="34" charset="-122"/>
                          <a:cs typeface="Calibri" pitchFamily="34" charset="-120"/>
                        </a:rPr>
                        <a:t>2024</a:t>
                      </a:r>
                      <a:endParaRPr lang="en-US" sz="95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17780" cap="flat" cmpd="sng" algn="ctr">
                      <a:solidFill>
                        <a:srgbClr val="16191D"/>
                      </a:solidFill>
                      <a:prstDash val="solid"/>
                      <a:round/>
                      <a:headEnd type="none" w="med" len="med"/>
                      <a:tailEnd type="none" w="med" len="med"/>
                    </a:lnB>
                  </a:tcPr>
                </a:tc>
                <a:tc>
                  <a:txBody>
                    <a:bodyPr/>
                    <a:lstStyle/>
                    <a:p>
                      <a:pPr algn="r" indent="0" marL="0">
                        <a:buNone/>
                      </a:pPr>
                      <a:r>
                        <a:rPr lang="en-US" sz="950" dirty="0">
                          <a:solidFill>
                            <a:srgbClr val="3A4048"/>
                          </a:solidFill>
                          <a:latin typeface="Calibri" pitchFamily="34" charset="0"/>
                          <a:ea typeface="Calibri" pitchFamily="34" charset="-122"/>
                          <a:cs typeface="Calibri" pitchFamily="34" charset="-120"/>
                        </a:rPr>
                        <a:t>24.230</a:t>
                      </a:r>
                      <a:endParaRPr lang="en-US" sz="9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17780" cap="flat" cmpd="sng" algn="ctr">
                      <a:solidFill>
                        <a:srgbClr val="16191D"/>
                      </a:solidFill>
                      <a:prstDash val="solid"/>
                      <a:round/>
                      <a:headEnd type="none" w="med" len="med"/>
                      <a:tailEnd type="none" w="med" len="med"/>
                    </a:lnB>
                  </a:tcPr>
                </a:tc>
                <a:tc>
                  <a:txBody>
                    <a:bodyPr/>
                    <a:lstStyle/>
                    <a:p>
                      <a:pPr algn="r" indent="0" marL="0">
                        <a:buNone/>
                      </a:pPr>
                      <a:r>
                        <a:rPr lang="en-US" sz="950" dirty="0">
                          <a:solidFill>
                            <a:srgbClr val="3A4048"/>
                          </a:solidFill>
                          <a:latin typeface="Calibri" pitchFamily="34" charset="0"/>
                          <a:ea typeface="Calibri" pitchFamily="34" charset="-122"/>
                          <a:cs typeface="Calibri" pitchFamily="34" charset="-120"/>
                        </a:rPr>
                        <a:t>1,6070</a:t>
                      </a:r>
                      <a:endParaRPr lang="en-US" sz="9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17780" cap="flat" cmpd="sng" algn="ctr">
                      <a:solidFill>
                        <a:srgbClr val="16191D"/>
                      </a:solidFill>
                      <a:prstDash val="solid"/>
                      <a:round/>
                      <a:headEnd type="none" w="med" len="med"/>
                      <a:tailEnd type="none" w="med" len="med"/>
                    </a:lnB>
                  </a:tcPr>
                </a:tc>
                <a:tc>
                  <a:txBody>
                    <a:bodyPr/>
                    <a:lstStyle/>
                    <a:p>
                      <a:pPr algn="r" indent="0" marL="0">
                        <a:buNone/>
                      </a:pPr>
                      <a:r>
                        <a:rPr lang="en-US" sz="950" dirty="0">
                          <a:solidFill>
                            <a:srgbClr val="3A4048"/>
                          </a:solidFill>
                          <a:latin typeface="Calibri" pitchFamily="34" charset="0"/>
                          <a:ea typeface="Calibri" pitchFamily="34" charset="-122"/>
                          <a:cs typeface="Calibri" pitchFamily="34" charset="-120"/>
                        </a:rPr>
                        <a:t>4,35%</a:t>
                      </a:r>
                      <a:endParaRPr lang="en-US" sz="9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17780" cap="flat" cmpd="sng" algn="ctr">
                      <a:solidFill>
                        <a:srgbClr val="16191D"/>
                      </a:solidFill>
                      <a:prstDash val="solid"/>
                      <a:round/>
                      <a:headEnd type="none" w="med" len="med"/>
                      <a:tailEnd type="none" w="med" len="med"/>
                    </a:lnB>
                  </a:tcPr>
                </a:tc>
              </a:tr>
            </a:tbl>
          </a:graphicData>
        </a:graphic>
      </p:graphicFrame>
      <p:sp>
        <p:nvSpPr>
          <p:cNvPr id="66" name="Text 63"/>
          <p:cNvSpPr/>
          <p:nvPr/>
        </p:nvSpPr>
        <p:spPr>
          <a:xfrm>
            <a:off x="8268005" y="3813048"/>
            <a:ext cx="3082442" cy="420624"/>
          </a:xfrm>
          <a:prstGeom prst="rect">
            <a:avLst/>
          </a:prstGeom>
          <a:noFill/>
          <a:ln/>
        </p:spPr>
        <p:txBody>
          <a:bodyPr wrap="square" lIns="0" tIns="0" rIns="0" bIns="0" rtlCol="0" anchor="b"/>
          <a:lstStyle/>
          <a:p>
            <a:pPr algn="l" indent="0" marL="0">
              <a:buNone/>
            </a:pPr>
            <a:r>
              <a:rPr lang="en-US" sz="2200" b="1" dirty="0">
                <a:solidFill>
                  <a:srgbClr val="2F6B5F"/>
                </a:solidFill>
                <a:latin typeface="Cambria" pitchFamily="34" charset="0"/>
                <a:ea typeface="Cambria" pitchFamily="34" charset="-122"/>
                <a:cs typeface="Cambria" pitchFamily="34" charset="-120"/>
              </a:rPr>
              <a:t>0,0239</a:t>
            </a:r>
            <a:endParaRPr lang="en-US" sz="2200" dirty="0"/>
          </a:p>
        </p:txBody>
      </p:sp>
      <p:sp>
        <p:nvSpPr>
          <p:cNvPr id="67" name="Text 64"/>
          <p:cNvSpPr/>
          <p:nvPr/>
        </p:nvSpPr>
        <p:spPr>
          <a:xfrm>
            <a:off x="8268005" y="4270248"/>
            <a:ext cx="3082442" cy="603504"/>
          </a:xfrm>
          <a:prstGeom prst="rect">
            <a:avLst/>
          </a:prstGeom>
          <a:noFill/>
          <a:ln/>
        </p:spPr>
        <p:txBody>
          <a:bodyPr wrap="square" lIns="0" tIns="0" rIns="0" bIns="0" rtlCol="0" anchor="t"/>
          <a:lstStyle/>
          <a:p>
            <a:pPr algn="l" indent="0" marL="0">
              <a:lnSpc>
                <a:spcPts val="1300"/>
              </a:lnSpc>
              <a:buNone/>
            </a:pPr>
            <a:r>
              <a:rPr lang="en-US" sz="950" dirty="0">
                <a:solidFill>
                  <a:srgbClr val="6E747C"/>
                </a:solidFill>
                <a:latin typeface="Calibri" pitchFamily="34" charset="0"/>
                <a:ea typeface="Calibri" pitchFamily="34" charset="-122"/>
                <a:cs typeface="Calibri" pitchFamily="34" charset="-120"/>
              </a:rPr>
              <a:t>total pergerakan rata-rata target selama empat tahun; proporsi tahun di latih dan uji nyaris identik</a:t>
            </a:r>
            <a:endParaRPr lang="en-US" sz="950" dirty="0"/>
          </a:p>
        </p:txBody>
      </p:sp>
      <p:sp>
        <p:nvSpPr>
          <p:cNvPr id="68" name="Text 65"/>
          <p:cNvSpPr/>
          <p:nvPr/>
        </p:nvSpPr>
        <p:spPr>
          <a:xfrm>
            <a:off x="8268005" y="5559552"/>
            <a:ext cx="3082442" cy="548640"/>
          </a:xfrm>
          <a:prstGeom prst="rect">
            <a:avLst/>
          </a:prstGeom>
          <a:noFill/>
          <a:ln/>
        </p:spPr>
        <p:txBody>
          <a:bodyPr wrap="square" lIns="0" tIns="0" rIns="0" bIns="0" rtlCol="0" anchor="t"/>
          <a:lstStyle/>
          <a:p>
            <a:pPr indent="0" marL="0">
              <a:lnSpc>
                <a:spcPts val="1300"/>
              </a:lnSpc>
              <a:buNone/>
            </a:pPr>
            <a:r>
              <a:rPr lang="en-US" sz="1000" b="1" dirty="0">
                <a:solidFill>
                  <a:srgbClr val="A8442A"/>
                </a:solidFill>
                <a:latin typeface="Calibri" pitchFamily="34" charset="0"/>
                <a:ea typeface="Calibri" pitchFamily="34" charset="-122"/>
                <a:cs typeface="Calibri" pitchFamily="34" charset="-120"/>
              </a:rPr>
              <a:t>Implikasi: </a:t>
            </a:r>
            <a:pPr indent="0" marL="0">
              <a:lnSpc>
                <a:spcPts val="1300"/>
              </a:lnSpc>
              <a:buNone/>
            </a:pPr>
            <a:r>
              <a:rPr lang="en-US" sz="1000" dirty="0">
                <a:solidFill>
                  <a:srgbClr val="3A4048"/>
                </a:solidFill>
                <a:latin typeface="Calibri" pitchFamily="34" charset="0"/>
                <a:ea typeface="Calibri" pitchFamily="34" charset="-122"/>
                <a:cs typeface="Calibri" pitchFamily="34" charset="-120"/>
              </a:rPr>
              <a:t>satu model untuk seluruh periode. Indikator tahun dan model per tahun diuji lalu ditolak.</a:t>
            </a:r>
            <a:endParaRPr lang="en-US" sz="1000" dirty="0"/>
          </a:p>
        </p:txBody>
      </p:sp>
      <p:sp>
        <p:nvSpPr>
          <p:cNvPr id="70" name="Shape 66"/>
          <p:cNvSpPr/>
          <p:nvPr/>
        </p:nvSpPr>
        <p:spPr>
          <a:xfrm>
            <a:off x="640080" y="6400800"/>
            <a:ext cx="1572768" cy="45720"/>
          </a:xfrm>
          <a:prstGeom prst="rect">
            <a:avLst/>
          </a:prstGeom>
          <a:solidFill>
            <a:srgbClr val="DCD8D1"/>
          </a:solidFill>
          <a:ln/>
        </p:spPr>
      </p:sp>
      <p:sp>
        <p:nvSpPr>
          <p:cNvPr id="71" name="Text 67"/>
          <p:cNvSpPr/>
          <p:nvPr/>
        </p:nvSpPr>
        <p:spPr>
          <a:xfrm>
            <a:off x="640080"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I · Latar &amp; data</a:t>
            </a:r>
            <a:endParaRPr lang="en-US" sz="850" dirty="0"/>
          </a:p>
        </p:txBody>
      </p:sp>
      <p:sp>
        <p:nvSpPr>
          <p:cNvPr id="72" name="Shape 68"/>
          <p:cNvSpPr/>
          <p:nvPr/>
        </p:nvSpPr>
        <p:spPr>
          <a:xfrm>
            <a:off x="2304288" y="6400800"/>
            <a:ext cx="1572768" cy="45720"/>
          </a:xfrm>
          <a:prstGeom prst="rect">
            <a:avLst/>
          </a:prstGeom>
          <a:solidFill>
            <a:srgbClr val="A8442A"/>
          </a:solidFill>
          <a:ln/>
        </p:spPr>
      </p:sp>
      <p:sp>
        <p:nvSpPr>
          <p:cNvPr id="73" name="Text 69"/>
          <p:cNvSpPr/>
          <p:nvPr/>
        </p:nvSpPr>
        <p:spPr>
          <a:xfrm>
            <a:off x="2304288" y="6464808"/>
            <a:ext cx="1572768" cy="201168"/>
          </a:xfrm>
          <a:prstGeom prst="rect">
            <a:avLst/>
          </a:prstGeom>
          <a:noFill/>
          <a:ln/>
        </p:spPr>
        <p:txBody>
          <a:bodyPr wrap="square" lIns="0" tIns="0" rIns="0" bIns="0" rtlCol="0" anchor="ctr"/>
          <a:lstStyle/>
          <a:p>
            <a:pPr indent="0" marL="0">
              <a:buNone/>
            </a:pPr>
            <a:r>
              <a:rPr lang="en-US" sz="850" b="1" dirty="0">
                <a:solidFill>
                  <a:srgbClr val="16191D"/>
                </a:solidFill>
                <a:latin typeface="Calibri" pitchFamily="34" charset="0"/>
                <a:ea typeface="Calibri" pitchFamily="34" charset="-122"/>
                <a:cs typeface="Calibri" pitchFamily="34" charset="-120"/>
              </a:rPr>
              <a:t>II · EDA</a:t>
            </a:r>
            <a:endParaRPr lang="en-US" sz="850" dirty="0"/>
          </a:p>
        </p:txBody>
      </p:sp>
      <p:sp>
        <p:nvSpPr>
          <p:cNvPr id="74" name="Shape 70"/>
          <p:cNvSpPr/>
          <p:nvPr/>
        </p:nvSpPr>
        <p:spPr>
          <a:xfrm>
            <a:off x="3968496" y="6400800"/>
            <a:ext cx="1572768" cy="45720"/>
          </a:xfrm>
          <a:prstGeom prst="rect">
            <a:avLst/>
          </a:prstGeom>
          <a:solidFill>
            <a:srgbClr val="DCD8D1"/>
          </a:solidFill>
          <a:ln/>
        </p:spPr>
      </p:sp>
      <p:sp>
        <p:nvSpPr>
          <p:cNvPr id="75" name="Text 71"/>
          <p:cNvSpPr/>
          <p:nvPr/>
        </p:nvSpPr>
        <p:spPr>
          <a:xfrm>
            <a:off x="3968496"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III · Pipeline</a:t>
            </a:r>
            <a:endParaRPr lang="en-US" sz="850" dirty="0"/>
          </a:p>
        </p:txBody>
      </p:sp>
      <p:sp>
        <p:nvSpPr>
          <p:cNvPr id="76" name="Shape 72"/>
          <p:cNvSpPr/>
          <p:nvPr/>
        </p:nvSpPr>
        <p:spPr>
          <a:xfrm>
            <a:off x="5632704" y="6400800"/>
            <a:ext cx="1572768" cy="45720"/>
          </a:xfrm>
          <a:prstGeom prst="rect">
            <a:avLst/>
          </a:prstGeom>
          <a:solidFill>
            <a:srgbClr val="DCD8D1"/>
          </a:solidFill>
          <a:ln/>
        </p:spPr>
      </p:sp>
      <p:sp>
        <p:nvSpPr>
          <p:cNvPr id="77" name="Text 73"/>
          <p:cNvSpPr/>
          <p:nvPr/>
        </p:nvSpPr>
        <p:spPr>
          <a:xfrm>
            <a:off x="5632704"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IV · Disiplin estimasi</a:t>
            </a:r>
            <a:endParaRPr lang="en-US" sz="850" dirty="0"/>
          </a:p>
        </p:txBody>
      </p:sp>
      <p:sp>
        <p:nvSpPr>
          <p:cNvPr id="78" name="Shape 74"/>
          <p:cNvSpPr/>
          <p:nvPr/>
        </p:nvSpPr>
        <p:spPr>
          <a:xfrm>
            <a:off x="7296912" y="6400800"/>
            <a:ext cx="1572768" cy="45720"/>
          </a:xfrm>
          <a:prstGeom prst="rect">
            <a:avLst/>
          </a:prstGeom>
          <a:solidFill>
            <a:srgbClr val="DCD8D1"/>
          </a:solidFill>
          <a:ln/>
        </p:spPr>
      </p:sp>
      <p:sp>
        <p:nvSpPr>
          <p:cNvPr id="79" name="Text 75"/>
          <p:cNvSpPr/>
          <p:nvPr/>
        </p:nvSpPr>
        <p:spPr>
          <a:xfrm>
            <a:off x="7296912"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V · Hasil &amp; plafon</a:t>
            </a:r>
            <a:endParaRPr lang="en-US" sz="850" dirty="0"/>
          </a:p>
        </p:txBody>
      </p:sp>
      <p:sp>
        <p:nvSpPr>
          <p:cNvPr id="80" name="Shape 76"/>
          <p:cNvSpPr/>
          <p:nvPr/>
        </p:nvSpPr>
        <p:spPr>
          <a:xfrm>
            <a:off x="8961120" y="6400800"/>
            <a:ext cx="1572768" cy="45720"/>
          </a:xfrm>
          <a:prstGeom prst="rect">
            <a:avLst/>
          </a:prstGeom>
          <a:solidFill>
            <a:srgbClr val="DCD8D1"/>
          </a:solidFill>
          <a:ln/>
        </p:spPr>
      </p:sp>
      <p:sp>
        <p:nvSpPr>
          <p:cNvPr id="81" name="Text 77"/>
          <p:cNvSpPr/>
          <p:nvPr/>
        </p:nvSpPr>
        <p:spPr>
          <a:xfrm>
            <a:off x="8961120"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VI · Reproduksi &amp; produk</a:t>
            </a:r>
            <a:endParaRPr lang="en-US" sz="850" dirty="0"/>
          </a:p>
        </p:txBody>
      </p:sp>
      <p:sp>
        <p:nvSpPr>
          <p:cNvPr id="82" name="Text 78"/>
          <p:cNvSpPr/>
          <p:nvPr/>
        </p:nvSpPr>
        <p:spPr>
          <a:xfrm>
            <a:off x="10637215" y="6382512"/>
            <a:ext cx="914400" cy="274320"/>
          </a:xfrm>
          <a:prstGeom prst="rect">
            <a:avLst/>
          </a:prstGeom>
          <a:noFill/>
          <a:ln/>
        </p:spPr>
        <p:txBody>
          <a:bodyPr wrap="square" lIns="0" tIns="0" rIns="0" bIns="0" rtlCol="0" anchor="ctr"/>
          <a:lstStyle/>
          <a:p>
            <a:pPr algn="r" indent="0" marL="0">
              <a:buNone/>
            </a:pPr>
            <a:r>
              <a:rPr lang="en-US" sz="900" b="1" dirty="0">
                <a:solidFill>
                  <a:srgbClr val="9AA0A7"/>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84048"/>
            <a:ext cx="10911535" cy="530352"/>
          </a:xfrm>
          <a:prstGeom prst="rect">
            <a:avLst/>
          </a:prstGeom>
          <a:noFill/>
          <a:ln/>
        </p:spPr>
        <p:txBody>
          <a:bodyPr wrap="square" lIns="0" tIns="0" rIns="0" bIns="0" rtlCol="0" anchor="t"/>
          <a:lstStyle/>
          <a:p>
            <a:pPr indent="0" marL="0">
              <a:buNone/>
            </a:pPr>
            <a:r>
              <a:rPr lang="en-US" sz="2400" b="1" dirty="0">
                <a:solidFill>
                  <a:srgbClr val="16191D"/>
                </a:solidFill>
                <a:latin typeface="Cambria" pitchFamily="34" charset="0"/>
                <a:ea typeface="Cambria" pitchFamily="34" charset="-122"/>
                <a:cs typeface="Cambria" pitchFamily="34" charset="-120"/>
              </a:rPr>
              <a:t>EDA 3 · Penentu terbesar tak terekam, dua kebocoran ditolak.</a:t>
            </a:r>
            <a:endParaRPr lang="en-US" sz="2400" dirty="0"/>
          </a:p>
        </p:txBody>
      </p:sp>
      <p:sp>
        <p:nvSpPr>
          <p:cNvPr id="3" name="Text 1"/>
          <p:cNvSpPr/>
          <p:nvPr/>
        </p:nvSpPr>
        <p:spPr>
          <a:xfrm>
            <a:off x="640080" y="896112"/>
            <a:ext cx="10911535" cy="310896"/>
          </a:xfrm>
          <a:prstGeom prst="rect">
            <a:avLst/>
          </a:prstGeom>
          <a:noFill/>
          <a:ln/>
        </p:spPr>
        <p:txBody>
          <a:bodyPr wrap="square" lIns="0" tIns="0" rIns="0" bIns="0" rtlCol="0" anchor="t"/>
          <a:lstStyle/>
          <a:p>
            <a:pPr indent="0" marL="0">
              <a:buNone/>
            </a:pPr>
            <a:r>
              <a:rPr lang="en-US" sz="1250" dirty="0">
                <a:solidFill>
                  <a:srgbClr val="6E747C"/>
                </a:solidFill>
                <a:latin typeface="Calibri" pitchFamily="34" charset="0"/>
                <a:ea typeface="Calibri" pitchFamily="34" charset="-122"/>
                <a:cs typeface="Calibri" pitchFamily="34" charset="-120"/>
              </a:rPr>
              <a:t>Peta kekuatan sinyal per domain, lalu dua jebakan yang diukur sebelum dibuang.</a:t>
            </a:r>
            <a:endParaRPr lang="en-US" sz="1250" dirty="0"/>
          </a:p>
        </p:txBody>
      </p:sp>
      <p:sp>
        <p:nvSpPr>
          <p:cNvPr id="4" name="Shape 2"/>
          <p:cNvSpPr/>
          <p:nvPr/>
        </p:nvSpPr>
        <p:spPr>
          <a:xfrm>
            <a:off x="640080" y="1371600"/>
            <a:ext cx="5806440" cy="4846320"/>
          </a:xfrm>
          <a:prstGeom prst="roundRect">
            <a:avLst>
              <a:gd name="adj" fmla="val 1132"/>
            </a:avLst>
          </a:prstGeom>
          <a:solidFill>
            <a:srgbClr val="F4F1EC"/>
          </a:solidFill>
          <a:ln w="9525">
            <a:solidFill>
              <a:srgbClr val="DCD8D1"/>
            </a:solidFill>
            <a:prstDash val="solid"/>
          </a:ln>
        </p:spPr>
      </p:sp>
      <p:sp>
        <p:nvSpPr>
          <p:cNvPr id="5" name="Text 3"/>
          <p:cNvSpPr/>
          <p:nvPr/>
        </p:nvSpPr>
        <p:spPr>
          <a:xfrm>
            <a:off x="841248" y="1499616"/>
            <a:ext cx="5404104" cy="201168"/>
          </a:xfrm>
          <a:prstGeom prst="rect">
            <a:avLst/>
          </a:prstGeom>
          <a:noFill/>
          <a:ln/>
        </p:spPr>
        <p:txBody>
          <a:bodyPr wrap="square" lIns="0" tIns="0" rIns="0" bIns="0" rtlCol="0" anchor="ctr"/>
          <a:lstStyle/>
          <a:p>
            <a:pPr indent="0" marL="0">
              <a:buNone/>
            </a:pPr>
            <a:r>
              <a:rPr lang="en-US" sz="850" b="1" spc="120" kern="0" dirty="0">
                <a:solidFill>
                  <a:srgbClr val="6E747C"/>
                </a:solidFill>
                <a:latin typeface="Calibri" pitchFamily="34" charset="0"/>
                <a:ea typeface="Calibri" pitchFamily="34" charset="-122"/>
                <a:cs typeface="Calibri" pitchFamily="34" charset="-120"/>
              </a:rPr>
              <a:t>3.9 · PETA SINYAL PER DOMAIN</a:t>
            </a:r>
            <a:endParaRPr lang="en-US" sz="850" dirty="0"/>
          </a:p>
        </p:txBody>
      </p:sp>
      <p:sp>
        <p:nvSpPr>
          <p:cNvPr id="6" name="Text 4"/>
          <p:cNvSpPr/>
          <p:nvPr/>
        </p:nvSpPr>
        <p:spPr>
          <a:xfrm>
            <a:off x="841248" y="1700784"/>
            <a:ext cx="5404104" cy="475488"/>
          </a:xfrm>
          <a:prstGeom prst="rect">
            <a:avLst/>
          </a:prstGeom>
          <a:noFill/>
          <a:ln/>
        </p:spPr>
        <p:txBody>
          <a:bodyPr wrap="square" lIns="0" tIns="0" rIns="0" bIns="0" rtlCol="0" anchor="t"/>
          <a:lstStyle/>
          <a:p>
            <a:pPr indent="0" marL="0">
              <a:lnSpc>
                <a:spcPts val="1600"/>
              </a:lnSpc>
              <a:buNone/>
            </a:pPr>
            <a:r>
              <a:rPr lang="en-US" sz="1300" b="1" dirty="0">
                <a:solidFill>
                  <a:srgbClr val="16191D"/>
                </a:solidFill>
                <a:latin typeface="Cambria" pitchFamily="34" charset="0"/>
                <a:ea typeface="Cambria" pitchFamily="34" charset="-122"/>
                <a:cs typeface="Cambria" pitchFamily="34" charset="-120"/>
              </a:rPr>
              <a:t>Korelasi Spearman maksimum terhadap target</a:t>
            </a:r>
            <a:endParaRPr lang="en-US" sz="1300" dirty="0"/>
          </a:p>
        </p:txBody>
      </p:sp>
      <p:sp>
        <p:nvSpPr>
          <p:cNvPr id="7" name="Text 5"/>
          <p:cNvSpPr/>
          <p:nvPr/>
        </p:nvSpPr>
        <p:spPr>
          <a:xfrm>
            <a:off x="731520" y="2212848"/>
            <a:ext cx="1463040" cy="310896"/>
          </a:xfrm>
          <a:prstGeom prst="rect">
            <a:avLst/>
          </a:prstGeom>
          <a:noFill/>
          <a:ln/>
        </p:spPr>
        <p:txBody>
          <a:bodyPr wrap="square" lIns="0" tIns="0" rIns="0" bIns="0" rtlCol="0" anchor="ctr"/>
          <a:lstStyle/>
          <a:p>
            <a:pPr algn="r" indent="0" marL="0">
              <a:buNone/>
            </a:pPr>
            <a:r>
              <a:rPr lang="en-US" sz="900" dirty="0">
                <a:solidFill>
                  <a:srgbClr val="3A4048"/>
                </a:solidFill>
                <a:latin typeface="Calibri" pitchFamily="34" charset="0"/>
                <a:ea typeface="Calibri" pitchFamily="34" charset="-122"/>
                <a:cs typeface="Calibri" pitchFamily="34" charset="-120"/>
              </a:rPr>
              <a:t>Kesehatan fisik (10)</a:t>
            </a:r>
            <a:endParaRPr lang="en-US" sz="900" dirty="0"/>
          </a:p>
        </p:txBody>
      </p:sp>
      <p:sp>
        <p:nvSpPr>
          <p:cNvPr id="8" name="Shape 6"/>
          <p:cNvSpPr/>
          <p:nvPr/>
        </p:nvSpPr>
        <p:spPr>
          <a:xfrm>
            <a:off x="2304288" y="2276856"/>
            <a:ext cx="1197864" cy="182880"/>
          </a:xfrm>
          <a:prstGeom prst="rect">
            <a:avLst/>
          </a:prstGeom>
          <a:solidFill>
            <a:srgbClr val="F4F1EC"/>
          </a:solidFill>
          <a:ln/>
        </p:spPr>
      </p:sp>
      <p:sp>
        <p:nvSpPr>
          <p:cNvPr id="9" name="Shape 7"/>
          <p:cNvSpPr/>
          <p:nvPr/>
        </p:nvSpPr>
        <p:spPr>
          <a:xfrm>
            <a:off x="2304288" y="2276856"/>
            <a:ext cx="1082270" cy="182880"/>
          </a:xfrm>
          <a:prstGeom prst="rect">
            <a:avLst/>
          </a:prstGeom>
          <a:solidFill>
            <a:srgbClr val="2F6B5F"/>
          </a:solidFill>
          <a:ln/>
        </p:spPr>
      </p:sp>
      <p:sp>
        <p:nvSpPr>
          <p:cNvPr id="10" name="Text 8"/>
          <p:cNvSpPr/>
          <p:nvPr/>
        </p:nvSpPr>
        <p:spPr>
          <a:xfrm>
            <a:off x="3593592" y="2212848"/>
            <a:ext cx="548640" cy="310896"/>
          </a:xfrm>
          <a:prstGeom prst="rect">
            <a:avLst/>
          </a:prstGeom>
          <a:noFill/>
          <a:ln/>
        </p:spPr>
        <p:txBody>
          <a:bodyPr wrap="square" lIns="0" tIns="0" rIns="0" bIns="0" rtlCol="0" anchor="ctr"/>
          <a:lstStyle/>
          <a:p>
            <a:pPr algn="l" indent="0" marL="0">
              <a:buNone/>
            </a:pPr>
            <a:r>
              <a:rPr lang="en-US" sz="900" dirty="0">
                <a:solidFill>
                  <a:srgbClr val="3A4048"/>
                </a:solidFill>
                <a:latin typeface="Calibri" pitchFamily="34" charset="0"/>
                <a:ea typeface="Calibri" pitchFamily="34" charset="-122"/>
                <a:cs typeface="Calibri" pitchFamily="34" charset="-120"/>
              </a:rPr>
              <a:t>0,3614</a:t>
            </a:r>
            <a:endParaRPr lang="en-US" sz="900" dirty="0"/>
          </a:p>
        </p:txBody>
      </p:sp>
      <p:sp>
        <p:nvSpPr>
          <p:cNvPr id="11" name="Text 9"/>
          <p:cNvSpPr/>
          <p:nvPr/>
        </p:nvSpPr>
        <p:spPr>
          <a:xfrm>
            <a:off x="731520" y="2578608"/>
            <a:ext cx="1463040" cy="310896"/>
          </a:xfrm>
          <a:prstGeom prst="rect">
            <a:avLst/>
          </a:prstGeom>
          <a:noFill/>
          <a:ln/>
        </p:spPr>
        <p:txBody>
          <a:bodyPr wrap="square" lIns="0" tIns="0" rIns="0" bIns="0" rtlCol="0" anchor="ctr"/>
          <a:lstStyle/>
          <a:p>
            <a:pPr algn="r" indent="0" marL="0">
              <a:buNone/>
            </a:pPr>
            <a:r>
              <a:rPr lang="en-US" sz="900" dirty="0">
                <a:solidFill>
                  <a:srgbClr val="3A4048"/>
                </a:solidFill>
                <a:latin typeface="Calibri" pitchFamily="34" charset="0"/>
                <a:ea typeface="Calibri" pitchFamily="34" charset="-122"/>
                <a:cs typeface="Calibri" pitchFamily="34" charset="-120"/>
              </a:rPr>
              <a:t>Kesehatan mental (9)</a:t>
            </a:r>
            <a:endParaRPr lang="en-US" sz="900" dirty="0"/>
          </a:p>
        </p:txBody>
      </p:sp>
      <p:sp>
        <p:nvSpPr>
          <p:cNvPr id="12" name="Shape 10"/>
          <p:cNvSpPr/>
          <p:nvPr/>
        </p:nvSpPr>
        <p:spPr>
          <a:xfrm>
            <a:off x="2304288" y="2642616"/>
            <a:ext cx="1197864" cy="182880"/>
          </a:xfrm>
          <a:prstGeom prst="rect">
            <a:avLst/>
          </a:prstGeom>
          <a:solidFill>
            <a:srgbClr val="F4F1EC"/>
          </a:solidFill>
          <a:ln/>
        </p:spPr>
      </p:sp>
      <p:sp>
        <p:nvSpPr>
          <p:cNvPr id="13" name="Shape 11"/>
          <p:cNvSpPr/>
          <p:nvPr/>
        </p:nvSpPr>
        <p:spPr>
          <a:xfrm>
            <a:off x="2304288" y="2642616"/>
            <a:ext cx="965778" cy="182880"/>
          </a:xfrm>
          <a:prstGeom prst="rect">
            <a:avLst/>
          </a:prstGeom>
          <a:solidFill>
            <a:srgbClr val="2F6B5F"/>
          </a:solidFill>
          <a:ln/>
        </p:spPr>
      </p:sp>
      <p:sp>
        <p:nvSpPr>
          <p:cNvPr id="14" name="Text 12"/>
          <p:cNvSpPr/>
          <p:nvPr/>
        </p:nvSpPr>
        <p:spPr>
          <a:xfrm>
            <a:off x="3593592" y="2578608"/>
            <a:ext cx="548640" cy="310896"/>
          </a:xfrm>
          <a:prstGeom prst="rect">
            <a:avLst/>
          </a:prstGeom>
          <a:noFill/>
          <a:ln/>
        </p:spPr>
        <p:txBody>
          <a:bodyPr wrap="square" lIns="0" tIns="0" rIns="0" bIns="0" rtlCol="0" anchor="ctr"/>
          <a:lstStyle/>
          <a:p>
            <a:pPr algn="l" indent="0" marL="0">
              <a:buNone/>
            </a:pPr>
            <a:r>
              <a:rPr lang="en-US" sz="900" dirty="0">
                <a:solidFill>
                  <a:srgbClr val="3A4048"/>
                </a:solidFill>
                <a:latin typeface="Calibri" pitchFamily="34" charset="0"/>
                <a:ea typeface="Calibri" pitchFamily="34" charset="-122"/>
                <a:cs typeface="Calibri" pitchFamily="34" charset="-120"/>
              </a:rPr>
              <a:t>0,3225</a:t>
            </a:r>
            <a:endParaRPr lang="en-US" sz="900" dirty="0"/>
          </a:p>
        </p:txBody>
      </p:sp>
      <p:sp>
        <p:nvSpPr>
          <p:cNvPr id="15" name="Text 13"/>
          <p:cNvSpPr/>
          <p:nvPr/>
        </p:nvSpPr>
        <p:spPr>
          <a:xfrm>
            <a:off x="731520" y="2944368"/>
            <a:ext cx="1463040" cy="310896"/>
          </a:xfrm>
          <a:prstGeom prst="rect">
            <a:avLst/>
          </a:prstGeom>
          <a:noFill/>
          <a:ln/>
        </p:spPr>
        <p:txBody>
          <a:bodyPr wrap="square" lIns="0" tIns="0" rIns="0" bIns="0" rtlCol="0" anchor="ctr"/>
          <a:lstStyle/>
          <a:p>
            <a:pPr algn="r" indent="0" marL="0">
              <a:buNone/>
            </a:pPr>
            <a:r>
              <a:rPr lang="en-US" sz="900" dirty="0">
                <a:solidFill>
                  <a:srgbClr val="3A4048"/>
                </a:solidFill>
                <a:latin typeface="Calibri" pitchFamily="34" charset="0"/>
                <a:ea typeface="Calibri" pitchFamily="34" charset="-122"/>
                <a:cs typeface="Calibri" pitchFamily="34" charset="-120"/>
              </a:rPr>
              <a:t>Disabilitas (16)</a:t>
            </a:r>
            <a:endParaRPr lang="en-US" sz="900" dirty="0"/>
          </a:p>
        </p:txBody>
      </p:sp>
      <p:sp>
        <p:nvSpPr>
          <p:cNvPr id="16" name="Shape 14"/>
          <p:cNvSpPr/>
          <p:nvPr/>
        </p:nvSpPr>
        <p:spPr>
          <a:xfrm>
            <a:off x="2304288" y="3008376"/>
            <a:ext cx="1197864" cy="182880"/>
          </a:xfrm>
          <a:prstGeom prst="rect">
            <a:avLst/>
          </a:prstGeom>
          <a:solidFill>
            <a:srgbClr val="F4F1EC"/>
          </a:solidFill>
          <a:ln/>
        </p:spPr>
      </p:sp>
      <p:sp>
        <p:nvSpPr>
          <p:cNvPr id="17" name="Shape 15"/>
          <p:cNvSpPr/>
          <p:nvPr/>
        </p:nvSpPr>
        <p:spPr>
          <a:xfrm>
            <a:off x="2304288" y="3008376"/>
            <a:ext cx="686077" cy="182880"/>
          </a:xfrm>
          <a:prstGeom prst="rect">
            <a:avLst/>
          </a:prstGeom>
          <a:solidFill>
            <a:srgbClr val="8FB0A4"/>
          </a:solidFill>
          <a:ln/>
        </p:spPr>
      </p:sp>
      <p:sp>
        <p:nvSpPr>
          <p:cNvPr id="18" name="Text 16"/>
          <p:cNvSpPr/>
          <p:nvPr/>
        </p:nvSpPr>
        <p:spPr>
          <a:xfrm>
            <a:off x="3593592" y="2944368"/>
            <a:ext cx="548640" cy="310896"/>
          </a:xfrm>
          <a:prstGeom prst="rect">
            <a:avLst/>
          </a:prstGeom>
          <a:noFill/>
          <a:ln/>
        </p:spPr>
        <p:txBody>
          <a:bodyPr wrap="square" lIns="0" tIns="0" rIns="0" bIns="0" rtlCol="0" anchor="ctr"/>
          <a:lstStyle/>
          <a:p>
            <a:pPr algn="l" indent="0" marL="0">
              <a:buNone/>
            </a:pPr>
            <a:r>
              <a:rPr lang="en-US" sz="900" dirty="0">
                <a:solidFill>
                  <a:srgbClr val="3A4048"/>
                </a:solidFill>
                <a:latin typeface="Calibri" pitchFamily="34" charset="0"/>
                <a:ea typeface="Calibri" pitchFamily="34" charset="-122"/>
                <a:cs typeface="Calibri" pitchFamily="34" charset="-120"/>
              </a:rPr>
              <a:t>0,2291</a:t>
            </a:r>
            <a:endParaRPr lang="en-US" sz="900" dirty="0"/>
          </a:p>
        </p:txBody>
      </p:sp>
      <p:sp>
        <p:nvSpPr>
          <p:cNvPr id="19" name="Text 17"/>
          <p:cNvSpPr/>
          <p:nvPr/>
        </p:nvSpPr>
        <p:spPr>
          <a:xfrm>
            <a:off x="731520" y="3310128"/>
            <a:ext cx="1463040" cy="310896"/>
          </a:xfrm>
          <a:prstGeom prst="rect">
            <a:avLst/>
          </a:prstGeom>
          <a:noFill/>
          <a:ln/>
        </p:spPr>
        <p:txBody>
          <a:bodyPr wrap="square" lIns="0" tIns="0" rIns="0" bIns="0" rtlCol="0" anchor="ctr"/>
          <a:lstStyle/>
          <a:p>
            <a:pPr algn="r" indent="0" marL="0">
              <a:buNone/>
            </a:pPr>
            <a:r>
              <a:rPr lang="en-US" sz="900" dirty="0">
                <a:solidFill>
                  <a:srgbClr val="3A4048"/>
                </a:solidFill>
                <a:latin typeface="Calibri" pitchFamily="34" charset="0"/>
                <a:ea typeface="Calibri" pitchFamily="34" charset="-122"/>
                <a:cs typeface="Calibri" pitchFamily="34" charset="-120"/>
              </a:rPr>
              <a:t>Ekonomi dan pangan (7)</a:t>
            </a:r>
            <a:endParaRPr lang="en-US" sz="900" dirty="0"/>
          </a:p>
        </p:txBody>
      </p:sp>
      <p:sp>
        <p:nvSpPr>
          <p:cNvPr id="20" name="Shape 18"/>
          <p:cNvSpPr/>
          <p:nvPr/>
        </p:nvSpPr>
        <p:spPr>
          <a:xfrm>
            <a:off x="2304288" y="3374136"/>
            <a:ext cx="1197864" cy="182880"/>
          </a:xfrm>
          <a:prstGeom prst="rect">
            <a:avLst/>
          </a:prstGeom>
          <a:solidFill>
            <a:srgbClr val="F4F1EC"/>
          </a:solidFill>
          <a:ln/>
        </p:spPr>
      </p:sp>
      <p:sp>
        <p:nvSpPr>
          <p:cNvPr id="21" name="Shape 19"/>
          <p:cNvSpPr/>
          <p:nvPr/>
        </p:nvSpPr>
        <p:spPr>
          <a:xfrm>
            <a:off x="2304288" y="3374136"/>
            <a:ext cx="654633" cy="182880"/>
          </a:xfrm>
          <a:prstGeom prst="rect">
            <a:avLst/>
          </a:prstGeom>
          <a:solidFill>
            <a:srgbClr val="8FB0A4"/>
          </a:solidFill>
          <a:ln/>
        </p:spPr>
      </p:sp>
      <p:sp>
        <p:nvSpPr>
          <p:cNvPr id="22" name="Text 20"/>
          <p:cNvSpPr/>
          <p:nvPr/>
        </p:nvSpPr>
        <p:spPr>
          <a:xfrm>
            <a:off x="3593592" y="3310128"/>
            <a:ext cx="548640" cy="310896"/>
          </a:xfrm>
          <a:prstGeom prst="rect">
            <a:avLst/>
          </a:prstGeom>
          <a:noFill/>
          <a:ln/>
        </p:spPr>
        <p:txBody>
          <a:bodyPr wrap="square" lIns="0" tIns="0" rIns="0" bIns="0" rtlCol="0" anchor="ctr"/>
          <a:lstStyle/>
          <a:p>
            <a:pPr algn="l" indent="0" marL="0">
              <a:buNone/>
            </a:pPr>
            <a:r>
              <a:rPr lang="en-US" sz="900" dirty="0">
                <a:solidFill>
                  <a:srgbClr val="3A4048"/>
                </a:solidFill>
                <a:latin typeface="Calibri" pitchFamily="34" charset="0"/>
                <a:ea typeface="Calibri" pitchFamily="34" charset="-122"/>
                <a:cs typeface="Calibri" pitchFamily="34" charset="-120"/>
              </a:rPr>
              <a:t>0,2186</a:t>
            </a:r>
            <a:endParaRPr lang="en-US" sz="900" dirty="0"/>
          </a:p>
        </p:txBody>
      </p:sp>
      <p:sp>
        <p:nvSpPr>
          <p:cNvPr id="23" name="Text 21"/>
          <p:cNvSpPr/>
          <p:nvPr/>
        </p:nvSpPr>
        <p:spPr>
          <a:xfrm>
            <a:off x="731520" y="3675888"/>
            <a:ext cx="1463040" cy="310896"/>
          </a:xfrm>
          <a:prstGeom prst="rect">
            <a:avLst/>
          </a:prstGeom>
          <a:noFill/>
          <a:ln/>
        </p:spPr>
        <p:txBody>
          <a:bodyPr wrap="square" lIns="0" tIns="0" rIns="0" bIns="0" rtlCol="0" anchor="ctr"/>
          <a:lstStyle/>
          <a:p>
            <a:pPr algn="r" indent="0" marL="0">
              <a:buNone/>
            </a:pPr>
            <a:r>
              <a:rPr lang="en-US" sz="900" dirty="0">
                <a:solidFill>
                  <a:srgbClr val="3A4048"/>
                </a:solidFill>
                <a:latin typeface="Calibri" pitchFamily="34" charset="0"/>
                <a:ea typeface="Calibri" pitchFamily="34" charset="-122"/>
                <a:cs typeface="Calibri" pitchFamily="34" charset="-120"/>
              </a:rPr>
              <a:t>Demografi (7)</a:t>
            </a:r>
            <a:endParaRPr lang="en-US" sz="900" dirty="0"/>
          </a:p>
        </p:txBody>
      </p:sp>
      <p:sp>
        <p:nvSpPr>
          <p:cNvPr id="24" name="Shape 22"/>
          <p:cNvSpPr/>
          <p:nvPr/>
        </p:nvSpPr>
        <p:spPr>
          <a:xfrm>
            <a:off x="2304288" y="3739896"/>
            <a:ext cx="1197864" cy="182880"/>
          </a:xfrm>
          <a:prstGeom prst="rect">
            <a:avLst/>
          </a:prstGeom>
          <a:solidFill>
            <a:srgbClr val="F4F1EC"/>
          </a:solidFill>
          <a:ln/>
        </p:spPr>
      </p:sp>
      <p:sp>
        <p:nvSpPr>
          <p:cNvPr id="25" name="Shape 23"/>
          <p:cNvSpPr/>
          <p:nvPr/>
        </p:nvSpPr>
        <p:spPr>
          <a:xfrm>
            <a:off x="2304288" y="3739896"/>
            <a:ext cx="589649" cy="182880"/>
          </a:xfrm>
          <a:prstGeom prst="rect">
            <a:avLst/>
          </a:prstGeom>
          <a:solidFill>
            <a:srgbClr val="D8A25E"/>
          </a:solidFill>
          <a:ln/>
        </p:spPr>
      </p:sp>
      <p:sp>
        <p:nvSpPr>
          <p:cNvPr id="26" name="Text 24"/>
          <p:cNvSpPr/>
          <p:nvPr/>
        </p:nvSpPr>
        <p:spPr>
          <a:xfrm>
            <a:off x="3593592" y="3675888"/>
            <a:ext cx="548640" cy="310896"/>
          </a:xfrm>
          <a:prstGeom prst="rect">
            <a:avLst/>
          </a:prstGeom>
          <a:noFill/>
          <a:ln/>
        </p:spPr>
        <p:txBody>
          <a:bodyPr wrap="square" lIns="0" tIns="0" rIns="0" bIns="0" rtlCol="0" anchor="ctr"/>
          <a:lstStyle/>
          <a:p>
            <a:pPr algn="l" indent="0" marL="0">
              <a:buNone/>
            </a:pPr>
            <a:r>
              <a:rPr lang="en-US" sz="900" dirty="0">
                <a:solidFill>
                  <a:srgbClr val="3A4048"/>
                </a:solidFill>
                <a:latin typeface="Calibri" pitchFamily="34" charset="0"/>
                <a:ea typeface="Calibri" pitchFamily="34" charset="-122"/>
                <a:cs typeface="Calibri" pitchFamily="34" charset="-120"/>
              </a:rPr>
              <a:t>0,1969</a:t>
            </a:r>
            <a:endParaRPr lang="en-US" sz="900" dirty="0"/>
          </a:p>
        </p:txBody>
      </p:sp>
      <p:sp>
        <p:nvSpPr>
          <p:cNvPr id="27" name="Text 25"/>
          <p:cNvSpPr/>
          <p:nvPr/>
        </p:nvSpPr>
        <p:spPr>
          <a:xfrm>
            <a:off x="731520" y="4041648"/>
            <a:ext cx="1463040" cy="310896"/>
          </a:xfrm>
          <a:prstGeom prst="rect">
            <a:avLst/>
          </a:prstGeom>
          <a:noFill/>
          <a:ln/>
        </p:spPr>
        <p:txBody>
          <a:bodyPr wrap="square" lIns="0" tIns="0" rIns="0" bIns="0" rtlCol="0" anchor="ctr"/>
          <a:lstStyle/>
          <a:p>
            <a:pPr algn="r" indent="0" marL="0">
              <a:buNone/>
            </a:pPr>
            <a:r>
              <a:rPr lang="en-US" sz="900" dirty="0">
                <a:solidFill>
                  <a:srgbClr val="3A4048"/>
                </a:solidFill>
                <a:latin typeface="Calibri" pitchFamily="34" charset="0"/>
                <a:ea typeface="Calibri" pitchFamily="34" charset="-122"/>
                <a:cs typeface="Calibri" pitchFamily="34" charset="-120"/>
              </a:rPr>
              <a:t>Akses layanan (6)</a:t>
            </a:r>
            <a:endParaRPr lang="en-US" sz="900" dirty="0"/>
          </a:p>
        </p:txBody>
      </p:sp>
      <p:sp>
        <p:nvSpPr>
          <p:cNvPr id="28" name="Shape 26"/>
          <p:cNvSpPr/>
          <p:nvPr/>
        </p:nvSpPr>
        <p:spPr>
          <a:xfrm>
            <a:off x="2304288" y="4105656"/>
            <a:ext cx="1197864" cy="182880"/>
          </a:xfrm>
          <a:prstGeom prst="rect">
            <a:avLst/>
          </a:prstGeom>
          <a:solidFill>
            <a:srgbClr val="F4F1EC"/>
          </a:solidFill>
          <a:ln/>
        </p:spPr>
      </p:sp>
      <p:sp>
        <p:nvSpPr>
          <p:cNvPr id="29" name="Shape 27"/>
          <p:cNvSpPr/>
          <p:nvPr/>
        </p:nvSpPr>
        <p:spPr>
          <a:xfrm>
            <a:off x="2304288" y="4105656"/>
            <a:ext cx="540836" cy="182880"/>
          </a:xfrm>
          <a:prstGeom prst="rect">
            <a:avLst/>
          </a:prstGeom>
          <a:solidFill>
            <a:srgbClr val="D8A25E"/>
          </a:solidFill>
          <a:ln/>
        </p:spPr>
      </p:sp>
      <p:sp>
        <p:nvSpPr>
          <p:cNvPr id="30" name="Text 28"/>
          <p:cNvSpPr/>
          <p:nvPr/>
        </p:nvSpPr>
        <p:spPr>
          <a:xfrm>
            <a:off x="3593592" y="4041648"/>
            <a:ext cx="548640" cy="310896"/>
          </a:xfrm>
          <a:prstGeom prst="rect">
            <a:avLst/>
          </a:prstGeom>
          <a:noFill/>
          <a:ln/>
        </p:spPr>
        <p:txBody>
          <a:bodyPr wrap="square" lIns="0" tIns="0" rIns="0" bIns="0" rtlCol="0" anchor="ctr"/>
          <a:lstStyle/>
          <a:p>
            <a:pPr algn="l" indent="0" marL="0">
              <a:buNone/>
            </a:pPr>
            <a:r>
              <a:rPr lang="en-US" sz="900" dirty="0">
                <a:solidFill>
                  <a:srgbClr val="3A4048"/>
                </a:solidFill>
                <a:latin typeface="Calibri" pitchFamily="34" charset="0"/>
                <a:ea typeface="Calibri" pitchFamily="34" charset="-122"/>
                <a:cs typeface="Calibri" pitchFamily="34" charset="-120"/>
              </a:rPr>
              <a:t>0,1806</a:t>
            </a:r>
            <a:endParaRPr lang="en-US" sz="900" dirty="0"/>
          </a:p>
        </p:txBody>
      </p:sp>
      <p:sp>
        <p:nvSpPr>
          <p:cNvPr id="31" name="Text 29"/>
          <p:cNvSpPr/>
          <p:nvPr/>
        </p:nvSpPr>
        <p:spPr>
          <a:xfrm>
            <a:off x="731520" y="4407408"/>
            <a:ext cx="1463040" cy="310896"/>
          </a:xfrm>
          <a:prstGeom prst="rect">
            <a:avLst/>
          </a:prstGeom>
          <a:noFill/>
          <a:ln/>
        </p:spPr>
        <p:txBody>
          <a:bodyPr wrap="square" lIns="0" tIns="0" rIns="0" bIns="0" rtlCol="0" anchor="ctr"/>
          <a:lstStyle/>
          <a:p>
            <a:pPr algn="r" indent="0" marL="0">
              <a:buNone/>
            </a:pPr>
            <a:r>
              <a:rPr lang="en-US" sz="900" dirty="0">
                <a:solidFill>
                  <a:srgbClr val="3A4048"/>
                </a:solidFill>
                <a:latin typeface="Calibri" pitchFamily="34" charset="0"/>
                <a:ea typeface="Calibri" pitchFamily="34" charset="-122"/>
                <a:cs typeface="Calibri" pitchFamily="34" charset="-120"/>
              </a:rPr>
              <a:t>Tempat tinggal (3)</a:t>
            </a:r>
            <a:endParaRPr lang="en-US" sz="900" dirty="0"/>
          </a:p>
        </p:txBody>
      </p:sp>
      <p:sp>
        <p:nvSpPr>
          <p:cNvPr id="32" name="Shape 30"/>
          <p:cNvSpPr/>
          <p:nvPr/>
        </p:nvSpPr>
        <p:spPr>
          <a:xfrm>
            <a:off x="2304288" y="4471416"/>
            <a:ext cx="1197864" cy="182880"/>
          </a:xfrm>
          <a:prstGeom prst="rect">
            <a:avLst/>
          </a:prstGeom>
          <a:solidFill>
            <a:srgbClr val="F4F1EC"/>
          </a:solidFill>
          <a:ln/>
        </p:spPr>
      </p:sp>
      <p:sp>
        <p:nvSpPr>
          <p:cNvPr id="33" name="Shape 31"/>
          <p:cNvSpPr/>
          <p:nvPr/>
        </p:nvSpPr>
        <p:spPr>
          <a:xfrm>
            <a:off x="2304288" y="4471416"/>
            <a:ext cx="422247" cy="182880"/>
          </a:xfrm>
          <a:prstGeom prst="rect">
            <a:avLst/>
          </a:prstGeom>
          <a:solidFill>
            <a:srgbClr val="9AA0A7"/>
          </a:solidFill>
          <a:ln/>
        </p:spPr>
      </p:sp>
      <p:sp>
        <p:nvSpPr>
          <p:cNvPr id="34" name="Text 32"/>
          <p:cNvSpPr/>
          <p:nvPr/>
        </p:nvSpPr>
        <p:spPr>
          <a:xfrm>
            <a:off x="3593592" y="4407408"/>
            <a:ext cx="548640" cy="310896"/>
          </a:xfrm>
          <a:prstGeom prst="rect">
            <a:avLst/>
          </a:prstGeom>
          <a:noFill/>
          <a:ln/>
        </p:spPr>
        <p:txBody>
          <a:bodyPr wrap="square" lIns="0" tIns="0" rIns="0" bIns="0" rtlCol="0" anchor="ctr"/>
          <a:lstStyle/>
          <a:p>
            <a:pPr algn="l" indent="0" marL="0">
              <a:buNone/>
            </a:pPr>
            <a:r>
              <a:rPr lang="en-US" sz="900" dirty="0">
                <a:solidFill>
                  <a:srgbClr val="3A4048"/>
                </a:solidFill>
                <a:latin typeface="Calibri" pitchFamily="34" charset="0"/>
                <a:ea typeface="Calibri" pitchFamily="34" charset="-122"/>
                <a:cs typeface="Calibri" pitchFamily="34" charset="-120"/>
              </a:rPr>
              <a:t>0,1410</a:t>
            </a:r>
            <a:endParaRPr lang="en-US" sz="900" dirty="0"/>
          </a:p>
        </p:txBody>
      </p:sp>
      <p:sp>
        <p:nvSpPr>
          <p:cNvPr id="35" name="Text 33"/>
          <p:cNvSpPr/>
          <p:nvPr/>
        </p:nvSpPr>
        <p:spPr>
          <a:xfrm>
            <a:off x="731520" y="4773168"/>
            <a:ext cx="1463040" cy="310896"/>
          </a:xfrm>
          <a:prstGeom prst="rect">
            <a:avLst/>
          </a:prstGeom>
          <a:noFill/>
          <a:ln/>
        </p:spPr>
        <p:txBody>
          <a:bodyPr wrap="square" lIns="0" tIns="0" rIns="0" bIns="0" rtlCol="0" anchor="ctr"/>
          <a:lstStyle/>
          <a:p>
            <a:pPr algn="r" indent="0" marL="0">
              <a:buNone/>
            </a:pPr>
            <a:r>
              <a:rPr lang="en-US" sz="900" dirty="0">
                <a:solidFill>
                  <a:srgbClr val="3A4048"/>
                </a:solidFill>
                <a:latin typeface="Calibri" pitchFamily="34" charset="0"/>
                <a:ea typeface="Calibri" pitchFamily="34" charset="-122"/>
                <a:cs typeface="Calibri" pitchFamily="34" charset="-120"/>
              </a:rPr>
              <a:t>Pekerjaan (6)</a:t>
            </a:r>
            <a:endParaRPr lang="en-US" sz="900" dirty="0"/>
          </a:p>
        </p:txBody>
      </p:sp>
      <p:sp>
        <p:nvSpPr>
          <p:cNvPr id="36" name="Shape 34"/>
          <p:cNvSpPr/>
          <p:nvPr/>
        </p:nvSpPr>
        <p:spPr>
          <a:xfrm>
            <a:off x="2304288" y="4837176"/>
            <a:ext cx="1197864" cy="182880"/>
          </a:xfrm>
          <a:prstGeom prst="rect">
            <a:avLst/>
          </a:prstGeom>
          <a:solidFill>
            <a:srgbClr val="F4F1EC"/>
          </a:solidFill>
          <a:ln/>
        </p:spPr>
      </p:sp>
      <p:sp>
        <p:nvSpPr>
          <p:cNvPr id="37" name="Shape 35"/>
          <p:cNvSpPr/>
          <p:nvPr/>
        </p:nvSpPr>
        <p:spPr>
          <a:xfrm>
            <a:off x="2304288" y="4837176"/>
            <a:ext cx="312942" cy="182880"/>
          </a:xfrm>
          <a:prstGeom prst="rect">
            <a:avLst/>
          </a:prstGeom>
          <a:solidFill>
            <a:srgbClr val="9AA0A7"/>
          </a:solidFill>
          <a:ln/>
        </p:spPr>
      </p:sp>
      <p:sp>
        <p:nvSpPr>
          <p:cNvPr id="38" name="Text 36"/>
          <p:cNvSpPr/>
          <p:nvPr/>
        </p:nvSpPr>
        <p:spPr>
          <a:xfrm>
            <a:off x="3593592" y="4773168"/>
            <a:ext cx="548640" cy="310896"/>
          </a:xfrm>
          <a:prstGeom prst="rect">
            <a:avLst/>
          </a:prstGeom>
          <a:noFill/>
          <a:ln/>
        </p:spPr>
        <p:txBody>
          <a:bodyPr wrap="square" lIns="0" tIns="0" rIns="0" bIns="0" rtlCol="0" anchor="ctr"/>
          <a:lstStyle/>
          <a:p>
            <a:pPr algn="l" indent="0" marL="0">
              <a:buNone/>
            </a:pPr>
            <a:r>
              <a:rPr lang="en-US" sz="900" dirty="0">
                <a:solidFill>
                  <a:srgbClr val="3A4048"/>
                </a:solidFill>
                <a:latin typeface="Calibri" pitchFamily="34" charset="0"/>
                <a:ea typeface="Calibri" pitchFamily="34" charset="-122"/>
                <a:cs typeface="Calibri" pitchFamily="34" charset="-120"/>
              </a:rPr>
              <a:t>0,1045</a:t>
            </a:r>
            <a:endParaRPr lang="en-US" sz="900" dirty="0"/>
          </a:p>
        </p:txBody>
      </p:sp>
      <p:sp>
        <p:nvSpPr>
          <p:cNvPr id="39" name="Shape 37"/>
          <p:cNvSpPr/>
          <p:nvPr/>
        </p:nvSpPr>
        <p:spPr>
          <a:xfrm>
            <a:off x="4297680" y="2212848"/>
            <a:ext cx="1947672" cy="2926080"/>
          </a:xfrm>
          <a:prstGeom prst="roundRect">
            <a:avLst>
              <a:gd name="adj" fmla="val 2817"/>
            </a:avLst>
          </a:prstGeom>
          <a:solidFill>
            <a:srgbClr val="16191D"/>
          </a:solidFill>
          <a:ln w="9525">
            <a:solidFill>
              <a:srgbClr val="16191D"/>
            </a:solidFill>
            <a:prstDash val="solid"/>
          </a:ln>
        </p:spPr>
      </p:sp>
      <p:sp>
        <p:nvSpPr>
          <p:cNvPr id="40" name="Text 38"/>
          <p:cNvSpPr/>
          <p:nvPr/>
        </p:nvSpPr>
        <p:spPr>
          <a:xfrm>
            <a:off x="4434840" y="2322576"/>
            <a:ext cx="1828800" cy="256032"/>
          </a:xfrm>
          <a:prstGeom prst="rect">
            <a:avLst/>
          </a:prstGeom>
          <a:noFill/>
          <a:ln/>
        </p:spPr>
        <p:txBody>
          <a:bodyPr wrap="square" lIns="0" tIns="0" rIns="0" bIns="0" rtlCol="0" anchor="ctr"/>
          <a:lstStyle/>
          <a:p>
            <a:pPr indent="0" marL="0">
              <a:buNone/>
            </a:pPr>
            <a:r>
              <a:rPr lang="en-US" sz="1150" b="1" dirty="0">
                <a:solidFill>
                  <a:srgbClr val="FFFFFF"/>
                </a:solidFill>
                <a:latin typeface="Cambria" pitchFamily="34" charset="0"/>
                <a:ea typeface="Cambria" pitchFamily="34" charset="-122"/>
                <a:cs typeface="Cambria" pitchFamily="34" charset="-120"/>
              </a:rPr>
              <a:t>Tidak terekam survei</a:t>
            </a:r>
            <a:endParaRPr lang="en-US" sz="1150" dirty="0"/>
          </a:p>
        </p:txBody>
      </p:sp>
      <p:sp>
        <p:nvSpPr>
          <p:cNvPr id="41" name="Shape 39"/>
          <p:cNvSpPr/>
          <p:nvPr/>
        </p:nvSpPr>
        <p:spPr>
          <a:xfrm>
            <a:off x="4453128" y="2807208"/>
            <a:ext cx="91440" cy="91440"/>
          </a:xfrm>
          <a:prstGeom prst="rect">
            <a:avLst/>
          </a:prstGeom>
          <a:solidFill>
            <a:srgbClr val="A8442A"/>
          </a:solidFill>
          <a:ln/>
        </p:spPr>
      </p:sp>
      <p:sp>
        <p:nvSpPr>
          <p:cNvPr id="42" name="Text 40"/>
          <p:cNvSpPr/>
          <p:nvPr/>
        </p:nvSpPr>
        <p:spPr>
          <a:xfrm>
            <a:off x="4617720" y="2715768"/>
            <a:ext cx="1645920" cy="274320"/>
          </a:xfrm>
          <a:prstGeom prst="rect">
            <a:avLst/>
          </a:prstGeom>
          <a:noFill/>
          <a:ln/>
        </p:spPr>
        <p:txBody>
          <a:bodyPr wrap="square" lIns="0" tIns="0" rIns="0" bIns="0" rtlCol="0" anchor="ctr"/>
          <a:lstStyle/>
          <a:p>
            <a:pPr indent="0" marL="0">
              <a:buNone/>
            </a:pPr>
            <a:r>
              <a:rPr lang="en-US" sz="1000" dirty="0">
                <a:solidFill>
                  <a:srgbClr val="FFFFFF"/>
                </a:solidFill>
                <a:latin typeface="Calibri" pitchFamily="34" charset="0"/>
                <a:ea typeface="Calibri" pitchFamily="34" charset="-122"/>
                <a:cs typeface="Calibri" pitchFamily="34" charset="-120"/>
              </a:rPr>
              <a:t>Kepribadian</a:t>
            </a:r>
            <a:endParaRPr lang="en-US" sz="1000" dirty="0"/>
          </a:p>
        </p:txBody>
      </p:sp>
      <p:sp>
        <p:nvSpPr>
          <p:cNvPr id="43" name="Shape 41"/>
          <p:cNvSpPr/>
          <p:nvPr/>
        </p:nvSpPr>
        <p:spPr>
          <a:xfrm>
            <a:off x="4453128" y="3154680"/>
            <a:ext cx="91440" cy="91440"/>
          </a:xfrm>
          <a:prstGeom prst="rect">
            <a:avLst/>
          </a:prstGeom>
          <a:solidFill>
            <a:srgbClr val="A8442A"/>
          </a:solidFill>
          <a:ln/>
        </p:spPr>
      </p:sp>
      <p:sp>
        <p:nvSpPr>
          <p:cNvPr id="44" name="Text 42"/>
          <p:cNvSpPr/>
          <p:nvPr/>
        </p:nvSpPr>
        <p:spPr>
          <a:xfrm>
            <a:off x="4617720" y="3063240"/>
            <a:ext cx="1645920" cy="274320"/>
          </a:xfrm>
          <a:prstGeom prst="rect">
            <a:avLst/>
          </a:prstGeom>
          <a:noFill/>
          <a:ln/>
        </p:spPr>
        <p:txBody>
          <a:bodyPr wrap="square" lIns="0" tIns="0" rIns="0" bIns="0" rtlCol="0" anchor="ctr"/>
          <a:lstStyle/>
          <a:p>
            <a:pPr indent="0" marL="0">
              <a:buNone/>
            </a:pPr>
            <a:r>
              <a:rPr lang="en-US" sz="1000" dirty="0">
                <a:solidFill>
                  <a:srgbClr val="FFFFFF"/>
                </a:solidFill>
                <a:latin typeface="Calibri" pitchFamily="34" charset="0"/>
                <a:ea typeface="Calibri" pitchFamily="34" charset="-122"/>
                <a:cs typeface="Calibri" pitchFamily="34" charset="-120"/>
              </a:rPr>
              <a:t>Hubungan sosial</a:t>
            </a:r>
            <a:endParaRPr lang="en-US" sz="1000" dirty="0"/>
          </a:p>
        </p:txBody>
      </p:sp>
      <p:sp>
        <p:nvSpPr>
          <p:cNvPr id="45" name="Shape 43"/>
          <p:cNvSpPr/>
          <p:nvPr/>
        </p:nvSpPr>
        <p:spPr>
          <a:xfrm>
            <a:off x="4453128" y="3502152"/>
            <a:ext cx="91440" cy="91440"/>
          </a:xfrm>
          <a:prstGeom prst="rect">
            <a:avLst/>
          </a:prstGeom>
          <a:solidFill>
            <a:srgbClr val="A8442A"/>
          </a:solidFill>
          <a:ln/>
        </p:spPr>
      </p:sp>
      <p:sp>
        <p:nvSpPr>
          <p:cNvPr id="46" name="Text 44"/>
          <p:cNvSpPr/>
          <p:nvPr/>
        </p:nvSpPr>
        <p:spPr>
          <a:xfrm>
            <a:off x="4617720" y="3410712"/>
            <a:ext cx="1645920" cy="274320"/>
          </a:xfrm>
          <a:prstGeom prst="rect">
            <a:avLst/>
          </a:prstGeom>
          <a:noFill/>
          <a:ln/>
        </p:spPr>
        <p:txBody>
          <a:bodyPr wrap="square" lIns="0" tIns="0" rIns="0" bIns="0" rtlCol="0" anchor="ctr"/>
          <a:lstStyle/>
          <a:p>
            <a:pPr indent="0" marL="0">
              <a:buNone/>
            </a:pPr>
            <a:r>
              <a:rPr lang="en-US" sz="1000" dirty="0">
                <a:solidFill>
                  <a:srgbClr val="FFFFFF"/>
                </a:solidFill>
                <a:latin typeface="Calibri" pitchFamily="34" charset="0"/>
                <a:ea typeface="Calibri" pitchFamily="34" charset="-122"/>
                <a:cs typeface="Calibri" pitchFamily="34" charset="-120"/>
              </a:rPr>
              <a:t>Rasa bermakna</a:t>
            </a:r>
            <a:endParaRPr lang="en-US" sz="1000" dirty="0"/>
          </a:p>
        </p:txBody>
      </p:sp>
      <p:sp>
        <p:nvSpPr>
          <p:cNvPr id="47" name="Shape 45"/>
          <p:cNvSpPr/>
          <p:nvPr/>
        </p:nvSpPr>
        <p:spPr>
          <a:xfrm>
            <a:off x="4453128" y="3849624"/>
            <a:ext cx="91440" cy="91440"/>
          </a:xfrm>
          <a:prstGeom prst="rect">
            <a:avLst/>
          </a:prstGeom>
          <a:solidFill>
            <a:srgbClr val="A8442A"/>
          </a:solidFill>
          <a:ln/>
        </p:spPr>
      </p:sp>
      <p:sp>
        <p:nvSpPr>
          <p:cNvPr id="48" name="Text 46"/>
          <p:cNvSpPr/>
          <p:nvPr/>
        </p:nvSpPr>
        <p:spPr>
          <a:xfrm>
            <a:off x="4617720" y="3758184"/>
            <a:ext cx="1645920" cy="274320"/>
          </a:xfrm>
          <a:prstGeom prst="rect">
            <a:avLst/>
          </a:prstGeom>
          <a:noFill/>
          <a:ln/>
        </p:spPr>
        <p:txBody>
          <a:bodyPr wrap="square" lIns="0" tIns="0" rIns="0" bIns="0" rtlCol="0" anchor="ctr"/>
          <a:lstStyle/>
          <a:p>
            <a:pPr indent="0" marL="0">
              <a:buNone/>
            </a:pPr>
            <a:r>
              <a:rPr lang="en-US" sz="1000" dirty="0">
                <a:solidFill>
                  <a:srgbClr val="FFFFFF"/>
                </a:solidFill>
                <a:latin typeface="Calibri" pitchFamily="34" charset="0"/>
                <a:ea typeface="Calibri" pitchFamily="34" charset="-122"/>
                <a:cs typeface="Calibri" pitchFamily="34" charset="-120"/>
              </a:rPr>
              <a:t>Adaptasi hedonik</a:t>
            </a:r>
            <a:endParaRPr lang="en-US" sz="1000" dirty="0"/>
          </a:p>
        </p:txBody>
      </p:sp>
      <p:sp>
        <p:nvSpPr>
          <p:cNvPr id="49" name="Text 47"/>
          <p:cNvSpPr/>
          <p:nvPr/>
        </p:nvSpPr>
        <p:spPr>
          <a:xfrm>
            <a:off x="4434840" y="4133088"/>
            <a:ext cx="1783080" cy="960120"/>
          </a:xfrm>
          <a:prstGeom prst="rect">
            <a:avLst/>
          </a:prstGeom>
          <a:noFill/>
          <a:ln/>
        </p:spPr>
        <p:txBody>
          <a:bodyPr wrap="square" lIns="0" tIns="0" rIns="0" bIns="0" rtlCol="0" anchor="t"/>
          <a:lstStyle/>
          <a:p>
            <a:pPr algn="l" indent="0" marL="0">
              <a:lnSpc>
                <a:spcPts val="1148"/>
              </a:lnSpc>
              <a:buNone/>
            </a:pPr>
            <a:r>
              <a:rPr lang="en-US" sz="850" dirty="0">
                <a:solidFill>
                  <a:srgbClr val="9AA0A7"/>
                </a:solidFill>
                <a:latin typeface="Calibri" pitchFamily="34" charset="0"/>
                <a:ea typeface="Calibri" pitchFamily="34" charset="-122"/>
                <a:cs typeface="Calibri" pitchFamily="34" charset="-120"/>
              </a:rPr>
              <a:t>Literatur menempatkan keempatnya di depan. Lykken &amp; Tellegen (1996): sekitar separuh variasi kesejahteraan terkait faktor bawaan.</a:t>
            </a:r>
            <a:endParaRPr lang="en-US" sz="850" dirty="0"/>
          </a:p>
        </p:txBody>
      </p:sp>
      <p:sp>
        <p:nvSpPr>
          <p:cNvPr id="50" name="Text 48"/>
          <p:cNvSpPr/>
          <p:nvPr/>
        </p:nvSpPr>
        <p:spPr>
          <a:xfrm>
            <a:off x="841248" y="5559552"/>
            <a:ext cx="5404104" cy="548640"/>
          </a:xfrm>
          <a:prstGeom prst="rect">
            <a:avLst/>
          </a:prstGeom>
          <a:noFill/>
          <a:ln/>
        </p:spPr>
        <p:txBody>
          <a:bodyPr wrap="square" lIns="0" tIns="0" rIns="0" bIns="0" rtlCol="0" anchor="t"/>
          <a:lstStyle/>
          <a:p>
            <a:pPr indent="0" marL="0">
              <a:lnSpc>
                <a:spcPts val="1300"/>
              </a:lnSpc>
              <a:buNone/>
            </a:pPr>
            <a:r>
              <a:rPr lang="en-US" sz="1000" b="1" dirty="0">
                <a:solidFill>
                  <a:srgbClr val="A8442A"/>
                </a:solidFill>
                <a:latin typeface="Calibri" pitchFamily="34" charset="0"/>
                <a:ea typeface="Calibri" pitchFamily="34" charset="-122"/>
                <a:cs typeface="Calibri" pitchFamily="34" charset="-120"/>
              </a:rPr>
              <a:t>Implikasi: </a:t>
            </a:r>
            <a:pPr indent="0" marL="0">
              <a:lnSpc>
                <a:spcPts val="1300"/>
              </a:lnSpc>
              <a:buNone/>
            </a:pPr>
            <a:r>
              <a:rPr lang="en-US" sz="1000" dirty="0">
                <a:solidFill>
                  <a:srgbClr val="3A4048"/>
                </a:solidFill>
                <a:latin typeface="Calibri" pitchFamily="34" charset="0"/>
                <a:ea typeface="Calibri" pitchFamily="34" charset="-122"/>
                <a:cs typeface="Calibri" pitchFamily="34" charset="-120"/>
              </a:rPr>
              <a:t>sebagian besar variasi target berada di luar jangkauan instrumen, bukan algoritma. Ini landasan analisis plafon.</a:t>
            </a:r>
            <a:endParaRPr lang="en-US" sz="1000" dirty="0"/>
          </a:p>
        </p:txBody>
      </p:sp>
      <p:sp>
        <p:nvSpPr>
          <p:cNvPr id="51" name="Shape 49"/>
          <p:cNvSpPr/>
          <p:nvPr/>
        </p:nvSpPr>
        <p:spPr>
          <a:xfrm>
            <a:off x="6675120" y="1371600"/>
            <a:ext cx="4876495" cy="4846320"/>
          </a:xfrm>
          <a:prstGeom prst="roundRect">
            <a:avLst>
              <a:gd name="adj" fmla="val 1132"/>
            </a:avLst>
          </a:prstGeom>
          <a:solidFill>
            <a:srgbClr val="FFFFFF"/>
          </a:solidFill>
          <a:ln w="9525">
            <a:solidFill>
              <a:srgbClr val="DCD8D1"/>
            </a:solidFill>
            <a:prstDash val="solid"/>
          </a:ln>
        </p:spPr>
      </p:sp>
      <p:sp>
        <p:nvSpPr>
          <p:cNvPr id="52" name="Text 50"/>
          <p:cNvSpPr/>
          <p:nvPr/>
        </p:nvSpPr>
        <p:spPr>
          <a:xfrm>
            <a:off x="6876288" y="1499616"/>
            <a:ext cx="4474159" cy="201168"/>
          </a:xfrm>
          <a:prstGeom prst="rect">
            <a:avLst/>
          </a:prstGeom>
          <a:noFill/>
          <a:ln/>
        </p:spPr>
        <p:txBody>
          <a:bodyPr wrap="square" lIns="0" tIns="0" rIns="0" bIns="0" rtlCol="0" anchor="ctr"/>
          <a:lstStyle/>
          <a:p>
            <a:pPr indent="0" marL="0">
              <a:buNone/>
            </a:pPr>
            <a:r>
              <a:rPr lang="en-US" sz="850" b="1" spc="120" kern="0" dirty="0">
                <a:solidFill>
                  <a:srgbClr val="6E747C"/>
                </a:solidFill>
                <a:latin typeface="Calibri" pitchFamily="34" charset="0"/>
                <a:ea typeface="Calibri" pitchFamily="34" charset="-122"/>
                <a:cs typeface="Calibri" pitchFamily="34" charset="-120"/>
              </a:rPr>
              <a:t>3.5 DAN 3.6 · DUA JEBAKAN KEBOCORAN</a:t>
            </a:r>
            <a:endParaRPr lang="en-US" sz="850" dirty="0"/>
          </a:p>
        </p:txBody>
      </p:sp>
      <p:sp>
        <p:nvSpPr>
          <p:cNvPr id="53" name="Text 51"/>
          <p:cNvSpPr/>
          <p:nvPr/>
        </p:nvSpPr>
        <p:spPr>
          <a:xfrm>
            <a:off x="6876288" y="1700784"/>
            <a:ext cx="4474159" cy="475488"/>
          </a:xfrm>
          <a:prstGeom prst="rect">
            <a:avLst/>
          </a:prstGeom>
          <a:noFill/>
          <a:ln/>
        </p:spPr>
        <p:txBody>
          <a:bodyPr wrap="square" lIns="0" tIns="0" rIns="0" bIns="0" rtlCol="0" anchor="t"/>
          <a:lstStyle/>
          <a:p>
            <a:pPr indent="0" marL="0">
              <a:lnSpc>
                <a:spcPts val="1600"/>
              </a:lnSpc>
              <a:buNone/>
            </a:pPr>
            <a:r>
              <a:rPr lang="en-US" sz="1300" b="1" dirty="0">
                <a:solidFill>
                  <a:srgbClr val="16191D"/>
                </a:solidFill>
                <a:latin typeface="Cambria" pitchFamily="34" charset="0"/>
                <a:ea typeface="Cambria" pitchFamily="34" charset="-122"/>
                <a:cs typeface="Cambria" pitchFamily="34" charset="-120"/>
              </a:rPr>
              <a:t>Diukur dulu, lalu dibuang sebelum melihat skor</a:t>
            </a:r>
            <a:endParaRPr lang="en-US" sz="1300" dirty="0"/>
          </a:p>
        </p:txBody>
      </p:sp>
      <p:sp>
        <p:nvSpPr>
          <p:cNvPr id="54" name="Text 52"/>
          <p:cNvSpPr/>
          <p:nvPr/>
        </p:nvSpPr>
        <p:spPr>
          <a:xfrm>
            <a:off x="6876288" y="2212848"/>
            <a:ext cx="4474159" cy="365760"/>
          </a:xfrm>
          <a:prstGeom prst="rect">
            <a:avLst/>
          </a:prstGeom>
          <a:noFill/>
          <a:ln/>
        </p:spPr>
        <p:txBody>
          <a:bodyPr wrap="square" lIns="0" tIns="0" rIns="0" bIns="0" rtlCol="0" anchor="ctr"/>
          <a:lstStyle/>
          <a:p>
            <a:pPr indent="0" marL="0">
              <a:buNone/>
            </a:pPr>
            <a:r>
              <a:rPr lang="en-US" sz="950" b="1" dirty="0">
                <a:solidFill>
                  <a:srgbClr val="16191D"/>
                </a:solidFill>
                <a:latin typeface="Calibri" pitchFamily="34" charset="0"/>
                <a:ea typeface="Calibri" pitchFamily="34" charset="-122"/>
                <a:cs typeface="Calibri" pitchFamily="34" charset="-120"/>
              </a:rPr>
              <a:t>Target encoding rumah tangga · 61,3% baris uji punya anggota berlabel di data latih</a:t>
            </a:r>
            <a:endParaRPr lang="en-US" sz="95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6876288" y="2615184"/>
          <a:ext cx="4474159" cy="914400"/>
        </p:xfrm>
        <a:graphic>
          <a:graphicData uri="http://schemas.openxmlformats.org/drawingml/2006/table">
            <a:tbl>
              <a:tblPr/>
              <a:tblGrid>
                <a:gridCol w="3017520"/>
                <a:gridCol w="1456639"/>
              </a:tblGrid>
              <a:tr h="246888">
                <a:tc>
                  <a:txBody>
                    <a:bodyPr/>
                    <a:lstStyle/>
                    <a:p>
                      <a:pPr algn="l" indent="0" marL="0">
                        <a:buNone/>
                      </a:pPr>
                      <a:r>
                        <a:rPr lang="en-US" sz="950" b="1" dirty="0">
                          <a:solidFill>
                            <a:srgbClr val="16191D"/>
                          </a:solidFill>
                          <a:latin typeface="Calibri" pitchFamily="34" charset="0"/>
                          <a:ea typeface="Calibri" pitchFamily="34" charset="-122"/>
                          <a:cs typeface="Calibri" pitchFamily="34" charset="-120"/>
                        </a:rPr>
                        <a:t>Anggota lain menjawab</a:t>
                      </a:r>
                      <a:endParaRPr lang="en-US" sz="950" dirty="0">
                        <a:latin typeface="Calibri" charset="0"/>
                        <a:ea typeface="Calibri" charset="0"/>
                        <a:cs typeface="Calibri" charset="0"/>
                      </a:endParaRPr>
                    </a:p>
                  </a:txBody>
                  <a:tcPr marL="25400" marR="101600" marT="63500" marB="63500" anchor="ctr">
                    <a:lnL w="0" cap="flat" cmpd="sng" algn="ctr">
                      <a:noFill/>
                    </a:lnL>
                    <a:lnR w="0" cap="flat" cmpd="sng" algn="ctr">
                      <a:noFill/>
                    </a:lnR>
                    <a:lnT w="17780" cap="flat" cmpd="sng" algn="ctr">
                      <a:solidFill>
                        <a:srgbClr val="16191D"/>
                      </a:solidFill>
                      <a:prstDash val="solid"/>
                      <a:round/>
                      <a:headEnd type="none" w="med" len="med"/>
                      <a:tailEnd type="none" w="med" len="med"/>
                    </a:lnT>
                    <a:lnB w="10160" cap="flat" cmpd="sng" algn="ctr">
                      <a:solidFill>
                        <a:srgbClr val="16191D"/>
                      </a:solidFill>
                      <a:prstDash val="solid"/>
                      <a:round/>
                      <a:headEnd type="none" w="med" len="med"/>
                      <a:tailEnd type="none" w="med" len="med"/>
                    </a:lnB>
                  </a:tcPr>
                </a:tc>
                <a:tc>
                  <a:txBody>
                    <a:bodyPr/>
                    <a:lstStyle/>
                    <a:p>
                      <a:pPr algn="r" indent="0" marL="0">
                        <a:buNone/>
                      </a:pPr>
                      <a:r>
                        <a:rPr lang="en-US" sz="950" b="1" dirty="0">
                          <a:solidFill>
                            <a:srgbClr val="16191D"/>
                          </a:solidFill>
                          <a:latin typeface="Calibri" pitchFamily="34" charset="0"/>
                          <a:ea typeface="Calibri" pitchFamily="34" charset="-122"/>
                          <a:cs typeface="Calibri" pitchFamily="34" charset="-120"/>
                        </a:rPr>
                        <a:t>P(y = 1)</a:t>
                      </a:r>
                      <a:endParaRPr lang="en-US" sz="950" dirty="0">
                        <a:latin typeface="Calibri" charset="0"/>
                        <a:ea typeface="Calibri" charset="0"/>
                        <a:cs typeface="Calibri" charset="0"/>
                      </a:endParaRPr>
                    </a:p>
                  </a:txBody>
                  <a:tcPr marL="101600" marR="101600" marT="63500" marB="63500" anchor="ctr">
                    <a:lnL w="0" cap="flat" cmpd="sng" algn="ctr">
                      <a:noFill/>
                    </a:lnL>
                    <a:lnR w="0" cap="flat" cmpd="sng" algn="ctr">
                      <a:noFill/>
                    </a:lnR>
                    <a:lnT w="17780" cap="flat" cmpd="sng" algn="ctr">
                      <a:solidFill>
                        <a:srgbClr val="16191D"/>
                      </a:solidFill>
                      <a:prstDash val="solid"/>
                      <a:round/>
                      <a:headEnd type="none" w="med" len="med"/>
                      <a:tailEnd type="none" w="med" len="med"/>
                    </a:lnT>
                    <a:lnB w="10160" cap="flat" cmpd="sng" algn="ctr">
                      <a:solidFill>
                        <a:srgbClr val="16191D"/>
                      </a:solidFill>
                      <a:prstDash val="solid"/>
                      <a:round/>
                      <a:headEnd type="none" w="med" len="med"/>
                      <a:tailEnd type="none" w="med" len="med"/>
                    </a:lnB>
                  </a:tcPr>
                </a:tc>
              </a:tr>
              <a:tr h="246888">
                <a:tc>
                  <a:txBody>
                    <a:bodyPr/>
                    <a:lstStyle/>
                    <a:p>
                      <a:pPr algn="l" indent="0" marL="0">
                        <a:buNone/>
                      </a:pPr>
                      <a:r>
                        <a:rPr lang="en-US" sz="950" dirty="0">
                          <a:solidFill>
                            <a:srgbClr val="3A4048"/>
                          </a:solidFill>
                          <a:latin typeface="Calibri" pitchFamily="34" charset="0"/>
                          <a:ea typeface="Calibri" pitchFamily="34" charset="-122"/>
                          <a:cs typeface="Calibri" pitchFamily="34" charset="-120"/>
                        </a:rPr>
                        <a:t>1 Sangat puas</a:t>
                      </a:r>
                      <a:endParaRPr lang="en-US" sz="95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950" b="1" dirty="0">
                          <a:solidFill>
                            <a:srgbClr val="A8442A"/>
                          </a:solidFill>
                          <a:latin typeface="Calibri" pitchFamily="34" charset="0"/>
                          <a:ea typeface="Calibri" pitchFamily="34" charset="-122"/>
                          <a:cs typeface="Calibri" pitchFamily="34" charset="-120"/>
                        </a:rPr>
                        <a:t>0,4654</a:t>
                      </a:r>
                      <a:endParaRPr lang="en-US" sz="9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246888">
                <a:tc>
                  <a:txBody>
                    <a:bodyPr/>
                    <a:lstStyle/>
                    <a:p>
                      <a:pPr algn="l" indent="0" marL="0">
                        <a:buNone/>
                      </a:pPr>
                      <a:r>
                        <a:rPr lang="en-US" sz="950" dirty="0">
                          <a:solidFill>
                            <a:srgbClr val="3A4048"/>
                          </a:solidFill>
                          <a:latin typeface="Calibri" pitchFamily="34" charset="0"/>
                          <a:ea typeface="Calibri" pitchFamily="34" charset="-122"/>
                          <a:cs typeface="Calibri" pitchFamily="34" charset="-120"/>
                        </a:rPr>
                        <a:t>2 Puas</a:t>
                      </a:r>
                      <a:endParaRPr lang="en-US" sz="95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950" dirty="0">
                          <a:solidFill>
                            <a:srgbClr val="3A4048"/>
                          </a:solidFill>
                          <a:latin typeface="Calibri" pitchFamily="34" charset="0"/>
                          <a:ea typeface="Calibri" pitchFamily="34" charset="-122"/>
                          <a:cs typeface="Calibri" pitchFamily="34" charset="-120"/>
                        </a:rPr>
                        <a:t>0,4347</a:t>
                      </a:r>
                      <a:endParaRPr lang="en-US" sz="9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246888">
                <a:tc>
                  <a:txBody>
                    <a:bodyPr/>
                    <a:lstStyle/>
                    <a:p>
                      <a:pPr algn="l" indent="0" marL="0">
                        <a:buNone/>
                      </a:pPr>
                      <a:r>
                        <a:rPr lang="en-US" sz="950" dirty="0">
                          <a:solidFill>
                            <a:srgbClr val="3A4048"/>
                          </a:solidFill>
                          <a:latin typeface="Calibri" pitchFamily="34" charset="0"/>
                          <a:ea typeface="Calibri" pitchFamily="34" charset="-122"/>
                          <a:cs typeface="Calibri" pitchFamily="34" charset="-120"/>
                        </a:rPr>
                        <a:t>3 Tidak puas</a:t>
                      </a:r>
                      <a:endParaRPr lang="en-US" sz="95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950" dirty="0">
                          <a:solidFill>
                            <a:srgbClr val="3A4048"/>
                          </a:solidFill>
                          <a:latin typeface="Calibri" pitchFamily="34" charset="0"/>
                          <a:ea typeface="Calibri" pitchFamily="34" charset="-122"/>
                          <a:cs typeface="Calibri" pitchFamily="34" charset="-120"/>
                        </a:rPr>
                        <a:t>0,4280</a:t>
                      </a:r>
                      <a:endParaRPr lang="en-US" sz="9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246888">
                <a:tc>
                  <a:txBody>
                    <a:bodyPr/>
                    <a:lstStyle/>
                    <a:p>
                      <a:pPr algn="l" indent="0" marL="0">
                        <a:buNone/>
                      </a:pPr>
                      <a:r>
                        <a:rPr lang="en-US" sz="950" dirty="0">
                          <a:solidFill>
                            <a:srgbClr val="3A4048"/>
                          </a:solidFill>
                          <a:latin typeface="Calibri" pitchFamily="34" charset="0"/>
                          <a:ea typeface="Calibri" pitchFamily="34" charset="-122"/>
                          <a:cs typeface="Calibri" pitchFamily="34" charset="-120"/>
                        </a:rPr>
                        <a:t>4 Sangat tidak puas</a:t>
                      </a:r>
                      <a:endParaRPr lang="en-US" sz="95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17780" cap="flat" cmpd="sng" algn="ctr">
                      <a:solidFill>
                        <a:srgbClr val="16191D"/>
                      </a:solidFill>
                      <a:prstDash val="solid"/>
                      <a:round/>
                      <a:headEnd type="none" w="med" len="med"/>
                      <a:tailEnd type="none" w="med" len="med"/>
                    </a:lnB>
                  </a:tcPr>
                </a:tc>
                <a:tc>
                  <a:txBody>
                    <a:bodyPr/>
                    <a:lstStyle/>
                    <a:p>
                      <a:pPr algn="r" indent="0" marL="0">
                        <a:buNone/>
                      </a:pPr>
                      <a:r>
                        <a:rPr lang="en-US" sz="950" dirty="0">
                          <a:solidFill>
                            <a:srgbClr val="3A4048"/>
                          </a:solidFill>
                          <a:latin typeface="Calibri" pitchFamily="34" charset="0"/>
                          <a:ea typeface="Calibri" pitchFamily="34" charset="-122"/>
                          <a:cs typeface="Calibri" pitchFamily="34" charset="-120"/>
                        </a:rPr>
                        <a:t>0,4294</a:t>
                      </a:r>
                      <a:endParaRPr lang="en-US" sz="9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17780" cap="flat" cmpd="sng" algn="ctr">
                      <a:solidFill>
                        <a:srgbClr val="16191D"/>
                      </a:solidFill>
                      <a:prstDash val="solid"/>
                      <a:round/>
                      <a:headEnd type="none" w="med" len="med"/>
                      <a:tailEnd type="none" w="med" len="med"/>
                    </a:lnB>
                  </a:tcPr>
                </a:tc>
              </a:tr>
            </a:tbl>
          </a:graphicData>
        </a:graphic>
      </p:graphicFrame>
      <p:sp>
        <p:nvSpPr>
          <p:cNvPr id="56" name="Text 53"/>
          <p:cNvSpPr/>
          <p:nvPr/>
        </p:nvSpPr>
        <p:spPr>
          <a:xfrm>
            <a:off x="6876288" y="3950208"/>
            <a:ext cx="4474159" cy="411480"/>
          </a:xfrm>
          <a:prstGeom prst="rect">
            <a:avLst/>
          </a:prstGeom>
          <a:noFill/>
          <a:ln/>
        </p:spPr>
        <p:txBody>
          <a:bodyPr wrap="square" lIns="0" tIns="0" rIns="0" bIns="0" rtlCol="0" anchor="t"/>
          <a:lstStyle/>
          <a:p>
            <a:pPr algn="l" indent="0" marL="0">
              <a:lnSpc>
                <a:spcPts val="1350"/>
              </a:lnSpc>
              <a:buNone/>
            </a:pPr>
            <a:r>
              <a:rPr lang="en-US" sz="1000" b="1" dirty="0">
                <a:solidFill>
                  <a:srgbClr val="16191D"/>
                </a:solidFill>
                <a:latin typeface="Calibri" pitchFamily="34" charset="0"/>
                <a:ea typeface="Calibri" pitchFamily="34" charset="-122"/>
                <a:cs typeface="Calibri" pitchFamily="34" charset="-120"/>
              </a:rPr>
              <a:t>44,9% → 46,5%: lift hanya +1,6 poin. Encoding OOF lengkap justru menurunkan QWK.</a:t>
            </a:r>
            <a:endParaRPr lang="en-US" sz="1000" dirty="0"/>
          </a:p>
        </p:txBody>
      </p:sp>
      <p:sp>
        <p:nvSpPr>
          <p:cNvPr id="57" name="Shape 54"/>
          <p:cNvSpPr/>
          <p:nvPr/>
        </p:nvSpPr>
        <p:spPr>
          <a:xfrm>
            <a:off x="6876288" y="4425696"/>
            <a:ext cx="4474159" cy="0"/>
          </a:xfrm>
          <a:prstGeom prst="line">
            <a:avLst/>
          </a:prstGeom>
          <a:noFill/>
          <a:ln w="7620">
            <a:solidFill>
              <a:srgbClr val="DCD8D1"/>
            </a:solidFill>
            <a:prstDash val="solid"/>
          </a:ln>
        </p:spPr>
      </p:sp>
      <p:sp>
        <p:nvSpPr>
          <p:cNvPr id="58" name="Text 55"/>
          <p:cNvSpPr/>
          <p:nvPr/>
        </p:nvSpPr>
        <p:spPr>
          <a:xfrm>
            <a:off x="6876288" y="4498848"/>
            <a:ext cx="4474159" cy="237744"/>
          </a:xfrm>
          <a:prstGeom prst="rect">
            <a:avLst/>
          </a:prstGeom>
          <a:noFill/>
          <a:ln/>
        </p:spPr>
        <p:txBody>
          <a:bodyPr wrap="square" lIns="0" tIns="0" rIns="0" bIns="0" rtlCol="0" anchor="ctr"/>
          <a:lstStyle/>
          <a:p>
            <a:pPr indent="0" marL="0">
              <a:buNone/>
            </a:pPr>
            <a:r>
              <a:rPr lang="en-US" sz="950" b="1" dirty="0">
                <a:solidFill>
                  <a:srgbClr val="16191D"/>
                </a:solidFill>
                <a:latin typeface="Calibri" pitchFamily="34" charset="0"/>
                <a:ea typeface="Calibri" pitchFamily="34" charset="-122"/>
                <a:cs typeface="Calibri" pitchFamily="34" charset="-120"/>
              </a:rPr>
              <a:t>Kolom id sebagai fitur</a:t>
            </a:r>
            <a:endParaRPr lang="en-US" sz="950" dirty="0"/>
          </a:p>
        </p:txBody>
      </p:sp>
      <p:sp>
        <p:nvSpPr>
          <p:cNvPr id="59" name="Text 56"/>
          <p:cNvSpPr/>
          <p:nvPr/>
        </p:nvSpPr>
        <p:spPr>
          <a:xfrm>
            <a:off x="6876288" y="4754880"/>
            <a:ext cx="2460788" cy="256032"/>
          </a:xfrm>
          <a:prstGeom prst="rect">
            <a:avLst/>
          </a:prstGeom>
          <a:noFill/>
          <a:ln/>
        </p:spPr>
        <p:txBody>
          <a:bodyPr wrap="square" lIns="0" tIns="0" rIns="0" bIns="0" rtlCol="0" anchor="ctr"/>
          <a:lstStyle/>
          <a:p>
            <a:pPr indent="0" marL="0">
              <a:buNone/>
            </a:pPr>
            <a:r>
              <a:rPr lang="en-US" sz="950" dirty="0">
                <a:solidFill>
                  <a:srgbClr val="3A4048"/>
                </a:solidFill>
                <a:latin typeface="Calibri" pitchFamily="34" charset="0"/>
                <a:ea typeface="Calibri" pitchFamily="34" charset="-122"/>
                <a:cs typeface="Calibri" pitchFamily="34" charset="-120"/>
              </a:rPr>
              <a:t>Spearman(id, target)</a:t>
            </a:r>
            <a:endParaRPr lang="en-US" sz="950" dirty="0"/>
          </a:p>
        </p:txBody>
      </p:sp>
      <p:sp>
        <p:nvSpPr>
          <p:cNvPr id="60" name="Text 57"/>
          <p:cNvSpPr/>
          <p:nvPr/>
        </p:nvSpPr>
        <p:spPr>
          <a:xfrm>
            <a:off x="9337076" y="4754880"/>
            <a:ext cx="2013372" cy="256032"/>
          </a:xfrm>
          <a:prstGeom prst="rect">
            <a:avLst/>
          </a:prstGeom>
          <a:noFill/>
          <a:ln/>
        </p:spPr>
        <p:txBody>
          <a:bodyPr wrap="square" lIns="0" tIns="0" rIns="0" bIns="0" rtlCol="0" anchor="ctr"/>
          <a:lstStyle/>
          <a:p>
            <a:pPr algn="r" indent="0" marL="0">
              <a:buNone/>
            </a:pPr>
            <a:r>
              <a:rPr lang="en-US" sz="950" b="1" dirty="0">
                <a:solidFill>
                  <a:srgbClr val="16191D"/>
                </a:solidFill>
                <a:latin typeface="Calibri" pitchFamily="34" charset="0"/>
                <a:ea typeface="Calibri" pitchFamily="34" charset="-122"/>
                <a:cs typeface="Calibri" pitchFamily="34" charset="-120"/>
              </a:rPr>
              <a:t>0,00595</a:t>
            </a:r>
            <a:endParaRPr lang="en-US" sz="950" dirty="0"/>
          </a:p>
        </p:txBody>
      </p:sp>
      <p:sp>
        <p:nvSpPr>
          <p:cNvPr id="61" name="Shape 58"/>
          <p:cNvSpPr/>
          <p:nvPr/>
        </p:nvSpPr>
        <p:spPr>
          <a:xfrm>
            <a:off x="6876288" y="5010912"/>
            <a:ext cx="4474159" cy="0"/>
          </a:xfrm>
          <a:prstGeom prst="line">
            <a:avLst/>
          </a:prstGeom>
          <a:noFill/>
          <a:ln w="7620">
            <a:solidFill>
              <a:srgbClr val="DCD8D1"/>
            </a:solidFill>
            <a:prstDash val="solid"/>
          </a:ln>
        </p:spPr>
      </p:sp>
      <p:sp>
        <p:nvSpPr>
          <p:cNvPr id="62" name="Text 59"/>
          <p:cNvSpPr/>
          <p:nvPr/>
        </p:nvSpPr>
        <p:spPr>
          <a:xfrm>
            <a:off x="6876288" y="5010912"/>
            <a:ext cx="2460788" cy="256032"/>
          </a:xfrm>
          <a:prstGeom prst="rect">
            <a:avLst/>
          </a:prstGeom>
          <a:noFill/>
          <a:ln/>
        </p:spPr>
        <p:txBody>
          <a:bodyPr wrap="square" lIns="0" tIns="0" rIns="0" bIns="0" rtlCol="0" anchor="ctr"/>
          <a:lstStyle/>
          <a:p>
            <a:pPr indent="0" marL="0">
              <a:buNone/>
            </a:pPr>
            <a:r>
              <a:rPr lang="en-US" sz="950" dirty="0">
                <a:solidFill>
                  <a:srgbClr val="3A4048"/>
                </a:solidFill>
                <a:latin typeface="Calibri" pitchFamily="34" charset="0"/>
                <a:ea typeface="Calibri" pitchFamily="34" charset="-122"/>
                <a:cs typeface="Calibri" pitchFamily="34" charset="-120"/>
              </a:rPr>
              <a:t>Rata-rata per 20 bin id</a:t>
            </a:r>
            <a:endParaRPr lang="en-US" sz="950" dirty="0"/>
          </a:p>
        </p:txBody>
      </p:sp>
      <p:sp>
        <p:nvSpPr>
          <p:cNvPr id="63" name="Text 60"/>
          <p:cNvSpPr/>
          <p:nvPr/>
        </p:nvSpPr>
        <p:spPr>
          <a:xfrm>
            <a:off x="9337076" y="5010912"/>
            <a:ext cx="2013372" cy="256032"/>
          </a:xfrm>
          <a:prstGeom prst="rect">
            <a:avLst/>
          </a:prstGeom>
          <a:noFill/>
          <a:ln/>
        </p:spPr>
        <p:txBody>
          <a:bodyPr wrap="square" lIns="0" tIns="0" rIns="0" bIns="0" rtlCol="0" anchor="ctr"/>
          <a:lstStyle/>
          <a:p>
            <a:pPr algn="r" indent="0" marL="0">
              <a:buNone/>
            </a:pPr>
            <a:r>
              <a:rPr lang="en-US" sz="950" b="1" dirty="0">
                <a:solidFill>
                  <a:srgbClr val="16191D"/>
                </a:solidFill>
                <a:latin typeface="Calibri" pitchFamily="34" charset="0"/>
                <a:ea typeface="Calibri" pitchFamily="34" charset="-122"/>
                <a:cs typeface="Calibri" pitchFamily="34" charset="-120"/>
              </a:rPr>
              <a:t>1,5925 – 1,6251</a:t>
            </a:r>
            <a:endParaRPr lang="en-US" sz="950" dirty="0"/>
          </a:p>
        </p:txBody>
      </p:sp>
      <p:sp>
        <p:nvSpPr>
          <p:cNvPr id="64" name="Shape 61"/>
          <p:cNvSpPr/>
          <p:nvPr/>
        </p:nvSpPr>
        <p:spPr>
          <a:xfrm>
            <a:off x="6876288" y="5266944"/>
            <a:ext cx="4474159" cy="0"/>
          </a:xfrm>
          <a:prstGeom prst="line">
            <a:avLst/>
          </a:prstGeom>
          <a:noFill/>
          <a:ln w="7620">
            <a:solidFill>
              <a:srgbClr val="DCD8D1"/>
            </a:solidFill>
            <a:prstDash val="solid"/>
          </a:ln>
        </p:spPr>
      </p:sp>
      <p:sp>
        <p:nvSpPr>
          <p:cNvPr id="65" name="Text 62"/>
          <p:cNvSpPr/>
          <p:nvPr/>
        </p:nvSpPr>
        <p:spPr>
          <a:xfrm>
            <a:off x="6876288" y="5266944"/>
            <a:ext cx="2460788" cy="256032"/>
          </a:xfrm>
          <a:prstGeom prst="rect">
            <a:avLst/>
          </a:prstGeom>
          <a:noFill/>
          <a:ln/>
        </p:spPr>
        <p:txBody>
          <a:bodyPr wrap="square" lIns="0" tIns="0" rIns="0" bIns="0" rtlCol="0" anchor="ctr"/>
          <a:lstStyle/>
          <a:p>
            <a:pPr indent="0" marL="0">
              <a:buNone/>
            </a:pPr>
            <a:r>
              <a:rPr lang="en-US" sz="950" dirty="0">
                <a:solidFill>
                  <a:srgbClr val="3A4048"/>
                </a:solidFill>
                <a:latin typeface="Calibri" pitchFamily="34" charset="0"/>
                <a:ea typeface="Calibri" pitchFamily="34" charset="-122"/>
                <a:cs typeface="Calibri" pitchFamily="34" charset="-120"/>
              </a:rPr>
              <a:t>Marginal</a:t>
            </a:r>
            <a:endParaRPr lang="en-US" sz="950" dirty="0"/>
          </a:p>
        </p:txBody>
      </p:sp>
      <p:sp>
        <p:nvSpPr>
          <p:cNvPr id="66" name="Text 63"/>
          <p:cNvSpPr/>
          <p:nvPr/>
        </p:nvSpPr>
        <p:spPr>
          <a:xfrm>
            <a:off x="9337076" y="5266944"/>
            <a:ext cx="2013372" cy="256032"/>
          </a:xfrm>
          <a:prstGeom prst="rect">
            <a:avLst/>
          </a:prstGeom>
          <a:noFill/>
          <a:ln/>
        </p:spPr>
        <p:txBody>
          <a:bodyPr wrap="square" lIns="0" tIns="0" rIns="0" bIns="0" rtlCol="0" anchor="ctr"/>
          <a:lstStyle/>
          <a:p>
            <a:pPr algn="r" indent="0" marL="0">
              <a:buNone/>
            </a:pPr>
            <a:r>
              <a:rPr lang="en-US" sz="950" b="1" dirty="0">
                <a:solidFill>
                  <a:srgbClr val="16191D"/>
                </a:solidFill>
                <a:latin typeface="Calibri" pitchFamily="34" charset="0"/>
                <a:ea typeface="Calibri" pitchFamily="34" charset="-122"/>
                <a:cs typeface="Calibri" pitchFamily="34" charset="-120"/>
              </a:rPr>
              <a:t>1,6065</a:t>
            </a:r>
            <a:endParaRPr lang="en-US" sz="950" dirty="0"/>
          </a:p>
        </p:txBody>
      </p:sp>
      <p:sp>
        <p:nvSpPr>
          <p:cNvPr id="67" name="Text 64"/>
          <p:cNvSpPr/>
          <p:nvPr/>
        </p:nvSpPr>
        <p:spPr>
          <a:xfrm>
            <a:off x="6876288" y="5559552"/>
            <a:ext cx="4474159" cy="548640"/>
          </a:xfrm>
          <a:prstGeom prst="rect">
            <a:avLst/>
          </a:prstGeom>
          <a:noFill/>
          <a:ln/>
        </p:spPr>
        <p:txBody>
          <a:bodyPr wrap="square" lIns="0" tIns="0" rIns="0" bIns="0" rtlCol="0" anchor="t"/>
          <a:lstStyle/>
          <a:p>
            <a:pPr indent="0" marL="0">
              <a:lnSpc>
                <a:spcPts val="1300"/>
              </a:lnSpc>
              <a:buNone/>
            </a:pPr>
            <a:r>
              <a:rPr lang="en-US" sz="1000" b="1" dirty="0">
                <a:solidFill>
                  <a:srgbClr val="A8442A"/>
                </a:solidFill>
                <a:latin typeface="Calibri" pitchFamily="34" charset="0"/>
                <a:ea typeface="Calibri" pitchFamily="34" charset="-122"/>
                <a:cs typeface="Calibri" pitchFamily="34" charset="-120"/>
              </a:rPr>
              <a:t>Implikasi: </a:t>
            </a:r>
            <a:pPr indent="0" marL="0">
              <a:lnSpc>
                <a:spcPts val="1300"/>
              </a:lnSpc>
              <a:buNone/>
            </a:pPr>
            <a:r>
              <a:rPr lang="en-US" sz="1000" dirty="0">
                <a:solidFill>
                  <a:srgbClr val="3A4048"/>
                </a:solidFill>
                <a:latin typeface="Calibri" pitchFamily="34" charset="0"/>
                <a:ea typeface="Calibri" pitchFamily="34" charset="-122"/>
                <a:cs typeface="Calibri" pitchFamily="34" charset="-120"/>
              </a:rPr>
              <a:t>household_id dan id dibuang. Temuan sampingan: id uji tidak unik, submission harus 23.666 baris.</a:t>
            </a:r>
            <a:endParaRPr lang="en-US" sz="1000" dirty="0"/>
          </a:p>
        </p:txBody>
      </p:sp>
      <p:sp>
        <p:nvSpPr>
          <p:cNvPr id="69" name="Shape 65"/>
          <p:cNvSpPr/>
          <p:nvPr/>
        </p:nvSpPr>
        <p:spPr>
          <a:xfrm>
            <a:off x="640080" y="6400800"/>
            <a:ext cx="1572768" cy="45720"/>
          </a:xfrm>
          <a:prstGeom prst="rect">
            <a:avLst/>
          </a:prstGeom>
          <a:solidFill>
            <a:srgbClr val="DCD8D1"/>
          </a:solidFill>
          <a:ln/>
        </p:spPr>
      </p:sp>
      <p:sp>
        <p:nvSpPr>
          <p:cNvPr id="70" name="Text 66"/>
          <p:cNvSpPr/>
          <p:nvPr/>
        </p:nvSpPr>
        <p:spPr>
          <a:xfrm>
            <a:off x="640080"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I · Latar &amp; data</a:t>
            </a:r>
            <a:endParaRPr lang="en-US" sz="850" dirty="0"/>
          </a:p>
        </p:txBody>
      </p:sp>
      <p:sp>
        <p:nvSpPr>
          <p:cNvPr id="71" name="Shape 67"/>
          <p:cNvSpPr/>
          <p:nvPr/>
        </p:nvSpPr>
        <p:spPr>
          <a:xfrm>
            <a:off x="2304288" y="6400800"/>
            <a:ext cx="1572768" cy="45720"/>
          </a:xfrm>
          <a:prstGeom prst="rect">
            <a:avLst/>
          </a:prstGeom>
          <a:solidFill>
            <a:srgbClr val="A8442A"/>
          </a:solidFill>
          <a:ln/>
        </p:spPr>
      </p:sp>
      <p:sp>
        <p:nvSpPr>
          <p:cNvPr id="72" name="Text 68"/>
          <p:cNvSpPr/>
          <p:nvPr/>
        </p:nvSpPr>
        <p:spPr>
          <a:xfrm>
            <a:off x="2304288" y="6464808"/>
            <a:ext cx="1572768" cy="201168"/>
          </a:xfrm>
          <a:prstGeom prst="rect">
            <a:avLst/>
          </a:prstGeom>
          <a:noFill/>
          <a:ln/>
        </p:spPr>
        <p:txBody>
          <a:bodyPr wrap="square" lIns="0" tIns="0" rIns="0" bIns="0" rtlCol="0" anchor="ctr"/>
          <a:lstStyle/>
          <a:p>
            <a:pPr indent="0" marL="0">
              <a:buNone/>
            </a:pPr>
            <a:r>
              <a:rPr lang="en-US" sz="850" b="1" dirty="0">
                <a:solidFill>
                  <a:srgbClr val="16191D"/>
                </a:solidFill>
                <a:latin typeface="Calibri" pitchFamily="34" charset="0"/>
                <a:ea typeface="Calibri" pitchFamily="34" charset="-122"/>
                <a:cs typeface="Calibri" pitchFamily="34" charset="-120"/>
              </a:rPr>
              <a:t>II · EDA</a:t>
            </a:r>
            <a:endParaRPr lang="en-US" sz="850" dirty="0"/>
          </a:p>
        </p:txBody>
      </p:sp>
      <p:sp>
        <p:nvSpPr>
          <p:cNvPr id="73" name="Shape 69"/>
          <p:cNvSpPr/>
          <p:nvPr/>
        </p:nvSpPr>
        <p:spPr>
          <a:xfrm>
            <a:off x="3968496" y="6400800"/>
            <a:ext cx="1572768" cy="45720"/>
          </a:xfrm>
          <a:prstGeom prst="rect">
            <a:avLst/>
          </a:prstGeom>
          <a:solidFill>
            <a:srgbClr val="DCD8D1"/>
          </a:solidFill>
          <a:ln/>
        </p:spPr>
      </p:sp>
      <p:sp>
        <p:nvSpPr>
          <p:cNvPr id="74" name="Text 70"/>
          <p:cNvSpPr/>
          <p:nvPr/>
        </p:nvSpPr>
        <p:spPr>
          <a:xfrm>
            <a:off x="3968496"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III · Pipeline</a:t>
            </a:r>
            <a:endParaRPr lang="en-US" sz="850" dirty="0"/>
          </a:p>
        </p:txBody>
      </p:sp>
      <p:sp>
        <p:nvSpPr>
          <p:cNvPr id="75" name="Shape 71"/>
          <p:cNvSpPr/>
          <p:nvPr/>
        </p:nvSpPr>
        <p:spPr>
          <a:xfrm>
            <a:off x="5632704" y="6400800"/>
            <a:ext cx="1572768" cy="45720"/>
          </a:xfrm>
          <a:prstGeom prst="rect">
            <a:avLst/>
          </a:prstGeom>
          <a:solidFill>
            <a:srgbClr val="DCD8D1"/>
          </a:solidFill>
          <a:ln/>
        </p:spPr>
      </p:sp>
      <p:sp>
        <p:nvSpPr>
          <p:cNvPr id="76" name="Text 72"/>
          <p:cNvSpPr/>
          <p:nvPr/>
        </p:nvSpPr>
        <p:spPr>
          <a:xfrm>
            <a:off x="5632704"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IV · Disiplin estimasi</a:t>
            </a:r>
            <a:endParaRPr lang="en-US" sz="850" dirty="0"/>
          </a:p>
        </p:txBody>
      </p:sp>
      <p:sp>
        <p:nvSpPr>
          <p:cNvPr id="77" name="Shape 73"/>
          <p:cNvSpPr/>
          <p:nvPr/>
        </p:nvSpPr>
        <p:spPr>
          <a:xfrm>
            <a:off x="7296912" y="6400800"/>
            <a:ext cx="1572768" cy="45720"/>
          </a:xfrm>
          <a:prstGeom prst="rect">
            <a:avLst/>
          </a:prstGeom>
          <a:solidFill>
            <a:srgbClr val="DCD8D1"/>
          </a:solidFill>
          <a:ln/>
        </p:spPr>
      </p:sp>
      <p:sp>
        <p:nvSpPr>
          <p:cNvPr id="78" name="Text 74"/>
          <p:cNvSpPr/>
          <p:nvPr/>
        </p:nvSpPr>
        <p:spPr>
          <a:xfrm>
            <a:off x="7296912"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V · Hasil &amp; plafon</a:t>
            </a:r>
            <a:endParaRPr lang="en-US" sz="850" dirty="0"/>
          </a:p>
        </p:txBody>
      </p:sp>
      <p:sp>
        <p:nvSpPr>
          <p:cNvPr id="79" name="Shape 75"/>
          <p:cNvSpPr/>
          <p:nvPr/>
        </p:nvSpPr>
        <p:spPr>
          <a:xfrm>
            <a:off x="8961120" y="6400800"/>
            <a:ext cx="1572768" cy="45720"/>
          </a:xfrm>
          <a:prstGeom prst="rect">
            <a:avLst/>
          </a:prstGeom>
          <a:solidFill>
            <a:srgbClr val="DCD8D1"/>
          </a:solidFill>
          <a:ln/>
        </p:spPr>
      </p:sp>
      <p:sp>
        <p:nvSpPr>
          <p:cNvPr id="80" name="Text 76"/>
          <p:cNvSpPr/>
          <p:nvPr/>
        </p:nvSpPr>
        <p:spPr>
          <a:xfrm>
            <a:off x="8961120"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VI · Reproduksi &amp; produk</a:t>
            </a:r>
            <a:endParaRPr lang="en-US" sz="850" dirty="0"/>
          </a:p>
        </p:txBody>
      </p:sp>
      <p:sp>
        <p:nvSpPr>
          <p:cNvPr id="81" name="Text 77"/>
          <p:cNvSpPr/>
          <p:nvPr/>
        </p:nvSpPr>
        <p:spPr>
          <a:xfrm>
            <a:off x="10637215" y="6382512"/>
            <a:ext cx="914400" cy="274320"/>
          </a:xfrm>
          <a:prstGeom prst="rect">
            <a:avLst/>
          </a:prstGeom>
          <a:noFill/>
          <a:ln/>
        </p:spPr>
        <p:txBody>
          <a:bodyPr wrap="square" lIns="0" tIns="0" rIns="0" bIns="0" rtlCol="0" anchor="ctr"/>
          <a:lstStyle/>
          <a:p>
            <a:pPr algn="r" indent="0" marL="0">
              <a:buNone/>
            </a:pPr>
            <a:r>
              <a:rPr lang="en-US" sz="900" b="1" dirty="0">
                <a:solidFill>
                  <a:srgbClr val="9AA0A7"/>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566928"/>
            <a:ext cx="10911535" cy="548640"/>
          </a:xfrm>
          <a:prstGeom prst="rect">
            <a:avLst/>
          </a:prstGeom>
          <a:noFill/>
          <a:ln/>
        </p:spPr>
        <p:txBody>
          <a:bodyPr wrap="square" lIns="0" tIns="0" rIns="0" bIns="0" rtlCol="0" anchor="t"/>
          <a:lstStyle/>
          <a:p>
            <a:pPr indent="0" marL="0">
              <a:lnSpc>
                <a:spcPts val="3360"/>
              </a:lnSpc>
              <a:buNone/>
            </a:pPr>
            <a:r>
              <a:rPr lang="en-US" sz="3000" b="1" dirty="0">
                <a:solidFill>
                  <a:srgbClr val="16191D"/>
                </a:solidFill>
                <a:latin typeface="Cambria" pitchFamily="34" charset="0"/>
                <a:ea typeface="Cambria" pitchFamily="34" charset="-122"/>
                <a:cs typeface="Cambria" pitchFamily="34" charset="-120"/>
              </a:rPr>
              <a:t>Tiap keputusan desain terlacak ke satu temuan EDA.</a:t>
            </a:r>
            <a:endParaRPr lang="en-US" sz="3000" dirty="0"/>
          </a:p>
        </p:txBody>
      </p:sp>
      <p:sp>
        <p:nvSpPr>
          <p:cNvPr id="3" name="Text 1"/>
          <p:cNvSpPr/>
          <p:nvPr/>
        </p:nvSpPr>
        <p:spPr>
          <a:xfrm>
            <a:off x="640080" y="1225296"/>
            <a:ext cx="10911535" cy="384048"/>
          </a:xfrm>
          <a:prstGeom prst="rect">
            <a:avLst/>
          </a:prstGeom>
          <a:noFill/>
          <a:ln/>
        </p:spPr>
        <p:txBody>
          <a:bodyPr wrap="square" lIns="0" tIns="0" rIns="0" bIns="0" rtlCol="0" anchor="t"/>
          <a:lstStyle/>
          <a:p>
            <a:pPr indent="0" marL="0">
              <a:lnSpc>
                <a:spcPts val="1900"/>
              </a:lnSpc>
              <a:buNone/>
            </a:pPr>
            <a:r>
              <a:rPr lang="en-US" sz="1350" dirty="0">
                <a:solidFill>
                  <a:srgbClr val="6E747C"/>
                </a:solidFill>
                <a:latin typeface="Calibri" pitchFamily="34" charset="0"/>
                <a:ea typeface="Calibri" pitchFamily="34" charset="-122"/>
                <a:cs typeface="Calibri" pitchFamily="34" charset="-120"/>
              </a:rPr>
              <a:t>Tidak ada keputusan yang diambil karena kebiasaan.</a:t>
            </a:r>
            <a:endParaRPr lang="en-US" sz="1350" dirty="0"/>
          </a:p>
        </p:txBody>
      </p:sp>
      <p:sp>
        <p:nvSpPr>
          <p:cNvPr id="4" name="Text 2"/>
          <p:cNvSpPr/>
          <p:nvPr/>
        </p:nvSpPr>
        <p:spPr>
          <a:xfrm>
            <a:off x="640080" y="1810512"/>
            <a:ext cx="3362858" cy="274320"/>
          </a:xfrm>
          <a:prstGeom prst="rect">
            <a:avLst/>
          </a:prstGeom>
          <a:noFill/>
          <a:ln/>
        </p:spPr>
        <p:txBody>
          <a:bodyPr wrap="square" lIns="0" tIns="0" rIns="0" bIns="0" rtlCol="0" anchor="ctr"/>
          <a:lstStyle/>
          <a:p>
            <a:pPr indent="0" marL="0">
              <a:buNone/>
            </a:pPr>
            <a:r>
              <a:rPr lang="en-US" sz="950" b="1" spc="130" kern="0" dirty="0">
                <a:solidFill>
                  <a:srgbClr val="6E747C"/>
                </a:solidFill>
                <a:latin typeface="Calibri" pitchFamily="34" charset="0"/>
                <a:ea typeface="Calibri" pitchFamily="34" charset="-122"/>
                <a:cs typeface="Calibri" pitchFamily="34" charset="-120"/>
              </a:rPr>
              <a:t>TEMUAN EDA</a:t>
            </a:r>
            <a:endParaRPr lang="en-US" sz="950" dirty="0"/>
          </a:p>
        </p:txBody>
      </p:sp>
      <p:sp>
        <p:nvSpPr>
          <p:cNvPr id="5" name="Text 3"/>
          <p:cNvSpPr/>
          <p:nvPr/>
        </p:nvSpPr>
        <p:spPr>
          <a:xfrm>
            <a:off x="4414418" y="1810512"/>
            <a:ext cx="3362858" cy="274320"/>
          </a:xfrm>
          <a:prstGeom prst="rect">
            <a:avLst/>
          </a:prstGeom>
          <a:noFill/>
          <a:ln/>
        </p:spPr>
        <p:txBody>
          <a:bodyPr wrap="square" lIns="0" tIns="0" rIns="0" bIns="0" rtlCol="0" anchor="ctr"/>
          <a:lstStyle/>
          <a:p>
            <a:pPr indent="0" marL="0">
              <a:buNone/>
            </a:pPr>
            <a:r>
              <a:rPr lang="en-US" sz="950" b="1" spc="130" kern="0" dirty="0">
                <a:solidFill>
                  <a:srgbClr val="6E747C"/>
                </a:solidFill>
                <a:latin typeface="Calibri" pitchFamily="34" charset="0"/>
                <a:ea typeface="Calibri" pitchFamily="34" charset="-122"/>
                <a:cs typeface="Calibri" pitchFamily="34" charset="-120"/>
              </a:rPr>
              <a:t>ARTINYA</a:t>
            </a:r>
            <a:endParaRPr lang="en-US" sz="950" dirty="0"/>
          </a:p>
        </p:txBody>
      </p:sp>
      <p:sp>
        <p:nvSpPr>
          <p:cNvPr id="6" name="Text 4"/>
          <p:cNvSpPr/>
          <p:nvPr/>
        </p:nvSpPr>
        <p:spPr>
          <a:xfrm>
            <a:off x="8188757" y="1810512"/>
            <a:ext cx="3362858" cy="274320"/>
          </a:xfrm>
          <a:prstGeom prst="rect">
            <a:avLst/>
          </a:prstGeom>
          <a:noFill/>
          <a:ln/>
        </p:spPr>
        <p:txBody>
          <a:bodyPr wrap="square" lIns="0" tIns="0" rIns="0" bIns="0" rtlCol="0" anchor="ctr"/>
          <a:lstStyle/>
          <a:p>
            <a:pPr indent="0" marL="0">
              <a:buNone/>
            </a:pPr>
            <a:r>
              <a:rPr lang="en-US" sz="950" b="1" spc="130" kern="0" dirty="0">
                <a:solidFill>
                  <a:srgbClr val="6E747C"/>
                </a:solidFill>
                <a:latin typeface="Calibri" pitchFamily="34" charset="0"/>
                <a:ea typeface="Calibri" pitchFamily="34" charset="-122"/>
                <a:cs typeface="Calibri" pitchFamily="34" charset="-120"/>
              </a:rPr>
              <a:t>KEPUTUSAN DESAIN</a:t>
            </a:r>
            <a:endParaRPr lang="en-US" sz="950" dirty="0"/>
          </a:p>
        </p:txBody>
      </p:sp>
      <p:sp>
        <p:nvSpPr>
          <p:cNvPr id="7" name="Shape 5"/>
          <p:cNvSpPr/>
          <p:nvPr/>
        </p:nvSpPr>
        <p:spPr>
          <a:xfrm>
            <a:off x="640080" y="2103120"/>
            <a:ext cx="10911535" cy="0"/>
          </a:xfrm>
          <a:prstGeom prst="line">
            <a:avLst/>
          </a:prstGeom>
          <a:noFill/>
          <a:ln w="15240">
            <a:solidFill>
              <a:srgbClr val="16191D"/>
            </a:solidFill>
            <a:prstDash val="solid"/>
          </a:ln>
        </p:spPr>
      </p:sp>
      <p:sp>
        <p:nvSpPr>
          <p:cNvPr id="8" name="Text 6"/>
          <p:cNvSpPr/>
          <p:nvPr/>
        </p:nvSpPr>
        <p:spPr>
          <a:xfrm>
            <a:off x="640080" y="2194560"/>
            <a:ext cx="3362858" cy="310896"/>
          </a:xfrm>
          <a:prstGeom prst="rect">
            <a:avLst/>
          </a:prstGeom>
          <a:noFill/>
          <a:ln/>
        </p:spPr>
        <p:txBody>
          <a:bodyPr wrap="square" lIns="0" tIns="0" rIns="0" bIns="0" rtlCol="0" anchor="ctr"/>
          <a:lstStyle/>
          <a:p>
            <a:pPr indent="0" marL="0">
              <a:lnSpc>
                <a:spcPts val="1300"/>
              </a:lnSpc>
              <a:buNone/>
            </a:pPr>
            <a:r>
              <a:rPr lang="en-US" sz="1000" dirty="0">
                <a:solidFill>
                  <a:srgbClr val="3A4048"/>
                </a:solidFill>
                <a:latin typeface="Calibri" pitchFamily="34" charset="0"/>
                <a:ea typeface="Calibri" pitchFamily="34" charset="-122"/>
                <a:cs typeface="Calibri" pitchFamily="34" charset="-120"/>
              </a:rPr>
              <a:t>Target timpang 44,9 / 50,4 / 3,7 / 0,9</a:t>
            </a:r>
            <a:endParaRPr lang="en-US" sz="1000" dirty="0"/>
          </a:p>
        </p:txBody>
      </p:sp>
      <p:sp>
        <p:nvSpPr>
          <p:cNvPr id="9" name="Text 7"/>
          <p:cNvSpPr/>
          <p:nvPr/>
        </p:nvSpPr>
        <p:spPr>
          <a:xfrm>
            <a:off x="4057802" y="2194560"/>
            <a:ext cx="301752" cy="310896"/>
          </a:xfrm>
          <a:prstGeom prst="rect">
            <a:avLst/>
          </a:prstGeom>
          <a:noFill/>
          <a:ln/>
        </p:spPr>
        <p:txBody>
          <a:bodyPr wrap="square" lIns="0" tIns="0" rIns="0" bIns="0" rtlCol="0" anchor="ctr"/>
          <a:lstStyle/>
          <a:p>
            <a:pPr algn="ctr" indent="0" marL="0">
              <a:buNone/>
            </a:pPr>
            <a:r>
              <a:rPr lang="en-US" sz="1100" dirty="0">
                <a:solidFill>
                  <a:srgbClr val="9AA0A7"/>
                </a:solidFill>
                <a:latin typeface="Calibri" pitchFamily="34" charset="0"/>
                <a:ea typeface="Calibri" pitchFamily="34" charset="-122"/>
                <a:cs typeface="Calibri" pitchFamily="34" charset="-120"/>
              </a:rPr>
              <a:t>→</a:t>
            </a:r>
            <a:endParaRPr lang="en-US" sz="1100" dirty="0"/>
          </a:p>
        </p:txBody>
      </p:sp>
      <p:sp>
        <p:nvSpPr>
          <p:cNvPr id="10" name="Text 8"/>
          <p:cNvSpPr/>
          <p:nvPr/>
        </p:nvSpPr>
        <p:spPr>
          <a:xfrm>
            <a:off x="4414418" y="2194560"/>
            <a:ext cx="3362858" cy="310896"/>
          </a:xfrm>
          <a:prstGeom prst="rect">
            <a:avLst/>
          </a:prstGeom>
          <a:noFill/>
          <a:ln/>
        </p:spPr>
        <p:txBody>
          <a:bodyPr wrap="square" lIns="0" tIns="0" rIns="0" bIns="0" rtlCol="0" anchor="ctr"/>
          <a:lstStyle/>
          <a:p>
            <a:pPr indent="0" marL="0">
              <a:lnSpc>
                <a:spcPts val="1300"/>
              </a:lnSpc>
              <a:buNone/>
            </a:pPr>
            <a:r>
              <a:rPr lang="en-US" sz="1000" dirty="0">
                <a:solidFill>
                  <a:srgbClr val="3A4048"/>
                </a:solidFill>
                <a:latin typeface="Calibri" pitchFamily="34" charset="0"/>
                <a:ea typeface="Calibri" pitchFamily="34" charset="-122"/>
                <a:cs typeface="Calibri" pitchFamily="34" charset="-120"/>
              </a:rPr>
              <a:t>Baseline QWK nol meski akurasi 50,4%</a:t>
            </a:r>
            <a:endParaRPr lang="en-US" sz="1000" dirty="0"/>
          </a:p>
        </p:txBody>
      </p:sp>
      <p:sp>
        <p:nvSpPr>
          <p:cNvPr id="11" name="Text 9"/>
          <p:cNvSpPr/>
          <p:nvPr/>
        </p:nvSpPr>
        <p:spPr>
          <a:xfrm>
            <a:off x="7832141" y="2194560"/>
            <a:ext cx="301752" cy="310896"/>
          </a:xfrm>
          <a:prstGeom prst="rect">
            <a:avLst/>
          </a:prstGeom>
          <a:noFill/>
          <a:ln/>
        </p:spPr>
        <p:txBody>
          <a:bodyPr wrap="square" lIns="0" tIns="0" rIns="0" bIns="0" rtlCol="0" anchor="ctr"/>
          <a:lstStyle/>
          <a:p>
            <a:pPr algn="ctr" indent="0" marL="0">
              <a:buNone/>
            </a:pPr>
            <a:r>
              <a:rPr lang="en-US" sz="1100" dirty="0">
                <a:solidFill>
                  <a:srgbClr val="9AA0A7"/>
                </a:solidFill>
                <a:latin typeface="Calibri" pitchFamily="34" charset="0"/>
                <a:ea typeface="Calibri" pitchFamily="34" charset="-122"/>
                <a:cs typeface="Calibri" pitchFamily="34" charset="-120"/>
              </a:rPr>
              <a:t>→</a:t>
            </a:r>
            <a:endParaRPr lang="en-US" sz="1100" dirty="0"/>
          </a:p>
        </p:txBody>
      </p:sp>
      <p:sp>
        <p:nvSpPr>
          <p:cNvPr id="12" name="Text 10"/>
          <p:cNvSpPr/>
          <p:nvPr/>
        </p:nvSpPr>
        <p:spPr>
          <a:xfrm>
            <a:off x="8188757" y="2194560"/>
            <a:ext cx="3362858" cy="310896"/>
          </a:xfrm>
          <a:prstGeom prst="rect">
            <a:avLst/>
          </a:prstGeom>
          <a:noFill/>
          <a:ln/>
        </p:spPr>
        <p:txBody>
          <a:bodyPr wrap="square" lIns="0" tIns="0" rIns="0" bIns="0" rtlCol="0" anchor="ctr"/>
          <a:lstStyle/>
          <a:p>
            <a:pPr indent="0" marL="0">
              <a:lnSpc>
                <a:spcPts val="1300"/>
              </a:lnSpc>
              <a:buNone/>
            </a:pPr>
            <a:r>
              <a:rPr lang="en-US" sz="1000" b="1" dirty="0">
                <a:solidFill>
                  <a:srgbClr val="16191D"/>
                </a:solidFill>
                <a:latin typeface="Calibri" pitchFamily="34" charset="0"/>
                <a:ea typeface="Calibri" pitchFamily="34" charset="-122"/>
                <a:cs typeface="Calibri" pitchFamily="34" charset="-120"/>
              </a:rPr>
              <a:t>Optimasi ambang, bukan argmax</a:t>
            </a:r>
            <a:endParaRPr lang="en-US" sz="1000" dirty="0"/>
          </a:p>
        </p:txBody>
      </p:sp>
      <p:sp>
        <p:nvSpPr>
          <p:cNvPr id="13" name="Shape 11"/>
          <p:cNvSpPr/>
          <p:nvPr/>
        </p:nvSpPr>
        <p:spPr>
          <a:xfrm>
            <a:off x="640080" y="2505456"/>
            <a:ext cx="10911535" cy="0"/>
          </a:xfrm>
          <a:prstGeom prst="line">
            <a:avLst/>
          </a:prstGeom>
          <a:noFill/>
          <a:ln w="7620">
            <a:solidFill>
              <a:srgbClr val="DCD8D1"/>
            </a:solidFill>
            <a:prstDash val="solid"/>
          </a:ln>
        </p:spPr>
      </p:sp>
      <p:sp>
        <p:nvSpPr>
          <p:cNvPr id="14" name="Text 12"/>
          <p:cNvSpPr/>
          <p:nvPr/>
        </p:nvSpPr>
        <p:spPr>
          <a:xfrm>
            <a:off x="640080" y="2560320"/>
            <a:ext cx="3362858" cy="310896"/>
          </a:xfrm>
          <a:prstGeom prst="rect">
            <a:avLst/>
          </a:prstGeom>
          <a:noFill/>
          <a:ln/>
        </p:spPr>
        <p:txBody>
          <a:bodyPr wrap="square" lIns="0" tIns="0" rIns="0" bIns="0" rtlCol="0" anchor="ctr"/>
          <a:lstStyle/>
          <a:p>
            <a:pPr indent="0" marL="0">
              <a:lnSpc>
                <a:spcPts val="1300"/>
              </a:lnSpc>
              <a:buNone/>
            </a:pPr>
            <a:r>
              <a:rPr lang="en-US" sz="1000" dirty="0">
                <a:solidFill>
                  <a:srgbClr val="3A4048"/>
                </a:solidFill>
                <a:latin typeface="Calibri" pitchFamily="34" charset="0"/>
                <a:ea typeface="Calibri" pitchFamily="34" charset="-122"/>
                <a:cs typeface="Calibri" pitchFamily="34" charset="-120"/>
              </a:rPr>
              <a:t>QWK berbobot kuadratik</a:t>
            </a:r>
            <a:endParaRPr lang="en-US" sz="1000" dirty="0"/>
          </a:p>
        </p:txBody>
      </p:sp>
      <p:sp>
        <p:nvSpPr>
          <p:cNvPr id="15" name="Text 13"/>
          <p:cNvSpPr/>
          <p:nvPr/>
        </p:nvSpPr>
        <p:spPr>
          <a:xfrm>
            <a:off x="4057802" y="2560320"/>
            <a:ext cx="301752" cy="310896"/>
          </a:xfrm>
          <a:prstGeom prst="rect">
            <a:avLst/>
          </a:prstGeom>
          <a:noFill/>
          <a:ln/>
        </p:spPr>
        <p:txBody>
          <a:bodyPr wrap="square" lIns="0" tIns="0" rIns="0" bIns="0" rtlCol="0" anchor="ctr"/>
          <a:lstStyle/>
          <a:p>
            <a:pPr algn="ctr" indent="0" marL="0">
              <a:buNone/>
            </a:pPr>
            <a:r>
              <a:rPr lang="en-US" sz="1100" dirty="0">
                <a:solidFill>
                  <a:srgbClr val="9AA0A7"/>
                </a:solidFill>
                <a:latin typeface="Calibri" pitchFamily="34" charset="0"/>
                <a:ea typeface="Calibri" pitchFamily="34" charset="-122"/>
                <a:cs typeface="Calibri" pitchFamily="34" charset="-120"/>
              </a:rPr>
              <a:t>→</a:t>
            </a:r>
            <a:endParaRPr lang="en-US" sz="1100" dirty="0"/>
          </a:p>
        </p:txBody>
      </p:sp>
      <p:sp>
        <p:nvSpPr>
          <p:cNvPr id="16" name="Text 14"/>
          <p:cNvSpPr/>
          <p:nvPr/>
        </p:nvSpPr>
        <p:spPr>
          <a:xfrm>
            <a:off x="4414418" y="2560320"/>
            <a:ext cx="3362858" cy="310896"/>
          </a:xfrm>
          <a:prstGeom prst="rect">
            <a:avLst/>
          </a:prstGeom>
          <a:noFill/>
          <a:ln/>
        </p:spPr>
        <p:txBody>
          <a:bodyPr wrap="square" lIns="0" tIns="0" rIns="0" bIns="0" rtlCol="0" anchor="ctr"/>
          <a:lstStyle/>
          <a:p>
            <a:pPr indent="0" marL="0">
              <a:lnSpc>
                <a:spcPts val="1300"/>
              </a:lnSpc>
              <a:buNone/>
            </a:pPr>
            <a:r>
              <a:rPr lang="en-US" sz="1000" dirty="0">
                <a:solidFill>
                  <a:srgbClr val="3A4048"/>
                </a:solidFill>
                <a:latin typeface="Calibri" pitchFamily="34" charset="0"/>
                <a:ea typeface="Calibri" pitchFamily="34" charset="-122"/>
                <a:cs typeface="Calibri" pitchFamily="34" charset="-120"/>
              </a:rPr>
              <a:t>Galat berjarak jauh dihukum 9 kali</a:t>
            </a:r>
            <a:endParaRPr lang="en-US" sz="1000" dirty="0"/>
          </a:p>
        </p:txBody>
      </p:sp>
      <p:sp>
        <p:nvSpPr>
          <p:cNvPr id="17" name="Text 15"/>
          <p:cNvSpPr/>
          <p:nvPr/>
        </p:nvSpPr>
        <p:spPr>
          <a:xfrm>
            <a:off x="7832141" y="2560320"/>
            <a:ext cx="301752" cy="310896"/>
          </a:xfrm>
          <a:prstGeom prst="rect">
            <a:avLst/>
          </a:prstGeom>
          <a:noFill/>
          <a:ln/>
        </p:spPr>
        <p:txBody>
          <a:bodyPr wrap="square" lIns="0" tIns="0" rIns="0" bIns="0" rtlCol="0" anchor="ctr"/>
          <a:lstStyle/>
          <a:p>
            <a:pPr algn="ctr" indent="0" marL="0">
              <a:buNone/>
            </a:pPr>
            <a:r>
              <a:rPr lang="en-US" sz="1100" dirty="0">
                <a:solidFill>
                  <a:srgbClr val="9AA0A7"/>
                </a:solidFill>
                <a:latin typeface="Calibri" pitchFamily="34" charset="0"/>
                <a:ea typeface="Calibri" pitchFamily="34" charset="-122"/>
                <a:cs typeface="Calibri" pitchFamily="34" charset="-120"/>
              </a:rPr>
              <a:t>→</a:t>
            </a:r>
            <a:endParaRPr lang="en-US" sz="1100" dirty="0"/>
          </a:p>
        </p:txBody>
      </p:sp>
      <p:sp>
        <p:nvSpPr>
          <p:cNvPr id="18" name="Text 16"/>
          <p:cNvSpPr/>
          <p:nvPr/>
        </p:nvSpPr>
        <p:spPr>
          <a:xfrm>
            <a:off x="8188757" y="2560320"/>
            <a:ext cx="3362858" cy="310896"/>
          </a:xfrm>
          <a:prstGeom prst="rect">
            <a:avLst/>
          </a:prstGeom>
          <a:noFill/>
          <a:ln/>
        </p:spPr>
        <p:txBody>
          <a:bodyPr wrap="square" lIns="0" tIns="0" rIns="0" bIns="0" rtlCol="0" anchor="ctr"/>
          <a:lstStyle/>
          <a:p>
            <a:pPr indent="0" marL="0">
              <a:lnSpc>
                <a:spcPts val="1300"/>
              </a:lnSpc>
              <a:buNone/>
            </a:pPr>
            <a:r>
              <a:rPr lang="en-US" sz="1000" b="1" dirty="0">
                <a:solidFill>
                  <a:srgbClr val="16191D"/>
                </a:solidFill>
                <a:latin typeface="Calibri" pitchFamily="34" charset="0"/>
                <a:ea typeface="Calibri" pitchFamily="34" charset="-122"/>
                <a:cs typeface="Calibri" pitchFamily="34" charset="-120"/>
              </a:rPr>
              <a:t>Perlakuan ordinal lewat nilai harapan</a:t>
            </a:r>
            <a:endParaRPr lang="en-US" sz="1000" dirty="0"/>
          </a:p>
        </p:txBody>
      </p:sp>
      <p:sp>
        <p:nvSpPr>
          <p:cNvPr id="19" name="Shape 17"/>
          <p:cNvSpPr/>
          <p:nvPr/>
        </p:nvSpPr>
        <p:spPr>
          <a:xfrm>
            <a:off x="640080" y="2871216"/>
            <a:ext cx="10911535" cy="0"/>
          </a:xfrm>
          <a:prstGeom prst="line">
            <a:avLst/>
          </a:prstGeom>
          <a:noFill/>
          <a:ln w="7620">
            <a:solidFill>
              <a:srgbClr val="DCD8D1"/>
            </a:solidFill>
            <a:prstDash val="solid"/>
          </a:ln>
        </p:spPr>
      </p:sp>
      <p:sp>
        <p:nvSpPr>
          <p:cNvPr id="20" name="Text 18"/>
          <p:cNvSpPr/>
          <p:nvPr/>
        </p:nvSpPr>
        <p:spPr>
          <a:xfrm>
            <a:off x="640080" y="2926080"/>
            <a:ext cx="3362858" cy="310896"/>
          </a:xfrm>
          <a:prstGeom prst="rect">
            <a:avLst/>
          </a:prstGeom>
          <a:noFill/>
          <a:ln/>
        </p:spPr>
        <p:txBody>
          <a:bodyPr wrap="square" lIns="0" tIns="0" rIns="0" bIns="0" rtlCol="0" anchor="ctr"/>
          <a:lstStyle/>
          <a:p>
            <a:pPr indent="0" marL="0">
              <a:lnSpc>
                <a:spcPts val="1300"/>
              </a:lnSpc>
              <a:buNone/>
            </a:pPr>
            <a:r>
              <a:rPr lang="en-US" sz="1000" dirty="0">
                <a:solidFill>
                  <a:srgbClr val="3A4048"/>
                </a:solidFill>
                <a:latin typeface="Calibri" pitchFamily="34" charset="0"/>
                <a:ea typeface="Calibri" pitchFamily="34" charset="-122"/>
                <a:cs typeface="Calibri" pitchFamily="34" charset="-120"/>
              </a:rPr>
              <a:t>Kosong 14,4% sel, pola latih sama dengan uji</a:t>
            </a:r>
            <a:endParaRPr lang="en-US" sz="1000" dirty="0"/>
          </a:p>
        </p:txBody>
      </p:sp>
      <p:sp>
        <p:nvSpPr>
          <p:cNvPr id="21" name="Text 19"/>
          <p:cNvSpPr/>
          <p:nvPr/>
        </p:nvSpPr>
        <p:spPr>
          <a:xfrm>
            <a:off x="4057802" y="2926080"/>
            <a:ext cx="301752" cy="310896"/>
          </a:xfrm>
          <a:prstGeom prst="rect">
            <a:avLst/>
          </a:prstGeom>
          <a:noFill/>
          <a:ln/>
        </p:spPr>
        <p:txBody>
          <a:bodyPr wrap="square" lIns="0" tIns="0" rIns="0" bIns="0" rtlCol="0" anchor="ctr"/>
          <a:lstStyle/>
          <a:p>
            <a:pPr algn="ctr" indent="0" marL="0">
              <a:buNone/>
            </a:pPr>
            <a:r>
              <a:rPr lang="en-US" sz="1100" dirty="0">
                <a:solidFill>
                  <a:srgbClr val="9AA0A7"/>
                </a:solidFill>
                <a:latin typeface="Calibri" pitchFamily="34" charset="0"/>
                <a:ea typeface="Calibri" pitchFamily="34" charset="-122"/>
                <a:cs typeface="Calibri" pitchFamily="34" charset="-120"/>
              </a:rPr>
              <a:t>→</a:t>
            </a:r>
            <a:endParaRPr lang="en-US" sz="1100" dirty="0"/>
          </a:p>
        </p:txBody>
      </p:sp>
      <p:sp>
        <p:nvSpPr>
          <p:cNvPr id="22" name="Text 20"/>
          <p:cNvSpPr/>
          <p:nvPr/>
        </p:nvSpPr>
        <p:spPr>
          <a:xfrm>
            <a:off x="4414418" y="2926080"/>
            <a:ext cx="3362858" cy="310896"/>
          </a:xfrm>
          <a:prstGeom prst="rect">
            <a:avLst/>
          </a:prstGeom>
          <a:noFill/>
          <a:ln/>
        </p:spPr>
        <p:txBody>
          <a:bodyPr wrap="square" lIns="0" tIns="0" rIns="0" bIns="0" rtlCol="0" anchor="ctr"/>
          <a:lstStyle/>
          <a:p>
            <a:pPr indent="0" marL="0">
              <a:lnSpc>
                <a:spcPts val="1300"/>
              </a:lnSpc>
              <a:buNone/>
            </a:pPr>
            <a:r>
              <a:rPr lang="en-US" sz="1000" dirty="0">
                <a:solidFill>
                  <a:srgbClr val="3A4048"/>
                </a:solidFill>
                <a:latin typeface="Calibri" pitchFamily="34" charset="0"/>
                <a:ea typeface="Calibri" pitchFamily="34" charset="-122"/>
                <a:cs typeface="Calibri" pitchFamily="34" charset="-120"/>
              </a:rPr>
              <a:t>Tidak ada pergeseran distribusi</a:t>
            </a:r>
            <a:endParaRPr lang="en-US" sz="1000" dirty="0"/>
          </a:p>
        </p:txBody>
      </p:sp>
      <p:sp>
        <p:nvSpPr>
          <p:cNvPr id="23" name="Text 21"/>
          <p:cNvSpPr/>
          <p:nvPr/>
        </p:nvSpPr>
        <p:spPr>
          <a:xfrm>
            <a:off x="7832141" y="2926080"/>
            <a:ext cx="301752" cy="310896"/>
          </a:xfrm>
          <a:prstGeom prst="rect">
            <a:avLst/>
          </a:prstGeom>
          <a:noFill/>
          <a:ln/>
        </p:spPr>
        <p:txBody>
          <a:bodyPr wrap="square" lIns="0" tIns="0" rIns="0" bIns="0" rtlCol="0" anchor="ctr"/>
          <a:lstStyle/>
          <a:p>
            <a:pPr algn="ctr" indent="0" marL="0">
              <a:buNone/>
            </a:pPr>
            <a:r>
              <a:rPr lang="en-US" sz="1100" dirty="0">
                <a:solidFill>
                  <a:srgbClr val="9AA0A7"/>
                </a:solidFill>
                <a:latin typeface="Calibri" pitchFamily="34" charset="0"/>
                <a:ea typeface="Calibri" pitchFamily="34" charset="-122"/>
                <a:cs typeface="Calibri" pitchFamily="34" charset="-120"/>
              </a:rPr>
              <a:t>→</a:t>
            </a:r>
            <a:endParaRPr lang="en-US" sz="1100" dirty="0"/>
          </a:p>
        </p:txBody>
      </p:sp>
      <p:sp>
        <p:nvSpPr>
          <p:cNvPr id="24" name="Text 22"/>
          <p:cNvSpPr/>
          <p:nvPr/>
        </p:nvSpPr>
        <p:spPr>
          <a:xfrm>
            <a:off x="8188757" y="2926080"/>
            <a:ext cx="3362858" cy="310896"/>
          </a:xfrm>
          <a:prstGeom prst="rect">
            <a:avLst/>
          </a:prstGeom>
          <a:noFill/>
          <a:ln/>
        </p:spPr>
        <p:txBody>
          <a:bodyPr wrap="square" lIns="0" tIns="0" rIns="0" bIns="0" rtlCol="0" anchor="ctr"/>
          <a:lstStyle/>
          <a:p>
            <a:pPr indent="0" marL="0">
              <a:lnSpc>
                <a:spcPts val="1300"/>
              </a:lnSpc>
              <a:buNone/>
            </a:pPr>
            <a:r>
              <a:rPr lang="en-US" sz="1000" b="1" dirty="0">
                <a:solidFill>
                  <a:srgbClr val="16191D"/>
                </a:solidFill>
                <a:latin typeface="Calibri" pitchFamily="34" charset="0"/>
                <a:ea typeface="Calibri" pitchFamily="34" charset="-122"/>
                <a:cs typeface="Calibri" pitchFamily="34" charset="-120"/>
              </a:rPr>
              <a:t>Tanpa imputasi, pohon menangani NaN</a:t>
            </a:r>
            <a:endParaRPr lang="en-US" sz="1000" dirty="0"/>
          </a:p>
        </p:txBody>
      </p:sp>
      <p:sp>
        <p:nvSpPr>
          <p:cNvPr id="25" name="Shape 23"/>
          <p:cNvSpPr/>
          <p:nvPr/>
        </p:nvSpPr>
        <p:spPr>
          <a:xfrm>
            <a:off x="640080" y="3236976"/>
            <a:ext cx="10911535" cy="0"/>
          </a:xfrm>
          <a:prstGeom prst="line">
            <a:avLst/>
          </a:prstGeom>
          <a:noFill/>
          <a:ln w="7620">
            <a:solidFill>
              <a:srgbClr val="DCD8D1"/>
            </a:solidFill>
            <a:prstDash val="solid"/>
          </a:ln>
        </p:spPr>
      </p:sp>
      <p:sp>
        <p:nvSpPr>
          <p:cNvPr id="26" name="Text 24"/>
          <p:cNvSpPr/>
          <p:nvPr/>
        </p:nvSpPr>
        <p:spPr>
          <a:xfrm>
            <a:off x="640080" y="3291840"/>
            <a:ext cx="3362858" cy="310896"/>
          </a:xfrm>
          <a:prstGeom prst="rect">
            <a:avLst/>
          </a:prstGeom>
          <a:noFill/>
          <a:ln/>
        </p:spPr>
        <p:txBody>
          <a:bodyPr wrap="square" lIns="0" tIns="0" rIns="0" bIns="0" rtlCol="0" anchor="ctr"/>
          <a:lstStyle/>
          <a:p>
            <a:pPr indent="0" marL="0">
              <a:lnSpc>
                <a:spcPts val="1300"/>
              </a:lnSpc>
              <a:buNone/>
            </a:pPr>
            <a:r>
              <a:rPr lang="en-US" sz="1000" dirty="0">
                <a:solidFill>
                  <a:srgbClr val="3A4048"/>
                </a:solidFill>
                <a:latin typeface="Calibri" pitchFamily="34" charset="0"/>
                <a:ea typeface="Calibri" pitchFamily="34" charset="-122"/>
                <a:cs typeface="Calibri" pitchFamily="34" charset="-120"/>
              </a:rPr>
              <a:t>Kode 7/8/9 punya rata-rata target berbeda</a:t>
            </a:r>
            <a:endParaRPr lang="en-US" sz="1000" dirty="0"/>
          </a:p>
        </p:txBody>
      </p:sp>
      <p:sp>
        <p:nvSpPr>
          <p:cNvPr id="27" name="Text 25"/>
          <p:cNvSpPr/>
          <p:nvPr/>
        </p:nvSpPr>
        <p:spPr>
          <a:xfrm>
            <a:off x="4057802" y="3291840"/>
            <a:ext cx="301752" cy="310896"/>
          </a:xfrm>
          <a:prstGeom prst="rect">
            <a:avLst/>
          </a:prstGeom>
          <a:noFill/>
          <a:ln/>
        </p:spPr>
        <p:txBody>
          <a:bodyPr wrap="square" lIns="0" tIns="0" rIns="0" bIns="0" rtlCol="0" anchor="ctr"/>
          <a:lstStyle/>
          <a:p>
            <a:pPr algn="ctr" indent="0" marL="0">
              <a:buNone/>
            </a:pPr>
            <a:r>
              <a:rPr lang="en-US" sz="1100" dirty="0">
                <a:solidFill>
                  <a:srgbClr val="9AA0A7"/>
                </a:solidFill>
                <a:latin typeface="Calibri" pitchFamily="34" charset="0"/>
                <a:ea typeface="Calibri" pitchFamily="34" charset="-122"/>
                <a:cs typeface="Calibri" pitchFamily="34" charset="-120"/>
              </a:rPr>
              <a:t>→</a:t>
            </a:r>
            <a:endParaRPr lang="en-US" sz="1100" dirty="0"/>
          </a:p>
        </p:txBody>
      </p:sp>
      <p:sp>
        <p:nvSpPr>
          <p:cNvPr id="28" name="Text 26"/>
          <p:cNvSpPr/>
          <p:nvPr/>
        </p:nvSpPr>
        <p:spPr>
          <a:xfrm>
            <a:off x="4414418" y="3291840"/>
            <a:ext cx="3362858" cy="310896"/>
          </a:xfrm>
          <a:prstGeom prst="rect">
            <a:avLst/>
          </a:prstGeom>
          <a:noFill/>
          <a:ln/>
        </p:spPr>
        <p:txBody>
          <a:bodyPr wrap="square" lIns="0" tIns="0" rIns="0" bIns="0" rtlCol="0" anchor="ctr"/>
          <a:lstStyle/>
          <a:p>
            <a:pPr indent="0" marL="0">
              <a:lnSpc>
                <a:spcPts val="1300"/>
              </a:lnSpc>
              <a:buNone/>
            </a:pPr>
            <a:r>
              <a:rPr lang="en-US" sz="1000" dirty="0">
                <a:solidFill>
                  <a:srgbClr val="3A4048"/>
                </a:solidFill>
                <a:latin typeface="Calibri" pitchFamily="34" charset="0"/>
                <a:ea typeface="Calibri" pitchFamily="34" charset="-122"/>
                <a:cs typeface="Calibri" pitchFamily="34" charset="-120"/>
              </a:rPr>
              <a:t>Non-respons membawa sinyal</a:t>
            </a:r>
            <a:endParaRPr lang="en-US" sz="1000" dirty="0"/>
          </a:p>
        </p:txBody>
      </p:sp>
      <p:sp>
        <p:nvSpPr>
          <p:cNvPr id="29" name="Text 27"/>
          <p:cNvSpPr/>
          <p:nvPr/>
        </p:nvSpPr>
        <p:spPr>
          <a:xfrm>
            <a:off x="7832141" y="3291840"/>
            <a:ext cx="301752" cy="310896"/>
          </a:xfrm>
          <a:prstGeom prst="rect">
            <a:avLst/>
          </a:prstGeom>
          <a:noFill/>
          <a:ln/>
        </p:spPr>
        <p:txBody>
          <a:bodyPr wrap="square" lIns="0" tIns="0" rIns="0" bIns="0" rtlCol="0" anchor="ctr"/>
          <a:lstStyle/>
          <a:p>
            <a:pPr algn="ctr" indent="0" marL="0">
              <a:buNone/>
            </a:pPr>
            <a:r>
              <a:rPr lang="en-US" sz="1100" dirty="0">
                <a:solidFill>
                  <a:srgbClr val="9AA0A7"/>
                </a:solidFill>
                <a:latin typeface="Calibri" pitchFamily="34" charset="0"/>
                <a:ea typeface="Calibri" pitchFamily="34" charset="-122"/>
                <a:cs typeface="Calibri" pitchFamily="34" charset="-120"/>
              </a:rPr>
              <a:t>→</a:t>
            </a:r>
            <a:endParaRPr lang="en-US" sz="1100" dirty="0"/>
          </a:p>
        </p:txBody>
      </p:sp>
      <p:sp>
        <p:nvSpPr>
          <p:cNvPr id="30" name="Text 28"/>
          <p:cNvSpPr/>
          <p:nvPr/>
        </p:nvSpPr>
        <p:spPr>
          <a:xfrm>
            <a:off x="8188757" y="3291840"/>
            <a:ext cx="3362858" cy="310896"/>
          </a:xfrm>
          <a:prstGeom prst="rect">
            <a:avLst/>
          </a:prstGeom>
          <a:noFill/>
          <a:ln/>
        </p:spPr>
        <p:txBody>
          <a:bodyPr wrap="square" lIns="0" tIns="0" rIns="0" bIns="0" rtlCol="0" anchor="ctr"/>
          <a:lstStyle/>
          <a:p>
            <a:pPr indent="0" marL="0">
              <a:lnSpc>
                <a:spcPts val="1300"/>
              </a:lnSpc>
              <a:buNone/>
            </a:pPr>
            <a:r>
              <a:rPr lang="en-US" sz="1000" b="1" dirty="0">
                <a:solidFill>
                  <a:srgbClr val="16191D"/>
                </a:solidFill>
                <a:latin typeface="Calibri" pitchFamily="34" charset="0"/>
                <a:ea typeface="Calibri" pitchFamily="34" charset="-122"/>
                <a:cs typeface="Calibri" pitchFamily="34" charset="-120"/>
              </a:rPr>
              <a:t>Kode dipertahankan apa adanya</a:t>
            </a:r>
            <a:endParaRPr lang="en-US" sz="1000" dirty="0"/>
          </a:p>
        </p:txBody>
      </p:sp>
      <p:sp>
        <p:nvSpPr>
          <p:cNvPr id="31" name="Shape 29"/>
          <p:cNvSpPr/>
          <p:nvPr/>
        </p:nvSpPr>
        <p:spPr>
          <a:xfrm>
            <a:off x="640080" y="3602736"/>
            <a:ext cx="10911535" cy="0"/>
          </a:xfrm>
          <a:prstGeom prst="line">
            <a:avLst/>
          </a:prstGeom>
          <a:noFill/>
          <a:ln w="7620">
            <a:solidFill>
              <a:srgbClr val="DCD8D1"/>
            </a:solidFill>
            <a:prstDash val="solid"/>
          </a:ln>
        </p:spPr>
      </p:sp>
      <p:sp>
        <p:nvSpPr>
          <p:cNvPr id="32" name="Text 30"/>
          <p:cNvSpPr/>
          <p:nvPr/>
        </p:nvSpPr>
        <p:spPr>
          <a:xfrm>
            <a:off x="640080" y="3657600"/>
            <a:ext cx="3362858" cy="310896"/>
          </a:xfrm>
          <a:prstGeom prst="rect">
            <a:avLst/>
          </a:prstGeom>
          <a:noFill/>
          <a:ln/>
        </p:spPr>
        <p:txBody>
          <a:bodyPr wrap="square" lIns="0" tIns="0" rIns="0" bIns="0" rtlCol="0" anchor="ctr"/>
          <a:lstStyle/>
          <a:p>
            <a:pPr indent="0" marL="0">
              <a:lnSpc>
                <a:spcPts val="1300"/>
              </a:lnSpc>
              <a:buNone/>
            </a:pPr>
            <a:r>
              <a:rPr lang="en-US" sz="1000" dirty="0">
                <a:solidFill>
                  <a:srgbClr val="3A4048"/>
                </a:solidFill>
                <a:latin typeface="Calibri" pitchFamily="34" charset="0"/>
                <a:ea typeface="Calibri" pitchFamily="34" charset="-122"/>
                <a:cs typeface="Calibri" pitchFamily="34" charset="-120"/>
              </a:rPr>
              <a:t>Prediktor kuat bersifat monoton</a:t>
            </a:r>
            <a:endParaRPr lang="en-US" sz="1000" dirty="0"/>
          </a:p>
        </p:txBody>
      </p:sp>
      <p:sp>
        <p:nvSpPr>
          <p:cNvPr id="33" name="Text 31"/>
          <p:cNvSpPr/>
          <p:nvPr/>
        </p:nvSpPr>
        <p:spPr>
          <a:xfrm>
            <a:off x="4057802" y="3657600"/>
            <a:ext cx="301752" cy="310896"/>
          </a:xfrm>
          <a:prstGeom prst="rect">
            <a:avLst/>
          </a:prstGeom>
          <a:noFill/>
          <a:ln/>
        </p:spPr>
        <p:txBody>
          <a:bodyPr wrap="square" lIns="0" tIns="0" rIns="0" bIns="0" rtlCol="0" anchor="ctr"/>
          <a:lstStyle/>
          <a:p>
            <a:pPr algn="ctr" indent="0" marL="0">
              <a:buNone/>
            </a:pPr>
            <a:r>
              <a:rPr lang="en-US" sz="1100" dirty="0">
                <a:solidFill>
                  <a:srgbClr val="9AA0A7"/>
                </a:solidFill>
                <a:latin typeface="Calibri" pitchFamily="34" charset="0"/>
                <a:ea typeface="Calibri" pitchFamily="34" charset="-122"/>
                <a:cs typeface="Calibri" pitchFamily="34" charset="-120"/>
              </a:rPr>
              <a:t>→</a:t>
            </a:r>
            <a:endParaRPr lang="en-US" sz="1100" dirty="0"/>
          </a:p>
        </p:txBody>
      </p:sp>
      <p:sp>
        <p:nvSpPr>
          <p:cNvPr id="34" name="Text 32"/>
          <p:cNvSpPr/>
          <p:nvPr/>
        </p:nvSpPr>
        <p:spPr>
          <a:xfrm>
            <a:off x="4414418" y="3657600"/>
            <a:ext cx="3362858" cy="310896"/>
          </a:xfrm>
          <a:prstGeom prst="rect">
            <a:avLst/>
          </a:prstGeom>
          <a:noFill/>
          <a:ln/>
        </p:spPr>
        <p:txBody>
          <a:bodyPr wrap="square" lIns="0" tIns="0" rIns="0" bIns="0" rtlCol="0" anchor="ctr"/>
          <a:lstStyle/>
          <a:p>
            <a:pPr indent="0" marL="0">
              <a:lnSpc>
                <a:spcPts val="1300"/>
              </a:lnSpc>
              <a:buNone/>
            </a:pPr>
            <a:r>
              <a:rPr lang="en-US" sz="1000" dirty="0">
                <a:solidFill>
                  <a:srgbClr val="3A4048"/>
                </a:solidFill>
                <a:latin typeface="Calibri" pitchFamily="34" charset="0"/>
                <a:ea typeface="Calibri" pitchFamily="34" charset="-122"/>
                <a:cs typeface="Calibri" pitchFamily="34" charset="-120"/>
              </a:rPr>
              <a:t>Struktur ordinal nyata pada fitur</a:t>
            </a:r>
            <a:endParaRPr lang="en-US" sz="1000" dirty="0"/>
          </a:p>
        </p:txBody>
      </p:sp>
      <p:sp>
        <p:nvSpPr>
          <p:cNvPr id="35" name="Text 33"/>
          <p:cNvSpPr/>
          <p:nvPr/>
        </p:nvSpPr>
        <p:spPr>
          <a:xfrm>
            <a:off x="7832141" y="3657600"/>
            <a:ext cx="301752" cy="310896"/>
          </a:xfrm>
          <a:prstGeom prst="rect">
            <a:avLst/>
          </a:prstGeom>
          <a:noFill/>
          <a:ln/>
        </p:spPr>
        <p:txBody>
          <a:bodyPr wrap="square" lIns="0" tIns="0" rIns="0" bIns="0" rtlCol="0" anchor="ctr"/>
          <a:lstStyle/>
          <a:p>
            <a:pPr algn="ctr" indent="0" marL="0">
              <a:buNone/>
            </a:pPr>
            <a:r>
              <a:rPr lang="en-US" sz="1100" dirty="0">
                <a:solidFill>
                  <a:srgbClr val="9AA0A7"/>
                </a:solidFill>
                <a:latin typeface="Calibri" pitchFamily="34" charset="0"/>
                <a:ea typeface="Calibri" pitchFamily="34" charset="-122"/>
                <a:cs typeface="Calibri" pitchFamily="34" charset="-120"/>
              </a:rPr>
              <a:t>→</a:t>
            </a:r>
            <a:endParaRPr lang="en-US" sz="1100" dirty="0"/>
          </a:p>
        </p:txBody>
      </p:sp>
      <p:sp>
        <p:nvSpPr>
          <p:cNvPr id="36" name="Text 34"/>
          <p:cNvSpPr/>
          <p:nvPr/>
        </p:nvSpPr>
        <p:spPr>
          <a:xfrm>
            <a:off x="8188757" y="3657600"/>
            <a:ext cx="3362858" cy="310896"/>
          </a:xfrm>
          <a:prstGeom prst="rect">
            <a:avLst/>
          </a:prstGeom>
          <a:noFill/>
          <a:ln/>
        </p:spPr>
        <p:txBody>
          <a:bodyPr wrap="square" lIns="0" tIns="0" rIns="0" bIns="0" rtlCol="0" anchor="ctr"/>
          <a:lstStyle/>
          <a:p>
            <a:pPr indent="0" marL="0">
              <a:lnSpc>
                <a:spcPts val="1300"/>
              </a:lnSpc>
              <a:buNone/>
            </a:pPr>
            <a:r>
              <a:rPr lang="en-US" sz="1000" b="1" dirty="0">
                <a:solidFill>
                  <a:srgbClr val="16191D"/>
                </a:solidFill>
                <a:latin typeface="Calibri" pitchFamily="34" charset="0"/>
                <a:ea typeface="Calibri" pitchFamily="34" charset="-122"/>
                <a:cs typeface="Calibri" pitchFamily="34" charset="-120"/>
              </a:rPr>
              <a:t>Regresi Huber dan dekomposisi kumulatif</a:t>
            </a:r>
            <a:endParaRPr lang="en-US" sz="1000" dirty="0"/>
          </a:p>
        </p:txBody>
      </p:sp>
      <p:sp>
        <p:nvSpPr>
          <p:cNvPr id="37" name="Shape 35"/>
          <p:cNvSpPr/>
          <p:nvPr/>
        </p:nvSpPr>
        <p:spPr>
          <a:xfrm>
            <a:off x="640080" y="3968496"/>
            <a:ext cx="10911535" cy="0"/>
          </a:xfrm>
          <a:prstGeom prst="line">
            <a:avLst/>
          </a:prstGeom>
          <a:noFill/>
          <a:ln w="7620">
            <a:solidFill>
              <a:srgbClr val="DCD8D1"/>
            </a:solidFill>
            <a:prstDash val="solid"/>
          </a:ln>
        </p:spPr>
      </p:sp>
      <p:sp>
        <p:nvSpPr>
          <p:cNvPr id="38" name="Text 36"/>
          <p:cNvSpPr/>
          <p:nvPr/>
        </p:nvSpPr>
        <p:spPr>
          <a:xfrm>
            <a:off x="640080" y="4023360"/>
            <a:ext cx="3362858" cy="310896"/>
          </a:xfrm>
          <a:prstGeom prst="rect">
            <a:avLst/>
          </a:prstGeom>
          <a:noFill/>
          <a:ln/>
        </p:spPr>
        <p:txBody>
          <a:bodyPr wrap="square" lIns="0" tIns="0" rIns="0" bIns="0" rtlCol="0" anchor="ctr"/>
          <a:lstStyle/>
          <a:p>
            <a:pPr indent="0" marL="0">
              <a:lnSpc>
                <a:spcPts val="1300"/>
              </a:lnSpc>
              <a:buNone/>
            </a:pPr>
            <a:r>
              <a:rPr lang="en-US" sz="1000" dirty="0">
                <a:solidFill>
                  <a:srgbClr val="3A4048"/>
                </a:solidFill>
                <a:latin typeface="Calibri" pitchFamily="34" charset="0"/>
                <a:ea typeface="Calibri" pitchFamily="34" charset="-122"/>
                <a:cs typeface="Calibri" pitchFamily="34" charset="-120"/>
              </a:rPr>
              <a:t>Lift antar anggota rumah tangga +1,6pp</a:t>
            </a:r>
            <a:endParaRPr lang="en-US" sz="1000" dirty="0"/>
          </a:p>
        </p:txBody>
      </p:sp>
      <p:sp>
        <p:nvSpPr>
          <p:cNvPr id="39" name="Text 37"/>
          <p:cNvSpPr/>
          <p:nvPr/>
        </p:nvSpPr>
        <p:spPr>
          <a:xfrm>
            <a:off x="4057802" y="4023360"/>
            <a:ext cx="301752" cy="310896"/>
          </a:xfrm>
          <a:prstGeom prst="rect">
            <a:avLst/>
          </a:prstGeom>
          <a:noFill/>
          <a:ln/>
        </p:spPr>
        <p:txBody>
          <a:bodyPr wrap="square" lIns="0" tIns="0" rIns="0" bIns="0" rtlCol="0" anchor="ctr"/>
          <a:lstStyle/>
          <a:p>
            <a:pPr algn="ctr" indent="0" marL="0">
              <a:buNone/>
            </a:pPr>
            <a:r>
              <a:rPr lang="en-US" sz="1100" dirty="0">
                <a:solidFill>
                  <a:srgbClr val="9AA0A7"/>
                </a:solidFill>
                <a:latin typeface="Calibri" pitchFamily="34" charset="0"/>
                <a:ea typeface="Calibri" pitchFamily="34" charset="-122"/>
                <a:cs typeface="Calibri" pitchFamily="34" charset="-120"/>
              </a:rPr>
              <a:t>→</a:t>
            </a:r>
            <a:endParaRPr lang="en-US" sz="1100" dirty="0"/>
          </a:p>
        </p:txBody>
      </p:sp>
      <p:sp>
        <p:nvSpPr>
          <p:cNvPr id="40" name="Text 38"/>
          <p:cNvSpPr/>
          <p:nvPr/>
        </p:nvSpPr>
        <p:spPr>
          <a:xfrm>
            <a:off x="4414418" y="4023360"/>
            <a:ext cx="3362858" cy="310896"/>
          </a:xfrm>
          <a:prstGeom prst="rect">
            <a:avLst/>
          </a:prstGeom>
          <a:noFill/>
          <a:ln/>
        </p:spPr>
        <p:txBody>
          <a:bodyPr wrap="square" lIns="0" tIns="0" rIns="0" bIns="0" rtlCol="0" anchor="ctr"/>
          <a:lstStyle/>
          <a:p>
            <a:pPr indent="0" marL="0">
              <a:lnSpc>
                <a:spcPts val="1300"/>
              </a:lnSpc>
              <a:buNone/>
            </a:pPr>
            <a:r>
              <a:rPr lang="en-US" sz="1000" dirty="0">
                <a:solidFill>
                  <a:srgbClr val="3A4048"/>
                </a:solidFill>
                <a:latin typeface="Calibri" pitchFamily="34" charset="0"/>
                <a:ea typeface="Calibri" pitchFamily="34" charset="-122"/>
                <a:cs typeface="Calibri" pitchFamily="34" charset="-120"/>
              </a:rPr>
              <a:t>Kepuasan hidup sangat individual</a:t>
            </a:r>
            <a:endParaRPr lang="en-US" sz="1000" dirty="0"/>
          </a:p>
        </p:txBody>
      </p:sp>
      <p:sp>
        <p:nvSpPr>
          <p:cNvPr id="41" name="Text 39"/>
          <p:cNvSpPr/>
          <p:nvPr/>
        </p:nvSpPr>
        <p:spPr>
          <a:xfrm>
            <a:off x="7832141" y="4023360"/>
            <a:ext cx="301752" cy="310896"/>
          </a:xfrm>
          <a:prstGeom prst="rect">
            <a:avLst/>
          </a:prstGeom>
          <a:noFill/>
          <a:ln/>
        </p:spPr>
        <p:txBody>
          <a:bodyPr wrap="square" lIns="0" tIns="0" rIns="0" bIns="0" rtlCol="0" anchor="ctr"/>
          <a:lstStyle/>
          <a:p>
            <a:pPr algn="ctr" indent="0" marL="0">
              <a:buNone/>
            </a:pPr>
            <a:r>
              <a:rPr lang="en-US" sz="1100" dirty="0">
                <a:solidFill>
                  <a:srgbClr val="9AA0A7"/>
                </a:solidFill>
                <a:latin typeface="Calibri" pitchFamily="34" charset="0"/>
                <a:ea typeface="Calibri" pitchFamily="34" charset="-122"/>
                <a:cs typeface="Calibri" pitchFamily="34" charset="-120"/>
              </a:rPr>
              <a:t>→</a:t>
            </a:r>
            <a:endParaRPr lang="en-US" sz="1100" dirty="0"/>
          </a:p>
        </p:txBody>
      </p:sp>
      <p:sp>
        <p:nvSpPr>
          <p:cNvPr id="42" name="Text 40"/>
          <p:cNvSpPr/>
          <p:nvPr/>
        </p:nvSpPr>
        <p:spPr>
          <a:xfrm>
            <a:off x="8188757" y="4023360"/>
            <a:ext cx="3362858" cy="310896"/>
          </a:xfrm>
          <a:prstGeom prst="rect">
            <a:avLst/>
          </a:prstGeom>
          <a:noFill/>
          <a:ln/>
        </p:spPr>
        <p:txBody>
          <a:bodyPr wrap="square" lIns="0" tIns="0" rIns="0" bIns="0" rtlCol="0" anchor="ctr"/>
          <a:lstStyle/>
          <a:p>
            <a:pPr indent="0" marL="0">
              <a:lnSpc>
                <a:spcPts val="1300"/>
              </a:lnSpc>
              <a:buNone/>
            </a:pPr>
            <a:r>
              <a:rPr lang="en-US" sz="1000" b="1" dirty="0">
                <a:solidFill>
                  <a:srgbClr val="16191D"/>
                </a:solidFill>
                <a:latin typeface="Calibri" pitchFamily="34" charset="0"/>
                <a:ea typeface="Calibri" pitchFamily="34" charset="-122"/>
                <a:cs typeface="Calibri" pitchFamily="34" charset="-120"/>
              </a:rPr>
              <a:t>household_id dibuang</a:t>
            </a:r>
            <a:endParaRPr lang="en-US" sz="1000" dirty="0"/>
          </a:p>
        </p:txBody>
      </p:sp>
      <p:sp>
        <p:nvSpPr>
          <p:cNvPr id="43" name="Shape 41"/>
          <p:cNvSpPr/>
          <p:nvPr/>
        </p:nvSpPr>
        <p:spPr>
          <a:xfrm>
            <a:off x="640080" y="4334256"/>
            <a:ext cx="10911535" cy="0"/>
          </a:xfrm>
          <a:prstGeom prst="line">
            <a:avLst/>
          </a:prstGeom>
          <a:noFill/>
          <a:ln w="7620">
            <a:solidFill>
              <a:srgbClr val="DCD8D1"/>
            </a:solidFill>
            <a:prstDash val="solid"/>
          </a:ln>
        </p:spPr>
      </p:sp>
      <p:sp>
        <p:nvSpPr>
          <p:cNvPr id="44" name="Text 42"/>
          <p:cNvSpPr/>
          <p:nvPr/>
        </p:nvSpPr>
        <p:spPr>
          <a:xfrm>
            <a:off x="640080" y="4389120"/>
            <a:ext cx="3362858" cy="310896"/>
          </a:xfrm>
          <a:prstGeom prst="rect">
            <a:avLst/>
          </a:prstGeom>
          <a:noFill/>
          <a:ln/>
        </p:spPr>
        <p:txBody>
          <a:bodyPr wrap="square" lIns="0" tIns="0" rIns="0" bIns="0" rtlCol="0" anchor="ctr"/>
          <a:lstStyle/>
          <a:p>
            <a:pPr indent="0" marL="0">
              <a:lnSpc>
                <a:spcPts val="1300"/>
              </a:lnSpc>
              <a:buNone/>
            </a:pPr>
            <a:r>
              <a:rPr lang="en-US" sz="1000" dirty="0">
                <a:solidFill>
                  <a:srgbClr val="3A4048"/>
                </a:solidFill>
                <a:latin typeface="Calibri" pitchFamily="34" charset="0"/>
                <a:ea typeface="Calibri" pitchFamily="34" charset="-122"/>
                <a:cs typeface="Calibri" pitchFamily="34" charset="-120"/>
              </a:rPr>
              <a:t>Spearman(id, target) = 0,006</a:t>
            </a:r>
            <a:endParaRPr lang="en-US" sz="1000" dirty="0"/>
          </a:p>
        </p:txBody>
      </p:sp>
      <p:sp>
        <p:nvSpPr>
          <p:cNvPr id="45" name="Text 43"/>
          <p:cNvSpPr/>
          <p:nvPr/>
        </p:nvSpPr>
        <p:spPr>
          <a:xfrm>
            <a:off x="4057802" y="4389120"/>
            <a:ext cx="301752" cy="310896"/>
          </a:xfrm>
          <a:prstGeom prst="rect">
            <a:avLst/>
          </a:prstGeom>
          <a:noFill/>
          <a:ln/>
        </p:spPr>
        <p:txBody>
          <a:bodyPr wrap="square" lIns="0" tIns="0" rIns="0" bIns="0" rtlCol="0" anchor="ctr"/>
          <a:lstStyle/>
          <a:p>
            <a:pPr algn="ctr" indent="0" marL="0">
              <a:buNone/>
            </a:pPr>
            <a:r>
              <a:rPr lang="en-US" sz="1100" dirty="0">
                <a:solidFill>
                  <a:srgbClr val="9AA0A7"/>
                </a:solidFill>
                <a:latin typeface="Calibri" pitchFamily="34" charset="0"/>
                <a:ea typeface="Calibri" pitchFamily="34" charset="-122"/>
                <a:cs typeface="Calibri" pitchFamily="34" charset="-120"/>
              </a:rPr>
              <a:t>→</a:t>
            </a:r>
            <a:endParaRPr lang="en-US" sz="1100" dirty="0"/>
          </a:p>
        </p:txBody>
      </p:sp>
      <p:sp>
        <p:nvSpPr>
          <p:cNvPr id="46" name="Text 44"/>
          <p:cNvSpPr/>
          <p:nvPr/>
        </p:nvSpPr>
        <p:spPr>
          <a:xfrm>
            <a:off x="4414418" y="4389120"/>
            <a:ext cx="3362858" cy="310896"/>
          </a:xfrm>
          <a:prstGeom prst="rect">
            <a:avLst/>
          </a:prstGeom>
          <a:noFill/>
          <a:ln/>
        </p:spPr>
        <p:txBody>
          <a:bodyPr wrap="square" lIns="0" tIns="0" rIns="0" bIns="0" rtlCol="0" anchor="ctr"/>
          <a:lstStyle/>
          <a:p>
            <a:pPr indent="0" marL="0">
              <a:lnSpc>
                <a:spcPts val="1300"/>
              </a:lnSpc>
              <a:buNone/>
            </a:pPr>
            <a:r>
              <a:rPr lang="en-US" sz="1000" dirty="0">
                <a:solidFill>
                  <a:srgbClr val="3A4048"/>
                </a:solidFill>
                <a:latin typeface="Calibri" pitchFamily="34" charset="0"/>
                <a:ea typeface="Calibri" pitchFamily="34" charset="-122"/>
                <a:cs typeface="Calibri" pitchFamily="34" charset="-120"/>
              </a:rPr>
              <a:t>Tidak ada kebocoran urutan</a:t>
            </a:r>
            <a:endParaRPr lang="en-US" sz="1000" dirty="0"/>
          </a:p>
        </p:txBody>
      </p:sp>
      <p:sp>
        <p:nvSpPr>
          <p:cNvPr id="47" name="Text 45"/>
          <p:cNvSpPr/>
          <p:nvPr/>
        </p:nvSpPr>
        <p:spPr>
          <a:xfrm>
            <a:off x="7832141" y="4389120"/>
            <a:ext cx="301752" cy="310896"/>
          </a:xfrm>
          <a:prstGeom prst="rect">
            <a:avLst/>
          </a:prstGeom>
          <a:noFill/>
          <a:ln/>
        </p:spPr>
        <p:txBody>
          <a:bodyPr wrap="square" lIns="0" tIns="0" rIns="0" bIns="0" rtlCol="0" anchor="ctr"/>
          <a:lstStyle/>
          <a:p>
            <a:pPr algn="ctr" indent="0" marL="0">
              <a:buNone/>
            </a:pPr>
            <a:r>
              <a:rPr lang="en-US" sz="1100" dirty="0">
                <a:solidFill>
                  <a:srgbClr val="9AA0A7"/>
                </a:solidFill>
                <a:latin typeface="Calibri" pitchFamily="34" charset="0"/>
                <a:ea typeface="Calibri" pitchFamily="34" charset="-122"/>
                <a:cs typeface="Calibri" pitchFamily="34" charset="-120"/>
              </a:rPr>
              <a:t>→</a:t>
            </a:r>
            <a:endParaRPr lang="en-US" sz="1100" dirty="0"/>
          </a:p>
        </p:txBody>
      </p:sp>
      <p:sp>
        <p:nvSpPr>
          <p:cNvPr id="48" name="Text 46"/>
          <p:cNvSpPr/>
          <p:nvPr/>
        </p:nvSpPr>
        <p:spPr>
          <a:xfrm>
            <a:off x="8188757" y="4389120"/>
            <a:ext cx="3362858" cy="310896"/>
          </a:xfrm>
          <a:prstGeom prst="rect">
            <a:avLst/>
          </a:prstGeom>
          <a:noFill/>
          <a:ln/>
        </p:spPr>
        <p:txBody>
          <a:bodyPr wrap="square" lIns="0" tIns="0" rIns="0" bIns="0" rtlCol="0" anchor="ctr"/>
          <a:lstStyle/>
          <a:p>
            <a:pPr indent="0" marL="0">
              <a:lnSpc>
                <a:spcPts val="1300"/>
              </a:lnSpc>
              <a:buNone/>
            </a:pPr>
            <a:r>
              <a:rPr lang="en-US" sz="1000" b="1" dirty="0">
                <a:solidFill>
                  <a:srgbClr val="16191D"/>
                </a:solidFill>
                <a:latin typeface="Calibri" pitchFamily="34" charset="0"/>
                <a:ea typeface="Calibri" pitchFamily="34" charset="-122"/>
                <a:cs typeface="Calibri" pitchFamily="34" charset="-120"/>
              </a:rPr>
              <a:t>id dibuang dari fitur</a:t>
            </a:r>
            <a:endParaRPr lang="en-US" sz="1000" dirty="0"/>
          </a:p>
        </p:txBody>
      </p:sp>
      <p:sp>
        <p:nvSpPr>
          <p:cNvPr id="49" name="Shape 47"/>
          <p:cNvSpPr/>
          <p:nvPr/>
        </p:nvSpPr>
        <p:spPr>
          <a:xfrm>
            <a:off x="640080" y="4700016"/>
            <a:ext cx="10911535" cy="0"/>
          </a:xfrm>
          <a:prstGeom prst="line">
            <a:avLst/>
          </a:prstGeom>
          <a:noFill/>
          <a:ln w="7620">
            <a:solidFill>
              <a:srgbClr val="DCD8D1"/>
            </a:solidFill>
            <a:prstDash val="solid"/>
          </a:ln>
        </p:spPr>
      </p:sp>
      <p:sp>
        <p:nvSpPr>
          <p:cNvPr id="50" name="Text 48"/>
          <p:cNvSpPr/>
          <p:nvPr/>
        </p:nvSpPr>
        <p:spPr>
          <a:xfrm>
            <a:off x="640080" y="4754880"/>
            <a:ext cx="3362858" cy="310896"/>
          </a:xfrm>
          <a:prstGeom prst="rect">
            <a:avLst/>
          </a:prstGeom>
          <a:noFill/>
          <a:ln/>
        </p:spPr>
        <p:txBody>
          <a:bodyPr wrap="square" lIns="0" tIns="0" rIns="0" bIns="0" rtlCol="0" anchor="ctr"/>
          <a:lstStyle/>
          <a:p>
            <a:pPr indent="0" marL="0">
              <a:lnSpc>
                <a:spcPts val="1300"/>
              </a:lnSpc>
              <a:buNone/>
            </a:pPr>
            <a:r>
              <a:rPr lang="en-US" sz="1000" dirty="0">
                <a:solidFill>
                  <a:srgbClr val="3A4048"/>
                </a:solidFill>
                <a:latin typeface="Calibri" pitchFamily="34" charset="0"/>
                <a:ea typeface="Calibri" pitchFamily="34" charset="-122"/>
                <a:cs typeface="Calibri" pitchFamily="34" charset="-120"/>
              </a:rPr>
              <a:t>Median korelasi antar fitur 0,037</a:t>
            </a:r>
            <a:endParaRPr lang="en-US" sz="1000" dirty="0"/>
          </a:p>
        </p:txBody>
      </p:sp>
      <p:sp>
        <p:nvSpPr>
          <p:cNvPr id="51" name="Text 49"/>
          <p:cNvSpPr/>
          <p:nvPr/>
        </p:nvSpPr>
        <p:spPr>
          <a:xfrm>
            <a:off x="4057802" y="4754880"/>
            <a:ext cx="301752" cy="310896"/>
          </a:xfrm>
          <a:prstGeom prst="rect">
            <a:avLst/>
          </a:prstGeom>
          <a:noFill/>
          <a:ln/>
        </p:spPr>
        <p:txBody>
          <a:bodyPr wrap="square" lIns="0" tIns="0" rIns="0" bIns="0" rtlCol="0" anchor="ctr"/>
          <a:lstStyle/>
          <a:p>
            <a:pPr algn="ctr" indent="0" marL="0">
              <a:buNone/>
            </a:pPr>
            <a:r>
              <a:rPr lang="en-US" sz="1100" dirty="0">
                <a:solidFill>
                  <a:srgbClr val="9AA0A7"/>
                </a:solidFill>
                <a:latin typeface="Calibri" pitchFamily="34" charset="0"/>
                <a:ea typeface="Calibri" pitchFamily="34" charset="-122"/>
                <a:cs typeface="Calibri" pitchFamily="34" charset="-120"/>
              </a:rPr>
              <a:t>→</a:t>
            </a:r>
            <a:endParaRPr lang="en-US" sz="1100" dirty="0"/>
          </a:p>
        </p:txBody>
      </p:sp>
      <p:sp>
        <p:nvSpPr>
          <p:cNvPr id="52" name="Text 50"/>
          <p:cNvSpPr/>
          <p:nvPr/>
        </p:nvSpPr>
        <p:spPr>
          <a:xfrm>
            <a:off x="4414418" y="4754880"/>
            <a:ext cx="3362858" cy="310896"/>
          </a:xfrm>
          <a:prstGeom prst="rect">
            <a:avLst/>
          </a:prstGeom>
          <a:noFill/>
          <a:ln/>
        </p:spPr>
        <p:txBody>
          <a:bodyPr wrap="square" lIns="0" tIns="0" rIns="0" bIns="0" rtlCol="0" anchor="ctr"/>
          <a:lstStyle/>
          <a:p>
            <a:pPr indent="0" marL="0">
              <a:lnSpc>
                <a:spcPts val="1300"/>
              </a:lnSpc>
              <a:buNone/>
            </a:pPr>
            <a:r>
              <a:rPr lang="en-US" sz="1000" dirty="0">
                <a:solidFill>
                  <a:srgbClr val="3A4048"/>
                </a:solidFill>
                <a:latin typeface="Calibri" pitchFamily="34" charset="0"/>
                <a:ea typeface="Calibri" pitchFamily="34" charset="-122"/>
                <a:cs typeface="Calibri" pitchFamily="34" charset="-120"/>
              </a:rPr>
              <a:t>Seleksi fitur agresif merugikan</a:t>
            </a:r>
            <a:endParaRPr lang="en-US" sz="1000" dirty="0"/>
          </a:p>
        </p:txBody>
      </p:sp>
      <p:sp>
        <p:nvSpPr>
          <p:cNvPr id="53" name="Text 51"/>
          <p:cNvSpPr/>
          <p:nvPr/>
        </p:nvSpPr>
        <p:spPr>
          <a:xfrm>
            <a:off x="7832141" y="4754880"/>
            <a:ext cx="301752" cy="310896"/>
          </a:xfrm>
          <a:prstGeom prst="rect">
            <a:avLst/>
          </a:prstGeom>
          <a:noFill/>
          <a:ln/>
        </p:spPr>
        <p:txBody>
          <a:bodyPr wrap="square" lIns="0" tIns="0" rIns="0" bIns="0" rtlCol="0" anchor="ctr"/>
          <a:lstStyle/>
          <a:p>
            <a:pPr algn="ctr" indent="0" marL="0">
              <a:buNone/>
            </a:pPr>
            <a:r>
              <a:rPr lang="en-US" sz="1100" dirty="0">
                <a:solidFill>
                  <a:srgbClr val="9AA0A7"/>
                </a:solidFill>
                <a:latin typeface="Calibri" pitchFamily="34" charset="0"/>
                <a:ea typeface="Calibri" pitchFamily="34" charset="-122"/>
                <a:cs typeface="Calibri" pitchFamily="34" charset="-120"/>
              </a:rPr>
              <a:t>→</a:t>
            </a:r>
            <a:endParaRPr lang="en-US" sz="1100" dirty="0"/>
          </a:p>
        </p:txBody>
      </p:sp>
      <p:sp>
        <p:nvSpPr>
          <p:cNvPr id="54" name="Text 52"/>
          <p:cNvSpPr/>
          <p:nvPr/>
        </p:nvSpPr>
        <p:spPr>
          <a:xfrm>
            <a:off x="8188757" y="4754880"/>
            <a:ext cx="3362858" cy="310896"/>
          </a:xfrm>
          <a:prstGeom prst="rect">
            <a:avLst/>
          </a:prstGeom>
          <a:noFill/>
          <a:ln/>
        </p:spPr>
        <p:txBody>
          <a:bodyPr wrap="square" lIns="0" tIns="0" rIns="0" bIns="0" rtlCol="0" anchor="ctr"/>
          <a:lstStyle/>
          <a:p>
            <a:pPr indent="0" marL="0">
              <a:lnSpc>
                <a:spcPts val="1300"/>
              </a:lnSpc>
              <a:buNone/>
            </a:pPr>
            <a:r>
              <a:rPr lang="en-US" sz="1000" b="1" dirty="0">
                <a:solidFill>
                  <a:srgbClr val="16191D"/>
                </a:solidFill>
                <a:latin typeface="Calibri" pitchFamily="34" charset="0"/>
                <a:ea typeface="Calibri" pitchFamily="34" charset="-122"/>
                <a:cs typeface="Calibri" pitchFamily="34" charset="-120"/>
              </a:rPr>
              <a:t>Seluruh 176 fitur dipertahankan</a:t>
            </a:r>
            <a:endParaRPr lang="en-US" sz="1000" dirty="0"/>
          </a:p>
        </p:txBody>
      </p:sp>
      <p:sp>
        <p:nvSpPr>
          <p:cNvPr id="55" name="Shape 53"/>
          <p:cNvSpPr/>
          <p:nvPr/>
        </p:nvSpPr>
        <p:spPr>
          <a:xfrm>
            <a:off x="640080" y="5065776"/>
            <a:ext cx="10911535" cy="0"/>
          </a:xfrm>
          <a:prstGeom prst="line">
            <a:avLst/>
          </a:prstGeom>
          <a:noFill/>
          <a:ln w="7620">
            <a:solidFill>
              <a:srgbClr val="DCD8D1"/>
            </a:solidFill>
            <a:prstDash val="solid"/>
          </a:ln>
        </p:spPr>
      </p:sp>
      <p:sp>
        <p:nvSpPr>
          <p:cNvPr id="56" name="Text 54"/>
          <p:cNvSpPr/>
          <p:nvPr/>
        </p:nvSpPr>
        <p:spPr>
          <a:xfrm>
            <a:off x="640080" y="5120640"/>
            <a:ext cx="3362858" cy="310896"/>
          </a:xfrm>
          <a:prstGeom prst="rect">
            <a:avLst/>
          </a:prstGeom>
          <a:noFill/>
          <a:ln/>
        </p:spPr>
        <p:txBody>
          <a:bodyPr wrap="square" lIns="0" tIns="0" rIns="0" bIns="0" rtlCol="0" anchor="ctr"/>
          <a:lstStyle/>
          <a:p>
            <a:pPr indent="0" marL="0">
              <a:lnSpc>
                <a:spcPts val="1300"/>
              </a:lnSpc>
              <a:buNone/>
            </a:pPr>
            <a:r>
              <a:rPr lang="en-US" sz="1000" dirty="0">
                <a:solidFill>
                  <a:srgbClr val="3A4048"/>
                </a:solidFill>
                <a:latin typeface="Calibri" pitchFamily="34" charset="0"/>
                <a:ea typeface="Calibri" pitchFamily="34" charset="-122"/>
                <a:cs typeface="Calibri" pitchFamily="34" charset="-120"/>
              </a:rPr>
              <a:t>Rata-rata target bergerak 0,0239 antar tahun</a:t>
            </a:r>
            <a:endParaRPr lang="en-US" sz="1000" dirty="0"/>
          </a:p>
        </p:txBody>
      </p:sp>
      <p:sp>
        <p:nvSpPr>
          <p:cNvPr id="57" name="Text 55"/>
          <p:cNvSpPr/>
          <p:nvPr/>
        </p:nvSpPr>
        <p:spPr>
          <a:xfrm>
            <a:off x="4057802" y="5120640"/>
            <a:ext cx="301752" cy="310896"/>
          </a:xfrm>
          <a:prstGeom prst="rect">
            <a:avLst/>
          </a:prstGeom>
          <a:noFill/>
          <a:ln/>
        </p:spPr>
        <p:txBody>
          <a:bodyPr wrap="square" lIns="0" tIns="0" rIns="0" bIns="0" rtlCol="0" anchor="ctr"/>
          <a:lstStyle/>
          <a:p>
            <a:pPr algn="ctr" indent="0" marL="0">
              <a:buNone/>
            </a:pPr>
            <a:r>
              <a:rPr lang="en-US" sz="1100" dirty="0">
                <a:solidFill>
                  <a:srgbClr val="9AA0A7"/>
                </a:solidFill>
                <a:latin typeface="Calibri" pitchFamily="34" charset="0"/>
                <a:ea typeface="Calibri" pitchFamily="34" charset="-122"/>
                <a:cs typeface="Calibri" pitchFamily="34" charset="-120"/>
              </a:rPr>
              <a:t>→</a:t>
            </a:r>
            <a:endParaRPr lang="en-US" sz="1100" dirty="0"/>
          </a:p>
        </p:txBody>
      </p:sp>
      <p:sp>
        <p:nvSpPr>
          <p:cNvPr id="58" name="Text 56"/>
          <p:cNvSpPr/>
          <p:nvPr/>
        </p:nvSpPr>
        <p:spPr>
          <a:xfrm>
            <a:off x="4414418" y="5120640"/>
            <a:ext cx="3362858" cy="310896"/>
          </a:xfrm>
          <a:prstGeom prst="rect">
            <a:avLst/>
          </a:prstGeom>
          <a:noFill/>
          <a:ln/>
        </p:spPr>
        <p:txBody>
          <a:bodyPr wrap="square" lIns="0" tIns="0" rIns="0" bIns="0" rtlCol="0" anchor="ctr"/>
          <a:lstStyle/>
          <a:p>
            <a:pPr indent="0" marL="0">
              <a:lnSpc>
                <a:spcPts val="1300"/>
              </a:lnSpc>
              <a:buNone/>
            </a:pPr>
            <a:r>
              <a:rPr lang="en-US" sz="1000" dirty="0">
                <a:solidFill>
                  <a:srgbClr val="3A4048"/>
                </a:solidFill>
                <a:latin typeface="Calibri" pitchFamily="34" charset="0"/>
                <a:ea typeface="Calibri" pitchFamily="34" charset="-122"/>
                <a:cs typeface="Calibri" pitchFamily="34" charset="-120"/>
              </a:rPr>
              <a:t>Tidak ada pergeseran temporal</a:t>
            </a:r>
            <a:endParaRPr lang="en-US" sz="1000" dirty="0"/>
          </a:p>
        </p:txBody>
      </p:sp>
      <p:sp>
        <p:nvSpPr>
          <p:cNvPr id="59" name="Text 57"/>
          <p:cNvSpPr/>
          <p:nvPr/>
        </p:nvSpPr>
        <p:spPr>
          <a:xfrm>
            <a:off x="7832141" y="5120640"/>
            <a:ext cx="301752" cy="310896"/>
          </a:xfrm>
          <a:prstGeom prst="rect">
            <a:avLst/>
          </a:prstGeom>
          <a:noFill/>
          <a:ln/>
        </p:spPr>
        <p:txBody>
          <a:bodyPr wrap="square" lIns="0" tIns="0" rIns="0" bIns="0" rtlCol="0" anchor="ctr"/>
          <a:lstStyle/>
          <a:p>
            <a:pPr algn="ctr" indent="0" marL="0">
              <a:buNone/>
            </a:pPr>
            <a:r>
              <a:rPr lang="en-US" sz="1100" dirty="0">
                <a:solidFill>
                  <a:srgbClr val="9AA0A7"/>
                </a:solidFill>
                <a:latin typeface="Calibri" pitchFamily="34" charset="0"/>
                <a:ea typeface="Calibri" pitchFamily="34" charset="-122"/>
                <a:cs typeface="Calibri" pitchFamily="34" charset="-120"/>
              </a:rPr>
              <a:t>→</a:t>
            </a:r>
            <a:endParaRPr lang="en-US" sz="1100" dirty="0"/>
          </a:p>
        </p:txBody>
      </p:sp>
      <p:sp>
        <p:nvSpPr>
          <p:cNvPr id="60" name="Text 58"/>
          <p:cNvSpPr/>
          <p:nvPr/>
        </p:nvSpPr>
        <p:spPr>
          <a:xfrm>
            <a:off x="8188757" y="5120640"/>
            <a:ext cx="3362858" cy="310896"/>
          </a:xfrm>
          <a:prstGeom prst="rect">
            <a:avLst/>
          </a:prstGeom>
          <a:noFill/>
          <a:ln/>
        </p:spPr>
        <p:txBody>
          <a:bodyPr wrap="square" lIns="0" tIns="0" rIns="0" bIns="0" rtlCol="0" anchor="ctr"/>
          <a:lstStyle/>
          <a:p>
            <a:pPr indent="0" marL="0">
              <a:lnSpc>
                <a:spcPts val="1300"/>
              </a:lnSpc>
              <a:buNone/>
            </a:pPr>
            <a:r>
              <a:rPr lang="en-US" sz="1000" b="1" dirty="0">
                <a:solidFill>
                  <a:srgbClr val="16191D"/>
                </a:solidFill>
                <a:latin typeface="Calibri" pitchFamily="34" charset="0"/>
                <a:ea typeface="Calibri" pitchFamily="34" charset="-122"/>
                <a:cs typeface="Calibri" pitchFamily="34" charset="-120"/>
              </a:rPr>
              <a:t>Satu model untuk seluruh periode</a:t>
            </a:r>
            <a:endParaRPr lang="en-US" sz="1000" dirty="0"/>
          </a:p>
        </p:txBody>
      </p:sp>
      <p:sp>
        <p:nvSpPr>
          <p:cNvPr id="61" name="Shape 59"/>
          <p:cNvSpPr/>
          <p:nvPr/>
        </p:nvSpPr>
        <p:spPr>
          <a:xfrm>
            <a:off x="640080" y="5431536"/>
            <a:ext cx="10911535" cy="0"/>
          </a:xfrm>
          <a:prstGeom prst="line">
            <a:avLst/>
          </a:prstGeom>
          <a:noFill/>
          <a:ln w="7620">
            <a:solidFill>
              <a:srgbClr val="DCD8D1"/>
            </a:solidFill>
            <a:prstDash val="solid"/>
          </a:ln>
        </p:spPr>
      </p:sp>
      <p:sp>
        <p:nvSpPr>
          <p:cNvPr id="62" name="Text 60"/>
          <p:cNvSpPr/>
          <p:nvPr/>
        </p:nvSpPr>
        <p:spPr>
          <a:xfrm>
            <a:off x="640080" y="5486400"/>
            <a:ext cx="3362858" cy="310896"/>
          </a:xfrm>
          <a:prstGeom prst="rect">
            <a:avLst/>
          </a:prstGeom>
          <a:noFill/>
          <a:ln/>
        </p:spPr>
        <p:txBody>
          <a:bodyPr wrap="square" lIns="0" tIns="0" rIns="0" bIns="0" rtlCol="0" anchor="ctr"/>
          <a:lstStyle/>
          <a:p>
            <a:pPr indent="0" marL="0">
              <a:lnSpc>
                <a:spcPts val="1300"/>
              </a:lnSpc>
              <a:buNone/>
            </a:pPr>
            <a:r>
              <a:rPr lang="en-US" sz="1000" dirty="0">
                <a:solidFill>
                  <a:srgbClr val="3A4048"/>
                </a:solidFill>
                <a:latin typeface="Calibri" pitchFamily="34" charset="0"/>
                <a:ea typeface="Calibri" pitchFamily="34" charset="-122"/>
                <a:cs typeface="Calibri" pitchFamily="34" charset="-120"/>
              </a:rPr>
              <a:t>Domain psikososial tidak terekam</a:t>
            </a:r>
            <a:endParaRPr lang="en-US" sz="1000" dirty="0"/>
          </a:p>
        </p:txBody>
      </p:sp>
      <p:sp>
        <p:nvSpPr>
          <p:cNvPr id="63" name="Text 61"/>
          <p:cNvSpPr/>
          <p:nvPr/>
        </p:nvSpPr>
        <p:spPr>
          <a:xfrm>
            <a:off x="4057802" y="5486400"/>
            <a:ext cx="301752" cy="310896"/>
          </a:xfrm>
          <a:prstGeom prst="rect">
            <a:avLst/>
          </a:prstGeom>
          <a:noFill/>
          <a:ln/>
        </p:spPr>
        <p:txBody>
          <a:bodyPr wrap="square" lIns="0" tIns="0" rIns="0" bIns="0" rtlCol="0" anchor="ctr"/>
          <a:lstStyle/>
          <a:p>
            <a:pPr algn="ctr" indent="0" marL="0">
              <a:buNone/>
            </a:pPr>
            <a:r>
              <a:rPr lang="en-US" sz="1100" dirty="0">
                <a:solidFill>
                  <a:srgbClr val="9AA0A7"/>
                </a:solidFill>
                <a:latin typeface="Calibri" pitchFamily="34" charset="0"/>
                <a:ea typeface="Calibri" pitchFamily="34" charset="-122"/>
                <a:cs typeface="Calibri" pitchFamily="34" charset="-120"/>
              </a:rPr>
              <a:t>→</a:t>
            </a:r>
            <a:endParaRPr lang="en-US" sz="1100" dirty="0"/>
          </a:p>
        </p:txBody>
      </p:sp>
      <p:sp>
        <p:nvSpPr>
          <p:cNvPr id="64" name="Text 62"/>
          <p:cNvSpPr/>
          <p:nvPr/>
        </p:nvSpPr>
        <p:spPr>
          <a:xfrm>
            <a:off x="4414418" y="5486400"/>
            <a:ext cx="3362858" cy="310896"/>
          </a:xfrm>
          <a:prstGeom prst="rect">
            <a:avLst/>
          </a:prstGeom>
          <a:noFill/>
          <a:ln/>
        </p:spPr>
        <p:txBody>
          <a:bodyPr wrap="square" lIns="0" tIns="0" rIns="0" bIns="0" rtlCol="0" anchor="ctr"/>
          <a:lstStyle/>
          <a:p>
            <a:pPr indent="0" marL="0">
              <a:lnSpc>
                <a:spcPts val="1300"/>
              </a:lnSpc>
              <a:buNone/>
            </a:pPr>
            <a:r>
              <a:rPr lang="en-US" sz="1000" dirty="0">
                <a:solidFill>
                  <a:srgbClr val="3A4048"/>
                </a:solidFill>
                <a:latin typeface="Calibri" pitchFamily="34" charset="0"/>
                <a:ea typeface="Calibri" pitchFamily="34" charset="-122"/>
                <a:cs typeface="Calibri" pitchFamily="34" charset="-120"/>
              </a:rPr>
              <a:t>Sebagian besar variasi tak teramati</a:t>
            </a:r>
            <a:endParaRPr lang="en-US" sz="1000" dirty="0"/>
          </a:p>
        </p:txBody>
      </p:sp>
      <p:sp>
        <p:nvSpPr>
          <p:cNvPr id="65" name="Text 63"/>
          <p:cNvSpPr/>
          <p:nvPr/>
        </p:nvSpPr>
        <p:spPr>
          <a:xfrm>
            <a:off x="7832141" y="5486400"/>
            <a:ext cx="301752" cy="310896"/>
          </a:xfrm>
          <a:prstGeom prst="rect">
            <a:avLst/>
          </a:prstGeom>
          <a:noFill/>
          <a:ln/>
        </p:spPr>
        <p:txBody>
          <a:bodyPr wrap="square" lIns="0" tIns="0" rIns="0" bIns="0" rtlCol="0" anchor="ctr"/>
          <a:lstStyle/>
          <a:p>
            <a:pPr algn="ctr" indent="0" marL="0">
              <a:buNone/>
            </a:pPr>
            <a:r>
              <a:rPr lang="en-US" sz="1100" dirty="0">
                <a:solidFill>
                  <a:srgbClr val="9AA0A7"/>
                </a:solidFill>
                <a:latin typeface="Calibri" pitchFamily="34" charset="0"/>
                <a:ea typeface="Calibri" pitchFamily="34" charset="-122"/>
                <a:cs typeface="Calibri" pitchFamily="34" charset="-120"/>
              </a:rPr>
              <a:t>→</a:t>
            </a:r>
            <a:endParaRPr lang="en-US" sz="1100" dirty="0"/>
          </a:p>
        </p:txBody>
      </p:sp>
      <p:sp>
        <p:nvSpPr>
          <p:cNvPr id="66" name="Text 64"/>
          <p:cNvSpPr/>
          <p:nvPr/>
        </p:nvSpPr>
        <p:spPr>
          <a:xfrm>
            <a:off x="8188757" y="5486400"/>
            <a:ext cx="3362858" cy="310896"/>
          </a:xfrm>
          <a:prstGeom prst="rect">
            <a:avLst/>
          </a:prstGeom>
          <a:noFill/>
          <a:ln/>
        </p:spPr>
        <p:txBody>
          <a:bodyPr wrap="square" lIns="0" tIns="0" rIns="0" bIns="0" rtlCol="0" anchor="ctr"/>
          <a:lstStyle/>
          <a:p>
            <a:pPr indent="0" marL="0">
              <a:lnSpc>
                <a:spcPts val="1300"/>
              </a:lnSpc>
              <a:buNone/>
            </a:pPr>
            <a:r>
              <a:rPr lang="en-US" sz="1000" b="1" dirty="0">
                <a:solidFill>
                  <a:srgbClr val="16191D"/>
                </a:solidFill>
                <a:latin typeface="Calibri" pitchFamily="34" charset="0"/>
                <a:ea typeface="Calibri" pitchFamily="34" charset="-122"/>
                <a:cs typeface="Calibri" pitchFamily="34" charset="-120"/>
              </a:rPr>
              <a:t>Landasan analisis plafon</a:t>
            </a:r>
            <a:endParaRPr lang="en-US" sz="1000" dirty="0"/>
          </a:p>
        </p:txBody>
      </p:sp>
      <p:sp>
        <p:nvSpPr>
          <p:cNvPr id="67" name="Shape 65"/>
          <p:cNvSpPr/>
          <p:nvPr/>
        </p:nvSpPr>
        <p:spPr>
          <a:xfrm>
            <a:off x="640080" y="5797296"/>
            <a:ext cx="10911535" cy="0"/>
          </a:xfrm>
          <a:prstGeom prst="line">
            <a:avLst/>
          </a:prstGeom>
          <a:noFill/>
          <a:ln w="7620">
            <a:solidFill>
              <a:srgbClr val="DCD8D1"/>
            </a:solidFill>
            <a:prstDash val="solid"/>
          </a:ln>
        </p:spPr>
      </p:sp>
      <p:sp>
        <p:nvSpPr>
          <p:cNvPr id="69" name="Shape 66"/>
          <p:cNvSpPr/>
          <p:nvPr/>
        </p:nvSpPr>
        <p:spPr>
          <a:xfrm>
            <a:off x="640080" y="6400800"/>
            <a:ext cx="1572768" cy="45720"/>
          </a:xfrm>
          <a:prstGeom prst="rect">
            <a:avLst/>
          </a:prstGeom>
          <a:solidFill>
            <a:srgbClr val="DCD8D1"/>
          </a:solidFill>
          <a:ln/>
        </p:spPr>
      </p:sp>
      <p:sp>
        <p:nvSpPr>
          <p:cNvPr id="70" name="Text 67"/>
          <p:cNvSpPr/>
          <p:nvPr/>
        </p:nvSpPr>
        <p:spPr>
          <a:xfrm>
            <a:off x="640080"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I · Latar &amp; data</a:t>
            </a:r>
            <a:endParaRPr lang="en-US" sz="850" dirty="0"/>
          </a:p>
        </p:txBody>
      </p:sp>
      <p:sp>
        <p:nvSpPr>
          <p:cNvPr id="71" name="Shape 68"/>
          <p:cNvSpPr/>
          <p:nvPr/>
        </p:nvSpPr>
        <p:spPr>
          <a:xfrm>
            <a:off x="2304288" y="6400800"/>
            <a:ext cx="1572768" cy="45720"/>
          </a:xfrm>
          <a:prstGeom prst="rect">
            <a:avLst/>
          </a:prstGeom>
          <a:solidFill>
            <a:srgbClr val="A8442A"/>
          </a:solidFill>
          <a:ln/>
        </p:spPr>
      </p:sp>
      <p:sp>
        <p:nvSpPr>
          <p:cNvPr id="72" name="Text 69"/>
          <p:cNvSpPr/>
          <p:nvPr/>
        </p:nvSpPr>
        <p:spPr>
          <a:xfrm>
            <a:off x="2304288" y="6464808"/>
            <a:ext cx="1572768" cy="201168"/>
          </a:xfrm>
          <a:prstGeom prst="rect">
            <a:avLst/>
          </a:prstGeom>
          <a:noFill/>
          <a:ln/>
        </p:spPr>
        <p:txBody>
          <a:bodyPr wrap="square" lIns="0" tIns="0" rIns="0" bIns="0" rtlCol="0" anchor="ctr"/>
          <a:lstStyle/>
          <a:p>
            <a:pPr indent="0" marL="0">
              <a:buNone/>
            </a:pPr>
            <a:r>
              <a:rPr lang="en-US" sz="850" b="1" dirty="0">
                <a:solidFill>
                  <a:srgbClr val="16191D"/>
                </a:solidFill>
                <a:latin typeface="Calibri" pitchFamily="34" charset="0"/>
                <a:ea typeface="Calibri" pitchFamily="34" charset="-122"/>
                <a:cs typeface="Calibri" pitchFamily="34" charset="-120"/>
              </a:rPr>
              <a:t>II · EDA</a:t>
            </a:r>
            <a:endParaRPr lang="en-US" sz="850" dirty="0"/>
          </a:p>
        </p:txBody>
      </p:sp>
      <p:sp>
        <p:nvSpPr>
          <p:cNvPr id="73" name="Shape 70"/>
          <p:cNvSpPr/>
          <p:nvPr/>
        </p:nvSpPr>
        <p:spPr>
          <a:xfrm>
            <a:off x="3968496" y="6400800"/>
            <a:ext cx="1572768" cy="45720"/>
          </a:xfrm>
          <a:prstGeom prst="rect">
            <a:avLst/>
          </a:prstGeom>
          <a:solidFill>
            <a:srgbClr val="DCD8D1"/>
          </a:solidFill>
          <a:ln/>
        </p:spPr>
      </p:sp>
      <p:sp>
        <p:nvSpPr>
          <p:cNvPr id="74" name="Text 71"/>
          <p:cNvSpPr/>
          <p:nvPr/>
        </p:nvSpPr>
        <p:spPr>
          <a:xfrm>
            <a:off x="3968496"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III · Pipeline</a:t>
            </a:r>
            <a:endParaRPr lang="en-US" sz="850" dirty="0"/>
          </a:p>
        </p:txBody>
      </p:sp>
      <p:sp>
        <p:nvSpPr>
          <p:cNvPr id="75" name="Shape 72"/>
          <p:cNvSpPr/>
          <p:nvPr/>
        </p:nvSpPr>
        <p:spPr>
          <a:xfrm>
            <a:off x="5632704" y="6400800"/>
            <a:ext cx="1572768" cy="45720"/>
          </a:xfrm>
          <a:prstGeom prst="rect">
            <a:avLst/>
          </a:prstGeom>
          <a:solidFill>
            <a:srgbClr val="DCD8D1"/>
          </a:solidFill>
          <a:ln/>
        </p:spPr>
      </p:sp>
      <p:sp>
        <p:nvSpPr>
          <p:cNvPr id="76" name="Text 73"/>
          <p:cNvSpPr/>
          <p:nvPr/>
        </p:nvSpPr>
        <p:spPr>
          <a:xfrm>
            <a:off x="5632704"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IV · Disiplin estimasi</a:t>
            </a:r>
            <a:endParaRPr lang="en-US" sz="850" dirty="0"/>
          </a:p>
        </p:txBody>
      </p:sp>
      <p:sp>
        <p:nvSpPr>
          <p:cNvPr id="77" name="Shape 74"/>
          <p:cNvSpPr/>
          <p:nvPr/>
        </p:nvSpPr>
        <p:spPr>
          <a:xfrm>
            <a:off x="7296912" y="6400800"/>
            <a:ext cx="1572768" cy="45720"/>
          </a:xfrm>
          <a:prstGeom prst="rect">
            <a:avLst/>
          </a:prstGeom>
          <a:solidFill>
            <a:srgbClr val="DCD8D1"/>
          </a:solidFill>
          <a:ln/>
        </p:spPr>
      </p:sp>
      <p:sp>
        <p:nvSpPr>
          <p:cNvPr id="78" name="Text 75"/>
          <p:cNvSpPr/>
          <p:nvPr/>
        </p:nvSpPr>
        <p:spPr>
          <a:xfrm>
            <a:off x="7296912"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V · Hasil &amp; plafon</a:t>
            </a:r>
            <a:endParaRPr lang="en-US" sz="850" dirty="0"/>
          </a:p>
        </p:txBody>
      </p:sp>
      <p:sp>
        <p:nvSpPr>
          <p:cNvPr id="79" name="Shape 76"/>
          <p:cNvSpPr/>
          <p:nvPr/>
        </p:nvSpPr>
        <p:spPr>
          <a:xfrm>
            <a:off x="8961120" y="6400800"/>
            <a:ext cx="1572768" cy="45720"/>
          </a:xfrm>
          <a:prstGeom prst="rect">
            <a:avLst/>
          </a:prstGeom>
          <a:solidFill>
            <a:srgbClr val="DCD8D1"/>
          </a:solidFill>
          <a:ln/>
        </p:spPr>
      </p:sp>
      <p:sp>
        <p:nvSpPr>
          <p:cNvPr id="80" name="Text 77"/>
          <p:cNvSpPr/>
          <p:nvPr/>
        </p:nvSpPr>
        <p:spPr>
          <a:xfrm>
            <a:off x="8961120"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VI · Reproduksi &amp; produk</a:t>
            </a:r>
            <a:endParaRPr lang="en-US" sz="850" dirty="0"/>
          </a:p>
        </p:txBody>
      </p:sp>
      <p:sp>
        <p:nvSpPr>
          <p:cNvPr id="81" name="Text 78"/>
          <p:cNvSpPr/>
          <p:nvPr/>
        </p:nvSpPr>
        <p:spPr>
          <a:xfrm>
            <a:off x="10637215" y="6382512"/>
            <a:ext cx="914400" cy="274320"/>
          </a:xfrm>
          <a:prstGeom prst="rect">
            <a:avLst/>
          </a:prstGeom>
          <a:noFill/>
          <a:ln/>
        </p:spPr>
        <p:txBody>
          <a:bodyPr wrap="square" lIns="0" tIns="0" rIns="0" bIns="0" rtlCol="0" anchor="ctr"/>
          <a:lstStyle/>
          <a:p>
            <a:pPr algn="r" indent="0" marL="0">
              <a:buNone/>
            </a:pPr>
            <a:r>
              <a:rPr lang="en-US" sz="900" b="1" dirty="0">
                <a:solidFill>
                  <a:srgbClr val="9AA0A7"/>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84048"/>
            <a:ext cx="10911535" cy="530352"/>
          </a:xfrm>
          <a:prstGeom prst="rect">
            <a:avLst/>
          </a:prstGeom>
          <a:noFill/>
          <a:ln/>
        </p:spPr>
        <p:txBody>
          <a:bodyPr wrap="square" lIns="0" tIns="0" rIns="0" bIns="0" rtlCol="0" anchor="t"/>
          <a:lstStyle/>
          <a:p>
            <a:pPr indent="0" marL="0">
              <a:buNone/>
            </a:pPr>
            <a:r>
              <a:rPr lang="en-US" sz="2400" b="1" dirty="0">
                <a:solidFill>
                  <a:srgbClr val="16191D"/>
                </a:solidFill>
                <a:latin typeface="Cambria" pitchFamily="34" charset="0"/>
                <a:ea typeface="Cambria" pitchFamily="34" charset="-122"/>
                <a:cs typeface="Cambria" pitchFamily="34" charset="-120"/>
              </a:rPr>
              <a:t>Tujuh keputusan preprocessing, lalu 13 fitur komposit yang kami buang.</a:t>
            </a:r>
            <a:endParaRPr lang="en-US" sz="2400" dirty="0"/>
          </a:p>
        </p:txBody>
      </p:sp>
      <p:sp>
        <p:nvSpPr>
          <p:cNvPr id="3" name="Text 1"/>
          <p:cNvSpPr/>
          <p:nvPr/>
        </p:nvSpPr>
        <p:spPr>
          <a:xfrm>
            <a:off x="640080" y="896112"/>
            <a:ext cx="10911535" cy="310896"/>
          </a:xfrm>
          <a:prstGeom prst="rect">
            <a:avLst/>
          </a:prstGeom>
          <a:noFill/>
          <a:ln/>
        </p:spPr>
        <p:txBody>
          <a:bodyPr wrap="square" lIns="0" tIns="0" rIns="0" bIns="0" rtlCol="0" anchor="t"/>
          <a:lstStyle/>
          <a:p>
            <a:pPr indent="0" marL="0">
              <a:buNone/>
            </a:pPr>
            <a:r>
              <a:rPr lang="en-US" sz="1250" dirty="0">
                <a:solidFill>
                  <a:srgbClr val="6E747C"/>
                </a:solidFill>
                <a:latin typeface="Calibri" pitchFamily="34" charset="0"/>
                <a:ea typeface="Calibri" pitchFamily="34" charset="-122"/>
                <a:cs typeface="Calibri" pitchFamily="34" charset="-120"/>
              </a:rPr>
              <a:t>Setiap keputusan punya dasar yang bisa diperiksa. Fitur tambahan harus lolos ablasi dulu.</a:t>
            </a:r>
            <a:endParaRPr lang="en-US" sz="125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640080" y="1371600"/>
          <a:ext cx="6400800" cy="914400"/>
        </p:xfrm>
        <a:graphic>
          <a:graphicData uri="http://schemas.openxmlformats.org/drawingml/2006/table">
            <a:tbl>
              <a:tblPr/>
              <a:tblGrid>
                <a:gridCol w="1737360"/>
                <a:gridCol w="1600200"/>
                <a:gridCol w="3063240"/>
              </a:tblGrid>
              <a:tr h="347472">
                <a:tc>
                  <a:txBody>
                    <a:bodyPr/>
                    <a:lstStyle/>
                    <a:p>
                      <a:pPr algn="l" indent="0" marL="0">
                        <a:buNone/>
                      </a:pPr>
                      <a:r>
                        <a:rPr lang="en-US" sz="1050" b="1" dirty="0">
                          <a:solidFill>
                            <a:srgbClr val="16191D"/>
                          </a:solidFill>
                          <a:latin typeface="Calibri" pitchFamily="34" charset="0"/>
                          <a:ea typeface="Calibri" pitchFamily="34" charset="-122"/>
                          <a:cs typeface="Calibri" pitchFamily="34" charset="-120"/>
                        </a:rPr>
                        <a:t>Keputusan</a:t>
                      </a:r>
                      <a:endParaRPr lang="en-US" sz="1050" dirty="0">
                        <a:latin typeface="Calibri" charset="0"/>
                        <a:ea typeface="Calibri" charset="0"/>
                        <a:cs typeface="Calibri" charset="0"/>
                      </a:endParaRPr>
                    </a:p>
                  </a:txBody>
                  <a:tcPr marL="25400" marR="101600" marT="63500" marB="63500" anchor="ctr">
                    <a:lnL w="0" cap="flat" cmpd="sng" algn="ctr">
                      <a:noFill/>
                    </a:lnL>
                    <a:lnR w="0" cap="flat" cmpd="sng" algn="ctr">
                      <a:noFill/>
                    </a:lnR>
                    <a:lnT w="17780" cap="flat" cmpd="sng" algn="ctr">
                      <a:solidFill>
                        <a:srgbClr val="16191D"/>
                      </a:solidFill>
                      <a:prstDash val="solid"/>
                      <a:round/>
                      <a:headEnd type="none" w="med" len="med"/>
                      <a:tailEnd type="none" w="med" len="med"/>
                    </a:lnT>
                    <a:lnB w="10160" cap="flat" cmpd="sng" algn="ctr">
                      <a:solidFill>
                        <a:srgbClr val="16191D"/>
                      </a:solidFill>
                      <a:prstDash val="solid"/>
                      <a:round/>
                      <a:headEnd type="none" w="med" len="med"/>
                      <a:tailEnd type="none" w="med" len="med"/>
                    </a:lnB>
                  </a:tcPr>
                </a:tc>
                <a:tc>
                  <a:txBody>
                    <a:bodyPr/>
                    <a:lstStyle/>
                    <a:p>
                      <a:pPr algn="l" indent="0" marL="0">
                        <a:buNone/>
                      </a:pPr>
                      <a:r>
                        <a:rPr lang="en-US" sz="1050" b="1" dirty="0">
                          <a:solidFill>
                            <a:srgbClr val="16191D"/>
                          </a:solidFill>
                          <a:latin typeface="Calibri" pitchFamily="34" charset="0"/>
                          <a:ea typeface="Calibri" pitchFamily="34" charset="-122"/>
                          <a:cs typeface="Calibri" pitchFamily="34" charset="-120"/>
                        </a:rPr>
                        <a:t>Pilihan</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17780" cap="flat" cmpd="sng" algn="ctr">
                      <a:solidFill>
                        <a:srgbClr val="16191D"/>
                      </a:solidFill>
                      <a:prstDash val="solid"/>
                      <a:round/>
                      <a:headEnd type="none" w="med" len="med"/>
                      <a:tailEnd type="none" w="med" len="med"/>
                    </a:lnT>
                    <a:lnB w="10160" cap="flat" cmpd="sng" algn="ctr">
                      <a:solidFill>
                        <a:srgbClr val="16191D"/>
                      </a:solidFill>
                      <a:prstDash val="solid"/>
                      <a:round/>
                      <a:headEnd type="none" w="med" len="med"/>
                      <a:tailEnd type="none" w="med" len="med"/>
                    </a:lnB>
                  </a:tcPr>
                </a:tc>
                <a:tc>
                  <a:txBody>
                    <a:bodyPr/>
                    <a:lstStyle/>
                    <a:p>
                      <a:pPr algn="l" indent="0" marL="0">
                        <a:buNone/>
                      </a:pPr>
                      <a:r>
                        <a:rPr lang="en-US" sz="1050" b="1" dirty="0">
                          <a:solidFill>
                            <a:srgbClr val="16191D"/>
                          </a:solidFill>
                          <a:latin typeface="Calibri" pitchFamily="34" charset="0"/>
                          <a:ea typeface="Calibri" pitchFamily="34" charset="-122"/>
                          <a:cs typeface="Calibri" pitchFamily="34" charset="-120"/>
                        </a:rPr>
                        <a:t>Dasarnya</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17780" cap="flat" cmpd="sng" algn="ctr">
                      <a:solidFill>
                        <a:srgbClr val="16191D"/>
                      </a:solidFill>
                      <a:prstDash val="solid"/>
                      <a:round/>
                      <a:headEnd type="none" w="med" len="med"/>
                      <a:tailEnd type="none" w="med" len="med"/>
                    </a:lnT>
                    <a:lnB w="10160" cap="flat" cmpd="sng" algn="ctr">
                      <a:solidFill>
                        <a:srgbClr val="16191D"/>
                      </a:solidFill>
                      <a:prstDash val="solid"/>
                      <a:round/>
                      <a:headEnd type="none" w="med" len="med"/>
                      <a:tailEnd type="none" w="med" len="med"/>
                    </a:lnB>
                  </a:tcPr>
                </a:tc>
              </a:tr>
              <a:tr h="347472">
                <a:tc>
                  <a:txBody>
                    <a:bodyPr/>
                    <a:lstStyle/>
                    <a:p>
                      <a:pPr algn="l" indent="0" marL="0">
                        <a:buNone/>
                      </a:pPr>
                      <a:r>
                        <a:rPr lang="en-US" sz="1050" dirty="0">
                          <a:solidFill>
                            <a:srgbClr val="3A4048"/>
                          </a:solidFill>
                          <a:latin typeface="Calibri" pitchFamily="34" charset="0"/>
                          <a:ea typeface="Calibri" pitchFamily="34" charset="-122"/>
                          <a:cs typeface="Calibri" pitchFamily="34" charset="-120"/>
                        </a:rPr>
                        <a:t>Nilai kosong</a:t>
                      </a:r>
                      <a:endParaRPr lang="en-US" sz="105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1050" b="1" dirty="0">
                          <a:solidFill>
                            <a:srgbClr val="3A4048"/>
                          </a:solidFill>
                          <a:latin typeface="Calibri" pitchFamily="34" charset="0"/>
                          <a:ea typeface="Calibri" pitchFamily="34" charset="-122"/>
                          <a:cs typeface="Calibri" pitchFamily="34" charset="-120"/>
                        </a:rPr>
                        <a:t>Tetap NaN</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1050" dirty="0">
                          <a:solidFill>
                            <a:srgbClr val="3A4048"/>
                          </a:solidFill>
                          <a:latin typeface="Calibri" pitchFamily="34" charset="0"/>
                          <a:ea typeface="Calibri" pitchFamily="34" charset="-122"/>
                          <a:cs typeface="Calibri" pitchFamily="34" charset="-120"/>
                        </a:rPr>
                        <a:t>Pohon belajar arah cabang sendiri</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347472">
                <a:tc>
                  <a:txBody>
                    <a:bodyPr/>
                    <a:lstStyle/>
                    <a:p>
                      <a:pPr algn="l" indent="0" marL="0">
                        <a:buNone/>
                      </a:pPr>
                      <a:r>
                        <a:rPr lang="en-US" sz="1050" dirty="0">
                          <a:solidFill>
                            <a:srgbClr val="3A4048"/>
                          </a:solidFill>
                          <a:latin typeface="Calibri" pitchFamily="34" charset="0"/>
                          <a:ea typeface="Calibri" pitchFamily="34" charset="-122"/>
                          <a:cs typeface="Calibri" pitchFamily="34" charset="-120"/>
                        </a:rPr>
                        <a:t>Kode 7 / 8 / 9</a:t>
                      </a:r>
                      <a:endParaRPr lang="en-US" sz="105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1050" b="1" dirty="0">
                          <a:solidFill>
                            <a:srgbClr val="3A4048"/>
                          </a:solidFill>
                          <a:latin typeface="Calibri" pitchFamily="34" charset="0"/>
                          <a:ea typeface="Calibri" pitchFamily="34" charset="-122"/>
                          <a:cs typeface="Calibri" pitchFamily="34" charset="-120"/>
                        </a:rPr>
                        <a:t>Apa adanya</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1050" dirty="0">
                          <a:solidFill>
                            <a:srgbClr val="3A4048"/>
                          </a:solidFill>
                          <a:latin typeface="Calibri" pitchFamily="34" charset="0"/>
                          <a:ea typeface="Calibri" pitchFamily="34" charset="-122"/>
                          <a:cs typeface="Calibri" pitchFamily="34" charset="-120"/>
                        </a:rPr>
                        <a:t>Non-respons membawa sinyal</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347472">
                <a:tc>
                  <a:txBody>
                    <a:bodyPr/>
                    <a:lstStyle/>
                    <a:p>
                      <a:pPr algn="l" indent="0" marL="0">
                        <a:buNone/>
                      </a:pPr>
                      <a:r>
                        <a:rPr lang="en-US" sz="1050" dirty="0">
                          <a:solidFill>
                            <a:srgbClr val="3A4048"/>
                          </a:solidFill>
                          <a:latin typeface="Calibri" pitchFamily="34" charset="0"/>
                          <a:ea typeface="Calibri" pitchFamily="34" charset="-122"/>
                          <a:cs typeface="Calibri" pitchFamily="34" charset="-120"/>
                        </a:rPr>
                        <a:t>Skala model pohon</a:t>
                      </a:r>
                      <a:endParaRPr lang="en-US" sz="105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1050" b="1" dirty="0">
                          <a:solidFill>
                            <a:srgbClr val="3A4048"/>
                          </a:solidFill>
                          <a:latin typeface="Calibri" pitchFamily="34" charset="0"/>
                          <a:ea typeface="Calibri" pitchFamily="34" charset="-122"/>
                          <a:cs typeface="Calibri" pitchFamily="34" charset="-120"/>
                        </a:rPr>
                        <a:t>Tidak ada</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1050" dirty="0">
                          <a:solidFill>
                            <a:srgbClr val="3A4048"/>
                          </a:solidFill>
                          <a:latin typeface="Calibri" pitchFamily="34" charset="0"/>
                          <a:ea typeface="Calibri" pitchFamily="34" charset="-122"/>
                          <a:cs typeface="Calibri" pitchFamily="34" charset="-120"/>
                        </a:rPr>
                        <a:t>Invarian transformasi monoton</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347472">
                <a:tc>
                  <a:txBody>
                    <a:bodyPr/>
                    <a:lstStyle/>
                    <a:p>
                      <a:pPr algn="l" indent="0" marL="0">
                        <a:buNone/>
                      </a:pPr>
                      <a:r>
                        <a:rPr lang="en-US" sz="1050" dirty="0">
                          <a:solidFill>
                            <a:srgbClr val="3A4048"/>
                          </a:solidFill>
                          <a:latin typeface="Calibri" pitchFamily="34" charset="0"/>
                          <a:ea typeface="Calibri" pitchFamily="34" charset="-122"/>
                          <a:cs typeface="Calibri" pitchFamily="34" charset="-120"/>
                        </a:rPr>
                        <a:t>Skala untuk MLP</a:t>
                      </a:r>
                      <a:endParaRPr lang="en-US" sz="105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1050" b="1" dirty="0">
                          <a:solidFill>
                            <a:srgbClr val="3A4048"/>
                          </a:solidFill>
                          <a:latin typeface="Calibri" pitchFamily="34" charset="0"/>
                          <a:ea typeface="Calibri" pitchFamily="34" charset="-122"/>
                          <a:cs typeface="Calibri" pitchFamily="34" charset="-120"/>
                        </a:rPr>
                        <a:t>Quantile + median</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1050" dirty="0">
                          <a:solidFill>
                            <a:srgbClr val="3A4048"/>
                          </a:solidFill>
                          <a:latin typeface="Calibri" pitchFamily="34" charset="0"/>
                          <a:ea typeface="Calibri" pitchFamily="34" charset="-122"/>
                          <a:cs typeface="Calibri" pitchFamily="34" charset="-120"/>
                        </a:rPr>
                        <a:t>Jaringan saraf butuh input normal</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347472">
                <a:tc>
                  <a:txBody>
                    <a:bodyPr/>
                    <a:lstStyle/>
                    <a:p>
                      <a:pPr algn="l" indent="0" marL="0">
                        <a:buNone/>
                      </a:pPr>
                      <a:r>
                        <a:rPr lang="en-US" sz="1050" dirty="0">
                          <a:solidFill>
                            <a:srgbClr val="3A4048"/>
                          </a:solidFill>
                          <a:latin typeface="Calibri" pitchFamily="34" charset="0"/>
                          <a:ea typeface="Calibri" pitchFamily="34" charset="-122"/>
                          <a:cs typeface="Calibri" pitchFamily="34" charset="-120"/>
                        </a:rPr>
                        <a:t>household_id</a:t>
                      </a:r>
                      <a:endParaRPr lang="en-US" sz="105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1050" b="1" dirty="0">
                          <a:solidFill>
                            <a:srgbClr val="A8442A"/>
                          </a:solidFill>
                          <a:latin typeface="Calibri" pitchFamily="34" charset="0"/>
                          <a:ea typeface="Calibri" pitchFamily="34" charset="-122"/>
                          <a:cs typeface="Calibri" pitchFamily="34" charset="-120"/>
                        </a:rPr>
                        <a:t>Dibuang</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1050" dirty="0">
                          <a:solidFill>
                            <a:srgbClr val="3A4048"/>
                          </a:solidFill>
                          <a:latin typeface="Calibri" pitchFamily="34" charset="0"/>
                          <a:ea typeface="Calibri" pitchFamily="34" charset="-122"/>
                          <a:cs typeface="Calibri" pitchFamily="34" charset="-120"/>
                        </a:rPr>
                        <a:t>Lift antar anggota +1,6pp</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347472">
                <a:tc>
                  <a:txBody>
                    <a:bodyPr/>
                    <a:lstStyle/>
                    <a:p>
                      <a:pPr algn="l" indent="0" marL="0">
                        <a:buNone/>
                      </a:pPr>
                      <a:r>
                        <a:rPr lang="en-US" sz="1050" dirty="0">
                          <a:solidFill>
                            <a:srgbClr val="3A4048"/>
                          </a:solidFill>
                          <a:latin typeface="Calibri" pitchFamily="34" charset="0"/>
                          <a:ea typeface="Calibri" pitchFamily="34" charset="-122"/>
                          <a:cs typeface="Calibri" pitchFamily="34" charset="-120"/>
                        </a:rPr>
                        <a:t>id</a:t>
                      </a:r>
                      <a:endParaRPr lang="en-US" sz="105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1050" b="1" dirty="0">
                          <a:solidFill>
                            <a:srgbClr val="A8442A"/>
                          </a:solidFill>
                          <a:latin typeface="Calibri" pitchFamily="34" charset="0"/>
                          <a:ea typeface="Calibri" pitchFamily="34" charset="-122"/>
                          <a:cs typeface="Calibri" pitchFamily="34" charset="-120"/>
                        </a:rPr>
                        <a:t>Dibuang</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1050" dirty="0">
                          <a:solidFill>
                            <a:srgbClr val="3A4048"/>
                          </a:solidFill>
                          <a:latin typeface="Calibri" pitchFamily="34" charset="0"/>
                          <a:ea typeface="Calibri" pitchFamily="34" charset="-122"/>
                          <a:cs typeface="Calibri" pitchFamily="34" charset="-120"/>
                        </a:rPr>
                        <a:t>Spearman ke target 0,006</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347472">
                <a:tc>
                  <a:txBody>
                    <a:bodyPr/>
                    <a:lstStyle/>
                    <a:p>
                      <a:pPr algn="l" indent="0" marL="0">
                        <a:buNone/>
                      </a:pPr>
                      <a:r>
                        <a:rPr lang="en-US" sz="1050" dirty="0">
                          <a:solidFill>
                            <a:srgbClr val="3A4048"/>
                          </a:solidFill>
                          <a:latin typeface="Calibri" pitchFamily="34" charset="0"/>
                          <a:ea typeface="Calibri" pitchFamily="34" charset="-122"/>
                          <a:cs typeface="Calibri" pitchFamily="34" charset="-120"/>
                        </a:rPr>
                        <a:t>Encoding kategorikal</a:t>
                      </a:r>
                      <a:endParaRPr lang="en-US" sz="105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17780" cap="flat" cmpd="sng" algn="ctr">
                      <a:solidFill>
                        <a:srgbClr val="16191D"/>
                      </a:solidFill>
                      <a:prstDash val="solid"/>
                      <a:round/>
                      <a:headEnd type="none" w="med" len="med"/>
                      <a:tailEnd type="none" w="med" len="med"/>
                    </a:lnB>
                  </a:tcPr>
                </a:tc>
                <a:tc>
                  <a:txBody>
                    <a:bodyPr/>
                    <a:lstStyle/>
                    <a:p>
                      <a:pPr algn="l" indent="0" marL="0">
                        <a:buNone/>
                      </a:pPr>
                      <a:r>
                        <a:rPr lang="en-US" sz="1050" b="1" dirty="0">
                          <a:solidFill>
                            <a:srgbClr val="3A4048"/>
                          </a:solidFill>
                          <a:latin typeface="Calibri" pitchFamily="34" charset="0"/>
                          <a:ea typeface="Calibri" pitchFamily="34" charset="-122"/>
                          <a:cs typeface="Calibri" pitchFamily="34" charset="-120"/>
                        </a:rPr>
                        <a:t>Tidak perlu</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17780" cap="flat" cmpd="sng" algn="ctr">
                      <a:solidFill>
                        <a:srgbClr val="16191D"/>
                      </a:solidFill>
                      <a:prstDash val="solid"/>
                      <a:round/>
                      <a:headEnd type="none" w="med" len="med"/>
                      <a:tailEnd type="none" w="med" len="med"/>
                    </a:lnB>
                  </a:tcPr>
                </a:tc>
                <a:tc>
                  <a:txBody>
                    <a:bodyPr/>
                    <a:lstStyle/>
                    <a:p>
                      <a:pPr algn="l" indent="0" marL="0">
                        <a:buNone/>
                      </a:pPr>
                      <a:r>
                        <a:rPr lang="en-US" sz="1050" dirty="0">
                          <a:solidFill>
                            <a:srgbClr val="3A4048"/>
                          </a:solidFill>
                          <a:latin typeface="Calibri" pitchFamily="34" charset="0"/>
                          <a:ea typeface="Calibri" pitchFamily="34" charset="-122"/>
                          <a:cs typeface="Calibri" pitchFamily="34" charset="-120"/>
                        </a:rPr>
                        <a:t>Semua kolom sudah kode numerik</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17780" cap="flat" cmpd="sng" algn="ctr">
                      <a:solidFill>
                        <a:srgbClr val="16191D"/>
                      </a:solidFill>
                      <a:prstDash val="solid"/>
                      <a:round/>
                      <a:headEnd type="none" w="med" len="med"/>
                      <a:tailEnd type="none" w="med" len="med"/>
                    </a:lnB>
                  </a:tcPr>
                </a:tc>
              </a:tr>
            </a:tbl>
          </a:graphicData>
        </a:graphic>
      </p:graphicFrame>
      <p:sp>
        <p:nvSpPr>
          <p:cNvPr id="5" name="Shape 2"/>
          <p:cNvSpPr/>
          <p:nvPr/>
        </p:nvSpPr>
        <p:spPr>
          <a:xfrm>
            <a:off x="640080" y="4343400"/>
            <a:ext cx="6400800" cy="1874520"/>
          </a:xfrm>
          <a:prstGeom prst="roundRect">
            <a:avLst>
              <a:gd name="adj" fmla="val 2927"/>
            </a:avLst>
          </a:prstGeom>
          <a:solidFill>
            <a:srgbClr val="F4F1EC"/>
          </a:solidFill>
          <a:ln w="9525">
            <a:solidFill>
              <a:srgbClr val="DCD8D1"/>
            </a:solidFill>
            <a:prstDash val="solid"/>
          </a:ln>
        </p:spPr>
      </p:sp>
      <p:sp>
        <p:nvSpPr>
          <p:cNvPr id="6" name="Text 3"/>
          <p:cNvSpPr/>
          <p:nvPr/>
        </p:nvSpPr>
        <p:spPr>
          <a:xfrm>
            <a:off x="841248" y="4462272"/>
            <a:ext cx="6400800" cy="201168"/>
          </a:xfrm>
          <a:prstGeom prst="rect">
            <a:avLst/>
          </a:prstGeom>
          <a:noFill/>
          <a:ln/>
        </p:spPr>
        <p:txBody>
          <a:bodyPr wrap="square" lIns="0" tIns="0" rIns="0" bIns="0" rtlCol="0" anchor="ctr"/>
          <a:lstStyle/>
          <a:p>
            <a:pPr indent="0" marL="0">
              <a:buNone/>
            </a:pPr>
            <a:r>
              <a:rPr lang="en-US" sz="850" b="1" spc="120" kern="0" dirty="0">
                <a:solidFill>
                  <a:srgbClr val="6E747C"/>
                </a:solidFill>
                <a:latin typeface="Calibri" pitchFamily="34" charset="0"/>
                <a:ea typeface="Calibri" pitchFamily="34" charset="-122"/>
                <a:cs typeface="Calibri" pitchFamily="34" charset="-120"/>
              </a:rPr>
              <a:t>13 FITUR KOMPOSIT YANG DIBANGUN</a:t>
            </a:r>
            <a:endParaRPr lang="en-US" sz="850" dirty="0"/>
          </a:p>
        </p:txBody>
      </p:sp>
      <p:sp>
        <p:nvSpPr>
          <p:cNvPr id="7" name="Text 4"/>
          <p:cNvSpPr/>
          <p:nvPr/>
        </p:nvSpPr>
        <p:spPr>
          <a:xfrm>
            <a:off x="841248" y="4718304"/>
            <a:ext cx="5998464" cy="731520"/>
          </a:xfrm>
          <a:prstGeom prst="rect">
            <a:avLst/>
          </a:prstGeom>
          <a:noFill/>
          <a:ln/>
        </p:spPr>
        <p:txBody>
          <a:bodyPr wrap="square" lIns="0" tIns="0" rIns="0" bIns="0" rtlCol="0" anchor="t"/>
          <a:lstStyle/>
          <a:p>
            <a:pPr algn="l" indent="0" marL="0">
              <a:lnSpc>
                <a:spcPts val="1418"/>
              </a:lnSpc>
              <a:buNone/>
            </a:pPr>
            <a:r>
              <a:rPr lang="en-US" sz="1050" dirty="0">
                <a:solidFill>
                  <a:srgbClr val="16191D"/>
                </a:solidFill>
                <a:latin typeface="Calibri" pitchFamily="34" charset="0"/>
                <a:ea typeface="Calibri" pitchFamily="34" charset="-122"/>
                <a:cs typeface="Calibri" pitchFamily="34" charset="-120"/>
              </a:rPr>
              <a:t>n_disease · n_difficulty · n_cost_barrier · n_mental · n_income_src · n_missing · sev_anxiety · sev_depression · sev_mental · sev_food · health_x_mental · poverty_x_health · bmi</a:t>
            </a:r>
            <a:endParaRPr lang="en-US" sz="1050" dirty="0"/>
          </a:p>
        </p:txBody>
      </p:sp>
      <p:sp>
        <p:nvSpPr>
          <p:cNvPr id="8" name="Text 5"/>
          <p:cNvSpPr/>
          <p:nvPr/>
        </p:nvSpPr>
        <p:spPr>
          <a:xfrm>
            <a:off x="841248" y="5468112"/>
            <a:ext cx="5998464" cy="640080"/>
          </a:xfrm>
          <a:prstGeom prst="rect">
            <a:avLst/>
          </a:prstGeom>
          <a:noFill/>
          <a:ln/>
        </p:spPr>
        <p:txBody>
          <a:bodyPr wrap="square" lIns="0" tIns="0" rIns="0" bIns="0" rtlCol="0" anchor="t"/>
          <a:lstStyle/>
          <a:p>
            <a:pPr algn="l" indent="0" marL="0">
              <a:lnSpc>
                <a:spcPts val="1283"/>
              </a:lnSpc>
              <a:buNone/>
            </a:pPr>
            <a:r>
              <a:rPr lang="en-US" sz="950" i="1" dirty="0">
                <a:solidFill>
                  <a:srgbClr val="6E747C"/>
                </a:solidFill>
                <a:latin typeface="Calibri" pitchFamily="34" charset="0"/>
                <a:ea typeface="Calibri" pitchFamily="34" charset="-122"/>
                <a:cs typeface="Calibri" pitchFamily="34" charset="-120"/>
              </a:rPr>
              <a:t>Beban penyakit, keterbatasan fungsional, hambatan biaya, keparahan mental, ketahanan pangan, disusun dari pengelompokan data dictionary.</a:t>
            </a:r>
            <a:endParaRPr lang="en-US" sz="950" dirty="0"/>
          </a:p>
        </p:txBody>
      </p:sp>
      <p:sp>
        <p:nvSpPr>
          <p:cNvPr id="9" name="Shape 6"/>
          <p:cNvSpPr/>
          <p:nvPr/>
        </p:nvSpPr>
        <p:spPr>
          <a:xfrm>
            <a:off x="7315200" y="1371600"/>
            <a:ext cx="4236415" cy="3291840"/>
          </a:xfrm>
          <a:prstGeom prst="roundRect">
            <a:avLst>
              <a:gd name="adj" fmla="val 1667"/>
            </a:avLst>
          </a:prstGeom>
          <a:solidFill>
            <a:srgbClr val="FFFFFF"/>
          </a:solidFill>
          <a:ln w="9525">
            <a:solidFill>
              <a:srgbClr val="DCD8D1"/>
            </a:solidFill>
            <a:prstDash val="solid"/>
          </a:ln>
        </p:spPr>
      </p:sp>
      <p:sp>
        <p:nvSpPr>
          <p:cNvPr id="10" name="Text 7"/>
          <p:cNvSpPr/>
          <p:nvPr/>
        </p:nvSpPr>
        <p:spPr>
          <a:xfrm>
            <a:off x="7516368" y="1499616"/>
            <a:ext cx="3834079" cy="201168"/>
          </a:xfrm>
          <a:prstGeom prst="rect">
            <a:avLst/>
          </a:prstGeom>
          <a:noFill/>
          <a:ln/>
        </p:spPr>
        <p:txBody>
          <a:bodyPr wrap="square" lIns="0" tIns="0" rIns="0" bIns="0" rtlCol="0" anchor="ctr"/>
          <a:lstStyle/>
          <a:p>
            <a:pPr indent="0" marL="0">
              <a:buNone/>
            </a:pPr>
            <a:r>
              <a:rPr lang="en-US" sz="850" b="1" spc="120" kern="0" dirty="0">
                <a:solidFill>
                  <a:srgbClr val="6E747C"/>
                </a:solidFill>
                <a:latin typeface="Calibri" pitchFamily="34" charset="0"/>
                <a:ea typeface="Calibri" pitchFamily="34" charset="-122"/>
                <a:cs typeface="Calibri" pitchFamily="34" charset="-120"/>
              </a:rPr>
              <a:t>5.1 · ABLASI, CV 3-FOLD IDENTIK, 297 DETIK</a:t>
            </a:r>
            <a:endParaRPr lang="en-US" sz="850" dirty="0"/>
          </a:p>
        </p:txBody>
      </p:sp>
      <p:sp>
        <p:nvSpPr>
          <p:cNvPr id="11" name="Text 8"/>
          <p:cNvSpPr/>
          <p:nvPr/>
        </p:nvSpPr>
        <p:spPr>
          <a:xfrm>
            <a:off x="7516368" y="1700784"/>
            <a:ext cx="3834079" cy="475488"/>
          </a:xfrm>
          <a:prstGeom prst="rect">
            <a:avLst/>
          </a:prstGeom>
          <a:noFill/>
          <a:ln/>
        </p:spPr>
        <p:txBody>
          <a:bodyPr wrap="square" lIns="0" tIns="0" rIns="0" bIns="0" rtlCol="0" anchor="t"/>
          <a:lstStyle/>
          <a:p>
            <a:pPr indent="0" marL="0">
              <a:lnSpc>
                <a:spcPts val="1600"/>
              </a:lnSpc>
              <a:buNone/>
            </a:pPr>
            <a:r>
              <a:rPr lang="en-US" sz="1300" b="1" dirty="0">
                <a:solidFill>
                  <a:srgbClr val="16191D"/>
                </a:solidFill>
                <a:latin typeface="Cambria" pitchFamily="34" charset="0"/>
                <a:ea typeface="Cambria" pitchFamily="34" charset="-122"/>
                <a:cs typeface="Cambria" pitchFamily="34" charset="-120"/>
              </a:rPr>
              <a:t>Selisih terhadap fitur mentah saja</a:t>
            </a:r>
            <a:endParaRPr lang="en-US" sz="1300" dirty="0"/>
          </a:p>
        </p:txBody>
      </p:sp>
      <p:sp>
        <p:nvSpPr>
          <p:cNvPr id="12" name="Shape 9"/>
          <p:cNvSpPr/>
          <p:nvPr/>
        </p:nvSpPr>
        <p:spPr>
          <a:xfrm>
            <a:off x="10393528" y="2167128"/>
            <a:ext cx="0" cy="1783080"/>
          </a:xfrm>
          <a:prstGeom prst="line">
            <a:avLst/>
          </a:prstGeom>
          <a:noFill/>
          <a:ln w="13970">
            <a:solidFill>
              <a:srgbClr val="16191D"/>
            </a:solidFill>
            <a:prstDash val="solid"/>
          </a:ln>
        </p:spPr>
      </p:sp>
      <p:sp>
        <p:nvSpPr>
          <p:cNvPr id="13" name="Text 10"/>
          <p:cNvSpPr/>
          <p:nvPr/>
        </p:nvSpPr>
        <p:spPr>
          <a:xfrm>
            <a:off x="7452360" y="2212848"/>
            <a:ext cx="1920240" cy="274320"/>
          </a:xfrm>
          <a:prstGeom prst="rect">
            <a:avLst/>
          </a:prstGeom>
          <a:noFill/>
          <a:ln/>
        </p:spPr>
        <p:txBody>
          <a:bodyPr wrap="square" lIns="0" tIns="0" rIns="0" bIns="0" rtlCol="0" anchor="ctr"/>
          <a:lstStyle/>
          <a:p>
            <a:pPr algn="r" indent="0" marL="0">
              <a:buNone/>
            </a:pPr>
            <a:r>
              <a:rPr lang="en-US" sz="1000" b="1" dirty="0">
                <a:solidFill>
                  <a:srgbClr val="16191D"/>
                </a:solidFill>
                <a:latin typeface="Calibri" pitchFamily="34" charset="0"/>
                <a:ea typeface="Calibri" pitchFamily="34" charset="-122"/>
                <a:cs typeface="Calibri" pitchFamily="34" charset="-120"/>
              </a:rPr>
              <a:t>A. Fitur mentah</a:t>
            </a:r>
            <a:endParaRPr lang="en-US" sz="1000" dirty="0"/>
          </a:p>
        </p:txBody>
      </p:sp>
      <p:sp>
        <p:nvSpPr>
          <p:cNvPr id="14" name="Shape 11"/>
          <p:cNvSpPr/>
          <p:nvPr/>
        </p:nvSpPr>
        <p:spPr>
          <a:xfrm>
            <a:off x="10393528" y="2267712"/>
            <a:ext cx="36576" cy="182880"/>
          </a:xfrm>
          <a:prstGeom prst="rect">
            <a:avLst/>
          </a:prstGeom>
          <a:solidFill>
            <a:srgbClr val="2F6B5F"/>
          </a:solidFill>
          <a:ln/>
        </p:spPr>
      </p:sp>
      <p:sp>
        <p:nvSpPr>
          <p:cNvPr id="15" name="Text 12"/>
          <p:cNvSpPr/>
          <p:nvPr/>
        </p:nvSpPr>
        <p:spPr>
          <a:xfrm>
            <a:off x="9464040" y="2487168"/>
            <a:ext cx="1950415" cy="201168"/>
          </a:xfrm>
          <a:prstGeom prst="rect">
            <a:avLst/>
          </a:prstGeom>
          <a:noFill/>
          <a:ln/>
        </p:spPr>
        <p:txBody>
          <a:bodyPr wrap="square" lIns="0" tIns="0" rIns="0" bIns="0" rtlCol="0" anchor="ctr"/>
          <a:lstStyle/>
          <a:p>
            <a:pPr algn="ctr" indent="0" marL="0">
              <a:buNone/>
            </a:pPr>
            <a:r>
              <a:rPr lang="en-US" sz="900" dirty="0">
                <a:solidFill>
                  <a:srgbClr val="6E747C"/>
                </a:solidFill>
                <a:latin typeface="Calibri" pitchFamily="34" charset="0"/>
                <a:ea typeface="Calibri" pitchFamily="34" charset="-122"/>
                <a:cs typeface="Calibri" pitchFamily="34" charset="-120"/>
              </a:rPr>
              <a:t>0,46577 · acuan</a:t>
            </a:r>
            <a:endParaRPr lang="en-US" sz="900" dirty="0"/>
          </a:p>
        </p:txBody>
      </p:sp>
      <p:sp>
        <p:nvSpPr>
          <p:cNvPr id="16" name="Text 13"/>
          <p:cNvSpPr/>
          <p:nvPr/>
        </p:nvSpPr>
        <p:spPr>
          <a:xfrm>
            <a:off x="7452360" y="2779776"/>
            <a:ext cx="1920240" cy="274320"/>
          </a:xfrm>
          <a:prstGeom prst="rect">
            <a:avLst/>
          </a:prstGeom>
          <a:noFill/>
          <a:ln/>
        </p:spPr>
        <p:txBody>
          <a:bodyPr wrap="square" lIns="0" tIns="0" rIns="0" bIns="0" rtlCol="0" anchor="ctr"/>
          <a:lstStyle/>
          <a:p>
            <a:pPr algn="r" indent="0" marL="0">
              <a:buNone/>
            </a:pPr>
            <a:r>
              <a:rPr lang="en-US" sz="1000" dirty="0">
                <a:solidFill>
                  <a:srgbClr val="16191D"/>
                </a:solidFill>
                <a:latin typeface="Calibri" pitchFamily="34" charset="0"/>
                <a:ea typeface="Calibri" pitchFamily="34" charset="-122"/>
                <a:cs typeface="Calibri" pitchFamily="34" charset="-120"/>
              </a:rPr>
              <a:t>B. + 13 komposit</a:t>
            </a:r>
            <a:endParaRPr lang="en-US" sz="1000" dirty="0"/>
          </a:p>
        </p:txBody>
      </p:sp>
      <p:sp>
        <p:nvSpPr>
          <p:cNvPr id="17" name="Shape 14"/>
          <p:cNvSpPr/>
          <p:nvPr/>
        </p:nvSpPr>
        <p:spPr>
          <a:xfrm>
            <a:off x="9799282" y="2834640"/>
            <a:ext cx="594246" cy="182880"/>
          </a:xfrm>
          <a:prstGeom prst="rect">
            <a:avLst/>
          </a:prstGeom>
          <a:solidFill>
            <a:srgbClr val="A8442A"/>
          </a:solidFill>
          <a:ln/>
        </p:spPr>
      </p:sp>
      <p:sp>
        <p:nvSpPr>
          <p:cNvPr id="18" name="Text 15"/>
          <p:cNvSpPr/>
          <p:nvPr/>
        </p:nvSpPr>
        <p:spPr>
          <a:xfrm>
            <a:off x="9464040" y="3054096"/>
            <a:ext cx="1950415" cy="201168"/>
          </a:xfrm>
          <a:prstGeom prst="rect">
            <a:avLst/>
          </a:prstGeom>
          <a:noFill/>
          <a:ln/>
        </p:spPr>
        <p:txBody>
          <a:bodyPr wrap="square" lIns="0" tIns="0" rIns="0" bIns="0" rtlCol="0" anchor="ctr"/>
          <a:lstStyle/>
          <a:p>
            <a:pPr algn="ctr" indent="0" marL="0">
              <a:buNone/>
            </a:pPr>
            <a:r>
              <a:rPr lang="en-US" sz="900" dirty="0">
                <a:solidFill>
                  <a:srgbClr val="6E747C"/>
                </a:solidFill>
                <a:latin typeface="Calibri" pitchFamily="34" charset="0"/>
                <a:ea typeface="Calibri" pitchFamily="34" charset="-122"/>
                <a:cs typeface="Calibri" pitchFamily="34" charset="-120"/>
              </a:rPr>
              <a:t>0,46487 · −0,00090</a:t>
            </a:r>
            <a:endParaRPr lang="en-US" sz="900" dirty="0"/>
          </a:p>
        </p:txBody>
      </p:sp>
      <p:sp>
        <p:nvSpPr>
          <p:cNvPr id="19" name="Text 16"/>
          <p:cNvSpPr/>
          <p:nvPr/>
        </p:nvSpPr>
        <p:spPr>
          <a:xfrm>
            <a:off x="7452360" y="3346704"/>
            <a:ext cx="1920240" cy="274320"/>
          </a:xfrm>
          <a:prstGeom prst="rect">
            <a:avLst/>
          </a:prstGeom>
          <a:noFill/>
          <a:ln/>
        </p:spPr>
        <p:txBody>
          <a:bodyPr wrap="square" lIns="0" tIns="0" rIns="0" bIns="0" rtlCol="0" anchor="ctr"/>
          <a:lstStyle/>
          <a:p>
            <a:pPr algn="r" indent="0" marL="0">
              <a:buNone/>
            </a:pPr>
            <a:r>
              <a:rPr lang="en-US" sz="1000" dirty="0">
                <a:solidFill>
                  <a:srgbClr val="16191D"/>
                </a:solidFill>
                <a:latin typeface="Calibri" pitchFamily="34" charset="0"/>
                <a:ea typeface="Calibri" pitchFamily="34" charset="-122"/>
                <a:cs typeface="Calibri" pitchFamily="34" charset="-120"/>
              </a:rPr>
              <a:t>C. Kode 7/8/9 → NaN</a:t>
            </a:r>
            <a:endParaRPr lang="en-US" sz="1000" dirty="0"/>
          </a:p>
        </p:txBody>
      </p:sp>
      <p:sp>
        <p:nvSpPr>
          <p:cNvPr id="20" name="Shape 17"/>
          <p:cNvSpPr/>
          <p:nvPr/>
        </p:nvSpPr>
        <p:spPr>
          <a:xfrm>
            <a:off x="10393528" y="3401568"/>
            <a:ext cx="732903" cy="182880"/>
          </a:xfrm>
          <a:prstGeom prst="rect">
            <a:avLst/>
          </a:prstGeom>
          <a:solidFill>
            <a:srgbClr val="D8A25E"/>
          </a:solidFill>
          <a:ln/>
        </p:spPr>
      </p:sp>
      <p:sp>
        <p:nvSpPr>
          <p:cNvPr id="21" name="Text 18"/>
          <p:cNvSpPr/>
          <p:nvPr/>
        </p:nvSpPr>
        <p:spPr>
          <a:xfrm>
            <a:off x="9464040" y="3621024"/>
            <a:ext cx="1950415" cy="201168"/>
          </a:xfrm>
          <a:prstGeom prst="rect">
            <a:avLst/>
          </a:prstGeom>
          <a:noFill/>
          <a:ln/>
        </p:spPr>
        <p:txBody>
          <a:bodyPr wrap="square" lIns="0" tIns="0" rIns="0" bIns="0" rtlCol="0" anchor="ctr"/>
          <a:lstStyle/>
          <a:p>
            <a:pPr algn="ctr" indent="0" marL="0">
              <a:buNone/>
            </a:pPr>
            <a:r>
              <a:rPr lang="en-US" sz="900" dirty="0">
                <a:solidFill>
                  <a:srgbClr val="6E747C"/>
                </a:solidFill>
                <a:latin typeface="Calibri" pitchFamily="34" charset="0"/>
                <a:ea typeface="Calibri" pitchFamily="34" charset="-122"/>
                <a:cs typeface="Calibri" pitchFamily="34" charset="-120"/>
              </a:rPr>
              <a:t>0,46688 · +0,00111</a:t>
            </a:r>
            <a:endParaRPr lang="en-US" sz="900" dirty="0"/>
          </a:p>
        </p:txBody>
      </p:sp>
      <p:sp>
        <p:nvSpPr>
          <p:cNvPr id="22" name="Text 19"/>
          <p:cNvSpPr/>
          <p:nvPr/>
        </p:nvSpPr>
        <p:spPr>
          <a:xfrm>
            <a:off x="7516368" y="4041648"/>
            <a:ext cx="3834079" cy="310896"/>
          </a:xfrm>
          <a:prstGeom prst="rect">
            <a:avLst/>
          </a:prstGeom>
          <a:noFill/>
          <a:ln/>
        </p:spPr>
        <p:txBody>
          <a:bodyPr wrap="square" lIns="0" tIns="0" rIns="0" bIns="0" rtlCol="0" anchor="ctr"/>
          <a:lstStyle/>
          <a:p>
            <a:pPr algn="l" indent="0" marL="0">
              <a:buNone/>
            </a:pPr>
            <a:r>
              <a:rPr lang="en-US" sz="950" i="1" dirty="0">
                <a:solidFill>
                  <a:srgbClr val="6E747C"/>
                </a:solidFill>
                <a:latin typeface="Calibri" pitchFamily="34" charset="0"/>
                <a:ea typeface="Calibri" pitchFamily="34" charset="-122"/>
                <a:cs typeface="Calibri" pitchFamily="34" charset="-120"/>
              </a:rPr>
              <a:t>Kedua selisih lebih kecil dari 0,0012 QWK, setara derau antar fold.</a:t>
            </a:r>
            <a:endParaRPr lang="en-US" sz="950" dirty="0"/>
          </a:p>
        </p:txBody>
      </p:sp>
      <p:sp>
        <p:nvSpPr>
          <p:cNvPr id="23" name="Shape 20"/>
          <p:cNvSpPr/>
          <p:nvPr/>
        </p:nvSpPr>
        <p:spPr>
          <a:xfrm>
            <a:off x="7315200" y="4846320"/>
            <a:ext cx="4236415" cy="1371600"/>
          </a:xfrm>
          <a:prstGeom prst="roundRect">
            <a:avLst>
              <a:gd name="adj" fmla="val 4000"/>
            </a:avLst>
          </a:prstGeom>
          <a:solidFill>
            <a:srgbClr val="16191D"/>
          </a:solidFill>
          <a:ln w="9525">
            <a:solidFill>
              <a:srgbClr val="16191D"/>
            </a:solidFill>
            <a:prstDash val="solid"/>
          </a:ln>
        </p:spPr>
      </p:sp>
      <p:sp>
        <p:nvSpPr>
          <p:cNvPr id="24" name="Text 21"/>
          <p:cNvSpPr/>
          <p:nvPr/>
        </p:nvSpPr>
        <p:spPr>
          <a:xfrm>
            <a:off x="7543800" y="4846320"/>
            <a:ext cx="3779215" cy="1371600"/>
          </a:xfrm>
          <a:prstGeom prst="rect">
            <a:avLst/>
          </a:prstGeom>
          <a:noFill/>
          <a:ln/>
        </p:spPr>
        <p:txBody>
          <a:bodyPr wrap="square" lIns="0" tIns="0" rIns="0" bIns="0" rtlCol="0" anchor="ctr"/>
          <a:lstStyle/>
          <a:p>
            <a:pPr indent="0" marL="0">
              <a:lnSpc>
                <a:spcPts val="1500"/>
              </a:lnSpc>
              <a:buNone/>
            </a:pPr>
            <a:r>
              <a:rPr lang="en-US" sz="1100" b="1" dirty="0">
                <a:solidFill>
                  <a:srgbClr val="8FB0A4"/>
                </a:solidFill>
                <a:latin typeface="Calibri" pitchFamily="34" charset="0"/>
                <a:ea typeface="Calibri" pitchFamily="34" charset="-122"/>
                <a:cs typeface="Calibri" pitchFamily="34" charset="-120"/>
              </a:rPr>
              <a:t>Keputusan: fitur mentah saja. </a:t>
            </a:r>
            <a:pPr indent="0" marL="0">
              <a:lnSpc>
                <a:spcPts val="1500"/>
              </a:lnSpc>
              <a:buNone/>
            </a:pPr>
            <a:r>
              <a:rPr lang="en-US" sz="1100" dirty="0">
                <a:solidFill>
                  <a:srgbClr val="FFFFFF"/>
                </a:solidFill>
                <a:latin typeface="Calibri" pitchFamily="34" charset="0"/>
                <a:ea typeface="Calibri" pitchFamily="34" charset="-122"/>
                <a:cs typeface="Calibri" pitchFamily="34" charset="-120"/>
              </a:rPr>
              <a:t>Pohon dengan 176 fitur sudah merekonstruksi sendiri interaksi semacam jumlah penyakit lewat kombinasi percabangan. Fitur komposit hanya mengulang informasi dan memperbesar risiko overfitting.</a:t>
            </a:r>
            <a:endParaRPr lang="en-US" sz="1100" dirty="0"/>
          </a:p>
        </p:txBody>
      </p:sp>
      <p:sp>
        <p:nvSpPr>
          <p:cNvPr id="26" name="Shape 22"/>
          <p:cNvSpPr/>
          <p:nvPr/>
        </p:nvSpPr>
        <p:spPr>
          <a:xfrm>
            <a:off x="640080" y="6400800"/>
            <a:ext cx="1572768" cy="45720"/>
          </a:xfrm>
          <a:prstGeom prst="rect">
            <a:avLst/>
          </a:prstGeom>
          <a:solidFill>
            <a:srgbClr val="DCD8D1"/>
          </a:solidFill>
          <a:ln/>
        </p:spPr>
      </p:sp>
      <p:sp>
        <p:nvSpPr>
          <p:cNvPr id="27" name="Text 23"/>
          <p:cNvSpPr/>
          <p:nvPr/>
        </p:nvSpPr>
        <p:spPr>
          <a:xfrm>
            <a:off x="640080"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I · Latar &amp; data</a:t>
            </a:r>
            <a:endParaRPr lang="en-US" sz="850" dirty="0"/>
          </a:p>
        </p:txBody>
      </p:sp>
      <p:sp>
        <p:nvSpPr>
          <p:cNvPr id="28" name="Shape 24"/>
          <p:cNvSpPr/>
          <p:nvPr/>
        </p:nvSpPr>
        <p:spPr>
          <a:xfrm>
            <a:off x="2304288" y="6400800"/>
            <a:ext cx="1572768" cy="45720"/>
          </a:xfrm>
          <a:prstGeom prst="rect">
            <a:avLst/>
          </a:prstGeom>
          <a:solidFill>
            <a:srgbClr val="DCD8D1"/>
          </a:solidFill>
          <a:ln/>
        </p:spPr>
      </p:sp>
      <p:sp>
        <p:nvSpPr>
          <p:cNvPr id="29" name="Text 25"/>
          <p:cNvSpPr/>
          <p:nvPr/>
        </p:nvSpPr>
        <p:spPr>
          <a:xfrm>
            <a:off x="2304288"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II · EDA</a:t>
            </a:r>
            <a:endParaRPr lang="en-US" sz="850" dirty="0"/>
          </a:p>
        </p:txBody>
      </p:sp>
      <p:sp>
        <p:nvSpPr>
          <p:cNvPr id="30" name="Shape 26"/>
          <p:cNvSpPr/>
          <p:nvPr/>
        </p:nvSpPr>
        <p:spPr>
          <a:xfrm>
            <a:off x="3968496" y="6400800"/>
            <a:ext cx="1572768" cy="45720"/>
          </a:xfrm>
          <a:prstGeom prst="rect">
            <a:avLst/>
          </a:prstGeom>
          <a:solidFill>
            <a:srgbClr val="A8442A"/>
          </a:solidFill>
          <a:ln/>
        </p:spPr>
      </p:sp>
      <p:sp>
        <p:nvSpPr>
          <p:cNvPr id="31" name="Text 27"/>
          <p:cNvSpPr/>
          <p:nvPr/>
        </p:nvSpPr>
        <p:spPr>
          <a:xfrm>
            <a:off x="3968496" y="6464808"/>
            <a:ext cx="1572768" cy="201168"/>
          </a:xfrm>
          <a:prstGeom prst="rect">
            <a:avLst/>
          </a:prstGeom>
          <a:noFill/>
          <a:ln/>
        </p:spPr>
        <p:txBody>
          <a:bodyPr wrap="square" lIns="0" tIns="0" rIns="0" bIns="0" rtlCol="0" anchor="ctr"/>
          <a:lstStyle/>
          <a:p>
            <a:pPr indent="0" marL="0">
              <a:buNone/>
            </a:pPr>
            <a:r>
              <a:rPr lang="en-US" sz="850" b="1" dirty="0">
                <a:solidFill>
                  <a:srgbClr val="16191D"/>
                </a:solidFill>
                <a:latin typeface="Calibri" pitchFamily="34" charset="0"/>
                <a:ea typeface="Calibri" pitchFamily="34" charset="-122"/>
                <a:cs typeface="Calibri" pitchFamily="34" charset="-120"/>
              </a:rPr>
              <a:t>III · Pipeline</a:t>
            </a:r>
            <a:endParaRPr lang="en-US" sz="850" dirty="0"/>
          </a:p>
        </p:txBody>
      </p:sp>
      <p:sp>
        <p:nvSpPr>
          <p:cNvPr id="32" name="Shape 28"/>
          <p:cNvSpPr/>
          <p:nvPr/>
        </p:nvSpPr>
        <p:spPr>
          <a:xfrm>
            <a:off x="5632704" y="6400800"/>
            <a:ext cx="1572768" cy="45720"/>
          </a:xfrm>
          <a:prstGeom prst="rect">
            <a:avLst/>
          </a:prstGeom>
          <a:solidFill>
            <a:srgbClr val="DCD8D1"/>
          </a:solidFill>
          <a:ln/>
        </p:spPr>
      </p:sp>
      <p:sp>
        <p:nvSpPr>
          <p:cNvPr id="33" name="Text 29"/>
          <p:cNvSpPr/>
          <p:nvPr/>
        </p:nvSpPr>
        <p:spPr>
          <a:xfrm>
            <a:off x="5632704"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IV · Disiplin estimasi</a:t>
            </a:r>
            <a:endParaRPr lang="en-US" sz="850" dirty="0"/>
          </a:p>
        </p:txBody>
      </p:sp>
      <p:sp>
        <p:nvSpPr>
          <p:cNvPr id="34" name="Shape 30"/>
          <p:cNvSpPr/>
          <p:nvPr/>
        </p:nvSpPr>
        <p:spPr>
          <a:xfrm>
            <a:off x="7296912" y="6400800"/>
            <a:ext cx="1572768" cy="45720"/>
          </a:xfrm>
          <a:prstGeom prst="rect">
            <a:avLst/>
          </a:prstGeom>
          <a:solidFill>
            <a:srgbClr val="DCD8D1"/>
          </a:solidFill>
          <a:ln/>
        </p:spPr>
      </p:sp>
      <p:sp>
        <p:nvSpPr>
          <p:cNvPr id="35" name="Text 31"/>
          <p:cNvSpPr/>
          <p:nvPr/>
        </p:nvSpPr>
        <p:spPr>
          <a:xfrm>
            <a:off x="7296912"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V · Hasil &amp; plafon</a:t>
            </a:r>
            <a:endParaRPr lang="en-US" sz="850" dirty="0"/>
          </a:p>
        </p:txBody>
      </p:sp>
      <p:sp>
        <p:nvSpPr>
          <p:cNvPr id="36" name="Shape 32"/>
          <p:cNvSpPr/>
          <p:nvPr/>
        </p:nvSpPr>
        <p:spPr>
          <a:xfrm>
            <a:off x="8961120" y="6400800"/>
            <a:ext cx="1572768" cy="45720"/>
          </a:xfrm>
          <a:prstGeom prst="rect">
            <a:avLst/>
          </a:prstGeom>
          <a:solidFill>
            <a:srgbClr val="DCD8D1"/>
          </a:solidFill>
          <a:ln/>
        </p:spPr>
      </p:sp>
      <p:sp>
        <p:nvSpPr>
          <p:cNvPr id="37" name="Text 33"/>
          <p:cNvSpPr/>
          <p:nvPr/>
        </p:nvSpPr>
        <p:spPr>
          <a:xfrm>
            <a:off x="8961120"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VI · Reproduksi &amp; produk</a:t>
            </a:r>
            <a:endParaRPr lang="en-US" sz="850" dirty="0"/>
          </a:p>
        </p:txBody>
      </p:sp>
      <p:sp>
        <p:nvSpPr>
          <p:cNvPr id="38" name="Text 34"/>
          <p:cNvSpPr/>
          <p:nvPr/>
        </p:nvSpPr>
        <p:spPr>
          <a:xfrm>
            <a:off x="10637215" y="6382512"/>
            <a:ext cx="914400" cy="274320"/>
          </a:xfrm>
          <a:prstGeom prst="rect">
            <a:avLst/>
          </a:prstGeom>
          <a:noFill/>
          <a:ln/>
        </p:spPr>
        <p:txBody>
          <a:bodyPr wrap="square" lIns="0" tIns="0" rIns="0" bIns="0" rtlCol="0" anchor="ctr"/>
          <a:lstStyle/>
          <a:p>
            <a:pPr algn="r" indent="0" marL="0">
              <a:buNone/>
            </a:pPr>
            <a:r>
              <a:rPr lang="en-US" sz="900" b="1" dirty="0">
                <a:solidFill>
                  <a:srgbClr val="9AA0A7"/>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84048"/>
            <a:ext cx="10911535" cy="530352"/>
          </a:xfrm>
          <a:prstGeom prst="rect">
            <a:avLst/>
          </a:prstGeom>
          <a:noFill/>
          <a:ln/>
        </p:spPr>
        <p:txBody>
          <a:bodyPr wrap="square" lIns="0" tIns="0" rIns="0" bIns="0" rtlCol="0" anchor="t"/>
          <a:lstStyle/>
          <a:p>
            <a:pPr indent="0" marL="0">
              <a:buNone/>
            </a:pPr>
            <a:r>
              <a:rPr lang="en-US" sz="2400" b="1" dirty="0">
                <a:solidFill>
                  <a:srgbClr val="16191D"/>
                </a:solidFill>
                <a:latin typeface="Cambria" pitchFamily="34" charset="0"/>
                <a:ea typeface="Cambria" pitchFamily="34" charset="-122"/>
                <a:cs typeface="Cambria" pitchFamily="34" charset="-120"/>
              </a:rPr>
              <a:t>Satu pembagian fold untuk semua model, satu metrik yang terverifikasi.</a:t>
            </a:r>
            <a:endParaRPr lang="en-US" sz="2400" dirty="0"/>
          </a:p>
        </p:txBody>
      </p:sp>
      <p:sp>
        <p:nvSpPr>
          <p:cNvPr id="3" name="Text 1"/>
          <p:cNvSpPr/>
          <p:nvPr/>
        </p:nvSpPr>
        <p:spPr>
          <a:xfrm>
            <a:off x="640080" y="896112"/>
            <a:ext cx="10911535" cy="310896"/>
          </a:xfrm>
          <a:prstGeom prst="rect">
            <a:avLst/>
          </a:prstGeom>
          <a:noFill/>
          <a:ln/>
        </p:spPr>
        <p:txBody>
          <a:bodyPr wrap="square" lIns="0" tIns="0" rIns="0" bIns="0" rtlCol="0" anchor="t"/>
          <a:lstStyle/>
          <a:p>
            <a:pPr indent="0" marL="0">
              <a:buNone/>
            </a:pPr>
            <a:r>
              <a:rPr lang="en-US" sz="1250" dirty="0">
                <a:solidFill>
                  <a:srgbClr val="6E747C"/>
                </a:solidFill>
                <a:latin typeface="Calibri" pitchFamily="34" charset="0"/>
                <a:ea typeface="Calibri" pitchFamily="34" charset="-122"/>
                <a:cs typeface="Calibri" pitchFamily="34" charset="-120"/>
              </a:rPr>
              <a:t>Fondasi yang membuat stacking sah dan estimasi out-of-fold tetap tak bias.</a:t>
            </a:r>
            <a:endParaRPr lang="en-US" sz="1250" dirty="0"/>
          </a:p>
        </p:txBody>
      </p:sp>
      <p:sp>
        <p:nvSpPr>
          <p:cNvPr id="4" name="Shape 2"/>
          <p:cNvSpPr/>
          <p:nvPr/>
        </p:nvSpPr>
        <p:spPr>
          <a:xfrm>
            <a:off x="640080" y="1371600"/>
            <a:ext cx="3484778" cy="4846320"/>
          </a:xfrm>
          <a:prstGeom prst="roundRect">
            <a:avLst>
              <a:gd name="adj" fmla="val 1574"/>
            </a:avLst>
          </a:prstGeom>
          <a:solidFill>
            <a:srgbClr val="F4F1EC"/>
          </a:solidFill>
          <a:ln w="9525">
            <a:solidFill>
              <a:srgbClr val="DCD8D1"/>
            </a:solidFill>
            <a:prstDash val="solid"/>
          </a:ln>
        </p:spPr>
      </p:sp>
      <p:sp>
        <p:nvSpPr>
          <p:cNvPr id="5" name="Text 3"/>
          <p:cNvSpPr/>
          <p:nvPr/>
        </p:nvSpPr>
        <p:spPr>
          <a:xfrm>
            <a:off x="841248" y="1499616"/>
            <a:ext cx="3082442" cy="201168"/>
          </a:xfrm>
          <a:prstGeom prst="rect">
            <a:avLst/>
          </a:prstGeom>
          <a:noFill/>
          <a:ln/>
        </p:spPr>
        <p:txBody>
          <a:bodyPr wrap="square" lIns="0" tIns="0" rIns="0" bIns="0" rtlCol="0" anchor="ctr"/>
          <a:lstStyle/>
          <a:p>
            <a:pPr indent="0" marL="0">
              <a:buNone/>
            </a:pPr>
            <a:r>
              <a:rPr lang="en-US" sz="850" b="1" spc="120" kern="0" dirty="0">
                <a:solidFill>
                  <a:srgbClr val="6E747C"/>
                </a:solidFill>
                <a:latin typeface="Calibri" pitchFamily="34" charset="0"/>
                <a:ea typeface="Calibri" pitchFamily="34" charset="-122"/>
                <a:cs typeface="Calibri" pitchFamily="34" charset="-120"/>
              </a:rPr>
              <a:t>6.2 · IMPLEMENTASI QWK</a:t>
            </a:r>
            <a:endParaRPr lang="en-US" sz="850" dirty="0"/>
          </a:p>
        </p:txBody>
      </p:sp>
      <p:sp>
        <p:nvSpPr>
          <p:cNvPr id="6" name="Text 4"/>
          <p:cNvSpPr/>
          <p:nvPr/>
        </p:nvSpPr>
        <p:spPr>
          <a:xfrm>
            <a:off x="841248" y="1700784"/>
            <a:ext cx="3082442" cy="475488"/>
          </a:xfrm>
          <a:prstGeom prst="rect">
            <a:avLst/>
          </a:prstGeom>
          <a:noFill/>
          <a:ln/>
        </p:spPr>
        <p:txBody>
          <a:bodyPr wrap="square" lIns="0" tIns="0" rIns="0" bIns="0" rtlCol="0" anchor="t"/>
          <a:lstStyle/>
          <a:p>
            <a:pPr indent="0" marL="0">
              <a:lnSpc>
                <a:spcPts val="1600"/>
              </a:lnSpc>
              <a:buNone/>
            </a:pPr>
            <a:r>
              <a:rPr lang="en-US" sz="1300" b="1" dirty="0">
                <a:solidFill>
                  <a:srgbClr val="16191D"/>
                </a:solidFill>
                <a:latin typeface="Cambria" pitchFamily="34" charset="0"/>
                <a:ea typeface="Cambria" pitchFamily="34" charset="-122"/>
                <a:cs typeface="Cambria" pitchFamily="34" charset="-120"/>
              </a:rPr>
              <a:t>Ditulis ulang, dibuktikan setara</a:t>
            </a:r>
            <a:endParaRPr lang="en-US" sz="1300" dirty="0"/>
          </a:p>
        </p:txBody>
      </p:sp>
      <p:sp>
        <p:nvSpPr>
          <p:cNvPr id="7" name="Text 5"/>
          <p:cNvSpPr/>
          <p:nvPr/>
        </p:nvSpPr>
        <p:spPr>
          <a:xfrm>
            <a:off x="841248" y="2212848"/>
            <a:ext cx="1911114" cy="310896"/>
          </a:xfrm>
          <a:prstGeom prst="rect">
            <a:avLst/>
          </a:prstGeom>
          <a:noFill/>
          <a:ln/>
        </p:spPr>
        <p:txBody>
          <a:bodyPr wrap="square" lIns="0" tIns="0" rIns="0" bIns="0" rtlCol="0" anchor="ctr"/>
          <a:lstStyle/>
          <a:p>
            <a:pPr indent="0" marL="0">
              <a:buNone/>
            </a:pPr>
            <a:r>
              <a:rPr lang="en-US" sz="1000" dirty="0">
                <a:solidFill>
                  <a:srgbClr val="3A4048"/>
                </a:solidFill>
                <a:latin typeface="Calibri" pitchFamily="34" charset="0"/>
                <a:ea typeface="Calibri" pitchFamily="34" charset="-122"/>
                <a:cs typeface="Calibri" pitchFamily="34" charset="-120"/>
              </a:rPr>
              <a:t>Selisih maks. vs sklearn</a:t>
            </a:r>
            <a:endParaRPr lang="en-US" sz="1000" dirty="0"/>
          </a:p>
        </p:txBody>
      </p:sp>
      <p:sp>
        <p:nvSpPr>
          <p:cNvPr id="8" name="Text 6"/>
          <p:cNvSpPr/>
          <p:nvPr/>
        </p:nvSpPr>
        <p:spPr>
          <a:xfrm>
            <a:off x="2752362" y="2212848"/>
            <a:ext cx="1171328" cy="310896"/>
          </a:xfrm>
          <a:prstGeom prst="rect">
            <a:avLst/>
          </a:prstGeom>
          <a:noFill/>
          <a:ln/>
        </p:spPr>
        <p:txBody>
          <a:bodyPr wrap="square" lIns="0" tIns="0" rIns="0" bIns="0" rtlCol="0" anchor="ctr"/>
          <a:lstStyle/>
          <a:p>
            <a:pPr algn="r" indent="0" marL="0">
              <a:buNone/>
            </a:pPr>
            <a:r>
              <a:rPr lang="en-US" sz="1000" b="1" dirty="0">
                <a:solidFill>
                  <a:srgbClr val="16191D"/>
                </a:solidFill>
                <a:latin typeface="Calibri" pitchFamily="34" charset="0"/>
                <a:ea typeface="Calibri" pitchFamily="34" charset="-122"/>
                <a:cs typeface="Calibri" pitchFamily="34" charset="-120"/>
              </a:rPr>
              <a:t>4,44 × 10⁻¹⁶</a:t>
            </a:r>
            <a:endParaRPr lang="en-US" sz="1000" dirty="0"/>
          </a:p>
        </p:txBody>
      </p:sp>
      <p:sp>
        <p:nvSpPr>
          <p:cNvPr id="9" name="Shape 7"/>
          <p:cNvSpPr/>
          <p:nvPr/>
        </p:nvSpPr>
        <p:spPr>
          <a:xfrm>
            <a:off x="841248" y="2523744"/>
            <a:ext cx="3082442" cy="0"/>
          </a:xfrm>
          <a:prstGeom prst="line">
            <a:avLst/>
          </a:prstGeom>
          <a:noFill/>
          <a:ln w="7620">
            <a:solidFill>
              <a:srgbClr val="DCD8D1"/>
            </a:solidFill>
            <a:prstDash val="solid"/>
          </a:ln>
        </p:spPr>
      </p:sp>
      <p:sp>
        <p:nvSpPr>
          <p:cNvPr id="10" name="Text 8"/>
          <p:cNvSpPr/>
          <p:nvPr/>
        </p:nvSpPr>
        <p:spPr>
          <a:xfrm>
            <a:off x="841248" y="2523744"/>
            <a:ext cx="1911114" cy="310896"/>
          </a:xfrm>
          <a:prstGeom prst="rect">
            <a:avLst/>
          </a:prstGeom>
          <a:noFill/>
          <a:ln/>
        </p:spPr>
        <p:txBody>
          <a:bodyPr wrap="square" lIns="0" tIns="0" rIns="0" bIns="0" rtlCol="0" anchor="ctr"/>
          <a:lstStyle/>
          <a:p>
            <a:pPr indent="0" marL="0">
              <a:buNone/>
            </a:pPr>
            <a:r>
              <a:rPr lang="en-US" sz="1000" dirty="0">
                <a:solidFill>
                  <a:srgbClr val="3A4048"/>
                </a:solidFill>
                <a:latin typeface="Calibri" pitchFamily="34" charset="0"/>
                <a:ea typeface="Calibri" pitchFamily="34" charset="-122"/>
                <a:cs typeface="Calibri" pitchFamily="34" charset="-120"/>
              </a:rPr>
              <a:t>Uji acak</a:t>
            </a:r>
            <a:endParaRPr lang="en-US" sz="1000" dirty="0"/>
          </a:p>
        </p:txBody>
      </p:sp>
      <p:sp>
        <p:nvSpPr>
          <p:cNvPr id="11" name="Text 9"/>
          <p:cNvSpPr/>
          <p:nvPr/>
        </p:nvSpPr>
        <p:spPr>
          <a:xfrm>
            <a:off x="2752362" y="2523744"/>
            <a:ext cx="1171328" cy="310896"/>
          </a:xfrm>
          <a:prstGeom prst="rect">
            <a:avLst/>
          </a:prstGeom>
          <a:noFill/>
          <a:ln/>
        </p:spPr>
        <p:txBody>
          <a:bodyPr wrap="square" lIns="0" tIns="0" rIns="0" bIns="0" rtlCol="0" anchor="ctr"/>
          <a:lstStyle/>
          <a:p>
            <a:pPr algn="r" indent="0" marL="0">
              <a:buNone/>
            </a:pPr>
            <a:r>
              <a:rPr lang="en-US" sz="1000" b="1" dirty="0">
                <a:solidFill>
                  <a:srgbClr val="16191D"/>
                </a:solidFill>
                <a:latin typeface="Calibri" pitchFamily="34" charset="0"/>
                <a:ea typeface="Calibri" pitchFamily="34" charset="-122"/>
                <a:cs typeface="Calibri" pitchFamily="34" charset="-120"/>
              </a:rPr>
              <a:t>200</a:t>
            </a:r>
            <a:endParaRPr lang="en-US" sz="1000" dirty="0"/>
          </a:p>
        </p:txBody>
      </p:sp>
      <p:sp>
        <p:nvSpPr>
          <p:cNvPr id="12" name="Shape 10"/>
          <p:cNvSpPr/>
          <p:nvPr/>
        </p:nvSpPr>
        <p:spPr>
          <a:xfrm>
            <a:off x="841248" y="2834640"/>
            <a:ext cx="3082442" cy="0"/>
          </a:xfrm>
          <a:prstGeom prst="line">
            <a:avLst/>
          </a:prstGeom>
          <a:noFill/>
          <a:ln w="7620">
            <a:solidFill>
              <a:srgbClr val="DCD8D1"/>
            </a:solidFill>
            <a:prstDash val="solid"/>
          </a:ln>
        </p:spPr>
      </p:sp>
      <p:sp>
        <p:nvSpPr>
          <p:cNvPr id="13" name="Text 11"/>
          <p:cNvSpPr/>
          <p:nvPr/>
        </p:nvSpPr>
        <p:spPr>
          <a:xfrm>
            <a:off x="841248" y="2834640"/>
            <a:ext cx="1911114" cy="310896"/>
          </a:xfrm>
          <a:prstGeom prst="rect">
            <a:avLst/>
          </a:prstGeom>
          <a:noFill/>
          <a:ln/>
        </p:spPr>
        <p:txBody>
          <a:bodyPr wrap="square" lIns="0" tIns="0" rIns="0" bIns="0" rtlCol="0" anchor="ctr"/>
          <a:lstStyle/>
          <a:p>
            <a:pPr indent="0" marL="0">
              <a:buNone/>
            </a:pPr>
            <a:r>
              <a:rPr lang="en-US" sz="1000" dirty="0">
                <a:solidFill>
                  <a:srgbClr val="3A4048"/>
                </a:solidFill>
                <a:latin typeface="Calibri" pitchFamily="34" charset="0"/>
                <a:ea typeface="Calibri" pitchFamily="34" charset="-122"/>
                <a:cs typeface="Calibri" pitchFamily="34" charset="-120"/>
              </a:rPr>
              <a:t>qwk_fast</a:t>
            </a:r>
            <a:endParaRPr lang="en-US" sz="1000" dirty="0"/>
          </a:p>
        </p:txBody>
      </p:sp>
      <p:sp>
        <p:nvSpPr>
          <p:cNvPr id="14" name="Text 12"/>
          <p:cNvSpPr/>
          <p:nvPr/>
        </p:nvSpPr>
        <p:spPr>
          <a:xfrm>
            <a:off x="2752362" y="2834640"/>
            <a:ext cx="1171328" cy="310896"/>
          </a:xfrm>
          <a:prstGeom prst="rect">
            <a:avLst/>
          </a:prstGeom>
          <a:noFill/>
          <a:ln/>
        </p:spPr>
        <p:txBody>
          <a:bodyPr wrap="square" lIns="0" tIns="0" rIns="0" bIns="0" rtlCol="0" anchor="ctr"/>
          <a:lstStyle/>
          <a:p>
            <a:pPr algn="r" indent="0" marL="0">
              <a:buNone/>
            </a:pPr>
            <a:r>
              <a:rPr lang="en-US" sz="1000" b="1" dirty="0">
                <a:solidFill>
                  <a:srgbClr val="16191D"/>
                </a:solidFill>
                <a:latin typeface="Calibri" pitchFamily="34" charset="0"/>
                <a:ea typeface="Calibri" pitchFamily="34" charset="-122"/>
                <a:cs typeface="Calibri" pitchFamily="34" charset="-120"/>
              </a:rPr>
              <a:t>43 µs</a:t>
            </a:r>
            <a:endParaRPr lang="en-US" sz="1000" dirty="0"/>
          </a:p>
        </p:txBody>
      </p:sp>
      <p:sp>
        <p:nvSpPr>
          <p:cNvPr id="15" name="Shape 13"/>
          <p:cNvSpPr/>
          <p:nvPr/>
        </p:nvSpPr>
        <p:spPr>
          <a:xfrm>
            <a:off x="841248" y="3145536"/>
            <a:ext cx="3082442" cy="0"/>
          </a:xfrm>
          <a:prstGeom prst="line">
            <a:avLst/>
          </a:prstGeom>
          <a:noFill/>
          <a:ln w="7620">
            <a:solidFill>
              <a:srgbClr val="DCD8D1"/>
            </a:solidFill>
            <a:prstDash val="solid"/>
          </a:ln>
        </p:spPr>
      </p:sp>
      <p:sp>
        <p:nvSpPr>
          <p:cNvPr id="16" name="Text 14"/>
          <p:cNvSpPr/>
          <p:nvPr/>
        </p:nvSpPr>
        <p:spPr>
          <a:xfrm>
            <a:off x="841248" y="3145536"/>
            <a:ext cx="1911114" cy="310896"/>
          </a:xfrm>
          <a:prstGeom prst="rect">
            <a:avLst/>
          </a:prstGeom>
          <a:noFill/>
          <a:ln/>
        </p:spPr>
        <p:txBody>
          <a:bodyPr wrap="square" lIns="0" tIns="0" rIns="0" bIns="0" rtlCol="0" anchor="ctr"/>
          <a:lstStyle/>
          <a:p>
            <a:pPr indent="0" marL="0">
              <a:buNone/>
            </a:pPr>
            <a:r>
              <a:rPr lang="en-US" sz="1000" dirty="0">
                <a:solidFill>
                  <a:srgbClr val="3A4048"/>
                </a:solidFill>
                <a:latin typeface="Calibri" pitchFamily="34" charset="0"/>
                <a:ea typeface="Calibri" pitchFamily="34" charset="-122"/>
                <a:cs typeface="Calibri" pitchFamily="34" charset="-120"/>
              </a:rPr>
              <a:t>cohen_kappa_score</a:t>
            </a:r>
            <a:endParaRPr lang="en-US" sz="1000" dirty="0"/>
          </a:p>
        </p:txBody>
      </p:sp>
      <p:sp>
        <p:nvSpPr>
          <p:cNvPr id="17" name="Text 15"/>
          <p:cNvSpPr/>
          <p:nvPr/>
        </p:nvSpPr>
        <p:spPr>
          <a:xfrm>
            <a:off x="2752362" y="3145536"/>
            <a:ext cx="1171328" cy="310896"/>
          </a:xfrm>
          <a:prstGeom prst="rect">
            <a:avLst/>
          </a:prstGeom>
          <a:noFill/>
          <a:ln/>
        </p:spPr>
        <p:txBody>
          <a:bodyPr wrap="square" lIns="0" tIns="0" rIns="0" bIns="0" rtlCol="0" anchor="ctr"/>
          <a:lstStyle/>
          <a:p>
            <a:pPr algn="r" indent="0" marL="0">
              <a:buNone/>
            </a:pPr>
            <a:r>
              <a:rPr lang="en-US" sz="1000" b="1" dirty="0">
                <a:solidFill>
                  <a:srgbClr val="16191D"/>
                </a:solidFill>
                <a:latin typeface="Calibri" pitchFamily="34" charset="0"/>
                <a:ea typeface="Calibri" pitchFamily="34" charset="-122"/>
                <a:cs typeface="Calibri" pitchFamily="34" charset="-120"/>
              </a:rPr>
              <a:t>2.029 µs</a:t>
            </a:r>
            <a:endParaRPr lang="en-US" sz="1000" dirty="0"/>
          </a:p>
        </p:txBody>
      </p:sp>
      <p:sp>
        <p:nvSpPr>
          <p:cNvPr id="18" name="Shape 16"/>
          <p:cNvSpPr/>
          <p:nvPr/>
        </p:nvSpPr>
        <p:spPr>
          <a:xfrm>
            <a:off x="841248" y="3630168"/>
            <a:ext cx="3082442" cy="1234440"/>
          </a:xfrm>
          <a:prstGeom prst="roundRect">
            <a:avLst>
              <a:gd name="adj" fmla="val 4444"/>
            </a:avLst>
          </a:prstGeom>
          <a:solidFill>
            <a:srgbClr val="16191D"/>
          </a:solidFill>
          <a:ln w="9525">
            <a:solidFill>
              <a:srgbClr val="16191D"/>
            </a:solidFill>
            <a:prstDash val="solid"/>
          </a:ln>
        </p:spPr>
      </p:sp>
      <p:sp>
        <p:nvSpPr>
          <p:cNvPr id="19" name="Text 17"/>
          <p:cNvSpPr/>
          <p:nvPr/>
        </p:nvSpPr>
        <p:spPr>
          <a:xfrm>
            <a:off x="1005840" y="3721608"/>
            <a:ext cx="2753258" cy="502920"/>
          </a:xfrm>
          <a:prstGeom prst="rect">
            <a:avLst/>
          </a:prstGeom>
          <a:noFill/>
          <a:ln/>
        </p:spPr>
        <p:txBody>
          <a:bodyPr wrap="square" lIns="0" tIns="0" rIns="0" bIns="0" rtlCol="0" anchor="b"/>
          <a:lstStyle/>
          <a:p>
            <a:pPr algn="l" indent="0" marL="0">
              <a:buNone/>
            </a:pPr>
            <a:r>
              <a:rPr lang="en-US" sz="2800" b="1" dirty="0">
                <a:solidFill>
                  <a:srgbClr val="8FB0A4"/>
                </a:solidFill>
                <a:latin typeface="Cambria" pitchFamily="34" charset="0"/>
                <a:ea typeface="Cambria" pitchFamily="34" charset="-122"/>
                <a:cs typeface="Cambria" pitchFamily="34" charset="-120"/>
              </a:rPr>
              <a:t>47 ×</a:t>
            </a:r>
            <a:endParaRPr lang="en-US" sz="2800" dirty="0"/>
          </a:p>
        </p:txBody>
      </p:sp>
      <p:sp>
        <p:nvSpPr>
          <p:cNvPr id="20" name="Text 18"/>
          <p:cNvSpPr/>
          <p:nvPr/>
        </p:nvSpPr>
        <p:spPr>
          <a:xfrm>
            <a:off x="1005840" y="4261104"/>
            <a:ext cx="2753258" cy="420624"/>
          </a:xfrm>
          <a:prstGeom prst="rect">
            <a:avLst/>
          </a:prstGeom>
          <a:noFill/>
          <a:ln/>
        </p:spPr>
        <p:txBody>
          <a:bodyPr wrap="square" lIns="0" tIns="0" rIns="0" bIns="0" rtlCol="0" anchor="t"/>
          <a:lstStyle/>
          <a:p>
            <a:pPr algn="l" indent="0" marL="0">
              <a:lnSpc>
                <a:spcPts val="1300"/>
              </a:lnSpc>
              <a:buNone/>
            </a:pPr>
            <a:r>
              <a:rPr lang="en-US" sz="950" dirty="0">
                <a:solidFill>
                  <a:srgbClr val="9AA0A7"/>
                </a:solidFill>
                <a:latin typeface="Calibri" pitchFamily="34" charset="0"/>
                <a:ea typeface="Calibri" pitchFamily="34" charset="-122"/>
                <a:cs typeface="Calibri" pitchFamily="34" charset="-120"/>
              </a:rPr>
              <a:t>lebih cepat, yang membuat studi ambang 25 menit menjadi mungkin</a:t>
            </a:r>
            <a:endParaRPr lang="en-US" sz="950" dirty="0"/>
          </a:p>
        </p:txBody>
      </p:sp>
      <p:sp>
        <p:nvSpPr>
          <p:cNvPr id="21" name="Text 19"/>
          <p:cNvSpPr/>
          <p:nvPr/>
        </p:nvSpPr>
        <p:spPr>
          <a:xfrm>
            <a:off x="841248" y="5559552"/>
            <a:ext cx="3082442" cy="548640"/>
          </a:xfrm>
          <a:prstGeom prst="rect">
            <a:avLst/>
          </a:prstGeom>
          <a:noFill/>
          <a:ln/>
        </p:spPr>
        <p:txBody>
          <a:bodyPr wrap="square" lIns="0" tIns="0" rIns="0" bIns="0" rtlCol="0" anchor="t"/>
          <a:lstStyle/>
          <a:p>
            <a:pPr indent="0" marL="0">
              <a:lnSpc>
                <a:spcPts val="1300"/>
              </a:lnSpc>
              <a:buNone/>
            </a:pPr>
            <a:r>
              <a:rPr lang="en-US" sz="1000" b="1" dirty="0">
                <a:solidFill>
                  <a:srgbClr val="A8442A"/>
                </a:solidFill>
                <a:latin typeface="Calibri" pitchFamily="34" charset="0"/>
                <a:ea typeface="Calibri" pitchFamily="34" charset="-122"/>
                <a:cs typeface="Calibri" pitchFamily="34" charset="-120"/>
              </a:rPr>
              <a:t>Implikasi: </a:t>
            </a:r>
            <a:pPr indent="0" marL="0">
              <a:lnSpc>
                <a:spcPts val="1300"/>
              </a:lnSpc>
              <a:buNone/>
            </a:pPr>
            <a:r>
              <a:rPr lang="en-US" sz="1000" dirty="0">
                <a:solidFill>
                  <a:srgbClr val="3A4048"/>
                </a:solidFill>
                <a:latin typeface="Calibri" pitchFamily="34" charset="0"/>
                <a:ea typeface="Calibri" pitchFamily="34" charset="-122"/>
                <a:cs typeface="Calibri" pitchFamily="34" charset="-120"/>
              </a:rPr>
              <a:t>metrik yang dioptimalkan identik dengan metrik panitia.</a:t>
            </a:r>
            <a:endParaRPr lang="en-US" sz="1000" dirty="0"/>
          </a:p>
        </p:txBody>
      </p:sp>
      <p:sp>
        <p:nvSpPr>
          <p:cNvPr id="22" name="Shape 20"/>
          <p:cNvSpPr/>
          <p:nvPr/>
        </p:nvSpPr>
        <p:spPr>
          <a:xfrm>
            <a:off x="4353458" y="1371600"/>
            <a:ext cx="3484778" cy="4846320"/>
          </a:xfrm>
          <a:prstGeom prst="roundRect">
            <a:avLst>
              <a:gd name="adj" fmla="val 1574"/>
            </a:avLst>
          </a:prstGeom>
          <a:solidFill>
            <a:srgbClr val="FFFFFF"/>
          </a:solidFill>
          <a:ln w="9525">
            <a:solidFill>
              <a:srgbClr val="DCD8D1"/>
            </a:solidFill>
            <a:prstDash val="solid"/>
          </a:ln>
        </p:spPr>
      </p:sp>
      <p:sp>
        <p:nvSpPr>
          <p:cNvPr id="23" name="Text 21"/>
          <p:cNvSpPr/>
          <p:nvPr/>
        </p:nvSpPr>
        <p:spPr>
          <a:xfrm>
            <a:off x="4554626" y="1499616"/>
            <a:ext cx="3082442" cy="201168"/>
          </a:xfrm>
          <a:prstGeom prst="rect">
            <a:avLst/>
          </a:prstGeom>
          <a:noFill/>
          <a:ln/>
        </p:spPr>
        <p:txBody>
          <a:bodyPr wrap="square" lIns="0" tIns="0" rIns="0" bIns="0" rtlCol="0" anchor="ctr"/>
          <a:lstStyle/>
          <a:p>
            <a:pPr indent="0" marL="0">
              <a:buNone/>
            </a:pPr>
            <a:r>
              <a:rPr lang="en-US" sz="850" b="1" spc="120" kern="0" dirty="0">
                <a:solidFill>
                  <a:srgbClr val="6E747C"/>
                </a:solidFill>
                <a:latin typeface="Calibri" pitchFamily="34" charset="0"/>
                <a:ea typeface="Calibri" pitchFamily="34" charset="-122"/>
                <a:cs typeface="Calibri" pitchFamily="34" charset="-120"/>
              </a:rPr>
              <a:t>7 · DESAIN VALIDASI</a:t>
            </a:r>
            <a:endParaRPr lang="en-US" sz="850" dirty="0"/>
          </a:p>
        </p:txBody>
      </p:sp>
      <p:sp>
        <p:nvSpPr>
          <p:cNvPr id="24" name="Text 22"/>
          <p:cNvSpPr/>
          <p:nvPr/>
        </p:nvSpPr>
        <p:spPr>
          <a:xfrm>
            <a:off x="4554626" y="1700784"/>
            <a:ext cx="3082442" cy="475488"/>
          </a:xfrm>
          <a:prstGeom prst="rect">
            <a:avLst/>
          </a:prstGeom>
          <a:noFill/>
          <a:ln/>
        </p:spPr>
        <p:txBody>
          <a:bodyPr wrap="square" lIns="0" tIns="0" rIns="0" bIns="0" rtlCol="0" anchor="t"/>
          <a:lstStyle/>
          <a:p>
            <a:pPr indent="0" marL="0">
              <a:lnSpc>
                <a:spcPts val="1600"/>
              </a:lnSpc>
              <a:buNone/>
            </a:pPr>
            <a:r>
              <a:rPr lang="en-US" sz="1300" b="1" dirty="0">
                <a:solidFill>
                  <a:srgbClr val="16191D"/>
                </a:solidFill>
                <a:latin typeface="Cambria" pitchFamily="34" charset="0"/>
                <a:ea typeface="Cambria" pitchFamily="34" charset="-122"/>
                <a:cs typeface="Cambria" pitchFamily="34" charset="-120"/>
              </a:rPr>
              <a:t>StratifiedKFold 5, random_state 42</a:t>
            </a:r>
            <a:endParaRPr lang="en-US" sz="1300" dirty="0"/>
          </a:p>
        </p:txBody>
      </p:sp>
      <p:sp>
        <p:nvSpPr>
          <p:cNvPr id="25" name="Text 23"/>
          <p:cNvSpPr/>
          <p:nvPr/>
        </p:nvSpPr>
        <p:spPr>
          <a:xfrm>
            <a:off x="4554626" y="2212848"/>
            <a:ext cx="1911114" cy="292608"/>
          </a:xfrm>
          <a:prstGeom prst="rect">
            <a:avLst/>
          </a:prstGeom>
          <a:noFill/>
          <a:ln/>
        </p:spPr>
        <p:txBody>
          <a:bodyPr wrap="square" lIns="0" tIns="0" rIns="0" bIns="0" rtlCol="0" anchor="ctr"/>
          <a:lstStyle/>
          <a:p>
            <a:pPr indent="0" marL="0">
              <a:buNone/>
            </a:pPr>
            <a:r>
              <a:rPr lang="en-US" sz="1000" dirty="0">
                <a:solidFill>
                  <a:srgbClr val="3A4048"/>
                </a:solidFill>
                <a:latin typeface="Calibri" pitchFamily="34" charset="0"/>
                <a:ea typeface="Calibri" pitchFamily="34" charset="-122"/>
                <a:cs typeface="Calibri" pitchFamily="34" charset="-120"/>
              </a:rPr>
              <a:t>Seed model per fold</a:t>
            </a:r>
            <a:endParaRPr lang="en-US" sz="1000" dirty="0"/>
          </a:p>
        </p:txBody>
      </p:sp>
      <p:sp>
        <p:nvSpPr>
          <p:cNvPr id="26" name="Text 24"/>
          <p:cNvSpPr/>
          <p:nvPr/>
        </p:nvSpPr>
        <p:spPr>
          <a:xfrm>
            <a:off x="6465741" y="2212848"/>
            <a:ext cx="1171328" cy="292608"/>
          </a:xfrm>
          <a:prstGeom prst="rect">
            <a:avLst/>
          </a:prstGeom>
          <a:noFill/>
          <a:ln/>
        </p:spPr>
        <p:txBody>
          <a:bodyPr wrap="square" lIns="0" tIns="0" rIns="0" bIns="0" rtlCol="0" anchor="ctr"/>
          <a:lstStyle/>
          <a:p>
            <a:pPr algn="r" indent="0" marL="0">
              <a:buNone/>
            </a:pPr>
            <a:r>
              <a:rPr lang="en-US" sz="1000" b="1" dirty="0">
                <a:solidFill>
                  <a:srgbClr val="16191D"/>
                </a:solidFill>
                <a:latin typeface="Calibri" pitchFamily="34" charset="0"/>
                <a:ea typeface="Calibri" pitchFamily="34" charset="-122"/>
                <a:cs typeface="Calibri" pitchFamily="34" charset="-120"/>
              </a:rPr>
              <a:t>0, 1, 2, 3, 4</a:t>
            </a:r>
            <a:endParaRPr lang="en-US" sz="1000" dirty="0"/>
          </a:p>
        </p:txBody>
      </p:sp>
      <p:sp>
        <p:nvSpPr>
          <p:cNvPr id="27" name="Shape 25"/>
          <p:cNvSpPr/>
          <p:nvPr/>
        </p:nvSpPr>
        <p:spPr>
          <a:xfrm>
            <a:off x="4554626" y="2505456"/>
            <a:ext cx="3082442" cy="0"/>
          </a:xfrm>
          <a:prstGeom prst="line">
            <a:avLst/>
          </a:prstGeom>
          <a:noFill/>
          <a:ln w="7620">
            <a:solidFill>
              <a:srgbClr val="DCD8D1"/>
            </a:solidFill>
            <a:prstDash val="solid"/>
          </a:ln>
        </p:spPr>
      </p:sp>
      <p:sp>
        <p:nvSpPr>
          <p:cNvPr id="28" name="Text 26"/>
          <p:cNvSpPr/>
          <p:nvPr/>
        </p:nvSpPr>
        <p:spPr>
          <a:xfrm>
            <a:off x="4554626" y="2505456"/>
            <a:ext cx="1911114" cy="292608"/>
          </a:xfrm>
          <a:prstGeom prst="rect">
            <a:avLst/>
          </a:prstGeom>
          <a:noFill/>
          <a:ln/>
        </p:spPr>
        <p:txBody>
          <a:bodyPr wrap="square" lIns="0" tIns="0" rIns="0" bIns="0" rtlCol="0" anchor="ctr"/>
          <a:lstStyle/>
          <a:p>
            <a:pPr indent="0" marL="0">
              <a:buNone/>
            </a:pPr>
            <a:r>
              <a:rPr lang="en-US" sz="1000" dirty="0">
                <a:solidFill>
                  <a:srgbClr val="3A4048"/>
                </a:solidFill>
                <a:latin typeface="Calibri" pitchFamily="34" charset="0"/>
                <a:ea typeface="Calibri" pitchFamily="34" charset="-122"/>
                <a:cs typeface="Calibri" pitchFamily="34" charset="-120"/>
              </a:rPr>
              <a:t>Latih per fold</a:t>
            </a:r>
            <a:endParaRPr lang="en-US" sz="1000" dirty="0"/>
          </a:p>
        </p:txBody>
      </p:sp>
      <p:sp>
        <p:nvSpPr>
          <p:cNvPr id="29" name="Text 27"/>
          <p:cNvSpPr/>
          <p:nvPr/>
        </p:nvSpPr>
        <p:spPr>
          <a:xfrm>
            <a:off x="6465741" y="2505456"/>
            <a:ext cx="1171328" cy="292608"/>
          </a:xfrm>
          <a:prstGeom prst="rect">
            <a:avLst/>
          </a:prstGeom>
          <a:noFill/>
          <a:ln/>
        </p:spPr>
        <p:txBody>
          <a:bodyPr wrap="square" lIns="0" tIns="0" rIns="0" bIns="0" rtlCol="0" anchor="ctr"/>
          <a:lstStyle/>
          <a:p>
            <a:pPr algn="r" indent="0" marL="0">
              <a:buNone/>
            </a:pPr>
            <a:r>
              <a:rPr lang="en-US" sz="1000" b="1" dirty="0">
                <a:solidFill>
                  <a:srgbClr val="16191D"/>
                </a:solidFill>
                <a:latin typeface="Calibri" pitchFamily="34" charset="0"/>
                <a:ea typeface="Calibri" pitchFamily="34" charset="-122"/>
                <a:cs typeface="Calibri" pitchFamily="34" charset="-120"/>
              </a:rPr>
              <a:t>76.487 / 76.488</a:t>
            </a:r>
            <a:endParaRPr lang="en-US" sz="1000" dirty="0"/>
          </a:p>
        </p:txBody>
      </p:sp>
      <p:sp>
        <p:nvSpPr>
          <p:cNvPr id="30" name="Shape 28"/>
          <p:cNvSpPr/>
          <p:nvPr/>
        </p:nvSpPr>
        <p:spPr>
          <a:xfrm>
            <a:off x="4554626" y="2798064"/>
            <a:ext cx="3082442" cy="0"/>
          </a:xfrm>
          <a:prstGeom prst="line">
            <a:avLst/>
          </a:prstGeom>
          <a:noFill/>
          <a:ln w="7620">
            <a:solidFill>
              <a:srgbClr val="DCD8D1"/>
            </a:solidFill>
            <a:prstDash val="solid"/>
          </a:ln>
        </p:spPr>
      </p:sp>
      <p:sp>
        <p:nvSpPr>
          <p:cNvPr id="31" name="Text 29"/>
          <p:cNvSpPr/>
          <p:nvPr/>
        </p:nvSpPr>
        <p:spPr>
          <a:xfrm>
            <a:off x="4554626" y="2798064"/>
            <a:ext cx="1911114" cy="292608"/>
          </a:xfrm>
          <a:prstGeom prst="rect">
            <a:avLst/>
          </a:prstGeom>
          <a:noFill/>
          <a:ln/>
        </p:spPr>
        <p:txBody>
          <a:bodyPr wrap="square" lIns="0" tIns="0" rIns="0" bIns="0" rtlCol="0" anchor="ctr"/>
          <a:lstStyle/>
          <a:p>
            <a:pPr indent="0" marL="0">
              <a:buNone/>
            </a:pPr>
            <a:r>
              <a:rPr lang="en-US" sz="1000" dirty="0">
                <a:solidFill>
                  <a:srgbClr val="3A4048"/>
                </a:solidFill>
                <a:latin typeface="Calibri" pitchFamily="34" charset="0"/>
                <a:ea typeface="Calibri" pitchFamily="34" charset="-122"/>
                <a:cs typeface="Calibri" pitchFamily="34" charset="-120"/>
              </a:rPr>
              <a:t>Validasi per fold</a:t>
            </a:r>
            <a:endParaRPr lang="en-US" sz="1000" dirty="0"/>
          </a:p>
        </p:txBody>
      </p:sp>
      <p:sp>
        <p:nvSpPr>
          <p:cNvPr id="32" name="Text 30"/>
          <p:cNvSpPr/>
          <p:nvPr/>
        </p:nvSpPr>
        <p:spPr>
          <a:xfrm>
            <a:off x="6465741" y="2798064"/>
            <a:ext cx="1171328" cy="292608"/>
          </a:xfrm>
          <a:prstGeom prst="rect">
            <a:avLst/>
          </a:prstGeom>
          <a:noFill/>
          <a:ln/>
        </p:spPr>
        <p:txBody>
          <a:bodyPr wrap="square" lIns="0" tIns="0" rIns="0" bIns="0" rtlCol="0" anchor="ctr"/>
          <a:lstStyle/>
          <a:p>
            <a:pPr algn="r" indent="0" marL="0">
              <a:buNone/>
            </a:pPr>
            <a:r>
              <a:rPr lang="en-US" sz="1000" b="1" dirty="0">
                <a:solidFill>
                  <a:srgbClr val="16191D"/>
                </a:solidFill>
                <a:latin typeface="Calibri" pitchFamily="34" charset="0"/>
                <a:ea typeface="Calibri" pitchFamily="34" charset="-122"/>
                <a:cs typeface="Calibri" pitchFamily="34" charset="-120"/>
              </a:rPr>
              <a:t>19.121 / 19.122</a:t>
            </a:r>
            <a:endParaRPr lang="en-US" sz="1000" dirty="0"/>
          </a:p>
        </p:txBody>
      </p:sp>
      <p:sp>
        <p:nvSpPr>
          <p:cNvPr id="33" name="Text 31"/>
          <p:cNvSpPr/>
          <p:nvPr/>
        </p:nvSpPr>
        <p:spPr>
          <a:xfrm>
            <a:off x="4554626" y="3264408"/>
            <a:ext cx="502920" cy="219456"/>
          </a:xfrm>
          <a:prstGeom prst="rect">
            <a:avLst/>
          </a:prstGeom>
          <a:noFill/>
          <a:ln/>
        </p:spPr>
        <p:txBody>
          <a:bodyPr wrap="square" lIns="0" tIns="0" rIns="0" bIns="0" rtlCol="0" anchor="ctr"/>
          <a:lstStyle/>
          <a:p>
            <a:pPr indent="0" marL="0">
              <a:buNone/>
            </a:pPr>
            <a:r>
              <a:rPr lang="en-US" sz="900" dirty="0">
                <a:solidFill>
                  <a:srgbClr val="3A4048"/>
                </a:solidFill>
                <a:latin typeface="Calibri" pitchFamily="34" charset="0"/>
                <a:ea typeface="Calibri" pitchFamily="34" charset="-122"/>
                <a:cs typeface="Calibri" pitchFamily="34" charset="-120"/>
              </a:rPr>
              <a:t>fold 0</a:t>
            </a:r>
            <a:endParaRPr lang="en-US" sz="900" dirty="0"/>
          </a:p>
        </p:txBody>
      </p:sp>
      <p:sp>
        <p:nvSpPr>
          <p:cNvPr id="34" name="Shape 32"/>
          <p:cNvSpPr/>
          <p:nvPr/>
        </p:nvSpPr>
        <p:spPr>
          <a:xfrm>
            <a:off x="5084978" y="3291840"/>
            <a:ext cx="457200" cy="164592"/>
          </a:xfrm>
          <a:prstGeom prst="rect">
            <a:avLst/>
          </a:prstGeom>
          <a:solidFill>
            <a:srgbClr val="A8442A"/>
          </a:solidFill>
          <a:ln/>
        </p:spPr>
      </p:sp>
      <p:sp>
        <p:nvSpPr>
          <p:cNvPr id="35" name="Shape 33"/>
          <p:cNvSpPr/>
          <p:nvPr/>
        </p:nvSpPr>
        <p:spPr>
          <a:xfrm>
            <a:off x="5578754" y="3291840"/>
            <a:ext cx="457200" cy="164592"/>
          </a:xfrm>
          <a:prstGeom prst="rect">
            <a:avLst/>
          </a:prstGeom>
          <a:solidFill>
            <a:srgbClr val="ECE7DF"/>
          </a:solidFill>
          <a:ln/>
        </p:spPr>
      </p:sp>
      <p:sp>
        <p:nvSpPr>
          <p:cNvPr id="36" name="Shape 34"/>
          <p:cNvSpPr/>
          <p:nvPr/>
        </p:nvSpPr>
        <p:spPr>
          <a:xfrm>
            <a:off x="6072530" y="3291840"/>
            <a:ext cx="457200" cy="164592"/>
          </a:xfrm>
          <a:prstGeom prst="rect">
            <a:avLst/>
          </a:prstGeom>
          <a:solidFill>
            <a:srgbClr val="ECE7DF"/>
          </a:solidFill>
          <a:ln/>
        </p:spPr>
      </p:sp>
      <p:sp>
        <p:nvSpPr>
          <p:cNvPr id="37" name="Shape 35"/>
          <p:cNvSpPr/>
          <p:nvPr/>
        </p:nvSpPr>
        <p:spPr>
          <a:xfrm>
            <a:off x="6566306" y="3291840"/>
            <a:ext cx="457200" cy="164592"/>
          </a:xfrm>
          <a:prstGeom prst="rect">
            <a:avLst/>
          </a:prstGeom>
          <a:solidFill>
            <a:srgbClr val="ECE7DF"/>
          </a:solidFill>
          <a:ln/>
        </p:spPr>
      </p:sp>
      <p:sp>
        <p:nvSpPr>
          <p:cNvPr id="38" name="Shape 36"/>
          <p:cNvSpPr/>
          <p:nvPr/>
        </p:nvSpPr>
        <p:spPr>
          <a:xfrm>
            <a:off x="7060082" y="3291840"/>
            <a:ext cx="457200" cy="164592"/>
          </a:xfrm>
          <a:prstGeom prst="rect">
            <a:avLst/>
          </a:prstGeom>
          <a:solidFill>
            <a:srgbClr val="ECE7DF"/>
          </a:solidFill>
          <a:ln/>
        </p:spPr>
      </p:sp>
      <p:sp>
        <p:nvSpPr>
          <p:cNvPr id="39" name="Text 37"/>
          <p:cNvSpPr/>
          <p:nvPr/>
        </p:nvSpPr>
        <p:spPr>
          <a:xfrm>
            <a:off x="4554626" y="3538728"/>
            <a:ext cx="502920" cy="219456"/>
          </a:xfrm>
          <a:prstGeom prst="rect">
            <a:avLst/>
          </a:prstGeom>
          <a:noFill/>
          <a:ln/>
        </p:spPr>
        <p:txBody>
          <a:bodyPr wrap="square" lIns="0" tIns="0" rIns="0" bIns="0" rtlCol="0" anchor="ctr"/>
          <a:lstStyle/>
          <a:p>
            <a:pPr indent="0" marL="0">
              <a:buNone/>
            </a:pPr>
            <a:r>
              <a:rPr lang="en-US" sz="900" dirty="0">
                <a:solidFill>
                  <a:srgbClr val="3A4048"/>
                </a:solidFill>
                <a:latin typeface="Calibri" pitchFamily="34" charset="0"/>
                <a:ea typeface="Calibri" pitchFamily="34" charset="-122"/>
                <a:cs typeface="Calibri" pitchFamily="34" charset="-120"/>
              </a:rPr>
              <a:t>fold 1</a:t>
            </a:r>
            <a:endParaRPr lang="en-US" sz="900" dirty="0"/>
          </a:p>
        </p:txBody>
      </p:sp>
      <p:sp>
        <p:nvSpPr>
          <p:cNvPr id="40" name="Shape 38"/>
          <p:cNvSpPr/>
          <p:nvPr/>
        </p:nvSpPr>
        <p:spPr>
          <a:xfrm>
            <a:off x="5084978" y="3566160"/>
            <a:ext cx="457200" cy="164592"/>
          </a:xfrm>
          <a:prstGeom prst="rect">
            <a:avLst/>
          </a:prstGeom>
          <a:solidFill>
            <a:srgbClr val="ECE7DF"/>
          </a:solidFill>
          <a:ln/>
        </p:spPr>
      </p:sp>
      <p:sp>
        <p:nvSpPr>
          <p:cNvPr id="41" name="Shape 39"/>
          <p:cNvSpPr/>
          <p:nvPr/>
        </p:nvSpPr>
        <p:spPr>
          <a:xfrm>
            <a:off x="5578754" y="3566160"/>
            <a:ext cx="457200" cy="164592"/>
          </a:xfrm>
          <a:prstGeom prst="rect">
            <a:avLst/>
          </a:prstGeom>
          <a:solidFill>
            <a:srgbClr val="A8442A"/>
          </a:solidFill>
          <a:ln/>
        </p:spPr>
      </p:sp>
      <p:sp>
        <p:nvSpPr>
          <p:cNvPr id="42" name="Shape 40"/>
          <p:cNvSpPr/>
          <p:nvPr/>
        </p:nvSpPr>
        <p:spPr>
          <a:xfrm>
            <a:off x="6072530" y="3566160"/>
            <a:ext cx="457200" cy="164592"/>
          </a:xfrm>
          <a:prstGeom prst="rect">
            <a:avLst/>
          </a:prstGeom>
          <a:solidFill>
            <a:srgbClr val="ECE7DF"/>
          </a:solidFill>
          <a:ln/>
        </p:spPr>
      </p:sp>
      <p:sp>
        <p:nvSpPr>
          <p:cNvPr id="43" name="Shape 41"/>
          <p:cNvSpPr/>
          <p:nvPr/>
        </p:nvSpPr>
        <p:spPr>
          <a:xfrm>
            <a:off x="6566306" y="3566160"/>
            <a:ext cx="457200" cy="164592"/>
          </a:xfrm>
          <a:prstGeom prst="rect">
            <a:avLst/>
          </a:prstGeom>
          <a:solidFill>
            <a:srgbClr val="ECE7DF"/>
          </a:solidFill>
          <a:ln/>
        </p:spPr>
      </p:sp>
      <p:sp>
        <p:nvSpPr>
          <p:cNvPr id="44" name="Shape 42"/>
          <p:cNvSpPr/>
          <p:nvPr/>
        </p:nvSpPr>
        <p:spPr>
          <a:xfrm>
            <a:off x="7060082" y="3566160"/>
            <a:ext cx="457200" cy="164592"/>
          </a:xfrm>
          <a:prstGeom prst="rect">
            <a:avLst/>
          </a:prstGeom>
          <a:solidFill>
            <a:srgbClr val="ECE7DF"/>
          </a:solidFill>
          <a:ln/>
        </p:spPr>
      </p:sp>
      <p:sp>
        <p:nvSpPr>
          <p:cNvPr id="45" name="Text 43"/>
          <p:cNvSpPr/>
          <p:nvPr/>
        </p:nvSpPr>
        <p:spPr>
          <a:xfrm>
            <a:off x="4554626" y="3813048"/>
            <a:ext cx="502920" cy="219456"/>
          </a:xfrm>
          <a:prstGeom prst="rect">
            <a:avLst/>
          </a:prstGeom>
          <a:noFill/>
          <a:ln/>
        </p:spPr>
        <p:txBody>
          <a:bodyPr wrap="square" lIns="0" tIns="0" rIns="0" bIns="0" rtlCol="0" anchor="ctr"/>
          <a:lstStyle/>
          <a:p>
            <a:pPr indent="0" marL="0">
              <a:buNone/>
            </a:pPr>
            <a:r>
              <a:rPr lang="en-US" sz="900" dirty="0">
                <a:solidFill>
                  <a:srgbClr val="3A4048"/>
                </a:solidFill>
                <a:latin typeface="Calibri" pitchFamily="34" charset="0"/>
                <a:ea typeface="Calibri" pitchFamily="34" charset="-122"/>
                <a:cs typeface="Calibri" pitchFamily="34" charset="-120"/>
              </a:rPr>
              <a:t>fold 2</a:t>
            </a:r>
            <a:endParaRPr lang="en-US" sz="900" dirty="0"/>
          </a:p>
        </p:txBody>
      </p:sp>
      <p:sp>
        <p:nvSpPr>
          <p:cNvPr id="46" name="Shape 44"/>
          <p:cNvSpPr/>
          <p:nvPr/>
        </p:nvSpPr>
        <p:spPr>
          <a:xfrm>
            <a:off x="5084978" y="3840480"/>
            <a:ext cx="457200" cy="164592"/>
          </a:xfrm>
          <a:prstGeom prst="rect">
            <a:avLst/>
          </a:prstGeom>
          <a:solidFill>
            <a:srgbClr val="ECE7DF"/>
          </a:solidFill>
          <a:ln/>
        </p:spPr>
      </p:sp>
      <p:sp>
        <p:nvSpPr>
          <p:cNvPr id="47" name="Shape 45"/>
          <p:cNvSpPr/>
          <p:nvPr/>
        </p:nvSpPr>
        <p:spPr>
          <a:xfrm>
            <a:off x="5578754" y="3840480"/>
            <a:ext cx="457200" cy="164592"/>
          </a:xfrm>
          <a:prstGeom prst="rect">
            <a:avLst/>
          </a:prstGeom>
          <a:solidFill>
            <a:srgbClr val="ECE7DF"/>
          </a:solidFill>
          <a:ln/>
        </p:spPr>
      </p:sp>
      <p:sp>
        <p:nvSpPr>
          <p:cNvPr id="48" name="Shape 46"/>
          <p:cNvSpPr/>
          <p:nvPr/>
        </p:nvSpPr>
        <p:spPr>
          <a:xfrm>
            <a:off x="6072530" y="3840480"/>
            <a:ext cx="457200" cy="164592"/>
          </a:xfrm>
          <a:prstGeom prst="rect">
            <a:avLst/>
          </a:prstGeom>
          <a:solidFill>
            <a:srgbClr val="A8442A"/>
          </a:solidFill>
          <a:ln/>
        </p:spPr>
      </p:sp>
      <p:sp>
        <p:nvSpPr>
          <p:cNvPr id="49" name="Shape 47"/>
          <p:cNvSpPr/>
          <p:nvPr/>
        </p:nvSpPr>
        <p:spPr>
          <a:xfrm>
            <a:off x="6566306" y="3840480"/>
            <a:ext cx="457200" cy="164592"/>
          </a:xfrm>
          <a:prstGeom prst="rect">
            <a:avLst/>
          </a:prstGeom>
          <a:solidFill>
            <a:srgbClr val="ECE7DF"/>
          </a:solidFill>
          <a:ln/>
        </p:spPr>
      </p:sp>
      <p:sp>
        <p:nvSpPr>
          <p:cNvPr id="50" name="Shape 48"/>
          <p:cNvSpPr/>
          <p:nvPr/>
        </p:nvSpPr>
        <p:spPr>
          <a:xfrm>
            <a:off x="7060082" y="3840480"/>
            <a:ext cx="457200" cy="164592"/>
          </a:xfrm>
          <a:prstGeom prst="rect">
            <a:avLst/>
          </a:prstGeom>
          <a:solidFill>
            <a:srgbClr val="ECE7DF"/>
          </a:solidFill>
          <a:ln/>
        </p:spPr>
      </p:sp>
      <p:sp>
        <p:nvSpPr>
          <p:cNvPr id="51" name="Text 49"/>
          <p:cNvSpPr/>
          <p:nvPr/>
        </p:nvSpPr>
        <p:spPr>
          <a:xfrm>
            <a:off x="4554626" y="4087368"/>
            <a:ext cx="502920" cy="219456"/>
          </a:xfrm>
          <a:prstGeom prst="rect">
            <a:avLst/>
          </a:prstGeom>
          <a:noFill/>
          <a:ln/>
        </p:spPr>
        <p:txBody>
          <a:bodyPr wrap="square" lIns="0" tIns="0" rIns="0" bIns="0" rtlCol="0" anchor="ctr"/>
          <a:lstStyle/>
          <a:p>
            <a:pPr indent="0" marL="0">
              <a:buNone/>
            </a:pPr>
            <a:r>
              <a:rPr lang="en-US" sz="900" dirty="0">
                <a:solidFill>
                  <a:srgbClr val="3A4048"/>
                </a:solidFill>
                <a:latin typeface="Calibri" pitchFamily="34" charset="0"/>
                <a:ea typeface="Calibri" pitchFamily="34" charset="-122"/>
                <a:cs typeface="Calibri" pitchFamily="34" charset="-120"/>
              </a:rPr>
              <a:t>fold 3</a:t>
            </a:r>
            <a:endParaRPr lang="en-US" sz="900" dirty="0"/>
          </a:p>
        </p:txBody>
      </p:sp>
      <p:sp>
        <p:nvSpPr>
          <p:cNvPr id="52" name="Shape 50"/>
          <p:cNvSpPr/>
          <p:nvPr/>
        </p:nvSpPr>
        <p:spPr>
          <a:xfrm>
            <a:off x="5084978" y="4114800"/>
            <a:ext cx="457200" cy="164592"/>
          </a:xfrm>
          <a:prstGeom prst="rect">
            <a:avLst/>
          </a:prstGeom>
          <a:solidFill>
            <a:srgbClr val="ECE7DF"/>
          </a:solidFill>
          <a:ln/>
        </p:spPr>
      </p:sp>
      <p:sp>
        <p:nvSpPr>
          <p:cNvPr id="53" name="Shape 51"/>
          <p:cNvSpPr/>
          <p:nvPr/>
        </p:nvSpPr>
        <p:spPr>
          <a:xfrm>
            <a:off x="5578754" y="4114800"/>
            <a:ext cx="457200" cy="164592"/>
          </a:xfrm>
          <a:prstGeom prst="rect">
            <a:avLst/>
          </a:prstGeom>
          <a:solidFill>
            <a:srgbClr val="ECE7DF"/>
          </a:solidFill>
          <a:ln/>
        </p:spPr>
      </p:sp>
      <p:sp>
        <p:nvSpPr>
          <p:cNvPr id="54" name="Shape 52"/>
          <p:cNvSpPr/>
          <p:nvPr/>
        </p:nvSpPr>
        <p:spPr>
          <a:xfrm>
            <a:off x="6072530" y="4114800"/>
            <a:ext cx="457200" cy="164592"/>
          </a:xfrm>
          <a:prstGeom prst="rect">
            <a:avLst/>
          </a:prstGeom>
          <a:solidFill>
            <a:srgbClr val="ECE7DF"/>
          </a:solidFill>
          <a:ln/>
        </p:spPr>
      </p:sp>
      <p:sp>
        <p:nvSpPr>
          <p:cNvPr id="55" name="Shape 53"/>
          <p:cNvSpPr/>
          <p:nvPr/>
        </p:nvSpPr>
        <p:spPr>
          <a:xfrm>
            <a:off x="6566306" y="4114800"/>
            <a:ext cx="457200" cy="164592"/>
          </a:xfrm>
          <a:prstGeom prst="rect">
            <a:avLst/>
          </a:prstGeom>
          <a:solidFill>
            <a:srgbClr val="A8442A"/>
          </a:solidFill>
          <a:ln/>
        </p:spPr>
      </p:sp>
      <p:sp>
        <p:nvSpPr>
          <p:cNvPr id="56" name="Shape 54"/>
          <p:cNvSpPr/>
          <p:nvPr/>
        </p:nvSpPr>
        <p:spPr>
          <a:xfrm>
            <a:off x="7060082" y="4114800"/>
            <a:ext cx="457200" cy="164592"/>
          </a:xfrm>
          <a:prstGeom prst="rect">
            <a:avLst/>
          </a:prstGeom>
          <a:solidFill>
            <a:srgbClr val="ECE7DF"/>
          </a:solidFill>
          <a:ln/>
        </p:spPr>
      </p:sp>
      <p:sp>
        <p:nvSpPr>
          <p:cNvPr id="57" name="Text 55"/>
          <p:cNvSpPr/>
          <p:nvPr/>
        </p:nvSpPr>
        <p:spPr>
          <a:xfrm>
            <a:off x="4554626" y="4361688"/>
            <a:ext cx="502920" cy="219456"/>
          </a:xfrm>
          <a:prstGeom prst="rect">
            <a:avLst/>
          </a:prstGeom>
          <a:noFill/>
          <a:ln/>
        </p:spPr>
        <p:txBody>
          <a:bodyPr wrap="square" lIns="0" tIns="0" rIns="0" bIns="0" rtlCol="0" anchor="ctr"/>
          <a:lstStyle/>
          <a:p>
            <a:pPr indent="0" marL="0">
              <a:buNone/>
            </a:pPr>
            <a:r>
              <a:rPr lang="en-US" sz="900" dirty="0">
                <a:solidFill>
                  <a:srgbClr val="3A4048"/>
                </a:solidFill>
                <a:latin typeface="Calibri" pitchFamily="34" charset="0"/>
                <a:ea typeface="Calibri" pitchFamily="34" charset="-122"/>
                <a:cs typeface="Calibri" pitchFamily="34" charset="-120"/>
              </a:rPr>
              <a:t>fold 4</a:t>
            </a:r>
            <a:endParaRPr lang="en-US" sz="900" dirty="0"/>
          </a:p>
        </p:txBody>
      </p:sp>
      <p:sp>
        <p:nvSpPr>
          <p:cNvPr id="58" name="Shape 56"/>
          <p:cNvSpPr/>
          <p:nvPr/>
        </p:nvSpPr>
        <p:spPr>
          <a:xfrm>
            <a:off x="5084978" y="4389120"/>
            <a:ext cx="457200" cy="164592"/>
          </a:xfrm>
          <a:prstGeom prst="rect">
            <a:avLst/>
          </a:prstGeom>
          <a:solidFill>
            <a:srgbClr val="ECE7DF"/>
          </a:solidFill>
          <a:ln/>
        </p:spPr>
      </p:sp>
      <p:sp>
        <p:nvSpPr>
          <p:cNvPr id="59" name="Shape 57"/>
          <p:cNvSpPr/>
          <p:nvPr/>
        </p:nvSpPr>
        <p:spPr>
          <a:xfrm>
            <a:off x="5578754" y="4389120"/>
            <a:ext cx="457200" cy="164592"/>
          </a:xfrm>
          <a:prstGeom prst="rect">
            <a:avLst/>
          </a:prstGeom>
          <a:solidFill>
            <a:srgbClr val="ECE7DF"/>
          </a:solidFill>
          <a:ln/>
        </p:spPr>
      </p:sp>
      <p:sp>
        <p:nvSpPr>
          <p:cNvPr id="60" name="Shape 58"/>
          <p:cNvSpPr/>
          <p:nvPr/>
        </p:nvSpPr>
        <p:spPr>
          <a:xfrm>
            <a:off x="6072530" y="4389120"/>
            <a:ext cx="457200" cy="164592"/>
          </a:xfrm>
          <a:prstGeom prst="rect">
            <a:avLst/>
          </a:prstGeom>
          <a:solidFill>
            <a:srgbClr val="ECE7DF"/>
          </a:solidFill>
          <a:ln/>
        </p:spPr>
      </p:sp>
      <p:sp>
        <p:nvSpPr>
          <p:cNvPr id="61" name="Shape 59"/>
          <p:cNvSpPr/>
          <p:nvPr/>
        </p:nvSpPr>
        <p:spPr>
          <a:xfrm>
            <a:off x="6566306" y="4389120"/>
            <a:ext cx="457200" cy="164592"/>
          </a:xfrm>
          <a:prstGeom prst="rect">
            <a:avLst/>
          </a:prstGeom>
          <a:solidFill>
            <a:srgbClr val="ECE7DF"/>
          </a:solidFill>
          <a:ln/>
        </p:spPr>
      </p:sp>
      <p:sp>
        <p:nvSpPr>
          <p:cNvPr id="62" name="Shape 60"/>
          <p:cNvSpPr/>
          <p:nvPr/>
        </p:nvSpPr>
        <p:spPr>
          <a:xfrm>
            <a:off x="7060082" y="4389120"/>
            <a:ext cx="457200" cy="164592"/>
          </a:xfrm>
          <a:prstGeom prst="rect">
            <a:avLst/>
          </a:prstGeom>
          <a:solidFill>
            <a:srgbClr val="A8442A"/>
          </a:solidFill>
          <a:ln/>
        </p:spPr>
      </p:sp>
      <p:sp>
        <p:nvSpPr>
          <p:cNvPr id="63" name="Text 61"/>
          <p:cNvSpPr/>
          <p:nvPr/>
        </p:nvSpPr>
        <p:spPr>
          <a:xfrm>
            <a:off x="4554626" y="4727448"/>
            <a:ext cx="3082442" cy="731520"/>
          </a:xfrm>
          <a:prstGeom prst="rect">
            <a:avLst/>
          </a:prstGeom>
          <a:noFill/>
          <a:ln/>
        </p:spPr>
        <p:txBody>
          <a:bodyPr wrap="square" lIns="0" tIns="0" rIns="0" bIns="0" rtlCol="0" anchor="t"/>
          <a:lstStyle/>
          <a:p>
            <a:pPr algn="l" indent="0" marL="0">
              <a:lnSpc>
                <a:spcPts val="1283"/>
              </a:lnSpc>
              <a:buNone/>
            </a:pPr>
            <a:r>
              <a:rPr lang="en-US" sz="950" dirty="0">
                <a:solidFill>
                  <a:srgbClr val="3A4048"/>
                </a:solidFill>
                <a:latin typeface="Calibri" pitchFamily="34" charset="0"/>
                <a:ea typeface="Calibri" pitchFamily="34" charset="-122"/>
                <a:cs typeface="Calibri" pitchFamily="34" charset="-120"/>
              </a:rPr>
              <a:t>Fold identik untuk keenam model adalah prasyarat stacking. Stratifikasi menjaga proporsi kelas langka di setiap fold.</a:t>
            </a:r>
            <a:endParaRPr lang="en-US" sz="950" dirty="0"/>
          </a:p>
        </p:txBody>
      </p:sp>
      <p:sp>
        <p:nvSpPr>
          <p:cNvPr id="64" name="Text 62"/>
          <p:cNvSpPr/>
          <p:nvPr/>
        </p:nvSpPr>
        <p:spPr>
          <a:xfrm>
            <a:off x="4554626" y="5559552"/>
            <a:ext cx="3082442" cy="548640"/>
          </a:xfrm>
          <a:prstGeom prst="rect">
            <a:avLst/>
          </a:prstGeom>
          <a:noFill/>
          <a:ln/>
        </p:spPr>
        <p:txBody>
          <a:bodyPr wrap="square" lIns="0" tIns="0" rIns="0" bIns="0" rtlCol="0" anchor="t"/>
          <a:lstStyle/>
          <a:p>
            <a:pPr indent="0" marL="0">
              <a:lnSpc>
                <a:spcPts val="1300"/>
              </a:lnSpc>
              <a:buNone/>
            </a:pPr>
            <a:r>
              <a:rPr lang="en-US" sz="1000" b="1" dirty="0">
                <a:solidFill>
                  <a:srgbClr val="A8442A"/>
                </a:solidFill>
                <a:latin typeface="Calibri" pitchFamily="34" charset="0"/>
                <a:ea typeface="Calibri" pitchFamily="34" charset="-122"/>
                <a:cs typeface="Calibri" pitchFamily="34" charset="-120"/>
              </a:rPr>
              <a:t>Implikasi: </a:t>
            </a:r>
            <a:pPr indent="0" marL="0">
              <a:lnSpc>
                <a:spcPts val="1300"/>
              </a:lnSpc>
              <a:buNone/>
            </a:pPr>
            <a:r>
              <a:rPr lang="en-US" sz="1000" dirty="0">
                <a:solidFill>
                  <a:srgbClr val="3A4048"/>
                </a:solidFill>
                <a:latin typeface="Calibri" pitchFamily="34" charset="0"/>
                <a:ea typeface="Calibri" pitchFamily="34" charset="-122"/>
                <a:cs typeface="Calibri" pitchFamily="34" charset="-120"/>
              </a:rPr>
              <a:t>ambang dan pemilihan model hanya dari OOF latih, memenuhi larangan probing B.1.c.</a:t>
            </a:r>
            <a:endParaRPr lang="en-US" sz="1000" dirty="0"/>
          </a:p>
        </p:txBody>
      </p:sp>
      <p:sp>
        <p:nvSpPr>
          <p:cNvPr id="65" name="Shape 63"/>
          <p:cNvSpPr/>
          <p:nvPr/>
        </p:nvSpPr>
        <p:spPr>
          <a:xfrm>
            <a:off x="8066837" y="1371600"/>
            <a:ext cx="3484778" cy="4846320"/>
          </a:xfrm>
          <a:prstGeom prst="roundRect">
            <a:avLst>
              <a:gd name="adj" fmla="val 1574"/>
            </a:avLst>
          </a:prstGeom>
          <a:solidFill>
            <a:srgbClr val="F4F1EC"/>
          </a:solidFill>
          <a:ln w="9525">
            <a:solidFill>
              <a:srgbClr val="DCD8D1"/>
            </a:solidFill>
            <a:prstDash val="solid"/>
          </a:ln>
        </p:spPr>
      </p:sp>
      <p:sp>
        <p:nvSpPr>
          <p:cNvPr id="66" name="Text 64"/>
          <p:cNvSpPr/>
          <p:nvPr/>
        </p:nvSpPr>
        <p:spPr>
          <a:xfrm>
            <a:off x="8268005" y="1499616"/>
            <a:ext cx="3082442" cy="201168"/>
          </a:xfrm>
          <a:prstGeom prst="rect">
            <a:avLst/>
          </a:prstGeom>
          <a:noFill/>
          <a:ln/>
        </p:spPr>
        <p:txBody>
          <a:bodyPr wrap="square" lIns="0" tIns="0" rIns="0" bIns="0" rtlCol="0" anchor="ctr"/>
          <a:lstStyle/>
          <a:p>
            <a:pPr indent="0" marL="0">
              <a:buNone/>
            </a:pPr>
            <a:r>
              <a:rPr lang="en-US" sz="850" b="1" spc="120" kern="0" dirty="0">
                <a:solidFill>
                  <a:srgbClr val="6E747C"/>
                </a:solidFill>
                <a:latin typeface="Calibri" pitchFamily="34" charset="0"/>
                <a:ea typeface="Calibri" pitchFamily="34" charset="-122"/>
                <a:cs typeface="Calibri" pitchFamily="34" charset="-120"/>
              </a:rPr>
              <a:t>6.3 · DARI PROBABILITAS KE LABEL</a:t>
            </a:r>
            <a:endParaRPr lang="en-US" sz="850" dirty="0"/>
          </a:p>
        </p:txBody>
      </p:sp>
      <p:sp>
        <p:nvSpPr>
          <p:cNvPr id="67" name="Text 65"/>
          <p:cNvSpPr/>
          <p:nvPr/>
        </p:nvSpPr>
        <p:spPr>
          <a:xfrm>
            <a:off x="8268005" y="1700784"/>
            <a:ext cx="3082442" cy="475488"/>
          </a:xfrm>
          <a:prstGeom prst="rect">
            <a:avLst/>
          </a:prstGeom>
          <a:noFill/>
          <a:ln/>
        </p:spPr>
        <p:txBody>
          <a:bodyPr wrap="square" lIns="0" tIns="0" rIns="0" bIns="0" rtlCol="0" anchor="t"/>
          <a:lstStyle/>
          <a:p>
            <a:pPr indent="0" marL="0">
              <a:lnSpc>
                <a:spcPts val="1600"/>
              </a:lnSpc>
              <a:buNone/>
            </a:pPr>
            <a:r>
              <a:rPr lang="en-US" sz="1300" b="1" dirty="0">
                <a:solidFill>
                  <a:srgbClr val="16191D"/>
                </a:solidFill>
                <a:latin typeface="Cambria" pitchFamily="34" charset="0"/>
                <a:ea typeface="Cambria" pitchFamily="34" charset="-122"/>
                <a:cs typeface="Cambria" pitchFamily="34" charset="-120"/>
              </a:rPr>
              <a:t>Tiga langkah deterministik</a:t>
            </a:r>
            <a:endParaRPr lang="en-US" sz="1300" dirty="0"/>
          </a:p>
        </p:txBody>
      </p:sp>
      <p:sp>
        <p:nvSpPr>
          <p:cNvPr id="68" name="Shape 66"/>
          <p:cNvSpPr/>
          <p:nvPr/>
        </p:nvSpPr>
        <p:spPr>
          <a:xfrm>
            <a:off x="8268005" y="2249424"/>
            <a:ext cx="310896" cy="310896"/>
          </a:xfrm>
          <a:prstGeom prst="ellipse">
            <a:avLst/>
          </a:prstGeom>
          <a:solidFill>
            <a:srgbClr val="2F6B5F"/>
          </a:solidFill>
          <a:ln/>
        </p:spPr>
      </p:sp>
      <p:sp>
        <p:nvSpPr>
          <p:cNvPr id="69" name="Text 67"/>
          <p:cNvSpPr/>
          <p:nvPr/>
        </p:nvSpPr>
        <p:spPr>
          <a:xfrm>
            <a:off x="8268005" y="2249424"/>
            <a:ext cx="310896" cy="310896"/>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1</a:t>
            </a:r>
            <a:endParaRPr lang="en-US" sz="1000" dirty="0"/>
          </a:p>
        </p:txBody>
      </p:sp>
      <p:sp>
        <p:nvSpPr>
          <p:cNvPr id="70" name="Text 68"/>
          <p:cNvSpPr/>
          <p:nvPr/>
        </p:nvSpPr>
        <p:spPr>
          <a:xfrm>
            <a:off x="8688629" y="2212848"/>
            <a:ext cx="2661818" cy="274320"/>
          </a:xfrm>
          <a:prstGeom prst="rect">
            <a:avLst/>
          </a:prstGeom>
          <a:noFill/>
          <a:ln/>
        </p:spPr>
        <p:txBody>
          <a:bodyPr wrap="square" lIns="0" tIns="0" rIns="0" bIns="0" rtlCol="0" anchor="ctr"/>
          <a:lstStyle/>
          <a:p>
            <a:pPr indent="0" marL="0">
              <a:buNone/>
            </a:pPr>
            <a:r>
              <a:rPr lang="en-US" sz="1150" b="1" dirty="0">
                <a:solidFill>
                  <a:srgbClr val="16191D"/>
                </a:solidFill>
                <a:latin typeface="Cambria" pitchFamily="34" charset="0"/>
                <a:ea typeface="Cambria" pitchFamily="34" charset="-122"/>
                <a:cs typeface="Cambria" pitchFamily="34" charset="-120"/>
              </a:rPr>
              <a:t>Rata-ratakan p</a:t>
            </a:r>
            <a:endParaRPr lang="en-US" sz="1150" dirty="0"/>
          </a:p>
        </p:txBody>
      </p:sp>
      <p:sp>
        <p:nvSpPr>
          <p:cNvPr id="71" name="Text 69"/>
          <p:cNvSpPr/>
          <p:nvPr/>
        </p:nvSpPr>
        <p:spPr>
          <a:xfrm>
            <a:off x="8688629" y="2505456"/>
            <a:ext cx="2661818" cy="411480"/>
          </a:xfrm>
          <a:prstGeom prst="rect">
            <a:avLst/>
          </a:prstGeom>
          <a:noFill/>
          <a:ln/>
        </p:spPr>
        <p:txBody>
          <a:bodyPr wrap="square" lIns="0" tIns="0" rIns="0" bIns="0" rtlCol="0" anchor="t"/>
          <a:lstStyle/>
          <a:p>
            <a:pPr algn="l" indent="0" marL="0">
              <a:lnSpc>
                <a:spcPts val="1283"/>
              </a:lnSpc>
              <a:buNone/>
            </a:pPr>
            <a:r>
              <a:rPr lang="en-US" sz="950" dirty="0">
                <a:solidFill>
                  <a:srgbClr val="6E747C"/>
                </a:solidFill>
                <a:latin typeface="Calibri" pitchFamily="34" charset="0"/>
                <a:ea typeface="Calibri" pitchFamily="34" charset="-122"/>
                <a:cs typeface="Calibri" pitchFamily="34" charset="-120"/>
              </a:rPr>
              <a:t>lima model pohon × lima fold, matriks 4 kelas</a:t>
            </a:r>
            <a:endParaRPr lang="en-US" sz="950" dirty="0"/>
          </a:p>
        </p:txBody>
      </p:sp>
      <p:sp>
        <p:nvSpPr>
          <p:cNvPr id="72" name="Shape 70"/>
          <p:cNvSpPr/>
          <p:nvPr/>
        </p:nvSpPr>
        <p:spPr>
          <a:xfrm>
            <a:off x="8268005" y="3072384"/>
            <a:ext cx="310896" cy="310896"/>
          </a:xfrm>
          <a:prstGeom prst="ellipse">
            <a:avLst/>
          </a:prstGeom>
          <a:solidFill>
            <a:srgbClr val="8FB0A4"/>
          </a:solidFill>
          <a:ln/>
        </p:spPr>
      </p:sp>
      <p:sp>
        <p:nvSpPr>
          <p:cNvPr id="73" name="Text 71"/>
          <p:cNvSpPr/>
          <p:nvPr/>
        </p:nvSpPr>
        <p:spPr>
          <a:xfrm>
            <a:off x="8268005" y="3072384"/>
            <a:ext cx="310896" cy="310896"/>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2</a:t>
            </a:r>
            <a:endParaRPr lang="en-US" sz="1000" dirty="0"/>
          </a:p>
        </p:txBody>
      </p:sp>
      <p:sp>
        <p:nvSpPr>
          <p:cNvPr id="74" name="Text 72"/>
          <p:cNvSpPr/>
          <p:nvPr/>
        </p:nvSpPr>
        <p:spPr>
          <a:xfrm>
            <a:off x="8688629" y="3035808"/>
            <a:ext cx="2661818" cy="274320"/>
          </a:xfrm>
          <a:prstGeom prst="rect">
            <a:avLst/>
          </a:prstGeom>
          <a:noFill/>
          <a:ln/>
        </p:spPr>
        <p:txBody>
          <a:bodyPr wrap="square" lIns="0" tIns="0" rIns="0" bIns="0" rtlCol="0" anchor="ctr"/>
          <a:lstStyle/>
          <a:p>
            <a:pPr indent="0" marL="0">
              <a:buNone/>
            </a:pPr>
            <a:r>
              <a:rPr lang="en-US" sz="1150" b="1" dirty="0">
                <a:solidFill>
                  <a:srgbClr val="16191D"/>
                </a:solidFill>
                <a:latin typeface="Cambria" pitchFamily="34" charset="0"/>
                <a:ea typeface="Cambria" pitchFamily="34" charset="-122"/>
                <a:cs typeface="Cambria" pitchFamily="34" charset="-120"/>
              </a:rPr>
              <a:t>Hitung E[y] = Σ pₖ · k</a:t>
            </a:r>
            <a:endParaRPr lang="en-US" sz="1150" dirty="0"/>
          </a:p>
        </p:txBody>
      </p:sp>
      <p:sp>
        <p:nvSpPr>
          <p:cNvPr id="75" name="Text 73"/>
          <p:cNvSpPr/>
          <p:nvPr/>
        </p:nvSpPr>
        <p:spPr>
          <a:xfrm>
            <a:off x="8688629" y="3328416"/>
            <a:ext cx="2661818" cy="411480"/>
          </a:xfrm>
          <a:prstGeom prst="rect">
            <a:avLst/>
          </a:prstGeom>
          <a:noFill/>
          <a:ln/>
        </p:spPr>
        <p:txBody>
          <a:bodyPr wrap="square" lIns="0" tIns="0" rIns="0" bIns="0" rtlCol="0" anchor="t"/>
          <a:lstStyle/>
          <a:p>
            <a:pPr algn="l" indent="0" marL="0">
              <a:lnSpc>
                <a:spcPts val="1283"/>
              </a:lnSpc>
              <a:buNone/>
            </a:pPr>
            <a:r>
              <a:rPr lang="en-US" sz="950" dirty="0">
                <a:solidFill>
                  <a:srgbClr val="6E747C"/>
                </a:solidFill>
                <a:latin typeface="Calibri" pitchFamily="34" charset="0"/>
                <a:ea typeface="Calibri" pitchFamily="34" charset="-122"/>
                <a:cs typeface="Calibri" pitchFamily="34" charset="-120"/>
              </a:rPr>
              <a:t>satu bilangan kontinu per responden</a:t>
            </a:r>
            <a:endParaRPr lang="en-US" sz="950" dirty="0"/>
          </a:p>
        </p:txBody>
      </p:sp>
      <p:sp>
        <p:nvSpPr>
          <p:cNvPr id="76" name="Shape 74"/>
          <p:cNvSpPr/>
          <p:nvPr/>
        </p:nvSpPr>
        <p:spPr>
          <a:xfrm>
            <a:off x="8268005" y="3895344"/>
            <a:ext cx="310896" cy="310896"/>
          </a:xfrm>
          <a:prstGeom prst="ellipse">
            <a:avLst/>
          </a:prstGeom>
          <a:solidFill>
            <a:srgbClr val="D8A25E"/>
          </a:solidFill>
          <a:ln/>
        </p:spPr>
      </p:sp>
      <p:sp>
        <p:nvSpPr>
          <p:cNvPr id="77" name="Text 75"/>
          <p:cNvSpPr/>
          <p:nvPr/>
        </p:nvSpPr>
        <p:spPr>
          <a:xfrm>
            <a:off x="8268005" y="3895344"/>
            <a:ext cx="310896" cy="310896"/>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3</a:t>
            </a:r>
            <a:endParaRPr lang="en-US" sz="1000" dirty="0"/>
          </a:p>
        </p:txBody>
      </p:sp>
      <p:sp>
        <p:nvSpPr>
          <p:cNvPr id="78" name="Text 76"/>
          <p:cNvSpPr/>
          <p:nvPr/>
        </p:nvSpPr>
        <p:spPr>
          <a:xfrm>
            <a:off x="8688629" y="3858768"/>
            <a:ext cx="2661818" cy="274320"/>
          </a:xfrm>
          <a:prstGeom prst="rect">
            <a:avLst/>
          </a:prstGeom>
          <a:noFill/>
          <a:ln/>
        </p:spPr>
        <p:txBody>
          <a:bodyPr wrap="square" lIns="0" tIns="0" rIns="0" bIns="0" rtlCol="0" anchor="ctr"/>
          <a:lstStyle/>
          <a:p>
            <a:pPr indent="0" marL="0">
              <a:buNone/>
            </a:pPr>
            <a:r>
              <a:rPr lang="en-US" sz="1150" b="1" dirty="0">
                <a:solidFill>
                  <a:srgbClr val="16191D"/>
                </a:solidFill>
                <a:latin typeface="Cambria" pitchFamily="34" charset="0"/>
                <a:ea typeface="Cambria" pitchFamily="34" charset="-122"/>
                <a:cs typeface="Cambria" pitchFamily="34" charset="-120"/>
              </a:rPr>
              <a:t>Potong dengan t₁ &lt; t₂ &lt; t₃</a:t>
            </a:r>
            <a:endParaRPr lang="en-US" sz="1150" dirty="0"/>
          </a:p>
        </p:txBody>
      </p:sp>
      <p:sp>
        <p:nvSpPr>
          <p:cNvPr id="79" name="Text 77"/>
          <p:cNvSpPr/>
          <p:nvPr/>
        </p:nvSpPr>
        <p:spPr>
          <a:xfrm>
            <a:off x="8688629" y="4151376"/>
            <a:ext cx="2661818" cy="411480"/>
          </a:xfrm>
          <a:prstGeom prst="rect">
            <a:avLst/>
          </a:prstGeom>
          <a:noFill/>
          <a:ln/>
        </p:spPr>
        <p:txBody>
          <a:bodyPr wrap="square" lIns="0" tIns="0" rIns="0" bIns="0" rtlCol="0" anchor="t"/>
          <a:lstStyle/>
          <a:p>
            <a:pPr algn="l" indent="0" marL="0">
              <a:lnSpc>
                <a:spcPts val="1283"/>
              </a:lnSpc>
              <a:buNone/>
            </a:pPr>
            <a:r>
              <a:rPr lang="en-US" sz="950" dirty="0">
                <a:solidFill>
                  <a:srgbClr val="6E747C"/>
                </a:solidFill>
                <a:latin typeface="Calibri" pitchFamily="34" charset="0"/>
                <a:ea typeface="Calibri" pitchFamily="34" charset="-122"/>
                <a:cs typeface="Calibri" pitchFamily="34" charset="-120"/>
              </a:rPr>
              <a:t>label akhir 1, 2, 3, atau 4</a:t>
            </a:r>
            <a:endParaRPr lang="en-US" sz="950" dirty="0"/>
          </a:p>
        </p:txBody>
      </p:sp>
      <p:sp>
        <p:nvSpPr>
          <p:cNvPr id="80" name="Text 78"/>
          <p:cNvSpPr/>
          <p:nvPr/>
        </p:nvSpPr>
        <p:spPr>
          <a:xfrm>
            <a:off x="8268005" y="4773168"/>
            <a:ext cx="3082442" cy="731520"/>
          </a:xfrm>
          <a:prstGeom prst="rect">
            <a:avLst/>
          </a:prstGeom>
          <a:noFill/>
          <a:ln/>
        </p:spPr>
        <p:txBody>
          <a:bodyPr wrap="square" lIns="0" tIns="0" rIns="0" bIns="0" rtlCol="0" anchor="t"/>
          <a:lstStyle/>
          <a:p>
            <a:pPr algn="l" indent="0" marL="0">
              <a:lnSpc>
                <a:spcPts val="1283"/>
              </a:lnSpc>
              <a:buNone/>
            </a:pPr>
            <a:r>
              <a:rPr lang="en-US" sz="950" dirty="0">
                <a:solidFill>
                  <a:srgbClr val="3A4048"/>
                </a:solidFill>
                <a:latin typeface="Calibri" pitchFamily="34" charset="0"/>
                <a:ea typeface="Calibri" pitchFamily="34" charset="-122"/>
                <a:cs typeface="Calibri" pitchFamily="34" charset="-120"/>
              </a:rPr>
              <a:t>E[y] juga memberi urutan prioritas kontinu, yang nanti dipakai prototipe untuk menyusun daftar tindak lanjut.</a:t>
            </a:r>
            <a:endParaRPr lang="en-US" sz="950" dirty="0"/>
          </a:p>
        </p:txBody>
      </p:sp>
      <p:sp>
        <p:nvSpPr>
          <p:cNvPr id="81" name="Text 79"/>
          <p:cNvSpPr/>
          <p:nvPr/>
        </p:nvSpPr>
        <p:spPr>
          <a:xfrm>
            <a:off x="8268005" y="5559552"/>
            <a:ext cx="3082442" cy="548640"/>
          </a:xfrm>
          <a:prstGeom prst="rect">
            <a:avLst/>
          </a:prstGeom>
          <a:noFill/>
          <a:ln/>
        </p:spPr>
        <p:txBody>
          <a:bodyPr wrap="square" lIns="0" tIns="0" rIns="0" bIns="0" rtlCol="0" anchor="t"/>
          <a:lstStyle/>
          <a:p>
            <a:pPr indent="0" marL="0">
              <a:lnSpc>
                <a:spcPts val="1300"/>
              </a:lnSpc>
              <a:buNone/>
            </a:pPr>
            <a:r>
              <a:rPr lang="en-US" sz="1000" b="1" dirty="0">
                <a:solidFill>
                  <a:srgbClr val="A8442A"/>
                </a:solidFill>
                <a:latin typeface="Calibri" pitchFamily="34" charset="0"/>
                <a:ea typeface="Calibri" pitchFamily="34" charset="-122"/>
                <a:cs typeface="Calibri" pitchFamily="34" charset="-120"/>
              </a:rPr>
              <a:t>Implikasi: </a:t>
            </a:r>
            <a:pPr indent="0" marL="0">
              <a:lnSpc>
                <a:spcPts val="1300"/>
              </a:lnSpc>
              <a:buNone/>
            </a:pPr>
            <a:r>
              <a:rPr lang="en-US" sz="1000" dirty="0">
                <a:solidFill>
                  <a:srgbClr val="3A4048"/>
                </a:solidFill>
                <a:latin typeface="Calibri" pitchFamily="34" charset="0"/>
                <a:ea typeface="Calibri" pitchFamily="34" charset="-122"/>
                <a:cs typeface="Calibri" pitchFamily="34" charset="-120"/>
              </a:rPr>
              <a:t>keluaran tetap label diskret, tetapi keputusannya menghormati jarak antar kelas.</a:t>
            </a:r>
            <a:endParaRPr lang="en-US" sz="1000" dirty="0"/>
          </a:p>
        </p:txBody>
      </p:sp>
      <p:sp>
        <p:nvSpPr>
          <p:cNvPr id="83" name="Shape 80"/>
          <p:cNvSpPr/>
          <p:nvPr/>
        </p:nvSpPr>
        <p:spPr>
          <a:xfrm>
            <a:off x="640080" y="6400800"/>
            <a:ext cx="1572768" cy="45720"/>
          </a:xfrm>
          <a:prstGeom prst="rect">
            <a:avLst/>
          </a:prstGeom>
          <a:solidFill>
            <a:srgbClr val="DCD8D1"/>
          </a:solidFill>
          <a:ln/>
        </p:spPr>
      </p:sp>
      <p:sp>
        <p:nvSpPr>
          <p:cNvPr id="84" name="Text 81"/>
          <p:cNvSpPr/>
          <p:nvPr/>
        </p:nvSpPr>
        <p:spPr>
          <a:xfrm>
            <a:off x="640080"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I · Latar &amp; data</a:t>
            </a:r>
            <a:endParaRPr lang="en-US" sz="850" dirty="0"/>
          </a:p>
        </p:txBody>
      </p:sp>
      <p:sp>
        <p:nvSpPr>
          <p:cNvPr id="85" name="Shape 82"/>
          <p:cNvSpPr/>
          <p:nvPr/>
        </p:nvSpPr>
        <p:spPr>
          <a:xfrm>
            <a:off x="2304288" y="6400800"/>
            <a:ext cx="1572768" cy="45720"/>
          </a:xfrm>
          <a:prstGeom prst="rect">
            <a:avLst/>
          </a:prstGeom>
          <a:solidFill>
            <a:srgbClr val="DCD8D1"/>
          </a:solidFill>
          <a:ln/>
        </p:spPr>
      </p:sp>
      <p:sp>
        <p:nvSpPr>
          <p:cNvPr id="86" name="Text 83"/>
          <p:cNvSpPr/>
          <p:nvPr/>
        </p:nvSpPr>
        <p:spPr>
          <a:xfrm>
            <a:off x="2304288"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II · EDA</a:t>
            </a:r>
            <a:endParaRPr lang="en-US" sz="850" dirty="0"/>
          </a:p>
        </p:txBody>
      </p:sp>
      <p:sp>
        <p:nvSpPr>
          <p:cNvPr id="87" name="Shape 84"/>
          <p:cNvSpPr/>
          <p:nvPr/>
        </p:nvSpPr>
        <p:spPr>
          <a:xfrm>
            <a:off x="3968496" y="6400800"/>
            <a:ext cx="1572768" cy="45720"/>
          </a:xfrm>
          <a:prstGeom prst="rect">
            <a:avLst/>
          </a:prstGeom>
          <a:solidFill>
            <a:srgbClr val="A8442A"/>
          </a:solidFill>
          <a:ln/>
        </p:spPr>
      </p:sp>
      <p:sp>
        <p:nvSpPr>
          <p:cNvPr id="88" name="Text 85"/>
          <p:cNvSpPr/>
          <p:nvPr/>
        </p:nvSpPr>
        <p:spPr>
          <a:xfrm>
            <a:off x="3968496" y="6464808"/>
            <a:ext cx="1572768" cy="201168"/>
          </a:xfrm>
          <a:prstGeom prst="rect">
            <a:avLst/>
          </a:prstGeom>
          <a:noFill/>
          <a:ln/>
        </p:spPr>
        <p:txBody>
          <a:bodyPr wrap="square" lIns="0" tIns="0" rIns="0" bIns="0" rtlCol="0" anchor="ctr"/>
          <a:lstStyle/>
          <a:p>
            <a:pPr indent="0" marL="0">
              <a:buNone/>
            </a:pPr>
            <a:r>
              <a:rPr lang="en-US" sz="850" b="1" dirty="0">
                <a:solidFill>
                  <a:srgbClr val="16191D"/>
                </a:solidFill>
                <a:latin typeface="Calibri" pitchFamily="34" charset="0"/>
                <a:ea typeface="Calibri" pitchFamily="34" charset="-122"/>
                <a:cs typeface="Calibri" pitchFamily="34" charset="-120"/>
              </a:rPr>
              <a:t>III · Pipeline</a:t>
            </a:r>
            <a:endParaRPr lang="en-US" sz="850" dirty="0"/>
          </a:p>
        </p:txBody>
      </p:sp>
      <p:sp>
        <p:nvSpPr>
          <p:cNvPr id="89" name="Shape 86"/>
          <p:cNvSpPr/>
          <p:nvPr/>
        </p:nvSpPr>
        <p:spPr>
          <a:xfrm>
            <a:off x="5632704" y="6400800"/>
            <a:ext cx="1572768" cy="45720"/>
          </a:xfrm>
          <a:prstGeom prst="rect">
            <a:avLst/>
          </a:prstGeom>
          <a:solidFill>
            <a:srgbClr val="DCD8D1"/>
          </a:solidFill>
          <a:ln/>
        </p:spPr>
      </p:sp>
      <p:sp>
        <p:nvSpPr>
          <p:cNvPr id="90" name="Text 87"/>
          <p:cNvSpPr/>
          <p:nvPr/>
        </p:nvSpPr>
        <p:spPr>
          <a:xfrm>
            <a:off x="5632704"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IV · Disiplin estimasi</a:t>
            </a:r>
            <a:endParaRPr lang="en-US" sz="850" dirty="0"/>
          </a:p>
        </p:txBody>
      </p:sp>
      <p:sp>
        <p:nvSpPr>
          <p:cNvPr id="91" name="Shape 88"/>
          <p:cNvSpPr/>
          <p:nvPr/>
        </p:nvSpPr>
        <p:spPr>
          <a:xfrm>
            <a:off x="7296912" y="6400800"/>
            <a:ext cx="1572768" cy="45720"/>
          </a:xfrm>
          <a:prstGeom prst="rect">
            <a:avLst/>
          </a:prstGeom>
          <a:solidFill>
            <a:srgbClr val="DCD8D1"/>
          </a:solidFill>
          <a:ln/>
        </p:spPr>
      </p:sp>
      <p:sp>
        <p:nvSpPr>
          <p:cNvPr id="92" name="Text 89"/>
          <p:cNvSpPr/>
          <p:nvPr/>
        </p:nvSpPr>
        <p:spPr>
          <a:xfrm>
            <a:off x="7296912"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V · Hasil &amp; plafon</a:t>
            </a:r>
            <a:endParaRPr lang="en-US" sz="850" dirty="0"/>
          </a:p>
        </p:txBody>
      </p:sp>
      <p:sp>
        <p:nvSpPr>
          <p:cNvPr id="93" name="Shape 90"/>
          <p:cNvSpPr/>
          <p:nvPr/>
        </p:nvSpPr>
        <p:spPr>
          <a:xfrm>
            <a:off x="8961120" y="6400800"/>
            <a:ext cx="1572768" cy="45720"/>
          </a:xfrm>
          <a:prstGeom prst="rect">
            <a:avLst/>
          </a:prstGeom>
          <a:solidFill>
            <a:srgbClr val="DCD8D1"/>
          </a:solidFill>
          <a:ln/>
        </p:spPr>
      </p:sp>
      <p:sp>
        <p:nvSpPr>
          <p:cNvPr id="94" name="Text 91"/>
          <p:cNvSpPr/>
          <p:nvPr/>
        </p:nvSpPr>
        <p:spPr>
          <a:xfrm>
            <a:off x="8961120"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VI · Reproduksi &amp; produk</a:t>
            </a:r>
            <a:endParaRPr lang="en-US" sz="850" dirty="0"/>
          </a:p>
        </p:txBody>
      </p:sp>
      <p:sp>
        <p:nvSpPr>
          <p:cNvPr id="95" name="Text 92"/>
          <p:cNvSpPr/>
          <p:nvPr/>
        </p:nvSpPr>
        <p:spPr>
          <a:xfrm>
            <a:off x="10637215" y="6382512"/>
            <a:ext cx="914400" cy="274320"/>
          </a:xfrm>
          <a:prstGeom prst="rect">
            <a:avLst/>
          </a:prstGeom>
          <a:noFill/>
          <a:ln/>
        </p:spPr>
        <p:txBody>
          <a:bodyPr wrap="square" lIns="0" tIns="0" rIns="0" bIns="0" rtlCol="0" anchor="ctr"/>
          <a:lstStyle/>
          <a:p>
            <a:pPr algn="r" indent="0" marL="0">
              <a:buNone/>
            </a:pPr>
            <a:r>
              <a:rPr lang="en-US" sz="900" b="1" dirty="0">
                <a:solidFill>
                  <a:srgbClr val="9AA0A7"/>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84048"/>
            <a:ext cx="10911535" cy="530352"/>
          </a:xfrm>
          <a:prstGeom prst="rect">
            <a:avLst/>
          </a:prstGeom>
          <a:noFill/>
          <a:ln/>
        </p:spPr>
        <p:txBody>
          <a:bodyPr wrap="square" lIns="0" tIns="0" rIns="0" bIns="0" rtlCol="0" anchor="t"/>
          <a:lstStyle/>
          <a:p>
            <a:pPr indent="0" marL="0">
              <a:buNone/>
            </a:pPr>
            <a:r>
              <a:rPr lang="en-US" sz="2400" b="1" dirty="0">
                <a:solidFill>
                  <a:srgbClr val="16191D"/>
                </a:solidFill>
                <a:latin typeface="Cambria" pitchFamily="34" charset="0"/>
                <a:ea typeface="Cambria" pitchFamily="34" charset="-122"/>
                <a:cs typeface="Cambria" pitchFamily="34" charset="-120"/>
              </a:rPr>
              <a:t>Enam keluarga algoritma, dipilih berbeda, mendarat di titik yang sama.</a:t>
            </a:r>
            <a:endParaRPr lang="en-US" sz="2400" dirty="0"/>
          </a:p>
        </p:txBody>
      </p:sp>
      <p:sp>
        <p:nvSpPr>
          <p:cNvPr id="3" name="Text 1"/>
          <p:cNvSpPr/>
          <p:nvPr/>
        </p:nvSpPr>
        <p:spPr>
          <a:xfrm>
            <a:off x="640080" y="896112"/>
            <a:ext cx="10911535" cy="310896"/>
          </a:xfrm>
          <a:prstGeom prst="rect">
            <a:avLst/>
          </a:prstGeom>
          <a:noFill/>
          <a:ln/>
        </p:spPr>
        <p:txBody>
          <a:bodyPr wrap="square" lIns="0" tIns="0" rIns="0" bIns="0" rtlCol="0" anchor="t"/>
          <a:lstStyle/>
          <a:p>
            <a:pPr indent="0" marL="0">
              <a:buNone/>
            </a:pPr>
            <a:r>
              <a:rPr lang="en-US" sz="1250" dirty="0">
                <a:solidFill>
                  <a:srgbClr val="6E747C"/>
                </a:solidFill>
                <a:latin typeface="Calibri" pitchFamily="34" charset="0"/>
                <a:ea typeface="Calibri" pitchFamily="34" charset="-122"/>
                <a:cs typeface="Calibri" pitchFamily="34" charset="-120"/>
              </a:rPr>
              <a:t>Spesifikasi, landasan literatur, dan QWK out-of-fold masing-masing, dengan fold yang identik.</a:t>
            </a:r>
            <a:endParaRPr lang="en-US" sz="125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640080" y="1371600"/>
          <a:ext cx="10911535" cy="914400"/>
        </p:xfrm>
        <a:graphic>
          <a:graphicData uri="http://schemas.openxmlformats.org/drawingml/2006/table">
            <a:tbl>
              <a:tblPr/>
              <a:tblGrid>
                <a:gridCol w="640080"/>
                <a:gridCol w="1783080"/>
                <a:gridCol w="1737360"/>
                <a:gridCol w="2468880"/>
                <a:gridCol w="2011680"/>
                <a:gridCol w="1097280"/>
                <a:gridCol w="1170432"/>
              </a:tblGrid>
              <a:tr h="365760">
                <a:tc>
                  <a:txBody>
                    <a:bodyPr/>
                    <a:lstStyle/>
                    <a:p>
                      <a:pPr algn="l" indent="0" marL="0">
                        <a:buNone/>
                      </a:pPr>
                      <a:r>
                        <a:rPr lang="en-US" sz="1050" b="1" dirty="0">
                          <a:solidFill>
                            <a:srgbClr val="16191D"/>
                          </a:solidFill>
                          <a:latin typeface="Calibri" pitchFamily="34" charset="0"/>
                          <a:ea typeface="Calibri" pitchFamily="34" charset="-122"/>
                          <a:cs typeface="Calibri" pitchFamily="34" charset="-120"/>
                        </a:rPr>
                        <a:t>Model</a:t>
                      </a:r>
                      <a:endParaRPr lang="en-US" sz="1050" dirty="0">
                        <a:latin typeface="Calibri" charset="0"/>
                        <a:ea typeface="Calibri" charset="0"/>
                        <a:cs typeface="Calibri" charset="0"/>
                      </a:endParaRPr>
                    </a:p>
                  </a:txBody>
                  <a:tcPr marL="25400" marR="101600" marT="63500" marB="63500" anchor="ctr">
                    <a:lnL w="0" cap="flat" cmpd="sng" algn="ctr">
                      <a:noFill/>
                    </a:lnL>
                    <a:lnR w="0" cap="flat" cmpd="sng" algn="ctr">
                      <a:noFill/>
                    </a:lnR>
                    <a:lnT w="17780" cap="flat" cmpd="sng" algn="ctr">
                      <a:solidFill>
                        <a:srgbClr val="16191D"/>
                      </a:solidFill>
                      <a:prstDash val="solid"/>
                      <a:round/>
                      <a:headEnd type="none" w="med" len="med"/>
                      <a:tailEnd type="none" w="med" len="med"/>
                    </a:lnT>
                    <a:lnB w="10160" cap="flat" cmpd="sng" algn="ctr">
                      <a:solidFill>
                        <a:srgbClr val="16191D"/>
                      </a:solidFill>
                      <a:prstDash val="solid"/>
                      <a:round/>
                      <a:headEnd type="none" w="med" len="med"/>
                      <a:tailEnd type="none" w="med" len="med"/>
                    </a:lnB>
                  </a:tcPr>
                </a:tc>
                <a:tc>
                  <a:txBody>
                    <a:bodyPr/>
                    <a:lstStyle/>
                    <a:p>
                      <a:pPr algn="l" indent="0" marL="0">
                        <a:buNone/>
                      </a:pPr>
                      <a:r>
                        <a:rPr lang="en-US" sz="1050" b="1" dirty="0">
                          <a:solidFill>
                            <a:srgbClr val="16191D"/>
                          </a:solidFill>
                          <a:latin typeface="Calibri" pitchFamily="34" charset="0"/>
                          <a:ea typeface="Calibri" pitchFamily="34" charset="-122"/>
                          <a:cs typeface="Calibri" pitchFamily="34" charset="-120"/>
                        </a:rPr>
                        <a:t>Keluarga</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17780" cap="flat" cmpd="sng" algn="ctr">
                      <a:solidFill>
                        <a:srgbClr val="16191D"/>
                      </a:solidFill>
                      <a:prstDash val="solid"/>
                      <a:round/>
                      <a:headEnd type="none" w="med" len="med"/>
                      <a:tailEnd type="none" w="med" len="med"/>
                    </a:lnT>
                    <a:lnB w="10160" cap="flat" cmpd="sng" algn="ctr">
                      <a:solidFill>
                        <a:srgbClr val="16191D"/>
                      </a:solidFill>
                      <a:prstDash val="solid"/>
                      <a:round/>
                      <a:headEnd type="none" w="med" len="med"/>
                      <a:tailEnd type="none" w="med" len="med"/>
                    </a:lnB>
                  </a:tcPr>
                </a:tc>
                <a:tc>
                  <a:txBody>
                    <a:bodyPr/>
                    <a:lstStyle/>
                    <a:p>
                      <a:pPr algn="l" indent="0" marL="0">
                        <a:buNone/>
                      </a:pPr>
                      <a:r>
                        <a:rPr lang="en-US" sz="1050" b="1" dirty="0">
                          <a:solidFill>
                            <a:srgbClr val="16191D"/>
                          </a:solidFill>
                          <a:latin typeface="Calibri" pitchFamily="34" charset="0"/>
                          <a:ea typeface="Calibri" pitchFamily="34" charset="-122"/>
                          <a:cs typeface="Calibri" pitchFamily="34" charset="-120"/>
                        </a:rPr>
                        <a:t>Sudut pandang</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17780" cap="flat" cmpd="sng" algn="ctr">
                      <a:solidFill>
                        <a:srgbClr val="16191D"/>
                      </a:solidFill>
                      <a:prstDash val="solid"/>
                      <a:round/>
                      <a:headEnd type="none" w="med" len="med"/>
                      <a:tailEnd type="none" w="med" len="med"/>
                    </a:lnT>
                    <a:lnB w="10160" cap="flat" cmpd="sng" algn="ctr">
                      <a:solidFill>
                        <a:srgbClr val="16191D"/>
                      </a:solidFill>
                      <a:prstDash val="solid"/>
                      <a:round/>
                      <a:headEnd type="none" w="med" len="med"/>
                      <a:tailEnd type="none" w="med" len="med"/>
                    </a:lnB>
                  </a:tcPr>
                </a:tc>
                <a:tc>
                  <a:txBody>
                    <a:bodyPr/>
                    <a:lstStyle/>
                    <a:p>
                      <a:pPr algn="l" indent="0" marL="0">
                        <a:buNone/>
                      </a:pPr>
                      <a:r>
                        <a:rPr lang="en-US" sz="1050" b="1" dirty="0">
                          <a:solidFill>
                            <a:srgbClr val="16191D"/>
                          </a:solidFill>
                          <a:latin typeface="Calibri" pitchFamily="34" charset="0"/>
                          <a:ea typeface="Calibri" pitchFamily="34" charset="-122"/>
                          <a:cs typeface="Calibri" pitchFamily="34" charset="-120"/>
                        </a:rPr>
                        <a:t>Konfigurasi inti</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17780" cap="flat" cmpd="sng" algn="ctr">
                      <a:solidFill>
                        <a:srgbClr val="16191D"/>
                      </a:solidFill>
                      <a:prstDash val="solid"/>
                      <a:round/>
                      <a:headEnd type="none" w="med" len="med"/>
                      <a:tailEnd type="none" w="med" len="med"/>
                    </a:lnT>
                    <a:lnB w="10160" cap="flat" cmpd="sng" algn="ctr">
                      <a:solidFill>
                        <a:srgbClr val="16191D"/>
                      </a:solidFill>
                      <a:prstDash val="solid"/>
                      <a:round/>
                      <a:headEnd type="none" w="med" len="med"/>
                      <a:tailEnd type="none" w="med" len="med"/>
                    </a:lnB>
                  </a:tcPr>
                </a:tc>
                <a:tc>
                  <a:txBody>
                    <a:bodyPr/>
                    <a:lstStyle/>
                    <a:p>
                      <a:pPr algn="l" indent="0" marL="0">
                        <a:buNone/>
                      </a:pPr>
                      <a:r>
                        <a:rPr lang="en-US" sz="1050" b="1" dirty="0">
                          <a:solidFill>
                            <a:srgbClr val="16191D"/>
                          </a:solidFill>
                          <a:latin typeface="Calibri" pitchFamily="34" charset="0"/>
                          <a:ea typeface="Calibri" pitchFamily="34" charset="-122"/>
                          <a:cs typeface="Calibri" pitchFamily="34" charset="-120"/>
                        </a:rPr>
                        <a:t>Landasan</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17780" cap="flat" cmpd="sng" algn="ctr">
                      <a:solidFill>
                        <a:srgbClr val="16191D"/>
                      </a:solidFill>
                      <a:prstDash val="solid"/>
                      <a:round/>
                      <a:headEnd type="none" w="med" len="med"/>
                      <a:tailEnd type="none" w="med" len="med"/>
                    </a:lnT>
                    <a:lnB w="10160" cap="flat" cmpd="sng" algn="ctr">
                      <a:solidFill>
                        <a:srgbClr val="16191D"/>
                      </a:solidFill>
                      <a:prstDash val="solid"/>
                      <a:round/>
                      <a:headEnd type="none" w="med" len="med"/>
                      <a:tailEnd type="none" w="med" len="med"/>
                    </a:lnB>
                  </a:tcPr>
                </a:tc>
                <a:tc>
                  <a:txBody>
                    <a:bodyPr/>
                    <a:lstStyle/>
                    <a:p>
                      <a:pPr algn="l" indent="0" marL="0">
                        <a:buNone/>
                      </a:pPr>
                      <a:r>
                        <a:rPr lang="en-US" sz="1050" b="1" dirty="0">
                          <a:solidFill>
                            <a:srgbClr val="16191D"/>
                          </a:solidFill>
                          <a:latin typeface="Calibri" pitchFamily="34" charset="0"/>
                          <a:ea typeface="Calibri" pitchFamily="34" charset="-122"/>
                          <a:cs typeface="Calibri" pitchFamily="34" charset="-120"/>
                        </a:rPr>
                        <a:t>QWK OOF</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17780" cap="flat" cmpd="sng" algn="ctr">
                      <a:solidFill>
                        <a:srgbClr val="16191D"/>
                      </a:solidFill>
                      <a:prstDash val="solid"/>
                      <a:round/>
                      <a:headEnd type="none" w="med" len="med"/>
                      <a:tailEnd type="none" w="med" len="med"/>
                    </a:lnT>
                    <a:lnB w="10160" cap="flat" cmpd="sng" algn="ctr">
                      <a:solidFill>
                        <a:srgbClr val="16191D"/>
                      </a:solidFill>
                      <a:prstDash val="solid"/>
                      <a:round/>
                      <a:headEnd type="none" w="med" len="med"/>
                      <a:tailEnd type="none" w="med" len="med"/>
                    </a:lnB>
                  </a:tcPr>
                </a:tc>
                <a:tc>
                  <a:txBody>
                    <a:bodyPr/>
                    <a:lstStyle/>
                    <a:p>
                      <a:pPr algn="l" indent="0" marL="0">
                        <a:buNone/>
                      </a:pPr>
                      <a:r>
                        <a:rPr lang="en-US" sz="1050" b="1" dirty="0">
                          <a:solidFill>
                            <a:srgbClr val="16191D"/>
                          </a:solidFill>
                          <a:latin typeface="Calibri" pitchFamily="34" charset="0"/>
                          <a:ea typeface="Calibri" pitchFamily="34" charset="-122"/>
                          <a:cs typeface="Calibri" pitchFamily="34" charset="-120"/>
                        </a:rPr>
                        <a:t>Akurasi</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17780" cap="flat" cmpd="sng" algn="ctr">
                      <a:solidFill>
                        <a:srgbClr val="16191D"/>
                      </a:solidFill>
                      <a:prstDash val="solid"/>
                      <a:round/>
                      <a:headEnd type="none" w="med" len="med"/>
                      <a:tailEnd type="none" w="med" len="med"/>
                    </a:lnT>
                    <a:lnB w="10160" cap="flat" cmpd="sng" algn="ctr">
                      <a:solidFill>
                        <a:srgbClr val="16191D"/>
                      </a:solidFill>
                      <a:prstDash val="solid"/>
                      <a:round/>
                      <a:headEnd type="none" w="med" len="med"/>
                      <a:tailEnd type="none" w="med" len="med"/>
                    </a:lnB>
                  </a:tcPr>
                </a:tc>
              </a:tr>
              <a:tr h="365760">
                <a:tc>
                  <a:txBody>
                    <a:bodyPr/>
                    <a:lstStyle/>
                    <a:p>
                      <a:pPr algn="l" indent="0" marL="0">
                        <a:buNone/>
                      </a:pPr>
                      <a:r>
                        <a:rPr lang="en-US" sz="1050" b="1" dirty="0">
                          <a:solidFill>
                            <a:srgbClr val="2F6B5F"/>
                          </a:solidFill>
                          <a:latin typeface="Calibri" pitchFamily="34" charset="0"/>
                          <a:ea typeface="Calibri" pitchFamily="34" charset="-122"/>
                          <a:cs typeface="Calibri" pitchFamily="34" charset="-120"/>
                        </a:rPr>
                        <a:t>ord</a:t>
                      </a:r>
                      <a:endParaRPr lang="en-US" sz="105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1050" dirty="0">
                          <a:solidFill>
                            <a:srgbClr val="3A4048"/>
                          </a:solidFill>
                          <a:latin typeface="Calibri" pitchFamily="34" charset="0"/>
                          <a:ea typeface="Calibri" pitchFamily="34" charset="-122"/>
                          <a:cs typeface="Calibri" pitchFamily="34" charset="-120"/>
                        </a:rPr>
                        <a:t>Dekomposisi kumulatif</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1050" dirty="0">
                          <a:solidFill>
                            <a:srgbClr val="3A4048"/>
                          </a:solidFill>
                          <a:latin typeface="Calibri" pitchFamily="34" charset="0"/>
                          <a:ea typeface="Calibri" pitchFamily="34" charset="-122"/>
                          <a:cs typeface="Calibri" pitchFamily="34" charset="-120"/>
                        </a:rPr>
                        <a:t>Tiga model P(y &gt; k)</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1050" dirty="0">
                          <a:solidFill>
                            <a:srgbClr val="3A4048"/>
                          </a:solidFill>
                          <a:latin typeface="Calibri" pitchFamily="34" charset="0"/>
                          <a:ea typeface="Calibri" pitchFamily="34" charset="-122"/>
                          <a:cs typeface="Calibri" pitchFamily="34" charset="-120"/>
                        </a:rPr>
                        <a:t>3 × 1.200 pohon, lr 0,03</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1050" dirty="0">
                          <a:solidFill>
                            <a:srgbClr val="3A4048"/>
                          </a:solidFill>
                          <a:latin typeface="Calibri" pitchFamily="34" charset="0"/>
                          <a:ea typeface="Calibri" pitchFamily="34" charset="-122"/>
                          <a:cs typeface="Calibri" pitchFamily="34" charset="-120"/>
                        </a:rPr>
                        <a:t>Frank &amp; Hall 2001</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1050" b="1" dirty="0">
                          <a:solidFill>
                            <a:srgbClr val="2F6B5F"/>
                          </a:solidFill>
                          <a:latin typeface="Calibri" pitchFamily="34" charset="0"/>
                          <a:ea typeface="Calibri" pitchFamily="34" charset="-122"/>
                          <a:cs typeface="Calibri" pitchFamily="34" charset="-120"/>
                        </a:rPr>
                        <a:t>0,48114</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1050" dirty="0">
                          <a:solidFill>
                            <a:srgbClr val="3A4048"/>
                          </a:solidFill>
                          <a:latin typeface="Calibri" pitchFamily="34" charset="0"/>
                          <a:ea typeface="Calibri" pitchFamily="34" charset="-122"/>
                          <a:cs typeface="Calibri" pitchFamily="34" charset="-120"/>
                        </a:rPr>
                        <a:t>0,62820</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365760">
                <a:tc>
                  <a:txBody>
                    <a:bodyPr/>
                    <a:lstStyle/>
                    <a:p>
                      <a:pPr algn="l" indent="0" marL="0">
                        <a:buNone/>
                      </a:pPr>
                      <a:r>
                        <a:rPr lang="en-US" sz="1050" b="1" dirty="0">
                          <a:solidFill>
                            <a:srgbClr val="3A4048"/>
                          </a:solidFill>
                          <a:latin typeface="Calibri" pitchFamily="34" charset="0"/>
                          <a:ea typeface="Calibri" pitchFamily="34" charset="-122"/>
                          <a:cs typeface="Calibri" pitchFamily="34" charset="-120"/>
                        </a:rPr>
                        <a:t>xgb</a:t>
                      </a:r>
                      <a:endParaRPr lang="en-US" sz="105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1050" dirty="0">
                          <a:solidFill>
                            <a:srgbClr val="3A4048"/>
                          </a:solidFill>
                          <a:latin typeface="Calibri" pitchFamily="34" charset="0"/>
                          <a:ea typeface="Calibri" pitchFamily="34" charset="-122"/>
                          <a:cs typeface="Calibri" pitchFamily="34" charset="-120"/>
                        </a:rPr>
                        <a:t>Boosting level-wise</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1050" dirty="0">
                          <a:solidFill>
                            <a:srgbClr val="3A4048"/>
                          </a:solidFill>
                          <a:latin typeface="Calibri" pitchFamily="34" charset="0"/>
                          <a:ea typeface="Calibri" pitchFamily="34" charset="-122"/>
                          <a:cs typeface="Calibri" pitchFamily="34" charset="-120"/>
                        </a:rPr>
                        <a:t>Regularisasi berbeda</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1050" dirty="0">
                          <a:solidFill>
                            <a:srgbClr val="3A4048"/>
                          </a:solidFill>
                          <a:latin typeface="Calibri" pitchFamily="34" charset="0"/>
                          <a:ea typeface="Calibri" pitchFamily="34" charset="-122"/>
                          <a:cs typeface="Calibri" pitchFamily="34" charset="-120"/>
                        </a:rPr>
                        <a:t>1.200 pohon, lr 0,04, depth 8</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1050" dirty="0">
                          <a:solidFill>
                            <a:srgbClr val="3A4048"/>
                          </a:solidFill>
                          <a:latin typeface="Calibri" pitchFamily="34" charset="0"/>
                          <a:ea typeface="Calibri" pitchFamily="34" charset="-122"/>
                          <a:cs typeface="Calibri" pitchFamily="34" charset="-120"/>
                        </a:rPr>
                        <a:t>Chen &amp; Guestrin 2016</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1050" dirty="0">
                          <a:solidFill>
                            <a:srgbClr val="3A4048"/>
                          </a:solidFill>
                          <a:latin typeface="Calibri" pitchFamily="34" charset="0"/>
                          <a:ea typeface="Calibri" pitchFamily="34" charset="-122"/>
                          <a:cs typeface="Calibri" pitchFamily="34" charset="-120"/>
                        </a:rPr>
                        <a:t>0,48067</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1050" dirty="0">
                          <a:solidFill>
                            <a:srgbClr val="3A4048"/>
                          </a:solidFill>
                          <a:latin typeface="Calibri" pitchFamily="34" charset="0"/>
                          <a:ea typeface="Calibri" pitchFamily="34" charset="-122"/>
                          <a:cs typeface="Calibri" pitchFamily="34" charset="-120"/>
                        </a:rPr>
                        <a:t>0,62518</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365760">
                <a:tc>
                  <a:txBody>
                    <a:bodyPr/>
                    <a:lstStyle/>
                    <a:p>
                      <a:pPr algn="l" indent="0" marL="0">
                        <a:buNone/>
                      </a:pPr>
                      <a:r>
                        <a:rPr lang="en-US" sz="1050" b="1" dirty="0">
                          <a:solidFill>
                            <a:srgbClr val="3A4048"/>
                          </a:solidFill>
                          <a:latin typeface="Calibri" pitchFamily="34" charset="0"/>
                          <a:ea typeface="Calibri" pitchFamily="34" charset="-122"/>
                          <a:cs typeface="Calibri" pitchFamily="34" charset="-120"/>
                        </a:rPr>
                        <a:t>cat</a:t>
                      </a:r>
                      <a:endParaRPr lang="en-US" sz="105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1050" dirty="0">
                          <a:solidFill>
                            <a:srgbClr val="3A4048"/>
                          </a:solidFill>
                          <a:latin typeface="Calibri" pitchFamily="34" charset="0"/>
                          <a:ea typeface="Calibri" pitchFamily="34" charset="-122"/>
                          <a:cs typeface="Calibri" pitchFamily="34" charset="-120"/>
                        </a:rPr>
                        <a:t>Ordered boosting</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1050" dirty="0">
                          <a:solidFill>
                            <a:srgbClr val="3A4048"/>
                          </a:solidFill>
                          <a:latin typeface="Calibri" pitchFamily="34" charset="0"/>
                          <a:ea typeface="Calibri" pitchFamily="34" charset="-122"/>
                          <a:cs typeface="Calibri" pitchFamily="34" charset="-120"/>
                        </a:rPr>
                        <a:t>Bias prediksi berbeda</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1050" dirty="0">
                          <a:solidFill>
                            <a:srgbClr val="3A4048"/>
                          </a:solidFill>
                          <a:latin typeface="Calibri" pitchFamily="34" charset="0"/>
                          <a:ea typeface="Calibri" pitchFamily="34" charset="-122"/>
                          <a:cs typeface="Calibri" pitchFamily="34" charset="-120"/>
                        </a:rPr>
                        <a:t>1.800 iterasi, lr 0,05, depth 8</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1050" dirty="0">
                          <a:solidFill>
                            <a:srgbClr val="3A4048"/>
                          </a:solidFill>
                          <a:latin typeface="Calibri" pitchFamily="34" charset="0"/>
                          <a:ea typeface="Calibri" pitchFamily="34" charset="-122"/>
                          <a:cs typeface="Calibri" pitchFamily="34" charset="-120"/>
                        </a:rPr>
                        <a:t>Prokhorenkova dkk. 2018</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1050" dirty="0">
                          <a:solidFill>
                            <a:srgbClr val="3A4048"/>
                          </a:solidFill>
                          <a:latin typeface="Calibri" pitchFamily="34" charset="0"/>
                          <a:ea typeface="Calibri" pitchFamily="34" charset="-122"/>
                          <a:cs typeface="Calibri" pitchFamily="34" charset="-120"/>
                        </a:rPr>
                        <a:t>0,47982</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1050" dirty="0">
                          <a:solidFill>
                            <a:srgbClr val="3A4048"/>
                          </a:solidFill>
                          <a:latin typeface="Calibri" pitchFamily="34" charset="0"/>
                          <a:ea typeface="Calibri" pitchFamily="34" charset="-122"/>
                          <a:cs typeface="Calibri" pitchFamily="34" charset="-120"/>
                        </a:rPr>
                        <a:t>0,62364</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365760">
                <a:tc>
                  <a:txBody>
                    <a:bodyPr/>
                    <a:lstStyle/>
                    <a:p>
                      <a:pPr algn="l" indent="0" marL="0">
                        <a:buNone/>
                      </a:pPr>
                      <a:r>
                        <a:rPr lang="en-US" sz="1050" b="1" dirty="0">
                          <a:solidFill>
                            <a:srgbClr val="3A4048"/>
                          </a:solidFill>
                          <a:latin typeface="Calibri" pitchFamily="34" charset="0"/>
                          <a:ea typeface="Calibri" pitchFamily="34" charset="-122"/>
                          <a:cs typeface="Calibri" pitchFamily="34" charset="-120"/>
                        </a:rPr>
                        <a:t>reg</a:t>
                      </a:r>
                      <a:endParaRPr lang="en-US" sz="105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1050" dirty="0">
                          <a:solidFill>
                            <a:srgbClr val="3A4048"/>
                          </a:solidFill>
                          <a:latin typeface="Calibri" pitchFamily="34" charset="0"/>
                          <a:ea typeface="Calibri" pitchFamily="34" charset="-122"/>
                          <a:cs typeface="Calibri" pitchFamily="34" charset="-120"/>
                        </a:rPr>
                        <a:t>Regresi Huber</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1050" dirty="0">
                          <a:solidFill>
                            <a:srgbClr val="3A4048"/>
                          </a:solidFill>
                          <a:latin typeface="Calibri" pitchFamily="34" charset="0"/>
                          <a:ea typeface="Calibri" pitchFamily="34" charset="-122"/>
                          <a:cs typeface="Calibri" pitchFamily="34" charset="-120"/>
                        </a:rPr>
                        <a:t>Target skala kontinu</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1050" dirty="0">
                          <a:solidFill>
                            <a:srgbClr val="3A4048"/>
                          </a:solidFill>
                          <a:latin typeface="Calibri" pitchFamily="34" charset="0"/>
                          <a:ea typeface="Calibri" pitchFamily="34" charset="-122"/>
                          <a:cs typeface="Calibri" pitchFamily="34" charset="-120"/>
                        </a:rPr>
                        <a:t>1.500 pohon, lr 0,03</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1050" dirty="0">
                          <a:solidFill>
                            <a:srgbClr val="3A4048"/>
                          </a:solidFill>
                          <a:latin typeface="Calibri" pitchFamily="34" charset="0"/>
                          <a:ea typeface="Calibri" pitchFamily="34" charset="-122"/>
                          <a:cs typeface="Calibri" pitchFamily="34" charset="-120"/>
                        </a:rPr>
                        <a:t>Huber 1964</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1050" dirty="0">
                          <a:solidFill>
                            <a:srgbClr val="3A4048"/>
                          </a:solidFill>
                          <a:latin typeface="Calibri" pitchFamily="34" charset="0"/>
                          <a:ea typeface="Calibri" pitchFamily="34" charset="-122"/>
                          <a:cs typeface="Calibri" pitchFamily="34" charset="-120"/>
                        </a:rPr>
                        <a:t>0,47918</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1050" dirty="0">
                          <a:solidFill>
                            <a:srgbClr val="3A4048"/>
                          </a:solidFill>
                          <a:latin typeface="Calibri" pitchFamily="34" charset="0"/>
                          <a:ea typeface="Calibri" pitchFamily="34" charset="-122"/>
                          <a:cs typeface="Calibri" pitchFamily="34" charset="-120"/>
                        </a:rPr>
                        <a:t>0,62929</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365760">
                <a:tc>
                  <a:txBody>
                    <a:bodyPr/>
                    <a:lstStyle/>
                    <a:p>
                      <a:pPr algn="l" indent="0" marL="0">
                        <a:buNone/>
                      </a:pPr>
                      <a:r>
                        <a:rPr lang="en-US" sz="1050" b="1" dirty="0">
                          <a:solidFill>
                            <a:srgbClr val="3A4048"/>
                          </a:solidFill>
                          <a:latin typeface="Calibri" pitchFamily="34" charset="0"/>
                          <a:ea typeface="Calibri" pitchFamily="34" charset="-122"/>
                          <a:cs typeface="Calibri" pitchFamily="34" charset="-120"/>
                        </a:rPr>
                        <a:t>lgb</a:t>
                      </a:r>
                      <a:endParaRPr lang="en-US" sz="105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1050" dirty="0">
                          <a:solidFill>
                            <a:srgbClr val="3A4048"/>
                          </a:solidFill>
                          <a:latin typeface="Calibri" pitchFamily="34" charset="0"/>
                          <a:ea typeface="Calibri" pitchFamily="34" charset="-122"/>
                          <a:cs typeface="Calibri" pitchFamily="34" charset="-120"/>
                        </a:rPr>
                        <a:t>Boosting leaf-wise</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1050" dirty="0">
                          <a:solidFill>
                            <a:srgbClr val="3A4048"/>
                          </a:solidFill>
                          <a:latin typeface="Calibri" pitchFamily="34" charset="0"/>
                          <a:ea typeface="Calibri" pitchFamily="34" charset="-122"/>
                          <a:cs typeface="Calibri" pitchFamily="34" charset="-120"/>
                        </a:rPr>
                        <a:t>Klasifikasi 4 kelas</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1050" dirty="0">
                          <a:solidFill>
                            <a:srgbClr val="3A4048"/>
                          </a:solidFill>
                          <a:latin typeface="Calibri" pitchFamily="34" charset="0"/>
                          <a:ea typeface="Calibri" pitchFamily="34" charset="-122"/>
                          <a:cs typeface="Calibri" pitchFamily="34" charset="-120"/>
                        </a:rPr>
                        <a:t>1.500 pohon, lr 0,028, 127 daun</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1050" dirty="0">
                          <a:solidFill>
                            <a:srgbClr val="3A4048"/>
                          </a:solidFill>
                          <a:latin typeface="Calibri" pitchFamily="34" charset="0"/>
                          <a:ea typeface="Calibri" pitchFamily="34" charset="-122"/>
                          <a:cs typeface="Calibri" pitchFamily="34" charset="-120"/>
                        </a:rPr>
                        <a:t>Ke dkk. 2017</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1050" dirty="0">
                          <a:solidFill>
                            <a:srgbClr val="3A4048"/>
                          </a:solidFill>
                          <a:latin typeface="Calibri" pitchFamily="34" charset="0"/>
                          <a:ea typeface="Calibri" pitchFamily="34" charset="-122"/>
                          <a:cs typeface="Calibri" pitchFamily="34" charset="-120"/>
                        </a:rPr>
                        <a:t>0,47847</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1050" dirty="0">
                          <a:solidFill>
                            <a:srgbClr val="3A4048"/>
                          </a:solidFill>
                          <a:latin typeface="Calibri" pitchFamily="34" charset="0"/>
                          <a:ea typeface="Calibri" pitchFamily="34" charset="-122"/>
                          <a:cs typeface="Calibri" pitchFamily="34" charset="-120"/>
                        </a:rPr>
                        <a:t>0,63121</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365760">
                <a:tc>
                  <a:txBody>
                    <a:bodyPr/>
                    <a:lstStyle/>
                    <a:p>
                      <a:pPr algn="l" indent="0" marL="0">
                        <a:buNone/>
                      </a:pPr>
                      <a:r>
                        <a:rPr lang="en-US" sz="1050" b="1" dirty="0">
                          <a:solidFill>
                            <a:srgbClr val="D8A25E"/>
                          </a:solidFill>
                          <a:latin typeface="Calibri" pitchFamily="34" charset="0"/>
                          <a:ea typeface="Calibri" pitchFamily="34" charset="-122"/>
                          <a:cs typeface="Calibri" pitchFamily="34" charset="-120"/>
                        </a:rPr>
                        <a:t>mlp</a:t>
                      </a:r>
                      <a:endParaRPr lang="en-US" sz="105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17780" cap="flat" cmpd="sng" algn="ctr">
                      <a:solidFill>
                        <a:srgbClr val="16191D"/>
                      </a:solidFill>
                      <a:prstDash val="solid"/>
                      <a:round/>
                      <a:headEnd type="none" w="med" len="med"/>
                      <a:tailEnd type="none" w="med" len="med"/>
                    </a:lnB>
                  </a:tcPr>
                </a:tc>
                <a:tc>
                  <a:txBody>
                    <a:bodyPr/>
                    <a:lstStyle/>
                    <a:p>
                      <a:pPr algn="l" indent="0" marL="0">
                        <a:buNone/>
                      </a:pPr>
                      <a:r>
                        <a:rPr lang="en-US" sz="1050" dirty="0">
                          <a:solidFill>
                            <a:srgbClr val="3A4048"/>
                          </a:solidFill>
                          <a:latin typeface="Calibri" pitchFamily="34" charset="0"/>
                          <a:ea typeface="Calibri" pitchFamily="34" charset="-122"/>
                          <a:cs typeface="Calibri" pitchFamily="34" charset="-120"/>
                        </a:rPr>
                        <a:t>Jaringan saraf</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17780" cap="flat" cmpd="sng" algn="ctr">
                      <a:solidFill>
                        <a:srgbClr val="16191D"/>
                      </a:solidFill>
                      <a:prstDash val="solid"/>
                      <a:round/>
                      <a:headEnd type="none" w="med" len="med"/>
                      <a:tailEnd type="none" w="med" len="med"/>
                    </a:lnB>
                  </a:tcPr>
                </a:tc>
                <a:tc>
                  <a:txBody>
                    <a:bodyPr/>
                    <a:lstStyle/>
                    <a:p>
                      <a:pPr algn="l" indent="0" marL="0">
                        <a:buNone/>
                      </a:pPr>
                      <a:r>
                        <a:rPr lang="en-US" sz="1050" dirty="0">
                          <a:solidFill>
                            <a:srgbClr val="3A4048"/>
                          </a:solidFill>
                          <a:latin typeface="Calibri" pitchFamily="34" charset="0"/>
                          <a:ea typeface="Calibri" pitchFamily="34" charset="-122"/>
                          <a:cs typeface="Calibri" pitchFamily="34" charset="-120"/>
                        </a:rPr>
                        <a:t>Batas keputusan mulus</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17780" cap="flat" cmpd="sng" algn="ctr">
                      <a:solidFill>
                        <a:srgbClr val="16191D"/>
                      </a:solidFill>
                      <a:prstDash val="solid"/>
                      <a:round/>
                      <a:headEnd type="none" w="med" len="med"/>
                      <a:tailEnd type="none" w="med" len="med"/>
                    </a:lnB>
                  </a:tcPr>
                </a:tc>
                <a:tc>
                  <a:txBody>
                    <a:bodyPr/>
                    <a:lstStyle/>
                    <a:p>
                      <a:pPr algn="l" indent="0" marL="0">
                        <a:buNone/>
                      </a:pPr>
                      <a:r>
                        <a:rPr lang="en-US" sz="1050" dirty="0">
                          <a:solidFill>
                            <a:srgbClr val="3A4048"/>
                          </a:solidFill>
                          <a:latin typeface="Calibri" pitchFamily="34" charset="0"/>
                          <a:ea typeface="Calibri" pitchFamily="34" charset="-122"/>
                          <a:cs typeface="Calibri" pitchFamily="34" charset="-120"/>
                        </a:rPr>
                        <a:t>Input ternormalisasi kuantil</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17780" cap="flat" cmpd="sng" algn="ctr">
                      <a:solidFill>
                        <a:srgbClr val="16191D"/>
                      </a:solidFill>
                      <a:prstDash val="solid"/>
                      <a:round/>
                      <a:headEnd type="none" w="med" len="med"/>
                      <a:tailEnd type="none" w="med" len="med"/>
                    </a:lnB>
                  </a:tcPr>
                </a:tc>
                <a:tc>
                  <a:txBody>
                    <a:bodyPr/>
                    <a:lstStyle/>
                    <a:p>
                      <a:pPr algn="l" indent="0" marL="0">
                        <a:buNone/>
                      </a:pPr>
                      <a:r>
                        <a:rPr lang="en-US" sz="1050" dirty="0">
                          <a:solidFill>
                            <a:srgbClr val="3A4048"/>
                          </a:solidFill>
                          <a:latin typeface="Calibri" pitchFamily="34" charset="0"/>
                          <a:ea typeface="Calibri" pitchFamily="34" charset="-122"/>
                          <a:cs typeface="Calibri" pitchFamily="34" charset="-120"/>
                        </a:rPr>
                        <a:t>MLP scikit-learn</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17780" cap="flat" cmpd="sng" algn="ctr">
                      <a:solidFill>
                        <a:srgbClr val="16191D"/>
                      </a:solidFill>
                      <a:prstDash val="solid"/>
                      <a:round/>
                      <a:headEnd type="none" w="med" len="med"/>
                      <a:tailEnd type="none" w="med" len="med"/>
                    </a:lnB>
                  </a:tcPr>
                </a:tc>
                <a:tc>
                  <a:txBody>
                    <a:bodyPr/>
                    <a:lstStyle/>
                    <a:p>
                      <a:pPr algn="l" indent="0" marL="0">
                        <a:buNone/>
                      </a:pPr>
                      <a:r>
                        <a:rPr lang="en-US" sz="1050" dirty="0">
                          <a:solidFill>
                            <a:srgbClr val="D8A25E"/>
                          </a:solidFill>
                          <a:latin typeface="Calibri" pitchFamily="34" charset="0"/>
                          <a:ea typeface="Calibri" pitchFamily="34" charset="-122"/>
                          <a:cs typeface="Calibri" pitchFamily="34" charset="-120"/>
                        </a:rPr>
                        <a:t>0,44466</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17780" cap="flat" cmpd="sng" algn="ctr">
                      <a:solidFill>
                        <a:srgbClr val="16191D"/>
                      </a:solidFill>
                      <a:prstDash val="solid"/>
                      <a:round/>
                      <a:headEnd type="none" w="med" len="med"/>
                      <a:tailEnd type="none" w="med" len="med"/>
                    </a:lnB>
                  </a:tcPr>
                </a:tc>
                <a:tc>
                  <a:txBody>
                    <a:bodyPr/>
                    <a:lstStyle/>
                    <a:p>
                      <a:pPr algn="l" indent="0" marL="0">
                        <a:buNone/>
                      </a:pPr>
                      <a:r>
                        <a:rPr lang="en-US" sz="1050" dirty="0">
                          <a:solidFill>
                            <a:srgbClr val="3A4048"/>
                          </a:solidFill>
                          <a:latin typeface="Calibri" pitchFamily="34" charset="0"/>
                          <a:ea typeface="Calibri" pitchFamily="34" charset="-122"/>
                          <a:cs typeface="Calibri" pitchFamily="34" charset="-120"/>
                        </a:rPr>
                        <a:t>0,59741</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17780" cap="flat" cmpd="sng" algn="ctr">
                      <a:solidFill>
                        <a:srgbClr val="16191D"/>
                      </a:solidFill>
                      <a:prstDash val="solid"/>
                      <a:round/>
                      <a:headEnd type="none" w="med" len="med"/>
                      <a:tailEnd type="none" w="med" len="med"/>
                    </a:lnB>
                  </a:tcPr>
                </a:tc>
              </a:tr>
            </a:tbl>
          </a:graphicData>
        </a:graphic>
      </p:graphicFrame>
      <p:sp>
        <p:nvSpPr>
          <p:cNvPr id="5" name="Shape 2"/>
          <p:cNvSpPr/>
          <p:nvPr/>
        </p:nvSpPr>
        <p:spPr>
          <a:xfrm>
            <a:off x="640080" y="4160520"/>
            <a:ext cx="2556434" cy="1097280"/>
          </a:xfrm>
          <a:prstGeom prst="roundRect">
            <a:avLst>
              <a:gd name="adj" fmla="val 5000"/>
            </a:avLst>
          </a:prstGeom>
          <a:solidFill>
            <a:srgbClr val="F4F1EC"/>
          </a:solidFill>
          <a:ln w="9525">
            <a:solidFill>
              <a:srgbClr val="DCD8D1"/>
            </a:solidFill>
            <a:prstDash val="solid"/>
          </a:ln>
        </p:spPr>
      </p:sp>
      <p:sp>
        <p:nvSpPr>
          <p:cNvPr id="6" name="Text 3"/>
          <p:cNvSpPr/>
          <p:nvPr/>
        </p:nvSpPr>
        <p:spPr>
          <a:xfrm>
            <a:off x="841248" y="4270248"/>
            <a:ext cx="2154098" cy="438912"/>
          </a:xfrm>
          <a:prstGeom prst="rect">
            <a:avLst/>
          </a:prstGeom>
          <a:noFill/>
          <a:ln/>
        </p:spPr>
        <p:txBody>
          <a:bodyPr wrap="square" lIns="0" tIns="0" rIns="0" bIns="0" rtlCol="0" anchor="b"/>
          <a:lstStyle/>
          <a:p>
            <a:pPr algn="l" indent="0" marL="0">
              <a:buNone/>
            </a:pPr>
            <a:r>
              <a:rPr lang="en-US" sz="2200" b="1" dirty="0">
                <a:solidFill>
                  <a:srgbClr val="16191D"/>
                </a:solidFill>
                <a:latin typeface="Cambria" pitchFamily="34" charset="0"/>
                <a:ea typeface="Cambria" pitchFamily="34" charset="-122"/>
                <a:cs typeface="Cambria" pitchFamily="34" charset="-120"/>
              </a:rPr>
              <a:t>0,00267</a:t>
            </a:r>
            <a:endParaRPr lang="en-US" sz="2200" dirty="0"/>
          </a:p>
        </p:txBody>
      </p:sp>
      <p:sp>
        <p:nvSpPr>
          <p:cNvPr id="7" name="Text 4"/>
          <p:cNvSpPr/>
          <p:nvPr/>
        </p:nvSpPr>
        <p:spPr>
          <a:xfrm>
            <a:off x="841248" y="4745736"/>
            <a:ext cx="2154098" cy="420624"/>
          </a:xfrm>
          <a:prstGeom prst="rect">
            <a:avLst/>
          </a:prstGeom>
          <a:noFill/>
          <a:ln/>
        </p:spPr>
        <p:txBody>
          <a:bodyPr wrap="square" lIns="0" tIns="0" rIns="0" bIns="0" rtlCol="0" anchor="t"/>
          <a:lstStyle/>
          <a:p>
            <a:pPr algn="l" indent="0" marL="0">
              <a:lnSpc>
                <a:spcPts val="1300"/>
              </a:lnSpc>
              <a:buNone/>
            </a:pPr>
            <a:r>
              <a:rPr lang="en-US" sz="950" dirty="0">
                <a:solidFill>
                  <a:srgbClr val="6E747C"/>
                </a:solidFill>
                <a:latin typeface="Calibri" pitchFamily="34" charset="0"/>
                <a:ea typeface="Calibri" pitchFamily="34" charset="-122"/>
                <a:cs typeface="Calibri" pitchFamily="34" charset="-120"/>
              </a:rPr>
              <a:t>rentang QWK kelima model pohon</a:t>
            </a:r>
            <a:endParaRPr lang="en-US" sz="950" dirty="0"/>
          </a:p>
        </p:txBody>
      </p:sp>
      <p:sp>
        <p:nvSpPr>
          <p:cNvPr id="8" name="Shape 5"/>
          <p:cNvSpPr/>
          <p:nvPr/>
        </p:nvSpPr>
        <p:spPr>
          <a:xfrm>
            <a:off x="3425114" y="4160520"/>
            <a:ext cx="2556434" cy="1097280"/>
          </a:xfrm>
          <a:prstGeom prst="roundRect">
            <a:avLst>
              <a:gd name="adj" fmla="val 5000"/>
            </a:avLst>
          </a:prstGeom>
          <a:solidFill>
            <a:srgbClr val="F4F1EC"/>
          </a:solidFill>
          <a:ln w="9525">
            <a:solidFill>
              <a:srgbClr val="DCD8D1"/>
            </a:solidFill>
            <a:prstDash val="solid"/>
          </a:ln>
        </p:spPr>
      </p:sp>
      <p:sp>
        <p:nvSpPr>
          <p:cNvPr id="9" name="Text 6"/>
          <p:cNvSpPr/>
          <p:nvPr/>
        </p:nvSpPr>
        <p:spPr>
          <a:xfrm>
            <a:off x="3626282" y="4270248"/>
            <a:ext cx="2154098" cy="438912"/>
          </a:xfrm>
          <a:prstGeom prst="rect">
            <a:avLst/>
          </a:prstGeom>
          <a:noFill/>
          <a:ln/>
        </p:spPr>
        <p:txBody>
          <a:bodyPr wrap="square" lIns="0" tIns="0" rIns="0" bIns="0" rtlCol="0" anchor="b"/>
          <a:lstStyle/>
          <a:p>
            <a:pPr algn="l" indent="0" marL="0">
              <a:buNone/>
            </a:pPr>
            <a:r>
              <a:rPr lang="en-US" sz="2200" b="1" dirty="0">
                <a:solidFill>
                  <a:srgbClr val="16191D"/>
                </a:solidFill>
                <a:latin typeface="Cambria" pitchFamily="34" charset="0"/>
                <a:ea typeface="Cambria" pitchFamily="34" charset="-122"/>
                <a:cs typeface="Cambria" pitchFamily="34" charset="-120"/>
              </a:rPr>
              <a:t>0,974</a:t>
            </a:r>
            <a:endParaRPr lang="en-US" sz="2200" dirty="0"/>
          </a:p>
        </p:txBody>
      </p:sp>
      <p:sp>
        <p:nvSpPr>
          <p:cNvPr id="10" name="Text 7"/>
          <p:cNvSpPr/>
          <p:nvPr/>
        </p:nvSpPr>
        <p:spPr>
          <a:xfrm>
            <a:off x="3626282" y="4745736"/>
            <a:ext cx="2154098" cy="420624"/>
          </a:xfrm>
          <a:prstGeom prst="rect">
            <a:avLst/>
          </a:prstGeom>
          <a:noFill/>
          <a:ln/>
        </p:spPr>
        <p:txBody>
          <a:bodyPr wrap="square" lIns="0" tIns="0" rIns="0" bIns="0" rtlCol="0" anchor="t"/>
          <a:lstStyle/>
          <a:p>
            <a:pPr algn="l" indent="0" marL="0">
              <a:lnSpc>
                <a:spcPts val="1300"/>
              </a:lnSpc>
              <a:buNone/>
            </a:pPr>
            <a:r>
              <a:rPr lang="en-US" sz="950" dirty="0">
                <a:solidFill>
                  <a:srgbClr val="6E747C"/>
                </a:solidFill>
                <a:latin typeface="Calibri" pitchFamily="34" charset="0"/>
                <a:ea typeface="Calibri" pitchFamily="34" charset="-122"/>
                <a:cs typeface="Calibri" pitchFamily="34" charset="-120"/>
              </a:rPr>
              <a:t>korelasi rata-rata prediksi antar model pohon</a:t>
            </a:r>
            <a:endParaRPr lang="en-US" sz="950" dirty="0"/>
          </a:p>
        </p:txBody>
      </p:sp>
      <p:sp>
        <p:nvSpPr>
          <p:cNvPr id="11" name="Shape 8"/>
          <p:cNvSpPr/>
          <p:nvPr/>
        </p:nvSpPr>
        <p:spPr>
          <a:xfrm>
            <a:off x="6210148" y="4160520"/>
            <a:ext cx="2556434" cy="1097280"/>
          </a:xfrm>
          <a:prstGeom prst="roundRect">
            <a:avLst>
              <a:gd name="adj" fmla="val 5000"/>
            </a:avLst>
          </a:prstGeom>
          <a:solidFill>
            <a:srgbClr val="F4F1EC"/>
          </a:solidFill>
          <a:ln w="9525">
            <a:solidFill>
              <a:srgbClr val="DCD8D1"/>
            </a:solidFill>
            <a:prstDash val="solid"/>
          </a:ln>
        </p:spPr>
      </p:sp>
      <p:sp>
        <p:nvSpPr>
          <p:cNvPr id="12" name="Text 9"/>
          <p:cNvSpPr/>
          <p:nvPr/>
        </p:nvSpPr>
        <p:spPr>
          <a:xfrm>
            <a:off x="6411316" y="4270248"/>
            <a:ext cx="2154098" cy="438912"/>
          </a:xfrm>
          <a:prstGeom prst="rect">
            <a:avLst/>
          </a:prstGeom>
          <a:noFill/>
          <a:ln/>
        </p:spPr>
        <p:txBody>
          <a:bodyPr wrap="square" lIns="0" tIns="0" rIns="0" bIns="0" rtlCol="0" anchor="b"/>
          <a:lstStyle/>
          <a:p>
            <a:pPr algn="l" indent="0" marL="0">
              <a:buNone/>
            </a:pPr>
            <a:r>
              <a:rPr lang="en-US" sz="2200" b="1" dirty="0">
                <a:solidFill>
                  <a:srgbClr val="16191D"/>
                </a:solidFill>
                <a:latin typeface="Cambria" pitchFamily="34" charset="0"/>
                <a:ea typeface="Cambria" pitchFamily="34" charset="-122"/>
                <a:cs typeface="Cambria" pitchFamily="34" charset="-120"/>
              </a:rPr>
              <a:t>52,2 menit</a:t>
            </a:r>
            <a:endParaRPr lang="en-US" sz="2200" dirty="0"/>
          </a:p>
        </p:txBody>
      </p:sp>
      <p:sp>
        <p:nvSpPr>
          <p:cNvPr id="13" name="Text 10"/>
          <p:cNvSpPr/>
          <p:nvPr/>
        </p:nvSpPr>
        <p:spPr>
          <a:xfrm>
            <a:off x="6411316" y="4745736"/>
            <a:ext cx="2154098" cy="420624"/>
          </a:xfrm>
          <a:prstGeom prst="rect">
            <a:avLst/>
          </a:prstGeom>
          <a:noFill/>
          <a:ln/>
        </p:spPr>
        <p:txBody>
          <a:bodyPr wrap="square" lIns="0" tIns="0" rIns="0" bIns="0" rtlCol="0" anchor="t"/>
          <a:lstStyle/>
          <a:p>
            <a:pPr algn="l" indent="0" marL="0">
              <a:lnSpc>
                <a:spcPts val="1300"/>
              </a:lnSpc>
              <a:buNone/>
            </a:pPr>
            <a:r>
              <a:rPr lang="en-US" sz="950" dirty="0">
                <a:solidFill>
                  <a:srgbClr val="6E747C"/>
                </a:solidFill>
                <a:latin typeface="Calibri" pitchFamily="34" charset="0"/>
                <a:ea typeface="Calibri" pitchFamily="34" charset="-122"/>
                <a:cs typeface="Calibri" pitchFamily="34" charset="-120"/>
              </a:rPr>
              <a:t>melatih 6 model × 5 fold, CPU 12 core</a:t>
            </a:r>
            <a:endParaRPr lang="en-US" sz="950" dirty="0"/>
          </a:p>
        </p:txBody>
      </p:sp>
      <p:sp>
        <p:nvSpPr>
          <p:cNvPr id="14" name="Shape 11"/>
          <p:cNvSpPr/>
          <p:nvPr/>
        </p:nvSpPr>
        <p:spPr>
          <a:xfrm>
            <a:off x="8995181" y="4160520"/>
            <a:ext cx="2556434" cy="1097280"/>
          </a:xfrm>
          <a:prstGeom prst="roundRect">
            <a:avLst>
              <a:gd name="adj" fmla="val 5000"/>
            </a:avLst>
          </a:prstGeom>
          <a:solidFill>
            <a:srgbClr val="16191D"/>
          </a:solidFill>
          <a:ln w="9525">
            <a:solidFill>
              <a:srgbClr val="16191D"/>
            </a:solidFill>
            <a:prstDash val="solid"/>
          </a:ln>
        </p:spPr>
      </p:sp>
      <p:sp>
        <p:nvSpPr>
          <p:cNvPr id="15" name="Text 12"/>
          <p:cNvSpPr/>
          <p:nvPr/>
        </p:nvSpPr>
        <p:spPr>
          <a:xfrm>
            <a:off x="9196349" y="4160520"/>
            <a:ext cx="2154098" cy="1097280"/>
          </a:xfrm>
          <a:prstGeom prst="rect">
            <a:avLst/>
          </a:prstGeom>
          <a:noFill/>
          <a:ln/>
        </p:spPr>
        <p:txBody>
          <a:bodyPr wrap="square" lIns="0" tIns="0" rIns="0" bIns="0" rtlCol="0" anchor="ctr"/>
          <a:lstStyle/>
          <a:p>
            <a:pPr algn="l" indent="0" marL="0">
              <a:lnSpc>
                <a:spcPts val="1485"/>
              </a:lnSpc>
              <a:buNone/>
            </a:pPr>
            <a:r>
              <a:rPr lang="en-US" sz="1100" i="1" dirty="0">
                <a:solidFill>
                  <a:srgbClr val="FFFFFF"/>
                </a:solidFill>
                <a:latin typeface="Calibri" pitchFamily="34" charset="0"/>
                <a:ea typeface="Calibri" pitchFamily="34" charset="-122"/>
                <a:cs typeface="Calibri" pitchFamily="34" charset="-120"/>
              </a:rPr>
              <a:t>Ketika kelas fungsi berbeda mendarat di titik sama, dindingnya milik data.</a:t>
            </a:r>
            <a:endParaRPr lang="en-US" sz="1100" dirty="0"/>
          </a:p>
        </p:txBody>
      </p:sp>
      <p:sp>
        <p:nvSpPr>
          <p:cNvPr id="16" name="Shape 13"/>
          <p:cNvSpPr/>
          <p:nvPr/>
        </p:nvSpPr>
        <p:spPr>
          <a:xfrm>
            <a:off x="640080" y="5440680"/>
            <a:ext cx="10911535" cy="777240"/>
          </a:xfrm>
          <a:prstGeom prst="roundRect">
            <a:avLst>
              <a:gd name="adj" fmla="val 7059"/>
            </a:avLst>
          </a:prstGeom>
          <a:solidFill>
            <a:srgbClr val="ECE7DF"/>
          </a:solidFill>
          <a:ln w="9525">
            <a:solidFill>
              <a:srgbClr val="DCD8D1"/>
            </a:solidFill>
            <a:prstDash val="solid"/>
          </a:ln>
        </p:spPr>
      </p:sp>
      <p:sp>
        <p:nvSpPr>
          <p:cNvPr id="17" name="Text 14"/>
          <p:cNvSpPr/>
          <p:nvPr/>
        </p:nvSpPr>
        <p:spPr>
          <a:xfrm>
            <a:off x="868680" y="5440680"/>
            <a:ext cx="10454335" cy="777240"/>
          </a:xfrm>
          <a:prstGeom prst="rect">
            <a:avLst/>
          </a:prstGeom>
          <a:noFill/>
          <a:ln/>
        </p:spPr>
        <p:txBody>
          <a:bodyPr wrap="square" lIns="0" tIns="0" rIns="0" bIns="0" rtlCol="0" anchor="ctr"/>
          <a:lstStyle/>
          <a:p>
            <a:pPr algn="l" indent="0" marL="0">
              <a:lnSpc>
                <a:spcPts val="1418"/>
              </a:lnSpc>
              <a:buNone/>
            </a:pPr>
            <a:r>
              <a:rPr lang="en-US" sz="1050" dirty="0">
                <a:solidFill>
                  <a:srgbClr val="3A4048"/>
                </a:solidFill>
                <a:latin typeface="Calibri" pitchFamily="34" charset="0"/>
                <a:ea typeface="Calibri" pitchFamily="34" charset="-122"/>
                <a:cs typeface="Calibri" pitchFamily="34" charset="-120"/>
              </a:rPr>
              <a:t>reg dan ord ada karena temuan monotonisitas EDA. Gradient boosting berakar pada Friedman (2001); seluruh pohon memakai subsample 0,8, colsample 0,4, reg_lambda 10. MLP tertinggal, wajar untuk data tabular berdimensi menengah, sehingga hanya dipakai sebagai pembanding keragaman.</a:t>
            </a:r>
            <a:endParaRPr lang="en-US" sz="1050" dirty="0"/>
          </a:p>
        </p:txBody>
      </p:sp>
      <p:sp>
        <p:nvSpPr>
          <p:cNvPr id="19" name="Shape 15"/>
          <p:cNvSpPr/>
          <p:nvPr/>
        </p:nvSpPr>
        <p:spPr>
          <a:xfrm>
            <a:off x="640080" y="6400800"/>
            <a:ext cx="1572768" cy="45720"/>
          </a:xfrm>
          <a:prstGeom prst="rect">
            <a:avLst/>
          </a:prstGeom>
          <a:solidFill>
            <a:srgbClr val="DCD8D1"/>
          </a:solidFill>
          <a:ln/>
        </p:spPr>
      </p:sp>
      <p:sp>
        <p:nvSpPr>
          <p:cNvPr id="20" name="Text 16"/>
          <p:cNvSpPr/>
          <p:nvPr/>
        </p:nvSpPr>
        <p:spPr>
          <a:xfrm>
            <a:off x="640080"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I · Latar &amp; data</a:t>
            </a:r>
            <a:endParaRPr lang="en-US" sz="850" dirty="0"/>
          </a:p>
        </p:txBody>
      </p:sp>
      <p:sp>
        <p:nvSpPr>
          <p:cNvPr id="21" name="Shape 17"/>
          <p:cNvSpPr/>
          <p:nvPr/>
        </p:nvSpPr>
        <p:spPr>
          <a:xfrm>
            <a:off x="2304288" y="6400800"/>
            <a:ext cx="1572768" cy="45720"/>
          </a:xfrm>
          <a:prstGeom prst="rect">
            <a:avLst/>
          </a:prstGeom>
          <a:solidFill>
            <a:srgbClr val="DCD8D1"/>
          </a:solidFill>
          <a:ln/>
        </p:spPr>
      </p:sp>
      <p:sp>
        <p:nvSpPr>
          <p:cNvPr id="22" name="Text 18"/>
          <p:cNvSpPr/>
          <p:nvPr/>
        </p:nvSpPr>
        <p:spPr>
          <a:xfrm>
            <a:off x="2304288"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II · EDA</a:t>
            </a:r>
            <a:endParaRPr lang="en-US" sz="850" dirty="0"/>
          </a:p>
        </p:txBody>
      </p:sp>
      <p:sp>
        <p:nvSpPr>
          <p:cNvPr id="23" name="Shape 19"/>
          <p:cNvSpPr/>
          <p:nvPr/>
        </p:nvSpPr>
        <p:spPr>
          <a:xfrm>
            <a:off x="3968496" y="6400800"/>
            <a:ext cx="1572768" cy="45720"/>
          </a:xfrm>
          <a:prstGeom prst="rect">
            <a:avLst/>
          </a:prstGeom>
          <a:solidFill>
            <a:srgbClr val="A8442A"/>
          </a:solidFill>
          <a:ln/>
        </p:spPr>
      </p:sp>
      <p:sp>
        <p:nvSpPr>
          <p:cNvPr id="24" name="Text 20"/>
          <p:cNvSpPr/>
          <p:nvPr/>
        </p:nvSpPr>
        <p:spPr>
          <a:xfrm>
            <a:off x="3968496" y="6464808"/>
            <a:ext cx="1572768" cy="201168"/>
          </a:xfrm>
          <a:prstGeom prst="rect">
            <a:avLst/>
          </a:prstGeom>
          <a:noFill/>
          <a:ln/>
        </p:spPr>
        <p:txBody>
          <a:bodyPr wrap="square" lIns="0" tIns="0" rIns="0" bIns="0" rtlCol="0" anchor="ctr"/>
          <a:lstStyle/>
          <a:p>
            <a:pPr indent="0" marL="0">
              <a:buNone/>
            </a:pPr>
            <a:r>
              <a:rPr lang="en-US" sz="850" b="1" dirty="0">
                <a:solidFill>
                  <a:srgbClr val="16191D"/>
                </a:solidFill>
                <a:latin typeface="Calibri" pitchFamily="34" charset="0"/>
                <a:ea typeface="Calibri" pitchFamily="34" charset="-122"/>
                <a:cs typeface="Calibri" pitchFamily="34" charset="-120"/>
              </a:rPr>
              <a:t>III · Pipeline</a:t>
            </a:r>
            <a:endParaRPr lang="en-US" sz="850" dirty="0"/>
          </a:p>
        </p:txBody>
      </p:sp>
      <p:sp>
        <p:nvSpPr>
          <p:cNvPr id="25" name="Shape 21"/>
          <p:cNvSpPr/>
          <p:nvPr/>
        </p:nvSpPr>
        <p:spPr>
          <a:xfrm>
            <a:off x="5632704" y="6400800"/>
            <a:ext cx="1572768" cy="45720"/>
          </a:xfrm>
          <a:prstGeom prst="rect">
            <a:avLst/>
          </a:prstGeom>
          <a:solidFill>
            <a:srgbClr val="DCD8D1"/>
          </a:solidFill>
          <a:ln/>
        </p:spPr>
      </p:sp>
      <p:sp>
        <p:nvSpPr>
          <p:cNvPr id="26" name="Text 22"/>
          <p:cNvSpPr/>
          <p:nvPr/>
        </p:nvSpPr>
        <p:spPr>
          <a:xfrm>
            <a:off x="5632704"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IV · Disiplin estimasi</a:t>
            </a:r>
            <a:endParaRPr lang="en-US" sz="850" dirty="0"/>
          </a:p>
        </p:txBody>
      </p:sp>
      <p:sp>
        <p:nvSpPr>
          <p:cNvPr id="27" name="Shape 23"/>
          <p:cNvSpPr/>
          <p:nvPr/>
        </p:nvSpPr>
        <p:spPr>
          <a:xfrm>
            <a:off x="7296912" y="6400800"/>
            <a:ext cx="1572768" cy="45720"/>
          </a:xfrm>
          <a:prstGeom prst="rect">
            <a:avLst/>
          </a:prstGeom>
          <a:solidFill>
            <a:srgbClr val="DCD8D1"/>
          </a:solidFill>
          <a:ln/>
        </p:spPr>
      </p:sp>
      <p:sp>
        <p:nvSpPr>
          <p:cNvPr id="28" name="Text 24"/>
          <p:cNvSpPr/>
          <p:nvPr/>
        </p:nvSpPr>
        <p:spPr>
          <a:xfrm>
            <a:off x="7296912"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V · Hasil &amp; plafon</a:t>
            </a:r>
            <a:endParaRPr lang="en-US" sz="850" dirty="0"/>
          </a:p>
        </p:txBody>
      </p:sp>
      <p:sp>
        <p:nvSpPr>
          <p:cNvPr id="29" name="Shape 25"/>
          <p:cNvSpPr/>
          <p:nvPr/>
        </p:nvSpPr>
        <p:spPr>
          <a:xfrm>
            <a:off x="8961120" y="6400800"/>
            <a:ext cx="1572768" cy="45720"/>
          </a:xfrm>
          <a:prstGeom prst="rect">
            <a:avLst/>
          </a:prstGeom>
          <a:solidFill>
            <a:srgbClr val="DCD8D1"/>
          </a:solidFill>
          <a:ln/>
        </p:spPr>
      </p:sp>
      <p:sp>
        <p:nvSpPr>
          <p:cNvPr id="30" name="Text 26"/>
          <p:cNvSpPr/>
          <p:nvPr/>
        </p:nvSpPr>
        <p:spPr>
          <a:xfrm>
            <a:off x="8961120"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VI · Reproduksi &amp; produk</a:t>
            </a:r>
            <a:endParaRPr lang="en-US" sz="850" dirty="0"/>
          </a:p>
        </p:txBody>
      </p:sp>
      <p:sp>
        <p:nvSpPr>
          <p:cNvPr id="31" name="Text 27"/>
          <p:cNvSpPr/>
          <p:nvPr/>
        </p:nvSpPr>
        <p:spPr>
          <a:xfrm>
            <a:off x="10637215" y="6382512"/>
            <a:ext cx="914400" cy="274320"/>
          </a:xfrm>
          <a:prstGeom prst="rect">
            <a:avLst/>
          </a:prstGeom>
          <a:noFill/>
          <a:ln/>
        </p:spPr>
        <p:txBody>
          <a:bodyPr wrap="square" lIns="0" tIns="0" rIns="0" bIns="0" rtlCol="0" anchor="ctr"/>
          <a:lstStyle/>
          <a:p>
            <a:pPr algn="r" indent="0" marL="0">
              <a:buNone/>
            </a:pPr>
            <a:r>
              <a:rPr lang="en-US" sz="900" b="1" dirty="0">
                <a:solidFill>
                  <a:srgbClr val="9AA0A7"/>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84048"/>
            <a:ext cx="10911535" cy="530352"/>
          </a:xfrm>
          <a:prstGeom prst="rect">
            <a:avLst/>
          </a:prstGeom>
          <a:noFill/>
          <a:ln/>
        </p:spPr>
        <p:txBody>
          <a:bodyPr wrap="square" lIns="0" tIns="0" rIns="0" bIns="0" rtlCol="0" anchor="t"/>
          <a:lstStyle/>
          <a:p>
            <a:pPr indent="0" marL="0">
              <a:buNone/>
            </a:pPr>
            <a:r>
              <a:rPr lang="en-US" sz="2400" b="1" dirty="0">
                <a:solidFill>
                  <a:srgbClr val="16191D"/>
                </a:solidFill>
                <a:latin typeface="Cambria" pitchFamily="34" charset="0"/>
                <a:ea typeface="Cambria" pitchFamily="34" charset="-122"/>
                <a:cs typeface="Cambria" pitchFamily="34" charset="-120"/>
              </a:rPr>
              <a:t>Kombinasi ditetapkan di muka, ambang dicari dua tahap.</a:t>
            </a:r>
            <a:endParaRPr lang="en-US" sz="2400" dirty="0"/>
          </a:p>
        </p:txBody>
      </p:sp>
      <p:sp>
        <p:nvSpPr>
          <p:cNvPr id="3" name="Text 1"/>
          <p:cNvSpPr/>
          <p:nvPr/>
        </p:nvSpPr>
        <p:spPr>
          <a:xfrm>
            <a:off x="640080" y="896112"/>
            <a:ext cx="10911535" cy="310896"/>
          </a:xfrm>
          <a:prstGeom prst="rect">
            <a:avLst/>
          </a:prstGeom>
          <a:noFill/>
          <a:ln/>
        </p:spPr>
        <p:txBody>
          <a:bodyPr wrap="square" lIns="0" tIns="0" rIns="0" bIns="0" rtlCol="0" anchor="t"/>
          <a:lstStyle/>
          <a:p>
            <a:pPr indent="0" marL="0">
              <a:buNone/>
            </a:pPr>
            <a:r>
              <a:rPr lang="en-US" sz="1250" dirty="0">
                <a:solidFill>
                  <a:srgbClr val="6E747C"/>
                </a:solidFill>
                <a:latin typeface="Calibri" pitchFamily="34" charset="0"/>
                <a:ea typeface="Calibri" pitchFamily="34" charset="-122"/>
                <a:cs typeface="Calibri" pitchFamily="34" charset="-120"/>
              </a:rPr>
              <a:t>Empat kandidat pada matriks probabilitas OOF 95.609 × 24, lalu tiga bilangan yang menjadi keputusan akhir.</a:t>
            </a:r>
            <a:endParaRPr lang="en-US" sz="125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640080" y="1371600"/>
          <a:ext cx="6583680" cy="914400"/>
        </p:xfrm>
        <a:graphic>
          <a:graphicData uri="http://schemas.openxmlformats.org/drawingml/2006/table">
            <a:tbl>
              <a:tblPr/>
              <a:tblGrid>
                <a:gridCol w="2651760"/>
                <a:gridCol w="1051560"/>
                <a:gridCol w="960120"/>
                <a:gridCol w="960120"/>
                <a:gridCol w="960120"/>
              </a:tblGrid>
              <a:tr h="347472">
                <a:tc>
                  <a:txBody>
                    <a:bodyPr/>
                    <a:lstStyle/>
                    <a:p>
                      <a:pPr algn="l" indent="0" marL="0">
                        <a:buNone/>
                      </a:pPr>
                      <a:r>
                        <a:rPr lang="en-US" sz="1050" b="1" dirty="0">
                          <a:solidFill>
                            <a:srgbClr val="16191D"/>
                          </a:solidFill>
                          <a:latin typeface="Calibri" pitchFamily="34" charset="0"/>
                          <a:ea typeface="Calibri" pitchFamily="34" charset="-122"/>
                          <a:cs typeface="Calibri" pitchFamily="34" charset="-120"/>
                        </a:rPr>
                        <a:t>Kandidat kombinasi</a:t>
                      </a:r>
                      <a:endParaRPr lang="en-US" sz="1050" dirty="0">
                        <a:latin typeface="Calibri" charset="0"/>
                        <a:ea typeface="Calibri" charset="0"/>
                        <a:cs typeface="Calibri" charset="0"/>
                      </a:endParaRPr>
                    </a:p>
                  </a:txBody>
                  <a:tcPr marL="25400" marR="101600" marT="63500" marB="63500" anchor="ctr">
                    <a:lnL w="0" cap="flat" cmpd="sng" algn="ctr">
                      <a:noFill/>
                    </a:lnL>
                    <a:lnR w="0" cap="flat" cmpd="sng" algn="ctr">
                      <a:noFill/>
                    </a:lnR>
                    <a:lnT w="17780" cap="flat" cmpd="sng" algn="ctr">
                      <a:solidFill>
                        <a:srgbClr val="16191D"/>
                      </a:solidFill>
                      <a:prstDash val="solid"/>
                      <a:round/>
                      <a:headEnd type="none" w="med" len="med"/>
                      <a:tailEnd type="none" w="med" len="med"/>
                    </a:lnT>
                    <a:lnB w="10160" cap="flat" cmpd="sng" algn="ctr">
                      <a:solidFill>
                        <a:srgbClr val="16191D"/>
                      </a:solidFill>
                      <a:prstDash val="solid"/>
                      <a:round/>
                      <a:headEnd type="none" w="med" len="med"/>
                      <a:tailEnd type="none" w="med" len="med"/>
                    </a:lnB>
                  </a:tcPr>
                </a:tc>
                <a:tc>
                  <a:txBody>
                    <a:bodyPr/>
                    <a:lstStyle/>
                    <a:p>
                      <a:pPr algn="r" indent="0" marL="0">
                        <a:buNone/>
                      </a:pPr>
                      <a:r>
                        <a:rPr lang="en-US" sz="1050" b="1" dirty="0">
                          <a:solidFill>
                            <a:srgbClr val="16191D"/>
                          </a:solidFill>
                          <a:latin typeface="Calibri" pitchFamily="34" charset="0"/>
                          <a:ea typeface="Calibri" pitchFamily="34" charset="-122"/>
                          <a:cs typeface="Calibri" pitchFamily="34" charset="-120"/>
                        </a:rPr>
                        <a:t>QWK OOF</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17780" cap="flat" cmpd="sng" algn="ctr">
                      <a:solidFill>
                        <a:srgbClr val="16191D"/>
                      </a:solidFill>
                      <a:prstDash val="solid"/>
                      <a:round/>
                      <a:headEnd type="none" w="med" len="med"/>
                      <a:tailEnd type="none" w="med" len="med"/>
                    </a:lnT>
                    <a:lnB w="10160" cap="flat" cmpd="sng" algn="ctr">
                      <a:solidFill>
                        <a:srgbClr val="16191D"/>
                      </a:solidFill>
                      <a:prstDash val="solid"/>
                      <a:round/>
                      <a:headEnd type="none" w="med" len="med"/>
                      <a:tailEnd type="none" w="med" len="med"/>
                    </a:lnB>
                  </a:tcPr>
                </a:tc>
                <a:tc>
                  <a:txBody>
                    <a:bodyPr/>
                    <a:lstStyle/>
                    <a:p>
                      <a:pPr algn="r" indent="0" marL="0">
                        <a:buNone/>
                      </a:pPr>
                      <a:r>
                        <a:rPr lang="en-US" sz="1050" b="1" dirty="0">
                          <a:solidFill>
                            <a:srgbClr val="16191D"/>
                          </a:solidFill>
                          <a:latin typeface="Calibri" pitchFamily="34" charset="0"/>
                          <a:ea typeface="Calibri" pitchFamily="34" charset="-122"/>
                          <a:cs typeface="Calibri" pitchFamily="34" charset="-120"/>
                        </a:rPr>
                        <a:t>t₁</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17780" cap="flat" cmpd="sng" algn="ctr">
                      <a:solidFill>
                        <a:srgbClr val="16191D"/>
                      </a:solidFill>
                      <a:prstDash val="solid"/>
                      <a:round/>
                      <a:headEnd type="none" w="med" len="med"/>
                      <a:tailEnd type="none" w="med" len="med"/>
                    </a:lnT>
                    <a:lnB w="10160" cap="flat" cmpd="sng" algn="ctr">
                      <a:solidFill>
                        <a:srgbClr val="16191D"/>
                      </a:solidFill>
                      <a:prstDash val="solid"/>
                      <a:round/>
                      <a:headEnd type="none" w="med" len="med"/>
                      <a:tailEnd type="none" w="med" len="med"/>
                    </a:lnB>
                  </a:tcPr>
                </a:tc>
                <a:tc>
                  <a:txBody>
                    <a:bodyPr/>
                    <a:lstStyle/>
                    <a:p>
                      <a:pPr algn="r" indent="0" marL="0">
                        <a:buNone/>
                      </a:pPr>
                      <a:r>
                        <a:rPr lang="en-US" sz="1050" b="1" dirty="0">
                          <a:solidFill>
                            <a:srgbClr val="16191D"/>
                          </a:solidFill>
                          <a:latin typeface="Calibri" pitchFamily="34" charset="0"/>
                          <a:ea typeface="Calibri" pitchFamily="34" charset="-122"/>
                          <a:cs typeface="Calibri" pitchFamily="34" charset="-120"/>
                        </a:rPr>
                        <a:t>t₂</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17780" cap="flat" cmpd="sng" algn="ctr">
                      <a:solidFill>
                        <a:srgbClr val="16191D"/>
                      </a:solidFill>
                      <a:prstDash val="solid"/>
                      <a:round/>
                      <a:headEnd type="none" w="med" len="med"/>
                      <a:tailEnd type="none" w="med" len="med"/>
                    </a:lnT>
                    <a:lnB w="10160" cap="flat" cmpd="sng" algn="ctr">
                      <a:solidFill>
                        <a:srgbClr val="16191D"/>
                      </a:solidFill>
                      <a:prstDash val="solid"/>
                      <a:round/>
                      <a:headEnd type="none" w="med" len="med"/>
                      <a:tailEnd type="none" w="med" len="med"/>
                    </a:lnB>
                  </a:tcPr>
                </a:tc>
                <a:tc>
                  <a:txBody>
                    <a:bodyPr/>
                    <a:lstStyle/>
                    <a:p>
                      <a:pPr algn="r" indent="0" marL="0">
                        <a:buNone/>
                      </a:pPr>
                      <a:r>
                        <a:rPr lang="en-US" sz="1050" b="1" dirty="0">
                          <a:solidFill>
                            <a:srgbClr val="16191D"/>
                          </a:solidFill>
                          <a:latin typeface="Calibri" pitchFamily="34" charset="0"/>
                          <a:ea typeface="Calibri" pitchFamily="34" charset="-122"/>
                          <a:cs typeface="Calibri" pitchFamily="34" charset="-120"/>
                        </a:rPr>
                        <a:t>t₃</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17780" cap="flat" cmpd="sng" algn="ctr">
                      <a:solidFill>
                        <a:srgbClr val="16191D"/>
                      </a:solidFill>
                      <a:prstDash val="solid"/>
                      <a:round/>
                      <a:headEnd type="none" w="med" len="med"/>
                      <a:tailEnd type="none" w="med" len="med"/>
                    </a:lnT>
                    <a:lnB w="10160" cap="flat" cmpd="sng" algn="ctr">
                      <a:solidFill>
                        <a:srgbClr val="16191D"/>
                      </a:solidFill>
                      <a:prstDash val="solid"/>
                      <a:round/>
                      <a:headEnd type="none" w="med" len="med"/>
                      <a:tailEnd type="none" w="med" len="med"/>
                    </a:lnB>
                  </a:tcPr>
                </a:tc>
              </a:tr>
              <a:tr h="347472">
                <a:tc>
                  <a:txBody>
                    <a:bodyPr/>
                    <a:lstStyle/>
                    <a:p>
                      <a:pPr algn="l" indent="0" marL="0">
                        <a:buNone/>
                      </a:pPr>
                      <a:r>
                        <a:rPr lang="en-US" sz="1050" b="1" dirty="0">
                          <a:solidFill>
                            <a:srgbClr val="2F6B5F"/>
                          </a:solidFill>
                          <a:latin typeface="Calibri" pitchFamily="34" charset="0"/>
                          <a:ea typeface="Calibri" pitchFamily="34" charset="-122"/>
                          <a:cs typeface="Calibri" pitchFamily="34" charset="-120"/>
                        </a:rPr>
                        <a:t>rata-rata lima model pohon</a:t>
                      </a:r>
                      <a:endParaRPr lang="en-US" sz="105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050" b="1" dirty="0">
                          <a:solidFill>
                            <a:srgbClr val="2F6B5F"/>
                          </a:solidFill>
                          <a:latin typeface="Calibri" pitchFamily="34" charset="0"/>
                          <a:ea typeface="Calibri" pitchFamily="34" charset="-122"/>
                          <a:cs typeface="Calibri" pitchFamily="34" charset="-120"/>
                        </a:rPr>
                        <a:t>0,48517</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050" dirty="0">
                          <a:solidFill>
                            <a:srgbClr val="3A4048"/>
                          </a:solidFill>
                          <a:latin typeface="Calibri" pitchFamily="34" charset="0"/>
                          <a:ea typeface="Calibri" pitchFamily="34" charset="-122"/>
                          <a:cs typeface="Calibri" pitchFamily="34" charset="-120"/>
                        </a:rPr>
                        <a:t>1,5543</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050" dirty="0">
                          <a:solidFill>
                            <a:srgbClr val="3A4048"/>
                          </a:solidFill>
                          <a:latin typeface="Calibri" pitchFamily="34" charset="0"/>
                          <a:ea typeface="Calibri" pitchFamily="34" charset="-122"/>
                          <a:cs typeface="Calibri" pitchFamily="34" charset="-120"/>
                        </a:rPr>
                        <a:t>2,0027</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050" dirty="0">
                          <a:solidFill>
                            <a:srgbClr val="3A4048"/>
                          </a:solidFill>
                          <a:latin typeface="Calibri" pitchFamily="34" charset="0"/>
                          <a:ea typeface="Calibri" pitchFamily="34" charset="-122"/>
                          <a:cs typeface="Calibri" pitchFamily="34" charset="-120"/>
                        </a:rPr>
                        <a:t>2,3936</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347472">
                <a:tc>
                  <a:txBody>
                    <a:bodyPr/>
                    <a:lstStyle/>
                    <a:p>
                      <a:pPr algn="l" indent="0" marL="0">
                        <a:buNone/>
                      </a:pPr>
                      <a:r>
                        <a:rPr lang="en-US" sz="1050" dirty="0">
                          <a:solidFill>
                            <a:srgbClr val="3A4048"/>
                          </a:solidFill>
                          <a:latin typeface="Calibri" pitchFamily="34" charset="0"/>
                          <a:ea typeface="Calibri" pitchFamily="34" charset="-122"/>
                          <a:cs typeface="Calibri" pitchFamily="34" charset="-120"/>
                        </a:rPr>
                        <a:t>regresi logistik sebagai meta</a:t>
                      </a:r>
                      <a:endParaRPr lang="en-US" sz="105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050" dirty="0">
                          <a:solidFill>
                            <a:srgbClr val="3A4048"/>
                          </a:solidFill>
                          <a:latin typeface="Calibri" pitchFamily="34" charset="0"/>
                          <a:ea typeface="Calibri" pitchFamily="34" charset="-122"/>
                          <a:cs typeface="Calibri" pitchFamily="34" charset="-120"/>
                        </a:rPr>
                        <a:t>0,48398</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050" dirty="0">
                          <a:solidFill>
                            <a:srgbClr val="3A4048"/>
                          </a:solidFill>
                          <a:latin typeface="Calibri" pitchFamily="34" charset="0"/>
                          <a:ea typeface="Calibri" pitchFamily="34" charset="-122"/>
                          <a:cs typeface="Calibri" pitchFamily="34" charset="-120"/>
                        </a:rPr>
                        <a:t>1,5601</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050" dirty="0">
                          <a:solidFill>
                            <a:srgbClr val="3A4048"/>
                          </a:solidFill>
                          <a:latin typeface="Calibri" pitchFamily="34" charset="0"/>
                          <a:ea typeface="Calibri" pitchFamily="34" charset="-122"/>
                          <a:cs typeface="Calibri" pitchFamily="34" charset="-120"/>
                        </a:rPr>
                        <a:t>2,0033</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050" dirty="0">
                          <a:solidFill>
                            <a:srgbClr val="3A4048"/>
                          </a:solidFill>
                          <a:latin typeface="Calibri" pitchFamily="34" charset="0"/>
                          <a:ea typeface="Calibri" pitchFamily="34" charset="-122"/>
                          <a:cs typeface="Calibri" pitchFamily="34" charset="-120"/>
                        </a:rPr>
                        <a:t>2,5525</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347472">
                <a:tc>
                  <a:txBody>
                    <a:bodyPr/>
                    <a:lstStyle/>
                    <a:p>
                      <a:pPr algn="l" indent="0" marL="0">
                        <a:buNone/>
                      </a:pPr>
                      <a:r>
                        <a:rPr lang="en-US" sz="1050" dirty="0">
                          <a:solidFill>
                            <a:srgbClr val="3A4048"/>
                          </a:solidFill>
                          <a:latin typeface="Calibri" pitchFamily="34" charset="0"/>
                          <a:ea typeface="Calibri" pitchFamily="34" charset="-122"/>
                          <a:cs typeface="Calibri" pitchFamily="34" charset="-120"/>
                        </a:rPr>
                        <a:t>rata-rata keenam model</a:t>
                      </a:r>
                      <a:endParaRPr lang="en-US" sz="105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050" dirty="0">
                          <a:solidFill>
                            <a:srgbClr val="3A4048"/>
                          </a:solidFill>
                          <a:latin typeface="Calibri" pitchFamily="34" charset="0"/>
                          <a:ea typeface="Calibri" pitchFamily="34" charset="-122"/>
                          <a:cs typeface="Calibri" pitchFamily="34" charset="-120"/>
                        </a:rPr>
                        <a:t>0,48361</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050" dirty="0">
                          <a:solidFill>
                            <a:srgbClr val="3A4048"/>
                          </a:solidFill>
                          <a:latin typeface="Calibri" pitchFamily="34" charset="0"/>
                          <a:ea typeface="Calibri" pitchFamily="34" charset="-122"/>
                          <a:cs typeface="Calibri" pitchFamily="34" charset="-120"/>
                        </a:rPr>
                        <a:t>1,5524</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050" dirty="0">
                          <a:solidFill>
                            <a:srgbClr val="3A4048"/>
                          </a:solidFill>
                          <a:latin typeface="Calibri" pitchFamily="34" charset="0"/>
                          <a:ea typeface="Calibri" pitchFamily="34" charset="-122"/>
                          <a:cs typeface="Calibri" pitchFamily="34" charset="-120"/>
                        </a:rPr>
                        <a:t>2,0067</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050" dirty="0">
                          <a:solidFill>
                            <a:srgbClr val="3A4048"/>
                          </a:solidFill>
                          <a:latin typeface="Calibri" pitchFamily="34" charset="0"/>
                          <a:ea typeface="Calibri" pitchFamily="34" charset="-122"/>
                          <a:cs typeface="Calibri" pitchFamily="34" charset="-120"/>
                        </a:rPr>
                        <a:t>2,4103</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347472">
                <a:tc>
                  <a:txBody>
                    <a:bodyPr/>
                    <a:lstStyle/>
                    <a:p>
                      <a:pPr algn="l" indent="0" marL="0">
                        <a:buNone/>
                      </a:pPr>
                      <a:r>
                        <a:rPr lang="en-US" sz="1050" dirty="0">
                          <a:solidFill>
                            <a:srgbClr val="3A4048"/>
                          </a:solidFill>
                          <a:latin typeface="Calibri" pitchFamily="34" charset="0"/>
                          <a:ea typeface="Calibri" pitchFamily="34" charset="-122"/>
                          <a:cs typeface="Calibri" pitchFamily="34" charset="-120"/>
                        </a:rPr>
                        <a:t>LightGBM sebagai meta</a:t>
                      </a:r>
                      <a:endParaRPr lang="en-US" sz="105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17780" cap="flat" cmpd="sng" algn="ctr">
                      <a:solidFill>
                        <a:srgbClr val="16191D"/>
                      </a:solidFill>
                      <a:prstDash val="solid"/>
                      <a:round/>
                      <a:headEnd type="none" w="med" len="med"/>
                      <a:tailEnd type="none" w="med" len="med"/>
                    </a:lnB>
                  </a:tcPr>
                </a:tc>
                <a:tc>
                  <a:txBody>
                    <a:bodyPr/>
                    <a:lstStyle/>
                    <a:p>
                      <a:pPr algn="r" indent="0" marL="0">
                        <a:buNone/>
                      </a:pPr>
                      <a:r>
                        <a:rPr lang="en-US" sz="1050" dirty="0">
                          <a:solidFill>
                            <a:srgbClr val="3A4048"/>
                          </a:solidFill>
                          <a:latin typeface="Calibri" pitchFamily="34" charset="0"/>
                          <a:ea typeface="Calibri" pitchFamily="34" charset="-122"/>
                          <a:cs typeface="Calibri" pitchFamily="34" charset="-120"/>
                        </a:rPr>
                        <a:t>0,48307</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17780" cap="flat" cmpd="sng" algn="ctr">
                      <a:solidFill>
                        <a:srgbClr val="16191D"/>
                      </a:solidFill>
                      <a:prstDash val="solid"/>
                      <a:round/>
                      <a:headEnd type="none" w="med" len="med"/>
                      <a:tailEnd type="none" w="med" len="med"/>
                    </a:lnB>
                  </a:tcPr>
                </a:tc>
                <a:tc>
                  <a:txBody>
                    <a:bodyPr/>
                    <a:lstStyle/>
                    <a:p>
                      <a:pPr algn="r" indent="0" marL="0">
                        <a:buNone/>
                      </a:pPr>
                      <a:r>
                        <a:rPr lang="en-US" sz="1050" dirty="0">
                          <a:solidFill>
                            <a:srgbClr val="3A4048"/>
                          </a:solidFill>
                          <a:latin typeface="Calibri" pitchFamily="34" charset="0"/>
                          <a:ea typeface="Calibri" pitchFamily="34" charset="-122"/>
                          <a:cs typeface="Calibri" pitchFamily="34" charset="-120"/>
                        </a:rPr>
                        <a:t>1,5591</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17780" cap="flat" cmpd="sng" algn="ctr">
                      <a:solidFill>
                        <a:srgbClr val="16191D"/>
                      </a:solidFill>
                      <a:prstDash val="solid"/>
                      <a:round/>
                      <a:headEnd type="none" w="med" len="med"/>
                      <a:tailEnd type="none" w="med" len="med"/>
                    </a:lnB>
                  </a:tcPr>
                </a:tc>
                <a:tc>
                  <a:txBody>
                    <a:bodyPr/>
                    <a:lstStyle/>
                    <a:p>
                      <a:pPr algn="r" indent="0" marL="0">
                        <a:buNone/>
                      </a:pPr>
                      <a:r>
                        <a:rPr lang="en-US" sz="1050" dirty="0">
                          <a:solidFill>
                            <a:srgbClr val="3A4048"/>
                          </a:solidFill>
                          <a:latin typeface="Calibri" pitchFamily="34" charset="0"/>
                          <a:ea typeface="Calibri" pitchFamily="34" charset="-122"/>
                          <a:cs typeface="Calibri" pitchFamily="34" charset="-120"/>
                        </a:rPr>
                        <a:t>2,0525</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17780" cap="flat" cmpd="sng" algn="ctr">
                      <a:solidFill>
                        <a:srgbClr val="16191D"/>
                      </a:solidFill>
                      <a:prstDash val="solid"/>
                      <a:round/>
                      <a:headEnd type="none" w="med" len="med"/>
                      <a:tailEnd type="none" w="med" len="med"/>
                    </a:lnB>
                  </a:tcPr>
                </a:tc>
                <a:tc>
                  <a:txBody>
                    <a:bodyPr/>
                    <a:lstStyle/>
                    <a:p>
                      <a:pPr algn="r" indent="0" marL="0">
                        <a:buNone/>
                      </a:pPr>
                      <a:r>
                        <a:rPr lang="en-US" sz="1050" dirty="0">
                          <a:solidFill>
                            <a:srgbClr val="3A4048"/>
                          </a:solidFill>
                          <a:latin typeface="Calibri" pitchFamily="34" charset="0"/>
                          <a:ea typeface="Calibri" pitchFamily="34" charset="-122"/>
                          <a:cs typeface="Calibri" pitchFamily="34" charset="-120"/>
                        </a:rPr>
                        <a:t>2,5309</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17780" cap="flat" cmpd="sng" algn="ctr">
                      <a:solidFill>
                        <a:srgbClr val="16191D"/>
                      </a:solidFill>
                      <a:prstDash val="solid"/>
                      <a:round/>
                      <a:headEnd type="none" w="med" len="med"/>
                      <a:tailEnd type="none" w="med" len="med"/>
                    </a:lnB>
                  </a:tcPr>
                </a:tc>
              </a:tr>
            </a:tbl>
          </a:graphicData>
        </a:graphic>
      </p:graphicFrame>
      <p:sp>
        <p:nvSpPr>
          <p:cNvPr id="5" name="Shape 2"/>
          <p:cNvSpPr/>
          <p:nvPr/>
        </p:nvSpPr>
        <p:spPr>
          <a:xfrm>
            <a:off x="640080" y="3246120"/>
            <a:ext cx="6583680" cy="2971800"/>
          </a:xfrm>
          <a:prstGeom prst="roundRect">
            <a:avLst>
              <a:gd name="adj" fmla="val 1846"/>
            </a:avLst>
          </a:prstGeom>
          <a:solidFill>
            <a:srgbClr val="F4F1EC"/>
          </a:solidFill>
          <a:ln w="9525">
            <a:solidFill>
              <a:srgbClr val="DCD8D1"/>
            </a:solidFill>
            <a:prstDash val="solid"/>
          </a:ln>
        </p:spPr>
      </p:sp>
      <p:sp>
        <p:nvSpPr>
          <p:cNvPr id="6" name="Text 3"/>
          <p:cNvSpPr/>
          <p:nvPr/>
        </p:nvSpPr>
        <p:spPr>
          <a:xfrm>
            <a:off x="841248" y="3364992"/>
            <a:ext cx="6583680" cy="201168"/>
          </a:xfrm>
          <a:prstGeom prst="rect">
            <a:avLst/>
          </a:prstGeom>
          <a:noFill/>
          <a:ln/>
        </p:spPr>
        <p:txBody>
          <a:bodyPr wrap="square" lIns="0" tIns="0" rIns="0" bIns="0" rtlCol="0" anchor="ctr"/>
          <a:lstStyle/>
          <a:p>
            <a:pPr indent="0" marL="0">
              <a:buNone/>
            </a:pPr>
            <a:r>
              <a:rPr lang="en-US" sz="850" b="1" spc="120" kern="0" dirty="0">
                <a:solidFill>
                  <a:srgbClr val="6E747C"/>
                </a:solidFill>
                <a:latin typeface="Calibri" pitchFamily="34" charset="0"/>
                <a:ea typeface="Calibri" pitchFamily="34" charset="-122"/>
                <a:cs typeface="Calibri" pitchFamily="34" charset="-120"/>
              </a:rPr>
              <a:t>8.1 · DUA ALASAN, DITETAPKAN SEBELUM HASIL DILIHAT</a:t>
            </a:r>
            <a:endParaRPr lang="en-US" sz="850" dirty="0"/>
          </a:p>
        </p:txBody>
      </p:sp>
      <p:sp>
        <p:nvSpPr>
          <p:cNvPr id="7" name="Text 4"/>
          <p:cNvSpPr/>
          <p:nvPr/>
        </p:nvSpPr>
        <p:spPr>
          <a:xfrm>
            <a:off x="841248" y="3657600"/>
            <a:ext cx="6181344" cy="822960"/>
          </a:xfrm>
          <a:prstGeom prst="rect">
            <a:avLst/>
          </a:prstGeom>
          <a:noFill/>
          <a:ln/>
        </p:spPr>
        <p:txBody>
          <a:bodyPr wrap="square" lIns="0" tIns="0" rIns="0" bIns="0" rtlCol="0" anchor="t"/>
          <a:lstStyle/>
          <a:p>
            <a:pPr indent="0" marL="0">
              <a:lnSpc>
                <a:spcPts val="1400"/>
              </a:lnSpc>
              <a:buNone/>
            </a:pPr>
            <a:r>
              <a:rPr lang="en-US" sz="1050" b="1" dirty="0">
                <a:solidFill>
                  <a:srgbClr val="16191D"/>
                </a:solidFill>
                <a:latin typeface="Calibri" pitchFamily="34" charset="0"/>
                <a:ea typeface="Calibri" pitchFamily="34" charset="-122"/>
                <a:cs typeface="Calibri" pitchFamily="34" charset="-120"/>
              </a:rPr>
              <a:t>1.  Rata-rata sederhana, bukan meta-learner. </a:t>
            </a:r>
            <a:pPr indent="0" marL="0">
              <a:lnSpc>
                <a:spcPts val="1400"/>
              </a:lnSpc>
              <a:buNone/>
            </a:pPr>
            <a:r>
              <a:rPr lang="en-US" sz="1050" dirty="0">
                <a:solidFill>
                  <a:srgbClr val="3A4048"/>
                </a:solidFill>
                <a:latin typeface="Calibri" pitchFamily="34" charset="0"/>
                <a:ea typeface="Calibri" pitchFamily="34" charset="-122"/>
                <a:cs typeface="Calibri" pitchFamily="34" charset="-120"/>
              </a:rPr>
              <a:t>Tidak punya parameter yang bisa menempel pada derau, dan model dasar sudah berkorelasi 0,974. Meta-learner menambah risiko tanpa menambah informasi.</a:t>
            </a:r>
            <a:endParaRPr lang="en-US" sz="1050" dirty="0"/>
          </a:p>
        </p:txBody>
      </p:sp>
      <p:sp>
        <p:nvSpPr>
          <p:cNvPr id="8" name="Text 5"/>
          <p:cNvSpPr/>
          <p:nvPr/>
        </p:nvSpPr>
        <p:spPr>
          <a:xfrm>
            <a:off x="841248" y="4526280"/>
            <a:ext cx="6181344" cy="822960"/>
          </a:xfrm>
          <a:prstGeom prst="rect">
            <a:avLst/>
          </a:prstGeom>
          <a:noFill/>
          <a:ln/>
        </p:spPr>
        <p:txBody>
          <a:bodyPr wrap="square" lIns="0" tIns="0" rIns="0" bIns="0" rtlCol="0" anchor="t"/>
          <a:lstStyle/>
          <a:p>
            <a:pPr indent="0" marL="0">
              <a:lnSpc>
                <a:spcPts val="1400"/>
              </a:lnSpc>
              <a:buNone/>
            </a:pPr>
            <a:r>
              <a:rPr lang="en-US" sz="1050" b="1" dirty="0">
                <a:solidFill>
                  <a:srgbClr val="16191D"/>
                </a:solidFill>
                <a:latin typeface="Calibri" pitchFamily="34" charset="0"/>
                <a:ea typeface="Calibri" pitchFamily="34" charset="-122"/>
                <a:cs typeface="Calibri" pitchFamily="34" charset="-120"/>
              </a:rPr>
              <a:t>2.  MLP dikeluarkan. </a:t>
            </a:r>
            <a:pPr indent="0" marL="0">
              <a:lnSpc>
                <a:spcPts val="1400"/>
              </a:lnSpc>
              <a:buNone/>
            </a:pPr>
            <a:r>
              <a:rPr lang="en-US" sz="1050" dirty="0">
                <a:solidFill>
                  <a:srgbClr val="3A4048"/>
                </a:solidFill>
                <a:latin typeface="Calibri" pitchFamily="34" charset="0"/>
                <a:ea typeface="Calibri" pitchFamily="34" charset="-122"/>
                <a:cs typeface="Calibri" pitchFamily="34" charset="-120"/>
              </a:rPr>
              <a:t>QWK tunggalnya jelas di bawah lima model pohon, dan rata-rata tanpa bobot memberi porsi sama ke tiap anggota.</a:t>
            </a:r>
            <a:endParaRPr lang="en-US" sz="1050" dirty="0"/>
          </a:p>
        </p:txBody>
      </p:sp>
      <p:sp>
        <p:nvSpPr>
          <p:cNvPr id="9" name="Text 6"/>
          <p:cNvSpPr/>
          <p:nvPr/>
        </p:nvSpPr>
        <p:spPr>
          <a:xfrm>
            <a:off x="841248" y="5413248"/>
            <a:ext cx="6181344" cy="777240"/>
          </a:xfrm>
          <a:prstGeom prst="rect">
            <a:avLst/>
          </a:prstGeom>
          <a:noFill/>
          <a:ln/>
        </p:spPr>
        <p:txBody>
          <a:bodyPr wrap="square" lIns="0" tIns="0" rIns="0" bIns="0" rtlCol="0" anchor="t"/>
          <a:lstStyle/>
          <a:p>
            <a:pPr algn="l" indent="0" marL="0">
              <a:lnSpc>
                <a:spcPts val="1350"/>
              </a:lnSpc>
              <a:buNone/>
            </a:pPr>
            <a:r>
              <a:rPr lang="en-US" sz="1000" b="1" dirty="0">
                <a:solidFill>
                  <a:srgbClr val="2F6B5F"/>
                </a:solidFill>
                <a:latin typeface="Calibri" pitchFamily="34" charset="0"/>
                <a:ea typeface="Calibri" pitchFamily="34" charset="-122"/>
                <a:cs typeface="Calibri" pitchFamily="34" charset="-120"/>
              </a:rPr>
              <a:t>Keduanya dapat diperiksa tanpa data uji. Setelah dihitung, pilihan itu juga tertinggi di OOF, jadi disiplin a priori tidak mengorbankan skor. Sumbangan di atas model dasar terbaik: +0,00403 (Wolpert 1992, stacked generalization).</a:t>
            </a:r>
            <a:endParaRPr lang="en-US" sz="1000" dirty="0"/>
          </a:p>
        </p:txBody>
      </p:sp>
      <p:sp>
        <p:nvSpPr>
          <p:cNvPr id="10" name="Shape 7"/>
          <p:cNvSpPr/>
          <p:nvPr/>
        </p:nvSpPr>
        <p:spPr>
          <a:xfrm>
            <a:off x="7498080" y="1371600"/>
            <a:ext cx="4053535" cy="2148840"/>
          </a:xfrm>
          <a:prstGeom prst="roundRect">
            <a:avLst>
              <a:gd name="adj" fmla="val 2553"/>
            </a:avLst>
          </a:prstGeom>
          <a:solidFill>
            <a:srgbClr val="FFFFFF"/>
          </a:solidFill>
          <a:ln w="9525">
            <a:solidFill>
              <a:srgbClr val="DCD8D1"/>
            </a:solidFill>
            <a:prstDash val="solid"/>
          </a:ln>
        </p:spPr>
      </p:sp>
      <p:sp>
        <p:nvSpPr>
          <p:cNvPr id="11" name="Text 8"/>
          <p:cNvSpPr/>
          <p:nvPr/>
        </p:nvSpPr>
        <p:spPr>
          <a:xfrm>
            <a:off x="7699248" y="1499616"/>
            <a:ext cx="3651199" cy="201168"/>
          </a:xfrm>
          <a:prstGeom prst="rect">
            <a:avLst/>
          </a:prstGeom>
          <a:noFill/>
          <a:ln/>
        </p:spPr>
        <p:txBody>
          <a:bodyPr wrap="square" lIns="0" tIns="0" rIns="0" bIns="0" rtlCol="0" anchor="ctr"/>
          <a:lstStyle/>
          <a:p>
            <a:pPr indent="0" marL="0">
              <a:buNone/>
            </a:pPr>
            <a:r>
              <a:rPr lang="en-US" sz="850" b="1" spc="120" kern="0" dirty="0">
                <a:solidFill>
                  <a:srgbClr val="6E747C"/>
                </a:solidFill>
                <a:latin typeface="Calibri" pitchFamily="34" charset="0"/>
                <a:ea typeface="Calibri" pitchFamily="34" charset="-122"/>
                <a:cs typeface="Calibri" pitchFamily="34" charset="-120"/>
              </a:rPr>
              <a:t>9 · OPTIMASI AMBANG</a:t>
            </a:r>
            <a:endParaRPr lang="en-US" sz="850" dirty="0"/>
          </a:p>
        </p:txBody>
      </p:sp>
      <p:sp>
        <p:nvSpPr>
          <p:cNvPr id="12" name="Text 9"/>
          <p:cNvSpPr/>
          <p:nvPr/>
        </p:nvSpPr>
        <p:spPr>
          <a:xfrm>
            <a:off x="7699248" y="1700784"/>
            <a:ext cx="3651199" cy="475488"/>
          </a:xfrm>
          <a:prstGeom prst="rect">
            <a:avLst/>
          </a:prstGeom>
          <a:noFill/>
          <a:ln/>
        </p:spPr>
        <p:txBody>
          <a:bodyPr wrap="square" lIns="0" tIns="0" rIns="0" bIns="0" rtlCol="0" anchor="t"/>
          <a:lstStyle/>
          <a:p>
            <a:pPr indent="0" marL="0">
              <a:lnSpc>
                <a:spcPts val="1600"/>
              </a:lnSpc>
              <a:buNone/>
            </a:pPr>
            <a:r>
              <a:rPr lang="en-US" sz="1300" b="1" dirty="0">
                <a:solidFill>
                  <a:srgbClr val="16191D"/>
                </a:solidFill>
                <a:latin typeface="Cambria" pitchFamily="34" charset="0"/>
                <a:ea typeface="Cambria" pitchFamily="34" charset="-122"/>
                <a:cs typeface="Cambria" pitchFamily="34" charset="-120"/>
              </a:rPr>
              <a:t>Grid kuantil, lalu pencarian koordinat</a:t>
            </a:r>
            <a:endParaRPr lang="en-US" sz="1300" dirty="0"/>
          </a:p>
        </p:txBody>
      </p:sp>
      <p:sp>
        <p:nvSpPr>
          <p:cNvPr id="13" name="Text 10"/>
          <p:cNvSpPr/>
          <p:nvPr/>
        </p:nvSpPr>
        <p:spPr>
          <a:xfrm>
            <a:off x="7699248" y="2212848"/>
            <a:ext cx="2409791" cy="365760"/>
          </a:xfrm>
          <a:prstGeom prst="rect">
            <a:avLst/>
          </a:prstGeom>
          <a:noFill/>
          <a:ln/>
        </p:spPr>
        <p:txBody>
          <a:bodyPr wrap="square" lIns="0" tIns="0" rIns="0" bIns="0" rtlCol="0" anchor="ctr"/>
          <a:lstStyle/>
          <a:p>
            <a:pPr indent="0" marL="0">
              <a:buNone/>
            </a:pPr>
            <a:r>
              <a:rPr lang="en-US" sz="1050" dirty="0">
                <a:solidFill>
                  <a:srgbClr val="3A4048"/>
                </a:solidFill>
                <a:latin typeface="Calibri" pitchFamily="34" charset="0"/>
                <a:ea typeface="Calibri" pitchFamily="34" charset="-122"/>
                <a:cs typeface="Calibri" pitchFamily="34" charset="-120"/>
              </a:rPr>
              <a:t>Grid 45 × 32 × 26 titik</a:t>
            </a:r>
            <a:endParaRPr lang="en-US" sz="1050" dirty="0"/>
          </a:p>
        </p:txBody>
      </p:sp>
      <p:sp>
        <p:nvSpPr>
          <p:cNvPr id="14" name="Text 11"/>
          <p:cNvSpPr/>
          <p:nvPr/>
        </p:nvSpPr>
        <p:spPr>
          <a:xfrm>
            <a:off x="10109039" y="2212848"/>
            <a:ext cx="1241408" cy="365760"/>
          </a:xfrm>
          <a:prstGeom prst="rect">
            <a:avLst/>
          </a:prstGeom>
          <a:noFill/>
          <a:ln/>
        </p:spPr>
        <p:txBody>
          <a:bodyPr wrap="square" lIns="0" tIns="0" rIns="0" bIns="0" rtlCol="0" anchor="ctr"/>
          <a:lstStyle/>
          <a:p>
            <a:pPr algn="r" indent="0" marL="0">
              <a:buNone/>
            </a:pPr>
            <a:r>
              <a:rPr lang="en-US" sz="1050" b="1" dirty="0">
                <a:solidFill>
                  <a:srgbClr val="16191D"/>
                </a:solidFill>
                <a:latin typeface="Calibri" pitchFamily="34" charset="0"/>
                <a:ea typeface="Calibri" pitchFamily="34" charset="-122"/>
                <a:cs typeface="Calibri" pitchFamily="34" charset="-120"/>
              </a:rPr>
              <a:t>0,48446</a:t>
            </a:r>
            <a:endParaRPr lang="en-US" sz="1050" dirty="0"/>
          </a:p>
        </p:txBody>
      </p:sp>
      <p:sp>
        <p:nvSpPr>
          <p:cNvPr id="15" name="Shape 12"/>
          <p:cNvSpPr/>
          <p:nvPr/>
        </p:nvSpPr>
        <p:spPr>
          <a:xfrm>
            <a:off x="7699248" y="2578608"/>
            <a:ext cx="3651199" cy="0"/>
          </a:xfrm>
          <a:prstGeom prst="line">
            <a:avLst/>
          </a:prstGeom>
          <a:noFill/>
          <a:ln w="7620">
            <a:solidFill>
              <a:srgbClr val="DCD8D1"/>
            </a:solidFill>
            <a:prstDash val="solid"/>
          </a:ln>
        </p:spPr>
      </p:sp>
      <p:sp>
        <p:nvSpPr>
          <p:cNvPr id="16" name="Text 13"/>
          <p:cNvSpPr/>
          <p:nvPr/>
        </p:nvSpPr>
        <p:spPr>
          <a:xfrm>
            <a:off x="7699248" y="2578608"/>
            <a:ext cx="2409791" cy="365760"/>
          </a:xfrm>
          <a:prstGeom prst="rect">
            <a:avLst/>
          </a:prstGeom>
          <a:noFill/>
          <a:ln/>
        </p:spPr>
        <p:txBody>
          <a:bodyPr wrap="square" lIns="0" tIns="0" rIns="0" bIns="0" rtlCol="0" anchor="ctr"/>
          <a:lstStyle/>
          <a:p>
            <a:pPr indent="0" marL="0">
              <a:buNone/>
            </a:pPr>
            <a:r>
              <a:rPr lang="en-US" sz="1050" dirty="0">
                <a:solidFill>
                  <a:srgbClr val="3A4048"/>
                </a:solidFill>
                <a:latin typeface="Calibri" pitchFamily="34" charset="0"/>
                <a:ea typeface="Calibri" pitchFamily="34" charset="-122"/>
                <a:cs typeface="Calibri" pitchFamily="34" charset="-120"/>
              </a:rPr>
              <a:t>Setelah pencarian koordinat</a:t>
            </a:r>
            <a:endParaRPr lang="en-US" sz="1050" dirty="0"/>
          </a:p>
        </p:txBody>
      </p:sp>
      <p:sp>
        <p:nvSpPr>
          <p:cNvPr id="17" name="Text 14"/>
          <p:cNvSpPr/>
          <p:nvPr/>
        </p:nvSpPr>
        <p:spPr>
          <a:xfrm>
            <a:off x="10109039" y="2578608"/>
            <a:ext cx="1241408" cy="365760"/>
          </a:xfrm>
          <a:prstGeom prst="rect">
            <a:avLst/>
          </a:prstGeom>
          <a:noFill/>
          <a:ln/>
        </p:spPr>
        <p:txBody>
          <a:bodyPr wrap="square" lIns="0" tIns="0" rIns="0" bIns="0" rtlCol="0" anchor="ctr"/>
          <a:lstStyle/>
          <a:p>
            <a:pPr algn="r" indent="0" marL="0">
              <a:buNone/>
            </a:pPr>
            <a:r>
              <a:rPr lang="en-US" sz="1050" b="1" dirty="0">
                <a:solidFill>
                  <a:srgbClr val="16191D"/>
                </a:solidFill>
                <a:latin typeface="Calibri" pitchFamily="34" charset="0"/>
                <a:ea typeface="Calibri" pitchFamily="34" charset="-122"/>
                <a:cs typeface="Calibri" pitchFamily="34" charset="-120"/>
              </a:rPr>
              <a:t>0,48517</a:t>
            </a:r>
            <a:endParaRPr lang="en-US" sz="1050" dirty="0"/>
          </a:p>
        </p:txBody>
      </p:sp>
      <p:sp>
        <p:nvSpPr>
          <p:cNvPr id="18" name="Shape 15"/>
          <p:cNvSpPr/>
          <p:nvPr/>
        </p:nvSpPr>
        <p:spPr>
          <a:xfrm>
            <a:off x="7699248" y="2944368"/>
            <a:ext cx="3651199" cy="0"/>
          </a:xfrm>
          <a:prstGeom prst="line">
            <a:avLst/>
          </a:prstGeom>
          <a:noFill/>
          <a:ln w="7620">
            <a:solidFill>
              <a:srgbClr val="DCD8D1"/>
            </a:solidFill>
            <a:prstDash val="solid"/>
          </a:ln>
        </p:spPr>
      </p:sp>
      <p:sp>
        <p:nvSpPr>
          <p:cNvPr id="19" name="Text 16"/>
          <p:cNvSpPr/>
          <p:nvPr/>
        </p:nvSpPr>
        <p:spPr>
          <a:xfrm>
            <a:off x="7699248" y="2944368"/>
            <a:ext cx="2409791" cy="365760"/>
          </a:xfrm>
          <a:prstGeom prst="rect">
            <a:avLst/>
          </a:prstGeom>
          <a:noFill/>
          <a:ln/>
        </p:spPr>
        <p:txBody>
          <a:bodyPr wrap="square" lIns="0" tIns="0" rIns="0" bIns="0" rtlCol="0" anchor="ctr"/>
          <a:lstStyle/>
          <a:p>
            <a:pPr indent="0" marL="0">
              <a:buNone/>
            </a:pPr>
            <a:r>
              <a:rPr lang="en-US" sz="1050" dirty="0">
                <a:solidFill>
                  <a:srgbClr val="3A4048"/>
                </a:solidFill>
                <a:latin typeface="Calibri" pitchFamily="34" charset="0"/>
                <a:ea typeface="Calibri" pitchFamily="34" charset="-122"/>
                <a:cs typeface="Calibri" pitchFamily="34" charset="-120"/>
              </a:rPr>
              <a:t>Waktu penghalusan</a:t>
            </a:r>
            <a:endParaRPr lang="en-US" sz="1050" dirty="0"/>
          </a:p>
        </p:txBody>
      </p:sp>
      <p:sp>
        <p:nvSpPr>
          <p:cNvPr id="20" name="Text 17"/>
          <p:cNvSpPr/>
          <p:nvPr/>
        </p:nvSpPr>
        <p:spPr>
          <a:xfrm>
            <a:off x="10109039" y="2944368"/>
            <a:ext cx="1241408" cy="365760"/>
          </a:xfrm>
          <a:prstGeom prst="rect">
            <a:avLst/>
          </a:prstGeom>
          <a:noFill/>
          <a:ln/>
        </p:spPr>
        <p:txBody>
          <a:bodyPr wrap="square" lIns="0" tIns="0" rIns="0" bIns="0" rtlCol="0" anchor="ctr"/>
          <a:lstStyle/>
          <a:p>
            <a:pPr algn="r" indent="0" marL="0">
              <a:buNone/>
            </a:pPr>
            <a:r>
              <a:rPr lang="en-US" sz="1050" b="1" dirty="0">
                <a:solidFill>
                  <a:srgbClr val="16191D"/>
                </a:solidFill>
                <a:latin typeface="Calibri" pitchFamily="34" charset="0"/>
                <a:ea typeface="Calibri" pitchFamily="34" charset="-122"/>
                <a:cs typeface="Calibri" pitchFamily="34" charset="-120"/>
              </a:rPr>
              <a:t>48 detik</a:t>
            </a:r>
            <a:endParaRPr lang="en-US" sz="1050" dirty="0"/>
          </a:p>
        </p:txBody>
      </p:sp>
      <p:sp>
        <p:nvSpPr>
          <p:cNvPr id="21" name="Shape 18"/>
          <p:cNvSpPr/>
          <p:nvPr/>
        </p:nvSpPr>
        <p:spPr>
          <a:xfrm>
            <a:off x="7498080" y="3703320"/>
            <a:ext cx="4053535" cy="1234440"/>
          </a:xfrm>
          <a:prstGeom prst="roundRect">
            <a:avLst>
              <a:gd name="adj" fmla="val 4444"/>
            </a:avLst>
          </a:prstGeom>
          <a:solidFill>
            <a:srgbClr val="16191D"/>
          </a:solidFill>
          <a:ln w="9525">
            <a:solidFill>
              <a:srgbClr val="16191D"/>
            </a:solidFill>
            <a:prstDash val="solid"/>
          </a:ln>
        </p:spPr>
      </p:sp>
      <p:sp>
        <p:nvSpPr>
          <p:cNvPr id="22" name="Text 19"/>
          <p:cNvSpPr/>
          <p:nvPr/>
        </p:nvSpPr>
        <p:spPr>
          <a:xfrm>
            <a:off x="7699248" y="3794760"/>
            <a:ext cx="1371600" cy="237744"/>
          </a:xfrm>
          <a:prstGeom prst="rect">
            <a:avLst/>
          </a:prstGeom>
          <a:noFill/>
          <a:ln/>
        </p:spPr>
        <p:txBody>
          <a:bodyPr wrap="square" lIns="0" tIns="0" rIns="0" bIns="0" rtlCol="0" anchor="ctr"/>
          <a:lstStyle/>
          <a:p>
            <a:pPr indent="0" marL="0">
              <a:buNone/>
            </a:pPr>
            <a:r>
              <a:rPr lang="en-US" sz="1000" b="1" dirty="0">
                <a:solidFill>
                  <a:srgbClr val="8FB0A4"/>
                </a:solidFill>
                <a:latin typeface="Calibri" pitchFamily="34" charset="0"/>
                <a:ea typeface="Calibri" pitchFamily="34" charset="-122"/>
                <a:cs typeface="Calibri" pitchFamily="34" charset="-120"/>
              </a:rPr>
              <a:t>t₁</a:t>
            </a:r>
            <a:endParaRPr lang="en-US" sz="1000" dirty="0"/>
          </a:p>
        </p:txBody>
      </p:sp>
      <p:sp>
        <p:nvSpPr>
          <p:cNvPr id="23" name="Text 20"/>
          <p:cNvSpPr/>
          <p:nvPr/>
        </p:nvSpPr>
        <p:spPr>
          <a:xfrm>
            <a:off x="7699248" y="4041648"/>
            <a:ext cx="1371600" cy="384048"/>
          </a:xfrm>
          <a:prstGeom prst="rect">
            <a:avLst/>
          </a:prstGeom>
          <a:noFill/>
          <a:ln/>
        </p:spPr>
        <p:txBody>
          <a:bodyPr wrap="square" lIns="0" tIns="0" rIns="0" bIns="0" rtlCol="0" anchor="ctr"/>
          <a:lstStyle/>
          <a:p>
            <a:pPr indent="0" marL="0">
              <a:buNone/>
            </a:pPr>
            <a:r>
              <a:rPr lang="en-US" sz="1800" b="1" dirty="0">
                <a:solidFill>
                  <a:srgbClr val="FFFFFF"/>
                </a:solidFill>
                <a:latin typeface="Cambria" pitchFamily="34" charset="0"/>
                <a:ea typeface="Cambria" pitchFamily="34" charset="-122"/>
                <a:cs typeface="Cambria" pitchFamily="34" charset="-120"/>
              </a:rPr>
              <a:t>1,5543</a:t>
            </a:r>
            <a:endParaRPr lang="en-US" sz="1800" dirty="0"/>
          </a:p>
        </p:txBody>
      </p:sp>
      <p:sp>
        <p:nvSpPr>
          <p:cNvPr id="24" name="Text 21"/>
          <p:cNvSpPr/>
          <p:nvPr/>
        </p:nvSpPr>
        <p:spPr>
          <a:xfrm>
            <a:off x="7699248" y="4462272"/>
            <a:ext cx="1371600" cy="237744"/>
          </a:xfrm>
          <a:prstGeom prst="rect">
            <a:avLst/>
          </a:prstGeom>
          <a:noFill/>
          <a:ln/>
        </p:spPr>
        <p:txBody>
          <a:bodyPr wrap="square" lIns="0" tIns="0" rIns="0" bIns="0" rtlCol="0" anchor="ctr"/>
          <a:lstStyle/>
          <a:p>
            <a:pPr indent="0" marL="0">
              <a:buNone/>
            </a:pPr>
            <a:r>
              <a:rPr lang="en-US" sz="900" dirty="0">
                <a:solidFill>
                  <a:srgbClr val="9AA0A7"/>
                </a:solidFill>
                <a:latin typeface="Calibri" pitchFamily="34" charset="0"/>
                <a:ea typeface="Calibri" pitchFamily="34" charset="-122"/>
                <a:cs typeface="Calibri" pitchFamily="34" charset="-120"/>
              </a:rPr>
              <a:t>kelas 1 | 2</a:t>
            </a:r>
            <a:endParaRPr lang="en-US" sz="900" dirty="0"/>
          </a:p>
        </p:txBody>
      </p:sp>
      <p:sp>
        <p:nvSpPr>
          <p:cNvPr id="25" name="Text 22"/>
          <p:cNvSpPr/>
          <p:nvPr/>
        </p:nvSpPr>
        <p:spPr>
          <a:xfrm>
            <a:off x="8916314" y="3794760"/>
            <a:ext cx="1371600" cy="237744"/>
          </a:xfrm>
          <a:prstGeom prst="rect">
            <a:avLst/>
          </a:prstGeom>
          <a:noFill/>
          <a:ln/>
        </p:spPr>
        <p:txBody>
          <a:bodyPr wrap="square" lIns="0" tIns="0" rIns="0" bIns="0" rtlCol="0" anchor="ctr"/>
          <a:lstStyle/>
          <a:p>
            <a:pPr indent="0" marL="0">
              <a:buNone/>
            </a:pPr>
            <a:r>
              <a:rPr lang="en-US" sz="1000" b="1" dirty="0">
                <a:solidFill>
                  <a:srgbClr val="8FB0A4"/>
                </a:solidFill>
                <a:latin typeface="Calibri" pitchFamily="34" charset="0"/>
                <a:ea typeface="Calibri" pitchFamily="34" charset="-122"/>
                <a:cs typeface="Calibri" pitchFamily="34" charset="-120"/>
              </a:rPr>
              <a:t>t₂</a:t>
            </a:r>
            <a:endParaRPr lang="en-US" sz="1000" dirty="0"/>
          </a:p>
        </p:txBody>
      </p:sp>
      <p:sp>
        <p:nvSpPr>
          <p:cNvPr id="26" name="Text 23"/>
          <p:cNvSpPr/>
          <p:nvPr/>
        </p:nvSpPr>
        <p:spPr>
          <a:xfrm>
            <a:off x="8916314" y="4041648"/>
            <a:ext cx="1371600" cy="384048"/>
          </a:xfrm>
          <a:prstGeom prst="rect">
            <a:avLst/>
          </a:prstGeom>
          <a:noFill/>
          <a:ln/>
        </p:spPr>
        <p:txBody>
          <a:bodyPr wrap="square" lIns="0" tIns="0" rIns="0" bIns="0" rtlCol="0" anchor="ctr"/>
          <a:lstStyle/>
          <a:p>
            <a:pPr indent="0" marL="0">
              <a:buNone/>
            </a:pPr>
            <a:r>
              <a:rPr lang="en-US" sz="1800" b="1" dirty="0">
                <a:solidFill>
                  <a:srgbClr val="FFFFFF"/>
                </a:solidFill>
                <a:latin typeface="Cambria" pitchFamily="34" charset="0"/>
                <a:ea typeface="Cambria" pitchFamily="34" charset="-122"/>
                <a:cs typeface="Cambria" pitchFamily="34" charset="-120"/>
              </a:rPr>
              <a:t>2,0027</a:t>
            </a:r>
            <a:endParaRPr lang="en-US" sz="1800" dirty="0"/>
          </a:p>
        </p:txBody>
      </p:sp>
      <p:sp>
        <p:nvSpPr>
          <p:cNvPr id="27" name="Text 24"/>
          <p:cNvSpPr/>
          <p:nvPr/>
        </p:nvSpPr>
        <p:spPr>
          <a:xfrm>
            <a:off x="8916314" y="4462272"/>
            <a:ext cx="1371600" cy="237744"/>
          </a:xfrm>
          <a:prstGeom prst="rect">
            <a:avLst/>
          </a:prstGeom>
          <a:noFill/>
          <a:ln/>
        </p:spPr>
        <p:txBody>
          <a:bodyPr wrap="square" lIns="0" tIns="0" rIns="0" bIns="0" rtlCol="0" anchor="ctr"/>
          <a:lstStyle/>
          <a:p>
            <a:pPr indent="0" marL="0">
              <a:buNone/>
            </a:pPr>
            <a:r>
              <a:rPr lang="en-US" sz="900" dirty="0">
                <a:solidFill>
                  <a:srgbClr val="9AA0A7"/>
                </a:solidFill>
                <a:latin typeface="Calibri" pitchFamily="34" charset="0"/>
                <a:ea typeface="Calibri" pitchFamily="34" charset="-122"/>
                <a:cs typeface="Calibri" pitchFamily="34" charset="-120"/>
              </a:rPr>
              <a:t>kelas 2 | 3</a:t>
            </a:r>
            <a:endParaRPr lang="en-US" sz="900" dirty="0"/>
          </a:p>
        </p:txBody>
      </p:sp>
      <p:sp>
        <p:nvSpPr>
          <p:cNvPr id="28" name="Text 25"/>
          <p:cNvSpPr/>
          <p:nvPr/>
        </p:nvSpPr>
        <p:spPr>
          <a:xfrm>
            <a:off x="10133381" y="3794760"/>
            <a:ext cx="1371600" cy="237744"/>
          </a:xfrm>
          <a:prstGeom prst="rect">
            <a:avLst/>
          </a:prstGeom>
          <a:noFill/>
          <a:ln/>
        </p:spPr>
        <p:txBody>
          <a:bodyPr wrap="square" lIns="0" tIns="0" rIns="0" bIns="0" rtlCol="0" anchor="ctr"/>
          <a:lstStyle/>
          <a:p>
            <a:pPr indent="0" marL="0">
              <a:buNone/>
            </a:pPr>
            <a:r>
              <a:rPr lang="en-US" sz="1000" b="1" dirty="0">
                <a:solidFill>
                  <a:srgbClr val="8FB0A4"/>
                </a:solidFill>
                <a:latin typeface="Calibri" pitchFamily="34" charset="0"/>
                <a:ea typeface="Calibri" pitchFamily="34" charset="-122"/>
                <a:cs typeface="Calibri" pitchFamily="34" charset="-120"/>
              </a:rPr>
              <a:t>t₃</a:t>
            </a:r>
            <a:endParaRPr lang="en-US" sz="1000" dirty="0"/>
          </a:p>
        </p:txBody>
      </p:sp>
      <p:sp>
        <p:nvSpPr>
          <p:cNvPr id="29" name="Text 26"/>
          <p:cNvSpPr/>
          <p:nvPr/>
        </p:nvSpPr>
        <p:spPr>
          <a:xfrm>
            <a:off x="10133381" y="4041648"/>
            <a:ext cx="1371600" cy="384048"/>
          </a:xfrm>
          <a:prstGeom prst="rect">
            <a:avLst/>
          </a:prstGeom>
          <a:noFill/>
          <a:ln/>
        </p:spPr>
        <p:txBody>
          <a:bodyPr wrap="square" lIns="0" tIns="0" rIns="0" bIns="0" rtlCol="0" anchor="ctr"/>
          <a:lstStyle/>
          <a:p>
            <a:pPr indent="0" marL="0">
              <a:buNone/>
            </a:pPr>
            <a:r>
              <a:rPr lang="en-US" sz="1800" b="1" dirty="0">
                <a:solidFill>
                  <a:srgbClr val="FFFFFF"/>
                </a:solidFill>
                <a:latin typeface="Cambria" pitchFamily="34" charset="0"/>
                <a:ea typeface="Cambria" pitchFamily="34" charset="-122"/>
                <a:cs typeface="Cambria" pitchFamily="34" charset="-120"/>
              </a:rPr>
              <a:t>2,3936</a:t>
            </a:r>
            <a:endParaRPr lang="en-US" sz="1800" dirty="0"/>
          </a:p>
        </p:txBody>
      </p:sp>
      <p:sp>
        <p:nvSpPr>
          <p:cNvPr id="30" name="Text 27"/>
          <p:cNvSpPr/>
          <p:nvPr/>
        </p:nvSpPr>
        <p:spPr>
          <a:xfrm>
            <a:off x="10133381" y="4462272"/>
            <a:ext cx="1371600" cy="237744"/>
          </a:xfrm>
          <a:prstGeom prst="rect">
            <a:avLst/>
          </a:prstGeom>
          <a:noFill/>
          <a:ln/>
        </p:spPr>
        <p:txBody>
          <a:bodyPr wrap="square" lIns="0" tIns="0" rIns="0" bIns="0" rtlCol="0" anchor="ctr"/>
          <a:lstStyle/>
          <a:p>
            <a:pPr indent="0" marL="0">
              <a:buNone/>
            </a:pPr>
            <a:r>
              <a:rPr lang="en-US" sz="900" dirty="0">
                <a:solidFill>
                  <a:srgbClr val="9AA0A7"/>
                </a:solidFill>
                <a:latin typeface="Calibri" pitchFamily="34" charset="0"/>
                <a:ea typeface="Calibri" pitchFamily="34" charset="-122"/>
                <a:cs typeface="Calibri" pitchFamily="34" charset="-120"/>
              </a:rPr>
              <a:t>kelas 3 | 4</a:t>
            </a:r>
            <a:endParaRPr lang="en-US" sz="900" dirty="0"/>
          </a:p>
        </p:txBody>
      </p:sp>
      <p:sp>
        <p:nvSpPr>
          <p:cNvPr id="31" name="Shape 28"/>
          <p:cNvSpPr/>
          <p:nvPr/>
        </p:nvSpPr>
        <p:spPr>
          <a:xfrm>
            <a:off x="7498080" y="5074920"/>
            <a:ext cx="4053535" cy="1143000"/>
          </a:xfrm>
          <a:prstGeom prst="roundRect">
            <a:avLst>
              <a:gd name="adj" fmla="val 4800"/>
            </a:avLst>
          </a:prstGeom>
          <a:solidFill>
            <a:srgbClr val="ECE7DF"/>
          </a:solidFill>
          <a:ln w="9525">
            <a:solidFill>
              <a:srgbClr val="DCD8D1"/>
            </a:solidFill>
            <a:prstDash val="solid"/>
          </a:ln>
        </p:spPr>
      </p:sp>
      <p:sp>
        <p:nvSpPr>
          <p:cNvPr id="32" name="Text 29"/>
          <p:cNvSpPr/>
          <p:nvPr/>
        </p:nvSpPr>
        <p:spPr>
          <a:xfrm>
            <a:off x="7699248" y="5074920"/>
            <a:ext cx="3651199" cy="1143000"/>
          </a:xfrm>
          <a:prstGeom prst="rect">
            <a:avLst/>
          </a:prstGeom>
          <a:noFill/>
          <a:ln/>
        </p:spPr>
        <p:txBody>
          <a:bodyPr wrap="square" lIns="0" tIns="0" rIns="0" bIns="0" rtlCol="0" anchor="ctr"/>
          <a:lstStyle/>
          <a:p>
            <a:pPr algn="l" indent="0" marL="0">
              <a:lnSpc>
                <a:spcPts val="1350"/>
              </a:lnSpc>
              <a:buNone/>
            </a:pPr>
            <a:r>
              <a:rPr lang="en-US" sz="1000" dirty="0">
                <a:solidFill>
                  <a:srgbClr val="3A4048"/>
                </a:solidFill>
                <a:latin typeface="Calibri" pitchFamily="34" charset="0"/>
                <a:ea typeface="Calibri" pitchFamily="34" charset="-122"/>
                <a:cs typeface="Calibri" pitchFamily="34" charset="-120"/>
              </a:rPr>
              <a:t>Grid kuantil menjamin cakupan seluruh rentang, pencarian koordinat menajamkan di sekitar optimum. Ambang final memakai rata-rata bootstrap dari studi estimasi, bukan titik tunggal ini.</a:t>
            </a:r>
            <a:endParaRPr lang="en-US" sz="1000" dirty="0"/>
          </a:p>
        </p:txBody>
      </p:sp>
      <p:sp>
        <p:nvSpPr>
          <p:cNvPr id="34" name="Shape 30"/>
          <p:cNvSpPr/>
          <p:nvPr/>
        </p:nvSpPr>
        <p:spPr>
          <a:xfrm>
            <a:off x="640080" y="6400800"/>
            <a:ext cx="1572768" cy="45720"/>
          </a:xfrm>
          <a:prstGeom prst="rect">
            <a:avLst/>
          </a:prstGeom>
          <a:solidFill>
            <a:srgbClr val="DCD8D1"/>
          </a:solidFill>
          <a:ln/>
        </p:spPr>
      </p:sp>
      <p:sp>
        <p:nvSpPr>
          <p:cNvPr id="35" name="Text 31"/>
          <p:cNvSpPr/>
          <p:nvPr/>
        </p:nvSpPr>
        <p:spPr>
          <a:xfrm>
            <a:off x="640080"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I · Latar &amp; data</a:t>
            </a:r>
            <a:endParaRPr lang="en-US" sz="850" dirty="0"/>
          </a:p>
        </p:txBody>
      </p:sp>
      <p:sp>
        <p:nvSpPr>
          <p:cNvPr id="36" name="Shape 32"/>
          <p:cNvSpPr/>
          <p:nvPr/>
        </p:nvSpPr>
        <p:spPr>
          <a:xfrm>
            <a:off x="2304288" y="6400800"/>
            <a:ext cx="1572768" cy="45720"/>
          </a:xfrm>
          <a:prstGeom prst="rect">
            <a:avLst/>
          </a:prstGeom>
          <a:solidFill>
            <a:srgbClr val="DCD8D1"/>
          </a:solidFill>
          <a:ln/>
        </p:spPr>
      </p:sp>
      <p:sp>
        <p:nvSpPr>
          <p:cNvPr id="37" name="Text 33"/>
          <p:cNvSpPr/>
          <p:nvPr/>
        </p:nvSpPr>
        <p:spPr>
          <a:xfrm>
            <a:off x="2304288"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II · EDA</a:t>
            </a:r>
            <a:endParaRPr lang="en-US" sz="850" dirty="0"/>
          </a:p>
        </p:txBody>
      </p:sp>
      <p:sp>
        <p:nvSpPr>
          <p:cNvPr id="38" name="Shape 34"/>
          <p:cNvSpPr/>
          <p:nvPr/>
        </p:nvSpPr>
        <p:spPr>
          <a:xfrm>
            <a:off x="3968496" y="6400800"/>
            <a:ext cx="1572768" cy="45720"/>
          </a:xfrm>
          <a:prstGeom prst="rect">
            <a:avLst/>
          </a:prstGeom>
          <a:solidFill>
            <a:srgbClr val="A8442A"/>
          </a:solidFill>
          <a:ln/>
        </p:spPr>
      </p:sp>
      <p:sp>
        <p:nvSpPr>
          <p:cNvPr id="39" name="Text 35"/>
          <p:cNvSpPr/>
          <p:nvPr/>
        </p:nvSpPr>
        <p:spPr>
          <a:xfrm>
            <a:off x="3968496" y="6464808"/>
            <a:ext cx="1572768" cy="201168"/>
          </a:xfrm>
          <a:prstGeom prst="rect">
            <a:avLst/>
          </a:prstGeom>
          <a:noFill/>
          <a:ln/>
        </p:spPr>
        <p:txBody>
          <a:bodyPr wrap="square" lIns="0" tIns="0" rIns="0" bIns="0" rtlCol="0" anchor="ctr"/>
          <a:lstStyle/>
          <a:p>
            <a:pPr indent="0" marL="0">
              <a:buNone/>
            </a:pPr>
            <a:r>
              <a:rPr lang="en-US" sz="850" b="1" dirty="0">
                <a:solidFill>
                  <a:srgbClr val="16191D"/>
                </a:solidFill>
                <a:latin typeface="Calibri" pitchFamily="34" charset="0"/>
                <a:ea typeface="Calibri" pitchFamily="34" charset="-122"/>
                <a:cs typeface="Calibri" pitchFamily="34" charset="-120"/>
              </a:rPr>
              <a:t>III · Pipeline</a:t>
            </a:r>
            <a:endParaRPr lang="en-US" sz="850" dirty="0"/>
          </a:p>
        </p:txBody>
      </p:sp>
      <p:sp>
        <p:nvSpPr>
          <p:cNvPr id="40" name="Shape 36"/>
          <p:cNvSpPr/>
          <p:nvPr/>
        </p:nvSpPr>
        <p:spPr>
          <a:xfrm>
            <a:off x="5632704" y="6400800"/>
            <a:ext cx="1572768" cy="45720"/>
          </a:xfrm>
          <a:prstGeom prst="rect">
            <a:avLst/>
          </a:prstGeom>
          <a:solidFill>
            <a:srgbClr val="DCD8D1"/>
          </a:solidFill>
          <a:ln/>
        </p:spPr>
      </p:sp>
      <p:sp>
        <p:nvSpPr>
          <p:cNvPr id="41" name="Text 37"/>
          <p:cNvSpPr/>
          <p:nvPr/>
        </p:nvSpPr>
        <p:spPr>
          <a:xfrm>
            <a:off x="5632704"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IV · Disiplin estimasi</a:t>
            </a:r>
            <a:endParaRPr lang="en-US" sz="850" dirty="0"/>
          </a:p>
        </p:txBody>
      </p:sp>
      <p:sp>
        <p:nvSpPr>
          <p:cNvPr id="42" name="Shape 38"/>
          <p:cNvSpPr/>
          <p:nvPr/>
        </p:nvSpPr>
        <p:spPr>
          <a:xfrm>
            <a:off x="7296912" y="6400800"/>
            <a:ext cx="1572768" cy="45720"/>
          </a:xfrm>
          <a:prstGeom prst="rect">
            <a:avLst/>
          </a:prstGeom>
          <a:solidFill>
            <a:srgbClr val="DCD8D1"/>
          </a:solidFill>
          <a:ln/>
        </p:spPr>
      </p:sp>
      <p:sp>
        <p:nvSpPr>
          <p:cNvPr id="43" name="Text 39"/>
          <p:cNvSpPr/>
          <p:nvPr/>
        </p:nvSpPr>
        <p:spPr>
          <a:xfrm>
            <a:off x="7296912"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V · Hasil &amp; plafon</a:t>
            </a:r>
            <a:endParaRPr lang="en-US" sz="850" dirty="0"/>
          </a:p>
        </p:txBody>
      </p:sp>
      <p:sp>
        <p:nvSpPr>
          <p:cNvPr id="44" name="Shape 40"/>
          <p:cNvSpPr/>
          <p:nvPr/>
        </p:nvSpPr>
        <p:spPr>
          <a:xfrm>
            <a:off x="8961120" y="6400800"/>
            <a:ext cx="1572768" cy="45720"/>
          </a:xfrm>
          <a:prstGeom prst="rect">
            <a:avLst/>
          </a:prstGeom>
          <a:solidFill>
            <a:srgbClr val="DCD8D1"/>
          </a:solidFill>
          <a:ln/>
        </p:spPr>
      </p:sp>
      <p:sp>
        <p:nvSpPr>
          <p:cNvPr id="45" name="Text 41"/>
          <p:cNvSpPr/>
          <p:nvPr/>
        </p:nvSpPr>
        <p:spPr>
          <a:xfrm>
            <a:off x="8961120"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VI · Reproduksi &amp; produk</a:t>
            </a:r>
            <a:endParaRPr lang="en-US" sz="850" dirty="0"/>
          </a:p>
        </p:txBody>
      </p:sp>
      <p:sp>
        <p:nvSpPr>
          <p:cNvPr id="46" name="Text 42"/>
          <p:cNvSpPr/>
          <p:nvPr/>
        </p:nvSpPr>
        <p:spPr>
          <a:xfrm>
            <a:off x="10637215" y="6382512"/>
            <a:ext cx="914400" cy="274320"/>
          </a:xfrm>
          <a:prstGeom prst="rect">
            <a:avLst/>
          </a:prstGeom>
          <a:noFill/>
          <a:ln/>
        </p:spPr>
        <p:txBody>
          <a:bodyPr wrap="square" lIns="0" tIns="0" rIns="0" bIns="0" rtlCol="0" anchor="ctr"/>
          <a:lstStyle/>
          <a:p>
            <a:pPr algn="r" indent="0" marL="0">
              <a:buNone/>
            </a:pPr>
            <a:r>
              <a:rPr lang="en-US" sz="900" b="1" dirty="0">
                <a:solidFill>
                  <a:srgbClr val="9AA0A7"/>
                </a:solidFill>
                <a:latin typeface="Calibri" pitchFamily="34" charset="0"/>
                <a:ea typeface="Calibri" pitchFamily="34" charset="-122"/>
                <a:cs typeface="Calibri"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84048"/>
            <a:ext cx="10911535" cy="530352"/>
          </a:xfrm>
          <a:prstGeom prst="rect">
            <a:avLst/>
          </a:prstGeom>
          <a:noFill/>
          <a:ln/>
        </p:spPr>
        <p:txBody>
          <a:bodyPr wrap="square" lIns="0" tIns="0" rIns="0" bIns="0" rtlCol="0" anchor="t"/>
          <a:lstStyle/>
          <a:p>
            <a:pPr indent="0" marL="0">
              <a:buNone/>
            </a:pPr>
            <a:r>
              <a:rPr lang="en-US" sz="2400" b="1" dirty="0">
                <a:solidFill>
                  <a:srgbClr val="16191D"/>
                </a:solidFill>
                <a:latin typeface="Cambria" pitchFamily="34" charset="0"/>
                <a:ea typeface="Cambria" pitchFamily="34" charset="-122"/>
                <a:cs typeface="Cambria" pitchFamily="34" charset="-120"/>
              </a:rPr>
              <a:t>89,9% perbaikan datang dari aturan keputusan, bukan dari model.</a:t>
            </a:r>
            <a:endParaRPr lang="en-US" sz="2400" dirty="0"/>
          </a:p>
        </p:txBody>
      </p:sp>
      <p:sp>
        <p:nvSpPr>
          <p:cNvPr id="3" name="Text 1"/>
          <p:cNvSpPr/>
          <p:nvPr/>
        </p:nvSpPr>
        <p:spPr>
          <a:xfrm>
            <a:off x="640080" y="896112"/>
            <a:ext cx="10911535" cy="310896"/>
          </a:xfrm>
          <a:prstGeom prst="rect">
            <a:avLst/>
          </a:prstGeom>
          <a:noFill/>
          <a:ln/>
        </p:spPr>
        <p:txBody>
          <a:bodyPr wrap="square" lIns="0" tIns="0" rIns="0" bIns="0" rtlCol="0" anchor="t"/>
          <a:lstStyle/>
          <a:p>
            <a:pPr indent="0" marL="0">
              <a:buNone/>
            </a:pPr>
            <a:r>
              <a:rPr lang="en-US" sz="1250" dirty="0">
                <a:solidFill>
                  <a:srgbClr val="6E747C"/>
                </a:solidFill>
                <a:latin typeface="Calibri" pitchFamily="34" charset="0"/>
                <a:ea typeface="Calibri" pitchFamily="34" charset="-122"/>
                <a:cs typeface="Calibri" pitchFamily="34" charset="-120"/>
              </a:rPr>
              <a:t>Akurasi turun, QWK naik. Enam baseline dijalankan penuh agar tiap komponen terpisah.</a:t>
            </a:r>
            <a:endParaRPr lang="en-US" sz="1250" dirty="0"/>
          </a:p>
        </p:txBody>
      </p:sp>
      <p:sp>
        <p:nvSpPr>
          <p:cNvPr id="4" name="Shape 2"/>
          <p:cNvSpPr/>
          <p:nvPr/>
        </p:nvSpPr>
        <p:spPr>
          <a:xfrm>
            <a:off x="640080" y="1371600"/>
            <a:ext cx="5120640" cy="4846320"/>
          </a:xfrm>
          <a:prstGeom prst="roundRect">
            <a:avLst>
              <a:gd name="adj" fmla="val 1132"/>
            </a:avLst>
          </a:prstGeom>
          <a:solidFill>
            <a:srgbClr val="F4F1EC"/>
          </a:solidFill>
          <a:ln w="9525">
            <a:solidFill>
              <a:srgbClr val="DCD8D1"/>
            </a:solidFill>
            <a:prstDash val="solid"/>
          </a:ln>
        </p:spPr>
      </p:sp>
      <p:sp>
        <p:nvSpPr>
          <p:cNvPr id="5" name="Text 3"/>
          <p:cNvSpPr/>
          <p:nvPr/>
        </p:nvSpPr>
        <p:spPr>
          <a:xfrm>
            <a:off x="841248" y="1499616"/>
            <a:ext cx="4718304" cy="201168"/>
          </a:xfrm>
          <a:prstGeom prst="rect">
            <a:avLst/>
          </a:prstGeom>
          <a:noFill/>
          <a:ln/>
        </p:spPr>
        <p:txBody>
          <a:bodyPr wrap="square" lIns="0" tIns="0" rIns="0" bIns="0" rtlCol="0" anchor="ctr"/>
          <a:lstStyle/>
          <a:p>
            <a:pPr indent="0" marL="0">
              <a:buNone/>
            </a:pPr>
            <a:r>
              <a:rPr lang="en-US" sz="850" b="1" spc="120" kern="0" dirty="0">
                <a:solidFill>
                  <a:srgbClr val="6E747C"/>
                </a:solidFill>
                <a:latin typeface="Calibri" pitchFamily="34" charset="0"/>
                <a:ea typeface="Calibri" pitchFamily="34" charset="-122"/>
                <a:cs typeface="Calibri" pitchFamily="34" charset="-120"/>
              </a:rPr>
              <a:t>MODEL SAMA, ATURAN BERBEDA</a:t>
            </a:r>
            <a:endParaRPr lang="en-US" sz="850" dirty="0"/>
          </a:p>
        </p:txBody>
      </p:sp>
      <p:sp>
        <p:nvSpPr>
          <p:cNvPr id="6" name="Text 4"/>
          <p:cNvSpPr/>
          <p:nvPr/>
        </p:nvSpPr>
        <p:spPr>
          <a:xfrm>
            <a:off x="841248" y="1700784"/>
            <a:ext cx="4718304" cy="475488"/>
          </a:xfrm>
          <a:prstGeom prst="rect">
            <a:avLst/>
          </a:prstGeom>
          <a:noFill/>
          <a:ln/>
        </p:spPr>
        <p:txBody>
          <a:bodyPr wrap="square" lIns="0" tIns="0" rIns="0" bIns="0" rtlCol="0" anchor="t"/>
          <a:lstStyle/>
          <a:p>
            <a:pPr indent="0" marL="0">
              <a:lnSpc>
                <a:spcPts val="1600"/>
              </a:lnSpc>
              <a:buNone/>
            </a:pPr>
            <a:r>
              <a:rPr lang="en-US" sz="1300" b="1" dirty="0">
                <a:solidFill>
                  <a:srgbClr val="16191D"/>
                </a:solidFill>
                <a:latin typeface="Cambria" pitchFamily="34" charset="0"/>
                <a:ea typeface="Cambria" pitchFamily="34" charset="-122"/>
                <a:cs typeface="Cambria" pitchFamily="34" charset="-120"/>
              </a:rPr>
              <a:t>argmax lawan nilai harapan + ambang</a:t>
            </a:r>
            <a:endParaRPr lang="en-US" sz="13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841248" y="2212848"/>
          <a:ext cx="4718304" cy="914400"/>
        </p:xfrm>
        <a:graphic>
          <a:graphicData uri="http://schemas.openxmlformats.org/drawingml/2006/table">
            <a:tbl>
              <a:tblPr/>
              <a:tblGrid>
                <a:gridCol w="2194560"/>
                <a:gridCol w="1170432"/>
                <a:gridCol w="1353312"/>
              </a:tblGrid>
              <a:tr h="329184">
                <a:tc>
                  <a:txBody>
                    <a:bodyPr/>
                    <a:lstStyle/>
                    <a:p>
                      <a:pPr algn="l" indent="0" marL="0">
                        <a:buNone/>
                      </a:pPr>
                      <a:r>
                        <a:rPr lang="en-US" sz="1050" b="1" dirty="0">
                          <a:solidFill>
                            <a:srgbClr val="16191D"/>
                          </a:solidFill>
                          <a:latin typeface="Calibri" pitchFamily="34" charset="0"/>
                          <a:ea typeface="Calibri" pitchFamily="34" charset="-122"/>
                          <a:cs typeface="Calibri" pitchFamily="34" charset="-120"/>
                        </a:rPr>
                        <a:t>Strategi</a:t>
                      </a:r>
                      <a:endParaRPr lang="en-US" sz="1050" dirty="0">
                        <a:latin typeface="Calibri" charset="0"/>
                        <a:ea typeface="Calibri" charset="0"/>
                        <a:cs typeface="Calibri" charset="0"/>
                      </a:endParaRPr>
                    </a:p>
                  </a:txBody>
                  <a:tcPr marL="25400" marR="101600" marT="63500" marB="63500" anchor="ctr">
                    <a:lnL w="0" cap="flat" cmpd="sng" algn="ctr">
                      <a:noFill/>
                    </a:lnL>
                    <a:lnR w="0" cap="flat" cmpd="sng" algn="ctr">
                      <a:noFill/>
                    </a:lnR>
                    <a:lnT w="17780" cap="flat" cmpd="sng" algn="ctr">
                      <a:solidFill>
                        <a:srgbClr val="16191D"/>
                      </a:solidFill>
                      <a:prstDash val="solid"/>
                      <a:round/>
                      <a:headEnd type="none" w="med" len="med"/>
                      <a:tailEnd type="none" w="med" len="med"/>
                    </a:lnT>
                    <a:lnB w="10160" cap="flat" cmpd="sng" algn="ctr">
                      <a:solidFill>
                        <a:srgbClr val="16191D"/>
                      </a:solidFill>
                      <a:prstDash val="solid"/>
                      <a:round/>
                      <a:headEnd type="none" w="med" len="med"/>
                      <a:tailEnd type="none" w="med" len="med"/>
                    </a:lnB>
                  </a:tcPr>
                </a:tc>
                <a:tc>
                  <a:txBody>
                    <a:bodyPr/>
                    <a:lstStyle/>
                    <a:p>
                      <a:pPr algn="r" indent="0" marL="0">
                        <a:buNone/>
                      </a:pPr>
                      <a:r>
                        <a:rPr lang="en-US" sz="1050" b="1" dirty="0">
                          <a:solidFill>
                            <a:srgbClr val="16191D"/>
                          </a:solidFill>
                          <a:latin typeface="Calibri" pitchFamily="34" charset="0"/>
                          <a:ea typeface="Calibri" pitchFamily="34" charset="-122"/>
                          <a:cs typeface="Calibri" pitchFamily="34" charset="-120"/>
                        </a:rPr>
                        <a:t>QWK</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17780" cap="flat" cmpd="sng" algn="ctr">
                      <a:solidFill>
                        <a:srgbClr val="16191D"/>
                      </a:solidFill>
                      <a:prstDash val="solid"/>
                      <a:round/>
                      <a:headEnd type="none" w="med" len="med"/>
                      <a:tailEnd type="none" w="med" len="med"/>
                    </a:lnT>
                    <a:lnB w="10160" cap="flat" cmpd="sng" algn="ctr">
                      <a:solidFill>
                        <a:srgbClr val="16191D"/>
                      </a:solidFill>
                      <a:prstDash val="solid"/>
                      <a:round/>
                      <a:headEnd type="none" w="med" len="med"/>
                      <a:tailEnd type="none" w="med" len="med"/>
                    </a:lnB>
                  </a:tcPr>
                </a:tc>
                <a:tc>
                  <a:txBody>
                    <a:bodyPr/>
                    <a:lstStyle/>
                    <a:p>
                      <a:pPr algn="r" indent="0" marL="0">
                        <a:buNone/>
                      </a:pPr>
                      <a:r>
                        <a:rPr lang="en-US" sz="1050" b="1" dirty="0">
                          <a:solidFill>
                            <a:srgbClr val="16191D"/>
                          </a:solidFill>
                          <a:latin typeface="Calibri" pitchFamily="34" charset="0"/>
                          <a:ea typeface="Calibri" pitchFamily="34" charset="-122"/>
                          <a:cs typeface="Calibri" pitchFamily="34" charset="-120"/>
                        </a:rPr>
                        <a:t>Akurasi</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17780" cap="flat" cmpd="sng" algn="ctr">
                      <a:solidFill>
                        <a:srgbClr val="16191D"/>
                      </a:solidFill>
                      <a:prstDash val="solid"/>
                      <a:round/>
                      <a:headEnd type="none" w="med" len="med"/>
                      <a:tailEnd type="none" w="med" len="med"/>
                    </a:lnT>
                    <a:lnB w="10160" cap="flat" cmpd="sng" algn="ctr">
                      <a:solidFill>
                        <a:srgbClr val="16191D"/>
                      </a:solidFill>
                      <a:prstDash val="solid"/>
                      <a:round/>
                      <a:headEnd type="none" w="med" len="med"/>
                      <a:tailEnd type="none" w="med" len="med"/>
                    </a:lnB>
                  </a:tcPr>
                </a:tc>
              </a:tr>
              <a:tr h="329184">
                <a:tc>
                  <a:txBody>
                    <a:bodyPr/>
                    <a:lstStyle/>
                    <a:p>
                      <a:pPr algn="l" indent="0" marL="0">
                        <a:buNone/>
                      </a:pPr>
                      <a:r>
                        <a:rPr lang="en-US" sz="1050" dirty="0">
                          <a:solidFill>
                            <a:srgbClr val="3A4048"/>
                          </a:solidFill>
                          <a:latin typeface="Calibri" pitchFamily="34" charset="0"/>
                          <a:ea typeface="Calibri" pitchFamily="34" charset="-122"/>
                          <a:cs typeface="Calibri" pitchFamily="34" charset="-120"/>
                        </a:rPr>
                        <a:t>argmax probabilitas</a:t>
                      </a:r>
                      <a:endParaRPr lang="en-US" sz="105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050" dirty="0">
                          <a:solidFill>
                            <a:srgbClr val="3A4048"/>
                          </a:solidFill>
                          <a:latin typeface="Calibri" pitchFamily="34" charset="0"/>
                          <a:ea typeface="Calibri" pitchFamily="34" charset="-122"/>
                          <a:cs typeface="Calibri" pitchFamily="34" charset="-120"/>
                        </a:rPr>
                        <a:t>0,42460</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050" b="1" dirty="0">
                          <a:solidFill>
                            <a:srgbClr val="3A4048"/>
                          </a:solidFill>
                          <a:latin typeface="Calibri" pitchFamily="34" charset="0"/>
                          <a:ea typeface="Calibri" pitchFamily="34" charset="-122"/>
                          <a:cs typeface="Calibri" pitchFamily="34" charset="-120"/>
                        </a:rPr>
                        <a:t>0,66943</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329184">
                <a:tc>
                  <a:txBody>
                    <a:bodyPr/>
                    <a:lstStyle/>
                    <a:p>
                      <a:pPr algn="l" indent="0" marL="0">
                        <a:buNone/>
                      </a:pPr>
                      <a:r>
                        <a:rPr lang="en-US" sz="1050" b="1" dirty="0">
                          <a:solidFill>
                            <a:srgbClr val="2F6B5F"/>
                          </a:solidFill>
                          <a:latin typeface="Calibri" pitchFamily="34" charset="0"/>
                          <a:ea typeface="Calibri" pitchFamily="34" charset="-122"/>
                          <a:cs typeface="Calibri" pitchFamily="34" charset="-120"/>
                        </a:rPr>
                        <a:t>E[y] + ambang</a:t>
                      </a:r>
                      <a:endParaRPr lang="en-US" sz="105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17780" cap="flat" cmpd="sng" algn="ctr">
                      <a:solidFill>
                        <a:srgbClr val="16191D"/>
                      </a:solidFill>
                      <a:prstDash val="solid"/>
                      <a:round/>
                      <a:headEnd type="none" w="med" len="med"/>
                      <a:tailEnd type="none" w="med" len="med"/>
                    </a:lnB>
                  </a:tcPr>
                </a:tc>
                <a:tc>
                  <a:txBody>
                    <a:bodyPr/>
                    <a:lstStyle/>
                    <a:p>
                      <a:pPr algn="r" indent="0" marL="0">
                        <a:buNone/>
                      </a:pPr>
                      <a:r>
                        <a:rPr lang="en-US" sz="1050" b="1" dirty="0">
                          <a:solidFill>
                            <a:srgbClr val="2F6B5F"/>
                          </a:solidFill>
                          <a:latin typeface="Calibri" pitchFamily="34" charset="0"/>
                          <a:ea typeface="Calibri" pitchFamily="34" charset="-122"/>
                          <a:cs typeface="Calibri" pitchFamily="34" charset="-120"/>
                        </a:rPr>
                        <a:t>0,48517</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17780" cap="flat" cmpd="sng" algn="ctr">
                      <a:solidFill>
                        <a:srgbClr val="16191D"/>
                      </a:solidFill>
                      <a:prstDash val="solid"/>
                      <a:round/>
                      <a:headEnd type="none" w="med" len="med"/>
                      <a:tailEnd type="none" w="med" len="med"/>
                    </a:lnB>
                  </a:tcPr>
                </a:tc>
                <a:tc>
                  <a:txBody>
                    <a:bodyPr/>
                    <a:lstStyle/>
                    <a:p>
                      <a:pPr algn="r" indent="0" marL="0">
                        <a:buNone/>
                      </a:pPr>
                      <a:r>
                        <a:rPr lang="en-US" sz="1050" dirty="0">
                          <a:solidFill>
                            <a:srgbClr val="3A4048"/>
                          </a:solidFill>
                          <a:latin typeface="Calibri" pitchFamily="34" charset="0"/>
                          <a:ea typeface="Calibri" pitchFamily="34" charset="-122"/>
                          <a:cs typeface="Calibri" pitchFamily="34" charset="-120"/>
                        </a:rPr>
                        <a:t>0,63258</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17780" cap="flat" cmpd="sng" algn="ctr">
                      <a:solidFill>
                        <a:srgbClr val="16191D"/>
                      </a:solidFill>
                      <a:prstDash val="solid"/>
                      <a:round/>
                      <a:headEnd type="none" w="med" len="med"/>
                      <a:tailEnd type="none" w="med" len="med"/>
                    </a:lnB>
                  </a:tcPr>
                </a:tc>
              </a:tr>
            </a:tbl>
          </a:graphicData>
        </a:graphic>
      </p:graphicFrame>
      <p:sp>
        <p:nvSpPr>
          <p:cNvPr id="8" name="Text 5"/>
          <p:cNvSpPr/>
          <p:nvPr/>
        </p:nvSpPr>
        <p:spPr>
          <a:xfrm>
            <a:off x="841248" y="3401568"/>
            <a:ext cx="5120640" cy="201168"/>
          </a:xfrm>
          <a:prstGeom prst="rect">
            <a:avLst/>
          </a:prstGeom>
          <a:noFill/>
          <a:ln/>
        </p:spPr>
        <p:txBody>
          <a:bodyPr wrap="square" lIns="0" tIns="0" rIns="0" bIns="0" rtlCol="0" anchor="ctr"/>
          <a:lstStyle/>
          <a:p>
            <a:pPr indent="0" marL="0">
              <a:buNone/>
            </a:pPr>
            <a:r>
              <a:rPr lang="en-US" sz="850" b="1" spc="110" kern="0" dirty="0">
                <a:solidFill>
                  <a:srgbClr val="6E747C"/>
                </a:solidFill>
                <a:latin typeface="Calibri" pitchFamily="34" charset="0"/>
                <a:ea typeface="Calibri" pitchFamily="34" charset="-122"/>
                <a:cs typeface="Calibri" pitchFamily="34" charset="-120"/>
              </a:rPr>
              <a:t>PORSI LABEL KELAS 3 (ORANYE) DAN 4 (MERAH)</a:t>
            </a:r>
            <a:endParaRPr lang="en-US" sz="850" dirty="0"/>
          </a:p>
        </p:txBody>
      </p:sp>
      <p:sp>
        <p:nvSpPr>
          <p:cNvPr id="9" name="Text 6"/>
          <p:cNvSpPr/>
          <p:nvPr/>
        </p:nvSpPr>
        <p:spPr>
          <a:xfrm>
            <a:off x="841248" y="3694176"/>
            <a:ext cx="1143000" cy="274320"/>
          </a:xfrm>
          <a:prstGeom prst="rect">
            <a:avLst/>
          </a:prstGeom>
          <a:noFill/>
          <a:ln/>
        </p:spPr>
        <p:txBody>
          <a:bodyPr wrap="square" lIns="0" tIns="0" rIns="0" bIns="0" rtlCol="0" anchor="ctr"/>
          <a:lstStyle/>
          <a:p>
            <a:pPr algn="r" indent="0" marL="0">
              <a:buNone/>
            </a:pPr>
            <a:r>
              <a:rPr lang="en-US" sz="1000" dirty="0">
                <a:solidFill>
                  <a:srgbClr val="16191D"/>
                </a:solidFill>
                <a:latin typeface="Calibri" pitchFamily="34" charset="0"/>
                <a:ea typeface="Calibri" pitchFamily="34" charset="-122"/>
                <a:cs typeface="Calibri" pitchFamily="34" charset="-120"/>
              </a:rPr>
              <a:t>aktual</a:t>
            </a:r>
            <a:endParaRPr lang="en-US" sz="1000" dirty="0"/>
          </a:p>
        </p:txBody>
      </p:sp>
      <p:sp>
        <p:nvSpPr>
          <p:cNvPr id="10" name="Shape 7"/>
          <p:cNvSpPr/>
          <p:nvPr/>
        </p:nvSpPr>
        <p:spPr>
          <a:xfrm>
            <a:off x="2057400" y="3739896"/>
            <a:ext cx="1133856" cy="182880"/>
          </a:xfrm>
          <a:prstGeom prst="rect">
            <a:avLst/>
          </a:prstGeom>
          <a:solidFill>
            <a:srgbClr val="D8A25E"/>
          </a:solidFill>
          <a:ln/>
        </p:spPr>
      </p:sp>
      <p:sp>
        <p:nvSpPr>
          <p:cNvPr id="11" name="Shape 8"/>
          <p:cNvSpPr/>
          <p:nvPr/>
        </p:nvSpPr>
        <p:spPr>
          <a:xfrm>
            <a:off x="3191256" y="3739896"/>
            <a:ext cx="283464" cy="182880"/>
          </a:xfrm>
          <a:prstGeom prst="rect">
            <a:avLst/>
          </a:prstGeom>
          <a:solidFill>
            <a:srgbClr val="A8442A"/>
          </a:solidFill>
          <a:ln/>
        </p:spPr>
      </p:sp>
      <p:sp>
        <p:nvSpPr>
          <p:cNvPr id="12" name="Text 9"/>
          <p:cNvSpPr/>
          <p:nvPr/>
        </p:nvSpPr>
        <p:spPr>
          <a:xfrm>
            <a:off x="3547872" y="3694176"/>
            <a:ext cx="731520" cy="274320"/>
          </a:xfrm>
          <a:prstGeom prst="rect">
            <a:avLst/>
          </a:prstGeom>
          <a:noFill/>
          <a:ln/>
        </p:spPr>
        <p:txBody>
          <a:bodyPr wrap="square" lIns="0" tIns="0" rIns="0" bIns="0" rtlCol="0" anchor="ctr"/>
          <a:lstStyle/>
          <a:p>
            <a:pPr indent="0" marL="0">
              <a:buNone/>
            </a:pPr>
            <a:r>
              <a:rPr lang="en-US" sz="1000" b="1" dirty="0">
                <a:solidFill>
                  <a:srgbClr val="16191D"/>
                </a:solidFill>
                <a:latin typeface="Calibri" pitchFamily="34" charset="0"/>
                <a:ea typeface="Calibri" pitchFamily="34" charset="-122"/>
                <a:cs typeface="Calibri" pitchFamily="34" charset="-120"/>
              </a:rPr>
              <a:t>4,65%</a:t>
            </a:r>
            <a:endParaRPr lang="en-US" sz="1000" dirty="0"/>
          </a:p>
        </p:txBody>
      </p:sp>
      <p:sp>
        <p:nvSpPr>
          <p:cNvPr id="13" name="Text 10"/>
          <p:cNvSpPr/>
          <p:nvPr/>
        </p:nvSpPr>
        <p:spPr>
          <a:xfrm>
            <a:off x="841248" y="4105656"/>
            <a:ext cx="1143000" cy="274320"/>
          </a:xfrm>
          <a:prstGeom prst="rect">
            <a:avLst/>
          </a:prstGeom>
          <a:noFill/>
          <a:ln/>
        </p:spPr>
        <p:txBody>
          <a:bodyPr wrap="square" lIns="0" tIns="0" rIns="0" bIns="0" rtlCol="0" anchor="ctr"/>
          <a:lstStyle/>
          <a:p>
            <a:pPr algn="r" indent="0" marL="0">
              <a:buNone/>
            </a:pPr>
            <a:r>
              <a:rPr lang="en-US" sz="1000" dirty="0">
                <a:solidFill>
                  <a:srgbClr val="16191D"/>
                </a:solidFill>
                <a:latin typeface="Calibri" pitchFamily="34" charset="0"/>
                <a:ea typeface="Calibri" pitchFamily="34" charset="-122"/>
                <a:cs typeface="Calibri" pitchFamily="34" charset="-120"/>
              </a:rPr>
              <a:t>argmax</a:t>
            </a:r>
            <a:endParaRPr lang="en-US" sz="1000" dirty="0"/>
          </a:p>
        </p:txBody>
      </p:sp>
      <p:sp>
        <p:nvSpPr>
          <p:cNvPr id="14" name="Shape 11"/>
          <p:cNvSpPr/>
          <p:nvPr/>
        </p:nvSpPr>
        <p:spPr>
          <a:xfrm>
            <a:off x="2057400" y="4151376"/>
            <a:ext cx="286512" cy="182880"/>
          </a:xfrm>
          <a:prstGeom prst="rect">
            <a:avLst/>
          </a:prstGeom>
          <a:solidFill>
            <a:srgbClr val="D8A25E"/>
          </a:solidFill>
          <a:ln/>
        </p:spPr>
      </p:sp>
      <p:sp>
        <p:nvSpPr>
          <p:cNvPr id="15" name="Shape 12"/>
          <p:cNvSpPr/>
          <p:nvPr/>
        </p:nvSpPr>
        <p:spPr>
          <a:xfrm>
            <a:off x="2343912" y="4151376"/>
            <a:ext cx="27432" cy="182880"/>
          </a:xfrm>
          <a:prstGeom prst="rect">
            <a:avLst/>
          </a:prstGeom>
          <a:solidFill>
            <a:srgbClr val="A8442A"/>
          </a:solidFill>
          <a:ln/>
        </p:spPr>
      </p:sp>
      <p:sp>
        <p:nvSpPr>
          <p:cNvPr id="16" name="Text 13"/>
          <p:cNvSpPr/>
          <p:nvPr/>
        </p:nvSpPr>
        <p:spPr>
          <a:xfrm>
            <a:off x="2423160" y="4105656"/>
            <a:ext cx="731520" cy="274320"/>
          </a:xfrm>
          <a:prstGeom prst="rect">
            <a:avLst/>
          </a:prstGeom>
          <a:noFill/>
          <a:ln/>
        </p:spPr>
        <p:txBody>
          <a:bodyPr wrap="square" lIns="0" tIns="0" rIns="0" bIns="0" rtlCol="0" anchor="ctr"/>
          <a:lstStyle/>
          <a:p>
            <a:pPr indent="0" marL="0">
              <a:buNone/>
            </a:pPr>
            <a:r>
              <a:rPr lang="en-US" sz="1000" b="1" dirty="0">
                <a:solidFill>
                  <a:srgbClr val="16191D"/>
                </a:solidFill>
                <a:latin typeface="Calibri" pitchFamily="34" charset="0"/>
                <a:ea typeface="Calibri" pitchFamily="34" charset="-122"/>
                <a:cs typeface="Calibri" pitchFamily="34" charset="-120"/>
              </a:rPr>
              <a:t>0,96%</a:t>
            </a:r>
            <a:endParaRPr lang="en-US" sz="1000" dirty="0"/>
          </a:p>
        </p:txBody>
      </p:sp>
      <p:sp>
        <p:nvSpPr>
          <p:cNvPr id="17" name="Text 14"/>
          <p:cNvSpPr/>
          <p:nvPr/>
        </p:nvSpPr>
        <p:spPr>
          <a:xfrm>
            <a:off x="841248" y="4517136"/>
            <a:ext cx="1143000" cy="274320"/>
          </a:xfrm>
          <a:prstGeom prst="rect">
            <a:avLst/>
          </a:prstGeom>
          <a:noFill/>
          <a:ln/>
        </p:spPr>
        <p:txBody>
          <a:bodyPr wrap="square" lIns="0" tIns="0" rIns="0" bIns="0" rtlCol="0" anchor="ctr"/>
          <a:lstStyle/>
          <a:p>
            <a:pPr algn="r" indent="0" marL="0">
              <a:buNone/>
            </a:pPr>
            <a:r>
              <a:rPr lang="en-US" sz="1000" b="1" dirty="0">
                <a:solidFill>
                  <a:srgbClr val="16191D"/>
                </a:solidFill>
                <a:latin typeface="Calibri" pitchFamily="34" charset="0"/>
                <a:ea typeface="Calibri" pitchFamily="34" charset="-122"/>
                <a:cs typeface="Calibri" pitchFamily="34" charset="-120"/>
              </a:rPr>
              <a:t>E[y] + ambang</a:t>
            </a:r>
            <a:endParaRPr lang="en-US" sz="1000" dirty="0"/>
          </a:p>
        </p:txBody>
      </p:sp>
      <p:sp>
        <p:nvSpPr>
          <p:cNvPr id="18" name="Shape 15"/>
          <p:cNvSpPr/>
          <p:nvPr/>
        </p:nvSpPr>
        <p:spPr>
          <a:xfrm>
            <a:off x="2057400" y="4562856"/>
            <a:ext cx="2133600" cy="182880"/>
          </a:xfrm>
          <a:prstGeom prst="rect">
            <a:avLst/>
          </a:prstGeom>
          <a:solidFill>
            <a:srgbClr val="D8A25E"/>
          </a:solidFill>
          <a:ln/>
        </p:spPr>
      </p:sp>
      <p:sp>
        <p:nvSpPr>
          <p:cNvPr id="19" name="Shape 16"/>
          <p:cNvSpPr/>
          <p:nvPr/>
        </p:nvSpPr>
        <p:spPr>
          <a:xfrm>
            <a:off x="4191000" y="4562856"/>
            <a:ext cx="481584" cy="182880"/>
          </a:xfrm>
          <a:prstGeom prst="rect">
            <a:avLst/>
          </a:prstGeom>
          <a:solidFill>
            <a:srgbClr val="A8442A"/>
          </a:solidFill>
          <a:ln/>
        </p:spPr>
      </p:sp>
      <p:sp>
        <p:nvSpPr>
          <p:cNvPr id="20" name="Text 17"/>
          <p:cNvSpPr/>
          <p:nvPr/>
        </p:nvSpPr>
        <p:spPr>
          <a:xfrm>
            <a:off x="4745736" y="4517136"/>
            <a:ext cx="731520" cy="274320"/>
          </a:xfrm>
          <a:prstGeom prst="rect">
            <a:avLst/>
          </a:prstGeom>
          <a:noFill/>
          <a:ln/>
        </p:spPr>
        <p:txBody>
          <a:bodyPr wrap="square" lIns="0" tIns="0" rIns="0" bIns="0" rtlCol="0" anchor="ctr"/>
          <a:lstStyle/>
          <a:p>
            <a:pPr indent="0" marL="0">
              <a:buNone/>
            </a:pPr>
            <a:r>
              <a:rPr lang="en-US" sz="1000" b="1" dirty="0">
                <a:solidFill>
                  <a:srgbClr val="16191D"/>
                </a:solidFill>
                <a:latin typeface="Calibri" pitchFamily="34" charset="0"/>
                <a:ea typeface="Calibri" pitchFamily="34" charset="-122"/>
                <a:cs typeface="Calibri" pitchFamily="34" charset="-120"/>
              </a:rPr>
              <a:t>8,58%</a:t>
            </a:r>
            <a:endParaRPr lang="en-US" sz="1000" dirty="0"/>
          </a:p>
        </p:txBody>
      </p:sp>
      <p:sp>
        <p:nvSpPr>
          <p:cNvPr id="21" name="Text 18"/>
          <p:cNvSpPr/>
          <p:nvPr/>
        </p:nvSpPr>
        <p:spPr>
          <a:xfrm>
            <a:off x="841248" y="4864608"/>
            <a:ext cx="4718304" cy="457200"/>
          </a:xfrm>
          <a:prstGeom prst="rect">
            <a:avLst/>
          </a:prstGeom>
          <a:noFill/>
          <a:ln/>
        </p:spPr>
        <p:txBody>
          <a:bodyPr wrap="square" lIns="0" tIns="0" rIns="0" bIns="0" rtlCol="0" anchor="b"/>
          <a:lstStyle/>
          <a:p>
            <a:pPr algn="l" indent="0" marL="0">
              <a:buNone/>
            </a:pPr>
            <a:r>
              <a:rPr lang="en-US" sz="2600" b="1" dirty="0">
                <a:solidFill>
                  <a:srgbClr val="A8442A"/>
                </a:solidFill>
                <a:latin typeface="Cambria" pitchFamily="34" charset="0"/>
                <a:ea typeface="Cambria" pitchFamily="34" charset="-122"/>
                <a:cs typeface="Cambria" pitchFamily="34" charset="-120"/>
              </a:rPr>
              <a:t>+0,06057</a:t>
            </a:r>
            <a:endParaRPr lang="en-US" sz="2600" dirty="0"/>
          </a:p>
        </p:txBody>
      </p:sp>
      <p:sp>
        <p:nvSpPr>
          <p:cNvPr id="22" name="Text 19"/>
          <p:cNvSpPr/>
          <p:nvPr/>
        </p:nvSpPr>
        <p:spPr>
          <a:xfrm>
            <a:off x="841248" y="5358384"/>
            <a:ext cx="4718304" cy="420624"/>
          </a:xfrm>
          <a:prstGeom prst="rect">
            <a:avLst/>
          </a:prstGeom>
          <a:noFill/>
          <a:ln/>
        </p:spPr>
        <p:txBody>
          <a:bodyPr wrap="square" lIns="0" tIns="0" rIns="0" bIns="0" rtlCol="0" anchor="t"/>
          <a:lstStyle/>
          <a:p>
            <a:pPr algn="l" indent="0" marL="0">
              <a:lnSpc>
                <a:spcPts val="1300"/>
              </a:lnSpc>
              <a:buNone/>
            </a:pPr>
            <a:r>
              <a:rPr lang="en-US" sz="1000" dirty="0">
                <a:solidFill>
                  <a:srgbClr val="6E747C"/>
                </a:solidFill>
                <a:latin typeface="Calibri" pitchFamily="34" charset="0"/>
                <a:ea typeface="Calibri" pitchFamily="34" charset="-122"/>
                <a:cs typeface="Calibri" pitchFamily="34" charset="-120"/>
              </a:rPr>
              <a:t>dari satu perubahan aturan keputusan pada stacking</a:t>
            </a:r>
            <a:endParaRPr lang="en-US" sz="1000" dirty="0"/>
          </a:p>
        </p:txBody>
      </p:sp>
      <p:sp>
        <p:nvSpPr>
          <p:cNvPr id="23" name="Text 20"/>
          <p:cNvSpPr/>
          <p:nvPr/>
        </p:nvSpPr>
        <p:spPr>
          <a:xfrm>
            <a:off x="841248" y="5614416"/>
            <a:ext cx="4718304" cy="548640"/>
          </a:xfrm>
          <a:prstGeom prst="rect">
            <a:avLst/>
          </a:prstGeom>
          <a:noFill/>
          <a:ln/>
        </p:spPr>
        <p:txBody>
          <a:bodyPr wrap="square" lIns="0" tIns="0" rIns="0" bIns="0" rtlCol="0" anchor="t"/>
          <a:lstStyle/>
          <a:p>
            <a:pPr algn="l" indent="0" marL="0">
              <a:lnSpc>
                <a:spcPts val="1283"/>
              </a:lnSpc>
              <a:buNone/>
            </a:pPr>
            <a:r>
              <a:rPr lang="en-US" sz="950" dirty="0">
                <a:solidFill>
                  <a:srgbClr val="3A4048"/>
                </a:solidFill>
                <a:latin typeface="Calibri" pitchFamily="34" charset="0"/>
                <a:ea typeface="Calibri" pitchFamily="34" charset="-122"/>
                <a:cs typeface="Calibri" pitchFamily="34" charset="-120"/>
              </a:rPr>
              <a:t>argmax nyaris tidak pernah memilih kelas 3 dan 4 karena posteriornya jarang tertinggi, sehingga setiap responden sangat tidak puas menjadi galat penalti 9.</a:t>
            </a:r>
            <a:endParaRPr lang="en-US" sz="950" dirty="0"/>
          </a:p>
        </p:txBody>
      </p:sp>
      <p:sp>
        <p:nvSpPr>
          <p:cNvPr id="24" name="Shape 21"/>
          <p:cNvSpPr/>
          <p:nvPr/>
        </p:nvSpPr>
        <p:spPr>
          <a:xfrm>
            <a:off x="6035040" y="1371600"/>
            <a:ext cx="5516575" cy="4846320"/>
          </a:xfrm>
          <a:prstGeom prst="roundRect">
            <a:avLst>
              <a:gd name="adj" fmla="val 1132"/>
            </a:avLst>
          </a:prstGeom>
          <a:solidFill>
            <a:srgbClr val="FFFFFF"/>
          </a:solidFill>
          <a:ln w="9525">
            <a:solidFill>
              <a:srgbClr val="DCD8D1"/>
            </a:solidFill>
            <a:prstDash val="solid"/>
          </a:ln>
        </p:spPr>
      </p:sp>
      <p:sp>
        <p:nvSpPr>
          <p:cNvPr id="25" name="Text 22"/>
          <p:cNvSpPr/>
          <p:nvPr/>
        </p:nvSpPr>
        <p:spPr>
          <a:xfrm>
            <a:off x="6236208" y="1499616"/>
            <a:ext cx="5114239" cy="201168"/>
          </a:xfrm>
          <a:prstGeom prst="rect">
            <a:avLst/>
          </a:prstGeom>
          <a:noFill/>
          <a:ln/>
        </p:spPr>
        <p:txBody>
          <a:bodyPr wrap="square" lIns="0" tIns="0" rIns="0" bIns="0" rtlCol="0" anchor="ctr"/>
          <a:lstStyle/>
          <a:p>
            <a:pPr indent="0" marL="0">
              <a:buNone/>
            </a:pPr>
            <a:r>
              <a:rPr lang="en-US" sz="850" b="1" spc="120" kern="0" dirty="0">
                <a:solidFill>
                  <a:srgbClr val="6E747C"/>
                </a:solidFill>
                <a:latin typeface="Calibri" pitchFamily="34" charset="0"/>
                <a:ea typeface="Calibri" pitchFamily="34" charset="-122"/>
                <a:cs typeface="Calibri" pitchFamily="34" charset="-120"/>
              </a:rPr>
              <a:t>10.4 · DEKOMPOSISI BASELINE</a:t>
            </a:r>
            <a:endParaRPr lang="en-US" sz="850" dirty="0"/>
          </a:p>
        </p:txBody>
      </p:sp>
      <p:sp>
        <p:nvSpPr>
          <p:cNvPr id="26" name="Text 23"/>
          <p:cNvSpPr/>
          <p:nvPr/>
        </p:nvSpPr>
        <p:spPr>
          <a:xfrm>
            <a:off x="6236208" y="1700784"/>
            <a:ext cx="5114239" cy="475488"/>
          </a:xfrm>
          <a:prstGeom prst="rect">
            <a:avLst/>
          </a:prstGeom>
          <a:noFill/>
          <a:ln/>
        </p:spPr>
        <p:txBody>
          <a:bodyPr wrap="square" lIns="0" tIns="0" rIns="0" bIns="0" rtlCol="0" anchor="t"/>
          <a:lstStyle/>
          <a:p>
            <a:pPr indent="0" marL="0">
              <a:lnSpc>
                <a:spcPts val="1600"/>
              </a:lnSpc>
              <a:buNone/>
            </a:pPr>
            <a:r>
              <a:rPr lang="en-US" sz="1300" b="1" dirty="0">
                <a:solidFill>
                  <a:srgbClr val="16191D"/>
                </a:solidFill>
                <a:latin typeface="Cambria" pitchFamily="34" charset="0"/>
                <a:ea typeface="Cambria" pitchFamily="34" charset="-122"/>
                <a:cs typeface="Cambria" pitchFamily="34" charset="-120"/>
              </a:rPr>
              <a:t>Dari mana perbaikan sebenarnya datang</a:t>
            </a:r>
            <a:endParaRPr lang="en-US" sz="1300" dirty="0"/>
          </a:p>
        </p:txBody>
      </p:sp>
      <p:sp>
        <p:nvSpPr>
          <p:cNvPr id="27" name="Text 24"/>
          <p:cNvSpPr/>
          <p:nvPr/>
        </p:nvSpPr>
        <p:spPr>
          <a:xfrm>
            <a:off x="6126480" y="2212848"/>
            <a:ext cx="1737360" cy="329184"/>
          </a:xfrm>
          <a:prstGeom prst="rect">
            <a:avLst/>
          </a:prstGeom>
          <a:noFill/>
          <a:ln/>
        </p:spPr>
        <p:txBody>
          <a:bodyPr wrap="square" lIns="0" tIns="0" rIns="0" bIns="0" rtlCol="0" anchor="ctr"/>
          <a:lstStyle/>
          <a:p>
            <a:pPr algn="r" indent="0" marL="0">
              <a:buNone/>
            </a:pPr>
            <a:r>
              <a:rPr lang="en-US" sz="1000" dirty="0">
                <a:solidFill>
                  <a:srgbClr val="3A4048"/>
                </a:solidFill>
                <a:latin typeface="Calibri" pitchFamily="34" charset="0"/>
                <a:ea typeface="Calibri" pitchFamily="34" charset="-122"/>
                <a:cs typeface="Calibri" pitchFamily="34" charset="-120"/>
              </a:rPr>
              <a:t>1. Kelas mayoritas</a:t>
            </a:r>
            <a:endParaRPr lang="en-US" sz="1000" dirty="0"/>
          </a:p>
        </p:txBody>
      </p:sp>
      <p:sp>
        <p:nvSpPr>
          <p:cNvPr id="28" name="Shape 25"/>
          <p:cNvSpPr/>
          <p:nvPr/>
        </p:nvSpPr>
        <p:spPr>
          <a:xfrm>
            <a:off x="7973568" y="2276856"/>
            <a:ext cx="2691079" cy="201168"/>
          </a:xfrm>
          <a:prstGeom prst="rect">
            <a:avLst/>
          </a:prstGeom>
          <a:solidFill>
            <a:srgbClr val="F4F1EC"/>
          </a:solidFill>
          <a:ln/>
        </p:spPr>
      </p:sp>
      <p:sp>
        <p:nvSpPr>
          <p:cNvPr id="29" name="Shape 26"/>
          <p:cNvSpPr/>
          <p:nvPr/>
        </p:nvSpPr>
        <p:spPr>
          <a:xfrm>
            <a:off x="7973568" y="2276856"/>
            <a:ext cx="18288" cy="201168"/>
          </a:xfrm>
          <a:prstGeom prst="rect">
            <a:avLst/>
          </a:prstGeom>
          <a:solidFill>
            <a:srgbClr val="F4F1EC"/>
          </a:solidFill>
          <a:ln/>
        </p:spPr>
      </p:sp>
      <p:sp>
        <p:nvSpPr>
          <p:cNvPr id="30" name="Text 27"/>
          <p:cNvSpPr/>
          <p:nvPr/>
        </p:nvSpPr>
        <p:spPr>
          <a:xfrm>
            <a:off x="10756087" y="2212848"/>
            <a:ext cx="685800" cy="329184"/>
          </a:xfrm>
          <a:prstGeom prst="rect">
            <a:avLst/>
          </a:prstGeom>
          <a:noFill/>
          <a:ln/>
        </p:spPr>
        <p:txBody>
          <a:bodyPr wrap="square" lIns="0" tIns="0" rIns="0" bIns="0" rtlCol="0" anchor="ctr"/>
          <a:lstStyle/>
          <a:p>
            <a:pPr algn="l" indent="0" marL="0">
              <a:buNone/>
            </a:pPr>
            <a:r>
              <a:rPr lang="en-US" sz="1000" dirty="0">
                <a:solidFill>
                  <a:srgbClr val="3A4048"/>
                </a:solidFill>
                <a:latin typeface="Calibri" pitchFamily="34" charset="0"/>
                <a:ea typeface="Calibri" pitchFamily="34" charset="-122"/>
                <a:cs typeface="Calibri" pitchFamily="34" charset="-120"/>
              </a:rPr>
              <a:t>0,00000</a:t>
            </a:r>
            <a:endParaRPr lang="en-US" sz="1000" dirty="0"/>
          </a:p>
        </p:txBody>
      </p:sp>
      <p:sp>
        <p:nvSpPr>
          <p:cNvPr id="31" name="Text 28"/>
          <p:cNvSpPr/>
          <p:nvPr/>
        </p:nvSpPr>
        <p:spPr>
          <a:xfrm>
            <a:off x="6126480" y="2615184"/>
            <a:ext cx="1737360" cy="329184"/>
          </a:xfrm>
          <a:prstGeom prst="rect">
            <a:avLst/>
          </a:prstGeom>
          <a:noFill/>
          <a:ln/>
        </p:spPr>
        <p:txBody>
          <a:bodyPr wrap="square" lIns="0" tIns="0" rIns="0" bIns="0" rtlCol="0" anchor="ctr"/>
          <a:lstStyle/>
          <a:p>
            <a:pPr algn="r" indent="0" marL="0">
              <a:buNone/>
            </a:pPr>
            <a:r>
              <a:rPr lang="en-US" sz="1000" dirty="0">
                <a:solidFill>
                  <a:srgbClr val="3A4048"/>
                </a:solidFill>
                <a:latin typeface="Calibri" pitchFamily="34" charset="0"/>
                <a:ea typeface="Calibri" pitchFamily="34" charset="-122"/>
                <a:cs typeface="Calibri" pitchFamily="34" charset="-120"/>
              </a:rPr>
              <a:t>2. Acak ikut proporsi</a:t>
            </a:r>
            <a:endParaRPr lang="en-US" sz="1000" dirty="0"/>
          </a:p>
        </p:txBody>
      </p:sp>
      <p:sp>
        <p:nvSpPr>
          <p:cNvPr id="32" name="Shape 29"/>
          <p:cNvSpPr/>
          <p:nvPr/>
        </p:nvSpPr>
        <p:spPr>
          <a:xfrm>
            <a:off x="7973568" y="2679192"/>
            <a:ext cx="2691079" cy="201168"/>
          </a:xfrm>
          <a:prstGeom prst="rect">
            <a:avLst/>
          </a:prstGeom>
          <a:solidFill>
            <a:srgbClr val="F4F1EC"/>
          </a:solidFill>
          <a:ln/>
        </p:spPr>
      </p:sp>
      <p:sp>
        <p:nvSpPr>
          <p:cNvPr id="33" name="Shape 30"/>
          <p:cNvSpPr/>
          <p:nvPr/>
        </p:nvSpPr>
        <p:spPr>
          <a:xfrm>
            <a:off x="7973568" y="2679192"/>
            <a:ext cx="20129" cy="201168"/>
          </a:xfrm>
          <a:prstGeom prst="rect">
            <a:avLst/>
          </a:prstGeom>
          <a:solidFill>
            <a:srgbClr val="9AA0A7"/>
          </a:solidFill>
          <a:ln/>
        </p:spPr>
      </p:sp>
      <p:sp>
        <p:nvSpPr>
          <p:cNvPr id="34" name="Text 31"/>
          <p:cNvSpPr/>
          <p:nvPr/>
        </p:nvSpPr>
        <p:spPr>
          <a:xfrm>
            <a:off x="10756087" y="2615184"/>
            <a:ext cx="685800" cy="329184"/>
          </a:xfrm>
          <a:prstGeom prst="rect">
            <a:avLst/>
          </a:prstGeom>
          <a:noFill/>
          <a:ln/>
        </p:spPr>
        <p:txBody>
          <a:bodyPr wrap="square" lIns="0" tIns="0" rIns="0" bIns="0" rtlCol="0" anchor="ctr"/>
          <a:lstStyle/>
          <a:p>
            <a:pPr algn="l" indent="0" marL="0">
              <a:buNone/>
            </a:pPr>
            <a:r>
              <a:rPr lang="en-US" sz="1000" dirty="0">
                <a:solidFill>
                  <a:srgbClr val="3A4048"/>
                </a:solidFill>
                <a:latin typeface="Calibri" pitchFamily="34" charset="0"/>
                <a:ea typeface="Calibri" pitchFamily="34" charset="-122"/>
                <a:cs typeface="Calibri" pitchFamily="34" charset="-120"/>
              </a:rPr>
              <a:t>0,00374</a:t>
            </a:r>
            <a:endParaRPr lang="en-US" sz="1000" dirty="0"/>
          </a:p>
        </p:txBody>
      </p:sp>
      <p:sp>
        <p:nvSpPr>
          <p:cNvPr id="35" name="Text 32"/>
          <p:cNvSpPr/>
          <p:nvPr/>
        </p:nvSpPr>
        <p:spPr>
          <a:xfrm>
            <a:off x="6126480" y="3017520"/>
            <a:ext cx="1737360" cy="329184"/>
          </a:xfrm>
          <a:prstGeom prst="rect">
            <a:avLst/>
          </a:prstGeom>
          <a:noFill/>
          <a:ln/>
        </p:spPr>
        <p:txBody>
          <a:bodyPr wrap="square" lIns="0" tIns="0" rIns="0" bIns="0" rtlCol="0" anchor="ctr"/>
          <a:lstStyle/>
          <a:p>
            <a:pPr algn="r" indent="0" marL="0">
              <a:buNone/>
            </a:pPr>
            <a:r>
              <a:rPr lang="en-US" sz="1000" dirty="0">
                <a:solidFill>
                  <a:srgbClr val="3A4048"/>
                </a:solidFill>
                <a:latin typeface="Calibri" pitchFamily="34" charset="0"/>
                <a:ea typeface="Calibri" pitchFamily="34" charset="-122"/>
                <a:cs typeface="Calibri" pitchFamily="34" charset="-120"/>
              </a:rPr>
              <a:t>3. Logistik + ambang</a:t>
            </a:r>
            <a:endParaRPr lang="en-US" sz="1000" dirty="0"/>
          </a:p>
        </p:txBody>
      </p:sp>
      <p:sp>
        <p:nvSpPr>
          <p:cNvPr id="36" name="Shape 33"/>
          <p:cNvSpPr/>
          <p:nvPr/>
        </p:nvSpPr>
        <p:spPr>
          <a:xfrm>
            <a:off x="7973568" y="3081528"/>
            <a:ext cx="2691079" cy="201168"/>
          </a:xfrm>
          <a:prstGeom prst="rect">
            <a:avLst/>
          </a:prstGeom>
          <a:solidFill>
            <a:srgbClr val="F4F1EC"/>
          </a:solidFill>
          <a:ln/>
        </p:spPr>
      </p:sp>
      <p:sp>
        <p:nvSpPr>
          <p:cNvPr id="37" name="Shape 34"/>
          <p:cNvSpPr/>
          <p:nvPr/>
        </p:nvSpPr>
        <p:spPr>
          <a:xfrm>
            <a:off x="7973568" y="3081528"/>
            <a:ext cx="2415513" cy="201168"/>
          </a:xfrm>
          <a:prstGeom prst="rect">
            <a:avLst/>
          </a:prstGeom>
          <a:solidFill>
            <a:srgbClr val="3A4048"/>
          </a:solidFill>
          <a:ln/>
        </p:spPr>
      </p:sp>
      <p:sp>
        <p:nvSpPr>
          <p:cNvPr id="38" name="Text 35"/>
          <p:cNvSpPr/>
          <p:nvPr/>
        </p:nvSpPr>
        <p:spPr>
          <a:xfrm>
            <a:off x="10756087" y="3017520"/>
            <a:ext cx="685800" cy="329184"/>
          </a:xfrm>
          <a:prstGeom prst="rect">
            <a:avLst/>
          </a:prstGeom>
          <a:noFill/>
          <a:ln/>
        </p:spPr>
        <p:txBody>
          <a:bodyPr wrap="square" lIns="0" tIns="0" rIns="0" bIns="0" rtlCol="0" anchor="ctr"/>
          <a:lstStyle/>
          <a:p>
            <a:pPr algn="l" indent="0" marL="0">
              <a:buNone/>
            </a:pPr>
            <a:r>
              <a:rPr lang="en-US" sz="1000" dirty="0">
                <a:solidFill>
                  <a:srgbClr val="3A4048"/>
                </a:solidFill>
                <a:latin typeface="Calibri" pitchFamily="34" charset="0"/>
                <a:ea typeface="Calibri" pitchFamily="34" charset="-122"/>
                <a:cs typeface="Calibri" pitchFamily="34" charset="-120"/>
              </a:rPr>
              <a:t>0,44880</a:t>
            </a:r>
            <a:endParaRPr lang="en-US" sz="1000" dirty="0"/>
          </a:p>
        </p:txBody>
      </p:sp>
      <p:sp>
        <p:nvSpPr>
          <p:cNvPr id="39" name="Text 36"/>
          <p:cNvSpPr/>
          <p:nvPr/>
        </p:nvSpPr>
        <p:spPr>
          <a:xfrm>
            <a:off x="6126480" y="3419856"/>
            <a:ext cx="1737360" cy="329184"/>
          </a:xfrm>
          <a:prstGeom prst="rect">
            <a:avLst/>
          </a:prstGeom>
          <a:noFill/>
          <a:ln/>
        </p:spPr>
        <p:txBody>
          <a:bodyPr wrap="square" lIns="0" tIns="0" rIns="0" bIns="0" rtlCol="0" anchor="ctr"/>
          <a:lstStyle/>
          <a:p>
            <a:pPr algn="r" indent="0" marL="0">
              <a:buNone/>
            </a:pPr>
            <a:r>
              <a:rPr lang="en-US" sz="1000" dirty="0">
                <a:solidFill>
                  <a:srgbClr val="3A4048"/>
                </a:solidFill>
                <a:latin typeface="Calibri" pitchFamily="34" charset="0"/>
                <a:ea typeface="Calibri" pitchFamily="34" charset="-122"/>
                <a:cs typeface="Calibri" pitchFamily="34" charset="-120"/>
              </a:rPr>
              <a:t>4. LightGBM + argmax</a:t>
            </a:r>
            <a:endParaRPr lang="en-US" sz="1000" dirty="0"/>
          </a:p>
        </p:txBody>
      </p:sp>
      <p:sp>
        <p:nvSpPr>
          <p:cNvPr id="40" name="Shape 37"/>
          <p:cNvSpPr/>
          <p:nvPr/>
        </p:nvSpPr>
        <p:spPr>
          <a:xfrm>
            <a:off x="7973568" y="3483864"/>
            <a:ext cx="2691079" cy="201168"/>
          </a:xfrm>
          <a:prstGeom prst="rect">
            <a:avLst/>
          </a:prstGeom>
          <a:solidFill>
            <a:srgbClr val="F4F1EC"/>
          </a:solidFill>
          <a:ln/>
        </p:spPr>
      </p:sp>
      <p:sp>
        <p:nvSpPr>
          <p:cNvPr id="41" name="Shape 38"/>
          <p:cNvSpPr/>
          <p:nvPr/>
        </p:nvSpPr>
        <p:spPr>
          <a:xfrm>
            <a:off x="7973568" y="3483864"/>
            <a:ext cx="2230797" cy="201168"/>
          </a:xfrm>
          <a:prstGeom prst="rect">
            <a:avLst/>
          </a:prstGeom>
          <a:solidFill>
            <a:srgbClr val="D8A25E"/>
          </a:solidFill>
          <a:ln/>
        </p:spPr>
      </p:sp>
      <p:sp>
        <p:nvSpPr>
          <p:cNvPr id="42" name="Text 39"/>
          <p:cNvSpPr/>
          <p:nvPr/>
        </p:nvSpPr>
        <p:spPr>
          <a:xfrm>
            <a:off x="10756087" y="3419856"/>
            <a:ext cx="685800" cy="329184"/>
          </a:xfrm>
          <a:prstGeom prst="rect">
            <a:avLst/>
          </a:prstGeom>
          <a:noFill/>
          <a:ln/>
        </p:spPr>
        <p:txBody>
          <a:bodyPr wrap="square" lIns="0" tIns="0" rIns="0" bIns="0" rtlCol="0" anchor="ctr"/>
          <a:lstStyle/>
          <a:p>
            <a:pPr algn="l" indent="0" marL="0">
              <a:buNone/>
            </a:pPr>
            <a:r>
              <a:rPr lang="en-US" sz="1000" dirty="0">
                <a:solidFill>
                  <a:srgbClr val="3A4048"/>
                </a:solidFill>
                <a:latin typeface="Calibri" pitchFamily="34" charset="0"/>
                <a:ea typeface="Calibri" pitchFamily="34" charset="-122"/>
                <a:cs typeface="Calibri" pitchFamily="34" charset="-120"/>
              </a:rPr>
              <a:t>0,41448</a:t>
            </a:r>
            <a:endParaRPr lang="en-US" sz="1000" dirty="0"/>
          </a:p>
        </p:txBody>
      </p:sp>
      <p:sp>
        <p:nvSpPr>
          <p:cNvPr id="43" name="Text 40"/>
          <p:cNvSpPr/>
          <p:nvPr/>
        </p:nvSpPr>
        <p:spPr>
          <a:xfrm>
            <a:off x="6126480" y="3822192"/>
            <a:ext cx="1737360" cy="329184"/>
          </a:xfrm>
          <a:prstGeom prst="rect">
            <a:avLst/>
          </a:prstGeom>
          <a:noFill/>
          <a:ln/>
        </p:spPr>
        <p:txBody>
          <a:bodyPr wrap="square" lIns="0" tIns="0" rIns="0" bIns="0" rtlCol="0" anchor="ctr"/>
          <a:lstStyle/>
          <a:p>
            <a:pPr algn="r" indent="0" marL="0">
              <a:buNone/>
            </a:pPr>
            <a:r>
              <a:rPr lang="en-US" sz="1000" dirty="0">
                <a:solidFill>
                  <a:srgbClr val="3A4048"/>
                </a:solidFill>
                <a:latin typeface="Calibri" pitchFamily="34" charset="0"/>
                <a:ea typeface="Calibri" pitchFamily="34" charset="-122"/>
                <a:cs typeface="Calibri" pitchFamily="34" charset="-120"/>
              </a:rPr>
              <a:t>5. LightGBM + ambang</a:t>
            </a:r>
            <a:endParaRPr lang="en-US" sz="1000" dirty="0"/>
          </a:p>
        </p:txBody>
      </p:sp>
      <p:sp>
        <p:nvSpPr>
          <p:cNvPr id="44" name="Shape 41"/>
          <p:cNvSpPr/>
          <p:nvPr/>
        </p:nvSpPr>
        <p:spPr>
          <a:xfrm>
            <a:off x="7973568" y="3886200"/>
            <a:ext cx="2691079" cy="201168"/>
          </a:xfrm>
          <a:prstGeom prst="rect">
            <a:avLst/>
          </a:prstGeom>
          <a:solidFill>
            <a:srgbClr val="F4F1EC"/>
          </a:solidFill>
          <a:ln/>
        </p:spPr>
      </p:sp>
      <p:sp>
        <p:nvSpPr>
          <p:cNvPr id="45" name="Shape 42"/>
          <p:cNvSpPr/>
          <p:nvPr/>
        </p:nvSpPr>
        <p:spPr>
          <a:xfrm>
            <a:off x="7973568" y="3886200"/>
            <a:ext cx="2568205" cy="201168"/>
          </a:xfrm>
          <a:prstGeom prst="rect">
            <a:avLst/>
          </a:prstGeom>
          <a:solidFill>
            <a:srgbClr val="2F6B5F"/>
          </a:solidFill>
          <a:ln/>
        </p:spPr>
      </p:sp>
      <p:sp>
        <p:nvSpPr>
          <p:cNvPr id="46" name="Text 43"/>
          <p:cNvSpPr/>
          <p:nvPr/>
        </p:nvSpPr>
        <p:spPr>
          <a:xfrm>
            <a:off x="10756087" y="3822192"/>
            <a:ext cx="685800" cy="329184"/>
          </a:xfrm>
          <a:prstGeom prst="rect">
            <a:avLst/>
          </a:prstGeom>
          <a:noFill/>
          <a:ln/>
        </p:spPr>
        <p:txBody>
          <a:bodyPr wrap="square" lIns="0" tIns="0" rIns="0" bIns="0" rtlCol="0" anchor="ctr"/>
          <a:lstStyle/>
          <a:p>
            <a:pPr algn="l" indent="0" marL="0">
              <a:buNone/>
            </a:pPr>
            <a:r>
              <a:rPr lang="en-US" sz="1000" dirty="0">
                <a:solidFill>
                  <a:srgbClr val="3A4048"/>
                </a:solidFill>
                <a:latin typeface="Calibri" pitchFamily="34" charset="0"/>
                <a:ea typeface="Calibri" pitchFamily="34" charset="-122"/>
                <a:cs typeface="Calibri" pitchFamily="34" charset="-120"/>
              </a:rPr>
              <a:t>0,47717</a:t>
            </a:r>
            <a:endParaRPr lang="en-US" sz="1000" dirty="0"/>
          </a:p>
        </p:txBody>
      </p:sp>
      <p:sp>
        <p:nvSpPr>
          <p:cNvPr id="47" name="Text 44"/>
          <p:cNvSpPr/>
          <p:nvPr/>
        </p:nvSpPr>
        <p:spPr>
          <a:xfrm>
            <a:off x="6126480" y="4224528"/>
            <a:ext cx="1737360" cy="329184"/>
          </a:xfrm>
          <a:prstGeom prst="rect">
            <a:avLst/>
          </a:prstGeom>
          <a:noFill/>
          <a:ln/>
        </p:spPr>
        <p:txBody>
          <a:bodyPr wrap="square" lIns="0" tIns="0" rIns="0" bIns="0" rtlCol="0" anchor="ctr"/>
          <a:lstStyle/>
          <a:p>
            <a:pPr algn="r" indent="0" marL="0">
              <a:buNone/>
            </a:pPr>
            <a:r>
              <a:rPr lang="en-US" sz="1000" b="1" dirty="0">
                <a:solidFill>
                  <a:srgbClr val="16191D"/>
                </a:solidFill>
                <a:latin typeface="Calibri" pitchFamily="34" charset="0"/>
                <a:ea typeface="Calibri" pitchFamily="34" charset="-122"/>
                <a:cs typeface="Calibri" pitchFamily="34" charset="-120"/>
              </a:rPr>
              <a:t>6. Pipeline final</a:t>
            </a:r>
            <a:endParaRPr lang="en-US" sz="1000" dirty="0"/>
          </a:p>
        </p:txBody>
      </p:sp>
      <p:sp>
        <p:nvSpPr>
          <p:cNvPr id="48" name="Shape 45"/>
          <p:cNvSpPr/>
          <p:nvPr/>
        </p:nvSpPr>
        <p:spPr>
          <a:xfrm>
            <a:off x="7973568" y="4288536"/>
            <a:ext cx="2691079" cy="201168"/>
          </a:xfrm>
          <a:prstGeom prst="rect">
            <a:avLst/>
          </a:prstGeom>
          <a:solidFill>
            <a:srgbClr val="F4F1EC"/>
          </a:solidFill>
          <a:ln/>
        </p:spPr>
      </p:sp>
      <p:sp>
        <p:nvSpPr>
          <p:cNvPr id="49" name="Shape 46"/>
          <p:cNvSpPr/>
          <p:nvPr/>
        </p:nvSpPr>
        <p:spPr>
          <a:xfrm>
            <a:off x="7973568" y="4288536"/>
            <a:ext cx="2606310" cy="201168"/>
          </a:xfrm>
          <a:prstGeom prst="rect">
            <a:avLst/>
          </a:prstGeom>
          <a:solidFill>
            <a:srgbClr val="A8442A"/>
          </a:solidFill>
          <a:ln/>
        </p:spPr>
      </p:sp>
      <p:sp>
        <p:nvSpPr>
          <p:cNvPr id="50" name="Text 47"/>
          <p:cNvSpPr/>
          <p:nvPr/>
        </p:nvSpPr>
        <p:spPr>
          <a:xfrm>
            <a:off x="10756087" y="4224528"/>
            <a:ext cx="685800" cy="329184"/>
          </a:xfrm>
          <a:prstGeom prst="rect">
            <a:avLst/>
          </a:prstGeom>
          <a:noFill/>
          <a:ln/>
        </p:spPr>
        <p:txBody>
          <a:bodyPr wrap="square" lIns="0" tIns="0" rIns="0" bIns="0" rtlCol="0" anchor="ctr"/>
          <a:lstStyle/>
          <a:p>
            <a:pPr algn="l" indent="0" marL="0">
              <a:buNone/>
            </a:pPr>
            <a:r>
              <a:rPr lang="en-US" sz="1000" b="1" dirty="0">
                <a:solidFill>
                  <a:srgbClr val="A8442A"/>
                </a:solidFill>
                <a:latin typeface="Calibri" pitchFamily="34" charset="0"/>
                <a:ea typeface="Calibri" pitchFamily="34" charset="-122"/>
                <a:cs typeface="Calibri" pitchFamily="34" charset="-120"/>
              </a:rPr>
              <a:t>0,48425</a:t>
            </a:r>
            <a:endParaRPr lang="en-US" sz="1000" dirty="0"/>
          </a:p>
        </p:txBody>
      </p:sp>
      <p:sp>
        <p:nvSpPr>
          <p:cNvPr id="51" name="Shape 48"/>
          <p:cNvSpPr/>
          <p:nvPr/>
        </p:nvSpPr>
        <p:spPr>
          <a:xfrm>
            <a:off x="6236208" y="4818888"/>
            <a:ext cx="2442820" cy="1005840"/>
          </a:xfrm>
          <a:prstGeom prst="roundRect">
            <a:avLst>
              <a:gd name="adj" fmla="val 5455"/>
            </a:avLst>
          </a:prstGeom>
          <a:solidFill>
            <a:srgbClr val="F4F1EC"/>
          </a:solidFill>
          <a:ln w="9525">
            <a:solidFill>
              <a:srgbClr val="DCD8D1"/>
            </a:solidFill>
            <a:prstDash val="solid"/>
          </a:ln>
        </p:spPr>
      </p:sp>
      <p:sp>
        <p:nvSpPr>
          <p:cNvPr id="52" name="Text 49"/>
          <p:cNvSpPr/>
          <p:nvPr/>
        </p:nvSpPr>
        <p:spPr>
          <a:xfrm>
            <a:off x="6364224" y="4882896"/>
            <a:ext cx="2186788" cy="365760"/>
          </a:xfrm>
          <a:prstGeom prst="rect">
            <a:avLst/>
          </a:prstGeom>
          <a:noFill/>
          <a:ln/>
        </p:spPr>
        <p:txBody>
          <a:bodyPr wrap="square" lIns="0" tIns="0" rIns="0" bIns="0" rtlCol="0" anchor="b"/>
          <a:lstStyle/>
          <a:p>
            <a:pPr algn="l" indent="0" marL="0">
              <a:buNone/>
            </a:pPr>
            <a:r>
              <a:rPr lang="en-US" sz="1800" b="1" dirty="0">
                <a:solidFill>
                  <a:srgbClr val="2F6B5F"/>
                </a:solidFill>
                <a:latin typeface="Cambria" pitchFamily="34" charset="0"/>
                <a:ea typeface="Cambria" pitchFamily="34" charset="-122"/>
                <a:cs typeface="Cambria" pitchFamily="34" charset="-120"/>
              </a:rPr>
              <a:t>+0,06269</a:t>
            </a:r>
            <a:endParaRPr lang="en-US" sz="1800" dirty="0"/>
          </a:p>
        </p:txBody>
      </p:sp>
      <p:sp>
        <p:nvSpPr>
          <p:cNvPr id="53" name="Text 50"/>
          <p:cNvSpPr/>
          <p:nvPr/>
        </p:nvSpPr>
        <p:spPr>
          <a:xfrm>
            <a:off x="6364224" y="5285232"/>
            <a:ext cx="2186788" cy="420624"/>
          </a:xfrm>
          <a:prstGeom prst="rect">
            <a:avLst/>
          </a:prstGeom>
          <a:noFill/>
          <a:ln/>
        </p:spPr>
        <p:txBody>
          <a:bodyPr wrap="square" lIns="0" tIns="0" rIns="0" bIns="0" rtlCol="0" anchor="t"/>
          <a:lstStyle/>
          <a:p>
            <a:pPr algn="l" indent="0" marL="0">
              <a:lnSpc>
                <a:spcPts val="1300"/>
              </a:lnSpc>
              <a:buNone/>
            </a:pPr>
            <a:r>
              <a:rPr lang="en-US" sz="950" dirty="0">
                <a:solidFill>
                  <a:srgbClr val="6E747C"/>
                </a:solidFill>
                <a:latin typeface="Calibri" pitchFamily="34" charset="0"/>
                <a:ea typeface="Calibri" pitchFamily="34" charset="-122"/>
                <a:cs typeface="Calibri" pitchFamily="34" charset="-120"/>
              </a:rPr>
              <a:t>baris 4 → 5: hanya aturan berubah</a:t>
            </a:r>
            <a:endParaRPr lang="en-US" sz="950" dirty="0"/>
          </a:p>
        </p:txBody>
      </p:sp>
      <p:sp>
        <p:nvSpPr>
          <p:cNvPr id="54" name="Shape 51"/>
          <p:cNvSpPr/>
          <p:nvPr/>
        </p:nvSpPr>
        <p:spPr>
          <a:xfrm>
            <a:off x="8907628" y="4818888"/>
            <a:ext cx="2442820" cy="1005840"/>
          </a:xfrm>
          <a:prstGeom prst="roundRect">
            <a:avLst>
              <a:gd name="adj" fmla="val 5455"/>
            </a:avLst>
          </a:prstGeom>
          <a:solidFill>
            <a:srgbClr val="F4F1EC"/>
          </a:solidFill>
          <a:ln w="9525">
            <a:solidFill>
              <a:srgbClr val="DCD8D1"/>
            </a:solidFill>
            <a:prstDash val="solid"/>
          </a:ln>
        </p:spPr>
      </p:sp>
      <p:sp>
        <p:nvSpPr>
          <p:cNvPr id="55" name="Text 52"/>
          <p:cNvSpPr/>
          <p:nvPr/>
        </p:nvSpPr>
        <p:spPr>
          <a:xfrm>
            <a:off x="9035644" y="4882896"/>
            <a:ext cx="2186788" cy="365760"/>
          </a:xfrm>
          <a:prstGeom prst="rect">
            <a:avLst/>
          </a:prstGeom>
          <a:noFill/>
          <a:ln/>
        </p:spPr>
        <p:txBody>
          <a:bodyPr wrap="square" lIns="0" tIns="0" rIns="0" bIns="0" rtlCol="0" anchor="b"/>
          <a:lstStyle/>
          <a:p>
            <a:pPr algn="l" indent="0" marL="0">
              <a:buNone/>
            </a:pPr>
            <a:r>
              <a:rPr lang="en-US" sz="1800" b="1" dirty="0">
                <a:solidFill>
                  <a:srgbClr val="16191D"/>
                </a:solidFill>
                <a:latin typeface="Cambria" pitchFamily="34" charset="0"/>
                <a:ea typeface="Cambria" pitchFamily="34" charset="-122"/>
                <a:cs typeface="Cambria" pitchFamily="34" charset="-120"/>
              </a:rPr>
              <a:t>+0,00708</a:t>
            </a:r>
            <a:endParaRPr lang="en-US" sz="1800" dirty="0"/>
          </a:p>
        </p:txBody>
      </p:sp>
      <p:sp>
        <p:nvSpPr>
          <p:cNvPr id="56" name="Text 53"/>
          <p:cNvSpPr/>
          <p:nvPr/>
        </p:nvSpPr>
        <p:spPr>
          <a:xfrm>
            <a:off x="9035644" y="5285232"/>
            <a:ext cx="2186788" cy="420624"/>
          </a:xfrm>
          <a:prstGeom prst="rect">
            <a:avLst/>
          </a:prstGeom>
          <a:noFill/>
          <a:ln/>
        </p:spPr>
        <p:txBody>
          <a:bodyPr wrap="square" lIns="0" tIns="0" rIns="0" bIns="0" rtlCol="0" anchor="t"/>
          <a:lstStyle/>
          <a:p>
            <a:pPr algn="l" indent="0" marL="0">
              <a:lnSpc>
                <a:spcPts val="1300"/>
              </a:lnSpc>
              <a:buNone/>
            </a:pPr>
            <a:r>
              <a:rPr lang="en-US" sz="950" dirty="0">
                <a:solidFill>
                  <a:srgbClr val="6E747C"/>
                </a:solidFill>
                <a:latin typeface="Calibri" pitchFamily="34" charset="0"/>
                <a:ea typeface="Calibri" pitchFamily="34" charset="-122"/>
                <a:cs typeface="Calibri" pitchFamily="34" charset="-120"/>
              </a:rPr>
              <a:t>baris 5 → 6: lima model, stacking, studi ambang</a:t>
            </a:r>
            <a:endParaRPr lang="en-US" sz="950" dirty="0"/>
          </a:p>
        </p:txBody>
      </p:sp>
      <p:sp>
        <p:nvSpPr>
          <p:cNvPr id="57" name="Text 54"/>
          <p:cNvSpPr/>
          <p:nvPr/>
        </p:nvSpPr>
        <p:spPr>
          <a:xfrm>
            <a:off x="6236208" y="5870448"/>
            <a:ext cx="5114239" cy="384048"/>
          </a:xfrm>
          <a:prstGeom prst="rect">
            <a:avLst/>
          </a:prstGeom>
          <a:noFill/>
          <a:ln/>
        </p:spPr>
        <p:txBody>
          <a:bodyPr wrap="square" lIns="0" tIns="0" rIns="0" bIns="0" rtlCol="0" anchor="t"/>
          <a:lstStyle/>
          <a:p>
            <a:pPr algn="l" indent="0" marL="0">
              <a:lnSpc>
                <a:spcPts val="1283"/>
              </a:lnSpc>
              <a:buNone/>
            </a:pPr>
            <a:r>
              <a:rPr lang="en-US" sz="950" dirty="0">
                <a:solidFill>
                  <a:srgbClr val="3A4048"/>
                </a:solidFill>
                <a:latin typeface="Calibri" pitchFamily="34" charset="0"/>
                <a:ea typeface="Calibri" pitchFamily="34" charset="-122"/>
                <a:cs typeface="Calibri" pitchFamily="34" charset="-120"/>
              </a:rPr>
              <a:t>Baris 3 di bawah pohon menandakan hubungan fitur dan target memang non-linear, jadi model pohon bukan pilihan gaya.</a:t>
            </a:r>
            <a:endParaRPr lang="en-US" sz="950" dirty="0"/>
          </a:p>
        </p:txBody>
      </p:sp>
      <p:sp>
        <p:nvSpPr>
          <p:cNvPr id="59" name="Shape 55"/>
          <p:cNvSpPr/>
          <p:nvPr/>
        </p:nvSpPr>
        <p:spPr>
          <a:xfrm>
            <a:off x="640080" y="6400800"/>
            <a:ext cx="1572768" cy="45720"/>
          </a:xfrm>
          <a:prstGeom prst="rect">
            <a:avLst/>
          </a:prstGeom>
          <a:solidFill>
            <a:srgbClr val="DCD8D1"/>
          </a:solidFill>
          <a:ln/>
        </p:spPr>
      </p:sp>
      <p:sp>
        <p:nvSpPr>
          <p:cNvPr id="60" name="Text 56"/>
          <p:cNvSpPr/>
          <p:nvPr/>
        </p:nvSpPr>
        <p:spPr>
          <a:xfrm>
            <a:off x="640080"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I · Latar &amp; data</a:t>
            </a:r>
            <a:endParaRPr lang="en-US" sz="850" dirty="0"/>
          </a:p>
        </p:txBody>
      </p:sp>
      <p:sp>
        <p:nvSpPr>
          <p:cNvPr id="61" name="Shape 57"/>
          <p:cNvSpPr/>
          <p:nvPr/>
        </p:nvSpPr>
        <p:spPr>
          <a:xfrm>
            <a:off x="2304288" y="6400800"/>
            <a:ext cx="1572768" cy="45720"/>
          </a:xfrm>
          <a:prstGeom prst="rect">
            <a:avLst/>
          </a:prstGeom>
          <a:solidFill>
            <a:srgbClr val="DCD8D1"/>
          </a:solidFill>
          <a:ln/>
        </p:spPr>
      </p:sp>
      <p:sp>
        <p:nvSpPr>
          <p:cNvPr id="62" name="Text 58"/>
          <p:cNvSpPr/>
          <p:nvPr/>
        </p:nvSpPr>
        <p:spPr>
          <a:xfrm>
            <a:off x="2304288"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II · EDA</a:t>
            </a:r>
            <a:endParaRPr lang="en-US" sz="850" dirty="0"/>
          </a:p>
        </p:txBody>
      </p:sp>
      <p:sp>
        <p:nvSpPr>
          <p:cNvPr id="63" name="Shape 59"/>
          <p:cNvSpPr/>
          <p:nvPr/>
        </p:nvSpPr>
        <p:spPr>
          <a:xfrm>
            <a:off x="3968496" y="6400800"/>
            <a:ext cx="1572768" cy="45720"/>
          </a:xfrm>
          <a:prstGeom prst="rect">
            <a:avLst/>
          </a:prstGeom>
          <a:solidFill>
            <a:srgbClr val="A8442A"/>
          </a:solidFill>
          <a:ln/>
        </p:spPr>
      </p:sp>
      <p:sp>
        <p:nvSpPr>
          <p:cNvPr id="64" name="Text 60"/>
          <p:cNvSpPr/>
          <p:nvPr/>
        </p:nvSpPr>
        <p:spPr>
          <a:xfrm>
            <a:off x="3968496" y="6464808"/>
            <a:ext cx="1572768" cy="201168"/>
          </a:xfrm>
          <a:prstGeom prst="rect">
            <a:avLst/>
          </a:prstGeom>
          <a:noFill/>
          <a:ln/>
        </p:spPr>
        <p:txBody>
          <a:bodyPr wrap="square" lIns="0" tIns="0" rIns="0" bIns="0" rtlCol="0" anchor="ctr"/>
          <a:lstStyle/>
          <a:p>
            <a:pPr indent="0" marL="0">
              <a:buNone/>
            </a:pPr>
            <a:r>
              <a:rPr lang="en-US" sz="850" b="1" dirty="0">
                <a:solidFill>
                  <a:srgbClr val="16191D"/>
                </a:solidFill>
                <a:latin typeface="Calibri" pitchFamily="34" charset="0"/>
                <a:ea typeface="Calibri" pitchFamily="34" charset="-122"/>
                <a:cs typeface="Calibri" pitchFamily="34" charset="-120"/>
              </a:rPr>
              <a:t>III · Pipeline</a:t>
            </a:r>
            <a:endParaRPr lang="en-US" sz="850" dirty="0"/>
          </a:p>
        </p:txBody>
      </p:sp>
      <p:sp>
        <p:nvSpPr>
          <p:cNvPr id="65" name="Shape 61"/>
          <p:cNvSpPr/>
          <p:nvPr/>
        </p:nvSpPr>
        <p:spPr>
          <a:xfrm>
            <a:off x="5632704" y="6400800"/>
            <a:ext cx="1572768" cy="45720"/>
          </a:xfrm>
          <a:prstGeom prst="rect">
            <a:avLst/>
          </a:prstGeom>
          <a:solidFill>
            <a:srgbClr val="DCD8D1"/>
          </a:solidFill>
          <a:ln/>
        </p:spPr>
      </p:sp>
      <p:sp>
        <p:nvSpPr>
          <p:cNvPr id="66" name="Text 62"/>
          <p:cNvSpPr/>
          <p:nvPr/>
        </p:nvSpPr>
        <p:spPr>
          <a:xfrm>
            <a:off x="5632704"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IV · Disiplin estimasi</a:t>
            </a:r>
            <a:endParaRPr lang="en-US" sz="850" dirty="0"/>
          </a:p>
        </p:txBody>
      </p:sp>
      <p:sp>
        <p:nvSpPr>
          <p:cNvPr id="67" name="Shape 63"/>
          <p:cNvSpPr/>
          <p:nvPr/>
        </p:nvSpPr>
        <p:spPr>
          <a:xfrm>
            <a:off x="7296912" y="6400800"/>
            <a:ext cx="1572768" cy="45720"/>
          </a:xfrm>
          <a:prstGeom prst="rect">
            <a:avLst/>
          </a:prstGeom>
          <a:solidFill>
            <a:srgbClr val="DCD8D1"/>
          </a:solidFill>
          <a:ln/>
        </p:spPr>
      </p:sp>
      <p:sp>
        <p:nvSpPr>
          <p:cNvPr id="68" name="Text 64"/>
          <p:cNvSpPr/>
          <p:nvPr/>
        </p:nvSpPr>
        <p:spPr>
          <a:xfrm>
            <a:off x="7296912"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V · Hasil &amp; plafon</a:t>
            </a:r>
            <a:endParaRPr lang="en-US" sz="850" dirty="0"/>
          </a:p>
        </p:txBody>
      </p:sp>
      <p:sp>
        <p:nvSpPr>
          <p:cNvPr id="69" name="Shape 65"/>
          <p:cNvSpPr/>
          <p:nvPr/>
        </p:nvSpPr>
        <p:spPr>
          <a:xfrm>
            <a:off x="8961120" y="6400800"/>
            <a:ext cx="1572768" cy="45720"/>
          </a:xfrm>
          <a:prstGeom prst="rect">
            <a:avLst/>
          </a:prstGeom>
          <a:solidFill>
            <a:srgbClr val="DCD8D1"/>
          </a:solidFill>
          <a:ln/>
        </p:spPr>
      </p:sp>
      <p:sp>
        <p:nvSpPr>
          <p:cNvPr id="70" name="Text 66"/>
          <p:cNvSpPr/>
          <p:nvPr/>
        </p:nvSpPr>
        <p:spPr>
          <a:xfrm>
            <a:off x="8961120"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VI · Reproduksi &amp; produk</a:t>
            </a:r>
            <a:endParaRPr lang="en-US" sz="850" dirty="0"/>
          </a:p>
        </p:txBody>
      </p:sp>
      <p:sp>
        <p:nvSpPr>
          <p:cNvPr id="71" name="Text 67"/>
          <p:cNvSpPr/>
          <p:nvPr/>
        </p:nvSpPr>
        <p:spPr>
          <a:xfrm>
            <a:off x="10637215" y="6382512"/>
            <a:ext cx="914400" cy="274320"/>
          </a:xfrm>
          <a:prstGeom prst="rect">
            <a:avLst/>
          </a:prstGeom>
          <a:noFill/>
          <a:ln/>
        </p:spPr>
        <p:txBody>
          <a:bodyPr wrap="square" lIns="0" tIns="0" rIns="0" bIns="0" rtlCol="0" anchor="ctr"/>
          <a:lstStyle/>
          <a:p>
            <a:pPr algn="r" indent="0" marL="0">
              <a:buNone/>
            </a:pPr>
            <a:r>
              <a:rPr lang="en-US" sz="900" b="1" dirty="0">
                <a:solidFill>
                  <a:srgbClr val="9AA0A7"/>
                </a:solidFill>
                <a:latin typeface="Calibri" pitchFamily="34" charset="0"/>
                <a:ea typeface="Calibri" pitchFamily="34" charset="-122"/>
                <a:cs typeface="Calibri"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84048"/>
            <a:ext cx="10911535" cy="530352"/>
          </a:xfrm>
          <a:prstGeom prst="rect">
            <a:avLst/>
          </a:prstGeom>
          <a:noFill/>
          <a:ln/>
        </p:spPr>
        <p:txBody>
          <a:bodyPr wrap="square" lIns="0" tIns="0" rIns="0" bIns="0" rtlCol="0" anchor="t"/>
          <a:lstStyle/>
          <a:p>
            <a:pPr indent="0" marL="0">
              <a:buNone/>
            </a:pPr>
            <a:r>
              <a:rPr lang="en-US" sz="2400" b="1" dirty="0">
                <a:solidFill>
                  <a:srgbClr val="16191D"/>
                </a:solidFill>
                <a:latin typeface="Cambria" pitchFamily="34" charset="0"/>
                <a:ea typeface="Cambria" pitchFamily="34" charset="-122"/>
                <a:cs typeface="Cambria" pitchFamily="34" charset="-120"/>
              </a:rPr>
              <a:t>Kriteria yang benar bukan skor tertinggi, melainkan yang paling stabil.</a:t>
            </a:r>
            <a:endParaRPr lang="en-US" sz="2400" dirty="0"/>
          </a:p>
        </p:txBody>
      </p:sp>
      <p:sp>
        <p:nvSpPr>
          <p:cNvPr id="3" name="Text 1"/>
          <p:cNvSpPr/>
          <p:nvPr/>
        </p:nvSpPr>
        <p:spPr>
          <a:xfrm>
            <a:off x="640080" y="896112"/>
            <a:ext cx="10911535" cy="310896"/>
          </a:xfrm>
          <a:prstGeom prst="rect">
            <a:avLst/>
          </a:prstGeom>
          <a:noFill/>
          <a:ln/>
        </p:spPr>
        <p:txBody>
          <a:bodyPr wrap="square" lIns="0" tIns="0" rIns="0" bIns="0" rtlCol="0" anchor="t"/>
          <a:lstStyle/>
          <a:p>
            <a:pPr indent="0" marL="0">
              <a:buNone/>
            </a:pPr>
            <a:r>
              <a:rPr lang="en-US" sz="1250" dirty="0">
                <a:solidFill>
                  <a:srgbClr val="6E747C"/>
                </a:solidFill>
                <a:latin typeface="Calibri" pitchFamily="34" charset="0"/>
                <a:ea typeface="Calibri" pitchFamily="34" charset="-122"/>
                <a:cs typeface="Calibri" pitchFamily="34" charset="-120"/>
              </a:rPr>
              <a:t>Lima strategi estimasi ambang, uji split-half sebagai wasit, dan satu ide kami sendiri yang terbukti overfit.</a:t>
            </a:r>
            <a:endParaRPr lang="en-US" sz="125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640080" y="1371600"/>
          <a:ext cx="6675120" cy="914400"/>
        </p:xfrm>
        <a:graphic>
          <a:graphicData uri="http://schemas.openxmlformats.org/drawingml/2006/table">
            <a:tbl>
              <a:tblPr/>
              <a:tblGrid>
                <a:gridCol w="2468880"/>
                <a:gridCol w="1051560"/>
                <a:gridCol w="1051560"/>
                <a:gridCol w="1051560"/>
                <a:gridCol w="1051560"/>
              </a:tblGrid>
              <a:tr h="329184">
                <a:tc>
                  <a:txBody>
                    <a:bodyPr/>
                    <a:lstStyle/>
                    <a:p>
                      <a:pPr algn="l" indent="0" marL="0">
                        <a:buNone/>
                      </a:pPr>
                      <a:r>
                        <a:rPr lang="en-US" sz="1050" b="1" dirty="0">
                          <a:solidFill>
                            <a:srgbClr val="16191D"/>
                          </a:solidFill>
                          <a:latin typeface="Calibri" pitchFamily="34" charset="0"/>
                          <a:ea typeface="Calibri" pitchFamily="34" charset="-122"/>
                          <a:cs typeface="Calibri" pitchFamily="34" charset="-120"/>
                        </a:rPr>
                        <a:t>Strategi ambang</a:t>
                      </a:r>
                      <a:endParaRPr lang="en-US" sz="1050" dirty="0">
                        <a:latin typeface="Calibri" charset="0"/>
                        <a:ea typeface="Calibri" charset="0"/>
                        <a:cs typeface="Calibri" charset="0"/>
                      </a:endParaRPr>
                    </a:p>
                  </a:txBody>
                  <a:tcPr marL="25400" marR="101600" marT="63500" marB="63500" anchor="ctr">
                    <a:lnL w="0" cap="flat" cmpd="sng" algn="ctr">
                      <a:noFill/>
                    </a:lnL>
                    <a:lnR w="0" cap="flat" cmpd="sng" algn="ctr">
                      <a:noFill/>
                    </a:lnR>
                    <a:lnT w="17780" cap="flat" cmpd="sng" algn="ctr">
                      <a:solidFill>
                        <a:srgbClr val="16191D"/>
                      </a:solidFill>
                      <a:prstDash val="solid"/>
                      <a:round/>
                      <a:headEnd type="none" w="med" len="med"/>
                      <a:tailEnd type="none" w="med" len="med"/>
                    </a:lnT>
                    <a:lnB w="10160" cap="flat" cmpd="sng" algn="ctr">
                      <a:solidFill>
                        <a:srgbClr val="16191D"/>
                      </a:solidFill>
                      <a:prstDash val="solid"/>
                      <a:round/>
                      <a:headEnd type="none" w="med" len="med"/>
                      <a:tailEnd type="none" w="med" len="med"/>
                    </a:lnB>
                  </a:tcPr>
                </a:tc>
                <a:tc>
                  <a:txBody>
                    <a:bodyPr/>
                    <a:lstStyle/>
                    <a:p>
                      <a:pPr algn="r" indent="0" marL="0">
                        <a:buNone/>
                      </a:pPr>
                      <a:r>
                        <a:rPr lang="en-US" sz="1050" b="1" dirty="0">
                          <a:solidFill>
                            <a:srgbClr val="16191D"/>
                          </a:solidFill>
                          <a:latin typeface="Calibri" pitchFamily="34" charset="0"/>
                          <a:ea typeface="Calibri" pitchFamily="34" charset="-122"/>
                          <a:cs typeface="Calibri" pitchFamily="34" charset="-120"/>
                        </a:rPr>
                        <a:t>QWK OOF</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17780" cap="flat" cmpd="sng" algn="ctr">
                      <a:solidFill>
                        <a:srgbClr val="16191D"/>
                      </a:solidFill>
                      <a:prstDash val="solid"/>
                      <a:round/>
                      <a:headEnd type="none" w="med" len="med"/>
                      <a:tailEnd type="none" w="med" len="med"/>
                    </a:lnT>
                    <a:lnB w="10160" cap="flat" cmpd="sng" algn="ctr">
                      <a:solidFill>
                        <a:srgbClr val="16191D"/>
                      </a:solidFill>
                      <a:prstDash val="solid"/>
                      <a:round/>
                      <a:headEnd type="none" w="med" len="med"/>
                      <a:tailEnd type="none" w="med" len="med"/>
                    </a:lnB>
                  </a:tcPr>
                </a:tc>
                <a:tc>
                  <a:txBody>
                    <a:bodyPr/>
                    <a:lstStyle/>
                    <a:p>
                      <a:pPr algn="r" indent="0" marL="0">
                        <a:buNone/>
                      </a:pPr>
                      <a:r>
                        <a:rPr lang="en-US" sz="1050" b="1" dirty="0">
                          <a:solidFill>
                            <a:srgbClr val="16191D"/>
                          </a:solidFill>
                          <a:latin typeface="Calibri" pitchFamily="34" charset="0"/>
                          <a:ea typeface="Calibri" pitchFamily="34" charset="-122"/>
                          <a:cs typeface="Calibri" pitchFamily="34" charset="-120"/>
                        </a:rPr>
                        <a:t>in-sample</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17780" cap="flat" cmpd="sng" algn="ctr">
                      <a:solidFill>
                        <a:srgbClr val="16191D"/>
                      </a:solidFill>
                      <a:prstDash val="solid"/>
                      <a:round/>
                      <a:headEnd type="none" w="med" len="med"/>
                      <a:tailEnd type="none" w="med" len="med"/>
                    </a:lnT>
                    <a:lnB w="10160" cap="flat" cmpd="sng" algn="ctr">
                      <a:solidFill>
                        <a:srgbClr val="16191D"/>
                      </a:solidFill>
                      <a:prstDash val="solid"/>
                      <a:round/>
                      <a:headEnd type="none" w="med" len="med"/>
                      <a:tailEnd type="none" w="med" len="med"/>
                    </a:lnB>
                  </a:tcPr>
                </a:tc>
                <a:tc>
                  <a:txBody>
                    <a:bodyPr/>
                    <a:lstStyle/>
                    <a:p>
                      <a:pPr algn="r" indent="0" marL="0">
                        <a:buNone/>
                      </a:pPr>
                      <a:r>
                        <a:rPr lang="en-US" sz="1050" b="1" dirty="0">
                          <a:solidFill>
                            <a:srgbClr val="16191D"/>
                          </a:solidFill>
                          <a:latin typeface="Calibri" pitchFamily="34" charset="0"/>
                          <a:ea typeface="Calibri" pitchFamily="34" charset="-122"/>
                          <a:cs typeface="Calibri" pitchFamily="34" charset="-120"/>
                        </a:rPr>
                        <a:t>held-out</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17780" cap="flat" cmpd="sng" algn="ctr">
                      <a:solidFill>
                        <a:srgbClr val="16191D"/>
                      </a:solidFill>
                      <a:prstDash val="solid"/>
                      <a:round/>
                      <a:headEnd type="none" w="med" len="med"/>
                      <a:tailEnd type="none" w="med" len="med"/>
                    </a:lnT>
                    <a:lnB w="10160" cap="flat" cmpd="sng" algn="ctr">
                      <a:solidFill>
                        <a:srgbClr val="16191D"/>
                      </a:solidFill>
                      <a:prstDash val="solid"/>
                      <a:round/>
                      <a:headEnd type="none" w="med" len="med"/>
                      <a:tailEnd type="none" w="med" len="med"/>
                    </a:lnB>
                  </a:tcPr>
                </a:tc>
                <a:tc>
                  <a:txBody>
                    <a:bodyPr/>
                    <a:lstStyle/>
                    <a:p>
                      <a:pPr algn="r" indent="0" marL="0">
                        <a:buNone/>
                      </a:pPr>
                      <a:r>
                        <a:rPr lang="en-US" sz="1050" b="1" dirty="0">
                          <a:solidFill>
                            <a:srgbClr val="16191D"/>
                          </a:solidFill>
                          <a:latin typeface="Calibri" pitchFamily="34" charset="0"/>
                          <a:ea typeface="Calibri" pitchFamily="34" charset="-122"/>
                          <a:cs typeface="Calibri" pitchFamily="34" charset="-120"/>
                        </a:rPr>
                        <a:t>selisih</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17780" cap="flat" cmpd="sng" algn="ctr">
                      <a:solidFill>
                        <a:srgbClr val="16191D"/>
                      </a:solidFill>
                      <a:prstDash val="solid"/>
                      <a:round/>
                      <a:headEnd type="none" w="med" len="med"/>
                      <a:tailEnd type="none" w="med" len="med"/>
                    </a:lnT>
                    <a:lnB w="10160" cap="flat" cmpd="sng" algn="ctr">
                      <a:solidFill>
                        <a:srgbClr val="16191D"/>
                      </a:solidFill>
                      <a:prstDash val="solid"/>
                      <a:round/>
                      <a:headEnd type="none" w="med" len="med"/>
                      <a:tailEnd type="none" w="med" len="med"/>
                    </a:lnB>
                  </a:tcPr>
                </a:tc>
              </a:tr>
              <a:tr h="329184">
                <a:tc>
                  <a:txBody>
                    <a:bodyPr/>
                    <a:lstStyle/>
                    <a:p>
                      <a:pPr algn="l" indent="0" marL="0">
                        <a:buNone/>
                      </a:pPr>
                      <a:r>
                        <a:rPr lang="en-US" sz="1050" dirty="0">
                          <a:solidFill>
                            <a:srgbClr val="3A4048"/>
                          </a:solidFill>
                          <a:latin typeface="Calibri" pitchFamily="34" charset="0"/>
                          <a:ea typeface="Calibri" pitchFamily="34" charset="-122"/>
                          <a:cs typeface="Calibri" pitchFamily="34" charset="-120"/>
                        </a:rPr>
                        <a:t>a. titik tunggal</a:t>
                      </a:r>
                      <a:endParaRPr lang="en-US" sz="105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050" b="1" dirty="0">
                          <a:solidFill>
                            <a:srgbClr val="3A4048"/>
                          </a:solidFill>
                          <a:latin typeface="Calibri" pitchFamily="34" charset="0"/>
                          <a:ea typeface="Calibri" pitchFamily="34" charset="-122"/>
                          <a:cs typeface="Calibri" pitchFamily="34" charset="-120"/>
                        </a:rPr>
                        <a:t>0,48517</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050" dirty="0">
                          <a:solidFill>
                            <a:srgbClr val="3A4048"/>
                          </a:solidFill>
                          <a:latin typeface="Calibri" pitchFamily="34" charset="0"/>
                          <a:ea typeface="Calibri" pitchFamily="34" charset="-122"/>
                          <a:cs typeface="Calibri" pitchFamily="34" charset="-120"/>
                        </a:rPr>
                        <a:t>0,48688</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050" dirty="0">
                          <a:solidFill>
                            <a:srgbClr val="3A4048"/>
                          </a:solidFill>
                          <a:latin typeface="Calibri" pitchFamily="34" charset="0"/>
                          <a:ea typeface="Calibri" pitchFamily="34" charset="-122"/>
                          <a:cs typeface="Calibri" pitchFamily="34" charset="-120"/>
                        </a:rPr>
                        <a:t>0,48083</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050" b="1" dirty="0">
                          <a:solidFill>
                            <a:srgbClr val="A8442A"/>
                          </a:solidFill>
                          <a:latin typeface="Calibri" pitchFamily="34" charset="0"/>
                          <a:ea typeface="Calibri" pitchFamily="34" charset="-122"/>
                          <a:cs typeface="Calibri" pitchFamily="34" charset="-120"/>
                        </a:rPr>
                        <a:t>0,00606</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329184">
                <a:tc>
                  <a:txBody>
                    <a:bodyPr/>
                    <a:lstStyle/>
                    <a:p>
                      <a:pPr algn="l" indent="0" marL="0">
                        <a:buNone/>
                      </a:pPr>
                      <a:r>
                        <a:rPr lang="en-US" sz="1050" b="1" dirty="0">
                          <a:solidFill>
                            <a:srgbClr val="2F6B5F"/>
                          </a:solidFill>
                          <a:latin typeface="Calibri" pitchFamily="34" charset="0"/>
                          <a:ea typeface="Calibri" pitchFamily="34" charset="-122"/>
                          <a:cs typeface="Calibri" pitchFamily="34" charset="-120"/>
                        </a:rPr>
                        <a:t>b. rata-rata bootstrap (final)</a:t>
                      </a:r>
                      <a:endParaRPr lang="en-US" sz="105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050" dirty="0">
                          <a:solidFill>
                            <a:srgbClr val="3A4048"/>
                          </a:solidFill>
                          <a:latin typeface="Calibri" pitchFamily="34" charset="0"/>
                          <a:ea typeface="Calibri" pitchFamily="34" charset="-122"/>
                          <a:cs typeface="Calibri" pitchFamily="34" charset="-120"/>
                        </a:rPr>
                        <a:t>0,48425</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050" dirty="0">
                          <a:solidFill>
                            <a:srgbClr val="3A4048"/>
                          </a:solidFill>
                          <a:latin typeface="Calibri" pitchFamily="34" charset="0"/>
                          <a:ea typeface="Calibri" pitchFamily="34" charset="-122"/>
                          <a:cs typeface="Calibri" pitchFamily="34" charset="-120"/>
                        </a:rPr>
                        <a:t>0,48625</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050" b="1" dirty="0">
                          <a:solidFill>
                            <a:srgbClr val="2F6B5F"/>
                          </a:solidFill>
                          <a:latin typeface="Calibri" pitchFamily="34" charset="0"/>
                          <a:ea typeface="Calibri" pitchFamily="34" charset="-122"/>
                          <a:cs typeface="Calibri" pitchFamily="34" charset="-120"/>
                        </a:rPr>
                        <a:t>0,48106</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050" dirty="0">
                          <a:solidFill>
                            <a:srgbClr val="3A4048"/>
                          </a:solidFill>
                          <a:latin typeface="Calibri" pitchFamily="34" charset="0"/>
                          <a:ea typeface="Calibri" pitchFamily="34" charset="-122"/>
                          <a:cs typeface="Calibri" pitchFamily="34" charset="-120"/>
                        </a:rPr>
                        <a:t>0,00519</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329184">
                <a:tc>
                  <a:txBody>
                    <a:bodyPr/>
                    <a:lstStyle/>
                    <a:p>
                      <a:pPr algn="l" indent="0" marL="0">
                        <a:buNone/>
                      </a:pPr>
                      <a:r>
                        <a:rPr lang="en-US" sz="1050" dirty="0">
                          <a:solidFill>
                            <a:srgbClr val="3A4048"/>
                          </a:solidFill>
                          <a:latin typeface="Calibri" pitchFamily="34" charset="0"/>
                          <a:ea typeface="Calibri" pitchFamily="34" charset="-122"/>
                          <a:cs typeface="Calibri" pitchFamily="34" charset="-120"/>
                        </a:rPr>
                        <a:t>c. rata-rata subsample 80%</a:t>
                      </a:r>
                      <a:endParaRPr lang="en-US" sz="105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050" dirty="0">
                          <a:solidFill>
                            <a:srgbClr val="3A4048"/>
                          </a:solidFill>
                          <a:latin typeface="Calibri" pitchFamily="34" charset="0"/>
                          <a:ea typeface="Calibri" pitchFamily="34" charset="-122"/>
                          <a:cs typeface="Calibri" pitchFamily="34" charset="-120"/>
                        </a:rPr>
                        <a:t>0,48419</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050" dirty="0">
                          <a:solidFill>
                            <a:srgbClr val="3A4048"/>
                          </a:solidFill>
                          <a:latin typeface="Calibri" pitchFamily="34" charset="0"/>
                          <a:ea typeface="Calibri" pitchFamily="34" charset="-122"/>
                          <a:cs typeface="Calibri" pitchFamily="34" charset="-120"/>
                        </a:rPr>
                        <a:t>0,48654</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050" dirty="0">
                          <a:solidFill>
                            <a:srgbClr val="3A4048"/>
                          </a:solidFill>
                          <a:latin typeface="Calibri" pitchFamily="34" charset="0"/>
                          <a:ea typeface="Calibri" pitchFamily="34" charset="-122"/>
                          <a:cs typeface="Calibri" pitchFamily="34" charset="-120"/>
                        </a:rPr>
                        <a:t>0,48100</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050" dirty="0">
                          <a:solidFill>
                            <a:srgbClr val="3A4048"/>
                          </a:solidFill>
                          <a:latin typeface="Calibri" pitchFamily="34" charset="0"/>
                          <a:ea typeface="Calibri" pitchFamily="34" charset="-122"/>
                          <a:cs typeface="Calibri" pitchFamily="34" charset="-120"/>
                        </a:rPr>
                        <a:t>0,00554</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329184">
                <a:tc>
                  <a:txBody>
                    <a:bodyPr/>
                    <a:lstStyle/>
                    <a:p>
                      <a:pPr algn="l" indent="0" marL="0">
                        <a:buNone/>
                      </a:pPr>
                      <a:r>
                        <a:rPr lang="en-US" sz="1050" dirty="0">
                          <a:solidFill>
                            <a:srgbClr val="3A4048"/>
                          </a:solidFill>
                          <a:latin typeface="Calibri" pitchFamily="34" charset="0"/>
                          <a:ea typeface="Calibri" pitchFamily="34" charset="-122"/>
                          <a:cs typeface="Calibri" pitchFamily="34" charset="-120"/>
                        </a:rPr>
                        <a:t>d. cocok distribusi kelas</a:t>
                      </a:r>
                      <a:endParaRPr lang="en-US" sz="105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050" dirty="0">
                          <a:solidFill>
                            <a:srgbClr val="3A4048"/>
                          </a:solidFill>
                          <a:latin typeface="Calibri" pitchFamily="34" charset="0"/>
                          <a:ea typeface="Calibri" pitchFamily="34" charset="-122"/>
                          <a:cs typeface="Calibri" pitchFamily="34" charset="-120"/>
                        </a:rPr>
                        <a:t>0,47413</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050" dirty="0">
                          <a:solidFill>
                            <a:srgbClr val="3A4048"/>
                          </a:solidFill>
                          <a:latin typeface="Calibri" pitchFamily="34" charset="0"/>
                          <a:ea typeface="Calibri" pitchFamily="34" charset="-122"/>
                          <a:cs typeface="Calibri" pitchFamily="34" charset="-120"/>
                        </a:rPr>
                        <a:t>0,47650</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050" dirty="0">
                          <a:solidFill>
                            <a:srgbClr val="3A4048"/>
                          </a:solidFill>
                          <a:latin typeface="Calibri" pitchFamily="34" charset="0"/>
                          <a:ea typeface="Calibri" pitchFamily="34" charset="-122"/>
                          <a:cs typeface="Calibri" pitchFamily="34" charset="-120"/>
                        </a:rPr>
                        <a:t>0,47206</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050" dirty="0">
                          <a:solidFill>
                            <a:srgbClr val="3A4048"/>
                          </a:solidFill>
                          <a:latin typeface="Calibri" pitchFamily="34" charset="0"/>
                          <a:ea typeface="Calibri" pitchFamily="34" charset="-122"/>
                          <a:cs typeface="Calibri" pitchFamily="34" charset="-120"/>
                        </a:rPr>
                        <a:t>0,00444</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329184">
                <a:tc>
                  <a:txBody>
                    <a:bodyPr/>
                    <a:lstStyle/>
                    <a:p>
                      <a:pPr algn="l" indent="0" marL="0">
                        <a:buNone/>
                      </a:pPr>
                      <a:r>
                        <a:rPr lang="en-US" sz="1050" dirty="0">
                          <a:solidFill>
                            <a:srgbClr val="3A4048"/>
                          </a:solidFill>
                          <a:latin typeface="Calibri" pitchFamily="34" charset="0"/>
                          <a:ea typeface="Calibri" pitchFamily="34" charset="-122"/>
                          <a:cs typeface="Calibri" pitchFamily="34" charset="-120"/>
                        </a:rPr>
                        <a:t>e. objektif dihaluskan</a:t>
                      </a:r>
                      <a:endParaRPr lang="en-US" sz="105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17780" cap="flat" cmpd="sng" algn="ctr">
                      <a:solidFill>
                        <a:srgbClr val="16191D"/>
                      </a:solidFill>
                      <a:prstDash val="solid"/>
                      <a:round/>
                      <a:headEnd type="none" w="med" len="med"/>
                      <a:tailEnd type="none" w="med" len="med"/>
                    </a:lnB>
                  </a:tcPr>
                </a:tc>
                <a:tc>
                  <a:txBody>
                    <a:bodyPr/>
                    <a:lstStyle/>
                    <a:p>
                      <a:pPr algn="r" indent="0" marL="0">
                        <a:buNone/>
                      </a:pPr>
                      <a:r>
                        <a:rPr lang="en-US" sz="1050" dirty="0">
                          <a:solidFill>
                            <a:srgbClr val="3A4048"/>
                          </a:solidFill>
                          <a:latin typeface="Calibri" pitchFamily="34" charset="0"/>
                          <a:ea typeface="Calibri" pitchFamily="34" charset="-122"/>
                          <a:cs typeface="Calibri" pitchFamily="34" charset="-120"/>
                        </a:rPr>
                        <a:t>0,48435</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17780" cap="flat" cmpd="sng" algn="ctr">
                      <a:solidFill>
                        <a:srgbClr val="16191D"/>
                      </a:solidFill>
                      <a:prstDash val="solid"/>
                      <a:round/>
                      <a:headEnd type="none" w="med" len="med"/>
                      <a:tailEnd type="none" w="med" len="med"/>
                    </a:lnB>
                  </a:tcPr>
                </a:tc>
                <a:tc>
                  <a:txBody>
                    <a:bodyPr/>
                    <a:lstStyle/>
                    <a:p>
                      <a:pPr algn="r" indent="0" marL="0">
                        <a:buNone/>
                      </a:pPr>
                      <a:r>
                        <a:rPr lang="en-US" sz="1050" dirty="0">
                          <a:solidFill>
                            <a:srgbClr val="3A4048"/>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17780" cap="flat" cmpd="sng" algn="ctr">
                      <a:solidFill>
                        <a:srgbClr val="16191D"/>
                      </a:solidFill>
                      <a:prstDash val="solid"/>
                      <a:round/>
                      <a:headEnd type="none" w="med" len="med"/>
                      <a:tailEnd type="none" w="med" len="med"/>
                    </a:lnB>
                  </a:tcPr>
                </a:tc>
                <a:tc>
                  <a:txBody>
                    <a:bodyPr/>
                    <a:lstStyle/>
                    <a:p>
                      <a:pPr algn="r" indent="0" marL="0">
                        <a:buNone/>
                      </a:pPr>
                      <a:r>
                        <a:rPr lang="en-US" sz="1050" dirty="0">
                          <a:solidFill>
                            <a:srgbClr val="3A4048"/>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17780" cap="flat" cmpd="sng" algn="ctr">
                      <a:solidFill>
                        <a:srgbClr val="16191D"/>
                      </a:solidFill>
                      <a:prstDash val="solid"/>
                      <a:round/>
                      <a:headEnd type="none" w="med" len="med"/>
                      <a:tailEnd type="none" w="med" len="med"/>
                    </a:lnB>
                  </a:tcPr>
                </a:tc>
                <a:tc>
                  <a:txBody>
                    <a:bodyPr/>
                    <a:lstStyle/>
                    <a:p>
                      <a:pPr algn="r" indent="0" marL="0">
                        <a:buNone/>
                      </a:pPr>
                      <a:r>
                        <a:rPr lang="en-US" sz="1050" dirty="0">
                          <a:solidFill>
                            <a:srgbClr val="3A4048"/>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17780" cap="flat" cmpd="sng" algn="ctr">
                      <a:solidFill>
                        <a:srgbClr val="16191D"/>
                      </a:solidFill>
                      <a:prstDash val="solid"/>
                      <a:round/>
                      <a:headEnd type="none" w="med" len="med"/>
                      <a:tailEnd type="none" w="med" len="med"/>
                    </a:lnB>
                  </a:tcPr>
                </a:tc>
              </a:tr>
            </a:tbl>
          </a:graphicData>
        </a:graphic>
      </p:graphicFrame>
      <p:sp>
        <p:nvSpPr>
          <p:cNvPr id="5" name="Shape 2"/>
          <p:cNvSpPr/>
          <p:nvPr/>
        </p:nvSpPr>
        <p:spPr>
          <a:xfrm>
            <a:off x="640080" y="3520440"/>
            <a:ext cx="6675120" cy="1325880"/>
          </a:xfrm>
          <a:prstGeom prst="roundRect">
            <a:avLst>
              <a:gd name="adj" fmla="val 4138"/>
            </a:avLst>
          </a:prstGeom>
          <a:solidFill>
            <a:srgbClr val="F4F1EC"/>
          </a:solidFill>
          <a:ln w="9525">
            <a:solidFill>
              <a:srgbClr val="DCD8D1"/>
            </a:solidFill>
            <a:prstDash val="solid"/>
          </a:ln>
        </p:spPr>
      </p:sp>
      <p:sp>
        <p:nvSpPr>
          <p:cNvPr id="6" name="Text 3"/>
          <p:cNvSpPr/>
          <p:nvPr/>
        </p:nvSpPr>
        <p:spPr>
          <a:xfrm>
            <a:off x="841248" y="3611880"/>
            <a:ext cx="6675120" cy="201168"/>
          </a:xfrm>
          <a:prstGeom prst="rect">
            <a:avLst/>
          </a:prstGeom>
          <a:noFill/>
          <a:ln/>
        </p:spPr>
        <p:txBody>
          <a:bodyPr wrap="square" lIns="0" tIns="0" rIns="0" bIns="0" rtlCol="0" anchor="ctr"/>
          <a:lstStyle/>
          <a:p>
            <a:pPr indent="0" marL="0">
              <a:buNone/>
            </a:pPr>
            <a:r>
              <a:rPr lang="en-US" sz="850" b="1" spc="110" kern="0" dirty="0">
                <a:solidFill>
                  <a:srgbClr val="6E747C"/>
                </a:solidFill>
                <a:latin typeface="Calibri" pitchFamily="34" charset="0"/>
                <a:ea typeface="Calibri" pitchFamily="34" charset="-122"/>
                <a:cs typeface="Calibri" pitchFamily="34" charset="-120"/>
              </a:rPr>
              <a:t>SIMPANGAN BAKU AMBANG ANTAR 25 BOOTSTRAP</a:t>
            </a:r>
            <a:endParaRPr lang="en-US" sz="850" dirty="0"/>
          </a:p>
        </p:txBody>
      </p:sp>
      <p:sp>
        <p:nvSpPr>
          <p:cNvPr id="7" name="Text 4"/>
          <p:cNvSpPr/>
          <p:nvPr/>
        </p:nvSpPr>
        <p:spPr>
          <a:xfrm>
            <a:off x="841248" y="3877056"/>
            <a:ext cx="320040" cy="237744"/>
          </a:xfrm>
          <a:prstGeom prst="rect">
            <a:avLst/>
          </a:prstGeom>
          <a:noFill/>
          <a:ln/>
        </p:spPr>
        <p:txBody>
          <a:bodyPr wrap="square" lIns="0" tIns="0" rIns="0" bIns="0" rtlCol="0" anchor="ctr"/>
          <a:lstStyle/>
          <a:p>
            <a:pPr indent="0" marL="0">
              <a:buNone/>
            </a:pPr>
            <a:r>
              <a:rPr lang="en-US" sz="1000" b="1" dirty="0">
                <a:solidFill>
                  <a:srgbClr val="16191D"/>
                </a:solidFill>
                <a:latin typeface="Calibri" pitchFamily="34" charset="0"/>
                <a:ea typeface="Calibri" pitchFamily="34" charset="-122"/>
                <a:cs typeface="Calibri" pitchFamily="34" charset="-120"/>
              </a:rPr>
              <a:t>t₁</a:t>
            </a:r>
            <a:endParaRPr lang="en-US" sz="1000" dirty="0"/>
          </a:p>
        </p:txBody>
      </p:sp>
      <p:sp>
        <p:nvSpPr>
          <p:cNvPr id="8" name="Shape 5"/>
          <p:cNvSpPr/>
          <p:nvPr/>
        </p:nvSpPr>
        <p:spPr>
          <a:xfrm>
            <a:off x="1188720" y="3922776"/>
            <a:ext cx="1135685" cy="146304"/>
          </a:xfrm>
          <a:prstGeom prst="rect">
            <a:avLst/>
          </a:prstGeom>
          <a:solidFill>
            <a:srgbClr val="2F6B5F"/>
          </a:solidFill>
          <a:ln/>
        </p:spPr>
      </p:sp>
      <p:sp>
        <p:nvSpPr>
          <p:cNvPr id="9" name="Text 6"/>
          <p:cNvSpPr/>
          <p:nvPr/>
        </p:nvSpPr>
        <p:spPr>
          <a:xfrm>
            <a:off x="5532120" y="3877056"/>
            <a:ext cx="731520" cy="237744"/>
          </a:xfrm>
          <a:prstGeom prst="rect">
            <a:avLst/>
          </a:prstGeom>
          <a:noFill/>
          <a:ln/>
        </p:spPr>
        <p:txBody>
          <a:bodyPr wrap="square" lIns="0" tIns="0" rIns="0" bIns="0" rtlCol="0" anchor="ctr"/>
          <a:lstStyle/>
          <a:p>
            <a:pPr indent="0" marL="0">
              <a:buNone/>
            </a:pPr>
            <a:r>
              <a:rPr lang="en-US" sz="1000" b="1" dirty="0">
                <a:solidFill>
                  <a:srgbClr val="16191D"/>
                </a:solidFill>
                <a:latin typeface="Calibri" pitchFamily="34" charset="0"/>
                <a:ea typeface="Calibri" pitchFamily="34" charset="-122"/>
                <a:cs typeface="Calibri" pitchFamily="34" charset="-120"/>
              </a:rPr>
              <a:t>0,0108</a:t>
            </a:r>
            <a:endParaRPr lang="en-US" sz="1000" dirty="0"/>
          </a:p>
        </p:txBody>
      </p:sp>
      <p:sp>
        <p:nvSpPr>
          <p:cNvPr id="10" name="Text 7"/>
          <p:cNvSpPr/>
          <p:nvPr/>
        </p:nvSpPr>
        <p:spPr>
          <a:xfrm>
            <a:off x="841248" y="4178808"/>
            <a:ext cx="320040" cy="237744"/>
          </a:xfrm>
          <a:prstGeom prst="rect">
            <a:avLst/>
          </a:prstGeom>
          <a:noFill/>
          <a:ln/>
        </p:spPr>
        <p:txBody>
          <a:bodyPr wrap="square" lIns="0" tIns="0" rIns="0" bIns="0" rtlCol="0" anchor="ctr"/>
          <a:lstStyle/>
          <a:p>
            <a:pPr indent="0" marL="0">
              <a:buNone/>
            </a:pPr>
            <a:r>
              <a:rPr lang="en-US" sz="1000" b="1" dirty="0">
                <a:solidFill>
                  <a:srgbClr val="16191D"/>
                </a:solidFill>
                <a:latin typeface="Calibri" pitchFamily="34" charset="0"/>
                <a:ea typeface="Calibri" pitchFamily="34" charset="-122"/>
                <a:cs typeface="Calibri" pitchFamily="34" charset="-120"/>
              </a:rPr>
              <a:t>t₂</a:t>
            </a:r>
            <a:endParaRPr lang="en-US" sz="1000" dirty="0"/>
          </a:p>
        </p:txBody>
      </p:sp>
      <p:sp>
        <p:nvSpPr>
          <p:cNvPr id="11" name="Shape 8"/>
          <p:cNvSpPr/>
          <p:nvPr/>
        </p:nvSpPr>
        <p:spPr>
          <a:xfrm>
            <a:off x="1188720" y="4224528"/>
            <a:ext cx="1409090" cy="146304"/>
          </a:xfrm>
          <a:prstGeom prst="rect">
            <a:avLst/>
          </a:prstGeom>
          <a:solidFill>
            <a:srgbClr val="8FB0A4"/>
          </a:solidFill>
          <a:ln/>
        </p:spPr>
      </p:sp>
      <p:sp>
        <p:nvSpPr>
          <p:cNvPr id="12" name="Text 9"/>
          <p:cNvSpPr/>
          <p:nvPr/>
        </p:nvSpPr>
        <p:spPr>
          <a:xfrm>
            <a:off x="5532120" y="4178808"/>
            <a:ext cx="731520" cy="237744"/>
          </a:xfrm>
          <a:prstGeom prst="rect">
            <a:avLst/>
          </a:prstGeom>
          <a:noFill/>
          <a:ln/>
        </p:spPr>
        <p:txBody>
          <a:bodyPr wrap="square" lIns="0" tIns="0" rIns="0" bIns="0" rtlCol="0" anchor="ctr"/>
          <a:lstStyle/>
          <a:p>
            <a:pPr indent="0" marL="0">
              <a:buNone/>
            </a:pPr>
            <a:r>
              <a:rPr lang="en-US" sz="1000" b="1" dirty="0">
                <a:solidFill>
                  <a:srgbClr val="16191D"/>
                </a:solidFill>
                <a:latin typeface="Calibri" pitchFamily="34" charset="0"/>
                <a:ea typeface="Calibri" pitchFamily="34" charset="-122"/>
                <a:cs typeface="Calibri" pitchFamily="34" charset="-120"/>
              </a:rPr>
              <a:t>0,0134</a:t>
            </a:r>
            <a:endParaRPr lang="en-US" sz="1000" dirty="0"/>
          </a:p>
        </p:txBody>
      </p:sp>
      <p:sp>
        <p:nvSpPr>
          <p:cNvPr id="13" name="Text 10"/>
          <p:cNvSpPr/>
          <p:nvPr/>
        </p:nvSpPr>
        <p:spPr>
          <a:xfrm>
            <a:off x="841248" y="4480560"/>
            <a:ext cx="320040" cy="237744"/>
          </a:xfrm>
          <a:prstGeom prst="rect">
            <a:avLst/>
          </a:prstGeom>
          <a:noFill/>
          <a:ln/>
        </p:spPr>
        <p:txBody>
          <a:bodyPr wrap="square" lIns="0" tIns="0" rIns="0" bIns="0" rtlCol="0" anchor="ctr"/>
          <a:lstStyle/>
          <a:p>
            <a:pPr indent="0" marL="0">
              <a:buNone/>
            </a:pPr>
            <a:r>
              <a:rPr lang="en-US" sz="1000" b="1" dirty="0">
                <a:solidFill>
                  <a:srgbClr val="16191D"/>
                </a:solidFill>
                <a:latin typeface="Calibri" pitchFamily="34" charset="0"/>
                <a:ea typeface="Calibri" pitchFamily="34" charset="-122"/>
                <a:cs typeface="Calibri" pitchFamily="34" charset="-120"/>
              </a:rPr>
              <a:t>t₃</a:t>
            </a:r>
            <a:endParaRPr lang="en-US" sz="1000" dirty="0"/>
          </a:p>
        </p:txBody>
      </p:sp>
      <p:sp>
        <p:nvSpPr>
          <p:cNvPr id="14" name="Shape 11"/>
          <p:cNvSpPr/>
          <p:nvPr/>
        </p:nvSpPr>
        <p:spPr>
          <a:xfrm>
            <a:off x="1188720" y="4526280"/>
            <a:ext cx="4122115" cy="146304"/>
          </a:xfrm>
          <a:prstGeom prst="rect">
            <a:avLst/>
          </a:prstGeom>
          <a:solidFill>
            <a:srgbClr val="A8442A"/>
          </a:solidFill>
          <a:ln/>
        </p:spPr>
      </p:sp>
      <p:sp>
        <p:nvSpPr>
          <p:cNvPr id="15" name="Text 12"/>
          <p:cNvSpPr/>
          <p:nvPr/>
        </p:nvSpPr>
        <p:spPr>
          <a:xfrm>
            <a:off x="5532120" y="4480560"/>
            <a:ext cx="731520" cy="237744"/>
          </a:xfrm>
          <a:prstGeom prst="rect">
            <a:avLst/>
          </a:prstGeom>
          <a:noFill/>
          <a:ln/>
        </p:spPr>
        <p:txBody>
          <a:bodyPr wrap="square" lIns="0" tIns="0" rIns="0" bIns="0" rtlCol="0" anchor="ctr"/>
          <a:lstStyle/>
          <a:p>
            <a:pPr indent="0" marL="0">
              <a:buNone/>
            </a:pPr>
            <a:r>
              <a:rPr lang="en-US" sz="1000" b="1" dirty="0">
                <a:solidFill>
                  <a:srgbClr val="16191D"/>
                </a:solidFill>
                <a:latin typeface="Calibri" pitchFamily="34" charset="0"/>
                <a:ea typeface="Calibri" pitchFamily="34" charset="-122"/>
                <a:cs typeface="Calibri" pitchFamily="34" charset="-120"/>
              </a:rPr>
              <a:t>0,0392</a:t>
            </a:r>
            <a:endParaRPr lang="en-US" sz="1000" dirty="0"/>
          </a:p>
        </p:txBody>
      </p:sp>
      <p:sp>
        <p:nvSpPr>
          <p:cNvPr id="16" name="Shape 13"/>
          <p:cNvSpPr/>
          <p:nvPr/>
        </p:nvSpPr>
        <p:spPr>
          <a:xfrm>
            <a:off x="640080" y="4983480"/>
            <a:ext cx="6675120" cy="1234440"/>
          </a:xfrm>
          <a:prstGeom prst="roundRect">
            <a:avLst>
              <a:gd name="adj" fmla="val 4444"/>
            </a:avLst>
          </a:prstGeom>
          <a:solidFill>
            <a:srgbClr val="16191D"/>
          </a:solidFill>
          <a:ln w="9525">
            <a:solidFill>
              <a:srgbClr val="16191D"/>
            </a:solidFill>
            <a:prstDash val="solid"/>
          </a:ln>
        </p:spPr>
      </p:sp>
      <p:sp>
        <p:nvSpPr>
          <p:cNvPr id="17" name="Text 14"/>
          <p:cNvSpPr/>
          <p:nvPr/>
        </p:nvSpPr>
        <p:spPr>
          <a:xfrm>
            <a:off x="841248" y="4983480"/>
            <a:ext cx="6272784" cy="1234440"/>
          </a:xfrm>
          <a:prstGeom prst="rect">
            <a:avLst/>
          </a:prstGeom>
          <a:noFill/>
          <a:ln/>
        </p:spPr>
        <p:txBody>
          <a:bodyPr wrap="square" lIns="0" tIns="0" rIns="0" bIns="0" rtlCol="0" anchor="ctr"/>
          <a:lstStyle/>
          <a:p>
            <a:pPr indent="0" marL="0">
              <a:lnSpc>
                <a:spcPts val="1400"/>
              </a:lnSpc>
              <a:buNone/>
            </a:pPr>
            <a:r>
              <a:rPr lang="en-US" sz="1050" b="1" dirty="0">
                <a:solidFill>
                  <a:srgbClr val="8FB0A4"/>
                </a:solidFill>
                <a:latin typeface="Calibri" pitchFamily="34" charset="0"/>
                <a:ea typeface="Calibri" pitchFamily="34" charset="-122"/>
                <a:cs typeface="Calibri" pitchFamily="34" charset="-120"/>
              </a:rPr>
              <a:t>Keputusan: rata-rata bootstrap (Efron 1979). </a:t>
            </a:r>
            <a:pPr indent="0" marL="0">
              <a:lnSpc>
                <a:spcPts val="1400"/>
              </a:lnSpc>
              <a:buNone/>
            </a:pPr>
            <a:r>
              <a:rPr lang="en-US" sz="1050" dirty="0">
                <a:solidFill>
                  <a:srgbClr val="FFFFFF"/>
                </a:solidFill>
                <a:latin typeface="Calibri" pitchFamily="34" charset="0"/>
                <a:ea typeface="Calibri" pitchFamily="34" charset="-122"/>
                <a:cs typeface="Calibri" pitchFamily="34" charset="-120"/>
              </a:rPr>
              <a:t>Strategi a menang di OOF karena memang itu definisinya, lalu kalah di held-out. Bootstrap menaruh ambang di pusat dataran tinggi. t₃ hampir 4 kali lebih goyah dari t₁ karena kelas 4 hanya 893 sampel. Kami melepas 0,0009 pada angka yang dilaporkan demi +0,00023 di held-out.</a:t>
            </a:r>
            <a:endParaRPr lang="en-US" sz="1050" dirty="0"/>
          </a:p>
        </p:txBody>
      </p:sp>
      <p:sp>
        <p:nvSpPr>
          <p:cNvPr id="18" name="Shape 15"/>
          <p:cNvSpPr/>
          <p:nvPr/>
        </p:nvSpPr>
        <p:spPr>
          <a:xfrm>
            <a:off x="7589520" y="1371600"/>
            <a:ext cx="3962095" cy="2514600"/>
          </a:xfrm>
          <a:prstGeom prst="roundRect">
            <a:avLst>
              <a:gd name="adj" fmla="val 2182"/>
            </a:avLst>
          </a:prstGeom>
          <a:solidFill>
            <a:srgbClr val="ECE7DF"/>
          </a:solidFill>
          <a:ln w="9525">
            <a:solidFill>
              <a:srgbClr val="DCD8D1"/>
            </a:solidFill>
            <a:prstDash val="solid"/>
          </a:ln>
        </p:spPr>
      </p:sp>
      <p:sp>
        <p:nvSpPr>
          <p:cNvPr id="19" name="Text 16"/>
          <p:cNvSpPr/>
          <p:nvPr/>
        </p:nvSpPr>
        <p:spPr>
          <a:xfrm>
            <a:off x="7790688" y="1499616"/>
            <a:ext cx="3559759" cy="201168"/>
          </a:xfrm>
          <a:prstGeom prst="rect">
            <a:avLst/>
          </a:prstGeom>
          <a:noFill/>
          <a:ln/>
        </p:spPr>
        <p:txBody>
          <a:bodyPr wrap="square" lIns="0" tIns="0" rIns="0" bIns="0" rtlCol="0" anchor="ctr"/>
          <a:lstStyle/>
          <a:p>
            <a:pPr indent="0" marL="0">
              <a:buNone/>
            </a:pPr>
            <a:r>
              <a:rPr lang="en-US" sz="850" b="1" spc="120" kern="0" dirty="0">
                <a:solidFill>
                  <a:srgbClr val="6E747C"/>
                </a:solidFill>
                <a:latin typeface="Calibri" pitchFamily="34" charset="0"/>
                <a:ea typeface="Calibri" pitchFamily="34" charset="-122"/>
                <a:cs typeface="Calibri" pitchFamily="34" charset="-120"/>
              </a:rPr>
              <a:t>OVERFIT YANG KAMI TANGKAP SENDIRI</a:t>
            </a:r>
            <a:endParaRPr lang="en-US" sz="850" dirty="0"/>
          </a:p>
        </p:txBody>
      </p:sp>
      <p:sp>
        <p:nvSpPr>
          <p:cNvPr id="20" name="Text 17"/>
          <p:cNvSpPr/>
          <p:nvPr/>
        </p:nvSpPr>
        <p:spPr>
          <a:xfrm>
            <a:off x="7790688" y="1700784"/>
            <a:ext cx="3559759" cy="475488"/>
          </a:xfrm>
          <a:prstGeom prst="rect">
            <a:avLst/>
          </a:prstGeom>
          <a:noFill/>
          <a:ln/>
        </p:spPr>
        <p:txBody>
          <a:bodyPr wrap="square" lIns="0" tIns="0" rIns="0" bIns="0" rtlCol="0" anchor="t"/>
          <a:lstStyle/>
          <a:p>
            <a:pPr indent="0" marL="0">
              <a:lnSpc>
                <a:spcPts val="1600"/>
              </a:lnSpc>
              <a:buNone/>
            </a:pPr>
            <a:r>
              <a:rPr lang="en-US" sz="1300" b="1" dirty="0">
                <a:solidFill>
                  <a:srgbClr val="16191D"/>
                </a:solidFill>
                <a:latin typeface="Cambria" pitchFamily="34" charset="0"/>
                <a:ea typeface="Cambria" pitchFamily="34" charset="-122"/>
                <a:cs typeface="Cambria" pitchFamily="34" charset="-120"/>
              </a:rPr>
              <a:t>Ambang per segmen: QWK naik, held-out turun</a:t>
            </a:r>
            <a:endParaRPr lang="en-US" sz="1300" dirty="0"/>
          </a:p>
        </p:txBody>
      </p:sp>
      <p:sp>
        <p:nvSpPr>
          <p:cNvPr id="21" name="Text 18"/>
          <p:cNvSpPr/>
          <p:nvPr/>
        </p:nvSpPr>
        <p:spPr>
          <a:xfrm>
            <a:off x="7790688" y="2212848"/>
            <a:ext cx="3559759" cy="1188720"/>
          </a:xfrm>
          <a:prstGeom prst="rect">
            <a:avLst/>
          </a:prstGeom>
          <a:noFill/>
          <a:ln/>
        </p:spPr>
        <p:txBody>
          <a:bodyPr wrap="square" lIns="0" tIns="0" rIns="0" bIns="0" rtlCol="0" anchor="t"/>
          <a:lstStyle/>
          <a:p>
            <a:pPr algn="l" indent="0" marL="0">
              <a:lnSpc>
                <a:spcPts val="1350"/>
              </a:lnSpc>
              <a:buNone/>
            </a:pPr>
            <a:r>
              <a:rPr lang="en-US" sz="1000" dirty="0">
                <a:solidFill>
                  <a:srgbClr val="3A4048"/>
                </a:solidFill>
                <a:latin typeface="Calibri" pitchFamily="34" charset="0"/>
                <a:ea typeface="Calibri" pitchFamily="34" charset="-122"/>
                <a:cs typeface="Calibri" pitchFamily="34" charset="-120"/>
              </a:rPr>
              <a:t>Segmentasi per tahun, status kesehatan, usia, dan silangannya. Tiap parameter tambahan menaikkan in-sample dan menurunkan held-out secara monoton. Tanpa split-half, ini tampak sebagai perbaikan terbesar kedua.</a:t>
            </a:r>
            <a:endParaRPr lang="en-US" sz="1000" dirty="0"/>
          </a:p>
        </p:txBody>
      </p:sp>
      <p:sp>
        <p:nvSpPr>
          <p:cNvPr id="22" name="Text 19"/>
          <p:cNvSpPr/>
          <p:nvPr/>
        </p:nvSpPr>
        <p:spPr>
          <a:xfrm>
            <a:off x="7790688" y="3447288"/>
            <a:ext cx="1828800" cy="256032"/>
          </a:xfrm>
          <a:prstGeom prst="rect">
            <a:avLst/>
          </a:prstGeom>
          <a:noFill/>
          <a:ln/>
        </p:spPr>
        <p:txBody>
          <a:bodyPr wrap="square" lIns="0" tIns="0" rIns="0" bIns="0" rtlCol="0" anchor="ctr"/>
          <a:lstStyle/>
          <a:p>
            <a:pPr indent="0" marL="0">
              <a:buNone/>
            </a:pPr>
            <a:r>
              <a:rPr lang="en-US" sz="1200" b="1" dirty="0">
                <a:solidFill>
                  <a:srgbClr val="A8442A"/>
                </a:solidFill>
                <a:latin typeface="Cambria" pitchFamily="34" charset="0"/>
                <a:ea typeface="Cambria" pitchFamily="34" charset="-122"/>
                <a:cs typeface="Cambria" pitchFamily="34" charset="-120"/>
              </a:rPr>
              <a:t>Ditolak.</a:t>
            </a:r>
            <a:endParaRPr lang="en-US" sz="1200" dirty="0"/>
          </a:p>
        </p:txBody>
      </p:sp>
      <p:sp>
        <p:nvSpPr>
          <p:cNvPr id="23" name="Shape 20"/>
          <p:cNvSpPr/>
          <p:nvPr/>
        </p:nvSpPr>
        <p:spPr>
          <a:xfrm>
            <a:off x="7589520" y="4023360"/>
            <a:ext cx="3962095" cy="2194560"/>
          </a:xfrm>
          <a:prstGeom prst="roundRect">
            <a:avLst>
              <a:gd name="adj" fmla="val 2500"/>
            </a:avLst>
          </a:prstGeom>
          <a:solidFill>
            <a:srgbClr val="FFFFFF"/>
          </a:solidFill>
          <a:ln w="9525">
            <a:solidFill>
              <a:srgbClr val="DCD8D1"/>
            </a:solidFill>
            <a:prstDash val="solid"/>
          </a:ln>
        </p:spPr>
      </p:sp>
      <p:sp>
        <p:nvSpPr>
          <p:cNvPr id="24" name="Text 21"/>
          <p:cNvSpPr/>
          <p:nvPr/>
        </p:nvSpPr>
        <p:spPr>
          <a:xfrm>
            <a:off x="7790688" y="4151376"/>
            <a:ext cx="3559759" cy="201168"/>
          </a:xfrm>
          <a:prstGeom prst="rect">
            <a:avLst/>
          </a:prstGeom>
          <a:noFill/>
          <a:ln/>
        </p:spPr>
        <p:txBody>
          <a:bodyPr wrap="square" lIns="0" tIns="0" rIns="0" bIns="0" rtlCol="0" anchor="ctr"/>
          <a:lstStyle/>
          <a:p>
            <a:pPr indent="0" marL="0">
              <a:buNone/>
            </a:pPr>
            <a:r>
              <a:rPr lang="en-US" sz="850" b="1" spc="120" kern="0" dirty="0">
                <a:solidFill>
                  <a:srgbClr val="6E747C"/>
                </a:solidFill>
                <a:latin typeface="Calibri" pitchFamily="34" charset="0"/>
                <a:ea typeface="Calibri" pitchFamily="34" charset="-122"/>
                <a:cs typeface="Calibri" pitchFamily="34" charset="-120"/>
              </a:rPr>
              <a:t>A.3 · 20 KONFIGURASI MASUK AKAL</a:t>
            </a:r>
            <a:endParaRPr lang="en-US" sz="850" dirty="0"/>
          </a:p>
        </p:txBody>
      </p:sp>
      <p:sp>
        <p:nvSpPr>
          <p:cNvPr id="25" name="Text 22"/>
          <p:cNvSpPr/>
          <p:nvPr/>
        </p:nvSpPr>
        <p:spPr>
          <a:xfrm>
            <a:off x="7790688" y="4352544"/>
            <a:ext cx="3559759" cy="475488"/>
          </a:xfrm>
          <a:prstGeom prst="rect">
            <a:avLst/>
          </a:prstGeom>
          <a:noFill/>
          <a:ln/>
        </p:spPr>
        <p:txBody>
          <a:bodyPr wrap="square" lIns="0" tIns="0" rIns="0" bIns="0" rtlCol="0" anchor="t"/>
          <a:lstStyle/>
          <a:p>
            <a:pPr indent="0" marL="0">
              <a:lnSpc>
                <a:spcPts val="1600"/>
              </a:lnSpc>
              <a:buNone/>
            </a:pPr>
            <a:r>
              <a:rPr lang="en-US" sz="1300" b="1" dirty="0">
                <a:solidFill>
                  <a:srgbClr val="16191D"/>
                </a:solidFill>
                <a:latin typeface="Cambria" pitchFamily="34" charset="0"/>
                <a:ea typeface="Cambria" pitchFamily="34" charset="-122"/>
                <a:cs typeface="Cambria" pitchFamily="34" charset="-120"/>
              </a:rPr>
              <a:t>Tidak ada kriteria latih yang memandu</a:t>
            </a:r>
            <a:endParaRPr lang="en-US" sz="1300" dirty="0"/>
          </a:p>
        </p:txBody>
      </p:sp>
      <p:sp>
        <p:nvSpPr>
          <p:cNvPr id="26" name="Text 23"/>
          <p:cNvSpPr/>
          <p:nvPr/>
        </p:nvSpPr>
        <p:spPr>
          <a:xfrm>
            <a:off x="7790688" y="4864608"/>
            <a:ext cx="2563027" cy="310896"/>
          </a:xfrm>
          <a:prstGeom prst="rect">
            <a:avLst/>
          </a:prstGeom>
          <a:noFill/>
          <a:ln/>
        </p:spPr>
        <p:txBody>
          <a:bodyPr wrap="square" lIns="0" tIns="0" rIns="0" bIns="0" rtlCol="0" anchor="ctr"/>
          <a:lstStyle/>
          <a:p>
            <a:pPr indent="0" marL="0">
              <a:buNone/>
            </a:pPr>
            <a:r>
              <a:rPr lang="en-US" sz="1000" dirty="0">
                <a:solidFill>
                  <a:srgbClr val="3A4048"/>
                </a:solidFill>
                <a:latin typeface="Calibri" pitchFamily="34" charset="0"/>
                <a:ea typeface="Calibri" pitchFamily="34" charset="-122"/>
                <a:cs typeface="Calibri" pitchFamily="34" charset="-120"/>
              </a:rPr>
              <a:t>Korelasi QWK OOF ke kinerja uji</a:t>
            </a:r>
            <a:endParaRPr lang="en-US" sz="1000" dirty="0"/>
          </a:p>
        </p:txBody>
      </p:sp>
      <p:sp>
        <p:nvSpPr>
          <p:cNvPr id="27" name="Text 24"/>
          <p:cNvSpPr/>
          <p:nvPr/>
        </p:nvSpPr>
        <p:spPr>
          <a:xfrm>
            <a:off x="10353715" y="4864608"/>
            <a:ext cx="996733" cy="310896"/>
          </a:xfrm>
          <a:prstGeom prst="rect">
            <a:avLst/>
          </a:prstGeom>
          <a:noFill/>
          <a:ln/>
        </p:spPr>
        <p:txBody>
          <a:bodyPr wrap="square" lIns="0" tIns="0" rIns="0" bIns="0" rtlCol="0" anchor="ctr"/>
          <a:lstStyle/>
          <a:p>
            <a:pPr algn="r" indent="0" marL="0">
              <a:buNone/>
            </a:pPr>
            <a:r>
              <a:rPr lang="en-US" sz="1000" b="1" dirty="0">
                <a:solidFill>
                  <a:srgbClr val="A8442A"/>
                </a:solidFill>
                <a:latin typeface="Calibri" pitchFamily="34" charset="0"/>
                <a:ea typeface="Calibri" pitchFamily="34" charset="-122"/>
                <a:cs typeface="Calibri" pitchFamily="34" charset="-120"/>
              </a:rPr>
              <a:t>≈ 0,08</a:t>
            </a:r>
            <a:endParaRPr lang="en-US" sz="1000" dirty="0"/>
          </a:p>
        </p:txBody>
      </p:sp>
      <p:sp>
        <p:nvSpPr>
          <p:cNvPr id="28" name="Shape 25"/>
          <p:cNvSpPr/>
          <p:nvPr/>
        </p:nvSpPr>
        <p:spPr>
          <a:xfrm>
            <a:off x="7790688" y="5175504"/>
            <a:ext cx="3559759" cy="0"/>
          </a:xfrm>
          <a:prstGeom prst="line">
            <a:avLst/>
          </a:prstGeom>
          <a:noFill/>
          <a:ln w="7620">
            <a:solidFill>
              <a:srgbClr val="DCD8D1"/>
            </a:solidFill>
            <a:prstDash val="solid"/>
          </a:ln>
        </p:spPr>
      </p:sp>
      <p:sp>
        <p:nvSpPr>
          <p:cNvPr id="29" name="Text 26"/>
          <p:cNvSpPr/>
          <p:nvPr/>
        </p:nvSpPr>
        <p:spPr>
          <a:xfrm>
            <a:off x="7790688" y="5175504"/>
            <a:ext cx="2563027" cy="310896"/>
          </a:xfrm>
          <a:prstGeom prst="rect">
            <a:avLst/>
          </a:prstGeom>
          <a:noFill/>
          <a:ln/>
        </p:spPr>
        <p:txBody>
          <a:bodyPr wrap="square" lIns="0" tIns="0" rIns="0" bIns="0" rtlCol="0" anchor="ctr"/>
          <a:lstStyle/>
          <a:p>
            <a:pPr indent="0" marL="0">
              <a:buNone/>
            </a:pPr>
            <a:r>
              <a:rPr lang="en-US" sz="1000" dirty="0">
                <a:solidFill>
                  <a:srgbClr val="3A4048"/>
                </a:solidFill>
                <a:latin typeface="Calibri" pitchFamily="34" charset="0"/>
                <a:ea typeface="Calibri" pitchFamily="34" charset="-122"/>
                <a:cs typeface="Calibri" pitchFamily="34" charset="-120"/>
              </a:rPr>
              <a:t>Korelasi held-out ke kinerja uji</a:t>
            </a:r>
            <a:endParaRPr lang="en-US" sz="1000" dirty="0"/>
          </a:p>
        </p:txBody>
      </p:sp>
      <p:sp>
        <p:nvSpPr>
          <p:cNvPr id="30" name="Text 27"/>
          <p:cNvSpPr/>
          <p:nvPr/>
        </p:nvSpPr>
        <p:spPr>
          <a:xfrm>
            <a:off x="10353715" y="5175504"/>
            <a:ext cx="996733" cy="310896"/>
          </a:xfrm>
          <a:prstGeom prst="rect">
            <a:avLst/>
          </a:prstGeom>
          <a:noFill/>
          <a:ln/>
        </p:spPr>
        <p:txBody>
          <a:bodyPr wrap="square" lIns="0" tIns="0" rIns="0" bIns="0" rtlCol="0" anchor="ctr"/>
          <a:lstStyle/>
          <a:p>
            <a:pPr algn="r" indent="0" marL="0">
              <a:buNone/>
            </a:pPr>
            <a:r>
              <a:rPr lang="en-US" sz="1000" b="1" dirty="0">
                <a:solidFill>
                  <a:srgbClr val="A8442A"/>
                </a:solidFill>
                <a:latin typeface="Calibri" pitchFamily="34" charset="0"/>
                <a:ea typeface="Calibri" pitchFamily="34" charset="-122"/>
                <a:cs typeface="Calibri" pitchFamily="34" charset="-120"/>
              </a:rPr>
              <a:t>≈ 0,16</a:t>
            </a:r>
            <a:endParaRPr lang="en-US" sz="1000" dirty="0"/>
          </a:p>
        </p:txBody>
      </p:sp>
      <p:sp>
        <p:nvSpPr>
          <p:cNvPr id="31" name="Shape 28"/>
          <p:cNvSpPr/>
          <p:nvPr/>
        </p:nvSpPr>
        <p:spPr>
          <a:xfrm>
            <a:off x="7790688" y="5486400"/>
            <a:ext cx="3559759" cy="0"/>
          </a:xfrm>
          <a:prstGeom prst="line">
            <a:avLst/>
          </a:prstGeom>
          <a:noFill/>
          <a:ln w="7620">
            <a:solidFill>
              <a:srgbClr val="DCD8D1"/>
            </a:solidFill>
            <a:prstDash val="solid"/>
          </a:ln>
        </p:spPr>
      </p:sp>
      <p:sp>
        <p:nvSpPr>
          <p:cNvPr id="32" name="Text 29"/>
          <p:cNvSpPr/>
          <p:nvPr/>
        </p:nvSpPr>
        <p:spPr>
          <a:xfrm>
            <a:off x="7790688" y="5486400"/>
            <a:ext cx="2563027" cy="310896"/>
          </a:xfrm>
          <a:prstGeom prst="rect">
            <a:avLst/>
          </a:prstGeom>
          <a:noFill/>
          <a:ln/>
        </p:spPr>
        <p:txBody>
          <a:bodyPr wrap="square" lIns="0" tIns="0" rIns="0" bIns="0" rtlCol="0" anchor="ctr"/>
          <a:lstStyle/>
          <a:p>
            <a:pPr indent="0" marL="0">
              <a:buNone/>
            </a:pPr>
            <a:r>
              <a:rPr lang="en-US" sz="1000" dirty="0">
                <a:solidFill>
                  <a:srgbClr val="3A4048"/>
                </a:solidFill>
                <a:latin typeface="Calibri" pitchFamily="34" charset="0"/>
                <a:ea typeface="Calibri" pitchFamily="34" charset="-122"/>
                <a:cs typeface="Calibri" pitchFamily="34" charset="-120"/>
              </a:rPr>
              <a:t>Rentang QWK 20 konfigurasi</a:t>
            </a:r>
            <a:endParaRPr lang="en-US" sz="1000" dirty="0"/>
          </a:p>
        </p:txBody>
      </p:sp>
      <p:sp>
        <p:nvSpPr>
          <p:cNvPr id="33" name="Text 30"/>
          <p:cNvSpPr/>
          <p:nvPr/>
        </p:nvSpPr>
        <p:spPr>
          <a:xfrm>
            <a:off x="10353715" y="5486400"/>
            <a:ext cx="996733" cy="310896"/>
          </a:xfrm>
          <a:prstGeom prst="rect">
            <a:avLst/>
          </a:prstGeom>
          <a:noFill/>
          <a:ln/>
        </p:spPr>
        <p:txBody>
          <a:bodyPr wrap="square" lIns="0" tIns="0" rIns="0" bIns="0" rtlCol="0" anchor="ctr"/>
          <a:lstStyle/>
          <a:p>
            <a:pPr algn="r" indent="0" marL="0">
              <a:buNone/>
            </a:pPr>
            <a:r>
              <a:rPr lang="en-US" sz="1000" b="1" dirty="0">
                <a:solidFill>
                  <a:srgbClr val="16191D"/>
                </a:solidFill>
                <a:latin typeface="Calibri" pitchFamily="34" charset="0"/>
                <a:ea typeface="Calibri" pitchFamily="34" charset="-122"/>
                <a:cs typeface="Calibri" pitchFamily="34" charset="-120"/>
              </a:rPr>
              <a:t>0,003</a:t>
            </a:r>
            <a:endParaRPr lang="en-US" sz="1000" dirty="0"/>
          </a:p>
        </p:txBody>
      </p:sp>
      <p:sp>
        <p:nvSpPr>
          <p:cNvPr id="34" name="Text 31"/>
          <p:cNvSpPr/>
          <p:nvPr/>
        </p:nvSpPr>
        <p:spPr>
          <a:xfrm>
            <a:off x="7790688" y="5852160"/>
            <a:ext cx="3559759" cy="320040"/>
          </a:xfrm>
          <a:prstGeom prst="rect">
            <a:avLst/>
          </a:prstGeom>
          <a:noFill/>
          <a:ln/>
        </p:spPr>
        <p:txBody>
          <a:bodyPr wrap="square" lIns="0" tIns="0" rIns="0" bIns="0" rtlCol="0" anchor="t"/>
          <a:lstStyle/>
          <a:p>
            <a:pPr algn="l" indent="0" marL="0">
              <a:lnSpc>
                <a:spcPts val="1350"/>
              </a:lnSpc>
              <a:buNone/>
            </a:pPr>
            <a:r>
              <a:rPr lang="en-US" sz="1000" b="1" dirty="0">
                <a:solidFill>
                  <a:srgbClr val="16191D"/>
                </a:solidFill>
                <a:latin typeface="Calibri" pitchFamily="34" charset="0"/>
                <a:ea typeface="Calibri" pitchFamily="34" charset="-122"/>
                <a:cs typeface="Calibri" pitchFamily="34" charset="-120"/>
              </a:rPr>
              <a:t>Mengejar skor tertinggi di rentang ini adalah memilih derau.</a:t>
            </a:r>
            <a:endParaRPr lang="en-US" sz="1000" dirty="0"/>
          </a:p>
        </p:txBody>
      </p:sp>
      <p:sp>
        <p:nvSpPr>
          <p:cNvPr id="36" name="Shape 32"/>
          <p:cNvSpPr/>
          <p:nvPr/>
        </p:nvSpPr>
        <p:spPr>
          <a:xfrm>
            <a:off x="640080" y="6400800"/>
            <a:ext cx="1572768" cy="45720"/>
          </a:xfrm>
          <a:prstGeom prst="rect">
            <a:avLst/>
          </a:prstGeom>
          <a:solidFill>
            <a:srgbClr val="DCD8D1"/>
          </a:solidFill>
          <a:ln/>
        </p:spPr>
      </p:sp>
      <p:sp>
        <p:nvSpPr>
          <p:cNvPr id="37" name="Text 33"/>
          <p:cNvSpPr/>
          <p:nvPr/>
        </p:nvSpPr>
        <p:spPr>
          <a:xfrm>
            <a:off x="640080"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I · Latar &amp; data</a:t>
            </a:r>
            <a:endParaRPr lang="en-US" sz="850" dirty="0"/>
          </a:p>
        </p:txBody>
      </p:sp>
      <p:sp>
        <p:nvSpPr>
          <p:cNvPr id="38" name="Shape 34"/>
          <p:cNvSpPr/>
          <p:nvPr/>
        </p:nvSpPr>
        <p:spPr>
          <a:xfrm>
            <a:off x="2304288" y="6400800"/>
            <a:ext cx="1572768" cy="45720"/>
          </a:xfrm>
          <a:prstGeom prst="rect">
            <a:avLst/>
          </a:prstGeom>
          <a:solidFill>
            <a:srgbClr val="DCD8D1"/>
          </a:solidFill>
          <a:ln/>
        </p:spPr>
      </p:sp>
      <p:sp>
        <p:nvSpPr>
          <p:cNvPr id="39" name="Text 35"/>
          <p:cNvSpPr/>
          <p:nvPr/>
        </p:nvSpPr>
        <p:spPr>
          <a:xfrm>
            <a:off x="2304288"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II · EDA</a:t>
            </a:r>
            <a:endParaRPr lang="en-US" sz="850" dirty="0"/>
          </a:p>
        </p:txBody>
      </p:sp>
      <p:sp>
        <p:nvSpPr>
          <p:cNvPr id="40" name="Shape 36"/>
          <p:cNvSpPr/>
          <p:nvPr/>
        </p:nvSpPr>
        <p:spPr>
          <a:xfrm>
            <a:off x="3968496" y="6400800"/>
            <a:ext cx="1572768" cy="45720"/>
          </a:xfrm>
          <a:prstGeom prst="rect">
            <a:avLst/>
          </a:prstGeom>
          <a:solidFill>
            <a:srgbClr val="DCD8D1"/>
          </a:solidFill>
          <a:ln/>
        </p:spPr>
      </p:sp>
      <p:sp>
        <p:nvSpPr>
          <p:cNvPr id="41" name="Text 37"/>
          <p:cNvSpPr/>
          <p:nvPr/>
        </p:nvSpPr>
        <p:spPr>
          <a:xfrm>
            <a:off x="3968496"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III · Pipeline</a:t>
            </a:r>
            <a:endParaRPr lang="en-US" sz="850" dirty="0"/>
          </a:p>
        </p:txBody>
      </p:sp>
      <p:sp>
        <p:nvSpPr>
          <p:cNvPr id="42" name="Shape 38"/>
          <p:cNvSpPr/>
          <p:nvPr/>
        </p:nvSpPr>
        <p:spPr>
          <a:xfrm>
            <a:off x="5632704" y="6400800"/>
            <a:ext cx="1572768" cy="45720"/>
          </a:xfrm>
          <a:prstGeom prst="rect">
            <a:avLst/>
          </a:prstGeom>
          <a:solidFill>
            <a:srgbClr val="A8442A"/>
          </a:solidFill>
          <a:ln/>
        </p:spPr>
      </p:sp>
      <p:sp>
        <p:nvSpPr>
          <p:cNvPr id="43" name="Text 39"/>
          <p:cNvSpPr/>
          <p:nvPr/>
        </p:nvSpPr>
        <p:spPr>
          <a:xfrm>
            <a:off x="5632704" y="6464808"/>
            <a:ext cx="1572768" cy="201168"/>
          </a:xfrm>
          <a:prstGeom prst="rect">
            <a:avLst/>
          </a:prstGeom>
          <a:noFill/>
          <a:ln/>
        </p:spPr>
        <p:txBody>
          <a:bodyPr wrap="square" lIns="0" tIns="0" rIns="0" bIns="0" rtlCol="0" anchor="ctr"/>
          <a:lstStyle/>
          <a:p>
            <a:pPr indent="0" marL="0">
              <a:buNone/>
            </a:pPr>
            <a:r>
              <a:rPr lang="en-US" sz="850" b="1" dirty="0">
                <a:solidFill>
                  <a:srgbClr val="16191D"/>
                </a:solidFill>
                <a:latin typeface="Calibri" pitchFamily="34" charset="0"/>
                <a:ea typeface="Calibri" pitchFamily="34" charset="-122"/>
                <a:cs typeface="Calibri" pitchFamily="34" charset="-120"/>
              </a:rPr>
              <a:t>IV · Disiplin estimasi</a:t>
            </a:r>
            <a:endParaRPr lang="en-US" sz="850" dirty="0"/>
          </a:p>
        </p:txBody>
      </p:sp>
      <p:sp>
        <p:nvSpPr>
          <p:cNvPr id="44" name="Shape 40"/>
          <p:cNvSpPr/>
          <p:nvPr/>
        </p:nvSpPr>
        <p:spPr>
          <a:xfrm>
            <a:off x="7296912" y="6400800"/>
            <a:ext cx="1572768" cy="45720"/>
          </a:xfrm>
          <a:prstGeom prst="rect">
            <a:avLst/>
          </a:prstGeom>
          <a:solidFill>
            <a:srgbClr val="DCD8D1"/>
          </a:solidFill>
          <a:ln/>
        </p:spPr>
      </p:sp>
      <p:sp>
        <p:nvSpPr>
          <p:cNvPr id="45" name="Text 41"/>
          <p:cNvSpPr/>
          <p:nvPr/>
        </p:nvSpPr>
        <p:spPr>
          <a:xfrm>
            <a:off x="7296912"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V · Hasil &amp; plafon</a:t>
            </a:r>
            <a:endParaRPr lang="en-US" sz="850" dirty="0"/>
          </a:p>
        </p:txBody>
      </p:sp>
      <p:sp>
        <p:nvSpPr>
          <p:cNvPr id="46" name="Shape 42"/>
          <p:cNvSpPr/>
          <p:nvPr/>
        </p:nvSpPr>
        <p:spPr>
          <a:xfrm>
            <a:off x="8961120" y="6400800"/>
            <a:ext cx="1572768" cy="45720"/>
          </a:xfrm>
          <a:prstGeom prst="rect">
            <a:avLst/>
          </a:prstGeom>
          <a:solidFill>
            <a:srgbClr val="DCD8D1"/>
          </a:solidFill>
          <a:ln/>
        </p:spPr>
      </p:sp>
      <p:sp>
        <p:nvSpPr>
          <p:cNvPr id="47" name="Text 43"/>
          <p:cNvSpPr/>
          <p:nvPr/>
        </p:nvSpPr>
        <p:spPr>
          <a:xfrm>
            <a:off x="8961120"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VI · Reproduksi &amp; produk</a:t>
            </a:r>
            <a:endParaRPr lang="en-US" sz="850" dirty="0"/>
          </a:p>
        </p:txBody>
      </p:sp>
      <p:sp>
        <p:nvSpPr>
          <p:cNvPr id="48" name="Text 44"/>
          <p:cNvSpPr/>
          <p:nvPr/>
        </p:nvSpPr>
        <p:spPr>
          <a:xfrm>
            <a:off x="10637215" y="6382512"/>
            <a:ext cx="914400" cy="274320"/>
          </a:xfrm>
          <a:prstGeom prst="rect">
            <a:avLst/>
          </a:prstGeom>
          <a:noFill/>
          <a:ln/>
        </p:spPr>
        <p:txBody>
          <a:bodyPr wrap="square" lIns="0" tIns="0" rIns="0" bIns="0" rtlCol="0" anchor="ctr"/>
          <a:lstStyle/>
          <a:p>
            <a:pPr algn="r" indent="0" marL="0">
              <a:buNone/>
            </a:pPr>
            <a:r>
              <a:rPr lang="en-US" sz="900" b="1" dirty="0">
                <a:solidFill>
                  <a:srgbClr val="9AA0A7"/>
                </a:solidFill>
                <a:latin typeface="Calibri" pitchFamily="34" charset="0"/>
                <a:ea typeface="Calibri" pitchFamily="34" charset="-122"/>
                <a:cs typeface="Calibri"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84048"/>
            <a:ext cx="10911535" cy="530352"/>
          </a:xfrm>
          <a:prstGeom prst="rect">
            <a:avLst/>
          </a:prstGeom>
          <a:noFill/>
          <a:ln/>
        </p:spPr>
        <p:txBody>
          <a:bodyPr wrap="square" lIns="0" tIns="0" rIns="0" bIns="0" rtlCol="0" anchor="t"/>
          <a:lstStyle/>
          <a:p>
            <a:pPr indent="0" marL="0">
              <a:buNone/>
            </a:pPr>
            <a:r>
              <a:rPr lang="en-US" sz="2400" b="1" dirty="0">
                <a:solidFill>
                  <a:srgbClr val="16191D"/>
                </a:solidFill>
                <a:latin typeface="Cambria" pitchFamily="34" charset="0"/>
                <a:ea typeface="Cambria" pitchFamily="34" charset="-122"/>
                <a:cs typeface="Cambria" pitchFamily="34" charset="-120"/>
              </a:rPr>
              <a:t>QWK out-of-fold 0,48425. Satu sel memikul 35,8% seluruh penalti.</a:t>
            </a:r>
            <a:endParaRPr lang="en-US" sz="2400" dirty="0"/>
          </a:p>
        </p:txBody>
      </p:sp>
      <p:sp>
        <p:nvSpPr>
          <p:cNvPr id="3" name="Text 1"/>
          <p:cNvSpPr/>
          <p:nvPr/>
        </p:nvSpPr>
        <p:spPr>
          <a:xfrm>
            <a:off x="640080" y="896112"/>
            <a:ext cx="10911535" cy="310896"/>
          </a:xfrm>
          <a:prstGeom prst="rect">
            <a:avLst/>
          </a:prstGeom>
          <a:noFill/>
          <a:ln/>
        </p:spPr>
        <p:txBody>
          <a:bodyPr wrap="square" lIns="0" tIns="0" rIns="0" bIns="0" rtlCol="0" anchor="t"/>
          <a:lstStyle/>
          <a:p>
            <a:pPr indent="0" marL="0">
              <a:buNone/>
            </a:pPr>
            <a:r>
              <a:rPr lang="en-US" sz="1250" dirty="0">
                <a:solidFill>
                  <a:srgbClr val="6E747C"/>
                </a:solidFill>
                <a:latin typeface="Calibri" pitchFamily="34" charset="0"/>
                <a:ea typeface="Calibri" pitchFamily="34" charset="-122"/>
                <a:cs typeface="Calibri" pitchFamily="34" charset="-120"/>
              </a:rPr>
              <a:t>Matriks konfusi dan sumbangan penalti atas 95.609 baris latih, lalu metrik per kelas.</a:t>
            </a:r>
            <a:endParaRPr lang="en-US" sz="1250" dirty="0"/>
          </a:p>
        </p:txBody>
      </p:sp>
      <p:sp>
        <p:nvSpPr>
          <p:cNvPr id="4" name="Text 2"/>
          <p:cNvSpPr/>
          <p:nvPr/>
        </p:nvSpPr>
        <p:spPr>
          <a:xfrm>
            <a:off x="1143000" y="1536192"/>
            <a:ext cx="2999232" cy="237744"/>
          </a:xfrm>
          <a:prstGeom prst="rect">
            <a:avLst/>
          </a:prstGeom>
          <a:noFill/>
          <a:ln/>
        </p:spPr>
        <p:txBody>
          <a:bodyPr wrap="square" lIns="0" tIns="0" rIns="0" bIns="0" rtlCol="0" anchor="ctr"/>
          <a:lstStyle/>
          <a:p>
            <a:pPr algn="ctr" indent="0" marL="0">
              <a:buNone/>
            </a:pPr>
            <a:r>
              <a:rPr lang="en-US" sz="1050" b="1" dirty="0">
                <a:solidFill>
                  <a:srgbClr val="6E747C"/>
                </a:solidFill>
                <a:latin typeface="Calibri" pitchFamily="34" charset="0"/>
                <a:ea typeface="Calibri" pitchFamily="34" charset="-122"/>
                <a:cs typeface="Calibri" pitchFamily="34" charset="-120"/>
              </a:rPr>
              <a:t>Konfusi · prediksi →</a:t>
            </a:r>
            <a:endParaRPr lang="en-US" sz="1050" dirty="0"/>
          </a:p>
        </p:txBody>
      </p:sp>
      <p:sp>
        <p:nvSpPr>
          <p:cNvPr id="5" name="Text 3"/>
          <p:cNvSpPr/>
          <p:nvPr/>
        </p:nvSpPr>
        <p:spPr>
          <a:xfrm>
            <a:off x="1143000" y="1828800"/>
            <a:ext cx="749808" cy="274320"/>
          </a:xfrm>
          <a:prstGeom prst="rect">
            <a:avLst/>
          </a:prstGeom>
          <a:noFill/>
          <a:ln/>
        </p:spPr>
        <p:txBody>
          <a:bodyPr wrap="square" lIns="0" tIns="0" rIns="0" bIns="0" rtlCol="0" anchor="ctr"/>
          <a:lstStyle/>
          <a:p>
            <a:pPr algn="ctr" indent="0" marL="0">
              <a:buNone/>
            </a:pPr>
            <a:r>
              <a:rPr lang="en-US" sz="1150" b="1" dirty="0">
                <a:solidFill>
                  <a:srgbClr val="3A4048"/>
                </a:solidFill>
                <a:latin typeface="Calibri" pitchFamily="34" charset="0"/>
                <a:ea typeface="Calibri" pitchFamily="34" charset="-122"/>
                <a:cs typeface="Calibri" pitchFamily="34" charset="-120"/>
              </a:rPr>
              <a:t>1</a:t>
            </a:r>
            <a:endParaRPr lang="en-US" sz="1150" dirty="0"/>
          </a:p>
        </p:txBody>
      </p:sp>
      <p:sp>
        <p:nvSpPr>
          <p:cNvPr id="6" name="Text 4"/>
          <p:cNvSpPr/>
          <p:nvPr/>
        </p:nvSpPr>
        <p:spPr>
          <a:xfrm>
            <a:off x="1892808" y="1828800"/>
            <a:ext cx="749808" cy="274320"/>
          </a:xfrm>
          <a:prstGeom prst="rect">
            <a:avLst/>
          </a:prstGeom>
          <a:noFill/>
          <a:ln/>
        </p:spPr>
        <p:txBody>
          <a:bodyPr wrap="square" lIns="0" tIns="0" rIns="0" bIns="0" rtlCol="0" anchor="ctr"/>
          <a:lstStyle/>
          <a:p>
            <a:pPr algn="ctr" indent="0" marL="0">
              <a:buNone/>
            </a:pPr>
            <a:r>
              <a:rPr lang="en-US" sz="1150" b="1" dirty="0">
                <a:solidFill>
                  <a:srgbClr val="3A4048"/>
                </a:solidFill>
                <a:latin typeface="Calibri" pitchFamily="34" charset="0"/>
                <a:ea typeface="Calibri" pitchFamily="34" charset="-122"/>
                <a:cs typeface="Calibri" pitchFamily="34" charset="-120"/>
              </a:rPr>
              <a:t>2</a:t>
            </a:r>
            <a:endParaRPr lang="en-US" sz="1150" dirty="0"/>
          </a:p>
        </p:txBody>
      </p:sp>
      <p:sp>
        <p:nvSpPr>
          <p:cNvPr id="7" name="Text 5"/>
          <p:cNvSpPr/>
          <p:nvPr/>
        </p:nvSpPr>
        <p:spPr>
          <a:xfrm>
            <a:off x="2642616" y="1828800"/>
            <a:ext cx="749808" cy="274320"/>
          </a:xfrm>
          <a:prstGeom prst="rect">
            <a:avLst/>
          </a:prstGeom>
          <a:noFill/>
          <a:ln/>
        </p:spPr>
        <p:txBody>
          <a:bodyPr wrap="square" lIns="0" tIns="0" rIns="0" bIns="0" rtlCol="0" anchor="ctr"/>
          <a:lstStyle/>
          <a:p>
            <a:pPr algn="ctr" indent="0" marL="0">
              <a:buNone/>
            </a:pPr>
            <a:r>
              <a:rPr lang="en-US" sz="1150" b="1" dirty="0">
                <a:solidFill>
                  <a:srgbClr val="3A4048"/>
                </a:solidFill>
                <a:latin typeface="Calibri" pitchFamily="34" charset="0"/>
                <a:ea typeface="Calibri" pitchFamily="34" charset="-122"/>
                <a:cs typeface="Calibri" pitchFamily="34" charset="-120"/>
              </a:rPr>
              <a:t>3</a:t>
            </a:r>
            <a:endParaRPr lang="en-US" sz="1150" dirty="0"/>
          </a:p>
        </p:txBody>
      </p:sp>
      <p:sp>
        <p:nvSpPr>
          <p:cNvPr id="8" name="Text 6"/>
          <p:cNvSpPr/>
          <p:nvPr/>
        </p:nvSpPr>
        <p:spPr>
          <a:xfrm>
            <a:off x="3392424" y="1828800"/>
            <a:ext cx="749808" cy="274320"/>
          </a:xfrm>
          <a:prstGeom prst="rect">
            <a:avLst/>
          </a:prstGeom>
          <a:noFill/>
          <a:ln/>
        </p:spPr>
        <p:txBody>
          <a:bodyPr wrap="square" lIns="0" tIns="0" rIns="0" bIns="0" rtlCol="0" anchor="ctr"/>
          <a:lstStyle/>
          <a:p>
            <a:pPr algn="ctr" indent="0" marL="0">
              <a:buNone/>
            </a:pPr>
            <a:r>
              <a:rPr lang="en-US" sz="1150" b="1" dirty="0">
                <a:solidFill>
                  <a:srgbClr val="3A4048"/>
                </a:solidFill>
                <a:latin typeface="Calibri" pitchFamily="34" charset="0"/>
                <a:ea typeface="Calibri" pitchFamily="34" charset="-122"/>
                <a:cs typeface="Calibri" pitchFamily="34" charset="-120"/>
              </a:rPr>
              <a:t>4</a:t>
            </a:r>
            <a:endParaRPr lang="en-US" sz="1150" dirty="0"/>
          </a:p>
        </p:txBody>
      </p:sp>
      <p:sp>
        <p:nvSpPr>
          <p:cNvPr id="9" name="Text 7"/>
          <p:cNvSpPr/>
          <p:nvPr/>
        </p:nvSpPr>
        <p:spPr>
          <a:xfrm>
            <a:off x="-338328" y="3044952"/>
            <a:ext cx="786384" cy="274320"/>
          </a:xfrm>
          <a:prstGeom prst="rect">
            <a:avLst/>
          </a:prstGeom>
          <a:noFill/>
          <a:ln/>
        </p:spPr>
        <p:txBody>
          <a:bodyPr wrap="square" lIns="0" tIns="0" rIns="0" bIns="0" rtlCol="0" anchor="ctr"/>
          <a:lstStyle/>
          <a:p>
            <a:pPr algn="r" indent="0" marL="0">
              <a:buNone/>
            </a:pPr>
            <a:r>
              <a:rPr lang="en-US" sz="1050" b="1" dirty="0">
                <a:solidFill>
                  <a:srgbClr val="6E747C"/>
                </a:solidFill>
                <a:latin typeface="Calibri" pitchFamily="34" charset="0"/>
                <a:ea typeface="Calibri" pitchFamily="34" charset="-122"/>
                <a:cs typeface="Calibri" pitchFamily="34" charset="-120"/>
              </a:rPr>
              <a:t> </a:t>
            </a:r>
            <a:endParaRPr lang="en-US" sz="1050" dirty="0"/>
          </a:p>
        </p:txBody>
      </p:sp>
      <p:sp>
        <p:nvSpPr>
          <p:cNvPr id="10" name="Text 8"/>
          <p:cNvSpPr/>
          <p:nvPr/>
        </p:nvSpPr>
        <p:spPr>
          <a:xfrm>
            <a:off x="704088" y="2194560"/>
            <a:ext cx="292608" cy="493776"/>
          </a:xfrm>
          <a:prstGeom prst="rect">
            <a:avLst/>
          </a:prstGeom>
          <a:noFill/>
          <a:ln/>
        </p:spPr>
        <p:txBody>
          <a:bodyPr wrap="square" lIns="0" tIns="0" rIns="0" bIns="0" rtlCol="0" anchor="ctr"/>
          <a:lstStyle/>
          <a:p>
            <a:pPr algn="r" indent="0" marL="0">
              <a:buNone/>
            </a:pPr>
            <a:r>
              <a:rPr lang="en-US" sz="1150" b="1" dirty="0">
                <a:solidFill>
                  <a:srgbClr val="3A4048"/>
                </a:solidFill>
                <a:latin typeface="Calibri" pitchFamily="34" charset="0"/>
                <a:ea typeface="Calibri" pitchFamily="34" charset="-122"/>
                <a:cs typeface="Calibri" pitchFamily="34" charset="-120"/>
              </a:rPr>
              <a:t>1</a:t>
            </a:r>
            <a:endParaRPr lang="en-US" sz="1150" dirty="0"/>
          </a:p>
        </p:txBody>
      </p:sp>
      <p:sp>
        <p:nvSpPr>
          <p:cNvPr id="11" name="Shape 9"/>
          <p:cNvSpPr/>
          <p:nvPr/>
        </p:nvSpPr>
        <p:spPr>
          <a:xfrm>
            <a:off x="1143000" y="2194560"/>
            <a:ext cx="704088" cy="448056"/>
          </a:xfrm>
          <a:prstGeom prst="rect">
            <a:avLst/>
          </a:prstGeom>
          <a:solidFill>
            <a:srgbClr val="ECE7DF"/>
          </a:solidFill>
          <a:ln w="15240">
            <a:solidFill>
              <a:srgbClr val="FFFFFF"/>
            </a:solidFill>
            <a:prstDash val="solid"/>
          </a:ln>
        </p:spPr>
      </p:sp>
      <p:sp>
        <p:nvSpPr>
          <p:cNvPr id="12" name="Text 10"/>
          <p:cNvSpPr/>
          <p:nvPr/>
        </p:nvSpPr>
        <p:spPr>
          <a:xfrm>
            <a:off x="1143000" y="2194560"/>
            <a:ext cx="704088" cy="448056"/>
          </a:xfrm>
          <a:prstGeom prst="rect">
            <a:avLst/>
          </a:prstGeom>
          <a:noFill/>
          <a:ln/>
        </p:spPr>
        <p:txBody>
          <a:bodyPr wrap="square" lIns="0" tIns="0" rIns="0" bIns="0" rtlCol="0" anchor="ctr"/>
          <a:lstStyle/>
          <a:p>
            <a:pPr algn="ctr" indent="0" marL="0">
              <a:buNone/>
            </a:pPr>
            <a:r>
              <a:rPr lang="en-US" sz="950" b="1" dirty="0">
                <a:solidFill>
                  <a:srgbClr val="3A4048"/>
                </a:solidFill>
                <a:latin typeface="Calibri" pitchFamily="34" charset="0"/>
                <a:ea typeface="Calibri" pitchFamily="34" charset="-122"/>
                <a:cs typeface="Calibri" pitchFamily="34" charset="-120"/>
              </a:rPr>
              <a:t>30.414</a:t>
            </a:r>
            <a:endParaRPr lang="en-US" sz="950" dirty="0"/>
          </a:p>
        </p:txBody>
      </p:sp>
      <p:sp>
        <p:nvSpPr>
          <p:cNvPr id="13" name="Shape 11"/>
          <p:cNvSpPr/>
          <p:nvPr/>
        </p:nvSpPr>
        <p:spPr>
          <a:xfrm>
            <a:off x="1892808" y="2194560"/>
            <a:ext cx="704088" cy="448056"/>
          </a:xfrm>
          <a:prstGeom prst="rect">
            <a:avLst/>
          </a:prstGeom>
          <a:solidFill>
            <a:srgbClr val="C68573"/>
          </a:solidFill>
          <a:ln w="15240">
            <a:solidFill>
              <a:srgbClr val="FFFFFF"/>
            </a:solidFill>
            <a:prstDash val="solid"/>
          </a:ln>
        </p:spPr>
      </p:sp>
      <p:sp>
        <p:nvSpPr>
          <p:cNvPr id="14" name="Text 12"/>
          <p:cNvSpPr/>
          <p:nvPr/>
        </p:nvSpPr>
        <p:spPr>
          <a:xfrm>
            <a:off x="1892808" y="2194560"/>
            <a:ext cx="704088" cy="44805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11.918</a:t>
            </a:r>
            <a:endParaRPr lang="en-US" sz="950" dirty="0"/>
          </a:p>
        </p:txBody>
      </p:sp>
      <p:sp>
        <p:nvSpPr>
          <p:cNvPr id="15" name="Shape 13"/>
          <p:cNvSpPr/>
          <p:nvPr/>
        </p:nvSpPr>
        <p:spPr>
          <a:xfrm>
            <a:off x="2642616" y="2194560"/>
            <a:ext cx="704088" cy="448056"/>
          </a:xfrm>
          <a:prstGeom prst="rect">
            <a:avLst/>
          </a:prstGeom>
          <a:solidFill>
            <a:srgbClr val="F1E1DB"/>
          </a:solidFill>
          <a:ln w="15240">
            <a:solidFill>
              <a:srgbClr val="FFFFFF"/>
            </a:solidFill>
            <a:prstDash val="solid"/>
          </a:ln>
        </p:spPr>
      </p:sp>
      <p:sp>
        <p:nvSpPr>
          <p:cNvPr id="16" name="Text 14"/>
          <p:cNvSpPr/>
          <p:nvPr/>
        </p:nvSpPr>
        <p:spPr>
          <a:xfrm>
            <a:off x="2642616" y="2194560"/>
            <a:ext cx="704088" cy="448056"/>
          </a:xfrm>
          <a:prstGeom prst="rect">
            <a:avLst/>
          </a:prstGeom>
          <a:noFill/>
          <a:ln/>
        </p:spPr>
        <p:txBody>
          <a:bodyPr wrap="square" lIns="0" tIns="0" rIns="0" bIns="0" rtlCol="0" anchor="ctr"/>
          <a:lstStyle/>
          <a:p>
            <a:pPr algn="ctr" indent="0" marL="0">
              <a:buNone/>
            </a:pPr>
            <a:r>
              <a:rPr lang="en-US" sz="950" b="1" dirty="0">
                <a:solidFill>
                  <a:srgbClr val="16191D"/>
                </a:solidFill>
                <a:latin typeface="Calibri" pitchFamily="34" charset="0"/>
                <a:ea typeface="Calibri" pitchFamily="34" charset="-122"/>
                <a:cs typeface="Calibri" pitchFamily="34" charset="-120"/>
              </a:rPr>
              <a:t>576</a:t>
            </a:r>
            <a:endParaRPr lang="en-US" sz="950" dirty="0"/>
          </a:p>
        </p:txBody>
      </p:sp>
      <p:sp>
        <p:nvSpPr>
          <p:cNvPr id="17" name="Shape 15"/>
          <p:cNvSpPr/>
          <p:nvPr/>
        </p:nvSpPr>
        <p:spPr>
          <a:xfrm>
            <a:off x="3392424" y="2194560"/>
            <a:ext cx="704088" cy="448056"/>
          </a:xfrm>
          <a:prstGeom prst="rect">
            <a:avLst/>
          </a:prstGeom>
          <a:solidFill>
            <a:srgbClr val="F2E6DF"/>
          </a:solidFill>
          <a:ln w="15240">
            <a:solidFill>
              <a:srgbClr val="FFFFFF"/>
            </a:solidFill>
            <a:prstDash val="solid"/>
          </a:ln>
        </p:spPr>
      </p:sp>
      <p:sp>
        <p:nvSpPr>
          <p:cNvPr id="18" name="Text 16"/>
          <p:cNvSpPr/>
          <p:nvPr/>
        </p:nvSpPr>
        <p:spPr>
          <a:xfrm>
            <a:off x="3392424" y="2194560"/>
            <a:ext cx="704088" cy="448056"/>
          </a:xfrm>
          <a:prstGeom prst="rect">
            <a:avLst/>
          </a:prstGeom>
          <a:noFill/>
          <a:ln/>
        </p:spPr>
        <p:txBody>
          <a:bodyPr wrap="square" lIns="0" tIns="0" rIns="0" bIns="0" rtlCol="0" anchor="ctr"/>
          <a:lstStyle/>
          <a:p>
            <a:pPr algn="ctr" indent="0" marL="0">
              <a:buNone/>
            </a:pPr>
            <a:r>
              <a:rPr lang="en-US" sz="950" b="1" dirty="0">
                <a:solidFill>
                  <a:srgbClr val="16191D"/>
                </a:solidFill>
                <a:latin typeface="Calibri" pitchFamily="34" charset="0"/>
                <a:ea typeface="Calibri" pitchFamily="34" charset="-122"/>
                <a:cs typeface="Calibri" pitchFamily="34" charset="-120"/>
              </a:rPr>
              <a:t>60</a:t>
            </a:r>
            <a:endParaRPr lang="en-US" sz="950" dirty="0"/>
          </a:p>
        </p:txBody>
      </p:sp>
      <p:sp>
        <p:nvSpPr>
          <p:cNvPr id="19" name="Text 17"/>
          <p:cNvSpPr/>
          <p:nvPr/>
        </p:nvSpPr>
        <p:spPr>
          <a:xfrm>
            <a:off x="704088" y="2688336"/>
            <a:ext cx="292608" cy="493776"/>
          </a:xfrm>
          <a:prstGeom prst="rect">
            <a:avLst/>
          </a:prstGeom>
          <a:noFill/>
          <a:ln/>
        </p:spPr>
        <p:txBody>
          <a:bodyPr wrap="square" lIns="0" tIns="0" rIns="0" bIns="0" rtlCol="0" anchor="ctr"/>
          <a:lstStyle/>
          <a:p>
            <a:pPr algn="r" indent="0" marL="0">
              <a:buNone/>
            </a:pPr>
            <a:r>
              <a:rPr lang="en-US" sz="1150" b="1" dirty="0">
                <a:solidFill>
                  <a:srgbClr val="3A4048"/>
                </a:solidFill>
                <a:latin typeface="Calibri" pitchFamily="34" charset="0"/>
                <a:ea typeface="Calibri" pitchFamily="34" charset="-122"/>
                <a:cs typeface="Calibri" pitchFamily="34" charset="-120"/>
              </a:rPr>
              <a:t>2</a:t>
            </a:r>
            <a:endParaRPr lang="en-US" sz="1150" dirty="0"/>
          </a:p>
        </p:txBody>
      </p:sp>
      <p:sp>
        <p:nvSpPr>
          <p:cNvPr id="20" name="Shape 18"/>
          <p:cNvSpPr/>
          <p:nvPr/>
        </p:nvSpPr>
        <p:spPr>
          <a:xfrm>
            <a:off x="1143000" y="2688336"/>
            <a:ext cx="704088" cy="448056"/>
          </a:xfrm>
          <a:prstGeom prst="rect">
            <a:avLst/>
          </a:prstGeom>
          <a:solidFill>
            <a:srgbClr val="BC6E5A"/>
          </a:solidFill>
          <a:ln w="15240">
            <a:solidFill>
              <a:srgbClr val="FFFFFF"/>
            </a:solidFill>
            <a:prstDash val="solid"/>
          </a:ln>
        </p:spPr>
      </p:sp>
      <p:sp>
        <p:nvSpPr>
          <p:cNvPr id="21" name="Text 19"/>
          <p:cNvSpPr/>
          <p:nvPr/>
        </p:nvSpPr>
        <p:spPr>
          <a:xfrm>
            <a:off x="1143000" y="2688336"/>
            <a:ext cx="704088" cy="44805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14.757</a:t>
            </a:r>
            <a:endParaRPr lang="en-US" sz="950" dirty="0"/>
          </a:p>
        </p:txBody>
      </p:sp>
      <p:sp>
        <p:nvSpPr>
          <p:cNvPr id="22" name="Shape 20"/>
          <p:cNvSpPr/>
          <p:nvPr/>
        </p:nvSpPr>
        <p:spPr>
          <a:xfrm>
            <a:off x="1892808" y="2688336"/>
            <a:ext cx="704088" cy="448056"/>
          </a:xfrm>
          <a:prstGeom prst="rect">
            <a:avLst/>
          </a:prstGeom>
          <a:solidFill>
            <a:srgbClr val="ECE7DF"/>
          </a:solidFill>
          <a:ln w="15240">
            <a:solidFill>
              <a:srgbClr val="FFFFFF"/>
            </a:solidFill>
            <a:prstDash val="solid"/>
          </a:ln>
        </p:spPr>
      </p:sp>
      <p:sp>
        <p:nvSpPr>
          <p:cNvPr id="23" name="Text 21"/>
          <p:cNvSpPr/>
          <p:nvPr/>
        </p:nvSpPr>
        <p:spPr>
          <a:xfrm>
            <a:off x="1892808" y="2688336"/>
            <a:ext cx="704088" cy="448056"/>
          </a:xfrm>
          <a:prstGeom prst="rect">
            <a:avLst/>
          </a:prstGeom>
          <a:noFill/>
          <a:ln/>
        </p:spPr>
        <p:txBody>
          <a:bodyPr wrap="square" lIns="0" tIns="0" rIns="0" bIns="0" rtlCol="0" anchor="ctr"/>
          <a:lstStyle/>
          <a:p>
            <a:pPr algn="ctr" indent="0" marL="0">
              <a:buNone/>
            </a:pPr>
            <a:r>
              <a:rPr lang="en-US" sz="950" b="1" dirty="0">
                <a:solidFill>
                  <a:srgbClr val="3A4048"/>
                </a:solidFill>
                <a:latin typeface="Calibri" pitchFamily="34" charset="0"/>
                <a:ea typeface="Calibri" pitchFamily="34" charset="-122"/>
                <a:cs typeface="Calibri" pitchFamily="34" charset="-120"/>
              </a:rPr>
              <a:t>28.477</a:t>
            </a:r>
            <a:endParaRPr lang="en-US" sz="950" dirty="0"/>
          </a:p>
        </p:txBody>
      </p:sp>
      <p:sp>
        <p:nvSpPr>
          <p:cNvPr id="24" name="Shape 22"/>
          <p:cNvSpPr/>
          <p:nvPr/>
        </p:nvSpPr>
        <p:spPr>
          <a:xfrm>
            <a:off x="2642616" y="2688336"/>
            <a:ext cx="704088" cy="448056"/>
          </a:xfrm>
          <a:prstGeom prst="rect">
            <a:avLst/>
          </a:prstGeom>
          <a:solidFill>
            <a:srgbClr val="E2C2B8"/>
          </a:solidFill>
          <a:ln w="15240">
            <a:solidFill>
              <a:srgbClr val="FFFFFF"/>
            </a:solidFill>
            <a:prstDash val="solid"/>
          </a:ln>
        </p:spPr>
      </p:sp>
      <p:sp>
        <p:nvSpPr>
          <p:cNvPr id="25" name="Text 23"/>
          <p:cNvSpPr/>
          <p:nvPr/>
        </p:nvSpPr>
        <p:spPr>
          <a:xfrm>
            <a:off x="2642616" y="2688336"/>
            <a:ext cx="704088" cy="448056"/>
          </a:xfrm>
          <a:prstGeom prst="rect">
            <a:avLst/>
          </a:prstGeom>
          <a:noFill/>
          <a:ln/>
        </p:spPr>
        <p:txBody>
          <a:bodyPr wrap="square" lIns="0" tIns="0" rIns="0" bIns="0" rtlCol="0" anchor="ctr"/>
          <a:lstStyle/>
          <a:p>
            <a:pPr algn="ctr" indent="0" marL="0">
              <a:buNone/>
            </a:pPr>
            <a:r>
              <a:rPr lang="en-US" sz="950" b="1" dirty="0">
                <a:solidFill>
                  <a:srgbClr val="16191D"/>
                </a:solidFill>
                <a:latin typeface="Calibri" pitchFamily="34" charset="0"/>
                <a:ea typeface="Calibri" pitchFamily="34" charset="-122"/>
                <a:cs typeface="Calibri" pitchFamily="34" charset="-120"/>
              </a:rPr>
              <a:t>4.389</a:t>
            </a:r>
            <a:endParaRPr lang="en-US" sz="950" dirty="0"/>
          </a:p>
        </p:txBody>
      </p:sp>
      <p:sp>
        <p:nvSpPr>
          <p:cNvPr id="26" name="Shape 24"/>
          <p:cNvSpPr/>
          <p:nvPr/>
        </p:nvSpPr>
        <p:spPr>
          <a:xfrm>
            <a:off x="3392424" y="2688336"/>
            <a:ext cx="704088" cy="448056"/>
          </a:xfrm>
          <a:prstGeom prst="rect">
            <a:avLst/>
          </a:prstGeom>
          <a:solidFill>
            <a:srgbClr val="F1E1DB"/>
          </a:solidFill>
          <a:ln w="15240">
            <a:solidFill>
              <a:srgbClr val="FFFFFF"/>
            </a:solidFill>
            <a:prstDash val="solid"/>
          </a:ln>
        </p:spPr>
      </p:sp>
      <p:sp>
        <p:nvSpPr>
          <p:cNvPr id="27" name="Text 25"/>
          <p:cNvSpPr/>
          <p:nvPr/>
        </p:nvSpPr>
        <p:spPr>
          <a:xfrm>
            <a:off x="3392424" y="2688336"/>
            <a:ext cx="704088" cy="448056"/>
          </a:xfrm>
          <a:prstGeom prst="rect">
            <a:avLst/>
          </a:prstGeom>
          <a:noFill/>
          <a:ln/>
        </p:spPr>
        <p:txBody>
          <a:bodyPr wrap="square" lIns="0" tIns="0" rIns="0" bIns="0" rtlCol="0" anchor="ctr"/>
          <a:lstStyle/>
          <a:p>
            <a:pPr algn="ctr" indent="0" marL="0">
              <a:buNone/>
            </a:pPr>
            <a:r>
              <a:rPr lang="en-US" sz="950" b="1" dirty="0">
                <a:solidFill>
                  <a:srgbClr val="16191D"/>
                </a:solidFill>
                <a:latin typeface="Calibri" pitchFamily="34" charset="0"/>
                <a:ea typeface="Calibri" pitchFamily="34" charset="-122"/>
                <a:cs typeface="Calibri" pitchFamily="34" charset="-120"/>
              </a:rPr>
              <a:t>566</a:t>
            </a:r>
            <a:endParaRPr lang="en-US" sz="950" dirty="0"/>
          </a:p>
        </p:txBody>
      </p:sp>
      <p:sp>
        <p:nvSpPr>
          <p:cNvPr id="28" name="Text 26"/>
          <p:cNvSpPr/>
          <p:nvPr/>
        </p:nvSpPr>
        <p:spPr>
          <a:xfrm>
            <a:off x="704088" y="3182112"/>
            <a:ext cx="292608" cy="493776"/>
          </a:xfrm>
          <a:prstGeom prst="rect">
            <a:avLst/>
          </a:prstGeom>
          <a:noFill/>
          <a:ln/>
        </p:spPr>
        <p:txBody>
          <a:bodyPr wrap="square" lIns="0" tIns="0" rIns="0" bIns="0" rtlCol="0" anchor="ctr"/>
          <a:lstStyle/>
          <a:p>
            <a:pPr algn="r" indent="0" marL="0">
              <a:buNone/>
            </a:pPr>
            <a:r>
              <a:rPr lang="en-US" sz="1150" b="1" dirty="0">
                <a:solidFill>
                  <a:srgbClr val="3A4048"/>
                </a:solidFill>
                <a:latin typeface="Calibri" pitchFamily="34" charset="0"/>
                <a:ea typeface="Calibri" pitchFamily="34" charset="-122"/>
                <a:cs typeface="Calibri" pitchFamily="34" charset="-120"/>
              </a:rPr>
              <a:t>3</a:t>
            </a:r>
            <a:endParaRPr lang="en-US" sz="1150" dirty="0"/>
          </a:p>
        </p:txBody>
      </p:sp>
      <p:sp>
        <p:nvSpPr>
          <p:cNvPr id="29" name="Shape 27"/>
          <p:cNvSpPr/>
          <p:nvPr/>
        </p:nvSpPr>
        <p:spPr>
          <a:xfrm>
            <a:off x="1143000" y="3182112"/>
            <a:ext cx="704088" cy="448056"/>
          </a:xfrm>
          <a:prstGeom prst="rect">
            <a:avLst/>
          </a:prstGeom>
          <a:solidFill>
            <a:srgbClr val="F2E5DE"/>
          </a:solidFill>
          <a:ln w="15240">
            <a:solidFill>
              <a:srgbClr val="FFFFFF"/>
            </a:solidFill>
            <a:prstDash val="solid"/>
          </a:ln>
        </p:spPr>
      </p:sp>
      <p:sp>
        <p:nvSpPr>
          <p:cNvPr id="30" name="Text 28"/>
          <p:cNvSpPr/>
          <p:nvPr/>
        </p:nvSpPr>
        <p:spPr>
          <a:xfrm>
            <a:off x="1143000" y="3182112"/>
            <a:ext cx="704088" cy="448056"/>
          </a:xfrm>
          <a:prstGeom prst="rect">
            <a:avLst/>
          </a:prstGeom>
          <a:noFill/>
          <a:ln/>
        </p:spPr>
        <p:txBody>
          <a:bodyPr wrap="square" lIns="0" tIns="0" rIns="0" bIns="0" rtlCol="0" anchor="ctr"/>
          <a:lstStyle/>
          <a:p>
            <a:pPr algn="ctr" indent="0" marL="0">
              <a:buNone/>
            </a:pPr>
            <a:r>
              <a:rPr lang="en-US" sz="950" b="1" dirty="0">
                <a:solidFill>
                  <a:srgbClr val="16191D"/>
                </a:solidFill>
                <a:latin typeface="Calibri" pitchFamily="34" charset="0"/>
                <a:ea typeface="Calibri" pitchFamily="34" charset="-122"/>
                <a:cs typeface="Calibri" pitchFamily="34" charset="-120"/>
              </a:rPr>
              <a:t>157</a:t>
            </a:r>
            <a:endParaRPr lang="en-US" sz="950" dirty="0"/>
          </a:p>
        </p:txBody>
      </p:sp>
      <p:sp>
        <p:nvSpPr>
          <p:cNvPr id="31" name="Shape 29"/>
          <p:cNvSpPr/>
          <p:nvPr/>
        </p:nvSpPr>
        <p:spPr>
          <a:xfrm>
            <a:off x="1892808" y="3182112"/>
            <a:ext cx="704088" cy="448056"/>
          </a:xfrm>
          <a:prstGeom prst="rect">
            <a:avLst/>
          </a:prstGeom>
          <a:solidFill>
            <a:srgbClr val="EDDBD3"/>
          </a:solidFill>
          <a:ln w="15240">
            <a:solidFill>
              <a:srgbClr val="FFFFFF"/>
            </a:solidFill>
            <a:prstDash val="solid"/>
          </a:ln>
        </p:spPr>
      </p:sp>
      <p:sp>
        <p:nvSpPr>
          <p:cNvPr id="32" name="Text 30"/>
          <p:cNvSpPr/>
          <p:nvPr/>
        </p:nvSpPr>
        <p:spPr>
          <a:xfrm>
            <a:off x="1892808" y="3182112"/>
            <a:ext cx="704088" cy="448056"/>
          </a:xfrm>
          <a:prstGeom prst="rect">
            <a:avLst/>
          </a:prstGeom>
          <a:noFill/>
          <a:ln/>
        </p:spPr>
        <p:txBody>
          <a:bodyPr wrap="square" lIns="0" tIns="0" rIns="0" bIns="0" rtlCol="0" anchor="ctr"/>
          <a:lstStyle/>
          <a:p>
            <a:pPr algn="ctr" indent="0" marL="0">
              <a:buNone/>
            </a:pPr>
            <a:r>
              <a:rPr lang="en-US" sz="950" b="1" dirty="0">
                <a:solidFill>
                  <a:srgbClr val="16191D"/>
                </a:solidFill>
                <a:latin typeface="Calibri" pitchFamily="34" charset="0"/>
                <a:ea typeface="Calibri" pitchFamily="34" charset="-122"/>
                <a:cs typeface="Calibri" pitchFamily="34" charset="-120"/>
              </a:rPr>
              <a:t>1.412</a:t>
            </a:r>
            <a:endParaRPr lang="en-US" sz="950" dirty="0"/>
          </a:p>
        </p:txBody>
      </p:sp>
      <p:sp>
        <p:nvSpPr>
          <p:cNvPr id="33" name="Shape 31"/>
          <p:cNvSpPr/>
          <p:nvPr/>
        </p:nvSpPr>
        <p:spPr>
          <a:xfrm>
            <a:off x="2642616" y="3182112"/>
            <a:ext cx="704088" cy="448056"/>
          </a:xfrm>
          <a:prstGeom prst="rect">
            <a:avLst/>
          </a:prstGeom>
          <a:solidFill>
            <a:srgbClr val="ECE7DF"/>
          </a:solidFill>
          <a:ln w="15240">
            <a:solidFill>
              <a:srgbClr val="FFFFFF"/>
            </a:solidFill>
            <a:prstDash val="solid"/>
          </a:ln>
        </p:spPr>
      </p:sp>
      <p:sp>
        <p:nvSpPr>
          <p:cNvPr id="34" name="Text 32"/>
          <p:cNvSpPr/>
          <p:nvPr/>
        </p:nvSpPr>
        <p:spPr>
          <a:xfrm>
            <a:off x="2642616" y="3182112"/>
            <a:ext cx="704088" cy="448056"/>
          </a:xfrm>
          <a:prstGeom prst="rect">
            <a:avLst/>
          </a:prstGeom>
          <a:noFill/>
          <a:ln/>
        </p:spPr>
        <p:txBody>
          <a:bodyPr wrap="square" lIns="0" tIns="0" rIns="0" bIns="0" rtlCol="0" anchor="ctr"/>
          <a:lstStyle/>
          <a:p>
            <a:pPr algn="ctr" indent="0" marL="0">
              <a:buNone/>
            </a:pPr>
            <a:r>
              <a:rPr lang="en-US" sz="950" b="1" dirty="0">
                <a:solidFill>
                  <a:srgbClr val="3A4048"/>
                </a:solidFill>
                <a:latin typeface="Calibri" pitchFamily="34" charset="0"/>
                <a:ea typeface="Calibri" pitchFamily="34" charset="-122"/>
                <a:cs typeface="Calibri" pitchFamily="34" charset="-120"/>
              </a:rPr>
              <a:t>1.369</a:t>
            </a:r>
            <a:endParaRPr lang="en-US" sz="950" dirty="0"/>
          </a:p>
        </p:txBody>
      </p:sp>
      <p:sp>
        <p:nvSpPr>
          <p:cNvPr id="35" name="Shape 33"/>
          <p:cNvSpPr/>
          <p:nvPr/>
        </p:nvSpPr>
        <p:spPr>
          <a:xfrm>
            <a:off x="3392424" y="3182112"/>
            <a:ext cx="704088" cy="448056"/>
          </a:xfrm>
          <a:prstGeom prst="rect">
            <a:avLst/>
          </a:prstGeom>
          <a:solidFill>
            <a:srgbClr val="F0E1DA"/>
          </a:solidFill>
          <a:ln w="15240">
            <a:solidFill>
              <a:srgbClr val="FFFFFF"/>
            </a:solidFill>
            <a:prstDash val="solid"/>
          </a:ln>
        </p:spPr>
      </p:sp>
      <p:sp>
        <p:nvSpPr>
          <p:cNvPr id="36" name="Text 34"/>
          <p:cNvSpPr/>
          <p:nvPr/>
        </p:nvSpPr>
        <p:spPr>
          <a:xfrm>
            <a:off x="3392424" y="3182112"/>
            <a:ext cx="704088" cy="448056"/>
          </a:xfrm>
          <a:prstGeom prst="rect">
            <a:avLst/>
          </a:prstGeom>
          <a:noFill/>
          <a:ln/>
        </p:spPr>
        <p:txBody>
          <a:bodyPr wrap="square" lIns="0" tIns="0" rIns="0" bIns="0" rtlCol="0" anchor="ctr"/>
          <a:lstStyle/>
          <a:p>
            <a:pPr algn="ctr" indent="0" marL="0">
              <a:buNone/>
            </a:pPr>
            <a:r>
              <a:rPr lang="en-US" sz="950" b="1" dirty="0">
                <a:solidFill>
                  <a:srgbClr val="16191D"/>
                </a:solidFill>
                <a:latin typeface="Calibri" pitchFamily="34" charset="0"/>
                <a:ea typeface="Calibri" pitchFamily="34" charset="-122"/>
                <a:cs typeface="Calibri" pitchFamily="34" charset="-120"/>
              </a:rPr>
              <a:t>621</a:t>
            </a:r>
            <a:endParaRPr lang="en-US" sz="950" dirty="0"/>
          </a:p>
        </p:txBody>
      </p:sp>
      <p:sp>
        <p:nvSpPr>
          <p:cNvPr id="37" name="Text 35"/>
          <p:cNvSpPr/>
          <p:nvPr/>
        </p:nvSpPr>
        <p:spPr>
          <a:xfrm>
            <a:off x="704088" y="3675888"/>
            <a:ext cx="292608" cy="493776"/>
          </a:xfrm>
          <a:prstGeom prst="rect">
            <a:avLst/>
          </a:prstGeom>
          <a:noFill/>
          <a:ln/>
        </p:spPr>
        <p:txBody>
          <a:bodyPr wrap="square" lIns="0" tIns="0" rIns="0" bIns="0" rtlCol="0" anchor="ctr"/>
          <a:lstStyle/>
          <a:p>
            <a:pPr algn="r" indent="0" marL="0">
              <a:buNone/>
            </a:pPr>
            <a:r>
              <a:rPr lang="en-US" sz="1150" b="1" dirty="0">
                <a:solidFill>
                  <a:srgbClr val="3A4048"/>
                </a:solidFill>
                <a:latin typeface="Calibri" pitchFamily="34" charset="0"/>
                <a:ea typeface="Calibri" pitchFamily="34" charset="-122"/>
                <a:cs typeface="Calibri" pitchFamily="34" charset="-120"/>
              </a:rPr>
              <a:t>4</a:t>
            </a:r>
            <a:endParaRPr lang="en-US" sz="1150" dirty="0"/>
          </a:p>
        </p:txBody>
      </p:sp>
      <p:sp>
        <p:nvSpPr>
          <p:cNvPr id="38" name="Shape 36"/>
          <p:cNvSpPr/>
          <p:nvPr/>
        </p:nvSpPr>
        <p:spPr>
          <a:xfrm>
            <a:off x="1143000" y="3675888"/>
            <a:ext cx="704088" cy="448056"/>
          </a:xfrm>
          <a:prstGeom prst="rect">
            <a:avLst/>
          </a:prstGeom>
          <a:solidFill>
            <a:srgbClr val="F2E5DF"/>
          </a:solidFill>
          <a:ln w="15240">
            <a:solidFill>
              <a:srgbClr val="FFFFFF"/>
            </a:solidFill>
            <a:prstDash val="solid"/>
          </a:ln>
        </p:spPr>
      </p:sp>
      <p:sp>
        <p:nvSpPr>
          <p:cNvPr id="39" name="Text 37"/>
          <p:cNvSpPr/>
          <p:nvPr/>
        </p:nvSpPr>
        <p:spPr>
          <a:xfrm>
            <a:off x="1143000" y="3675888"/>
            <a:ext cx="704088" cy="448056"/>
          </a:xfrm>
          <a:prstGeom prst="rect">
            <a:avLst/>
          </a:prstGeom>
          <a:noFill/>
          <a:ln/>
        </p:spPr>
        <p:txBody>
          <a:bodyPr wrap="square" lIns="0" tIns="0" rIns="0" bIns="0" rtlCol="0" anchor="ctr"/>
          <a:lstStyle/>
          <a:p>
            <a:pPr algn="ctr" indent="0" marL="0">
              <a:buNone/>
            </a:pPr>
            <a:r>
              <a:rPr lang="en-US" sz="950" b="1" dirty="0">
                <a:solidFill>
                  <a:srgbClr val="16191D"/>
                </a:solidFill>
                <a:latin typeface="Calibri" pitchFamily="34" charset="0"/>
                <a:ea typeface="Calibri" pitchFamily="34" charset="-122"/>
                <a:cs typeface="Calibri" pitchFamily="34" charset="-120"/>
              </a:rPr>
              <a:t>140</a:t>
            </a:r>
            <a:endParaRPr lang="en-US" sz="950" dirty="0"/>
          </a:p>
        </p:txBody>
      </p:sp>
      <p:sp>
        <p:nvSpPr>
          <p:cNvPr id="40" name="Shape 38"/>
          <p:cNvSpPr/>
          <p:nvPr/>
        </p:nvSpPr>
        <p:spPr>
          <a:xfrm>
            <a:off x="1892808" y="3675888"/>
            <a:ext cx="704088" cy="448056"/>
          </a:xfrm>
          <a:prstGeom prst="rect">
            <a:avLst/>
          </a:prstGeom>
          <a:solidFill>
            <a:srgbClr val="F2E4DE"/>
          </a:solidFill>
          <a:ln w="15240">
            <a:solidFill>
              <a:srgbClr val="FFFFFF"/>
            </a:solidFill>
            <a:prstDash val="solid"/>
          </a:ln>
        </p:spPr>
      </p:sp>
      <p:sp>
        <p:nvSpPr>
          <p:cNvPr id="41" name="Text 39"/>
          <p:cNvSpPr/>
          <p:nvPr/>
        </p:nvSpPr>
        <p:spPr>
          <a:xfrm>
            <a:off x="1892808" y="3675888"/>
            <a:ext cx="704088" cy="448056"/>
          </a:xfrm>
          <a:prstGeom prst="rect">
            <a:avLst/>
          </a:prstGeom>
          <a:noFill/>
          <a:ln/>
        </p:spPr>
        <p:txBody>
          <a:bodyPr wrap="square" lIns="0" tIns="0" rIns="0" bIns="0" rtlCol="0" anchor="ctr"/>
          <a:lstStyle/>
          <a:p>
            <a:pPr algn="ctr" indent="0" marL="0">
              <a:buNone/>
            </a:pPr>
            <a:r>
              <a:rPr lang="en-US" sz="950" b="1" dirty="0">
                <a:solidFill>
                  <a:srgbClr val="16191D"/>
                </a:solidFill>
                <a:latin typeface="Calibri" pitchFamily="34" charset="0"/>
                <a:ea typeface="Calibri" pitchFamily="34" charset="-122"/>
                <a:cs typeface="Calibri" pitchFamily="34" charset="-120"/>
              </a:rPr>
              <a:t>226</a:t>
            </a:r>
            <a:endParaRPr lang="en-US" sz="950" dirty="0"/>
          </a:p>
        </p:txBody>
      </p:sp>
      <p:sp>
        <p:nvSpPr>
          <p:cNvPr id="42" name="Shape 40"/>
          <p:cNvSpPr/>
          <p:nvPr/>
        </p:nvSpPr>
        <p:spPr>
          <a:xfrm>
            <a:off x="2642616" y="3675888"/>
            <a:ext cx="704088" cy="448056"/>
          </a:xfrm>
          <a:prstGeom prst="rect">
            <a:avLst/>
          </a:prstGeom>
          <a:solidFill>
            <a:srgbClr val="F2E4DD"/>
          </a:solidFill>
          <a:ln w="15240">
            <a:solidFill>
              <a:srgbClr val="FFFFFF"/>
            </a:solidFill>
            <a:prstDash val="solid"/>
          </a:ln>
        </p:spPr>
      </p:sp>
      <p:sp>
        <p:nvSpPr>
          <p:cNvPr id="43" name="Text 41"/>
          <p:cNvSpPr/>
          <p:nvPr/>
        </p:nvSpPr>
        <p:spPr>
          <a:xfrm>
            <a:off x="2642616" y="3675888"/>
            <a:ext cx="704088" cy="448056"/>
          </a:xfrm>
          <a:prstGeom prst="rect">
            <a:avLst/>
          </a:prstGeom>
          <a:noFill/>
          <a:ln/>
        </p:spPr>
        <p:txBody>
          <a:bodyPr wrap="square" lIns="0" tIns="0" rIns="0" bIns="0" rtlCol="0" anchor="ctr"/>
          <a:lstStyle/>
          <a:p>
            <a:pPr algn="ctr" indent="0" marL="0">
              <a:buNone/>
            </a:pPr>
            <a:r>
              <a:rPr lang="en-US" sz="950" b="1" dirty="0">
                <a:solidFill>
                  <a:srgbClr val="16191D"/>
                </a:solidFill>
                <a:latin typeface="Calibri" pitchFamily="34" charset="0"/>
                <a:ea typeface="Calibri" pitchFamily="34" charset="-122"/>
                <a:cs typeface="Calibri" pitchFamily="34" charset="-120"/>
              </a:rPr>
              <a:t>262</a:t>
            </a:r>
            <a:endParaRPr lang="en-US" sz="950" dirty="0"/>
          </a:p>
        </p:txBody>
      </p:sp>
      <p:sp>
        <p:nvSpPr>
          <p:cNvPr id="44" name="Shape 42"/>
          <p:cNvSpPr/>
          <p:nvPr/>
        </p:nvSpPr>
        <p:spPr>
          <a:xfrm>
            <a:off x="3392424" y="3675888"/>
            <a:ext cx="704088" cy="448056"/>
          </a:xfrm>
          <a:prstGeom prst="rect">
            <a:avLst/>
          </a:prstGeom>
          <a:solidFill>
            <a:srgbClr val="ECE7DF"/>
          </a:solidFill>
          <a:ln w="15240">
            <a:solidFill>
              <a:srgbClr val="FFFFFF"/>
            </a:solidFill>
            <a:prstDash val="solid"/>
          </a:ln>
        </p:spPr>
      </p:sp>
      <p:sp>
        <p:nvSpPr>
          <p:cNvPr id="45" name="Text 43"/>
          <p:cNvSpPr/>
          <p:nvPr/>
        </p:nvSpPr>
        <p:spPr>
          <a:xfrm>
            <a:off x="3392424" y="3675888"/>
            <a:ext cx="704088" cy="448056"/>
          </a:xfrm>
          <a:prstGeom prst="rect">
            <a:avLst/>
          </a:prstGeom>
          <a:noFill/>
          <a:ln/>
        </p:spPr>
        <p:txBody>
          <a:bodyPr wrap="square" lIns="0" tIns="0" rIns="0" bIns="0" rtlCol="0" anchor="ctr"/>
          <a:lstStyle/>
          <a:p>
            <a:pPr algn="ctr" indent="0" marL="0">
              <a:buNone/>
            </a:pPr>
            <a:r>
              <a:rPr lang="en-US" sz="950" b="1" dirty="0">
                <a:solidFill>
                  <a:srgbClr val="3A4048"/>
                </a:solidFill>
                <a:latin typeface="Calibri" pitchFamily="34" charset="0"/>
                <a:ea typeface="Calibri" pitchFamily="34" charset="-122"/>
                <a:cs typeface="Calibri" pitchFamily="34" charset="-120"/>
              </a:rPr>
              <a:t>265</a:t>
            </a:r>
            <a:endParaRPr lang="en-US" sz="950" dirty="0"/>
          </a:p>
        </p:txBody>
      </p:sp>
      <p:sp>
        <p:nvSpPr>
          <p:cNvPr id="46" name="Text 44"/>
          <p:cNvSpPr/>
          <p:nvPr/>
        </p:nvSpPr>
        <p:spPr>
          <a:xfrm>
            <a:off x="4846320" y="1536192"/>
            <a:ext cx="2999232" cy="237744"/>
          </a:xfrm>
          <a:prstGeom prst="rect">
            <a:avLst/>
          </a:prstGeom>
          <a:noFill/>
          <a:ln/>
        </p:spPr>
        <p:txBody>
          <a:bodyPr wrap="square" lIns="0" tIns="0" rIns="0" bIns="0" rtlCol="0" anchor="ctr"/>
          <a:lstStyle/>
          <a:p>
            <a:pPr algn="ctr" indent="0" marL="0">
              <a:buNone/>
            </a:pPr>
            <a:r>
              <a:rPr lang="en-US" sz="1050" b="1" dirty="0">
                <a:solidFill>
                  <a:srgbClr val="6E747C"/>
                </a:solidFill>
                <a:latin typeface="Calibri" pitchFamily="34" charset="0"/>
                <a:ea typeface="Calibri" pitchFamily="34" charset="-122"/>
                <a:cs typeface="Calibri" pitchFamily="34" charset="-120"/>
              </a:rPr>
              <a:t>Penalti (%) · prediksi →</a:t>
            </a:r>
            <a:endParaRPr lang="en-US" sz="1050" dirty="0"/>
          </a:p>
        </p:txBody>
      </p:sp>
      <p:sp>
        <p:nvSpPr>
          <p:cNvPr id="47" name="Text 45"/>
          <p:cNvSpPr/>
          <p:nvPr/>
        </p:nvSpPr>
        <p:spPr>
          <a:xfrm>
            <a:off x="4846320" y="1828800"/>
            <a:ext cx="749808" cy="274320"/>
          </a:xfrm>
          <a:prstGeom prst="rect">
            <a:avLst/>
          </a:prstGeom>
          <a:noFill/>
          <a:ln/>
        </p:spPr>
        <p:txBody>
          <a:bodyPr wrap="square" lIns="0" tIns="0" rIns="0" bIns="0" rtlCol="0" anchor="ctr"/>
          <a:lstStyle/>
          <a:p>
            <a:pPr algn="ctr" indent="0" marL="0">
              <a:buNone/>
            </a:pPr>
            <a:r>
              <a:rPr lang="en-US" sz="1150" b="1" dirty="0">
                <a:solidFill>
                  <a:srgbClr val="3A4048"/>
                </a:solidFill>
                <a:latin typeface="Calibri" pitchFamily="34" charset="0"/>
                <a:ea typeface="Calibri" pitchFamily="34" charset="-122"/>
                <a:cs typeface="Calibri" pitchFamily="34" charset="-120"/>
              </a:rPr>
              <a:t>1</a:t>
            </a:r>
            <a:endParaRPr lang="en-US" sz="1150" dirty="0"/>
          </a:p>
        </p:txBody>
      </p:sp>
      <p:sp>
        <p:nvSpPr>
          <p:cNvPr id="48" name="Text 46"/>
          <p:cNvSpPr/>
          <p:nvPr/>
        </p:nvSpPr>
        <p:spPr>
          <a:xfrm>
            <a:off x="5596128" y="1828800"/>
            <a:ext cx="749808" cy="274320"/>
          </a:xfrm>
          <a:prstGeom prst="rect">
            <a:avLst/>
          </a:prstGeom>
          <a:noFill/>
          <a:ln/>
        </p:spPr>
        <p:txBody>
          <a:bodyPr wrap="square" lIns="0" tIns="0" rIns="0" bIns="0" rtlCol="0" anchor="ctr"/>
          <a:lstStyle/>
          <a:p>
            <a:pPr algn="ctr" indent="0" marL="0">
              <a:buNone/>
            </a:pPr>
            <a:r>
              <a:rPr lang="en-US" sz="1150" b="1" dirty="0">
                <a:solidFill>
                  <a:srgbClr val="3A4048"/>
                </a:solidFill>
                <a:latin typeface="Calibri" pitchFamily="34" charset="0"/>
                <a:ea typeface="Calibri" pitchFamily="34" charset="-122"/>
                <a:cs typeface="Calibri" pitchFamily="34" charset="-120"/>
              </a:rPr>
              <a:t>2</a:t>
            </a:r>
            <a:endParaRPr lang="en-US" sz="1150" dirty="0"/>
          </a:p>
        </p:txBody>
      </p:sp>
      <p:sp>
        <p:nvSpPr>
          <p:cNvPr id="49" name="Text 47"/>
          <p:cNvSpPr/>
          <p:nvPr/>
        </p:nvSpPr>
        <p:spPr>
          <a:xfrm>
            <a:off x="6345936" y="1828800"/>
            <a:ext cx="749808" cy="274320"/>
          </a:xfrm>
          <a:prstGeom prst="rect">
            <a:avLst/>
          </a:prstGeom>
          <a:noFill/>
          <a:ln/>
        </p:spPr>
        <p:txBody>
          <a:bodyPr wrap="square" lIns="0" tIns="0" rIns="0" bIns="0" rtlCol="0" anchor="ctr"/>
          <a:lstStyle/>
          <a:p>
            <a:pPr algn="ctr" indent="0" marL="0">
              <a:buNone/>
            </a:pPr>
            <a:r>
              <a:rPr lang="en-US" sz="1150" b="1" dirty="0">
                <a:solidFill>
                  <a:srgbClr val="3A4048"/>
                </a:solidFill>
                <a:latin typeface="Calibri" pitchFamily="34" charset="0"/>
                <a:ea typeface="Calibri" pitchFamily="34" charset="-122"/>
                <a:cs typeface="Calibri" pitchFamily="34" charset="-120"/>
              </a:rPr>
              <a:t>3</a:t>
            </a:r>
            <a:endParaRPr lang="en-US" sz="1150" dirty="0"/>
          </a:p>
        </p:txBody>
      </p:sp>
      <p:sp>
        <p:nvSpPr>
          <p:cNvPr id="50" name="Text 48"/>
          <p:cNvSpPr/>
          <p:nvPr/>
        </p:nvSpPr>
        <p:spPr>
          <a:xfrm>
            <a:off x="7095744" y="1828800"/>
            <a:ext cx="749808" cy="274320"/>
          </a:xfrm>
          <a:prstGeom prst="rect">
            <a:avLst/>
          </a:prstGeom>
          <a:noFill/>
          <a:ln/>
        </p:spPr>
        <p:txBody>
          <a:bodyPr wrap="square" lIns="0" tIns="0" rIns="0" bIns="0" rtlCol="0" anchor="ctr"/>
          <a:lstStyle/>
          <a:p>
            <a:pPr algn="ctr" indent="0" marL="0">
              <a:buNone/>
            </a:pPr>
            <a:r>
              <a:rPr lang="en-US" sz="1150" b="1" dirty="0">
                <a:solidFill>
                  <a:srgbClr val="3A4048"/>
                </a:solidFill>
                <a:latin typeface="Calibri" pitchFamily="34" charset="0"/>
                <a:ea typeface="Calibri" pitchFamily="34" charset="-122"/>
                <a:cs typeface="Calibri" pitchFamily="34" charset="-120"/>
              </a:rPr>
              <a:t>4</a:t>
            </a:r>
            <a:endParaRPr lang="en-US" sz="1150" dirty="0"/>
          </a:p>
        </p:txBody>
      </p:sp>
      <p:sp>
        <p:nvSpPr>
          <p:cNvPr id="51" name="Text 49"/>
          <p:cNvSpPr/>
          <p:nvPr/>
        </p:nvSpPr>
        <p:spPr>
          <a:xfrm>
            <a:off x="3364992" y="3044952"/>
            <a:ext cx="786384" cy="274320"/>
          </a:xfrm>
          <a:prstGeom prst="rect">
            <a:avLst/>
          </a:prstGeom>
          <a:noFill/>
          <a:ln/>
        </p:spPr>
        <p:txBody>
          <a:bodyPr wrap="square" lIns="0" tIns="0" rIns="0" bIns="0" rtlCol="0" anchor="ctr"/>
          <a:lstStyle/>
          <a:p>
            <a:pPr algn="r" indent="0" marL="0">
              <a:buNone/>
            </a:pPr>
            <a:r>
              <a:rPr lang="en-US" sz="1050" b="1" dirty="0">
                <a:solidFill>
                  <a:srgbClr val="6E747C"/>
                </a:solidFill>
                <a:latin typeface="Calibri" pitchFamily="34" charset="0"/>
                <a:ea typeface="Calibri" pitchFamily="34" charset="-122"/>
                <a:cs typeface="Calibri" pitchFamily="34" charset="-120"/>
              </a:rPr>
              <a:t> </a:t>
            </a:r>
            <a:endParaRPr lang="en-US" sz="1050" dirty="0"/>
          </a:p>
        </p:txBody>
      </p:sp>
      <p:sp>
        <p:nvSpPr>
          <p:cNvPr id="52" name="Text 50"/>
          <p:cNvSpPr/>
          <p:nvPr/>
        </p:nvSpPr>
        <p:spPr>
          <a:xfrm>
            <a:off x="4407408" y="2194560"/>
            <a:ext cx="292608" cy="493776"/>
          </a:xfrm>
          <a:prstGeom prst="rect">
            <a:avLst/>
          </a:prstGeom>
          <a:noFill/>
          <a:ln/>
        </p:spPr>
        <p:txBody>
          <a:bodyPr wrap="square" lIns="0" tIns="0" rIns="0" bIns="0" rtlCol="0" anchor="ctr"/>
          <a:lstStyle/>
          <a:p>
            <a:pPr algn="r" indent="0" marL="0">
              <a:buNone/>
            </a:pPr>
            <a:r>
              <a:rPr lang="en-US" sz="1150" b="1" dirty="0">
                <a:solidFill>
                  <a:srgbClr val="3A4048"/>
                </a:solidFill>
                <a:latin typeface="Calibri" pitchFamily="34" charset="0"/>
                <a:ea typeface="Calibri" pitchFamily="34" charset="-122"/>
                <a:cs typeface="Calibri" pitchFamily="34" charset="-120"/>
              </a:rPr>
              <a:t>1</a:t>
            </a:r>
            <a:endParaRPr lang="en-US" sz="1150" dirty="0"/>
          </a:p>
        </p:txBody>
      </p:sp>
      <p:sp>
        <p:nvSpPr>
          <p:cNvPr id="53" name="Shape 51"/>
          <p:cNvSpPr/>
          <p:nvPr/>
        </p:nvSpPr>
        <p:spPr>
          <a:xfrm>
            <a:off x="4846320" y="2194560"/>
            <a:ext cx="704088" cy="448056"/>
          </a:xfrm>
          <a:prstGeom prst="rect">
            <a:avLst/>
          </a:prstGeom>
          <a:solidFill>
            <a:srgbClr val="ECE7DF"/>
          </a:solidFill>
          <a:ln w="15240">
            <a:solidFill>
              <a:srgbClr val="FFFFFF"/>
            </a:solidFill>
            <a:prstDash val="solid"/>
          </a:ln>
        </p:spPr>
      </p:sp>
      <p:sp>
        <p:nvSpPr>
          <p:cNvPr id="54" name="Text 52"/>
          <p:cNvSpPr/>
          <p:nvPr/>
        </p:nvSpPr>
        <p:spPr>
          <a:xfrm>
            <a:off x="4846320" y="2194560"/>
            <a:ext cx="704088" cy="448056"/>
          </a:xfrm>
          <a:prstGeom prst="rect">
            <a:avLst/>
          </a:prstGeom>
          <a:noFill/>
          <a:ln/>
        </p:spPr>
        <p:txBody>
          <a:bodyPr wrap="square" lIns="0" tIns="0" rIns="0" bIns="0" rtlCol="0" anchor="ctr"/>
          <a:lstStyle/>
          <a:p>
            <a:pPr algn="ctr" indent="0" marL="0">
              <a:buNone/>
            </a:pPr>
            <a:r>
              <a:rPr lang="en-US" sz="950" b="1" dirty="0">
                <a:solidFill>
                  <a:srgbClr val="3A4048"/>
                </a:solidFill>
                <a:latin typeface="Calibri" pitchFamily="34" charset="0"/>
                <a:ea typeface="Calibri" pitchFamily="34" charset="-122"/>
                <a:cs typeface="Calibri" pitchFamily="34" charset="-120"/>
              </a:rPr>
              <a:t>0</a:t>
            </a:r>
            <a:endParaRPr lang="en-US" sz="950" dirty="0"/>
          </a:p>
        </p:txBody>
      </p:sp>
      <p:sp>
        <p:nvSpPr>
          <p:cNvPr id="55" name="Shape 53"/>
          <p:cNvSpPr/>
          <p:nvPr/>
        </p:nvSpPr>
        <p:spPr>
          <a:xfrm>
            <a:off x="5596128" y="2194560"/>
            <a:ext cx="704088" cy="448056"/>
          </a:xfrm>
          <a:prstGeom prst="rect">
            <a:avLst/>
          </a:prstGeom>
          <a:solidFill>
            <a:srgbClr val="B7644E"/>
          </a:solidFill>
          <a:ln w="15240">
            <a:solidFill>
              <a:srgbClr val="FFFFFF"/>
            </a:solidFill>
            <a:prstDash val="solid"/>
          </a:ln>
        </p:spPr>
      </p:sp>
      <p:sp>
        <p:nvSpPr>
          <p:cNvPr id="56" name="Text 54"/>
          <p:cNvSpPr/>
          <p:nvPr/>
        </p:nvSpPr>
        <p:spPr>
          <a:xfrm>
            <a:off x="5596128" y="2194560"/>
            <a:ext cx="704088" cy="44805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28,89</a:t>
            </a:r>
            <a:endParaRPr lang="en-US" sz="950" dirty="0"/>
          </a:p>
        </p:txBody>
      </p:sp>
      <p:sp>
        <p:nvSpPr>
          <p:cNvPr id="57" name="Shape 55"/>
          <p:cNvSpPr/>
          <p:nvPr/>
        </p:nvSpPr>
        <p:spPr>
          <a:xfrm>
            <a:off x="6345936" y="2194560"/>
            <a:ext cx="704088" cy="448056"/>
          </a:xfrm>
          <a:prstGeom prst="rect">
            <a:avLst/>
          </a:prstGeom>
          <a:solidFill>
            <a:srgbClr val="E7CDC4"/>
          </a:solidFill>
          <a:ln w="15240">
            <a:solidFill>
              <a:srgbClr val="FFFFFF"/>
            </a:solidFill>
            <a:prstDash val="solid"/>
          </a:ln>
        </p:spPr>
      </p:sp>
      <p:sp>
        <p:nvSpPr>
          <p:cNvPr id="58" name="Text 56"/>
          <p:cNvSpPr/>
          <p:nvPr/>
        </p:nvSpPr>
        <p:spPr>
          <a:xfrm>
            <a:off x="6345936" y="2194560"/>
            <a:ext cx="704088" cy="448056"/>
          </a:xfrm>
          <a:prstGeom prst="rect">
            <a:avLst/>
          </a:prstGeom>
          <a:noFill/>
          <a:ln/>
        </p:spPr>
        <p:txBody>
          <a:bodyPr wrap="square" lIns="0" tIns="0" rIns="0" bIns="0" rtlCol="0" anchor="ctr"/>
          <a:lstStyle/>
          <a:p>
            <a:pPr algn="ctr" indent="0" marL="0">
              <a:buNone/>
            </a:pPr>
            <a:r>
              <a:rPr lang="en-US" sz="950" b="1" dirty="0">
                <a:solidFill>
                  <a:srgbClr val="16191D"/>
                </a:solidFill>
                <a:latin typeface="Calibri" pitchFamily="34" charset="0"/>
                <a:ea typeface="Calibri" pitchFamily="34" charset="-122"/>
                <a:cs typeface="Calibri" pitchFamily="34" charset="-120"/>
              </a:rPr>
              <a:t>5,58</a:t>
            </a:r>
            <a:endParaRPr lang="en-US" sz="950" dirty="0"/>
          </a:p>
        </p:txBody>
      </p:sp>
      <p:sp>
        <p:nvSpPr>
          <p:cNvPr id="59" name="Shape 57"/>
          <p:cNvSpPr/>
          <p:nvPr/>
        </p:nvSpPr>
        <p:spPr>
          <a:xfrm>
            <a:off x="7095744" y="2194560"/>
            <a:ext cx="704088" cy="448056"/>
          </a:xfrm>
          <a:prstGeom prst="rect">
            <a:avLst/>
          </a:prstGeom>
          <a:solidFill>
            <a:srgbClr val="F0E0D9"/>
          </a:solidFill>
          <a:ln w="15240">
            <a:solidFill>
              <a:srgbClr val="FFFFFF"/>
            </a:solidFill>
            <a:prstDash val="solid"/>
          </a:ln>
        </p:spPr>
      </p:sp>
      <p:sp>
        <p:nvSpPr>
          <p:cNvPr id="60" name="Text 58"/>
          <p:cNvSpPr/>
          <p:nvPr/>
        </p:nvSpPr>
        <p:spPr>
          <a:xfrm>
            <a:off x="7095744" y="2194560"/>
            <a:ext cx="704088" cy="448056"/>
          </a:xfrm>
          <a:prstGeom prst="rect">
            <a:avLst/>
          </a:prstGeom>
          <a:noFill/>
          <a:ln/>
        </p:spPr>
        <p:txBody>
          <a:bodyPr wrap="square" lIns="0" tIns="0" rIns="0" bIns="0" rtlCol="0" anchor="ctr"/>
          <a:lstStyle/>
          <a:p>
            <a:pPr algn="ctr" indent="0" marL="0">
              <a:buNone/>
            </a:pPr>
            <a:r>
              <a:rPr lang="en-US" sz="950" b="1" dirty="0">
                <a:solidFill>
                  <a:srgbClr val="16191D"/>
                </a:solidFill>
                <a:latin typeface="Calibri" pitchFamily="34" charset="0"/>
                <a:ea typeface="Calibri" pitchFamily="34" charset="-122"/>
                <a:cs typeface="Calibri" pitchFamily="34" charset="-120"/>
              </a:rPr>
              <a:t>1,31</a:t>
            </a:r>
            <a:endParaRPr lang="en-US" sz="950" dirty="0"/>
          </a:p>
        </p:txBody>
      </p:sp>
      <p:sp>
        <p:nvSpPr>
          <p:cNvPr id="61" name="Text 59"/>
          <p:cNvSpPr/>
          <p:nvPr/>
        </p:nvSpPr>
        <p:spPr>
          <a:xfrm>
            <a:off x="4407408" y="2688336"/>
            <a:ext cx="292608" cy="493776"/>
          </a:xfrm>
          <a:prstGeom prst="rect">
            <a:avLst/>
          </a:prstGeom>
          <a:noFill/>
          <a:ln/>
        </p:spPr>
        <p:txBody>
          <a:bodyPr wrap="square" lIns="0" tIns="0" rIns="0" bIns="0" rtlCol="0" anchor="ctr"/>
          <a:lstStyle/>
          <a:p>
            <a:pPr algn="r" indent="0" marL="0">
              <a:buNone/>
            </a:pPr>
            <a:r>
              <a:rPr lang="en-US" sz="1150" b="1" dirty="0">
                <a:solidFill>
                  <a:srgbClr val="3A4048"/>
                </a:solidFill>
                <a:latin typeface="Calibri" pitchFamily="34" charset="0"/>
                <a:ea typeface="Calibri" pitchFamily="34" charset="-122"/>
                <a:cs typeface="Calibri" pitchFamily="34" charset="-120"/>
              </a:rPr>
              <a:t>2</a:t>
            </a:r>
            <a:endParaRPr lang="en-US" sz="1150" dirty="0"/>
          </a:p>
        </p:txBody>
      </p:sp>
      <p:sp>
        <p:nvSpPr>
          <p:cNvPr id="62" name="Shape 60"/>
          <p:cNvSpPr/>
          <p:nvPr/>
        </p:nvSpPr>
        <p:spPr>
          <a:xfrm>
            <a:off x="4846320" y="2688336"/>
            <a:ext cx="704088" cy="448056"/>
          </a:xfrm>
          <a:prstGeom prst="rect">
            <a:avLst/>
          </a:prstGeom>
          <a:solidFill>
            <a:srgbClr val="A8442A"/>
          </a:solidFill>
          <a:ln w="15240">
            <a:solidFill>
              <a:srgbClr val="FFFFFF"/>
            </a:solidFill>
            <a:prstDash val="solid"/>
          </a:ln>
        </p:spPr>
      </p:sp>
      <p:sp>
        <p:nvSpPr>
          <p:cNvPr id="63" name="Text 61"/>
          <p:cNvSpPr/>
          <p:nvPr/>
        </p:nvSpPr>
        <p:spPr>
          <a:xfrm>
            <a:off x="4846320" y="2688336"/>
            <a:ext cx="704088" cy="44805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35,77</a:t>
            </a:r>
            <a:endParaRPr lang="en-US" sz="950" dirty="0"/>
          </a:p>
        </p:txBody>
      </p:sp>
      <p:sp>
        <p:nvSpPr>
          <p:cNvPr id="64" name="Shape 62"/>
          <p:cNvSpPr/>
          <p:nvPr/>
        </p:nvSpPr>
        <p:spPr>
          <a:xfrm>
            <a:off x="5596128" y="2688336"/>
            <a:ext cx="704088" cy="448056"/>
          </a:xfrm>
          <a:prstGeom prst="rect">
            <a:avLst/>
          </a:prstGeom>
          <a:solidFill>
            <a:srgbClr val="ECE7DF"/>
          </a:solidFill>
          <a:ln w="15240">
            <a:solidFill>
              <a:srgbClr val="FFFFFF"/>
            </a:solidFill>
            <a:prstDash val="solid"/>
          </a:ln>
        </p:spPr>
      </p:sp>
      <p:sp>
        <p:nvSpPr>
          <p:cNvPr id="65" name="Text 63"/>
          <p:cNvSpPr/>
          <p:nvPr/>
        </p:nvSpPr>
        <p:spPr>
          <a:xfrm>
            <a:off x="5596128" y="2688336"/>
            <a:ext cx="704088" cy="448056"/>
          </a:xfrm>
          <a:prstGeom prst="rect">
            <a:avLst/>
          </a:prstGeom>
          <a:noFill/>
          <a:ln/>
        </p:spPr>
        <p:txBody>
          <a:bodyPr wrap="square" lIns="0" tIns="0" rIns="0" bIns="0" rtlCol="0" anchor="ctr"/>
          <a:lstStyle/>
          <a:p>
            <a:pPr algn="ctr" indent="0" marL="0">
              <a:buNone/>
            </a:pPr>
            <a:r>
              <a:rPr lang="en-US" sz="950" b="1" dirty="0">
                <a:solidFill>
                  <a:srgbClr val="3A4048"/>
                </a:solidFill>
                <a:latin typeface="Calibri" pitchFamily="34" charset="0"/>
                <a:ea typeface="Calibri" pitchFamily="34" charset="-122"/>
                <a:cs typeface="Calibri" pitchFamily="34" charset="-120"/>
              </a:rPr>
              <a:t>0</a:t>
            </a:r>
            <a:endParaRPr lang="en-US" sz="950" dirty="0"/>
          </a:p>
        </p:txBody>
      </p:sp>
      <p:sp>
        <p:nvSpPr>
          <p:cNvPr id="66" name="Shape 64"/>
          <p:cNvSpPr/>
          <p:nvPr/>
        </p:nvSpPr>
        <p:spPr>
          <a:xfrm>
            <a:off x="6345936" y="2688336"/>
            <a:ext cx="704088" cy="448056"/>
          </a:xfrm>
          <a:prstGeom prst="rect">
            <a:avLst/>
          </a:prstGeom>
          <a:solidFill>
            <a:srgbClr val="DDB6AA"/>
          </a:solidFill>
          <a:ln w="15240">
            <a:solidFill>
              <a:srgbClr val="FFFFFF"/>
            </a:solidFill>
            <a:prstDash val="solid"/>
          </a:ln>
        </p:spPr>
      </p:sp>
      <p:sp>
        <p:nvSpPr>
          <p:cNvPr id="67" name="Text 65"/>
          <p:cNvSpPr/>
          <p:nvPr/>
        </p:nvSpPr>
        <p:spPr>
          <a:xfrm>
            <a:off x="6345936" y="2688336"/>
            <a:ext cx="704088" cy="448056"/>
          </a:xfrm>
          <a:prstGeom prst="rect">
            <a:avLst/>
          </a:prstGeom>
          <a:noFill/>
          <a:ln/>
        </p:spPr>
        <p:txBody>
          <a:bodyPr wrap="square" lIns="0" tIns="0" rIns="0" bIns="0" rtlCol="0" anchor="ctr"/>
          <a:lstStyle/>
          <a:p>
            <a:pPr algn="ctr" indent="0" marL="0">
              <a:buNone/>
            </a:pPr>
            <a:r>
              <a:rPr lang="en-US" sz="950" b="1" dirty="0">
                <a:solidFill>
                  <a:srgbClr val="16191D"/>
                </a:solidFill>
                <a:latin typeface="Calibri" pitchFamily="34" charset="0"/>
                <a:ea typeface="Calibri" pitchFamily="34" charset="-122"/>
                <a:cs typeface="Calibri" pitchFamily="34" charset="-120"/>
              </a:rPr>
              <a:t>10,64</a:t>
            </a:r>
            <a:endParaRPr lang="en-US" sz="950" dirty="0"/>
          </a:p>
        </p:txBody>
      </p:sp>
      <p:sp>
        <p:nvSpPr>
          <p:cNvPr id="68" name="Shape 66"/>
          <p:cNvSpPr/>
          <p:nvPr/>
        </p:nvSpPr>
        <p:spPr>
          <a:xfrm>
            <a:off x="7095744" y="2688336"/>
            <a:ext cx="704088" cy="448056"/>
          </a:xfrm>
          <a:prstGeom prst="rect">
            <a:avLst/>
          </a:prstGeom>
          <a:solidFill>
            <a:srgbClr val="E7CDC4"/>
          </a:solidFill>
          <a:ln w="15240">
            <a:solidFill>
              <a:srgbClr val="FFFFFF"/>
            </a:solidFill>
            <a:prstDash val="solid"/>
          </a:ln>
        </p:spPr>
      </p:sp>
      <p:sp>
        <p:nvSpPr>
          <p:cNvPr id="69" name="Text 67"/>
          <p:cNvSpPr/>
          <p:nvPr/>
        </p:nvSpPr>
        <p:spPr>
          <a:xfrm>
            <a:off x="7095744" y="2688336"/>
            <a:ext cx="704088" cy="448056"/>
          </a:xfrm>
          <a:prstGeom prst="rect">
            <a:avLst/>
          </a:prstGeom>
          <a:noFill/>
          <a:ln/>
        </p:spPr>
        <p:txBody>
          <a:bodyPr wrap="square" lIns="0" tIns="0" rIns="0" bIns="0" rtlCol="0" anchor="ctr"/>
          <a:lstStyle/>
          <a:p>
            <a:pPr algn="ctr" indent="0" marL="0">
              <a:buNone/>
            </a:pPr>
            <a:r>
              <a:rPr lang="en-US" sz="950" b="1" dirty="0">
                <a:solidFill>
                  <a:srgbClr val="16191D"/>
                </a:solidFill>
                <a:latin typeface="Calibri" pitchFamily="34" charset="0"/>
                <a:ea typeface="Calibri" pitchFamily="34" charset="-122"/>
                <a:cs typeface="Calibri" pitchFamily="34" charset="-120"/>
              </a:rPr>
              <a:t>5,49</a:t>
            </a:r>
            <a:endParaRPr lang="en-US" sz="950" dirty="0"/>
          </a:p>
        </p:txBody>
      </p:sp>
      <p:sp>
        <p:nvSpPr>
          <p:cNvPr id="70" name="Text 68"/>
          <p:cNvSpPr/>
          <p:nvPr/>
        </p:nvSpPr>
        <p:spPr>
          <a:xfrm>
            <a:off x="4407408" y="3182112"/>
            <a:ext cx="292608" cy="493776"/>
          </a:xfrm>
          <a:prstGeom prst="rect">
            <a:avLst/>
          </a:prstGeom>
          <a:noFill/>
          <a:ln/>
        </p:spPr>
        <p:txBody>
          <a:bodyPr wrap="square" lIns="0" tIns="0" rIns="0" bIns="0" rtlCol="0" anchor="ctr"/>
          <a:lstStyle/>
          <a:p>
            <a:pPr algn="r" indent="0" marL="0">
              <a:buNone/>
            </a:pPr>
            <a:r>
              <a:rPr lang="en-US" sz="1150" b="1" dirty="0">
                <a:solidFill>
                  <a:srgbClr val="3A4048"/>
                </a:solidFill>
                <a:latin typeface="Calibri" pitchFamily="34" charset="0"/>
                <a:ea typeface="Calibri" pitchFamily="34" charset="-122"/>
                <a:cs typeface="Calibri" pitchFamily="34" charset="-120"/>
              </a:rPr>
              <a:t>3</a:t>
            </a:r>
            <a:endParaRPr lang="en-US" sz="1150" dirty="0"/>
          </a:p>
        </p:txBody>
      </p:sp>
      <p:sp>
        <p:nvSpPr>
          <p:cNvPr id="71" name="Shape 69"/>
          <p:cNvSpPr/>
          <p:nvPr/>
        </p:nvSpPr>
        <p:spPr>
          <a:xfrm>
            <a:off x="4846320" y="3182112"/>
            <a:ext cx="704088" cy="448056"/>
          </a:xfrm>
          <a:prstGeom prst="rect">
            <a:avLst/>
          </a:prstGeom>
          <a:solidFill>
            <a:srgbClr val="F0DFD8"/>
          </a:solidFill>
          <a:ln w="15240">
            <a:solidFill>
              <a:srgbClr val="FFFFFF"/>
            </a:solidFill>
            <a:prstDash val="solid"/>
          </a:ln>
        </p:spPr>
      </p:sp>
      <p:sp>
        <p:nvSpPr>
          <p:cNvPr id="72" name="Text 70"/>
          <p:cNvSpPr/>
          <p:nvPr/>
        </p:nvSpPr>
        <p:spPr>
          <a:xfrm>
            <a:off x="4846320" y="3182112"/>
            <a:ext cx="704088" cy="448056"/>
          </a:xfrm>
          <a:prstGeom prst="rect">
            <a:avLst/>
          </a:prstGeom>
          <a:noFill/>
          <a:ln/>
        </p:spPr>
        <p:txBody>
          <a:bodyPr wrap="square" lIns="0" tIns="0" rIns="0" bIns="0" rtlCol="0" anchor="ctr"/>
          <a:lstStyle/>
          <a:p>
            <a:pPr algn="ctr" indent="0" marL="0">
              <a:buNone/>
            </a:pPr>
            <a:r>
              <a:rPr lang="en-US" sz="950" b="1" dirty="0">
                <a:solidFill>
                  <a:srgbClr val="16191D"/>
                </a:solidFill>
                <a:latin typeface="Calibri" pitchFamily="34" charset="0"/>
                <a:ea typeface="Calibri" pitchFamily="34" charset="-122"/>
                <a:cs typeface="Calibri" pitchFamily="34" charset="-120"/>
              </a:rPr>
              <a:t>1,52</a:t>
            </a:r>
            <a:endParaRPr lang="en-US" sz="950" dirty="0"/>
          </a:p>
        </p:txBody>
      </p:sp>
      <p:sp>
        <p:nvSpPr>
          <p:cNvPr id="73" name="Shape 71"/>
          <p:cNvSpPr/>
          <p:nvPr/>
        </p:nvSpPr>
        <p:spPr>
          <a:xfrm>
            <a:off x="5596128" y="3182112"/>
            <a:ext cx="704088" cy="448056"/>
          </a:xfrm>
          <a:prstGeom prst="rect">
            <a:avLst/>
          </a:prstGeom>
          <a:solidFill>
            <a:srgbClr val="ECD7CF"/>
          </a:solidFill>
          <a:ln w="15240">
            <a:solidFill>
              <a:srgbClr val="FFFFFF"/>
            </a:solidFill>
            <a:prstDash val="solid"/>
          </a:ln>
        </p:spPr>
      </p:sp>
      <p:sp>
        <p:nvSpPr>
          <p:cNvPr id="74" name="Text 72"/>
          <p:cNvSpPr/>
          <p:nvPr/>
        </p:nvSpPr>
        <p:spPr>
          <a:xfrm>
            <a:off x="5596128" y="3182112"/>
            <a:ext cx="704088" cy="448056"/>
          </a:xfrm>
          <a:prstGeom prst="rect">
            <a:avLst/>
          </a:prstGeom>
          <a:noFill/>
          <a:ln/>
        </p:spPr>
        <p:txBody>
          <a:bodyPr wrap="square" lIns="0" tIns="0" rIns="0" bIns="0" rtlCol="0" anchor="ctr"/>
          <a:lstStyle/>
          <a:p>
            <a:pPr algn="ctr" indent="0" marL="0">
              <a:buNone/>
            </a:pPr>
            <a:r>
              <a:rPr lang="en-US" sz="950" b="1" dirty="0">
                <a:solidFill>
                  <a:srgbClr val="16191D"/>
                </a:solidFill>
                <a:latin typeface="Calibri" pitchFamily="34" charset="0"/>
                <a:ea typeface="Calibri" pitchFamily="34" charset="-122"/>
                <a:cs typeface="Calibri" pitchFamily="34" charset="-120"/>
              </a:rPr>
              <a:t>3,42</a:t>
            </a:r>
            <a:endParaRPr lang="en-US" sz="950" dirty="0"/>
          </a:p>
        </p:txBody>
      </p:sp>
      <p:sp>
        <p:nvSpPr>
          <p:cNvPr id="75" name="Shape 73"/>
          <p:cNvSpPr/>
          <p:nvPr/>
        </p:nvSpPr>
        <p:spPr>
          <a:xfrm>
            <a:off x="6345936" y="3182112"/>
            <a:ext cx="704088" cy="448056"/>
          </a:xfrm>
          <a:prstGeom prst="rect">
            <a:avLst/>
          </a:prstGeom>
          <a:solidFill>
            <a:srgbClr val="ECE7DF"/>
          </a:solidFill>
          <a:ln w="15240">
            <a:solidFill>
              <a:srgbClr val="FFFFFF"/>
            </a:solidFill>
            <a:prstDash val="solid"/>
          </a:ln>
        </p:spPr>
      </p:sp>
      <p:sp>
        <p:nvSpPr>
          <p:cNvPr id="76" name="Text 74"/>
          <p:cNvSpPr/>
          <p:nvPr/>
        </p:nvSpPr>
        <p:spPr>
          <a:xfrm>
            <a:off x="6345936" y="3182112"/>
            <a:ext cx="704088" cy="448056"/>
          </a:xfrm>
          <a:prstGeom prst="rect">
            <a:avLst/>
          </a:prstGeom>
          <a:noFill/>
          <a:ln/>
        </p:spPr>
        <p:txBody>
          <a:bodyPr wrap="square" lIns="0" tIns="0" rIns="0" bIns="0" rtlCol="0" anchor="ctr"/>
          <a:lstStyle/>
          <a:p>
            <a:pPr algn="ctr" indent="0" marL="0">
              <a:buNone/>
            </a:pPr>
            <a:r>
              <a:rPr lang="en-US" sz="950" b="1" dirty="0">
                <a:solidFill>
                  <a:srgbClr val="3A4048"/>
                </a:solidFill>
                <a:latin typeface="Calibri" pitchFamily="34" charset="0"/>
                <a:ea typeface="Calibri" pitchFamily="34" charset="-122"/>
                <a:cs typeface="Calibri" pitchFamily="34" charset="-120"/>
              </a:rPr>
              <a:t>0</a:t>
            </a:r>
            <a:endParaRPr lang="en-US" sz="950" dirty="0"/>
          </a:p>
        </p:txBody>
      </p:sp>
      <p:sp>
        <p:nvSpPr>
          <p:cNvPr id="77" name="Shape 75"/>
          <p:cNvSpPr/>
          <p:nvPr/>
        </p:nvSpPr>
        <p:spPr>
          <a:xfrm>
            <a:off x="7095744" y="3182112"/>
            <a:ext cx="704088" cy="448056"/>
          </a:xfrm>
          <a:prstGeom prst="rect">
            <a:avLst/>
          </a:prstGeom>
          <a:solidFill>
            <a:srgbClr val="F0DFD8"/>
          </a:solidFill>
          <a:ln w="15240">
            <a:solidFill>
              <a:srgbClr val="FFFFFF"/>
            </a:solidFill>
            <a:prstDash val="solid"/>
          </a:ln>
        </p:spPr>
      </p:sp>
      <p:sp>
        <p:nvSpPr>
          <p:cNvPr id="78" name="Text 76"/>
          <p:cNvSpPr/>
          <p:nvPr/>
        </p:nvSpPr>
        <p:spPr>
          <a:xfrm>
            <a:off x="7095744" y="3182112"/>
            <a:ext cx="704088" cy="448056"/>
          </a:xfrm>
          <a:prstGeom prst="rect">
            <a:avLst/>
          </a:prstGeom>
          <a:noFill/>
          <a:ln/>
        </p:spPr>
        <p:txBody>
          <a:bodyPr wrap="square" lIns="0" tIns="0" rIns="0" bIns="0" rtlCol="0" anchor="ctr"/>
          <a:lstStyle/>
          <a:p>
            <a:pPr algn="ctr" indent="0" marL="0">
              <a:buNone/>
            </a:pPr>
            <a:r>
              <a:rPr lang="en-US" sz="950" b="1" dirty="0">
                <a:solidFill>
                  <a:srgbClr val="16191D"/>
                </a:solidFill>
                <a:latin typeface="Calibri" pitchFamily="34" charset="0"/>
                <a:ea typeface="Calibri" pitchFamily="34" charset="-122"/>
                <a:cs typeface="Calibri" pitchFamily="34" charset="-120"/>
              </a:rPr>
              <a:t>1,51</a:t>
            </a:r>
            <a:endParaRPr lang="en-US" sz="950" dirty="0"/>
          </a:p>
        </p:txBody>
      </p:sp>
      <p:sp>
        <p:nvSpPr>
          <p:cNvPr id="79" name="Text 77"/>
          <p:cNvSpPr/>
          <p:nvPr/>
        </p:nvSpPr>
        <p:spPr>
          <a:xfrm>
            <a:off x="4407408" y="3675888"/>
            <a:ext cx="292608" cy="493776"/>
          </a:xfrm>
          <a:prstGeom prst="rect">
            <a:avLst/>
          </a:prstGeom>
          <a:noFill/>
          <a:ln/>
        </p:spPr>
        <p:txBody>
          <a:bodyPr wrap="square" lIns="0" tIns="0" rIns="0" bIns="0" rtlCol="0" anchor="ctr"/>
          <a:lstStyle/>
          <a:p>
            <a:pPr algn="r" indent="0" marL="0">
              <a:buNone/>
            </a:pPr>
            <a:r>
              <a:rPr lang="en-US" sz="1150" b="1" dirty="0">
                <a:solidFill>
                  <a:srgbClr val="3A4048"/>
                </a:solidFill>
                <a:latin typeface="Calibri" pitchFamily="34" charset="0"/>
                <a:ea typeface="Calibri" pitchFamily="34" charset="-122"/>
                <a:cs typeface="Calibri" pitchFamily="34" charset="-120"/>
              </a:rPr>
              <a:t>4</a:t>
            </a:r>
            <a:endParaRPr lang="en-US" sz="1150" dirty="0"/>
          </a:p>
        </p:txBody>
      </p:sp>
      <p:sp>
        <p:nvSpPr>
          <p:cNvPr id="80" name="Shape 78"/>
          <p:cNvSpPr/>
          <p:nvPr/>
        </p:nvSpPr>
        <p:spPr>
          <a:xfrm>
            <a:off x="4846320" y="3675888"/>
            <a:ext cx="704088" cy="448056"/>
          </a:xfrm>
          <a:prstGeom prst="rect">
            <a:avLst/>
          </a:prstGeom>
          <a:solidFill>
            <a:srgbClr val="ECD8D0"/>
          </a:solidFill>
          <a:ln w="15240">
            <a:solidFill>
              <a:srgbClr val="FFFFFF"/>
            </a:solidFill>
            <a:prstDash val="solid"/>
          </a:ln>
        </p:spPr>
      </p:sp>
      <p:sp>
        <p:nvSpPr>
          <p:cNvPr id="81" name="Text 79"/>
          <p:cNvSpPr/>
          <p:nvPr/>
        </p:nvSpPr>
        <p:spPr>
          <a:xfrm>
            <a:off x="4846320" y="3675888"/>
            <a:ext cx="704088" cy="448056"/>
          </a:xfrm>
          <a:prstGeom prst="rect">
            <a:avLst/>
          </a:prstGeom>
          <a:noFill/>
          <a:ln/>
        </p:spPr>
        <p:txBody>
          <a:bodyPr wrap="square" lIns="0" tIns="0" rIns="0" bIns="0" rtlCol="0" anchor="ctr"/>
          <a:lstStyle/>
          <a:p>
            <a:pPr algn="ctr" indent="0" marL="0">
              <a:buNone/>
            </a:pPr>
            <a:r>
              <a:rPr lang="en-US" sz="950" b="1" dirty="0">
                <a:solidFill>
                  <a:srgbClr val="16191D"/>
                </a:solidFill>
                <a:latin typeface="Calibri" pitchFamily="34" charset="0"/>
                <a:ea typeface="Calibri" pitchFamily="34" charset="-122"/>
                <a:cs typeface="Calibri" pitchFamily="34" charset="-120"/>
              </a:rPr>
              <a:t>3,05</a:t>
            </a:r>
            <a:endParaRPr lang="en-US" sz="950" dirty="0"/>
          </a:p>
        </p:txBody>
      </p:sp>
      <p:sp>
        <p:nvSpPr>
          <p:cNvPr id="82" name="Shape 80"/>
          <p:cNvSpPr/>
          <p:nvPr/>
        </p:nvSpPr>
        <p:spPr>
          <a:xfrm>
            <a:off x="5596128" y="3675888"/>
            <a:ext cx="704088" cy="448056"/>
          </a:xfrm>
          <a:prstGeom prst="rect">
            <a:avLst/>
          </a:prstGeom>
          <a:solidFill>
            <a:srgbClr val="EEDCD5"/>
          </a:solidFill>
          <a:ln w="15240">
            <a:solidFill>
              <a:srgbClr val="FFFFFF"/>
            </a:solidFill>
            <a:prstDash val="solid"/>
          </a:ln>
        </p:spPr>
      </p:sp>
      <p:sp>
        <p:nvSpPr>
          <p:cNvPr id="83" name="Text 81"/>
          <p:cNvSpPr/>
          <p:nvPr/>
        </p:nvSpPr>
        <p:spPr>
          <a:xfrm>
            <a:off x="5596128" y="3675888"/>
            <a:ext cx="704088" cy="448056"/>
          </a:xfrm>
          <a:prstGeom prst="rect">
            <a:avLst/>
          </a:prstGeom>
          <a:noFill/>
          <a:ln/>
        </p:spPr>
        <p:txBody>
          <a:bodyPr wrap="square" lIns="0" tIns="0" rIns="0" bIns="0" rtlCol="0" anchor="ctr"/>
          <a:lstStyle/>
          <a:p>
            <a:pPr algn="ctr" indent="0" marL="0">
              <a:buNone/>
            </a:pPr>
            <a:r>
              <a:rPr lang="en-US" sz="950" b="1" dirty="0">
                <a:solidFill>
                  <a:srgbClr val="16191D"/>
                </a:solidFill>
                <a:latin typeface="Calibri" pitchFamily="34" charset="0"/>
                <a:ea typeface="Calibri" pitchFamily="34" charset="-122"/>
                <a:cs typeface="Calibri" pitchFamily="34" charset="-120"/>
              </a:rPr>
              <a:t>2,19</a:t>
            </a:r>
            <a:endParaRPr lang="en-US" sz="950" dirty="0"/>
          </a:p>
        </p:txBody>
      </p:sp>
      <p:sp>
        <p:nvSpPr>
          <p:cNvPr id="84" name="Shape 82"/>
          <p:cNvSpPr/>
          <p:nvPr/>
        </p:nvSpPr>
        <p:spPr>
          <a:xfrm>
            <a:off x="6345936" y="3675888"/>
            <a:ext cx="704088" cy="448056"/>
          </a:xfrm>
          <a:prstGeom prst="rect">
            <a:avLst/>
          </a:prstGeom>
          <a:solidFill>
            <a:srgbClr val="F1E3DD"/>
          </a:solidFill>
          <a:ln w="15240">
            <a:solidFill>
              <a:srgbClr val="FFFFFF"/>
            </a:solidFill>
            <a:prstDash val="solid"/>
          </a:ln>
        </p:spPr>
      </p:sp>
      <p:sp>
        <p:nvSpPr>
          <p:cNvPr id="85" name="Text 83"/>
          <p:cNvSpPr/>
          <p:nvPr/>
        </p:nvSpPr>
        <p:spPr>
          <a:xfrm>
            <a:off x="6345936" y="3675888"/>
            <a:ext cx="704088" cy="448056"/>
          </a:xfrm>
          <a:prstGeom prst="rect">
            <a:avLst/>
          </a:prstGeom>
          <a:noFill/>
          <a:ln/>
        </p:spPr>
        <p:txBody>
          <a:bodyPr wrap="square" lIns="0" tIns="0" rIns="0" bIns="0" rtlCol="0" anchor="ctr"/>
          <a:lstStyle/>
          <a:p>
            <a:pPr algn="ctr" indent="0" marL="0">
              <a:buNone/>
            </a:pPr>
            <a:r>
              <a:rPr lang="en-US" sz="950" b="1" dirty="0">
                <a:solidFill>
                  <a:srgbClr val="16191D"/>
                </a:solidFill>
                <a:latin typeface="Calibri" pitchFamily="34" charset="0"/>
                <a:ea typeface="Calibri" pitchFamily="34" charset="-122"/>
                <a:cs typeface="Calibri" pitchFamily="34" charset="-120"/>
              </a:rPr>
              <a:t>0,64</a:t>
            </a:r>
            <a:endParaRPr lang="en-US" sz="950" dirty="0"/>
          </a:p>
        </p:txBody>
      </p:sp>
      <p:sp>
        <p:nvSpPr>
          <p:cNvPr id="86" name="Shape 84"/>
          <p:cNvSpPr/>
          <p:nvPr/>
        </p:nvSpPr>
        <p:spPr>
          <a:xfrm>
            <a:off x="7095744" y="3675888"/>
            <a:ext cx="704088" cy="448056"/>
          </a:xfrm>
          <a:prstGeom prst="rect">
            <a:avLst/>
          </a:prstGeom>
          <a:solidFill>
            <a:srgbClr val="ECE7DF"/>
          </a:solidFill>
          <a:ln w="15240">
            <a:solidFill>
              <a:srgbClr val="FFFFFF"/>
            </a:solidFill>
            <a:prstDash val="solid"/>
          </a:ln>
        </p:spPr>
      </p:sp>
      <p:sp>
        <p:nvSpPr>
          <p:cNvPr id="87" name="Text 85"/>
          <p:cNvSpPr/>
          <p:nvPr/>
        </p:nvSpPr>
        <p:spPr>
          <a:xfrm>
            <a:off x="7095744" y="3675888"/>
            <a:ext cx="704088" cy="448056"/>
          </a:xfrm>
          <a:prstGeom prst="rect">
            <a:avLst/>
          </a:prstGeom>
          <a:noFill/>
          <a:ln/>
        </p:spPr>
        <p:txBody>
          <a:bodyPr wrap="square" lIns="0" tIns="0" rIns="0" bIns="0" rtlCol="0" anchor="ctr"/>
          <a:lstStyle/>
          <a:p>
            <a:pPr algn="ctr" indent="0" marL="0">
              <a:buNone/>
            </a:pPr>
            <a:r>
              <a:rPr lang="en-US" sz="950" b="1" dirty="0">
                <a:solidFill>
                  <a:srgbClr val="3A4048"/>
                </a:solidFill>
                <a:latin typeface="Calibri" pitchFamily="34" charset="0"/>
                <a:ea typeface="Calibri" pitchFamily="34" charset="-122"/>
                <a:cs typeface="Calibri" pitchFamily="34" charset="-120"/>
              </a:rPr>
              <a:t>0</a:t>
            </a:r>
            <a:endParaRPr lang="en-US" sz="950" dirty="0"/>
          </a:p>
        </p:txBody>
      </p:sp>
      <p:sp>
        <p:nvSpPr>
          <p:cNvPr id="88" name="Text 86"/>
          <p:cNvSpPr/>
          <p:nvPr/>
        </p:nvSpPr>
        <p:spPr>
          <a:xfrm>
            <a:off x="731520" y="4224528"/>
            <a:ext cx="3291840" cy="310896"/>
          </a:xfrm>
          <a:prstGeom prst="rect">
            <a:avLst/>
          </a:prstGeom>
          <a:noFill/>
          <a:ln/>
        </p:spPr>
        <p:txBody>
          <a:bodyPr wrap="square" lIns="0" tIns="0" rIns="0" bIns="0" rtlCol="0" anchor="ctr"/>
          <a:lstStyle/>
          <a:p>
            <a:pPr algn="l" indent="0" marL="0">
              <a:buNone/>
            </a:pPr>
            <a:r>
              <a:rPr lang="en-US" sz="900" i="1" dirty="0">
                <a:solidFill>
                  <a:srgbClr val="6E747C"/>
                </a:solidFill>
                <a:latin typeface="Calibri" pitchFamily="34" charset="0"/>
                <a:ea typeface="Calibri" pitchFamily="34" charset="-122"/>
                <a:cs typeface="Calibri" pitchFamily="34" charset="-120"/>
              </a:rPr>
              <a:t>Baris: kelas aktual 1 sampai 4.</a:t>
            </a:r>
            <a:endParaRPr lang="en-US" sz="900" dirty="0"/>
          </a:p>
        </p:txBody>
      </p:sp>
      <p:sp>
        <p:nvSpPr>
          <p:cNvPr id="89" name="Shape 87"/>
          <p:cNvSpPr/>
          <p:nvPr/>
        </p:nvSpPr>
        <p:spPr>
          <a:xfrm>
            <a:off x="640080" y="4572000"/>
            <a:ext cx="7269480" cy="1645920"/>
          </a:xfrm>
          <a:prstGeom prst="roundRect">
            <a:avLst>
              <a:gd name="adj" fmla="val 3333"/>
            </a:avLst>
          </a:prstGeom>
          <a:solidFill>
            <a:srgbClr val="ECE7DF"/>
          </a:solidFill>
          <a:ln w="9525">
            <a:solidFill>
              <a:srgbClr val="DCD8D1"/>
            </a:solidFill>
            <a:prstDash val="solid"/>
          </a:ln>
        </p:spPr>
      </p:sp>
      <p:sp>
        <p:nvSpPr>
          <p:cNvPr id="90" name="Text 88"/>
          <p:cNvSpPr/>
          <p:nvPr/>
        </p:nvSpPr>
        <p:spPr>
          <a:xfrm>
            <a:off x="841248" y="4681728"/>
            <a:ext cx="1691640" cy="384048"/>
          </a:xfrm>
          <a:prstGeom prst="rect">
            <a:avLst/>
          </a:prstGeom>
          <a:noFill/>
          <a:ln/>
        </p:spPr>
        <p:txBody>
          <a:bodyPr wrap="square" lIns="0" tIns="0" rIns="0" bIns="0" rtlCol="0" anchor="b"/>
          <a:lstStyle/>
          <a:p>
            <a:pPr algn="l" indent="0" marL="0">
              <a:buNone/>
            </a:pPr>
            <a:r>
              <a:rPr lang="en-US" sz="2000" b="1" dirty="0">
                <a:solidFill>
                  <a:srgbClr val="16191D"/>
                </a:solidFill>
                <a:latin typeface="Cambria" pitchFamily="34" charset="0"/>
                <a:ea typeface="Cambria" pitchFamily="34" charset="-122"/>
                <a:cs typeface="Cambria" pitchFamily="34" charset="-120"/>
              </a:rPr>
              <a:t>0,48425</a:t>
            </a:r>
            <a:endParaRPr lang="en-US" sz="2000" dirty="0"/>
          </a:p>
        </p:txBody>
      </p:sp>
      <p:sp>
        <p:nvSpPr>
          <p:cNvPr id="91" name="Text 89"/>
          <p:cNvSpPr/>
          <p:nvPr/>
        </p:nvSpPr>
        <p:spPr>
          <a:xfrm>
            <a:off x="841248" y="5102352"/>
            <a:ext cx="1691640" cy="420624"/>
          </a:xfrm>
          <a:prstGeom prst="rect">
            <a:avLst/>
          </a:prstGeom>
          <a:noFill/>
          <a:ln/>
        </p:spPr>
        <p:txBody>
          <a:bodyPr wrap="square" lIns="0" tIns="0" rIns="0" bIns="0" rtlCol="0" anchor="t"/>
          <a:lstStyle/>
          <a:p>
            <a:pPr algn="l" indent="0" marL="0">
              <a:lnSpc>
                <a:spcPts val="1300"/>
              </a:lnSpc>
              <a:buNone/>
            </a:pPr>
            <a:r>
              <a:rPr lang="en-US" sz="950" dirty="0">
                <a:solidFill>
                  <a:srgbClr val="6E747C"/>
                </a:solidFill>
                <a:latin typeface="Calibri" pitchFamily="34" charset="0"/>
                <a:ea typeface="Calibri" pitchFamily="34" charset="-122"/>
                <a:cs typeface="Calibri" pitchFamily="34" charset="-120"/>
              </a:rPr>
              <a:t>QWK OOF</a:t>
            </a:r>
            <a:endParaRPr lang="en-US" sz="950" dirty="0"/>
          </a:p>
        </p:txBody>
      </p:sp>
      <p:sp>
        <p:nvSpPr>
          <p:cNvPr id="92" name="Text 90"/>
          <p:cNvSpPr/>
          <p:nvPr/>
        </p:nvSpPr>
        <p:spPr>
          <a:xfrm>
            <a:off x="2624328" y="4681728"/>
            <a:ext cx="1691640" cy="384048"/>
          </a:xfrm>
          <a:prstGeom prst="rect">
            <a:avLst/>
          </a:prstGeom>
          <a:noFill/>
          <a:ln/>
        </p:spPr>
        <p:txBody>
          <a:bodyPr wrap="square" lIns="0" tIns="0" rIns="0" bIns="0" rtlCol="0" anchor="b"/>
          <a:lstStyle/>
          <a:p>
            <a:pPr algn="l" indent="0" marL="0">
              <a:buNone/>
            </a:pPr>
            <a:r>
              <a:rPr lang="en-US" sz="2000" b="1" dirty="0">
                <a:solidFill>
                  <a:srgbClr val="16191D"/>
                </a:solidFill>
                <a:latin typeface="Cambria" pitchFamily="34" charset="0"/>
                <a:ea typeface="Cambria" pitchFamily="34" charset="-122"/>
                <a:cs typeface="Cambria" pitchFamily="34" charset="-120"/>
              </a:rPr>
              <a:t>0,63305</a:t>
            </a:r>
            <a:endParaRPr lang="en-US" sz="2000" dirty="0"/>
          </a:p>
        </p:txBody>
      </p:sp>
      <p:sp>
        <p:nvSpPr>
          <p:cNvPr id="93" name="Text 91"/>
          <p:cNvSpPr/>
          <p:nvPr/>
        </p:nvSpPr>
        <p:spPr>
          <a:xfrm>
            <a:off x="2624328" y="5102352"/>
            <a:ext cx="1691640" cy="420624"/>
          </a:xfrm>
          <a:prstGeom prst="rect">
            <a:avLst/>
          </a:prstGeom>
          <a:noFill/>
          <a:ln/>
        </p:spPr>
        <p:txBody>
          <a:bodyPr wrap="square" lIns="0" tIns="0" rIns="0" bIns="0" rtlCol="0" anchor="t"/>
          <a:lstStyle/>
          <a:p>
            <a:pPr algn="l" indent="0" marL="0">
              <a:lnSpc>
                <a:spcPts val="1300"/>
              </a:lnSpc>
              <a:buNone/>
            </a:pPr>
            <a:r>
              <a:rPr lang="en-US" sz="950" dirty="0">
                <a:solidFill>
                  <a:srgbClr val="6E747C"/>
                </a:solidFill>
                <a:latin typeface="Calibri" pitchFamily="34" charset="0"/>
                <a:ea typeface="Calibri" pitchFamily="34" charset="-122"/>
                <a:cs typeface="Calibri" pitchFamily="34" charset="-120"/>
              </a:rPr>
              <a:t>akurasi OOF</a:t>
            </a:r>
            <a:endParaRPr lang="en-US" sz="950" dirty="0"/>
          </a:p>
        </p:txBody>
      </p:sp>
      <p:sp>
        <p:nvSpPr>
          <p:cNvPr id="94" name="Text 92"/>
          <p:cNvSpPr/>
          <p:nvPr/>
        </p:nvSpPr>
        <p:spPr>
          <a:xfrm>
            <a:off x="4407408" y="4681728"/>
            <a:ext cx="1691640" cy="384048"/>
          </a:xfrm>
          <a:prstGeom prst="rect">
            <a:avLst/>
          </a:prstGeom>
          <a:noFill/>
          <a:ln/>
        </p:spPr>
        <p:txBody>
          <a:bodyPr wrap="square" lIns="0" tIns="0" rIns="0" bIns="0" rtlCol="0" anchor="b"/>
          <a:lstStyle/>
          <a:p>
            <a:pPr algn="l" indent="0" marL="0">
              <a:buNone/>
            </a:pPr>
            <a:r>
              <a:rPr lang="en-US" sz="2000" b="1" dirty="0">
                <a:solidFill>
                  <a:srgbClr val="A8442A"/>
                </a:solidFill>
                <a:latin typeface="Cambria" pitchFamily="34" charset="0"/>
                <a:ea typeface="Cambria" pitchFamily="34" charset="-122"/>
                <a:cs typeface="Cambria" pitchFamily="34" charset="-120"/>
              </a:rPr>
              <a:t>64,7%</a:t>
            </a:r>
            <a:endParaRPr lang="en-US" sz="2000" dirty="0"/>
          </a:p>
        </p:txBody>
      </p:sp>
      <p:sp>
        <p:nvSpPr>
          <p:cNvPr id="95" name="Text 93"/>
          <p:cNvSpPr/>
          <p:nvPr/>
        </p:nvSpPr>
        <p:spPr>
          <a:xfrm>
            <a:off x="4407408" y="5102352"/>
            <a:ext cx="1691640" cy="420624"/>
          </a:xfrm>
          <a:prstGeom prst="rect">
            <a:avLst/>
          </a:prstGeom>
          <a:noFill/>
          <a:ln/>
        </p:spPr>
        <p:txBody>
          <a:bodyPr wrap="square" lIns="0" tIns="0" rIns="0" bIns="0" rtlCol="0" anchor="t"/>
          <a:lstStyle/>
          <a:p>
            <a:pPr algn="l" indent="0" marL="0">
              <a:lnSpc>
                <a:spcPts val="1300"/>
              </a:lnSpc>
              <a:buNone/>
            </a:pPr>
            <a:r>
              <a:rPr lang="en-US" sz="950" dirty="0">
                <a:solidFill>
                  <a:srgbClr val="6E747C"/>
                </a:solidFill>
                <a:latin typeface="Calibri" pitchFamily="34" charset="0"/>
                <a:ea typeface="Calibri" pitchFamily="34" charset="-122"/>
                <a:cs typeface="Calibri" pitchFamily="34" charset="-120"/>
              </a:rPr>
              <a:t>penalti dari kebingungan kelas 1 dan 2</a:t>
            </a:r>
            <a:endParaRPr lang="en-US" sz="950" dirty="0"/>
          </a:p>
        </p:txBody>
      </p:sp>
      <p:sp>
        <p:nvSpPr>
          <p:cNvPr id="96" name="Text 94"/>
          <p:cNvSpPr/>
          <p:nvPr/>
        </p:nvSpPr>
        <p:spPr>
          <a:xfrm>
            <a:off x="6190488" y="4681728"/>
            <a:ext cx="1691640" cy="384048"/>
          </a:xfrm>
          <a:prstGeom prst="rect">
            <a:avLst/>
          </a:prstGeom>
          <a:noFill/>
          <a:ln/>
        </p:spPr>
        <p:txBody>
          <a:bodyPr wrap="square" lIns="0" tIns="0" rIns="0" bIns="0" rtlCol="0" anchor="b"/>
          <a:lstStyle/>
          <a:p>
            <a:pPr algn="l" indent="0" marL="0">
              <a:buNone/>
            </a:pPr>
            <a:r>
              <a:rPr lang="en-US" sz="2000" b="1" dirty="0">
                <a:solidFill>
                  <a:srgbClr val="2F6B5F"/>
                </a:solidFill>
                <a:latin typeface="Cambria" pitchFamily="34" charset="0"/>
                <a:ea typeface="Cambria" pitchFamily="34" charset="-122"/>
                <a:cs typeface="Cambria" pitchFamily="34" charset="-120"/>
              </a:rPr>
              <a:t>4,36%</a:t>
            </a:r>
            <a:endParaRPr lang="en-US" sz="2000" dirty="0"/>
          </a:p>
        </p:txBody>
      </p:sp>
      <p:sp>
        <p:nvSpPr>
          <p:cNvPr id="97" name="Text 95"/>
          <p:cNvSpPr/>
          <p:nvPr/>
        </p:nvSpPr>
        <p:spPr>
          <a:xfrm>
            <a:off x="6190488" y="5102352"/>
            <a:ext cx="1691640" cy="420624"/>
          </a:xfrm>
          <a:prstGeom prst="rect">
            <a:avLst/>
          </a:prstGeom>
          <a:noFill/>
          <a:ln/>
        </p:spPr>
        <p:txBody>
          <a:bodyPr wrap="square" lIns="0" tIns="0" rIns="0" bIns="0" rtlCol="0" anchor="t"/>
          <a:lstStyle/>
          <a:p>
            <a:pPr algn="l" indent="0" marL="0">
              <a:lnSpc>
                <a:spcPts val="1300"/>
              </a:lnSpc>
              <a:buNone/>
            </a:pPr>
            <a:r>
              <a:rPr lang="en-US" sz="950" dirty="0">
                <a:solidFill>
                  <a:srgbClr val="6E747C"/>
                </a:solidFill>
                <a:latin typeface="Calibri" pitchFamily="34" charset="0"/>
                <a:ea typeface="Calibri" pitchFamily="34" charset="-122"/>
                <a:cs typeface="Calibri" pitchFamily="34" charset="-120"/>
              </a:rPr>
              <a:t>penalti dari galat berjarak tiga</a:t>
            </a:r>
            <a:endParaRPr lang="en-US" sz="950" dirty="0"/>
          </a:p>
        </p:txBody>
      </p:sp>
      <p:sp>
        <p:nvSpPr>
          <p:cNvPr id="98" name="Text 96"/>
          <p:cNvSpPr/>
          <p:nvPr/>
        </p:nvSpPr>
        <p:spPr>
          <a:xfrm>
            <a:off x="841248" y="5623560"/>
            <a:ext cx="6858000" cy="548640"/>
          </a:xfrm>
          <a:prstGeom prst="rect">
            <a:avLst/>
          </a:prstGeom>
          <a:noFill/>
          <a:ln/>
        </p:spPr>
        <p:txBody>
          <a:bodyPr wrap="square" lIns="0" tIns="0" rIns="0" bIns="0" rtlCol="0" anchor="t"/>
          <a:lstStyle/>
          <a:p>
            <a:pPr algn="l" indent="0" marL="0">
              <a:lnSpc>
                <a:spcPts val="1350"/>
              </a:lnSpc>
              <a:buNone/>
            </a:pPr>
            <a:r>
              <a:rPr lang="en-US" sz="1000" dirty="0">
                <a:solidFill>
                  <a:srgbClr val="3A4048"/>
                </a:solidFill>
                <a:latin typeface="Calibri" pitchFamily="34" charset="0"/>
                <a:ea typeface="Calibri" pitchFamily="34" charset="-122"/>
                <a:cs typeface="Calibri" pitchFamily="34" charset="-120"/>
              </a:rPr>
              <a:t>"Sangat puas" dan "Puas" berdekatan secara substantif, sebagian subjektif pada tingkat responden. Galat terjauh, yang penaltinya 9 kali, sudah ditekan di bawah 5%.</a:t>
            </a:r>
            <a:endParaRPr lang="en-US" sz="1000" dirty="0"/>
          </a:p>
        </p:txBody>
      </p:sp>
      <p:sp>
        <p:nvSpPr>
          <p:cNvPr id="99" name="Shape 97"/>
          <p:cNvSpPr/>
          <p:nvPr/>
        </p:nvSpPr>
        <p:spPr>
          <a:xfrm>
            <a:off x="8183880" y="1371600"/>
            <a:ext cx="3367735" cy="4846320"/>
          </a:xfrm>
          <a:prstGeom prst="roundRect">
            <a:avLst>
              <a:gd name="adj" fmla="val 1629"/>
            </a:avLst>
          </a:prstGeom>
          <a:solidFill>
            <a:srgbClr val="FFFFFF"/>
          </a:solidFill>
          <a:ln w="9525">
            <a:solidFill>
              <a:srgbClr val="DCD8D1"/>
            </a:solidFill>
            <a:prstDash val="solid"/>
          </a:ln>
        </p:spPr>
      </p:sp>
      <p:sp>
        <p:nvSpPr>
          <p:cNvPr id="100" name="Text 98"/>
          <p:cNvSpPr/>
          <p:nvPr/>
        </p:nvSpPr>
        <p:spPr>
          <a:xfrm>
            <a:off x="8385048" y="1499616"/>
            <a:ext cx="2965399" cy="201168"/>
          </a:xfrm>
          <a:prstGeom prst="rect">
            <a:avLst/>
          </a:prstGeom>
          <a:noFill/>
          <a:ln/>
        </p:spPr>
        <p:txBody>
          <a:bodyPr wrap="square" lIns="0" tIns="0" rIns="0" bIns="0" rtlCol="0" anchor="ctr"/>
          <a:lstStyle/>
          <a:p>
            <a:pPr indent="0" marL="0">
              <a:buNone/>
            </a:pPr>
            <a:r>
              <a:rPr lang="en-US" sz="850" b="1" spc="120" kern="0" dirty="0">
                <a:solidFill>
                  <a:srgbClr val="6E747C"/>
                </a:solidFill>
                <a:latin typeface="Calibri" pitchFamily="34" charset="0"/>
                <a:ea typeface="Calibri" pitchFamily="34" charset="-122"/>
                <a:cs typeface="Calibri" pitchFamily="34" charset="-120"/>
              </a:rPr>
              <a:t>10 · METRIK PER KELAS</a:t>
            </a:r>
            <a:endParaRPr lang="en-US" sz="850" dirty="0"/>
          </a:p>
        </p:txBody>
      </p:sp>
      <p:sp>
        <p:nvSpPr>
          <p:cNvPr id="101" name="Text 99"/>
          <p:cNvSpPr/>
          <p:nvPr/>
        </p:nvSpPr>
        <p:spPr>
          <a:xfrm>
            <a:off x="8385048" y="1700784"/>
            <a:ext cx="2965399" cy="475488"/>
          </a:xfrm>
          <a:prstGeom prst="rect">
            <a:avLst/>
          </a:prstGeom>
          <a:noFill/>
          <a:ln/>
        </p:spPr>
        <p:txBody>
          <a:bodyPr wrap="square" lIns="0" tIns="0" rIns="0" bIns="0" rtlCol="0" anchor="t"/>
          <a:lstStyle/>
          <a:p>
            <a:pPr indent="0" marL="0">
              <a:lnSpc>
                <a:spcPts val="1600"/>
              </a:lnSpc>
              <a:buNone/>
            </a:pPr>
            <a:r>
              <a:rPr lang="en-US" sz="1300" b="1" dirty="0">
                <a:solidFill>
                  <a:srgbClr val="16191D"/>
                </a:solidFill>
                <a:latin typeface="Cambria" pitchFamily="34" charset="0"/>
                <a:ea typeface="Cambria" pitchFamily="34" charset="-122"/>
                <a:cs typeface="Cambria" pitchFamily="34" charset="-120"/>
              </a:rPr>
              <a:t>Kelas langka tertangkap</a:t>
            </a:r>
            <a:endParaRPr lang="en-US" sz="13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8385048" y="2212848"/>
          <a:ext cx="2965399" cy="914400"/>
        </p:xfrm>
        <a:graphic>
          <a:graphicData uri="http://schemas.openxmlformats.org/drawingml/2006/table">
            <a:tbl>
              <a:tblPr/>
              <a:tblGrid>
                <a:gridCol w="548640"/>
                <a:gridCol w="859536"/>
                <a:gridCol w="859536"/>
                <a:gridCol w="694944"/>
              </a:tblGrid>
              <a:tr h="292608">
                <a:tc>
                  <a:txBody>
                    <a:bodyPr/>
                    <a:lstStyle/>
                    <a:p>
                      <a:pPr algn="l" indent="0" marL="0">
                        <a:buNone/>
                      </a:pPr>
                      <a:r>
                        <a:rPr lang="en-US" sz="1000" b="1" dirty="0">
                          <a:solidFill>
                            <a:srgbClr val="16191D"/>
                          </a:solidFill>
                          <a:latin typeface="Calibri" pitchFamily="34" charset="0"/>
                          <a:ea typeface="Calibri" pitchFamily="34" charset="-122"/>
                          <a:cs typeface="Calibri" pitchFamily="34" charset="-120"/>
                        </a:rPr>
                        <a:t>Kelas</a:t>
                      </a:r>
                      <a:endParaRPr lang="en-US" sz="1000" dirty="0">
                        <a:latin typeface="Calibri" charset="0"/>
                        <a:ea typeface="Calibri" charset="0"/>
                        <a:cs typeface="Calibri" charset="0"/>
                      </a:endParaRPr>
                    </a:p>
                  </a:txBody>
                  <a:tcPr marL="25400" marR="101600" marT="63500" marB="63500" anchor="ctr">
                    <a:lnL w="0" cap="flat" cmpd="sng" algn="ctr">
                      <a:noFill/>
                    </a:lnL>
                    <a:lnR w="0" cap="flat" cmpd="sng" algn="ctr">
                      <a:noFill/>
                    </a:lnR>
                    <a:lnT w="17780" cap="flat" cmpd="sng" algn="ctr">
                      <a:solidFill>
                        <a:srgbClr val="16191D"/>
                      </a:solidFill>
                      <a:prstDash val="solid"/>
                      <a:round/>
                      <a:headEnd type="none" w="med" len="med"/>
                      <a:tailEnd type="none" w="med" len="med"/>
                    </a:lnT>
                    <a:lnB w="10160" cap="flat" cmpd="sng" algn="ctr">
                      <a:solidFill>
                        <a:srgbClr val="16191D"/>
                      </a:solidFill>
                      <a:prstDash val="solid"/>
                      <a:round/>
                      <a:headEnd type="none" w="med" len="med"/>
                      <a:tailEnd type="none" w="med" len="med"/>
                    </a:lnB>
                  </a:tcPr>
                </a:tc>
                <a:tc>
                  <a:txBody>
                    <a:bodyPr/>
                    <a:lstStyle/>
                    <a:p>
                      <a:pPr algn="r" indent="0" marL="0">
                        <a:buNone/>
                      </a:pPr>
                      <a:r>
                        <a:rPr lang="en-US" sz="1000" b="1" dirty="0">
                          <a:solidFill>
                            <a:srgbClr val="16191D"/>
                          </a:solidFill>
                          <a:latin typeface="Calibri" pitchFamily="34" charset="0"/>
                          <a:ea typeface="Calibri" pitchFamily="34" charset="-122"/>
                          <a:cs typeface="Calibri" pitchFamily="34" charset="-120"/>
                        </a:rPr>
                        <a:t>presisi</a:t>
                      </a:r>
                      <a:endParaRPr lang="en-US" sz="1000" dirty="0">
                        <a:latin typeface="Calibri" charset="0"/>
                        <a:ea typeface="Calibri" charset="0"/>
                        <a:cs typeface="Calibri" charset="0"/>
                      </a:endParaRPr>
                    </a:p>
                  </a:txBody>
                  <a:tcPr marL="101600" marR="101600" marT="63500" marB="63500" anchor="ctr">
                    <a:lnL w="0" cap="flat" cmpd="sng" algn="ctr">
                      <a:noFill/>
                    </a:lnL>
                    <a:lnR w="0" cap="flat" cmpd="sng" algn="ctr">
                      <a:noFill/>
                    </a:lnR>
                    <a:lnT w="17780" cap="flat" cmpd="sng" algn="ctr">
                      <a:solidFill>
                        <a:srgbClr val="16191D"/>
                      </a:solidFill>
                      <a:prstDash val="solid"/>
                      <a:round/>
                      <a:headEnd type="none" w="med" len="med"/>
                      <a:tailEnd type="none" w="med" len="med"/>
                    </a:lnT>
                    <a:lnB w="10160" cap="flat" cmpd="sng" algn="ctr">
                      <a:solidFill>
                        <a:srgbClr val="16191D"/>
                      </a:solidFill>
                      <a:prstDash val="solid"/>
                      <a:round/>
                      <a:headEnd type="none" w="med" len="med"/>
                      <a:tailEnd type="none" w="med" len="med"/>
                    </a:lnB>
                  </a:tcPr>
                </a:tc>
                <a:tc>
                  <a:txBody>
                    <a:bodyPr/>
                    <a:lstStyle/>
                    <a:p>
                      <a:pPr algn="r" indent="0" marL="0">
                        <a:buNone/>
                      </a:pPr>
                      <a:r>
                        <a:rPr lang="en-US" sz="1000" b="1" dirty="0">
                          <a:solidFill>
                            <a:srgbClr val="16191D"/>
                          </a:solidFill>
                          <a:latin typeface="Calibri" pitchFamily="34" charset="0"/>
                          <a:ea typeface="Calibri" pitchFamily="34" charset="-122"/>
                          <a:cs typeface="Calibri" pitchFamily="34" charset="-120"/>
                        </a:rPr>
                        <a:t>recall</a:t>
                      </a:r>
                      <a:endParaRPr lang="en-US" sz="1000" dirty="0">
                        <a:latin typeface="Calibri" charset="0"/>
                        <a:ea typeface="Calibri" charset="0"/>
                        <a:cs typeface="Calibri" charset="0"/>
                      </a:endParaRPr>
                    </a:p>
                  </a:txBody>
                  <a:tcPr marL="101600" marR="101600" marT="63500" marB="63500" anchor="ctr">
                    <a:lnL w="0" cap="flat" cmpd="sng" algn="ctr">
                      <a:noFill/>
                    </a:lnL>
                    <a:lnR w="0" cap="flat" cmpd="sng" algn="ctr">
                      <a:noFill/>
                    </a:lnR>
                    <a:lnT w="17780" cap="flat" cmpd="sng" algn="ctr">
                      <a:solidFill>
                        <a:srgbClr val="16191D"/>
                      </a:solidFill>
                      <a:prstDash val="solid"/>
                      <a:round/>
                      <a:headEnd type="none" w="med" len="med"/>
                      <a:tailEnd type="none" w="med" len="med"/>
                    </a:lnT>
                    <a:lnB w="10160" cap="flat" cmpd="sng" algn="ctr">
                      <a:solidFill>
                        <a:srgbClr val="16191D"/>
                      </a:solidFill>
                      <a:prstDash val="solid"/>
                      <a:round/>
                      <a:headEnd type="none" w="med" len="med"/>
                      <a:tailEnd type="none" w="med" len="med"/>
                    </a:lnB>
                  </a:tcPr>
                </a:tc>
                <a:tc>
                  <a:txBody>
                    <a:bodyPr/>
                    <a:lstStyle/>
                    <a:p>
                      <a:pPr algn="r" indent="0" marL="0">
                        <a:buNone/>
                      </a:pPr>
                      <a:r>
                        <a:rPr lang="en-US" sz="1000" b="1" dirty="0">
                          <a:solidFill>
                            <a:srgbClr val="16191D"/>
                          </a:solidFill>
                          <a:latin typeface="Calibri" pitchFamily="34" charset="0"/>
                          <a:ea typeface="Calibri" pitchFamily="34" charset="-122"/>
                          <a:cs typeface="Calibri" pitchFamily="34" charset="-120"/>
                        </a:rPr>
                        <a:t>F1</a:t>
                      </a:r>
                      <a:endParaRPr lang="en-US" sz="1000" dirty="0">
                        <a:latin typeface="Calibri" charset="0"/>
                        <a:ea typeface="Calibri" charset="0"/>
                        <a:cs typeface="Calibri" charset="0"/>
                      </a:endParaRPr>
                    </a:p>
                  </a:txBody>
                  <a:tcPr marL="101600" marR="101600" marT="63500" marB="63500" anchor="ctr">
                    <a:lnL w="0" cap="flat" cmpd="sng" algn="ctr">
                      <a:noFill/>
                    </a:lnL>
                    <a:lnR w="0" cap="flat" cmpd="sng" algn="ctr">
                      <a:noFill/>
                    </a:lnR>
                    <a:lnT w="17780" cap="flat" cmpd="sng" algn="ctr">
                      <a:solidFill>
                        <a:srgbClr val="16191D"/>
                      </a:solidFill>
                      <a:prstDash val="solid"/>
                      <a:round/>
                      <a:headEnd type="none" w="med" len="med"/>
                      <a:tailEnd type="none" w="med" len="med"/>
                    </a:lnT>
                    <a:lnB w="10160" cap="flat" cmpd="sng" algn="ctr">
                      <a:solidFill>
                        <a:srgbClr val="16191D"/>
                      </a:solidFill>
                      <a:prstDash val="solid"/>
                      <a:round/>
                      <a:headEnd type="none" w="med" len="med"/>
                      <a:tailEnd type="none" w="med" len="med"/>
                    </a:lnB>
                  </a:tcPr>
                </a:tc>
              </a:tr>
              <a:tr h="292608">
                <a:tc>
                  <a:txBody>
                    <a:bodyPr/>
                    <a:lstStyle/>
                    <a:p>
                      <a:pPr algn="l" indent="0" marL="0">
                        <a:buNone/>
                      </a:pPr>
                      <a:r>
                        <a:rPr lang="en-US" sz="1000" dirty="0">
                          <a:solidFill>
                            <a:srgbClr val="3A4048"/>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000" dirty="0">
                          <a:solidFill>
                            <a:srgbClr val="3A4048"/>
                          </a:solidFill>
                          <a:latin typeface="Calibri" pitchFamily="34" charset="0"/>
                          <a:ea typeface="Calibri" pitchFamily="34" charset="-122"/>
                          <a:cs typeface="Calibri" pitchFamily="34" charset="-120"/>
                        </a:rPr>
                        <a:t>0,6689</a:t>
                      </a:r>
                      <a:endParaRPr lang="en-US" sz="10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000" dirty="0">
                          <a:solidFill>
                            <a:srgbClr val="3A4048"/>
                          </a:solidFill>
                          <a:latin typeface="Calibri" pitchFamily="34" charset="0"/>
                          <a:ea typeface="Calibri" pitchFamily="34" charset="-122"/>
                          <a:cs typeface="Calibri" pitchFamily="34" charset="-120"/>
                        </a:rPr>
                        <a:t>0,7078</a:t>
                      </a:r>
                      <a:endParaRPr lang="en-US" sz="10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000" dirty="0">
                          <a:solidFill>
                            <a:srgbClr val="3A4048"/>
                          </a:solidFill>
                          <a:latin typeface="Calibri" pitchFamily="34" charset="0"/>
                          <a:ea typeface="Calibri" pitchFamily="34" charset="-122"/>
                          <a:cs typeface="Calibri" pitchFamily="34" charset="-120"/>
                        </a:rPr>
                        <a:t>0,6878</a:t>
                      </a:r>
                      <a:endParaRPr lang="en-US" sz="10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292608">
                <a:tc>
                  <a:txBody>
                    <a:bodyPr/>
                    <a:lstStyle/>
                    <a:p>
                      <a:pPr algn="l" indent="0" marL="0">
                        <a:buNone/>
                      </a:pPr>
                      <a:r>
                        <a:rPr lang="en-US" sz="1000" dirty="0">
                          <a:solidFill>
                            <a:srgbClr val="3A4048"/>
                          </a:solidFill>
                          <a:latin typeface="Calibri" pitchFamily="34" charset="0"/>
                          <a:ea typeface="Calibri" pitchFamily="34" charset="-122"/>
                          <a:cs typeface="Calibri" pitchFamily="34" charset="-120"/>
                        </a:rPr>
                        <a:t>2</a:t>
                      </a:r>
                      <a:endParaRPr lang="en-US" sz="100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000" dirty="0">
                          <a:solidFill>
                            <a:srgbClr val="3A4048"/>
                          </a:solidFill>
                          <a:latin typeface="Calibri" pitchFamily="34" charset="0"/>
                          <a:ea typeface="Calibri" pitchFamily="34" charset="-122"/>
                          <a:cs typeface="Calibri" pitchFamily="34" charset="-120"/>
                        </a:rPr>
                        <a:t>0,6775</a:t>
                      </a:r>
                      <a:endParaRPr lang="en-US" sz="10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000" dirty="0">
                          <a:solidFill>
                            <a:srgbClr val="3A4048"/>
                          </a:solidFill>
                          <a:latin typeface="Calibri" pitchFamily="34" charset="0"/>
                          <a:ea typeface="Calibri" pitchFamily="34" charset="-122"/>
                          <a:cs typeface="Calibri" pitchFamily="34" charset="-120"/>
                        </a:rPr>
                        <a:t>0,5909</a:t>
                      </a:r>
                      <a:endParaRPr lang="en-US" sz="10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000" dirty="0">
                          <a:solidFill>
                            <a:srgbClr val="3A4048"/>
                          </a:solidFill>
                          <a:latin typeface="Calibri" pitchFamily="34" charset="0"/>
                          <a:ea typeface="Calibri" pitchFamily="34" charset="-122"/>
                          <a:cs typeface="Calibri" pitchFamily="34" charset="-120"/>
                        </a:rPr>
                        <a:t>0,6313</a:t>
                      </a:r>
                      <a:endParaRPr lang="en-US" sz="10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292608">
                <a:tc>
                  <a:txBody>
                    <a:bodyPr/>
                    <a:lstStyle/>
                    <a:p>
                      <a:pPr algn="l" indent="0" marL="0">
                        <a:buNone/>
                      </a:pPr>
                      <a:r>
                        <a:rPr lang="en-US" sz="1000" b="1" dirty="0">
                          <a:solidFill>
                            <a:srgbClr val="A8442A"/>
                          </a:solidFill>
                          <a:latin typeface="Calibri" pitchFamily="34" charset="0"/>
                          <a:ea typeface="Calibri" pitchFamily="34" charset="-122"/>
                          <a:cs typeface="Calibri" pitchFamily="34" charset="-120"/>
                        </a:rPr>
                        <a:t>3</a:t>
                      </a:r>
                      <a:endParaRPr lang="en-US" sz="100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000" dirty="0">
                          <a:solidFill>
                            <a:srgbClr val="3A4048"/>
                          </a:solidFill>
                          <a:latin typeface="Calibri" pitchFamily="34" charset="0"/>
                          <a:ea typeface="Calibri" pitchFamily="34" charset="-122"/>
                          <a:cs typeface="Calibri" pitchFamily="34" charset="-120"/>
                        </a:rPr>
                        <a:t>0,2076</a:t>
                      </a:r>
                      <a:endParaRPr lang="en-US" sz="10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000" b="1" dirty="0">
                          <a:solidFill>
                            <a:srgbClr val="A8442A"/>
                          </a:solidFill>
                          <a:latin typeface="Calibri" pitchFamily="34" charset="0"/>
                          <a:ea typeface="Calibri" pitchFamily="34" charset="-122"/>
                          <a:cs typeface="Calibri" pitchFamily="34" charset="-120"/>
                        </a:rPr>
                        <a:t>0,3847</a:t>
                      </a:r>
                      <a:endParaRPr lang="en-US" sz="10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000" dirty="0">
                          <a:solidFill>
                            <a:srgbClr val="3A4048"/>
                          </a:solidFill>
                          <a:latin typeface="Calibri" pitchFamily="34" charset="0"/>
                          <a:ea typeface="Calibri" pitchFamily="34" charset="-122"/>
                          <a:cs typeface="Calibri" pitchFamily="34" charset="-120"/>
                        </a:rPr>
                        <a:t>0,2696</a:t>
                      </a:r>
                      <a:endParaRPr lang="en-US" sz="10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292608">
                <a:tc>
                  <a:txBody>
                    <a:bodyPr/>
                    <a:lstStyle/>
                    <a:p>
                      <a:pPr algn="l" indent="0" marL="0">
                        <a:buNone/>
                      </a:pPr>
                      <a:r>
                        <a:rPr lang="en-US" sz="1000" b="1" dirty="0">
                          <a:solidFill>
                            <a:srgbClr val="A8442A"/>
                          </a:solidFill>
                          <a:latin typeface="Calibri" pitchFamily="34" charset="0"/>
                          <a:ea typeface="Calibri" pitchFamily="34" charset="-122"/>
                          <a:cs typeface="Calibri" pitchFamily="34" charset="-120"/>
                        </a:rPr>
                        <a:t>4</a:t>
                      </a:r>
                      <a:endParaRPr lang="en-US" sz="100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17780" cap="flat" cmpd="sng" algn="ctr">
                      <a:solidFill>
                        <a:srgbClr val="16191D"/>
                      </a:solidFill>
                      <a:prstDash val="solid"/>
                      <a:round/>
                      <a:headEnd type="none" w="med" len="med"/>
                      <a:tailEnd type="none" w="med" len="med"/>
                    </a:lnB>
                  </a:tcPr>
                </a:tc>
                <a:tc>
                  <a:txBody>
                    <a:bodyPr/>
                    <a:lstStyle/>
                    <a:p>
                      <a:pPr algn="r" indent="0" marL="0">
                        <a:buNone/>
                      </a:pPr>
                      <a:r>
                        <a:rPr lang="en-US" sz="1000" dirty="0">
                          <a:solidFill>
                            <a:srgbClr val="3A4048"/>
                          </a:solidFill>
                          <a:latin typeface="Calibri" pitchFamily="34" charset="0"/>
                          <a:ea typeface="Calibri" pitchFamily="34" charset="-122"/>
                          <a:cs typeface="Calibri" pitchFamily="34" charset="-120"/>
                        </a:rPr>
                        <a:t>0,1753</a:t>
                      </a:r>
                      <a:endParaRPr lang="en-US" sz="10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17780" cap="flat" cmpd="sng" algn="ctr">
                      <a:solidFill>
                        <a:srgbClr val="16191D"/>
                      </a:solidFill>
                      <a:prstDash val="solid"/>
                      <a:round/>
                      <a:headEnd type="none" w="med" len="med"/>
                      <a:tailEnd type="none" w="med" len="med"/>
                    </a:lnB>
                  </a:tcPr>
                </a:tc>
                <a:tc>
                  <a:txBody>
                    <a:bodyPr/>
                    <a:lstStyle/>
                    <a:p>
                      <a:pPr algn="r" indent="0" marL="0">
                        <a:buNone/>
                      </a:pPr>
                      <a:r>
                        <a:rPr lang="en-US" sz="1000" b="1" dirty="0">
                          <a:solidFill>
                            <a:srgbClr val="A8442A"/>
                          </a:solidFill>
                          <a:latin typeface="Calibri" pitchFamily="34" charset="0"/>
                          <a:ea typeface="Calibri" pitchFamily="34" charset="-122"/>
                          <a:cs typeface="Calibri" pitchFamily="34" charset="-120"/>
                        </a:rPr>
                        <a:t>0,2968</a:t>
                      </a:r>
                      <a:endParaRPr lang="en-US" sz="10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17780" cap="flat" cmpd="sng" algn="ctr">
                      <a:solidFill>
                        <a:srgbClr val="16191D"/>
                      </a:solidFill>
                      <a:prstDash val="solid"/>
                      <a:round/>
                      <a:headEnd type="none" w="med" len="med"/>
                      <a:tailEnd type="none" w="med" len="med"/>
                    </a:lnB>
                  </a:tcPr>
                </a:tc>
                <a:tc>
                  <a:txBody>
                    <a:bodyPr/>
                    <a:lstStyle/>
                    <a:p>
                      <a:pPr algn="r" indent="0" marL="0">
                        <a:buNone/>
                      </a:pPr>
                      <a:r>
                        <a:rPr lang="en-US" sz="1000" dirty="0">
                          <a:solidFill>
                            <a:srgbClr val="3A4048"/>
                          </a:solidFill>
                          <a:latin typeface="Calibri" pitchFamily="34" charset="0"/>
                          <a:ea typeface="Calibri" pitchFamily="34" charset="-122"/>
                          <a:cs typeface="Calibri" pitchFamily="34" charset="-120"/>
                        </a:rPr>
                        <a:t>0,2204</a:t>
                      </a:r>
                      <a:endParaRPr lang="en-US" sz="10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17780" cap="flat" cmpd="sng" algn="ctr">
                      <a:solidFill>
                        <a:srgbClr val="16191D"/>
                      </a:solidFill>
                      <a:prstDash val="solid"/>
                      <a:round/>
                      <a:headEnd type="none" w="med" len="med"/>
                      <a:tailEnd type="none" w="med" len="med"/>
                    </a:lnB>
                  </a:tcPr>
                </a:tc>
              </a:tr>
            </a:tbl>
          </a:graphicData>
        </a:graphic>
      </p:graphicFrame>
      <p:sp>
        <p:nvSpPr>
          <p:cNvPr id="103" name="Text 100"/>
          <p:cNvSpPr/>
          <p:nvPr/>
        </p:nvSpPr>
        <p:spPr>
          <a:xfrm>
            <a:off x="8385048" y="3858768"/>
            <a:ext cx="1630970" cy="292608"/>
          </a:xfrm>
          <a:prstGeom prst="rect">
            <a:avLst/>
          </a:prstGeom>
          <a:noFill/>
          <a:ln/>
        </p:spPr>
        <p:txBody>
          <a:bodyPr wrap="square" lIns="0" tIns="0" rIns="0" bIns="0" rtlCol="0" anchor="ctr"/>
          <a:lstStyle/>
          <a:p>
            <a:pPr indent="0" marL="0">
              <a:buNone/>
            </a:pPr>
            <a:r>
              <a:rPr lang="en-US" sz="950" dirty="0">
                <a:solidFill>
                  <a:srgbClr val="3A4048"/>
                </a:solidFill>
                <a:latin typeface="Calibri" pitchFamily="34" charset="0"/>
                <a:ea typeface="Calibri" pitchFamily="34" charset="-122"/>
                <a:cs typeface="Calibri" pitchFamily="34" charset="-120"/>
              </a:rPr>
              <a:t>Prediksi kelas 3 / aktual</a:t>
            </a:r>
            <a:endParaRPr lang="en-US" sz="950" dirty="0"/>
          </a:p>
        </p:txBody>
      </p:sp>
      <p:sp>
        <p:nvSpPr>
          <p:cNvPr id="104" name="Text 101"/>
          <p:cNvSpPr/>
          <p:nvPr/>
        </p:nvSpPr>
        <p:spPr>
          <a:xfrm>
            <a:off x="10016018" y="3858768"/>
            <a:ext cx="1334430" cy="292608"/>
          </a:xfrm>
          <a:prstGeom prst="rect">
            <a:avLst/>
          </a:prstGeom>
          <a:noFill/>
          <a:ln/>
        </p:spPr>
        <p:txBody>
          <a:bodyPr wrap="square" lIns="0" tIns="0" rIns="0" bIns="0" rtlCol="0" anchor="ctr"/>
          <a:lstStyle/>
          <a:p>
            <a:pPr algn="r" indent="0" marL="0">
              <a:buNone/>
            </a:pPr>
            <a:r>
              <a:rPr lang="en-US" sz="950" b="1" dirty="0">
                <a:solidFill>
                  <a:srgbClr val="16191D"/>
                </a:solidFill>
                <a:latin typeface="Calibri" pitchFamily="34" charset="0"/>
                <a:ea typeface="Calibri" pitchFamily="34" charset="-122"/>
                <a:cs typeface="Calibri" pitchFamily="34" charset="-120"/>
              </a:rPr>
              <a:t>6.596 / 3.559</a:t>
            </a:r>
            <a:endParaRPr lang="en-US" sz="950" dirty="0"/>
          </a:p>
        </p:txBody>
      </p:sp>
      <p:sp>
        <p:nvSpPr>
          <p:cNvPr id="105" name="Shape 102"/>
          <p:cNvSpPr/>
          <p:nvPr/>
        </p:nvSpPr>
        <p:spPr>
          <a:xfrm>
            <a:off x="8385048" y="4151376"/>
            <a:ext cx="2965399" cy="0"/>
          </a:xfrm>
          <a:prstGeom prst="line">
            <a:avLst/>
          </a:prstGeom>
          <a:noFill/>
          <a:ln w="7620">
            <a:solidFill>
              <a:srgbClr val="DCD8D1"/>
            </a:solidFill>
            <a:prstDash val="solid"/>
          </a:ln>
        </p:spPr>
      </p:sp>
      <p:sp>
        <p:nvSpPr>
          <p:cNvPr id="106" name="Text 103"/>
          <p:cNvSpPr/>
          <p:nvPr/>
        </p:nvSpPr>
        <p:spPr>
          <a:xfrm>
            <a:off x="8385048" y="4151376"/>
            <a:ext cx="1630970" cy="292608"/>
          </a:xfrm>
          <a:prstGeom prst="rect">
            <a:avLst/>
          </a:prstGeom>
          <a:noFill/>
          <a:ln/>
        </p:spPr>
        <p:txBody>
          <a:bodyPr wrap="square" lIns="0" tIns="0" rIns="0" bIns="0" rtlCol="0" anchor="ctr"/>
          <a:lstStyle/>
          <a:p>
            <a:pPr indent="0" marL="0">
              <a:buNone/>
            </a:pPr>
            <a:r>
              <a:rPr lang="en-US" sz="950" dirty="0">
                <a:solidFill>
                  <a:srgbClr val="3A4048"/>
                </a:solidFill>
                <a:latin typeface="Calibri" pitchFamily="34" charset="0"/>
                <a:ea typeface="Calibri" pitchFamily="34" charset="-122"/>
                <a:cs typeface="Calibri" pitchFamily="34" charset="-120"/>
              </a:rPr>
              <a:t>Prediksi kelas 4 / aktual</a:t>
            </a:r>
            <a:endParaRPr lang="en-US" sz="950" dirty="0"/>
          </a:p>
        </p:txBody>
      </p:sp>
      <p:sp>
        <p:nvSpPr>
          <p:cNvPr id="107" name="Text 104"/>
          <p:cNvSpPr/>
          <p:nvPr/>
        </p:nvSpPr>
        <p:spPr>
          <a:xfrm>
            <a:off x="10016018" y="4151376"/>
            <a:ext cx="1334430" cy="292608"/>
          </a:xfrm>
          <a:prstGeom prst="rect">
            <a:avLst/>
          </a:prstGeom>
          <a:noFill/>
          <a:ln/>
        </p:spPr>
        <p:txBody>
          <a:bodyPr wrap="square" lIns="0" tIns="0" rIns="0" bIns="0" rtlCol="0" anchor="ctr"/>
          <a:lstStyle/>
          <a:p>
            <a:pPr algn="r" indent="0" marL="0">
              <a:buNone/>
            </a:pPr>
            <a:r>
              <a:rPr lang="en-US" sz="950" b="1" dirty="0">
                <a:solidFill>
                  <a:srgbClr val="16191D"/>
                </a:solidFill>
                <a:latin typeface="Calibri" pitchFamily="34" charset="0"/>
                <a:ea typeface="Calibri" pitchFamily="34" charset="-122"/>
                <a:cs typeface="Calibri" pitchFamily="34" charset="-120"/>
              </a:rPr>
              <a:t>1.512 / 893</a:t>
            </a:r>
            <a:endParaRPr lang="en-US" sz="950" dirty="0"/>
          </a:p>
        </p:txBody>
      </p:sp>
      <p:sp>
        <p:nvSpPr>
          <p:cNvPr id="108" name="Shape 105"/>
          <p:cNvSpPr/>
          <p:nvPr/>
        </p:nvSpPr>
        <p:spPr>
          <a:xfrm>
            <a:off x="8385048" y="4443984"/>
            <a:ext cx="2965399" cy="0"/>
          </a:xfrm>
          <a:prstGeom prst="line">
            <a:avLst/>
          </a:prstGeom>
          <a:noFill/>
          <a:ln w="7620">
            <a:solidFill>
              <a:srgbClr val="DCD8D1"/>
            </a:solidFill>
            <a:prstDash val="solid"/>
          </a:ln>
        </p:spPr>
      </p:sp>
      <p:sp>
        <p:nvSpPr>
          <p:cNvPr id="109" name="Text 106"/>
          <p:cNvSpPr/>
          <p:nvPr/>
        </p:nvSpPr>
        <p:spPr>
          <a:xfrm>
            <a:off x="8385048" y="4443984"/>
            <a:ext cx="1630970" cy="292608"/>
          </a:xfrm>
          <a:prstGeom prst="rect">
            <a:avLst/>
          </a:prstGeom>
          <a:noFill/>
          <a:ln/>
        </p:spPr>
        <p:txBody>
          <a:bodyPr wrap="square" lIns="0" tIns="0" rIns="0" bIns="0" rtlCol="0" anchor="ctr"/>
          <a:lstStyle/>
          <a:p>
            <a:pPr indent="0" marL="0">
              <a:buNone/>
            </a:pPr>
            <a:r>
              <a:rPr lang="en-US" sz="950" dirty="0">
                <a:solidFill>
                  <a:srgbClr val="3A4048"/>
                </a:solidFill>
                <a:latin typeface="Calibri" pitchFamily="34" charset="0"/>
                <a:ea typeface="Calibri" pitchFamily="34" charset="-122"/>
                <a:cs typeface="Calibri" pitchFamily="34" charset="-120"/>
              </a:rPr>
              <a:t>Kelas 4 tertangkap benar</a:t>
            </a:r>
            <a:endParaRPr lang="en-US" sz="950" dirty="0"/>
          </a:p>
        </p:txBody>
      </p:sp>
      <p:sp>
        <p:nvSpPr>
          <p:cNvPr id="110" name="Text 107"/>
          <p:cNvSpPr/>
          <p:nvPr/>
        </p:nvSpPr>
        <p:spPr>
          <a:xfrm>
            <a:off x="10016018" y="4443984"/>
            <a:ext cx="1334430" cy="292608"/>
          </a:xfrm>
          <a:prstGeom prst="rect">
            <a:avLst/>
          </a:prstGeom>
          <a:noFill/>
          <a:ln/>
        </p:spPr>
        <p:txBody>
          <a:bodyPr wrap="square" lIns="0" tIns="0" rIns="0" bIns="0" rtlCol="0" anchor="ctr"/>
          <a:lstStyle/>
          <a:p>
            <a:pPr algn="r" indent="0" marL="0">
              <a:buNone/>
            </a:pPr>
            <a:r>
              <a:rPr lang="en-US" sz="950" b="1" dirty="0">
                <a:solidFill>
                  <a:srgbClr val="16191D"/>
                </a:solidFill>
                <a:latin typeface="Calibri" pitchFamily="34" charset="0"/>
                <a:ea typeface="Calibri" pitchFamily="34" charset="-122"/>
                <a:cs typeface="Calibri" pitchFamily="34" charset="-120"/>
              </a:rPr>
              <a:t>265 dari 893</a:t>
            </a:r>
            <a:endParaRPr lang="en-US" sz="950" dirty="0"/>
          </a:p>
        </p:txBody>
      </p:sp>
      <p:sp>
        <p:nvSpPr>
          <p:cNvPr id="111" name="Text 108"/>
          <p:cNvSpPr/>
          <p:nvPr/>
        </p:nvSpPr>
        <p:spPr>
          <a:xfrm>
            <a:off x="8385048" y="4864608"/>
            <a:ext cx="2965399" cy="1737360"/>
          </a:xfrm>
          <a:prstGeom prst="rect">
            <a:avLst/>
          </a:prstGeom>
          <a:noFill/>
          <a:ln/>
        </p:spPr>
        <p:txBody>
          <a:bodyPr wrap="square" lIns="0" tIns="0" rIns="0" bIns="0" rtlCol="0" anchor="t"/>
          <a:lstStyle/>
          <a:p>
            <a:pPr algn="l" indent="0" marL="0">
              <a:lnSpc>
                <a:spcPts val="1283"/>
              </a:lnSpc>
              <a:buNone/>
            </a:pPr>
            <a:r>
              <a:rPr lang="en-US" sz="950" dirty="0">
                <a:solidFill>
                  <a:srgbClr val="3A4048"/>
                </a:solidFill>
                <a:latin typeface="Calibri" pitchFamily="34" charset="0"/>
                <a:ea typeface="Calibri" pitchFamily="34" charset="-122"/>
                <a:cs typeface="Calibri" pitchFamily="34" charset="-120"/>
              </a:rPr>
              <a:t>Menebak berlebih ke bawah skala disengaja: salah tebak 3 untuk orang kelas 2 berbiaya 1, gagal menangkap kelas 4 berbiaya 9. Kalibrasi diperiksa lewat diagram reliabilitas dan sudah dekat diagonal, jadi Platt maupun isotonik tidak dipakai.</a:t>
            </a:r>
            <a:endParaRPr lang="en-US" sz="950" dirty="0"/>
          </a:p>
        </p:txBody>
      </p:sp>
      <p:sp>
        <p:nvSpPr>
          <p:cNvPr id="113" name="Shape 109"/>
          <p:cNvSpPr/>
          <p:nvPr/>
        </p:nvSpPr>
        <p:spPr>
          <a:xfrm>
            <a:off x="640080" y="6400800"/>
            <a:ext cx="1572768" cy="45720"/>
          </a:xfrm>
          <a:prstGeom prst="rect">
            <a:avLst/>
          </a:prstGeom>
          <a:solidFill>
            <a:srgbClr val="DCD8D1"/>
          </a:solidFill>
          <a:ln/>
        </p:spPr>
      </p:sp>
      <p:sp>
        <p:nvSpPr>
          <p:cNvPr id="114" name="Text 110"/>
          <p:cNvSpPr/>
          <p:nvPr/>
        </p:nvSpPr>
        <p:spPr>
          <a:xfrm>
            <a:off x="640080"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I · Latar &amp; data</a:t>
            </a:r>
            <a:endParaRPr lang="en-US" sz="850" dirty="0"/>
          </a:p>
        </p:txBody>
      </p:sp>
      <p:sp>
        <p:nvSpPr>
          <p:cNvPr id="115" name="Shape 111"/>
          <p:cNvSpPr/>
          <p:nvPr/>
        </p:nvSpPr>
        <p:spPr>
          <a:xfrm>
            <a:off x="2304288" y="6400800"/>
            <a:ext cx="1572768" cy="45720"/>
          </a:xfrm>
          <a:prstGeom prst="rect">
            <a:avLst/>
          </a:prstGeom>
          <a:solidFill>
            <a:srgbClr val="DCD8D1"/>
          </a:solidFill>
          <a:ln/>
        </p:spPr>
      </p:sp>
      <p:sp>
        <p:nvSpPr>
          <p:cNvPr id="116" name="Text 112"/>
          <p:cNvSpPr/>
          <p:nvPr/>
        </p:nvSpPr>
        <p:spPr>
          <a:xfrm>
            <a:off x="2304288"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II · EDA</a:t>
            </a:r>
            <a:endParaRPr lang="en-US" sz="850" dirty="0"/>
          </a:p>
        </p:txBody>
      </p:sp>
      <p:sp>
        <p:nvSpPr>
          <p:cNvPr id="117" name="Shape 113"/>
          <p:cNvSpPr/>
          <p:nvPr/>
        </p:nvSpPr>
        <p:spPr>
          <a:xfrm>
            <a:off x="3968496" y="6400800"/>
            <a:ext cx="1572768" cy="45720"/>
          </a:xfrm>
          <a:prstGeom prst="rect">
            <a:avLst/>
          </a:prstGeom>
          <a:solidFill>
            <a:srgbClr val="DCD8D1"/>
          </a:solidFill>
          <a:ln/>
        </p:spPr>
      </p:sp>
      <p:sp>
        <p:nvSpPr>
          <p:cNvPr id="118" name="Text 114"/>
          <p:cNvSpPr/>
          <p:nvPr/>
        </p:nvSpPr>
        <p:spPr>
          <a:xfrm>
            <a:off x="3968496"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III · Pipeline</a:t>
            </a:r>
            <a:endParaRPr lang="en-US" sz="850" dirty="0"/>
          </a:p>
        </p:txBody>
      </p:sp>
      <p:sp>
        <p:nvSpPr>
          <p:cNvPr id="119" name="Shape 115"/>
          <p:cNvSpPr/>
          <p:nvPr/>
        </p:nvSpPr>
        <p:spPr>
          <a:xfrm>
            <a:off x="5632704" y="6400800"/>
            <a:ext cx="1572768" cy="45720"/>
          </a:xfrm>
          <a:prstGeom prst="rect">
            <a:avLst/>
          </a:prstGeom>
          <a:solidFill>
            <a:srgbClr val="DCD8D1"/>
          </a:solidFill>
          <a:ln/>
        </p:spPr>
      </p:sp>
      <p:sp>
        <p:nvSpPr>
          <p:cNvPr id="120" name="Text 116"/>
          <p:cNvSpPr/>
          <p:nvPr/>
        </p:nvSpPr>
        <p:spPr>
          <a:xfrm>
            <a:off x="5632704"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IV · Disiplin estimasi</a:t>
            </a:r>
            <a:endParaRPr lang="en-US" sz="850" dirty="0"/>
          </a:p>
        </p:txBody>
      </p:sp>
      <p:sp>
        <p:nvSpPr>
          <p:cNvPr id="121" name="Shape 117"/>
          <p:cNvSpPr/>
          <p:nvPr/>
        </p:nvSpPr>
        <p:spPr>
          <a:xfrm>
            <a:off x="7296912" y="6400800"/>
            <a:ext cx="1572768" cy="45720"/>
          </a:xfrm>
          <a:prstGeom prst="rect">
            <a:avLst/>
          </a:prstGeom>
          <a:solidFill>
            <a:srgbClr val="A8442A"/>
          </a:solidFill>
          <a:ln/>
        </p:spPr>
      </p:sp>
      <p:sp>
        <p:nvSpPr>
          <p:cNvPr id="122" name="Text 118"/>
          <p:cNvSpPr/>
          <p:nvPr/>
        </p:nvSpPr>
        <p:spPr>
          <a:xfrm>
            <a:off x="7296912" y="6464808"/>
            <a:ext cx="1572768" cy="201168"/>
          </a:xfrm>
          <a:prstGeom prst="rect">
            <a:avLst/>
          </a:prstGeom>
          <a:noFill/>
          <a:ln/>
        </p:spPr>
        <p:txBody>
          <a:bodyPr wrap="square" lIns="0" tIns="0" rIns="0" bIns="0" rtlCol="0" anchor="ctr"/>
          <a:lstStyle/>
          <a:p>
            <a:pPr indent="0" marL="0">
              <a:buNone/>
            </a:pPr>
            <a:r>
              <a:rPr lang="en-US" sz="850" b="1" dirty="0">
                <a:solidFill>
                  <a:srgbClr val="16191D"/>
                </a:solidFill>
                <a:latin typeface="Calibri" pitchFamily="34" charset="0"/>
                <a:ea typeface="Calibri" pitchFamily="34" charset="-122"/>
                <a:cs typeface="Calibri" pitchFamily="34" charset="-120"/>
              </a:rPr>
              <a:t>V · Hasil &amp; plafon</a:t>
            </a:r>
            <a:endParaRPr lang="en-US" sz="850" dirty="0"/>
          </a:p>
        </p:txBody>
      </p:sp>
      <p:sp>
        <p:nvSpPr>
          <p:cNvPr id="123" name="Shape 119"/>
          <p:cNvSpPr/>
          <p:nvPr/>
        </p:nvSpPr>
        <p:spPr>
          <a:xfrm>
            <a:off x="8961120" y="6400800"/>
            <a:ext cx="1572768" cy="45720"/>
          </a:xfrm>
          <a:prstGeom prst="rect">
            <a:avLst/>
          </a:prstGeom>
          <a:solidFill>
            <a:srgbClr val="DCD8D1"/>
          </a:solidFill>
          <a:ln/>
        </p:spPr>
      </p:sp>
      <p:sp>
        <p:nvSpPr>
          <p:cNvPr id="124" name="Text 120"/>
          <p:cNvSpPr/>
          <p:nvPr/>
        </p:nvSpPr>
        <p:spPr>
          <a:xfrm>
            <a:off x="8961120"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VI · Reproduksi &amp; produk</a:t>
            </a:r>
            <a:endParaRPr lang="en-US" sz="850" dirty="0"/>
          </a:p>
        </p:txBody>
      </p:sp>
      <p:sp>
        <p:nvSpPr>
          <p:cNvPr id="125" name="Text 121"/>
          <p:cNvSpPr/>
          <p:nvPr/>
        </p:nvSpPr>
        <p:spPr>
          <a:xfrm>
            <a:off x="10637215" y="6382512"/>
            <a:ext cx="914400" cy="274320"/>
          </a:xfrm>
          <a:prstGeom prst="rect">
            <a:avLst/>
          </a:prstGeom>
          <a:noFill/>
          <a:ln/>
        </p:spPr>
        <p:txBody>
          <a:bodyPr wrap="square" lIns="0" tIns="0" rIns="0" bIns="0" rtlCol="0" anchor="ctr"/>
          <a:lstStyle/>
          <a:p>
            <a:pPr algn="r" indent="0" marL="0">
              <a:buNone/>
            </a:pPr>
            <a:r>
              <a:rPr lang="en-US" sz="900" b="1" dirty="0">
                <a:solidFill>
                  <a:srgbClr val="9AA0A7"/>
                </a:solidFill>
                <a:latin typeface="Calibri" pitchFamily="34" charset="0"/>
                <a:ea typeface="Calibri" pitchFamily="34" charset="-122"/>
                <a:cs typeface="Calibri"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84048"/>
            <a:ext cx="10911535" cy="530352"/>
          </a:xfrm>
          <a:prstGeom prst="rect">
            <a:avLst/>
          </a:prstGeom>
          <a:noFill/>
          <a:ln/>
        </p:spPr>
        <p:txBody>
          <a:bodyPr wrap="square" lIns="0" tIns="0" rIns="0" bIns="0" rtlCol="0" anchor="t"/>
          <a:lstStyle/>
          <a:p>
            <a:pPr indent="0" marL="0">
              <a:buNone/>
            </a:pPr>
            <a:r>
              <a:rPr lang="en-US" sz="2400" b="1" dirty="0">
                <a:solidFill>
                  <a:srgbClr val="16191D"/>
                </a:solidFill>
                <a:latin typeface="Cambria" pitchFamily="34" charset="0"/>
                <a:ea typeface="Cambria" pitchFamily="34" charset="-122"/>
                <a:cs typeface="Cambria" pitchFamily="34" charset="-120"/>
              </a:rPr>
              <a:t>Tak ada subkelompok tertinggal; 0,484 berarti kesepakatan sedang.</a:t>
            </a:r>
            <a:endParaRPr lang="en-US" sz="2400" dirty="0"/>
          </a:p>
        </p:txBody>
      </p:sp>
      <p:sp>
        <p:nvSpPr>
          <p:cNvPr id="3" name="Text 1"/>
          <p:cNvSpPr/>
          <p:nvPr/>
        </p:nvSpPr>
        <p:spPr>
          <a:xfrm>
            <a:off x="640080" y="896112"/>
            <a:ext cx="10911535" cy="310896"/>
          </a:xfrm>
          <a:prstGeom prst="rect">
            <a:avLst/>
          </a:prstGeom>
          <a:noFill/>
          <a:ln/>
        </p:spPr>
        <p:txBody>
          <a:bodyPr wrap="square" lIns="0" tIns="0" rIns="0" bIns="0" rtlCol="0" anchor="t"/>
          <a:lstStyle/>
          <a:p>
            <a:pPr indent="0" marL="0">
              <a:buNone/>
            </a:pPr>
            <a:r>
              <a:rPr lang="en-US" sz="1250" dirty="0">
                <a:solidFill>
                  <a:srgbClr val="6E747C"/>
                </a:solidFill>
                <a:latin typeface="Calibri" pitchFamily="34" charset="0"/>
                <a:ea typeface="Calibri" pitchFamily="34" charset="-122"/>
                <a:cs typeface="Calibri" pitchFamily="34" charset="-120"/>
              </a:rPr>
              <a:t>Galat per subkelompok, fitur paling berpengaruh, dan dua penggaris untuk membaca skor.</a:t>
            </a:r>
            <a:endParaRPr lang="en-US" sz="1250" dirty="0"/>
          </a:p>
        </p:txBody>
      </p:sp>
      <p:sp>
        <p:nvSpPr>
          <p:cNvPr id="4" name="Shape 2"/>
          <p:cNvSpPr/>
          <p:nvPr/>
        </p:nvSpPr>
        <p:spPr>
          <a:xfrm>
            <a:off x="640080" y="1371600"/>
            <a:ext cx="3484778" cy="4846320"/>
          </a:xfrm>
          <a:prstGeom prst="roundRect">
            <a:avLst>
              <a:gd name="adj" fmla="val 1574"/>
            </a:avLst>
          </a:prstGeom>
          <a:solidFill>
            <a:srgbClr val="F4F1EC"/>
          </a:solidFill>
          <a:ln w="9525">
            <a:solidFill>
              <a:srgbClr val="DCD8D1"/>
            </a:solidFill>
            <a:prstDash val="solid"/>
          </a:ln>
        </p:spPr>
      </p:sp>
      <p:sp>
        <p:nvSpPr>
          <p:cNvPr id="5" name="Text 3"/>
          <p:cNvSpPr/>
          <p:nvPr/>
        </p:nvSpPr>
        <p:spPr>
          <a:xfrm>
            <a:off x="841248" y="1499616"/>
            <a:ext cx="3082442" cy="201168"/>
          </a:xfrm>
          <a:prstGeom prst="rect">
            <a:avLst/>
          </a:prstGeom>
          <a:noFill/>
          <a:ln/>
        </p:spPr>
        <p:txBody>
          <a:bodyPr wrap="square" lIns="0" tIns="0" rIns="0" bIns="0" rtlCol="0" anchor="ctr"/>
          <a:lstStyle/>
          <a:p>
            <a:pPr indent="0" marL="0">
              <a:buNone/>
            </a:pPr>
            <a:r>
              <a:rPr lang="en-US" sz="850" b="1" spc="120" kern="0" dirty="0">
                <a:solidFill>
                  <a:srgbClr val="6E747C"/>
                </a:solidFill>
                <a:latin typeface="Calibri" pitchFamily="34" charset="0"/>
                <a:ea typeface="Calibri" pitchFamily="34" charset="-122"/>
                <a:cs typeface="Calibri" pitchFamily="34" charset="-120"/>
              </a:rPr>
              <a:t>10.5 · GALAT PER SUBKELOMPOK</a:t>
            </a:r>
            <a:endParaRPr lang="en-US" sz="850" dirty="0"/>
          </a:p>
        </p:txBody>
      </p:sp>
      <p:sp>
        <p:nvSpPr>
          <p:cNvPr id="6" name="Text 4"/>
          <p:cNvSpPr/>
          <p:nvPr/>
        </p:nvSpPr>
        <p:spPr>
          <a:xfrm>
            <a:off x="841248" y="1700784"/>
            <a:ext cx="3082442" cy="475488"/>
          </a:xfrm>
          <a:prstGeom prst="rect">
            <a:avLst/>
          </a:prstGeom>
          <a:noFill/>
          <a:ln/>
        </p:spPr>
        <p:txBody>
          <a:bodyPr wrap="square" lIns="0" tIns="0" rIns="0" bIns="0" rtlCol="0" anchor="t"/>
          <a:lstStyle/>
          <a:p>
            <a:pPr indent="0" marL="0">
              <a:lnSpc>
                <a:spcPts val="1600"/>
              </a:lnSpc>
              <a:buNone/>
            </a:pPr>
            <a:r>
              <a:rPr lang="en-US" sz="1300" b="1" dirty="0">
                <a:solidFill>
                  <a:srgbClr val="16191D"/>
                </a:solidFill>
                <a:latin typeface="Cambria" pitchFamily="34" charset="0"/>
                <a:ea typeface="Cambria" pitchFamily="34" charset="-122"/>
                <a:cs typeface="Cambria" pitchFamily="34" charset="-120"/>
              </a:rPr>
              <a:t>QWK stabil antar kelompok</a:t>
            </a:r>
            <a:endParaRPr lang="en-US" sz="1300" dirty="0"/>
          </a:p>
        </p:txBody>
      </p:sp>
      <p:sp>
        <p:nvSpPr>
          <p:cNvPr id="7" name="Text 5"/>
          <p:cNvSpPr/>
          <p:nvPr/>
        </p:nvSpPr>
        <p:spPr>
          <a:xfrm>
            <a:off x="731520" y="2212848"/>
            <a:ext cx="960120" cy="274320"/>
          </a:xfrm>
          <a:prstGeom prst="rect">
            <a:avLst/>
          </a:prstGeom>
          <a:noFill/>
          <a:ln/>
        </p:spPr>
        <p:txBody>
          <a:bodyPr wrap="square" lIns="0" tIns="0" rIns="0" bIns="0" rtlCol="0" anchor="ctr"/>
          <a:lstStyle/>
          <a:p>
            <a:pPr algn="r" indent="0" marL="0">
              <a:buNone/>
            </a:pPr>
            <a:r>
              <a:rPr lang="en-US" sz="950" dirty="0">
                <a:solidFill>
                  <a:srgbClr val="3A4048"/>
                </a:solidFill>
                <a:latin typeface="Calibri" pitchFamily="34" charset="0"/>
                <a:ea typeface="Calibri" pitchFamily="34" charset="-122"/>
                <a:cs typeface="Calibri" pitchFamily="34" charset="-120"/>
              </a:rPr>
              <a:t>Laki-laki</a:t>
            </a:r>
            <a:endParaRPr lang="en-US" sz="950" dirty="0"/>
          </a:p>
        </p:txBody>
      </p:sp>
      <p:sp>
        <p:nvSpPr>
          <p:cNvPr id="8" name="Shape 6"/>
          <p:cNvSpPr/>
          <p:nvPr/>
        </p:nvSpPr>
        <p:spPr>
          <a:xfrm>
            <a:off x="1801368" y="2276856"/>
            <a:ext cx="1573682" cy="146304"/>
          </a:xfrm>
          <a:prstGeom prst="rect">
            <a:avLst/>
          </a:prstGeom>
          <a:solidFill>
            <a:srgbClr val="F4F1EC"/>
          </a:solidFill>
          <a:ln/>
        </p:spPr>
      </p:sp>
      <p:sp>
        <p:nvSpPr>
          <p:cNvPr id="9" name="Shape 7"/>
          <p:cNvSpPr/>
          <p:nvPr/>
        </p:nvSpPr>
        <p:spPr>
          <a:xfrm>
            <a:off x="1801368" y="2276856"/>
            <a:ext cx="1464433" cy="146304"/>
          </a:xfrm>
          <a:prstGeom prst="rect">
            <a:avLst/>
          </a:prstGeom>
          <a:solidFill>
            <a:srgbClr val="2F6B5F"/>
          </a:solidFill>
          <a:ln/>
        </p:spPr>
      </p:sp>
      <p:sp>
        <p:nvSpPr>
          <p:cNvPr id="10" name="Text 8"/>
          <p:cNvSpPr/>
          <p:nvPr/>
        </p:nvSpPr>
        <p:spPr>
          <a:xfrm>
            <a:off x="3466490" y="2212848"/>
            <a:ext cx="548640" cy="274320"/>
          </a:xfrm>
          <a:prstGeom prst="rect">
            <a:avLst/>
          </a:prstGeom>
          <a:noFill/>
          <a:ln/>
        </p:spPr>
        <p:txBody>
          <a:bodyPr wrap="square" lIns="0" tIns="0" rIns="0" bIns="0" rtlCol="0" anchor="ctr"/>
          <a:lstStyle/>
          <a:p>
            <a:pPr algn="l" indent="0" marL="0">
              <a:buNone/>
            </a:pPr>
            <a:r>
              <a:rPr lang="en-US" sz="950" dirty="0">
                <a:solidFill>
                  <a:srgbClr val="3A4048"/>
                </a:solidFill>
                <a:latin typeface="Calibri" pitchFamily="34" charset="0"/>
                <a:ea typeface="Calibri" pitchFamily="34" charset="-122"/>
                <a:cs typeface="Calibri" pitchFamily="34" charset="-120"/>
              </a:rPr>
              <a:t>0,4839</a:t>
            </a:r>
            <a:endParaRPr lang="en-US" sz="950" dirty="0"/>
          </a:p>
        </p:txBody>
      </p:sp>
      <p:sp>
        <p:nvSpPr>
          <p:cNvPr id="11" name="Text 9"/>
          <p:cNvSpPr/>
          <p:nvPr/>
        </p:nvSpPr>
        <p:spPr>
          <a:xfrm>
            <a:off x="731520" y="2542032"/>
            <a:ext cx="960120" cy="274320"/>
          </a:xfrm>
          <a:prstGeom prst="rect">
            <a:avLst/>
          </a:prstGeom>
          <a:noFill/>
          <a:ln/>
        </p:spPr>
        <p:txBody>
          <a:bodyPr wrap="square" lIns="0" tIns="0" rIns="0" bIns="0" rtlCol="0" anchor="ctr"/>
          <a:lstStyle/>
          <a:p>
            <a:pPr algn="r" indent="0" marL="0">
              <a:buNone/>
            </a:pPr>
            <a:r>
              <a:rPr lang="en-US" sz="950" dirty="0">
                <a:solidFill>
                  <a:srgbClr val="3A4048"/>
                </a:solidFill>
                <a:latin typeface="Calibri" pitchFamily="34" charset="0"/>
                <a:ea typeface="Calibri" pitchFamily="34" charset="-122"/>
                <a:cs typeface="Calibri" pitchFamily="34" charset="-120"/>
              </a:rPr>
              <a:t>Perempuan</a:t>
            </a:r>
            <a:endParaRPr lang="en-US" sz="950" dirty="0"/>
          </a:p>
        </p:txBody>
      </p:sp>
      <p:sp>
        <p:nvSpPr>
          <p:cNvPr id="12" name="Shape 10"/>
          <p:cNvSpPr/>
          <p:nvPr/>
        </p:nvSpPr>
        <p:spPr>
          <a:xfrm>
            <a:off x="1801368" y="2606040"/>
            <a:ext cx="1573682" cy="146304"/>
          </a:xfrm>
          <a:prstGeom prst="rect">
            <a:avLst/>
          </a:prstGeom>
          <a:solidFill>
            <a:srgbClr val="F4F1EC"/>
          </a:solidFill>
          <a:ln/>
        </p:spPr>
      </p:sp>
      <p:sp>
        <p:nvSpPr>
          <p:cNvPr id="13" name="Shape 11"/>
          <p:cNvSpPr/>
          <p:nvPr/>
        </p:nvSpPr>
        <p:spPr>
          <a:xfrm>
            <a:off x="1801368" y="2606040"/>
            <a:ext cx="1463525" cy="146304"/>
          </a:xfrm>
          <a:prstGeom prst="rect">
            <a:avLst/>
          </a:prstGeom>
          <a:solidFill>
            <a:srgbClr val="2F6B5F"/>
          </a:solidFill>
          <a:ln/>
        </p:spPr>
      </p:sp>
      <p:sp>
        <p:nvSpPr>
          <p:cNvPr id="14" name="Text 12"/>
          <p:cNvSpPr/>
          <p:nvPr/>
        </p:nvSpPr>
        <p:spPr>
          <a:xfrm>
            <a:off x="3466490" y="2542032"/>
            <a:ext cx="548640" cy="274320"/>
          </a:xfrm>
          <a:prstGeom prst="rect">
            <a:avLst/>
          </a:prstGeom>
          <a:noFill/>
          <a:ln/>
        </p:spPr>
        <p:txBody>
          <a:bodyPr wrap="square" lIns="0" tIns="0" rIns="0" bIns="0" rtlCol="0" anchor="ctr"/>
          <a:lstStyle/>
          <a:p>
            <a:pPr algn="l" indent="0" marL="0">
              <a:buNone/>
            </a:pPr>
            <a:r>
              <a:rPr lang="en-US" sz="950" dirty="0">
                <a:solidFill>
                  <a:srgbClr val="3A4048"/>
                </a:solidFill>
                <a:latin typeface="Calibri" pitchFamily="34" charset="0"/>
                <a:ea typeface="Calibri" pitchFamily="34" charset="-122"/>
                <a:cs typeface="Calibri" pitchFamily="34" charset="-120"/>
              </a:rPr>
              <a:t>0,4836</a:t>
            </a:r>
            <a:endParaRPr lang="en-US" sz="950" dirty="0"/>
          </a:p>
        </p:txBody>
      </p:sp>
      <p:sp>
        <p:nvSpPr>
          <p:cNvPr id="15" name="Text 13"/>
          <p:cNvSpPr/>
          <p:nvPr/>
        </p:nvSpPr>
        <p:spPr>
          <a:xfrm>
            <a:off x="731520" y="2871216"/>
            <a:ext cx="960120" cy="274320"/>
          </a:xfrm>
          <a:prstGeom prst="rect">
            <a:avLst/>
          </a:prstGeom>
          <a:noFill/>
          <a:ln/>
        </p:spPr>
        <p:txBody>
          <a:bodyPr wrap="square" lIns="0" tIns="0" rIns="0" bIns="0" rtlCol="0" anchor="ctr"/>
          <a:lstStyle/>
          <a:p>
            <a:pPr algn="r" indent="0" marL="0">
              <a:buNone/>
            </a:pPr>
            <a:r>
              <a:rPr lang="en-US" sz="950" dirty="0">
                <a:solidFill>
                  <a:srgbClr val="3A4048"/>
                </a:solidFill>
                <a:latin typeface="Calibri" pitchFamily="34" charset="0"/>
                <a:ea typeface="Calibri" pitchFamily="34" charset="-122"/>
                <a:cs typeface="Calibri" pitchFamily="34" charset="-120"/>
              </a:rPr>
              <a:t>Usia 18–29</a:t>
            </a:r>
            <a:endParaRPr lang="en-US" sz="950" dirty="0"/>
          </a:p>
        </p:txBody>
      </p:sp>
      <p:sp>
        <p:nvSpPr>
          <p:cNvPr id="16" name="Shape 14"/>
          <p:cNvSpPr/>
          <p:nvPr/>
        </p:nvSpPr>
        <p:spPr>
          <a:xfrm>
            <a:off x="1801368" y="2935224"/>
            <a:ext cx="1573682" cy="146304"/>
          </a:xfrm>
          <a:prstGeom prst="rect">
            <a:avLst/>
          </a:prstGeom>
          <a:solidFill>
            <a:srgbClr val="F4F1EC"/>
          </a:solidFill>
          <a:ln/>
        </p:spPr>
      </p:sp>
      <p:sp>
        <p:nvSpPr>
          <p:cNvPr id="17" name="Shape 15"/>
          <p:cNvSpPr/>
          <p:nvPr/>
        </p:nvSpPr>
        <p:spPr>
          <a:xfrm>
            <a:off x="1801368" y="2935224"/>
            <a:ext cx="1362446" cy="146304"/>
          </a:xfrm>
          <a:prstGeom prst="rect">
            <a:avLst/>
          </a:prstGeom>
          <a:solidFill>
            <a:srgbClr val="D8A25E"/>
          </a:solidFill>
          <a:ln/>
        </p:spPr>
      </p:sp>
      <p:sp>
        <p:nvSpPr>
          <p:cNvPr id="18" name="Text 16"/>
          <p:cNvSpPr/>
          <p:nvPr/>
        </p:nvSpPr>
        <p:spPr>
          <a:xfrm>
            <a:off x="3466490" y="2871216"/>
            <a:ext cx="548640" cy="274320"/>
          </a:xfrm>
          <a:prstGeom prst="rect">
            <a:avLst/>
          </a:prstGeom>
          <a:noFill/>
          <a:ln/>
        </p:spPr>
        <p:txBody>
          <a:bodyPr wrap="square" lIns="0" tIns="0" rIns="0" bIns="0" rtlCol="0" anchor="ctr"/>
          <a:lstStyle/>
          <a:p>
            <a:pPr algn="l" indent="0" marL="0">
              <a:buNone/>
            </a:pPr>
            <a:r>
              <a:rPr lang="en-US" sz="950" dirty="0">
                <a:solidFill>
                  <a:srgbClr val="3A4048"/>
                </a:solidFill>
                <a:latin typeface="Calibri" pitchFamily="34" charset="0"/>
                <a:ea typeface="Calibri" pitchFamily="34" charset="-122"/>
                <a:cs typeface="Calibri" pitchFamily="34" charset="-120"/>
              </a:rPr>
              <a:t>0,4502</a:t>
            </a:r>
            <a:endParaRPr lang="en-US" sz="950" dirty="0"/>
          </a:p>
        </p:txBody>
      </p:sp>
      <p:sp>
        <p:nvSpPr>
          <p:cNvPr id="19" name="Text 17"/>
          <p:cNvSpPr/>
          <p:nvPr/>
        </p:nvSpPr>
        <p:spPr>
          <a:xfrm>
            <a:off x="731520" y="3200400"/>
            <a:ext cx="960120" cy="274320"/>
          </a:xfrm>
          <a:prstGeom prst="rect">
            <a:avLst/>
          </a:prstGeom>
          <a:noFill/>
          <a:ln/>
        </p:spPr>
        <p:txBody>
          <a:bodyPr wrap="square" lIns="0" tIns="0" rIns="0" bIns="0" rtlCol="0" anchor="ctr"/>
          <a:lstStyle/>
          <a:p>
            <a:pPr algn="r" indent="0" marL="0">
              <a:buNone/>
            </a:pPr>
            <a:r>
              <a:rPr lang="en-US" sz="950" dirty="0">
                <a:solidFill>
                  <a:srgbClr val="3A4048"/>
                </a:solidFill>
                <a:latin typeface="Calibri" pitchFamily="34" charset="0"/>
                <a:ea typeface="Calibri" pitchFamily="34" charset="-122"/>
                <a:cs typeface="Calibri" pitchFamily="34" charset="-120"/>
              </a:rPr>
              <a:t>Usia 30–44</a:t>
            </a:r>
            <a:endParaRPr lang="en-US" sz="950" dirty="0"/>
          </a:p>
        </p:txBody>
      </p:sp>
      <p:sp>
        <p:nvSpPr>
          <p:cNvPr id="20" name="Shape 18"/>
          <p:cNvSpPr/>
          <p:nvPr/>
        </p:nvSpPr>
        <p:spPr>
          <a:xfrm>
            <a:off x="1801368" y="3264408"/>
            <a:ext cx="1573682" cy="146304"/>
          </a:xfrm>
          <a:prstGeom prst="rect">
            <a:avLst/>
          </a:prstGeom>
          <a:solidFill>
            <a:srgbClr val="F4F1EC"/>
          </a:solidFill>
          <a:ln/>
        </p:spPr>
      </p:sp>
      <p:sp>
        <p:nvSpPr>
          <p:cNvPr id="21" name="Shape 19"/>
          <p:cNvSpPr/>
          <p:nvPr/>
        </p:nvSpPr>
        <p:spPr>
          <a:xfrm>
            <a:off x="1801368" y="3264408"/>
            <a:ext cx="1437498" cy="146304"/>
          </a:xfrm>
          <a:prstGeom prst="rect">
            <a:avLst/>
          </a:prstGeom>
          <a:solidFill>
            <a:srgbClr val="8FB0A4"/>
          </a:solidFill>
          <a:ln/>
        </p:spPr>
      </p:sp>
      <p:sp>
        <p:nvSpPr>
          <p:cNvPr id="22" name="Text 20"/>
          <p:cNvSpPr/>
          <p:nvPr/>
        </p:nvSpPr>
        <p:spPr>
          <a:xfrm>
            <a:off x="3466490" y="3200400"/>
            <a:ext cx="548640" cy="274320"/>
          </a:xfrm>
          <a:prstGeom prst="rect">
            <a:avLst/>
          </a:prstGeom>
          <a:noFill/>
          <a:ln/>
        </p:spPr>
        <p:txBody>
          <a:bodyPr wrap="square" lIns="0" tIns="0" rIns="0" bIns="0" rtlCol="0" anchor="ctr"/>
          <a:lstStyle/>
          <a:p>
            <a:pPr algn="l" indent="0" marL="0">
              <a:buNone/>
            </a:pPr>
            <a:r>
              <a:rPr lang="en-US" sz="950" dirty="0">
                <a:solidFill>
                  <a:srgbClr val="3A4048"/>
                </a:solidFill>
                <a:latin typeface="Calibri" pitchFamily="34" charset="0"/>
                <a:ea typeface="Calibri" pitchFamily="34" charset="-122"/>
                <a:cs typeface="Calibri" pitchFamily="34" charset="-120"/>
              </a:rPr>
              <a:t>0,4750</a:t>
            </a:r>
            <a:endParaRPr lang="en-US" sz="950" dirty="0"/>
          </a:p>
        </p:txBody>
      </p:sp>
      <p:sp>
        <p:nvSpPr>
          <p:cNvPr id="23" name="Text 21"/>
          <p:cNvSpPr/>
          <p:nvPr/>
        </p:nvSpPr>
        <p:spPr>
          <a:xfrm>
            <a:off x="731520" y="3529584"/>
            <a:ext cx="960120" cy="274320"/>
          </a:xfrm>
          <a:prstGeom prst="rect">
            <a:avLst/>
          </a:prstGeom>
          <a:noFill/>
          <a:ln/>
        </p:spPr>
        <p:txBody>
          <a:bodyPr wrap="square" lIns="0" tIns="0" rIns="0" bIns="0" rtlCol="0" anchor="ctr"/>
          <a:lstStyle/>
          <a:p>
            <a:pPr algn="r" indent="0" marL="0">
              <a:buNone/>
            </a:pPr>
            <a:r>
              <a:rPr lang="en-US" sz="950" dirty="0">
                <a:solidFill>
                  <a:srgbClr val="3A4048"/>
                </a:solidFill>
                <a:latin typeface="Calibri" pitchFamily="34" charset="0"/>
                <a:ea typeface="Calibri" pitchFamily="34" charset="-122"/>
                <a:cs typeface="Calibri" pitchFamily="34" charset="-120"/>
              </a:rPr>
              <a:t>Usia 45–59</a:t>
            </a:r>
            <a:endParaRPr lang="en-US" sz="950" dirty="0"/>
          </a:p>
        </p:txBody>
      </p:sp>
      <p:sp>
        <p:nvSpPr>
          <p:cNvPr id="24" name="Shape 22"/>
          <p:cNvSpPr/>
          <p:nvPr/>
        </p:nvSpPr>
        <p:spPr>
          <a:xfrm>
            <a:off x="1801368" y="3593592"/>
            <a:ext cx="1573682" cy="146304"/>
          </a:xfrm>
          <a:prstGeom prst="rect">
            <a:avLst/>
          </a:prstGeom>
          <a:solidFill>
            <a:srgbClr val="F4F1EC"/>
          </a:solidFill>
          <a:ln/>
        </p:spPr>
      </p:sp>
      <p:sp>
        <p:nvSpPr>
          <p:cNvPr id="25" name="Shape 23"/>
          <p:cNvSpPr/>
          <p:nvPr/>
        </p:nvSpPr>
        <p:spPr>
          <a:xfrm>
            <a:off x="1801368" y="3593592"/>
            <a:ext cx="1502867" cy="146304"/>
          </a:xfrm>
          <a:prstGeom prst="rect">
            <a:avLst/>
          </a:prstGeom>
          <a:solidFill>
            <a:srgbClr val="2F6B5F"/>
          </a:solidFill>
          <a:ln/>
        </p:spPr>
      </p:sp>
      <p:sp>
        <p:nvSpPr>
          <p:cNvPr id="26" name="Text 24"/>
          <p:cNvSpPr/>
          <p:nvPr/>
        </p:nvSpPr>
        <p:spPr>
          <a:xfrm>
            <a:off x="3466490" y="3529584"/>
            <a:ext cx="548640" cy="274320"/>
          </a:xfrm>
          <a:prstGeom prst="rect">
            <a:avLst/>
          </a:prstGeom>
          <a:noFill/>
          <a:ln/>
        </p:spPr>
        <p:txBody>
          <a:bodyPr wrap="square" lIns="0" tIns="0" rIns="0" bIns="0" rtlCol="0" anchor="ctr"/>
          <a:lstStyle/>
          <a:p>
            <a:pPr algn="l" indent="0" marL="0">
              <a:buNone/>
            </a:pPr>
            <a:r>
              <a:rPr lang="en-US" sz="950" dirty="0">
                <a:solidFill>
                  <a:srgbClr val="3A4048"/>
                </a:solidFill>
                <a:latin typeface="Calibri" pitchFamily="34" charset="0"/>
                <a:ea typeface="Calibri" pitchFamily="34" charset="-122"/>
                <a:cs typeface="Calibri" pitchFamily="34" charset="-120"/>
              </a:rPr>
              <a:t>0,4966</a:t>
            </a:r>
            <a:endParaRPr lang="en-US" sz="950" dirty="0"/>
          </a:p>
        </p:txBody>
      </p:sp>
      <p:sp>
        <p:nvSpPr>
          <p:cNvPr id="27" name="Text 25"/>
          <p:cNvSpPr/>
          <p:nvPr/>
        </p:nvSpPr>
        <p:spPr>
          <a:xfrm>
            <a:off x="731520" y="3858768"/>
            <a:ext cx="960120" cy="274320"/>
          </a:xfrm>
          <a:prstGeom prst="rect">
            <a:avLst/>
          </a:prstGeom>
          <a:noFill/>
          <a:ln/>
        </p:spPr>
        <p:txBody>
          <a:bodyPr wrap="square" lIns="0" tIns="0" rIns="0" bIns="0" rtlCol="0" anchor="ctr"/>
          <a:lstStyle/>
          <a:p>
            <a:pPr algn="r" indent="0" marL="0">
              <a:buNone/>
            </a:pPr>
            <a:r>
              <a:rPr lang="en-US" sz="950" dirty="0">
                <a:solidFill>
                  <a:srgbClr val="3A4048"/>
                </a:solidFill>
                <a:latin typeface="Calibri" pitchFamily="34" charset="0"/>
                <a:ea typeface="Calibri" pitchFamily="34" charset="-122"/>
                <a:cs typeface="Calibri" pitchFamily="34" charset="-120"/>
              </a:rPr>
              <a:t>Usia 60–74</a:t>
            </a:r>
            <a:endParaRPr lang="en-US" sz="950" dirty="0"/>
          </a:p>
        </p:txBody>
      </p:sp>
      <p:sp>
        <p:nvSpPr>
          <p:cNvPr id="28" name="Shape 26"/>
          <p:cNvSpPr/>
          <p:nvPr/>
        </p:nvSpPr>
        <p:spPr>
          <a:xfrm>
            <a:off x="1801368" y="3922776"/>
            <a:ext cx="1573682" cy="146304"/>
          </a:xfrm>
          <a:prstGeom prst="rect">
            <a:avLst/>
          </a:prstGeom>
          <a:solidFill>
            <a:srgbClr val="F4F1EC"/>
          </a:solidFill>
          <a:ln/>
        </p:spPr>
      </p:sp>
      <p:sp>
        <p:nvSpPr>
          <p:cNvPr id="29" name="Shape 27"/>
          <p:cNvSpPr/>
          <p:nvPr/>
        </p:nvSpPr>
        <p:spPr>
          <a:xfrm>
            <a:off x="1801368" y="3922776"/>
            <a:ext cx="1507709" cy="146304"/>
          </a:xfrm>
          <a:prstGeom prst="rect">
            <a:avLst/>
          </a:prstGeom>
          <a:solidFill>
            <a:srgbClr val="2F6B5F"/>
          </a:solidFill>
          <a:ln/>
        </p:spPr>
      </p:sp>
      <p:sp>
        <p:nvSpPr>
          <p:cNvPr id="30" name="Text 28"/>
          <p:cNvSpPr/>
          <p:nvPr/>
        </p:nvSpPr>
        <p:spPr>
          <a:xfrm>
            <a:off x="3466490" y="3858768"/>
            <a:ext cx="548640" cy="274320"/>
          </a:xfrm>
          <a:prstGeom prst="rect">
            <a:avLst/>
          </a:prstGeom>
          <a:noFill/>
          <a:ln/>
        </p:spPr>
        <p:txBody>
          <a:bodyPr wrap="square" lIns="0" tIns="0" rIns="0" bIns="0" rtlCol="0" anchor="ctr"/>
          <a:lstStyle/>
          <a:p>
            <a:pPr algn="l" indent="0" marL="0">
              <a:buNone/>
            </a:pPr>
            <a:r>
              <a:rPr lang="en-US" sz="950" dirty="0">
                <a:solidFill>
                  <a:srgbClr val="3A4048"/>
                </a:solidFill>
                <a:latin typeface="Calibri" pitchFamily="34" charset="0"/>
                <a:ea typeface="Calibri" pitchFamily="34" charset="-122"/>
                <a:cs typeface="Calibri" pitchFamily="34" charset="-120"/>
              </a:rPr>
              <a:t>0,4982</a:t>
            </a:r>
            <a:endParaRPr lang="en-US" sz="950" dirty="0"/>
          </a:p>
        </p:txBody>
      </p:sp>
      <p:sp>
        <p:nvSpPr>
          <p:cNvPr id="31" name="Text 29"/>
          <p:cNvSpPr/>
          <p:nvPr/>
        </p:nvSpPr>
        <p:spPr>
          <a:xfrm>
            <a:off x="731520" y="4187952"/>
            <a:ext cx="960120" cy="274320"/>
          </a:xfrm>
          <a:prstGeom prst="rect">
            <a:avLst/>
          </a:prstGeom>
          <a:noFill/>
          <a:ln/>
        </p:spPr>
        <p:txBody>
          <a:bodyPr wrap="square" lIns="0" tIns="0" rIns="0" bIns="0" rtlCol="0" anchor="ctr"/>
          <a:lstStyle/>
          <a:p>
            <a:pPr algn="r" indent="0" marL="0">
              <a:buNone/>
            </a:pPr>
            <a:r>
              <a:rPr lang="en-US" sz="950" dirty="0">
                <a:solidFill>
                  <a:srgbClr val="3A4048"/>
                </a:solidFill>
                <a:latin typeface="Calibri" pitchFamily="34" charset="0"/>
                <a:ea typeface="Calibri" pitchFamily="34" charset="-122"/>
                <a:cs typeface="Calibri" pitchFamily="34" charset="-120"/>
              </a:rPr>
              <a:t>Usia 75+</a:t>
            </a:r>
            <a:endParaRPr lang="en-US" sz="950" dirty="0"/>
          </a:p>
        </p:txBody>
      </p:sp>
      <p:sp>
        <p:nvSpPr>
          <p:cNvPr id="32" name="Shape 30"/>
          <p:cNvSpPr/>
          <p:nvPr/>
        </p:nvSpPr>
        <p:spPr>
          <a:xfrm>
            <a:off x="1801368" y="4251960"/>
            <a:ext cx="1573682" cy="146304"/>
          </a:xfrm>
          <a:prstGeom prst="rect">
            <a:avLst/>
          </a:prstGeom>
          <a:solidFill>
            <a:srgbClr val="F4F1EC"/>
          </a:solidFill>
          <a:ln/>
        </p:spPr>
      </p:sp>
      <p:sp>
        <p:nvSpPr>
          <p:cNvPr id="33" name="Shape 31"/>
          <p:cNvSpPr/>
          <p:nvPr/>
        </p:nvSpPr>
        <p:spPr>
          <a:xfrm>
            <a:off x="1801368" y="4251960"/>
            <a:ext cx="1433262" cy="146304"/>
          </a:xfrm>
          <a:prstGeom prst="rect">
            <a:avLst/>
          </a:prstGeom>
          <a:solidFill>
            <a:srgbClr val="8FB0A4"/>
          </a:solidFill>
          <a:ln/>
        </p:spPr>
      </p:sp>
      <p:sp>
        <p:nvSpPr>
          <p:cNvPr id="34" name="Text 32"/>
          <p:cNvSpPr/>
          <p:nvPr/>
        </p:nvSpPr>
        <p:spPr>
          <a:xfrm>
            <a:off x="3466490" y="4187952"/>
            <a:ext cx="548640" cy="274320"/>
          </a:xfrm>
          <a:prstGeom prst="rect">
            <a:avLst/>
          </a:prstGeom>
          <a:noFill/>
          <a:ln/>
        </p:spPr>
        <p:txBody>
          <a:bodyPr wrap="square" lIns="0" tIns="0" rIns="0" bIns="0" rtlCol="0" anchor="ctr"/>
          <a:lstStyle/>
          <a:p>
            <a:pPr algn="l" indent="0" marL="0">
              <a:buNone/>
            </a:pPr>
            <a:r>
              <a:rPr lang="en-US" sz="950" dirty="0">
                <a:solidFill>
                  <a:srgbClr val="3A4048"/>
                </a:solidFill>
                <a:latin typeface="Calibri" pitchFamily="34" charset="0"/>
                <a:ea typeface="Calibri" pitchFamily="34" charset="-122"/>
                <a:cs typeface="Calibri" pitchFamily="34" charset="-120"/>
              </a:rPr>
              <a:t>0,4736</a:t>
            </a:r>
            <a:endParaRPr lang="en-US" sz="950" dirty="0"/>
          </a:p>
        </p:txBody>
      </p:sp>
      <p:sp>
        <p:nvSpPr>
          <p:cNvPr id="35" name="Text 33"/>
          <p:cNvSpPr/>
          <p:nvPr/>
        </p:nvSpPr>
        <p:spPr>
          <a:xfrm>
            <a:off x="841248" y="4636008"/>
            <a:ext cx="3082442" cy="914400"/>
          </a:xfrm>
          <a:prstGeom prst="rect">
            <a:avLst/>
          </a:prstGeom>
          <a:noFill/>
          <a:ln/>
        </p:spPr>
        <p:txBody>
          <a:bodyPr wrap="square" lIns="0" tIns="0" rIns="0" bIns="0" rtlCol="0" anchor="t"/>
          <a:lstStyle/>
          <a:p>
            <a:pPr algn="l" indent="0" marL="0">
              <a:lnSpc>
                <a:spcPts val="1283"/>
              </a:lnSpc>
              <a:buNone/>
            </a:pPr>
            <a:r>
              <a:rPr lang="en-US" sz="950" dirty="0">
                <a:solidFill>
                  <a:srgbClr val="3A4048"/>
                </a:solidFill>
                <a:latin typeface="Calibri" pitchFamily="34" charset="0"/>
                <a:ea typeface="Calibri" pitchFamily="34" charset="-122"/>
                <a:cs typeface="Calibri" pitchFamily="34" charset="-120"/>
              </a:rPr>
              <a:t>Pendidikan, 10 tingkat: 0,3968 sampai 0,4909. Terendah tingkat 2, kelompok terkecil (1.438 orang). Selisih jenis kelamin hanya 0,0003.</a:t>
            </a:r>
            <a:endParaRPr lang="en-US" sz="950" dirty="0"/>
          </a:p>
        </p:txBody>
      </p:sp>
      <p:sp>
        <p:nvSpPr>
          <p:cNvPr id="36" name="Text 34"/>
          <p:cNvSpPr/>
          <p:nvPr/>
        </p:nvSpPr>
        <p:spPr>
          <a:xfrm>
            <a:off x="841248" y="5559552"/>
            <a:ext cx="3082442" cy="548640"/>
          </a:xfrm>
          <a:prstGeom prst="rect">
            <a:avLst/>
          </a:prstGeom>
          <a:noFill/>
          <a:ln/>
        </p:spPr>
        <p:txBody>
          <a:bodyPr wrap="square" lIns="0" tIns="0" rIns="0" bIns="0" rtlCol="0" anchor="t"/>
          <a:lstStyle/>
          <a:p>
            <a:pPr indent="0" marL="0">
              <a:lnSpc>
                <a:spcPts val="1300"/>
              </a:lnSpc>
              <a:buNone/>
            </a:pPr>
            <a:r>
              <a:rPr lang="en-US" sz="1000" b="1" dirty="0">
                <a:solidFill>
                  <a:srgbClr val="A8442A"/>
                </a:solidFill>
                <a:latin typeface="Calibri" pitchFamily="34" charset="0"/>
                <a:ea typeface="Calibri" pitchFamily="34" charset="-122"/>
                <a:cs typeface="Calibri" pitchFamily="34" charset="-120"/>
              </a:rPr>
              <a:t>Implikasi: </a:t>
            </a:r>
            <a:pPr indent="0" marL="0">
              <a:lnSpc>
                <a:spcPts val="1300"/>
              </a:lnSpc>
              <a:buNone/>
            </a:pPr>
            <a:r>
              <a:rPr lang="en-US" sz="1000" dirty="0">
                <a:solidFill>
                  <a:srgbClr val="3A4048"/>
                </a:solidFill>
                <a:latin typeface="Calibri" pitchFamily="34" charset="0"/>
                <a:ea typeface="Calibri" pitchFamily="34" charset="-122"/>
                <a:cs typeface="Calibri" pitchFamily="34" charset="-120"/>
              </a:rPr>
              <a:t>variasi mengikuti ukuran sampel, bukan kegagalan sistematis pada satu segmen.</a:t>
            </a:r>
            <a:endParaRPr lang="en-US" sz="1000" dirty="0"/>
          </a:p>
        </p:txBody>
      </p:sp>
      <p:sp>
        <p:nvSpPr>
          <p:cNvPr id="37" name="Shape 35"/>
          <p:cNvSpPr/>
          <p:nvPr/>
        </p:nvSpPr>
        <p:spPr>
          <a:xfrm>
            <a:off x="4353458" y="1371600"/>
            <a:ext cx="3484778" cy="4846320"/>
          </a:xfrm>
          <a:prstGeom prst="roundRect">
            <a:avLst>
              <a:gd name="adj" fmla="val 1574"/>
            </a:avLst>
          </a:prstGeom>
          <a:solidFill>
            <a:srgbClr val="FFFFFF"/>
          </a:solidFill>
          <a:ln w="9525">
            <a:solidFill>
              <a:srgbClr val="DCD8D1"/>
            </a:solidFill>
            <a:prstDash val="solid"/>
          </a:ln>
        </p:spPr>
      </p:sp>
      <p:sp>
        <p:nvSpPr>
          <p:cNvPr id="38" name="Text 36"/>
          <p:cNvSpPr/>
          <p:nvPr/>
        </p:nvSpPr>
        <p:spPr>
          <a:xfrm>
            <a:off x="4554626" y="1499616"/>
            <a:ext cx="3082442" cy="201168"/>
          </a:xfrm>
          <a:prstGeom prst="rect">
            <a:avLst/>
          </a:prstGeom>
          <a:noFill/>
          <a:ln/>
        </p:spPr>
        <p:txBody>
          <a:bodyPr wrap="square" lIns="0" tIns="0" rIns="0" bIns="0" rtlCol="0" anchor="ctr"/>
          <a:lstStyle/>
          <a:p>
            <a:pPr indent="0" marL="0">
              <a:buNone/>
            </a:pPr>
            <a:r>
              <a:rPr lang="en-US" sz="850" b="1" spc="120" kern="0" dirty="0">
                <a:solidFill>
                  <a:srgbClr val="6E747C"/>
                </a:solidFill>
                <a:latin typeface="Calibri" pitchFamily="34" charset="0"/>
                <a:ea typeface="Calibri" pitchFamily="34" charset="-122"/>
                <a:cs typeface="Calibri" pitchFamily="34" charset="-120"/>
              </a:rPr>
              <a:t>10.6 · PERMUTATION IMPORTANCE</a:t>
            </a:r>
            <a:endParaRPr lang="en-US" sz="850" dirty="0"/>
          </a:p>
        </p:txBody>
      </p:sp>
      <p:sp>
        <p:nvSpPr>
          <p:cNvPr id="39" name="Text 37"/>
          <p:cNvSpPr/>
          <p:nvPr/>
        </p:nvSpPr>
        <p:spPr>
          <a:xfrm>
            <a:off x="4554626" y="1700784"/>
            <a:ext cx="3082442" cy="475488"/>
          </a:xfrm>
          <a:prstGeom prst="rect">
            <a:avLst/>
          </a:prstGeom>
          <a:noFill/>
          <a:ln/>
        </p:spPr>
        <p:txBody>
          <a:bodyPr wrap="square" lIns="0" tIns="0" rIns="0" bIns="0" rtlCol="0" anchor="t"/>
          <a:lstStyle/>
          <a:p>
            <a:pPr indent="0" marL="0">
              <a:lnSpc>
                <a:spcPts val="1600"/>
              </a:lnSpc>
              <a:buNone/>
            </a:pPr>
            <a:r>
              <a:rPr lang="en-US" sz="1300" b="1" dirty="0">
                <a:solidFill>
                  <a:srgbClr val="16191D"/>
                </a:solidFill>
                <a:latin typeface="Cambria" pitchFamily="34" charset="0"/>
                <a:ea typeface="Cambria" pitchFamily="34" charset="-122"/>
                <a:cs typeface="Cambria" pitchFamily="34" charset="-120"/>
              </a:rPr>
              <a:t>Sejalan literatur, bukan artefak</a:t>
            </a:r>
            <a:endParaRPr lang="en-US" sz="1300" dirty="0"/>
          </a:p>
        </p:txBody>
      </p:sp>
      <p:sp>
        <p:nvSpPr>
          <p:cNvPr id="40" name="Text 38"/>
          <p:cNvSpPr/>
          <p:nvPr/>
        </p:nvSpPr>
        <p:spPr>
          <a:xfrm>
            <a:off x="4444898" y="2212848"/>
            <a:ext cx="1234440" cy="256032"/>
          </a:xfrm>
          <a:prstGeom prst="rect">
            <a:avLst/>
          </a:prstGeom>
          <a:noFill/>
          <a:ln/>
        </p:spPr>
        <p:txBody>
          <a:bodyPr wrap="square" lIns="0" tIns="0" rIns="0" bIns="0" rtlCol="0" anchor="ctr"/>
          <a:lstStyle/>
          <a:p>
            <a:pPr algn="r" indent="0" marL="0">
              <a:buNone/>
            </a:pPr>
            <a:r>
              <a:rPr lang="en-US" sz="900" dirty="0">
                <a:solidFill>
                  <a:srgbClr val="3A4048"/>
                </a:solidFill>
                <a:latin typeface="Calibri" pitchFamily="34" charset="0"/>
                <a:ea typeface="Calibri" pitchFamily="34" charset="-122"/>
                <a:cs typeface="Calibri" pitchFamily="34" charset="-120"/>
              </a:rPr>
              <a:t>general_health</a:t>
            </a:r>
            <a:endParaRPr lang="en-US" sz="900" dirty="0"/>
          </a:p>
        </p:txBody>
      </p:sp>
      <p:sp>
        <p:nvSpPr>
          <p:cNvPr id="41" name="Shape 39"/>
          <p:cNvSpPr/>
          <p:nvPr/>
        </p:nvSpPr>
        <p:spPr>
          <a:xfrm>
            <a:off x="5789066" y="2276856"/>
            <a:ext cx="1299362" cy="128016"/>
          </a:xfrm>
          <a:prstGeom prst="rect">
            <a:avLst/>
          </a:prstGeom>
          <a:solidFill>
            <a:srgbClr val="F4F1EC"/>
          </a:solidFill>
          <a:ln/>
        </p:spPr>
      </p:sp>
      <p:sp>
        <p:nvSpPr>
          <p:cNvPr id="42" name="Shape 40"/>
          <p:cNvSpPr/>
          <p:nvPr/>
        </p:nvSpPr>
        <p:spPr>
          <a:xfrm>
            <a:off x="5789066" y="2276856"/>
            <a:ext cx="1265989" cy="128016"/>
          </a:xfrm>
          <a:prstGeom prst="rect">
            <a:avLst/>
          </a:prstGeom>
          <a:solidFill>
            <a:srgbClr val="2F6B5F"/>
          </a:solidFill>
          <a:ln/>
        </p:spPr>
      </p:sp>
      <p:sp>
        <p:nvSpPr>
          <p:cNvPr id="43" name="Text 41"/>
          <p:cNvSpPr/>
          <p:nvPr/>
        </p:nvSpPr>
        <p:spPr>
          <a:xfrm>
            <a:off x="7179869" y="2212848"/>
            <a:ext cx="548640" cy="256032"/>
          </a:xfrm>
          <a:prstGeom prst="rect">
            <a:avLst/>
          </a:prstGeom>
          <a:noFill/>
          <a:ln/>
        </p:spPr>
        <p:txBody>
          <a:bodyPr wrap="square" lIns="0" tIns="0" rIns="0" bIns="0" rtlCol="0" anchor="ctr"/>
          <a:lstStyle/>
          <a:p>
            <a:pPr algn="l" indent="0" marL="0">
              <a:buNone/>
            </a:pPr>
            <a:r>
              <a:rPr lang="en-US" sz="900" dirty="0">
                <a:solidFill>
                  <a:srgbClr val="3A4048"/>
                </a:solidFill>
                <a:latin typeface="Calibri" pitchFamily="34" charset="0"/>
                <a:ea typeface="Calibri" pitchFamily="34" charset="-122"/>
                <a:cs typeface="Calibri" pitchFamily="34" charset="-120"/>
              </a:rPr>
              <a:t>0,0926</a:t>
            </a:r>
            <a:endParaRPr lang="en-US" sz="900" dirty="0"/>
          </a:p>
        </p:txBody>
      </p:sp>
      <p:sp>
        <p:nvSpPr>
          <p:cNvPr id="44" name="Text 42"/>
          <p:cNvSpPr/>
          <p:nvPr/>
        </p:nvSpPr>
        <p:spPr>
          <a:xfrm>
            <a:off x="4444898" y="2514600"/>
            <a:ext cx="1234440" cy="256032"/>
          </a:xfrm>
          <a:prstGeom prst="rect">
            <a:avLst/>
          </a:prstGeom>
          <a:noFill/>
          <a:ln/>
        </p:spPr>
        <p:txBody>
          <a:bodyPr wrap="square" lIns="0" tIns="0" rIns="0" bIns="0" rtlCol="0" anchor="ctr"/>
          <a:lstStyle/>
          <a:p>
            <a:pPr algn="r" indent="0" marL="0">
              <a:buNone/>
            </a:pPr>
            <a:r>
              <a:rPr lang="en-US" sz="900" dirty="0">
                <a:solidFill>
                  <a:srgbClr val="3A4048"/>
                </a:solidFill>
                <a:latin typeface="Calibri" pitchFamily="34" charset="0"/>
                <a:ea typeface="Calibri" pitchFamily="34" charset="-122"/>
                <a:cs typeface="Calibri" pitchFamily="34" charset="-120"/>
              </a:rPr>
              <a:t>depression_freq</a:t>
            </a:r>
            <a:endParaRPr lang="en-US" sz="900" dirty="0"/>
          </a:p>
        </p:txBody>
      </p:sp>
      <p:sp>
        <p:nvSpPr>
          <p:cNvPr id="45" name="Shape 43"/>
          <p:cNvSpPr/>
          <p:nvPr/>
        </p:nvSpPr>
        <p:spPr>
          <a:xfrm>
            <a:off x="5789066" y="2578608"/>
            <a:ext cx="1299362" cy="128016"/>
          </a:xfrm>
          <a:prstGeom prst="rect">
            <a:avLst/>
          </a:prstGeom>
          <a:solidFill>
            <a:srgbClr val="F4F1EC"/>
          </a:solidFill>
          <a:ln/>
        </p:spPr>
      </p:sp>
      <p:sp>
        <p:nvSpPr>
          <p:cNvPr id="46" name="Shape 44"/>
          <p:cNvSpPr/>
          <p:nvPr/>
        </p:nvSpPr>
        <p:spPr>
          <a:xfrm>
            <a:off x="5789066" y="2578608"/>
            <a:ext cx="508119" cy="128016"/>
          </a:xfrm>
          <a:prstGeom prst="rect">
            <a:avLst/>
          </a:prstGeom>
          <a:solidFill>
            <a:srgbClr val="2F6B5F"/>
          </a:solidFill>
          <a:ln/>
        </p:spPr>
      </p:sp>
      <p:sp>
        <p:nvSpPr>
          <p:cNvPr id="47" name="Text 45"/>
          <p:cNvSpPr/>
          <p:nvPr/>
        </p:nvSpPr>
        <p:spPr>
          <a:xfrm>
            <a:off x="7179869" y="2514600"/>
            <a:ext cx="548640" cy="256032"/>
          </a:xfrm>
          <a:prstGeom prst="rect">
            <a:avLst/>
          </a:prstGeom>
          <a:noFill/>
          <a:ln/>
        </p:spPr>
        <p:txBody>
          <a:bodyPr wrap="square" lIns="0" tIns="0" rIns="0" bIns="0" rtlCol="0" anchor="ctr"/>
          <a:lstStyle/>
          <a:p>
            <a:pPr algn="l" indent="0" marL="0">
              <a:buNone/>
            </a:pPr>
            <a:r>
              <a:rPr lang="en-US" sz="900" dirty="0">
                <a:solidFill>
                  <a:srgbClr val="3A4048"/>
                </a:solidFill>
                <a:latin typeface="Calibri" pitchFamily="34" charset="0"/>
                <a:ea typeface="Calibri" pitchFamily="34" charset="-122"/>
                <a:cs typeface="Calibri" pitchFamily="34" charset="-120"/>
              </a:rPr>
              <a:t>0,0372</a:t>
            </a:r>
            <a:endParaRPr lang="en-US" sz="900" dirty="0"/>
          </a:p>
        </p:txBody>
      </p:sp>
      <p:sp>
        <p:nvSpPr>
          <p:cNvPr id="48" name="Text 46"/>
          <p:cNvSpPr/>
          <p:nvPr/>
        </p:nvSpPr>
        <p:spPr>
          <a:xfrm>
            <a:off x="4444898" y="2816352"/>
            <a:ext cx="1234440" cy="256032"/>
          </a:xfrm>
          <a:prstGeom prst="rect">
            <a:avLst/>
          </a:prstGeom>
          <a:noFill/>
          <a:ln/>
        </p:spPr>
        <p:txBody>
          <a:bodyPr wrap="square" lIns="0" tIns="0" rIns="0" bIns="0" rtlCol="0" anchor="ctr"/>
          <a:lstStyle/>
          <a:p>
            <a:pPr algn="r" indent="0" marL="0">
              <a:buNone/>
            </a:pPr>
            <a:r>
              <a:rPr lang="en-US" sz="900" dirty="0">
                <a:solidFill>
                  <a:srgbClr val="3A4048"/>
                </a:solidFill>
                <a:latin typeface="Calibri" pitchFamily="34" charset="0"/>
                <a:ea typeface="Calibri" pitchFamily="34" charset="-122"/>
                <a:cs typeface="Calibri" pitchFamily="34" charset="-120"/>
              </a:rPr>
              <a:t>age</a:t>
            </a:r>
            <a:endParaRPr lang="en-US" sz="900" dirty="0"/>
          </a:p>
        </p:txBody>
      </p:sp>
      <p:sp>
        <p:nvSpPr>
          <p:cNvPr id="49" name="Shape 47"/>
          <p:cNvSpPr/>
          <p:nvPr/>
        </p:nvSpPr>
        <p:spPr>
          <a:xfrm>
            <a:off x="5789066" y="2880360"/>
            <a:ext cx="1299362" cy="128016"/>
          </a:xfrm>
          <a:prstGeom prst="rect">
            <a:avLst/>
          </a:prstGeom>
          <a:solidFill>
            <a:srgbClr val="F4F1EC"/>
          </a:solidFill>
          <a:ln/>
        </p:spPr>
      </p:sp>
      <p:sp>
        <p:nvSpPr>
          <p:cNvPr id="50" name="Shape 48"/>
          <p:cNvSpPr/>
          <p:nvPr/>
        </p:nvSpPr>
        <p:spPr>
          <a:xfrm>
            <a:off x="5789066" y="2880360"/>
            <a:ext cx="423045" cy="128016"/>
          </a:xfrm>
          <a:prstGeom prst="rect">
            <a:avLst/>
          </a:prstGeom>
          <a:solidFill>
            <a:srgbClr val="8FB0A4"/>
          </a:solidFill>
          <a:ln/>
        </p:spPr>
      </p:sp>
      <p:sp>
        <p:nvSpPr>
          <p:cNvPr id="51" name="Text 49"/>
          <p:cNvSpPr/>
          <p:nvPr/>
        </p:nvSpPr>
        <p:spPr>
          <a:xfrm>
            <a:off x="7179869" y="2816352"/>
            <a:ext cx="548640" cy="256032"/>
          </a:xfrm>
          <a:prstGeom prst="rect">
            <a:avLst/>
          </a:prstGeom>
          <a:noFill/>
          <a:ln/>
        </p:spPr>
        <p:txBody>
          <a:bodyPr wrap="square" lIns="0" tIns="0" rIns="0" bIns="0" rtlCol="0" anchor="ctr"/>
          <a:lstStyle/>
          <a:p>
            <a:pPr algn="l" indent="0" marL="0">
              <a:buNone/>
            </a:pPr>
            <a:r>
              <a:rPr lang="en-US" sz="900" dirty="0">
                <a:solidFill>
                  <a:srgbClr val="3A4048"/>
                </a:solidFill>
                <a:latin typeface="Calibri" pitchFamily="34" charset="0"/>
                <a:ea typeface="Calibri" pitchFamily="34" charset="-122"/>
                <a:cs typeface="Calibri" pitchFamily="34" charset="-120"/>
              </a:rPr>
              <a:t>0,0309</a:t>
            </a:r>
            <a:endParaRPr lang="en-US" sz="900" dirty="0"/>
          </a:p>
        </p:txBody>
      </p:sp>
      <p:sp>
        <p:nvSpPr>
          <p:cNvPr id="52" name="Text 50"/>
          <p:cNvSpPr/>
          <p:nvPr/>
        </p:nvSpPr>
        <p:spPr>
          <a:xfrm>
            <a:off x="4444898" y="3118104"/>
            <a:ext cx="1234440" cy="256032"/>
          </a:xfrm>
          <a:prstGeom prst="rect">
            <a:avLst/>
          </a:prstGeom>
          <a:noFill/>
          <a:ln/>
        </p:spPr>
        <p:txBody>
          <a:bodyPr wrap="square" lIns="0" tIns="0" rIns="0" bIns="0" rtlCol="0" anchor="ctr"/>
          <a:lstStyle/>
          <a:p>
            <a:pPr algn="r" indent="0" marL="0">
              <a:buNone/>
            </a:pPr>
            <a:r>
              <a:rPr lang="en-US" sz="900" dirty="0">
                <a:solidFill>
                  <a:srgbClr val="3A4048"/>
                </a:solidFill>
                <a:latin typeface="Calibri" pitchFamily="34" charset="0"/>
                <a:ea typeface="Calibri" pitchFamily="34" charset="-122"/>
                <a:cs typeface="Calibri" pitchFamily="34" charset="-120"/>
              </a:rPr>
              <a:t>survey_weight</a:t>
            </a:r>
            <a:endParaRPr lang="en-US" sz="900" dirty="0"/>
          </a:p>
        </p:txBody>
      </p:sp>
      <p:sp>
        <p:nvSpPr>
          <p:cNvPr id="53" name="Shape 51"/>
          <p:cNvSpPr/>
          <p:nvPr/>
        </p:nvSpPr>
        <p:spPr>
          <a:xfrm>
            <a:off x="5789066" y="3182112"/>
            <a:ext cx="1299362" cy="128016"/>
          </a:xfrm>
          <a:prstGeom prst="rect">
            <a:avLst/>
          </a:prstGeom>
          <a:solidFill>
            <a:srgbClr val="F4F1EC"/>
          </a:solidFill>
          <a:ln/>
        </p:spPr>
      </p:sp>
      <p:sp>
        <p:nvSpPr>
          <p:cNvPr id="54" name="Shape 52"/>
          <p:cNvSpPr/>
          <p:nvPr/>
        </p:nvSpPr>
        <p:spPr>
          <a:xfrm>
            <a:off x="5789066" y="3182112"/>
            <a:ext cx="412787" cy="128016"/>
          </a:xfrm>
          <a:prstGeom prst="rect">
            <a:avLst/>
          </a:prstGeom>
          <a:solidFill>
            <a:srgbClr val="D8A25E"/>
          </a:solidFill>
          <a:ln/>
        </p:spPr>
      </p:sp>
      <p:sp>
        <p:nvSpPr>
          <p:cNvPr id="55" name="Text 53"/>
          <p:cNvSpPr/>
          <p:nvPr/>
        </p:nvSpPr>
        <p:spPr>
          <a:xfrm>
            <a:off x="7179869" y="3118104"/>
            <a:ext cx="548640" cy="256032"/>
          </a:xfrm>
          <a:prstGeom prst="rect">
            <a:avLst/>
          </a:prstGeom>
          <a:noFill/>
          <a:ln/>
        </p:spPr>
        <p:txBody>
          <a:bodyPr wrap="square" lIns="0" tIns="0" rIns="0" bIns="0" rtlCol="0" anchor="ctr"/>
          <a:lstStyle/>
          <a:p>
            <a:pPr algn="l" indent="0" marL="0">
              <a:buNone/>
            </a:pPr>
            <a:r>
              <a:rPr lang="en-US" sz="900" dirty="0">
                <a:solidFill>
                  <a:srgbClr val="3A4048"/>
                </a:solidFill>
                <a:latin typeface="Calibri" pitchFamily="34" charset="0"/>
                <a:ea typeface="Calibri" pitchFamily="34" charset="-122"/>
                <a:cs typeface="Calibri" pitchFamily="34" charset="-120"/>
              </a:rPr>
              <a:t>0,0302</a:t>
            </a:r>
            <a:endParaRPr lang="en-US" sz="900" dirty="0"/>
          </a:p>
        </p:txBody>
      </p:sp>
      <p:sp>
        <p:nvSpPr>
          <p:cNvPr id="56" name="Text 54"/>
          <p:cNvSpPr/>
          <p:nvPr/>
        </p:nvSpPr>
        <p:spPr>
          <a:xfrm>
            <a:off x="4444898" y="3419856"/>
            <a:ext cx="1234440" cy="256032"/>
          </a:xfrm>
          <a:prstGeom prst="rect">
            <a:avLst/>
          </a:prstGeom>
          <a:noFill/>
          <a:ln/>
        </p:spPr>
        <p:txBody>
          <a:bodyPr wrap="square" lIns="0" tIns="0" rIns="0" bIns="0" rtlCol="0" anchor="ctr"/>
          <a:lstStyle/>
          <a:p>
            <a:pPr algn="r" indent="0" marL="0">
              <a:buNone/>
            </a:pPr>
            <a:r>
              <a:rPr lang="en-US" sz="900" dirty="0">
                <a:solidFill>
                  <a:srgbClr val="3A4048"/>
                </a:solidFill>
                <a:latin typeface="Calibri" pitchFamily="34" charset="0"/>
                <a:ea typeface="Calibri" pitchFamily="34" charset="-122"/>
                <a:cs typeface="Calibri" pitchFamily="34" charset="-120"/>
              </a:rPr>
              <a:t>pseudo_stratum</a:t>
            </a:r>
            <a:endParaRPr lang="en-US" sz="900" dirty="0"/>
          </a:p>
        </p:txBody>
      </p:sp>
      <p:sp>
        <p:nvSpPr>
          <p:cNvPr id="57" name="Shape 55"/>
          <p:cNvSpPr/>
          <p:nvPr/>
        </p:nvSpPr>
        <p:spPr>
          <a:xfrm>
            <a:off x="5789066" y="3483864"/>
            <a:ext cx="1299362" cy="128016"/>
          </a:xfrm>
          <a:prstGeom prst="rect">
            <a:avLst/>
          </a:prstGeom>
          <a:solidFill>
            <a:srgbClr val="F4F1EC"/>
          </a:solidFill>
          <a:ln/>
        </p:spPr>
      </p:sp>
      <p:sp>
        <p:nvSpPr>
          <p:cNvPr id="58" name="Shape 56"/>
          <p:cNvSpPr/>
          <p:nvPr/>
        </p:nvSpPr>
        <p:spPr>
          <a:xfrm>
            <a:off x="5789066" y="3483864"/>
            <a:ext cx="385842" cy="128016"/>
          </a:xfrm>
          <a:prstGeom prst="rect">
            <a:avLst/>
          </a:prstGeom>
          <a:solidFill>
            <a:srgbClr val="D8A25E"/>
          </a:solidFill>
          <a:ln/>
        </p:spPr>
      </p:sp>
      <p:sp>
        <p:nvSpPr>
          <p:cNvPr id="59" name="Text 57"/>
          <p:cNvSpPr/>
          <p:nvPr/>
        </p:nvSpPr>
        <p:spPr>
          <a:xfrm>
            <a:off x="7179869" y="3419856"/>
            <a:ext cx="548640" cy="256032"/>
          </a:xfrm>
          <a:prstGeom prst="rect">
            <a:avLst/>
          </a:prstGeom>
          <a:noFill/>
          <a:ln/>
        </p:spPr>
        <p:txBody>
          <a:bodyPr wrap="square" lIns="0" tIns="0" rIns="0" bIns="0" rtlCol="0" anchor="ctr"/>
          <a:lstStyle/>
          <a:p>
            <a:pPr algn="l" indent="0" marL="0">
              <a:buNone/>
            </a:pPr>
            <a:r>
              <a:rPr lang="en-US" sz="900" dirty="0">
                <a:solidFill>
                  <a:srgbClr val="3A4048"/>
                </a:solidFill>
                <a:latin typeface="Calibri" pitchFamily="34" charset="0"/>
                <a:ea typeface="Calibri" pitchFamily="34" charset="-122"/>
                <a:cs typeface="Calibri" pitchFamily="34" charset="-120"/>
              </a:rPr>
              <a:t>0,0282</a:t>
            </a:r>
            <a:endParaRPr lang="en-US" sz="900" dirty="0"/>
          </a:p>
        </p:txBody>
      </p:sp>
      <p:sp>
        <p:nvSpPr>
          <p:cNvPr id="60" name="Text 58"/>
          <p:cNvSpPr/>
          <p:nvPr/>
        </p:nvSpPr>
        <p:spPr>
          <a:xfrm>
            <a:off x="4444898" y="3721608"/>
            <a:ext cx="1234440" cy="256032"/>
          </a:xfrm>
          <a:prstGeom prst="rect">
            <a:avLst/>
          </a:prstGeom>
          <a:noFill/>
          <a:ln/>
        </p:spPr>
        <p:txBody>
          <a:bodyPr wrap="square" lIns="0" tIns="0" rIns="0" bIns="0" rtlCol="0" anchor="ctr"/>
          <a:lstStyle/>
          <a:p>
            <a:pPr algn="r" indent="0" marL="0">
              <a:buNone/>
            </a:pPr>
            <a:r>
              <a:rPr lang="en-US" sz="900" dirty="0">
                <a:solidFill>
                  <a:srgbClr val="3A4048"/>
                </a:solidFill>
                <a:latin typeface="Calibri" pitchFamily="34" charset="0"/>
                <a:ea typeface="Calibri" pitchFamily="34" charset="-122"/>
                <a:cs typeface="Calibri" pitchFamily="34" charset="-120"/>
              </a:rPr>
              <a:t>income_to_poverty</a:t>
            </a:r>
            <a:endParaRPr lang="en-US" sz="900" dirty="0"/>
          </a:p>
        </p:txBody>
      </p:sp>
      <p:sp>
        <p:nvSpPr>
          <p:cNvPr id="61" name="Shape 59"/>
          <p:cNvSpPr/>
          <p:nvPr/>
        </p:nvSpPr>
        <p:spPr>
          <a:xfrm>
            <a:off x="5789066" y="3785616"/>
            <a:ext cx="1299362" cy="128016"/>
          </a:xfrm>
          <a:prstGeom prst="rect">
            <a:avLst/>
          </a:prstGeom>
          <a:solidFill>
            <a:srgbClr val="F4F1EC"/>
          </a:solidFill>
          <a:ln/>
        </p:spPr>
      </p:sp>
      <p:sp>
        <p:nvSpPr>
          <p:cNvPr id="62" name="Shape 60"/>
          <p:cNvSpPr/>
          <p:nvPr/>
        </p:nvSpPr>
        <p:spPr>
          <a:xfrm>
            <a:off x="5789066" y="3785616"/>
            <a:ext cx="363685" cy="128016"/>
          </a:xfrm>
          <a:prstGeom prst="rect">
            <a:avLst/>
          </a:prstGeom>
          <a:solidFill>
            <a:srgbClr val="8FB0A4"/>
          </a:solidFill>
          <a:ln/>
        </p:spPr>
      </p:sp>
      <p:sp>
        <p:nvSpPr>
          <p:cNvPr id="63" name="Text 61"/>
          <p:cNvSpPr/>
          <p:nvPr/>
        </p:nvSpPr>
        <p:spPr>
          <a:xfrm>
            <a:off x="7179869" y="3721608"/>
            <a:ext cx="548640" cy="256032"/>
          </a:xfrm>
          <a:prstGeom prst="rect">
            <a:avLst/>
          </a:prstGeom>
          <a:noFill/>
          <a:ln/>
        </p:spPr>
        <p:txBody>
          <a:bodyPr wrap="square" lIns="0" tIns="0" rIns="0" bIns="0" rtlCol="0" anchor="ctr"/>
          <a:lstStyle/>
          <a:p>
            <a:pPr algn="l" indent="0" marL="0">
              <a:buNone/>
            </a:pPr>
            <a:r>
              <a:rPr lang="en-US" sz="900" dirty="0">
                <a:solidFill>
                  <a:srgbClr val="3A4048"/>
                </a:solidFill>
                <a:latin typeface="Calibri" pitchFamily="34" charset="0"/>
                <a:ea typeface="Calibri" pitchFamily="34" charset="-122"/>
                <a:cs typeface="Calibri" pitchFamily="34" charset="-120"/>
              </a:rPr>
              <a:t>0,0266</a:t>
            </a:r>
            <a:endParaRPr lang="en-US" sz="900" dirty="0"/>
          </a:p>
        </p:txBody>
      </p:sp>
      <p:sp>
        <p:nvSpPr>
          <p:cNvPr id="64" name="Text 62"/>
          <p:cNvSpPr/>
          <p:nvPr/>
        </p:nvSpPr>
        <p:spPr>
          <a:xfrm>
            <a:off x="4444898" y="4023360"/>
            <a:ext cx="1234440" cy="256032"/>
          </a:xfrm>
          <a:prstGeom prst="rect">
            <a:avLst/>
          </a:prstGeom>
          <a:noFill/>
          <a:ln/>
        </p:spPr>
        <p:txBody>
          <a:bodyPr wrap="square" lIns="0" tIns="0" rIns="0" bIns="0" rtlCol="0" anchor="ctr"/>
          <a:lstStyle/>
          <a:p>
            <a:pPr algn="r" indent="0" marL="0">
              <a:buNone/>
            </a:pPr>
            <a:r>
              <a:rPr lang="en-US" sz="900" dirty="0">
                <a:solidFill>
                  <a:srgbClr val="3A4048"/>
                </a:solidFill>
                <a:latin typeface="Calibri" pitchFamily="34" charset="0"/>
                <a:ea typeface="Calibri" pitchFamily="34" charset="-122"/>
                <a:cs typeface="Calibri" pitchFamily="34" charset="-120"/>
              </a:rPr>
              <a:t>weight_pounds</a:t>
            </a:r>
            <a:endParaRPr lang="en-US" sz="900" dirty="0"/>
          </a:p>
        </p:txBody>
      </p:sp>
      <p:sp>
        <p:nvSpPr>
          <p:cNvPr id="65" name="Shape 63"/>
          <p:cNvSpPr/>
          <p:nvPr/>
        </p:nvSpPr>
        <p:spPr>
          <a:xfrm>
            <a:off x="5789066" y="4087368"/>
            <a:ext cx="1299362" cy="128016"/>
          </a:xfrm>
          <a:prstGeom prst="rect">
            <a:avLst/>
          </a:prstGeom>
          <a:solidFill>
            <a:srgbClr val="F4F1EC"/>
          </a:solidFill>
          <a:ln/>
        </p:spPr>
      </p:sp>
      <p:sp>
        <p:nvSpPr>
          <p:cNvPr id="66" name="Shape 64"/>
          <p:cNvSpPr/>
          <p:nvPr/>
        </p:nvSpPr>
        <p:spPr>
          <a:xfrm>
            <a:off x="5789066" y="4087368"/>
            <a:ext cx="346725" cy="128016"/>
          </a:xfrm>
          <a:prstGeom prst="rect">
            <a:avLst/>
          </a:prstGeom>
          <a:solidFill>
            <a:srgbClr val="8FB0A4"/>
          </a:solidFill>
          <a:ln/>
        </p:spPr>
      </p:sp>
      <p:sp>
        <p:nvSpPr>
          <p:cNvPr id="67" name="Text 65"/>
          <p:cNvSpPr/>
          <p:nvPr/>
        </p:nvSpPr>
        <p:spPr>
          <a:xfrm>
            <a:off x="7179869" y="4023360"/>
            <a:ext cx="548640" cy="256032"/>
          </a:xfrm>
          <a:prstGeom prst="rect">
            <a:avLst/>
          </a:prstGeom>
          <a:noFill/>
          <a:ln/>
        </p:spPr>
        <p:txBody>
          <a:bodyPr wrap="square" lIns="0" tIns="0" rIns="0" bIns="0" rtlCol="0" anchor="ctr"/>
          <a:lstStyle/>
          <a:p>
            <a:pPr algn="l" indent="0" marL="0">
              <a:buNone/>
            </a:pPr>
            <a:r>
              <a:rPr lang="en-US" sz="900" dirty="0">
                <a:solidFill>
                  <a:srgbClr val="3A4048"/>
                </a:solidFill>
                <a:latin typeface="Calibri" pitchFamily="34" charset="0"/>
                <a:ea typeface="Calibri" pitchFamily="34" charset="-122"/>
                <a:cs typeface="Calibri" pitchFamily="34" charset="-120"/>
              </a:rPr>
              <a:t>0,0254</a:t>
            </a:r>
            <a:endParaRPr lang="en-US" sz="900" dirty="0"/>
          </a:p>
        </p:txBody>
      </p:sp>
      <p:sp>
        <p:nvSpPr>
          <p:cNvPr id="68" name="Text 66"/>
          <p:cNvSpPr/>
          <p:nvPr/>
        </p:nvSpPr>
        <p:spPr>
          <a:xfrm>
            <a:off x="4444898" y="4325112"/>
            <a:ext cx="1234440" cy="256032"/>
          </a:xfrm>
          <a:prstGeom prst="rect">
            <a:avLst/>
          </a:prstGeom>
          <a:noFill/>
          <a:ln/>
        </p:spPr>
        <p:txBody>
          <a:bodyPr wrap="square" lIns="0" tIns="0" rIns="0" bIns="0" rtlCol="0" anchor="ctr"/>
          <a:lstStyle/>
          <a:p>
            <a:pPr algn="r" indent="0" marL="0">
              <a:buNone/>
            </a:pPr>
            <a:r>
              <a:rPr lang="en-US" sz="900" dirty="0">
                <a:solidFill>
                  <a:srgbClr val="3A4048"/>
                </a:solidFill>
                <a:latin typeface="Calibri" pitchFamily="34" charset="0"/>
                <a:ea typeface="Calibri" pitchFamily="34" charset="-122"/>
                <a:cs typeface="Calibri" pitchFamily="34" charset="-120"/>
              </a:rPr>
              <a:t>pseudo_psu</a:t>
            </a:r>
            <a:endParaRPr lang="en-US" sz="900" dirty="0"/>
          </a:p>
        </p:txBody>
      </p:sp>
      <p:sp>
        <p:nvSpPr>
          <p:cNvPr id="69" name="Shape 67"/>
          <p:cNvSpPr/>
          <p:nvPr/>
        </p:nvSpPr>
        <p:spPr>
          <a:xfrm>
            <a:off x="5789066" y="4389120"/>
            <a:ext cx="1299362" cy="128016"/>
          </a:xfrm>
          <a:prstGeom prst="rect">
            <a:avLst/>
          </a:prstGeom>
          <a:solidFill>
            <a:srgbClr val="F4F1EC"/>
          </a:solidFill>
          <a:ln/>
        </p:spPr>
      </p:sp>
      <p:sp>
        <p:nvSpPr>
          <p:cNvPr id="70" name="Shape 68"/>
          <p:cNvSpPr/>
          <p:nvPr/>
        </p:nvSpPr>
        <p:spPr>
          <a:xfrm>
            <a:off x="5789066" y="4389120"/>
            <a:ext cx="341117" cy="128016"/>
          </a:xfrm>
          <a:prstGeom prst="rect">
            <a:avLst/>
          </a:prstGeom>
          <a:solidFill>
            <a:srgbClr val="D8A25E"/>
          </a:solidFill>
          <a:ln/>
        </p:spPr>
      </p:sp>
      <p:sp>
        <p:nvSpPr>
          <p:cNvPr id="71" name="Text 69"/>
          <p:cNvSpPr/>
          <p:nvPr/>
        </p:nvSpPr>
        <p:spPr>
          <a:xfrm>
            <a:off x="7179869" y="4325112"/>
            <a:ext cx="548640" cy="256032"/>
          </a:xfrm>
          <a:prstGeom prst="rect">
            <a:avLst/>
          </a:prstGeom>
          <a:noFill/>
          <a:ln/>
        </p:spPr>
        <p:txBody>
          <a:bodyPr wrap="square" lIns="0" tIns="0" rIns="0" bIns="0" rtlCol="0" anchor="ctr"/>
          <a:lstStyle/>
          <a:p>
            <a:pPr algn="l" indent="0" marL="0">
              <a:buNone/>
            </a:pPr>
            <a:r>
              <a:rPr lang="en-US" sz="900" dirty="0">
                <a:solidFill>
                  <a:srgbClr val="3A4048"/>
                </a:solidFill>
                <a:latin typeface="Calibri" pitchFamily="34" charset="0"/>
                <a:ea typeface="Calibri" pitchFamily="34" charset="-122"/>
                <a:cs typeface="Calibri" pitchFamily="34" charset="-120"/>
              </a:rPr>
              <a:t>0,0249</a:t>
            </a:r>
            <a:endParaRPr lang="en-US" sz="900" dirty="0"/>
          </a:p>
        </p:txBody>
      </p:sp>
      <p:sp>
        <p:nvSpPr>
          <p:cNvPr id="72" name="Text 70"/>
          <p:cNvSpPr/>
          <p:nvPr/>
        </p:nvSpPr>
        <p:spPr>
          <a:xfrm>
            <a:off x="4554626" y="4727448"/>
            <a:ext cx="3082442" cy="868680"/>
          </a:xfrm>
          <a:prstGeom prst="rect">
            <a:avLst/>
          </a:prstGeom>
          <a:noFill/>
          <a:ln/>
        </p:spPr>
        <p:txBody>
          <a:bodyPr wrap="square" lIns="0" tIns="0" rIns="0" bIns="0" rtlCol="0" anchor="t"/>
          <a:lstStyle/>
          <a:p>
            <a:pPr algn="l" indent="0" marL="0">
              <a:lnSpc>
                <a:spcPts val="1283"/>
              </a:lnSpc>
              <a:buNone/>
            </a:pPr>
            <a:r>
              <a:rPr lang="en-US" sz="950" dirty="0">
                <a:solidFill>
                  <a:srgbClr val="3A4048"/>
                </a:solidFill>
                <a:latin typeface="Calibri" pitchFamily="34" charset="0"/>
                <a:ea typeface="Calibri" pitchFamily="34" charset="-122"/>
                <a:cs typeface="Calibri" pitchFamily="34" charset="-120"/>
              </a:rPr>
              <a:t>Penurunan QWK saat kolom diacak, acuan subsampel 0,83695. Bobot survei dan pseudo-PSU membawa informasi geografis tak langsung, bukan kebocoran.</a:t>
            </a:r>
            <a:endParaRPr lang="en-US" sz="950" dirty="0"/>
          </a:p>
        </p:txBody>
      </p:sp>
      <p:sp>
        <p:nvSpPr>
          <p:cNvPr id="73" name="Text 71"/>
          <p:cNvSpPr/>
          <p:nvPr/>
        </p:nvSpPr>
        <p:spPr>
          <a:xfrm>
            <a:off x="4554626" y="5559552"/>
            <a:ext cx="3082442" cy="548640"/>
          </a:xfrm>
          <a:prstGeom prst="rect">
            <a:avLst/>
          </a:prstGeom>
          <a:noFill/>
          <a:ln/>
        </p:spPr>
        <p:txBody>
          <a:bodyPr wrap="square" lIns="0" tIns="0" rIns="0" bIns="0" rtlCol="0" anchor="t"/>
          <a:lstStyle/>
          <a:p>
            <a:pPr indent="0" marL="0">
              <a:lnSpc>
                <a:spcPts val="1300"/>
              </a:lnSpc>
              <a:buNone/>
            </a:pPr>
            <a:r>
              <a:rPr lang="en-US" sz="1000" b="1" dirty="0">
                <a:solidFill>
                  <a:srgbClr val="A8442A"/>
                </a:solidFill>
                <a:latin typeface="Calibri" pitchFamily="34" charset="0"/>
                <a:ea typeface="Calibri" pitchFamily="34" charset="-122"/>
                <a:cs typeface="Calibri" pitchFamily="34" charset="-120"/>
              </a:rPr>
              <a:t>Implikasi: </a:t>
            </a:r>
            <a:pPr indent="0" marL="0">
              <a:lnSpc>
                <a:spcPts val="1300"/>
              </a:lnSpc>
              <a:buNone/>
            </a:pPr>
            <a:r>
              <a:rPr lang="en-US" sz="1000" dirty="0">
                <a:solidFill>
                  <a:srgbClr val="3A4048"/>
                </a:solidFill>
                <a:latin typeface="Calibri" pitchFamily="34" charset="0"/>
                <a:ea typeface="Calibri" pitchFamily="34" charset="-122"/>
                <a:cs typeface="Calibri" pitchFamily="34" charset="-120"/>
              </a:rPr>
              <a:t>tidak ada fitur dominan, persis seperti ramalan EDA.</a:t>
            </a:r>
            <a:endParaRPr lang="en-US" sz="1000" dirty="0"/>
          </a:p>
        </p:txBody>
      </p:sp>
      <p:sp>
        <p:nvSpPr>
          <p:cNvPr id="74" name="Shape 72"/>
          <p:cNvSpPr/>
          <p:nvPr/>
        </p:nvSpPr>
        <p:spPr>
          <a:xfrm>
            <a:off x="8066837" y="1371600"/>
            <a:ext cx="3484778" cy="4846320"/>
          </a:xfrm>
          <a:prstGeom prst="roundRect">
            <a:avLst>
              <a:gd name="adj" fmla="val 1574"/>
            </a:avLst>
          </a:prstGeom>
          <a:solidFill>
            <a:srgbClr val="F4F1EC"/>
          </a:solidFill>
          <a:ln w="9525">
            <a:solidFill>
              <a:srgbClr val="DCD8D1"/>
            </a:solidFill>
            <a:prstDash val="solid"/>
          </a:ln>
        </p:spPr>
      </p:sp>
      <p:sp>
        <p:nvSpPr>
          <p:cNvPr id="75" name="Text 73"/>
          <p:cNvSpPr/>
          <p:nvPr/>
        </p:nvSpPr>
        <p:spPr>
          <a:xfrm>
            <a:off x="8268005" y="1499616"/>
            <a:ext cx="3082442" cy="201168"/>
          </a:xfrm>
          <a:prstGeom prst="rect">
            <a:avLst/>
          </a:prstGeom>
          <a:noFill/>
          <a:ln/>
        </p:spPr>
        <p:txBody>
          <a:bodyPr wrap="square" lIns="0" tIns="0" rIns="0" bIns="0" rtlCol="0" anchor="ctr"/>
          <a:lstStyle/>
          <a:p>
            <a:pPr indent="0" marL="0">
              <a:buNone/>
            </a:pPr>
            <a:r>
              <a:rPr lang="en-US" sz="850" b="1" spc="120" kern="0" dirty="0">
                <a:solidFill>
                  <a:srgbClr val="6E747C"/>
                </a:solidFill>
                <a:latin typeface="Calibri" pitchFamily="34" charset="0"/>
                <a:ea typeface="Calibri" pitchFamily="34" charset="-122"/>
                <a:cs typeface="Calibri" pitchFamily="34" charset="-120"/>
              </a:rPr>
              <a:t>MEMBACA 0,484</a:t>
            </a:r>
            <a:endParaRPr lang="en-US" sz="850" dirty="0"/>
          </a:p>
        </p:txBody>
      </p:sp>
      <p:sp>
        <p:nvSpPr>
          <p:cNvPr id="76" name="Text 74"/>
          <p:cNvSpPr/>
          <p:nvPr/>
        </p:nvSpPr>
        <p:spPr>
          <a:xfrm>
            <a:off x="8268005" y="1700784"/>
            <a:ext cx="3082442" cy="475488"/>
          </a:xfrm>
          <a:prstGeom prst="rect">
            <a:avLst/>
          </a:prstGeom>
          <a:noFill/>
          <a:ln/>
        </p:spPr>
        <p:txBody>
          <a:bodyPr wrap="square" lIns="0" tIns="0" rIns="0" bIns="0" rtlCol="0" anchor="t"/>
          <a:lstStyle/>
          <a:p>
            <a:pPr indent="0" marL="0">
              <a:lnSpc>
                <a:spcPts val="1600"/>
              </a:lnSpc>
              <a:buNone/>
            </a:pPr>
            <a:r>
              <a:rPr lang="en-US" sz="1300" b="1" dirty="0">
                <a:solidFill>
                  <a:srgbClr val="16191D"/>
                </a:solidFill>
                <a:latin typeface="Cambria" pitchFamily="34" charset="0"/>
                <a:ea typeface="Cambria" pitchFamily="34" charset="-122"/>
                <a:cs typeface="Cambria" pitchFamily="34" charset="-120"/>
              </a:rPr>
              <a:t>Landis &amp; Koch (1977)</a:t>
            </a:r>
            <a:endParaRPr lang="en-US" sz="1300" dirty="0"/>
          </a:p>
        </p:txBody>
      </p:sp>
      <p:sp>
        <p:nvSpPr>
          <p:cNvPr id="77" name="Shape 75"/>
          <p:cNvSpPr/>
          <p:nvPr/>
        </p:nvSpPr>
        <p:spPr>
          <a:xfrm>
            <a:off x="8268005" y="2212848"/>
            <a:ext cx="1828800" cy="301752"/>
          </a:xfrm>
          <a:prstGeom prst="rect">
            <a:avLst/>
          </a:prstGeom>
          <a:solidFill>
            <a:srgbClr val="FFFFFF"/>
          </a:solidFill>
          <a:ln w="6350">
            <a:solidFill>
              <a:srgbClr val="DCD8D1"/>
            </a:solidFill>
            <a:prstDash val="solid"/>
          </a:ln>
        </p:spPr>
      </p:sp>
      <p:sp>
        <p:nvSpPr>
          <p:cNvPr id="78" name="Text 76"/>
          <p:cNvSpPr/>
          <p:nvPr/>
        </p:nvSpPr>
        <p:spPr>
          <a:xfrm>
            <a:off x="8341157" y="2212848"/>
            <a:ext cx="1737360" cy="301752"/>
          </a:xfrm>
          <a:prstGeom prst="rect">
            <a:avLst/>
          </a:prstGeom>
          <a:noFill/>
          <a:ln/>
        </p:spPr>
        <p:txBody>
          <a:bodyPr wrap="square" lIns="0" tIns="0" rIns="0" bIns="0" rtlCol="0" anchor="ctr"/>
          <a:lstStyle/>
          <a:p>
            <a:pPr indent="0" marL="0">
              <a:buNone/>
            </a:pPr>
            <a:r>
              <a:rPr lang="en-US" sz="950" dirty="0">
                <a:solidFill>
                  <a:srgbClr val="3A4048"/>
                </a:solidFill>
                <a:latin typeface="Calibri" pitchFamily="34" charset="0"/>
                <a:ea typeface="Calibri" pitchFamily="34" charset="-122"/>
                <a:cs typeface="Calibri" pitchFamily="34" charset="-120"/>
              </a:rPr>
              <a:t>hampir sempurna  0,81–1,00</a:t>
            </a:r>
            <a:endParaRPr lang="en-US" sz="950" dirty="0"/>
          </a:p>
        </p:txBody>
      </p:sp>
      <p:sp>
        <p:nvSpPr>
          <p:cNvPr id="79" name="Shape 77"/>
          <p:cNvSpPr/>
          <p:nvPr/>
        </p:nvSpPr>
        <p:spPr>
          <a:xfrm>
            <a:off x="8268005" y="2560320"/>
            <a:ext cx="1828800" cy="301752"/>
          </a:xfrm>
          <a:prstGeom prst="rect">
            <a:avLst/>
          </a:prstGeom>
          <a:solidFill>
            <a:srgbClr val="FFFFFF"/>
          </a:solidFill>
          <a:ln w="6350">
            <a:solidFill>
              <a:srgbClr val="DCD8D1"/>
            </a:solidFill>
            <a:prstDash val="solid"/>
          </a:ln>
        </p:spPr>
      </p:sp>
      <p:sp>
        <p:nvSpPr>
          <p:cNvPr id="80" name="Text 78"/>
          <p:cNvSpPr/>
          <p:nvPr/>
        </p:nvSpPr>
        <p:spPr>
          <a:xfrm>
            <a:off x="8341157" y="2560320"/>
            <a:ext cx="1737360" cy="301752"/>
          </a:xfrm>
          <a:prstGeom prst="rect">
            <a:avLst/>
          </a:prstGeom>
          <a:noFill/>
          <a:ln/>
        </p:spPr>
        <p:txBody>
          <a:bodyPr wrap="square" lIns="0" tIns="0" rIns="0" bIns="0" rtlCol="0" anchor="ctr"/>
          <a:lstStyle/>
          <a:p>
            <a:pPr indent="0" marL="0">
              <a:buNone/>
            </a:pPr>
            <a:r>
              <a:rPr lang="en-US" sz="950" dirty="0">
                <a:solidFill>
                  <a:srgbClr val="3A4048"/>
                </a:solidFill>
                <a:latin typeface="Calibri" pitchFamily="34" charset="0"/>
                <a:ea typeface="Calibri" pitchFamily="34" charset="-122"/>
                <a:cs typeface="Calibri" pitchFamily="34" charset="-120"/>
              </a:rPr>
              <a:t>substansial  0,61–0,80</a:t>
            </a:r>
            <a:endParaRPr lang="en-US" sz="950" dirty="0"/>
          </a:p>
        </p:txBody>
      </p:sp>
      <p:sp>
        <p:nvSpPr>
          <p:cNvPr id="81" name="Shape 79"/>
          <p:cNvSpPr/>
          <p:nvPr/>
        </p:nvSpPr>
        <p:spPr>
          <a:xfrm>
            <a:off x="8268005" y="2907792"/>
            <a:ext cx="1828800" cy="301752"/>
          </a:xfrm>
          <a:prstGeom prst="rect">
            <a:avLst/>
          </a:prstGeom>
          <a:solidFill>
            <a:srgbClr val="2F6B5F"/>
          </a:solidFill>
          <a:ln w="6350">
            <a:solidFill>
              <a:srgbClr val="DCD8D1"/>
            </a:solidFill>
            <a:prstDash val="solid"/>
          </a:ln>
        </p:spPr>
      </p:sp>
      <p:sp>
        <p:nvSpPr>
          <p:cNvPr id="82" name="Text 80"/>
          <p:cNvSpPr/>
          <p:nvPr/>
        </p:nvSpPr>
        <p:spPr>
          <a:xfrm>
            <a:off x="8341157" y="2907792"/>
            <a:ext cx="1737360" cy="301752"/>
          </a:xfrm>
          <a:prstGeom prst="rect">
            <a:avLst/>
          </a:prstGeom>
          <a:noFill/>
          <a:ln/>
        </p:spPr>
        <p:txBody>
          <a:bodyPr wrap="square" lIns="0" tIns="0" rIns="0" bIns="0" rtlCol="0" anchor="ctr"/>
          <a:lstStyle/>
          <a:p>
            <a:pPr indent="0" marL="0">
              <a:buNone/>
            </a:pPr>
            <a:r>
              <a:rPr lang="en-US" sz="950" b="1" dirty="0">
                <a:solidFill>
                  <a:srgbClr val="FFFFFF"/>
                </a:solidFill>
                <a:latin typeface="Calibri" pitchFamily="34" charset="0"/>
                <a:ea typeface="Calibri" pitchFamily="34" charset="-122"/>
                <a:cs typeface="Calibri" pitchFamily="34" charset="-120"/>
              </a:rPr>
              <a:t>sedang  0,41–0,60</a:t>
            </a:r>
            <a:endParaRPr lang="en-US" sz="950" dirty="0"/>
          </a:p>
        </p:txBody>
      </p:sp>
      <p:sp>
        <p:nvSpPr>
          <p:cNvPr id="83" name="Shape 81"/>
          <p:cNvSpPr/>
          <p:nvPr/>
        </p:nvSpPr>
        <p:spPr>
          <a:xfrm>
            <a:off x="8268005" y="3255264"/>
            <a:ext cx="1828800" cy="301752"/>
          </a:xfrm>
          <a:prstGeom prst="rect">
            <a:avLst/>
          </a:prstGeom>
          <a:solidFill>
            <a:srgbClr val="FFFFFF"/>
          </a:solidFill>
          <a:ln w="6350">
            <a:solidFill>
              <a:srgbClr val="DCD8D1"/>
            </a:solidFill>
            <a:prstDash val="solid"/>
          </a:ln>
        </p:spPr>
      </p:sp>
      <p:sp>
        <p:nvSpPr>
          <p:cNvPr id="84" name="Text 82"/>
          <p:cNvSpPr/>
          <p:nvPr/>
        </p:nvSpPr>
        <p:spPr>
          <a:xfrm>
            <a:off x="8341157" y="3255264"/>
            <a:ext cx="1737360" cy="301752"/>
          </a:xfrm>
          <a:prstGeom prst="rect">
            <a:avLst/>
          </a:prstGeom>
          <a:noFill/>
          <a:ln/>
        </p:spPr>
        <p:txBody>
          <a:bodyPr wrap="square" lIns="0" tIns="0" rIns="0" bIns="0" rtlCol="0" anchor="ctr"/>
          <a:lstStyle/>
          <a:p>
            <a:pPr indent="0" marL="0">
              <a:buNone/>
            </a:pPr>
            <a:r>
              <a:rPr lang="en-US" sz="950" dirty="0">
                <a:solidFill>
                  <a:srgbClr val="3A4048"/>
                </a:solidFill>
                <a:latin typeface="Calibri" pitchFamily="34" charset="0"/>
                <a:ea typeface="Calibri" pitchFamily="34" charset="-122"/>
                <a:cs typeface="Calibri" pitchFamily="34" charset="-120"/>
              </a:rPr>
              <a:t>cukup  0,21–0,40</a:t>
            </a:r>
            <a:endParaRPr lang="en-US" sz="950" dirty="0"/>
          </a:p>
        </p:txBody>
      </p:sp>
      <p:sp>
        <p:nvSpPr>
          <p:cNvPr id="85" name="Shape 83"/>
          <p:cNvSpPr/>
          <p:nvPr/>
        </p:nvSpPr>
        <p:spPr>
          <a:xfrm>
            <a:off x="8268005" y="3602736"/>
            <a:ext cx="1828800" cy="301752"/>
          </a:xfrm>
          <a:prstGeom prst="rect">
            <a:avLst/>
          </a:prstGeom>
          <a:solidFill>
            <a:srgbClr val="FFFFFF"/>
          </a:solidFill>
          <a:ln w="6350">
            <a:solidFill>
              <a:srgbClr val="DCD8D1"/>
            </a:solidFill>
            <a:prstDash val="solid"/>
          </a:ln>
        </p:spPr>
      </p:sp>
      <p:sp>
        <p:nvSpPr>
          <p:cNvPr id="86" name="Text 84"/>
          <p:cNvSpPr/>
          <p:nvPr/>
        </p:nvSpPr>
        <p:spPr>
          <a:xfrm>
            <a:off x="8341157" y="3602736"/>
            <a:ext cx="1737360" cy="301752"/>
          </a:xfrm>
          <a:prstGeom prst="rect">
            <a:avLst/>
          </a:prstGeom>
          <a:noFill/>
          <a:ln/>
        </p:spPr>
        <p:txBody>
          <a:bodyPr wrap="square" lIns="0" tIns="0" rIns="0" bIns="0" rtlCol="0" anchor="ctr"/>
          <a:lstStyle/>
          <a:p>
            <a:pPr indent="0" marL="0">
              <a:buNone/>
            </a:pPr>
            <a:r>
              <a:rPr lang="en-US" sz="950" dirty="0">
                <a:solidFill>
                  <a:srgbClr val="3A4048"/>
                </a:solidFill>
                <a:latin typeface="Calibri" pitchFamily="34" charset="0"/>
                <a:ea typeface="Calibri" pitchFamily="34" charset="-122"/>
                <a:cs typeface="Calibri" pitchFamily="34" charset="-120"/>
              </a:rPr>
              <a:t>sedikit  0,00–0,20</a:t>
            </a:r>
            <a:endParaRPr lang="en-US" sz="950" dirty="0"/>
          </a:p>
        </p:txBody>
      </p:sp>
      <p:sp>
        <p:nvSpPr>
          <p:cNvPr id="87" name="Text 85"/>
          <p:cNvSpPr/>
          <p:nvPr/>
        </p:nvSpPr>
        <p:spPr>
          <a:xfrm>
            <a:off x="10169957" y="2871216"/>
            <a:ext cx="1280160" cy="457200"/>
          </a:xfrm>
          <a:prstGeom prst="rect">
            <a:avLst/>
          </a:prstGeom>
          <a:noFill/>
          <a:ln/>
        </p:spPr>
        <p:txBody>
          <a:bodyPr wrap="square" lIns="0" tIns="0" rIns="0" bIns="0" rtlCol="0" anchor="ctr"/>
          <a:lstStyle/>
          <a:p>
            <a:pPr indent="0" marL="0">
              <a:lnSpc>
                <a:spcPts val="1300"/>
              </a:lnSpc>
              <a:buNone/>
            </a:pPr>
            <a:r>
              <a:rPr lang="en-US" sz="950" b="1" dirty="0">
                <a:solidFill>
                  <a:srgbClr val="A8442A"/>
                </a:solidFill>
                <a:latin typeface="Calibri" pitchFamily="34" charset="0"/>
                <a:ea typeface="Calibri" pitchFamily="34" charset="-122"/>
                <a:cs typeface="Calibri" pitchFamily="34" charset="-120"/>
              </a:rPr>
              <a:t>← pipeline 0,484</a:t>
            </a:r>
            <a:endParaRPr lang="en-US" sz="950" dirty="0"/>
          </a:p>
          <a:p>
            <a:pPr indent="0" marL="0">
              <a:lnSpc>
                <a:spcPts val="1300"/>
              </a:lnSpc>
              <a:buNone/>
            </a:pPr>
            <a:r>
              <a:rPr lang="en-US" sz="950" b="1" dirty="0">
                <a:solidFill>
                  <a:srgbClr val="A8442A"/>
                </a:solidFill>
                <a:latin typeface="Calibri" pitchFamily="34" charset="0"/>
                <a:ea typeface="Calibri" pitchFamily="34" charset="-122"/>
                <a:cs typeface="Calibri" pitchFamily="34" charset="-120"/>
              </a:rPr>
              <a:t>    argmax 0,414</a:t>
            </a:r>
            <a:endParaRPr lang="en-US" sz="950" dirty="0"/>
          </a:p>
        </p:txBody>
      </p:sp>
      <p:sp>
        <p:nvSpPr>
          <p:cNvPr id="88" name="Text 86"/>
          <p:cNvSpPr/>
          <p:nvPr/>
        </p:nvSpPr>
        <p:spPr>
          <a:xfrm>
            <a:off x="8268005" y="4087368"/>
            <a:ext cx="3082442" cy="1097280"/>
          </a:xfrm>
          <a:prstGeom prst="rect">
            <a:avLst/>
          </a:prstGeom>
          <a:noFill/>
          <a:ln/>
        </p:spPr>
        <p:txBody>
          <a:bodyPr wrap="square" lIns="0" tIns="0" rIns="0" bIns="0" rtlCol="0" anchor="t"/>
          <a:lstStyle/>
          <a:p>
            <a:pPr algn="l" indent="0" marL="0">
              <a:lnSpc>
                <a:spcPts val="1283"/>
              </a:lnSpc>
              <a:buNone/>
            </a:pPr>
            <a:r>
              <a:rPr lang="en-US" sz="950" dirty="0">
                <a:solidFill>
                  <a:srgbClr val="3A4048"/>
                </a:solidFill>
                <a:latin typeface="Calibri" pitchFamily="34" charset="0"/>
                <a:ea typeface="Calibri" pitchFamily="34" charset="-122"/>
                <a:cs typeface="Calibri" pitchFamily="34" charset="-120"/>
              </a:rPr>
              <a:t>Batas teoretis: sekitar separuh variasi kesejahteraan terkait faktor bawaan (Lykken &amp; Tellegen 1996) yang tidak diukur survei kesehatan mana pun.</a:t>
            </a:r>
            <a:endParaRPr lang="en-US" sz="950" dirty="0"/>
          </a:p>
        </p:txBody>
      </p:sp>
      <p:sp>
        <p:nvSpPr>
          <p:cNvPr id="89" name="Text 87"/>
          <p:cNvSpPr/>
          <p:nvPr/>
        </p:nvSpPr>
        <p:spPr>
          <a:xfrm>
            <a:off x="8268005" y="5559552"/>
            <a:ext cx="3082442" cy="548640"/>
          </a:xfrm>
          <a:prstGeom prst="rect">
            <a:avLst/>
          </a:prstGeom>
          <a:noFill/>
          <a:ln/>
        </p:spPr>
        <p:txBody>
          <a:bodyPr wrap="square" lIns="0" tIns="0" rIns="0" bIns="0" rtlCol="0" anchor="t"/>
          <a:lstStyle/>
          <a:p>
            <a:pPr indent="0" marL="0">
              <a:lnSpc>
                <a:spcPts val="1300"/>
              </a:lnSpc>
              <a:buNone/>
            </a:pPr>
            <a:r>
              <a:rPr lang="en-US" sz="1000" b="1" dirty="0">
                <a:solidFill>
                  <a:srgbClr val="A8442A"/>
                </a:solidFill>
                <a:latin typeface="Calibri" pitchFamily="34" charset="0"/>
                <a:ea typeface="Calibri" pitchFamily="34" charset="-122"/>
                <a:cs typeface="Calibri" pitchFamily="34" charset="-120"/>
              </a:rPr>
              <a:t>Implikasi: </a:t>
            </a:r>
            <a:pPr indent="0" marL="0">
              <a:lnSpc>
                <a:spcPts val="1300"/>
              </a:lnSpc>
              <a:buNone/>
            </a:pPr>
            <a:r>
              <a:rPr lang="en-US" sz="1000" dirty="0">
                <a:solidFill>
                  <a:srgbClr val="3A4048"/>
                </a:solidFill>
                <a:latin typeface="Calibri" pitchFamily="34" charset="0"/>
                <a:ea typeface="Calibri" pitchFamily="34" charset="-122"/>
                <a:cs typeface="Calibri" pitchFamily="34" charset="-120"/>
              </a:rPr>
              <a:t>klaim yang jujur adalah sedang, dekat batas yang diizinkan informasinya.</a:t>
            </a:r>
            <a:endParaRPr lang="en-US" sz="1000" dirty="0"/>
          </a:p>
        </p:txBody>
      </p:sp>
      <p:sp>
        <p:nvSpPr>
          <p:cNvPr id="91" name="Shape 88"/>
          <p:cNvSpPr/>
          <p:nvPr/>
        </p:nvSpPr>
        <p:spPr>
          <a:xfrm>
            <a:off x="640080" y="6400800"/>
            <a:ext cx="1572768" cy="45720"/>
          </a:xfrm>
          <a:prstGeom prst="rect">
            <a:avLst/>
          </a:prstGeom>
          <a:solidFill>
            <a:srgbClr val="DCD8D1"/>
          </a:solidFill>
          <a:ln/>
        </p:spPr>
      </p:sp>
      <p:sp>
        <p:nvSpPr>
          <p:cNvPr id="92" name="Text 89"/>
          <p:cNvSpPr/>
          <p:nvPr/>
        </p:nvSpPr>
        <p:spPr>
          <a:xfrm>
            <a:off x="640080"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I · Latar &amp; data</a:t>
            </a:r>
            <a:endParaRPr lang="en-US" sz="850" dirty="0"/>
          </a:p>
        </p:txBody>
      </p:sp>
      <p:sp>
        <p:nvSpPr>
          <p:cNvPr id="93" name="Shape 90"/>
          <p:cNvSpPr/>
          <p:nvPr/>
        </p:nvSpPr>
        <p:spPr>
          <a:xfrm>
            <a:off x="2304288" y="6400800"/>
            <a:ext cx="1572768" cy="45720"/>
          </a:xfrm>
          <a:prstGeom prst="rect">
            <a:avLst/>
          </a:prstGeom>
          <a:solidFill>
            <a:srgbClr val="DCD8D1"/>
          </a:solidFill>
          <a:ln/>
        </p:spPr>
      </p:sp>
      <p:sp>
        <p:nvSpPr>
          <p:cNvPr id="94" name="Text 91"/>
          <p:cNvSpPr/>
          <p:nvPr/>
        </p:nvSpPr>
        <p:spPr>
          <a:xfrm>
            <a:off x="2304288"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II · EDA</a:t>
            </a:r>
            <a:endParaRPr lang="en-US" sz="850" dirty="0"/>
          </a:p>
        </p:txBody>
      </p:sp>
      <p:sp>
        <p:nvSpPr>
          <p:cNvPr id="95" name="Shape 92"/>
          <p:cNvSpPr/>
          <p:nvPr/>
        </p:nvSpPr>
        <p:spPr>
          <a:xfrm>
            <a:off x="3968496" y="6400800"/>
            <a:ext cx="1572768" cy="45720"/>
          </a:xfrm>
          <a:prstGeom prst="rect">
            <a:avLst/>
          </a:prstGeom>
          <a:solidFill>
            <a:srgbClr val="DCD8D1"/>
          </a:solidFill>
          <a:ln/>
        </p:spPr>
      </p:sp>
      <p:sp>
        <p:nvSpPr>
          <p:cNvPr id="96" name="Text 93"/>
          <p:cNvSpPr/>
          <p:nvPr/>
        </p:nvSpPr>
        <p:spPr>
          <a:xfrm>
            <a:off x="3968496"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III · Pipeline</a:t>
            </a:r>
            <a:endParaRPr lang="en-US" sz="850" dirty="0"/>
          </a:p>
        </p:txBody>
      </p:sp>
      <p:sp>
        <p:nvSpPr>
          <p:cNvPr id="97" name="Shape 94"/>
          <p:cNvSpPr/>
          <p:nvPr/>
        </p:nvSpPr>
        <p:spPr>
          <a:xfrm>
            <a:off x="5632704" y="6400800"/>
            <a:ext cx="1572768" cy="45720"/>
          </a:xfrm>
          <a:prstGeom prst="rect">
            <a:avLst/>
          </a:prstGeom>
          <a:solidFill>
            <a:srgbClr val="DCD8D1"/>
          </a:solidFill>
          <a:ln/>
        </p:spPr>
      </p:sp>
      <p:sp>
        <p:nvSpPr>
          <p:cNvPr id="98" name="Text 95"/>
          <p:cNvSpPr/>
          <p:nvPr/>
        </p:nvSpPr>
        <p:spPr>
          <a:xfrm>
            <a:off x="5632704"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IV · Disiplin estimasi</a:t>
            </a:r>
            <a:endParaRPr lang="en-US" sz="850" dirty="0"/>
          </a:p>
        </p:txBody>
      </p:sp>
      <p:sp>
        <p:nvSpPr>
          <p:cNvPr id="99" name="Shape 96"/>
          <p:cNvSpPr/>
          <p:nvPr/>
        </p:nvSpPr>
        <p:spPr>
          <a:xfrm>
            <a:off x="7296912" y="6400800"/>
            <a:ext cx="1572768" cy="45720"/>
          </a:xfrm>
          <a:prstGeom prst="rect">
            <a:avLst/>
          </a:prstGeom>
          <a:solidFill>
            <a:srgbClr val="A8442A"/>
          </a:solidFill>
          <a:ln/>
        </p:spPr>
      </p:sp>
      <p:sp>
        <p:nvSpPr>
          <p:cNvPr id="100" name="Text 97"/>
          <p:cNvSpPr/>
          <p:nvPr/>
        </p:nvSpPr>
        <p:spPr>
          <a:xfrm>
            <a:off x="7296912" y="6464808"/>
            <a:ext cx="1572768" cy="201168"/>
          </a:xfrm>
          <a:prstGeom prst="rect">
            <a:avLst/>
          </a:prstGeom>
          <a:noFill/>
          <a:ln/>
        </p:spPr>
        <p:txBody>
          <a:bodyPr wrap="square" lIns="0" tIns="0" rIns="0" bIns="0" rtlCol="0" anchor="ctr"/>
          <a:lstStyle/>
          <a:p>
            <a:pPr indent="0" marL="0">
              <a:buNone/>
            </a:pPr>
            <a:r>
              <a:rPr lang="en-US" sz="850" b="1" dirty="0">
                <a:solidFill>
                  <a:srgbClr val="16191D"/>
                </a:solidFill>
                <a:latin typeface="Calibri" pitchFamily="34" charset="0"/>
                <a:ea typeface="Calibri" pitchFamily="34" charset="-122"/>
                <a:cs typeface="Calibri" pitchFamily="34" charset="-120"/>
              </a:rPr>
              <a:t>V · Hasil &amp; plafon</a:t>
            </a:r>
            <a:endParaRPr lang="en-US" sz="850" dirty="0"/>
          </a:p>
        </p:txBody>
      </p:sp>
      <p:sp>
        <p:nvSpPr>
          <p:cNvPr id="101" name="Shape 98"/>
          <p:cNvSpPr/>
          <p:nvPr/>
        </p:nvSpPr>
        <p:spPr>
          <a:xfrm>
            <a:off x="8961120" y="6400800"/>
            <a:ext cx="1572768" cy="45720"/>
          </a:xfrm>
          <a:prstGeom prst="rect">
            <a:avLst/>
          </a:prstGeom>
          <a:solidFill>
            <a:srgbClr val="DCD8D1"/>
          </a:solidFill>
          <a:ln/>
        </p:spPr>
      </p:sp>
      <p:sp>
        <p:nvSpPr>
          <p:cNvPr id="102" name="Text 99"/>
          <p:cNvSpPr/>
          <p:nvPr/>
        </p:nvSpPr>
        <p:spPr>
          <a:xfrm>
            <a:off x="8961120"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VI · Reproduksi &amp; produk</a:t>
            </a:r>
            <a:endParaRPr lang="en-US" sz="850" dirty="0"/>
          </a:p>
        </p:txBody>
      </p:sp>
      <p:sp>
        <p:nvSpPr>
          <p:cNvPr id="103" name="Text 100"/>
          <p:cNvSpPr/>
          <p:nvPr/>
        </p:nvSpPr>
        <p:spPr>
          <a:xfrm>
            <a:off x="10637215" y="6382512"/>
            <a:ext cx="914400" cy="274320"/>
          </a:xfrm>
          <a:prstGeom prst="rect">
            <a:avLst/>
          </a:prstGeom>
          <a:noFill/>
          <a:ln/>
        </p:spPr>
        <p:txBody>
          <a:bodyPr wrap="square" lIns="0" tIns="0" rIns="0" bIns="0" rtlCol="0" anchor="ctr"/>
          <a:lstStyle/>
          <a:p>
            <a:pPr algn="r" indent="0" marL="0">
              <a:buNone/>
            </a:pPr>
            <a:r>
              <a:rPr lang="en-US" sz="900" b="1" dirty="0">
                <a:solidFill>
                  <a:srgbClr val="9AA0A7"/>
                </a:solidFill>
                <a:latin typeface="Calibri" pitchFamily="34" charset="0"/>
                <a:ea typeface="Calibri" pitchFamily="34" charset="-122"/>
                <a:cs typeface="Calibri"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84048"/>
            <a:ext cx="10911535" cy="530352"/>
          </a:xfrm>
          <a:prstGeom prst="rect">
            <a:avLst/>
          </a:prstGeom>
          <a:noFill/>
          <a:ln/>
        </p:spPr>
        <p:txBody>
          <a:bodyPr wrap="square" lIns="0" tIns="0" rIns="0" bIns="0" rtlCol="0" anchor="t"/>
          <a:lstStyle/>
          <a:p>
            <a:pPr indent="0" marL="0">
              <a:buNone/>
            </a:pPr>
            <a:r>
              <a:rPr lang="en-US" sz="2400" b="1" dirty="0">
                <a:solidFill>
                  <a:srgbClr val="16191D"/>
                </a:solidFill>
                <a:latin typeface="Cambria" pitchFamily="34" charset="0"/>
                <a:ea typeface="Cambria" pitchFamily="34" charset="-122"/>
                <a:cs typeface="Cambria" pitchFamily="34" charset="-120"/>
              </a:rPr>
              <a:t>Plafonnya milik data, dan enam peringkat teratas tak terbedakan.</a:t>
            </a:r>
            <a:endParaRPr lang="en-US" sz="2400" dirty="0"/>
          </a:p>
        </p:txBody>
      </p:sp>
      <p:sp>
        <p:nvSpPr>
          <p:cNvPr id="3" name="Text 1"/>
          <p:cNvSpPr/>
          <p:nvPr/>
        </p:nvSpPr>
        <p:spPr>
          <a:xfrm>
            <a:off x="640080" y="896112"/>
            <a:ext cx="10911535" cy="310896"/>
          </a:xfrm>
          <a:prstGeom prst="rect">
            <a:avLst/>
          </a:prstGeom>
          <a:noFill/>
          <a:ln/>
        </p:spPr>
        <p:txBody>
          <a:bodyPr wrap="square" lIns="0" tIns="0" rIns="0" bIns="0" rtlCol="0" anchor="t"/>
          <a:lstStyle/>
          <a:p>
            <a:pPr indent="0" marL="0">
              <a:buNone/>
            </a:pPr>
            <a:r>
              <a:rPr lang="en-US" sz="1250" dirty="0">
                <a:solidFill>
                  <a:srgbClr val="6E747C"/>
                </a:solidFill>
                <a:latin typeface="Calibri" pitchFamily="34" charset="0"/>
                <a:ea typeface="Calibri" pitchFamily="34" charset="-122"/>
                <a:cs typeface="Calibri" pitchFamily="34" charset="-120"/>
              </a:rPr>
              <a:t>Kurva belajar pada lima ukuran data, ekstrapolasinya, dan bootstrap 400 kali atas matriks konfusi kami sendiri.</a:t>
            </a:r>
            <a:endParaRPr lang="en-US" sz="1250" dirty="0"/>
          </a:p>
        </p:txBody>
      </p:sp>
      <p:sp>
        <p:nvSpPr>
          <p:cNvPr id="4" name="Shape 2"/>
          <p:cNvSpPr/>
          <p:nvPr/>
        </p:nvSpPr>
        <p:spPr>
          <a:xfrm>
            <a:off x="640080" y="1371600"/>
            <a:ext cx="4343400" cy="4846320"/>
          </a:xfrm>
          <a:prstGeom prst="roundRect">
            <a:avLst>
              <a:gd name="adj" fmla="val 1263"/>
            </a:avLst>
          </a:prstGeom>
          <a:solidFill>
            <a:srgbClr val="F4F1EC"/>
          </a:solidFill>
          <a:ln w="9525">
            <a:solidFill>
              <a:srgbClr val="DCD8D1"/>
            </a:solidFill>
            <a:prstDash val="solid"/>
          </a:ln>
        </p:spPr>
      </p:sp>
      <p:sp>
        <p:nvSpPr>
          <p:cNvPr id="5" name="Text 3"/>
          <p:cNvSpPr/>
          <p:nvPr/>
        </p:nvSpPr>
        <p:spPr>
          <a:xfrm>
            <a:off x="841248" y="1499616"/>
            <a:ext cx="3941064" cy="201168"/>
          </a:xfrm>
          <a:prstGeom prst="rect">
            <a:avLst/>
          </a:prstGeom>
          <a:noFill/>
          <a:ln/>
        </p:spPr>
        <p:txBody>
          <a:bodyPr wrap="square" lIns="0" tIns="0" rIns="0" bIns="0" rtlCol="0" anchor="ctr"/>
          <a:lstStyle/>
          <a:p>
            <a:pPr indent="0" marL="0">
              <a:buNone/>
            </a:pPr>
            <a:r>
              <a:rPr lang="en-US" sz="850" b="1" spc="120" kern="0" dirty="0">
                <a:solidFill>
                  <a:srgbClr val="6E747C"/>
                </a:solidFill>
                <a:latin typeface="Calibri" pitchFamily="34" charset="0"/>
                <a:ea typeface="Calibri" pitchFamily="34" charset="-122"/>
                <a:cs typeface="Calibri" pitchFamily="34" charset="-120"/>
              </a:rPr>
              <a:t>11 · KURVA BELAJAR</a:t>
            </a:r>
            <a:endParaRPr lang="en-US" sz="850" dirty="0"/>
          </a:p>
        </p:txBody>
      </p:sp>
      <p:sp>
        <p:nvSpPr>
          <p:cNvPr id="6" name="Text 4"/>
          <p:cNvSpPr/>
          <p:nvPr/>
        </p:nvSpPr>
        <p:spPr>
          <a:xfrm>
            <a:off x="841248" y="1700784"/>
            <a:ext cx="3941064" cy="475488"/>
          </a:xfrm>
          <a:prstGeom prst="rect">
            <a:avLst/>
          </a:prstGeom>
          <a:noFill/>
          <a:ln/>
        </p:spPr>
        <p:txBody>
          <a:bodyPr wrap="square" lIns="0" tIns="0" rIns="0" bIns="0" rtlCol="0" anchor="t"/>
          <a:lstStyle/>
          <a:p>
            <a:pPr indent="0" marL="0">
              <a:lnSpc>
                <a:spcPts val="1600"/>
              </a:lnSpc>
              <a:buNone/>
            </a:pPr>
            <a:r>
              <a:rPr lang="en-US" sz="1300" b="1" dirty="0">
                <a:solidFill>
                  <a:srgbClr val="16191D"/>
                </a:solidFill>
                <a:latin typeface="Cambria" pitchFamily="34" charset="0"/>
                <a:ea typeface="Cambria" pitchFamily="34" charset="-122"/>
                <a:cs typeface="Cambria" pitchFamily="34" charset="-120"/>
              </a:rPr>
              <a:t>Dilatih ulang pada 12 sampai 100% data</a:t>
            </a:r>
            <a:endParaRPr lang="en-US" sz="1300" dirty="0"/>
          </a:p>
        </p:txBody>
      </p:sp>
      <p:graphicFrame>
        <p:nvGraphicFramePr>
          <p:cNvPr id="7" name="Chart 0" descr=""/>
          <p:cNvGraphicFramePr/>
          <p:nvPr/>
        </p:nvGraphicFramePr>
        <p:xfrm>
          <a:off x="685800" y="2212848"/>
          <a:ext cx="4206240" cy="26060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841248" y="4910328"/>
            <a:ext cx="3941064" cy="457200"/>
          </a:xfrm>
          <a:prstGeom prst="roundRect">
            <a:avLst>
              <a:gd name="adj" fmla="val 12000"/>
            </a:avLst>
          </a:prstGeom>
          <a:solidFill>
            <a:srgbClr val="16191D"/>
          </a:solidFill>
          <a:ln w="9525">
            <a:solidFill>
              <a:srgbClr val="16191D"/>
            </a:solidFill>
            <a:prstDash val="solid"/>
          </a:ln>
        </p:spPr>
      </p:sp>
      <p:sp>
        <p:nvSpPr>
          <p:cNvPr id="9" name="Text 6"/>
          <p:cNvSpPr/>
          <p:nvPr/>
        </p:nvSpPr>
        <p:spPr>
          <a:xfrm>
            <a:off x="841248" y="4910328"/>
            <a:ext cx="3941064" cy="457200"/>
          </a:xfrm>
          <a:prstGeom prst="rect">
            <a:avLst/>
          </a:prstGeom>
          <a:noFill/>
          <a:ln/>
        </p:spPr>
        <p:txBody>
          <a:bodyPr wrap="square" lIns="0" tIns="0" rIns="0" bIns="0" rtlCol="0" anchor="ctr"/>
          <a:lstStyle/>
          <a:p>
            <a:pPr algn="ctr" indent="0" marL="0">
              <a:buNone/>
            </a:pPr>
            <a:r>
              <a:rPr lang="en-US" sz="1250" b="1" dirty="0">
                <a:solidFill>
                  <a:srgbClr val="FFFFFF"/>
                </a:solidFill>
                <a:latin typeface="Cambria" pitchFamily="34" charset="0"/>
                <a:ea typeface="Cambria" pitchFamily="34" charset="-122"/>
                <a:cs typeface="Cambria" pitchFamily="34" charset="-120"/>
              </a:rPr>
              <a:t>QWK = 0,29209 + 0,01613 · ln(n)</a:t>
            </a:r>
            <a:endParaRPr lang="en-US" sz="1250" dirty="0"/>
          </a:p>
        </p:txBody>
      </p:sp>
      <p:sp>
        <p:nvSpPr>
          <p:cNvPr id="10" name="Text 7"/>
          <p:cNvSpPr/>
          <p:nvPr/>
        </p:nvSpPr>
        <p:spPr>
          <a:xfrm>
            <a:off x="841248" y="5458968"/>
            <a:ext cx="2443460" cy="292608"/>
          </a:xfrm>
          <a:prstGeom prst="rect">
            <a:avLst/>
          </a:prstGeom>
          <a:noFill/>
          <a:ln/>
        </p:spPr>
        <p:txBody>
          <a:bodyPr wrap="square" lIns="0" tIns="0" rIns="0" bIns="0" rtlCol="0" anchor="ctr"/>
          <a:lstStyle/>
          <a:p>
            <a:pPr indent="0" marL="0">
              <a:buNone/>
            </a:pPr>
            <a:r>
              <a:rPr lang="en-US" sz="1000" dirty="0">
                <a:solidFill>
                  <a:srgbClr val="3A4048"/>
                </a:solidFill>
                <a:latin typeface="Calibri" pitchFamily="34" charset="0"/>
                <a:ea typeface="Calibri" pitchFamily="34" charset="-122"/>
                <a:cs typeface="Calibri" pitchFamily="34" charset="-120"/>
              </a:rPr>
              <a:t>R² terhadap lima titik</a:t>
            </a:r>
            <a:endParaRPr lang="en-US" sz="1000" dirty="0"/>
          </a:p>
        </p:txBody>
      </p:sp>
      <p:sp>
        <p:nvSpPr>
          <p:cNvPr id="11" name="Text 8"/>
          <p:cNvSpPr/>
          <p:nvPr/>
        </p:nvSpPr>
        <p:spPr>
          <a:xfrm>
            <a:off x="3284708" y="5458968"/>
            <a:ext cx="1497604" cy="292608"/>
          </a:xfrm>
          <a:prstGeom prst="rect">
            <a:avLst/>
          </a:prstGeom>
          <a:noFill/>
          <a:ln/>
        </p:spPr>
        <p:txBody>
          <a:bodyPr wrap="square" lIns="0" tIns="0" rIns="0" bIns="0" rtlCol="0" anchor="ctr"/>
          <a:lstStyle/>
          <a:p>
            <a:pPr algn="r" indent="0" marL="0">
              <a:buNone/>
            </a:pPr>
            <a:r>
              <a:rPr lang="en-US" sz="1000" b="1" dirty="0">
                <a:solidFill>
                  <a:srgbClr val="16191D"/>
                </a:solidFill>
                <a:latin typeface="Calibri" pitchFamily="34" charset="0"/>
                <a:ea typeface="Calibri" pitchFamily="34" charset="-122"/>
                <a:cs typeface="Calibri" pitchFamily="34" charset="-120"/>
              </a:rPr>
              <a:t>0,9143</a:t>
            </a:r>
            <a:endParaRPr lang="en-US" sz="1000" dirty="0"/>
          </a:p>
        </p:txBody>
      </p:sp>
      <p:sp>
        <p:nvSpPr>
          <p:cNvPr id="12" name="Shape 9"/>
          <p:cNvSpPr/>
          <p:nvPr/>
        </p:nvSpPr>
        <p:spPr>
          <a:xfrm>
            <a:off x="841248" y="5751576"/>
            <a:ext cx="3941064" cy="0"/>
          </a:xfrm>
          <a:prstGeom prst="line">
            <a:avLst/>
          </a:prstGeom>
          <a:noFill/>
          <a:ln w="7620">
            <a:solidFill>
              <a:srgbClr val="DCD8D1"/>
            </a:solidFill>
            <a:prstDash val="solid"/>
          </a:ln>
        </p:spPr>
      </p:sp>
      <p:sp>
        <p:nvSpPr>
          <p:cNvPr id="13" name="Text 10"/>
          <p:cNvSpPr/>
          <p:nvPr/>
        </p:nvSpPr>
        <p:spPr>
          <a:xfrm>
            <a:off x="841248" y="5751576"/>
            <a:ext cx="2443460" cy="292608"/>
          </a:xfrm>
          <a:prstGeom prst="rect">
            <a:avLst/>
          </a:prstGeom>
          <a:noFill/>
          <a:ln/>
        </p:spPr>
        <p:txBody>
          <a:bodyPr wrap="square" lIns="0" tIns="0" rIns="0" bIns="0" rtlCol="0" anchor="ctr"/>
          <a:lstStyle/>
          <a:p>
            <a:pPr indent="0" marL="0">
              <a:buNone/>
            </a:pPr>
            <a:r>
              <a:rPr lang="en-US" sz="1000" dirty="0">
                <a:solidFill>
                  <a:srgbClr val="3A4048"/>
                </a:solidFill>
                <a:latin typeface="Calibri" pitchFamily="34" charset="0"/>
                <a:ea typeface="Calibri" pitchFamily="34" charset="-122"/>
                <a:cs typeface="Calibri" pitchFamily="34" charset="-120"/>
              </a:rPr>
              <a:t>Kenaikan per penggandaan data</a:t>
            </a:r>
            <a:endParaRPr lang="en-US" sz="1000" dirty="0"/>
          </a:p>
        </p:txBody>
      </p:sp>
      <p:sp>
        <p:nvSpPr>
          <p:cNvPr id="14" name="Text 11"/>
          <p:cNvSpPr/>
          <p:nvPr/>
        </p:nvSpPr>
        <p:spPr>
          <a:xfrm>
            <a:off x="3284708" y="5751576"/>
            <a:ext cx="1497604" cy="292608"/>
          </a:xfrm>
          <a:prstGeom prst="rect">
            <a:avLst/>
          </a:prstGeom>
          <a:noFill/>
          <a:ln/>
        </p:spPr>
        <p:txBody>
          <a:bodyPr wrap="square" lIns="0" tIns="0" rIns="0" bIns="0" rtlCol="0" anchor="ctr"/>
          <a:lstStyle/>
          <a:p>
            <a:pPr algn="r" indent="0" marL="0">
              <a:buNone/>
            </a:pPr>
            <a:r>
              <a:rPr lang="en-US" sz="1000" b="1" dirty="0">
                <a:solidFill>
                  <a:srgbClr val="16191D"/>
                </a:solidFill>
                <a:latin typeface="Calibri" pitchFamily="34" charset="0"/>
                <a:ea typeface="Calibri" pitchFamily="34" charset="-122"/>
                <a:cs typeface="Calibri" pitchFamily="34" charset="-120"/>
              </a:rPr>
              <a:t>+0,01118</a:t>
            </a:r>
            <a:endParaRPr lang="en-US" sz="1000" dirty="0"/>
          </a:p>
        </p:txBody>
      </p:sp>
      <p:sp>
        <p:nvSpPr>
          <p:cNvPr id="15" name="Shape 12"/>
          <p:cNvSpPr/>
          <p:nvPr/>
        </p:nvSpPr>
        <p:spPr>
          <a:xfrm>
            <a:off x="5212080" y="1371600"/>
            <a:ext cx="3657600" cy="4846320"/>
          </a:xfrm>
          <a:prstGeom prst="roundRect">
            <a:avLst>
              <a:gd name="adj" fmla="val 1500"/>
            </a:avLst>
          </a:prstGeom>
          <a:solidFill>
            <a:srgbClr val="FFFFFF"/>
          </a:solidFill>
          <a:ln w="9525">
            <a:solidFill>
              <a:srgbClr val="DCD8D1"/>
            </a:solidFill>
            <a:prstDash val="solid"/>
          </a:ln>
        </p:spPr>
      </p:sp>
      <p:sp>
        <p:nvSpPr>
          <p:cNvPr id="16" name="Text 13"/>
          <p:cNvSpPr/>
          <p:nvPr/>
        </p:nvSpPr>
        <p:spPr>
          <a:xfrm>
            <a:off x="5413248" y="1499616"/>
            <a:ext cx="3255264" cy="201168"/>
          </a:xfrm>
          <a:prstGeom prst="rect">
            <a:avLst/>
          </a:prstGeom>
          <a:noFill/>
          <a:ln/>
        </p:spPr>
        <p:txBody>
          <a:bodyPr wrap="square" lIns="0" tIns="0" rIns="0" bIns="0" rtlCol="0" anchor="ctr"/>
          <a:lstStyle/>
          <a:p>
            <a:pPr indent="0" marL="0">
              <a:buNone/>
            </a:pPr>
            <a:r>
              <a:rPr lang="en-US" sz="850" b="1" spc="120" kern="0" dirty="0">
                <a:solidFill>
                  <a:srgbClr val="6E747C"/>
                </a:solidFill>
                <a:latin typeface="Calibri" pitchFamily="34" charset="0"/>
                <a:ea typeface="Calibri" pitchFamily="34" charset="-122"/>
                <a:cs typeface="Calibri" pitchFamily="34" charset="-120"/>
              </a:rPr>
              <a:t>11.1 · EKSTRAPOLASI</a:t>
            </a:r>
            <a:endParaRPr lang="en-US" sz="850" dirty="0"/>
          </a:p>
        </p:txBody>
      </p:sp>
      <p:sp>
        <p:nvSpPr>
          <p:cNvPr id="17" name="Text 14"/>
          <p:cNvSpPr/>
          <p:nvPr/>
        </p:nvSpPr>
        <p:spPr>
          <a:xfrm>
            <a:off x="5413248" y="1700784"/>
            <a:ext cx="3255264" cy="475488"/>
          </a:xfrm>
          <a:prstGeom prst="rect">
            <a:avLst/>
          </a:prstGeom>
          <a:noFill/>
          <a:ln/>
        </p:spPr>
        <p:txBody>
          <a:bodyPr wrap="square" lIns="0" tIns="0" rIns="0" bIns="0" rtlCol="0" anchor="t"/>
          <a:lstStyle/>
          <a:p>
            <a:pPr indent="0" marL="0">
              <a:lnSpc>
                <a:spcPts val="1600"/>
              </a:lnSpc>
              <a:buNone/>
            </a:pPr>
            <a:r>
              <a:rPr lang="en-US" sz="1300" b="1" dirty="0">
                <a:solidFill>
                  <a:srgbClr val="16191D"/>
                </a:solidFill>
                <a:latin typeface="Cambria" pitchFamily="34" charset="0"/>
                <a:ea typeface="Cambria" pitchFamily="34" charset="-122"/>
                <a:cs typeface="Cambria" pitchFamily="34" charset="-120"/>
              </a:rPr>
              <a:t>Data yang dibutuhkan per target</a:t>
            </a:r>
            <a:endParaRPr lang="en-US" sz="13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413248" y="2212848"/>
          <a:ext cx="3255264" cy="914400"/>
        </p:xfrm>
        <a:graphic>
          <a:graphicData uri="http://schemas.openxmlformats.org/drawingml/2006/table">
            <a:tbl>
              <a:tblPr/>
              <a:tblGrid>
                <a:gridCol w="822960"/>
                <a:gridCol w="1463040"/>
                <a:gridCol w="969264"/>
              </a:tblGrid>
              <a:tr h="310896">
                <a:tc>
                  <a:txBody>
                    <a:bodyPr/>
                    <a:lstStyle/>
                    <a:p>
                      <a:pPr algn="l" indent="0" marL="0">
                        <a:buNone/>
                      </a:pPr>
                      <a:r>
                        <a:rPr lang="en-US" sz="1000" b="1" dirty="0">
                          <a:solidFill>
                            <a:srgbClr val="16191D"/>
                          </a:solidFill>
                          <a:latin typeface="Calibri" pitchFamily="34" charset="0"/>
                          <a:ea typeface="Calibri" pitchFamily="34" charset="-122"/>
                          <a:cs typeface="Calibri" pitchFamily="34" charset="-120"/>
                        </a:rPr>
                        <a:t>Target</a:t>
                      </a:r>
                      <a:endParaRPr lang="en-US" sz="1000" dirty="0">
                        <a:latin typeface="Calibri" charset="0"/>
                        <a:ea typeface="Calibri" charset="0"/>
                        <a:cs typeface="Calibri" charset="0"/>
                      </a:endParaRPr>
                    </a:p>
                  </a:txBody>
                  <a:tcPr marL="25400" marR="101600" marT="63500" marB="63500" anchor="ctr">
                    <a:lnL w="0" cap="flat" cmpd="sng" algn="ctr">
                      <a:noFill/>
                    </a:lnL>
                    <a:lnR w="0" cap="flat" cmpd="sng" algn="ctr">
                      <a:noFill/>
                    </a:lnR>
                    <a:lnT w="17780" cap="flat" cmpd="sng" algn="ctr">
                      <a:solidFill>
                        <a:srgbClr val="16191D"/>
                      </a:solidFill>
                      <a:prstDash val="solid"/>
                      <a:round/>
                      <a:headEnd type="none" w="med" len="med"/>
                      <a:tailEnd type="none" w="med" len="med"/>
                    </a:lnT>
                    <a:lnB w="10160" cap="flat" cmpd="sng" algn="ctr">
                      <a:solidFill>
                        <a:srgbClr val="16191D"/>
                      </a:solidFill>
                      <a:prstDash val="solid"/>
                      <a:round/>
                      <a:headEnd type="none" w="med" len="med"/>
                      <a:tailEnd type="none" w="med" len="med"/>
                    </a:lnB>
                  </a:tcPr>
                </a:tc>
                <a:tc>
                  <a:txBody>
                    <a:bodyPr/>
                    <a:lstStyle/>
                    <a:p>
                      <a:pPr algn="r" indent="0" marL="0">
                        <a:buNone/>
                      </a:pPr>
                      <a:r>
                        <a:rPr lang="en-US" sz="1000" b="1" dirty="0">
                          <a:solidFill>
                            <a:srgbClr val="16191D"/>
                          </a:solidFill>
                          <a:latin typeface="Calibri" pitchFamily="34" charset="0"/>
                          <a:ea typeface="Calibri" pitchFamily="34" charset="-122"/>
                          <a:cs typeface="Calibri" pitchFamily="34" charset="-120"/>
                        </a:rPr>
                        <a:t>Baris</a:t>
                      </a:r>
                      <a:endParaRPr lang="en-US" sz="1000" dirty="0">
                        <a:latin typeface="Calibri" charset="0"/>
                        <a:ea typeface="Calibri" charset="0"/>
                        <a:cs typeface="Calibri" charset="0"/>
                      </a:endParaRPr>
                    </a:p>
                  </a:txBody>
                  <a:tcPr marL="101600" marR="101600" marT="63500" marB="63500" anchor="ctr">
                    <a:lnL w="0" cap="flat" cmpd="sng" algn="ctr">
                      <a:noFill/>
                    </a:lnL>
                    <a:lnR w="0" cap="flat" cmpd="sng" algn="ctr">
                      <a:noFill/>
                    </a:lnR>
                    <a:lnT w="17780" cap="flat" cmpd="sng" algn="ctr">
                      <a:solidFill>
                        <a:srgbClr val="16191D"/>
                      </a:solidFill>
                      <a:prstDash val="solid"/>
                      <a:round/>
                      <a:headEnd type="none" w="med" len="med"/>
                      <a:tailEnd type="none" w="med" len="med"/>
                    </a:lnT>
                    <a:lnB w="10160" cap="flat" cmpd="sng" algn="ctr">
                      <a:solidFill>
                        <a:srgbClr val="16191D"/>
                      </a:solidFill>
                      <a:prstDash val="solid"/>
                      <a:round/>
                      <a:headEnd type="none" w="med" len="med"/>
                      <a:tailEnd type="none" w="med" len="med"/>
                    </a:lnB>
                  </a:tcPr>
                </a:tc>
                <a:tc>
                  <a:txBody>
                    <a:bodyPr/>
                    <a:lstStyle/>
                    <a:p>
                      <a:pPr algn="r" indent="0" marL="0">
                        <a:buNone/>
                      </a:pPr>
                      <a:r>
                        <a:rPr lang="en-US" sz="1000" b="1" dirty="0">
                          <a:solidFill>
                            <a:srgbClr val="16191D"/>
                          </a:solidFill>
                          <a:latin typeface="Calibri" pitchFamily="34" charset="0"/>
                          <a:ea typeface="Calibri" pitchFamily="34" charset="-122"/>
                          <a:cs typeface="Calibri" pitchFamily="34" charset="-120"/>
                        </a:rPr>
                        <a:t>Kelipatan</a:t>
                      </a:r>
                      <a:endParaRPr lang="en-US" sz="1000" dirty="0">
                        <a:latin typeface="Calibri" charset="0"/>
                        <a:ea typeface="Calibri" charset="0"/>
                        <a:cs typeface="Calibri" charset="0"/>
                      </a:endParaRPr>
                    </a:p>
                  </a:txBody>
                  <a:tcPr marL="101600" marR="101600" marT="63500" marB="63500" anchor="ctr">
                    <a:lnL w="0" cap="flat" cmpd="sng" algn="ctr">
                      <a:noFill/>
                    </a:lnL>
                    <a:lnR w="0" cap="flat" cmpd="sng" algn="ctr">
                      <a:noFill/>
                    </a:lnR>
                    <a:lnT w="17780" cap="flat" cmpd="sng" algn="ctr">
                      <a:solidFill>
                        <a:srgbClr val="16191D"/>
                      </a:solidFill>
                      <a:prstDash val="solid"/>
                      <a:round/>
                      <a:headEnd type="none" w="med" len="med"/>
                      <a:tailEnd type="none" w="med" len="med"/>
                    </a:lnT>
                    <a:lnB w="10160" cap="flat" cmpd="sng" algn="ctr">
                      <a:solidFill>
                        <a:srgbClr val="16191D"/>
                      </a:solidFill>
                      <a:prstDash val="solid"/>
                      <a:round/>
                      <a:headEnd type="none" w="med" len="med"/>
                      <a:tailEnd type="none" w="med" len="med"/>
                    </a:lnB>
                  </a:tcPr>
                </a:tc>
              </a:tr>
              <a:tr h="310896">
                <a:tc>
                  <a:txBody>
                    <a:bodyPr/>
                    <a:lstStyle/>
                    <a:p>
                      <a:pPr algn="l" indent="0" marL="0">
                        <a:buNone/>
                      </a:pPr>
                      <a:r>
                        <a:rPr lang="en-US" sz="1000" dirty="0">
                          <a:solidFill>
                            <a:srgbClr val="3A4048"/>
                          </a:solidFill>
                          <a:latin typeface="Calibri" pitchFamily="34" charset="0"/>
                          <a:ea typeface="Calibri" pitchFamily="34" charset="-122"/>
                          <a:cs typeface="Calibri" pitchFamily="34" charset="-120"/>
                        </a:rPr>
                        <a:t>0,49</a:t>
                      </a:r>
                      <a:endParaRPr lang="en-US" sz="100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000" dirty="0">
                          <a:solidFill>
                            <a:srgbClr val="3A4048"/>
                          </a:solidFill>
                          <a:latin typeface="Calibri" pitchFamily="34" charset="0"/>
                          <a:ea typeface="Calibri" pitchFamily="34" charset="-122"/>
                          <a:cs typeface="Calibri" pitchFamily="34" charset="-120"/>
                        </a:rPr>
                        <a:t>213.000</a:t>
                      </a:r>
                      <a:endParaRPr lang="en-US" sz="10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000" dirty="0">
                          <a:solidFill>
                            <a:srgbClr val="3A4048"/>
                          </a:solidFill>
                          <a:latin typeface="Calibri" pitchFamily="34" charset="0"/>
                          <a:ea typeface="Calibri" pitchFamily="34" charset="-122"/>
                          <a:cs typeface="Calibri" pitchFamily="34" charset="-120"/>
                        </a:rPr>
                        <a:t>2×</a:t>
                      </a:r>
                      <a:endParaRPr lang="en-US" sz="10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310896">
                <a:tc>
                  <a:txBody>
                    <a:bodyPr/>
                    <a:lstStyle/>
                    <a:p>
                      <a:pPr algn="l" indent="0" marL="0">
                        <a:buNone/>
                      </a:pPr>
                      <a:r>
                        <a:rPr lang="en-US" sz="1000" dirty="0">
                          <a:solidFill>
                            <a:srgbClr val="3A4048"/>
                          </a:solidFill>
                          <a:latin typeface="Calibri" pitchFamily="34" charset="0"/>
                          <a:ea typeface="Calibri" pitchFamily="34" charset="-122"/>
                          <a:cs typeface="Calibri" pitchFamily="34" charset="-120"/>
                        </a:rPr>
                        <a:t>0,50</a:t>
                      </a:r>
                      <a:endParaRPr lang="en-US" sz="100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000" dirty="0">
                          <a:solidFill>
                            <a:srgbClr val="3A4048"/>
                          </a:solidFill>
                          <a:latin typeface="Calibri" pitchFamily="34" charset="0"/>
                          <a:ea typeface="Calibri" pitchFamily="34" charset="-122"/>
                          <a:cs typeface="Calibri" pitchFamily="34" charset="-120"/>
                        </a:rPr>
                        <a:t>396.000</a:t>
                      </a:r>
                      <a:endParaRPr lang="en-US" sz="10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000" dirty="0">
                          <a:solidFill>
                            <a:srgbClr val="3A4048"/>
                          </a:solidFill>
                          <a:latin typeface="Calibri" pitchFamily="34" charset="0"/>
                          <a:ea typeface="Calibri" pitchFamily="34" charset="-122"/>
                          <a:cs typeface="Calibri" pitchFamily="34" charset="-120"/>
                        </a:rPr>
                        <a:t>4×</a:t>
                      </a:r>
                      <a:endParaRPr lang="en-US" sz="10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310896">
                <a:tc>
                  <a:txBody>
                    <a:bodyPr/>
                    <a:lstStyle/>
                    <a:p>
                      <a:pPr algn="l" indent="0" marL="0">
                        <a:buNone/>
                      </a:pPr>
                      <a:r>
                        <a:rPr lang="en-US" sz="1000" dirty="0">
                          <a:solidFill>
                            <a:srgbClr val="3A4048"/>
                          </a:solidFill>
                          <a:latin typeface="Calibri" pitchFamily="34" charset="0"/>
                          <a:ea typeface="Calibri" pitchFamily="34" charset="-122"/>
                          <a:cs typeface="Calibri" pitchFamily="34" charset="-120"/>
                        </a:rPr>
                        <a:t>0,55</a:t>
                      </a:r>
                      <a:endParaRPr lang="en-US" sz="100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000" dirty="0">
                          <a:solidFill>
                            <a:srgbClr val="3A4048"/>
                          </a:solidFill>
                          <a:latin typeface="Calibri" pitchFamily="34" charset="0"/>
                          <a:ea typeface="Calibri" pitchFamily="34" charset="-122"/>
                          <a:cs typeface="Calibri" pitchFamily="34" charset="-120"/>
                        </a:rPr>
                        <a:t>8.790.000</a:t>
                      </a:r>
                      <a:endParaRPr lang="en-US" sz="10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000" dirty="0">
                          <a:solidFill>
                            <a:srgbClr val="3A4048"/>
                          </a:solidFill>
                          <a:latin typeface="Calibri" pitchFamily="34" charset="0"/>
                          <a:ea typeface="Calibri" pitchFamily="34" charset="-122"/>
                          <a:cs typeface="Calibri" pitchFamily="34" charset="-120"/>
                        </a:rPr>
                        <a:t>92×</a:t>
                      </a:r>
                      <a:endParaRPr lang="en-US" sz="10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310896">
                <a:tc>
                  <a:txBody>
                    <a:bodyPr/>
                    <a:lstStyle/>
                    <a:p>
                      <a:pPr algn="l" indent="0" marL="0">
                        <a:buNone/>
                      </a:pPr>
                      <a:r>
                        <a:rPr lang="en-US" sz="1000" b="1" dirty="0">
                          <a:solidFill>
                            <a:srgbClr val="A8442A"/>
                          </a:solidFill>
                          <a:latin typeface="Calibri" pitchFamily="34" charset="0"/>
                          <a:ea typeface="Calibri" pitchFamily="34" charset="-122"/>
                          <a:cs typeface="Calibri" pitchFamily="34" charset="-120"/>
                        </a:rPr>
                        <a:t>0,60</a:t>
                      </a:r>
                      <a:endParaRPr lang="en-US" sz="100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17780" cap="flat" cmpd="sng" algn="ctr">
                      <a:solidFill>
                        <a:srgbClr val="16191D"/>
                      </a:solidFill>
                      <a:prstDash val="solid"/>
                      <a:round/>
                      <a:headEnd type="none" w="med" len="med"/>
                      <a:tailEnd type="none" w="med" len="med"/>
                    </a:lnB>
                  </a:tcPr>
                </a:tc>
                <a:tc>
                  <a:txBody>
                    <a:bodyPr/>
                    <a:lstStyle/>
                    <a:p>
                      <a:pPr algn="r" indent="0" marL="0">
                        <a:buNone/>
                      </a:pPr>
                      <a:r>
                        <a:rPr lang="en-US" sz="1000" b="1" dirty="0">
                          <a:solidFill>
                            <a:srgbClr val="A8442A"/>
                          </a:solidFill>
                          <a:latin typeface="Calibri" pitchFamily="34" charset="0"/>
                          <a:ea typeface="Calibri" pitchFamily="34" charset="-122"/>
                          <a:cs typeface="Calibri" pitchFamily="34" charset="-120"/>
                        </a:rPr>
                        <a:t>195.000.000</a:t>
                      </a:r>
                      <a:endParaRPr lang="en-US" sz="10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17780" cap="flat" cmpd="sng" algn="ctr">
                      <a:solidFill>
                        <a:srgbClr val="16191D"/>
                      </a:solidFill>
                      <a:prstDash val="solid"/>
                      <a:round/>
                      <a:headEnd type="none" w="med" len="med"/>
                      <a:tailEnd type="none" w="med" len="med"/>
                    </a:lnB>
                  </a:tcPr>
                </a:tc>
                <a:tc>
                  <a:txBody>
                    <a:bodyPr/>
                    <a:lstStyle/>
                    <a:p>
                      <a:pPr algn="r" indent="0" marL="0">
                        <a:buNone/>
                      </a:pPr>
                      <a:r>
                        <a:rPr lang="en-US" sz="1000" b="1" dirty="0">
                          <a:solidFill>
                            <a:srgbClr val="A8442A"/>
                          </a:solidFill>
                          <a:latin typeface="Calibri" pitchFamily="34" charset="0"/>
                          <a:ea typeface="Calibri" pitchFamily="34" charset="-122"/>
                          <a:cs typeface="Calibri" pitchFamily="34" charset="-120"/>
                        </a:rPr>
                        <a:t>2.041×</a:t>
                      </a:r>
                      <a:endParaRPr lang="en-US" sz="10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17780" cap="flat" cmpd="sng" algn="ctr">
                      <a:solidFill>
                        <a:srgbClr val="16191D"/>
                      </a:solidFill>
                      <a:prstDash val="solid"/>
                      <a:round/>
                      <a:headEnd type="none" w="med" len="med"/>
                      <a:tailEnd type="none" w="med" len="med"/>
                    </a:lnB>
                  </a:tcPr>
                </a:tc>
              </a:tr>
            </a:tbl>
          </a:graphicData>
        </a:graphic>
      </p:graphicFrame>
      <p:sp>
        <p:nvSpPr>
          <p:cNvPr id="19" name="Text 15"/>
          <p:cNvSpPr/>
          <p:nvPr/>
        </p:nvSpPr>
        <p:spPr>
          <a:xfrm>
            <a:off x="5413248" y="3995928"/>
            <a:ext cx="3255264" cy="402336"/>
          </a:xfrm>
          <a:prstGeom prst="rect">
            <a:avLst/>
          </a:prstGeom>
          <a:noFill/>
          <a:ln/>
        </p:spPr>
        <p:txBody>
          <a:bodyPr wrap="square" lIns="0" tIns="0" rIns="0" bIns="0" rtlCol="0" anchor="b"/>
          <a:lstStyle/>
          <a:p>
            <a:pPr algn="l" indent="0" marL="0">
              <a:buNone/>
            </a:pPr>
            <a:r>
              <a:rPr lang="en-US" sz="2000" b="1" dirty="0">
                <a:solidFill>
                  <a:srgbClr val="A8442A"/>
                </a:solidFill>
                <a:latin typeface="Cambria" pitchFamily="34" charset="0"/>
                <a:ea typeface="Cambria" pitchFamily="34" charset="-122"/>
                <a:cs typeface="Cambria" pitchFamily="34" charset="-120"/>
              </a:rPr>
              <a:t>± 1.950 tahun</a:t>
            </a:r>
            <a:endParaRPr lang="en-US" sz="2000" dirty="0"/>
          </a:p>
        </p:txBody>
      </p:sp>
      <p:sp>
        <p:nvSpPr>
          <p:cNvPr id="20" name="Text 16"/>
          <p:cNvSpPr/>
          <p:nvPr/>
        </p:nvSpPr>
        <p:spPr>
          <a:xfrm>
            <a:off x="5413248" y="4434840"/>
            <a:ext cx="3255264" cy="548640"/>
          </a:xfrm>
          <a:prstGeom prst="rect">
            <a:avLst/>
          </a:prstGeom>
          <a:noFill/>
          <a:ln/>
        </p:spPr>
        <p:txBody>
          <a:bodyPr wrap="square" lIns="0" tIns="0" rIns="0" bIns="0" rtlCol="0" anchor="t"/>
          <a:lstStyle/>
          <a:p>
            <a:pPr algn="l" indent="0" marL="0">
              <a:lnSpc>
                <a:spcPts val="1300"/>
              </a:lnSpc>
              <a:buNone/>
            </a:pPr>
            <a:r>
              <a:rPr lang="en-US" sz="950" dirty="0">
                <a:solidFill>
                  <a:srgbClr val="6E747C"/>
                </a:solidFill>
                <a:latin typeface="Calibri" pitchFamily="34" charset="0"/>
                <a:ea typeface="Calibri" pitchFamily="34" charset="-122"/>
                <a:cs typeface="Calibri" pitchFamily="34" charset="-120"/>
              </a:rPr>
              <a:t>survei untuk QWK 0,60, dengan populasi dewasa sekitar 10⁵ baris per tahun</a:t>
            </a:r>
            <a:endParaRPr lang="en-US" sz="950" dirty="0"/>
          </a:p>
        </p:txBody>
      </p:sp>
      <p:sp>
        <p:nvSpPr>
          <p:cNvPr id="21" name="Text 17"/>
          <p:cNvSpPr/>
          <p:nvPr/>
        </p:nvSpPr>
        <p:spPr>
          <a:xfrm>
            <a:off x="5413248" y="5047488"/>
            <a:ext cx="3255264" cy="914400"/>
          </a:xfrm>
          <a:prstGeom prst="rect">
            <a:avLst/>
          </a:prstGeom>
          <a:noFill/>
          <a:ln/>
        </p:spPr>
        <p:txBody>
          <a:bodyPr wrap="square" lIns="0" tIns="0" rIns="0" bIns="0" rtlCol="0" anchor="t"/>
          <a:lstStyle/>
          <a:p>
            <a:pPr algn="l" indent="0" marL="0">
              <a:lnSpc>
                <a:spcPts val="1283"/>
              </a:lnSpc>
              <a:buNone/>
            </a:pPr>
            <a:r>
              <a:rPr lang="en-US" sz="950" dirty="0">
                <a:solidFill>
                  <a:srgbClr val="3A4048"/>
                </a:solidFill>
                <a:latin typeface="Calibri" pitchFamily="34" charset="0"/>
                <a:ea typeface="Calibri" pitchFamily="34" charset="-122"/>
                <a:cs typeface="Calibri" pitchFamily="34" charset="-120"/>
              </a:rPr>
              <a:t>Kurvanya masih melambat, jadi angka ini terlalu optimistis. Klaim ini dapat difalsifikasi: jalankan ulang kurva yang sama, koefisiennya akan keluar sama.</a:t>
            </a:r>
            <a:endParaRPr lang="en-US" sz="950" dirty="0"/>
          </a:p>
        </p:txBody>
      </p:sp>
      <p:sp>
        <p:nvSpPr>
          <p:cNvPr id="22" name="Shape 18"/>
          <p:cNvSpPr/>
          <p:nvPr/>
        </p:nvSpPr>
        <p:spPr>
          <a:xfrm>
            <a:off x="9098280" y="1371600"/>
            <a:ext cx="2453335" cy="4846320"/>
          </a:xfrm>
          <a:prstGeom prst="roundRect">
            <a:avLst>
              <a:gd name="adj" fmla="val 2236"/>
            </a:avLst>
          </a:prstGeom>
          <a:solidFill>
            <a:srgbClr val="16191D"/>
          </a:solidFill>
          <a:ln w="9525">
            <a:solidFill>
              <a:srgbClr val="16191D"/>
            </a:solidFill>
            <a:prstDash val="solid"/>
          </a:ln>
        </p:spPr>
      </p:sp>
      <p:sp>
        <p:nvSpPr>
          <p:cNvPr id="23" name="Text 19"/>
          <p:cNvSpPr/>
          <p:nvPr/>
        </p:nvSpPr>
        <p:spPr>
          <a:xfrm>
            <a:off x="9299448" y="1499616"/>
            <a:ext cx="2050999" cy="201168"/>
          </a:xfrm>
          <a:prstGeom prst="rect">
            <a:avLst/>
          </a:prstGeom>
          <a:noFill/>
          <a:ln/>
        </p:spPr>
        <p:txBody>
          <a:bodyPr wrap="square" lIns="0" tIns="0" rIns="0" bIns="0" rtlCol="0" anchor="ctr"/>
          <a:lstStyle/>
          <a:p>
            <a:pPr indent="0" marL="0">
              <a:buNone/>
            </a:pPr>
            <a:r>
              <a:rPr lang="en-US" sz="850" b="1" spc="120" kern="0" dirty="0">
                <a:solidFill>
                  <a:srgbClr val="8FB0A4"/>
                </a:solidFill>
                <a:latin typeface="Calibri" pitchFamily="34" charset="0"/>
                <a:ea typeface="Calibri" pitchFamily="34" charset="-122"/>
                <a:cs typeface="Calibri" pitchFamily="34" charset="-120"/>
              </a:rPr>
              <a:t>DERAU PAPAN SKOR</a:t>
            </a:r>
            <a:endParaRPr lang="en-US" sz="850" dirty="0"/>
          </a:p>
        </p:txBody>
      </p:sp>
      <p:sp>
        <p:nvSpPr>
          <p:cNvPr id="24" name="Text 20"/>
          <p:cNvSpPr/>
          <p:nvPr/>
        </p:nvSpPr>
        <p:spPr>
          <a:xfrm>
            <a:off x="9299448" y="1700784"/>
            <a:ext cx="2050999" cy="475488"/>
          </a:xfrm>
          <a:prstGeom prst="rect">
            <a:avLst/>
          </a:prstGeom>
          <a:noFill/>
          <a:ln/>
        </p:spPr>
        <p:txBody>
          <a:bodyPr wrap="square" lIns="0" tIns="0" rIns="0" bIns="0" rtlCol="0" anchor="t"/>
          <a:lstStyle/>
          <a:p>
            <a:pPr indent="0" marL="0">
              <a:lnSpc>
                <a:spcPts val="1600"/>
              </a:lnSpc>
              <a:buNone/>
            </a:pPr>
            <a:r>
              <a:rPr lang="en-US" sz="1300" b="1" dirty="0">
                <a:solidFill>
                  <a:srgbClr val="FFFFFF"/>
                </a:solidFill>
                <a:latin typeface="Cambria" pitchFamily="34" charset="0"/>
                <a:ea typeface="Cambria" pitchFamily="34" charset="-122"/>
                <a:cs typeface="Cambria" pitchFamily="34" charset="-120"/>
              </a:rPr>
              <a:t>Bootstrap 400 kali</a:t>
            </a:r>
            <a:endParaRPr lang="en-US" sz="1300" dirty="0"/>
          </a:p>
        </p:txBody>
      </p:sp>
      <p:sp>
        <p:nvSpPr>
          <p:cNvPr id="25" name="Text 21"/>
          <p:cNvSpPr/>
          <p:nvPr/>
        </p:nvSpPr>
        <p:spPr>
          <a:xfrm>
            <a:off x="9299448" y="2212848"/>
            <a:ext cx="2050999" cy="347472"/>
          </a:xfrm>
          <a:prstGeom prst="rect">
            <a:avLst/>
          </a:prstGeom>
          <a:noFill/>
          <a:ln/>
        </p:spPr>
        <p:txBody>
          <a:bodyPr wrap="square" lIns="0" tIns="0" rIns="0" bIns="0" rtlCol="0" anchor="b"/>
          <a:lstStyle/>
          <a:p>
            <a:pPr algn="l" indent="0" marL="0">
              <a:buNone/>
            </a:pPr>
            <a:r>
              <a:rPr lang="en-US" sz="1800" b="1" dirty="0">
                <a:solidFill>
                  <a:srgbClr val="FFFFFF"/>
                </a:solidFill>
                <a:latin typeface="Cambria" pitchFamily="34" charset="0"/>
                <a:ea typeface="Cambria" pitchFamily="34" charset="-122"/>
                <a:cs typeface="Cambria" pitchFamily="34" charset="-120"/>
              </a:rPr>
              <a:t>0,0050</a:t>
            </a:r>
            <a:endParaRPr lang="en-US" sz="1800" dirty="0"/>
          </a:p>
        </p:txBody>
      </p:sp>
      <p:sp>
        <p:nvSpPr>
          <p:cNvPr id="26" name="Text 22"/>
          <p:cNvSpPr/>
          <p:nvPr/>
        </p:nvSpPr>
        <p:spPr>
          <a:xfrm>
            <a:off x="9299448" y="2596896"/>
            <a:ext cx="2050999" cy="365760"/>
          </a:xfrm>
          <a:prstGeom prst="rect">
            <a:avLst/>
          </a:prstGeom>
          <a:noFill/>
          <a:ln/>
        </p:spPr>
        <p:txBody>
          <a:bodyPr wrap="square" lIns="0" tIns="0" rIns="0" bIns="0" rtlCol="0" anchor="t"/>
          <a:lstStyle/>
          <a:p>
            <a:pPr algn="l" indent="0" marL="0">
              <a:lnSpc>
                <a:spcPts val="1300"/>
              </a:lnSpc>
              <a:buNone/>
            </a:pPr>
            <a:r>
              <a:rPr lang="en-US" sz="900" dirty="0">
                <a:solidFill>
                  <a:srgbClr val="9AA0A7"/>
                </a:solidFill>
                <a:latin typeface="Calibri" pitchFamily="34" charset="0"/>
                <a:ea typeface="Calibri" pitchFamily="34" charset="-122"/>
                <a:cs typeface="Calibri" pitchFamily="34" charset="-120"/>
              </a:rPr>
              <a:t>sd QWK, irisan seukuran data uji (23.666)</a:t>
            </a:r>
            <a:endParaRPr lang="en-US" sz="900" dirty="0"/>
          </a:p>
        </p:txBody>
      </p:sp>
      <p:sp>
        <p:nvSpPr>
          <p:cNvPr id="27" name="Text 23"/>
          <p:cNvSpPr/>
          <p:nvPr/>
        </p:nvSpPr>
        <p:spPr>
          <a:xfrm>
            <a:off x="9299448" y="3017520"/>
            <a:ext cx="2050999" cy="347472"/>
          </a:xfrm>
          <a:prstGeom prst="rect">
            <a:avLst/>
          </a:prstGeom>
          <a:noFill/>
          <a:ln/>
        </p:spPr>
        <p:txBody>
          <a:bodyPr wrap="square" lIns="0" tIns="0" rIns="0" bIns="0" rtlCol="0" anchor="b"/>
          <a:lstStyle/>
          <a:p>
            <a:pPr algn="l" indent="0" marL="0">
              <a:buNone/>
            </a:pPr>
            <a:r>
              <a:rPr lang="en-US" sz="1800" b="1" dirty="0">
                <a:solidFill>
                  <a:srgbClr val="FFFFFF"/>
                </a:solidFill>
                <a:latin typeface="Cambria" pitchFamily="34" charset="0"/>
                <a:ea typeface="Cambria" pitchFamily="34" charset="-122"/>
                <a:cs typeface="Cambria" pitchFamily="34" charset="-120"/>
              </a:rPr>
              <a:t>0,0105</a:t>
            </a:r>
            <a:endParaRPr lang="en-US" sz="1800" dirty="0"/>
          </a:p>
        </p:txBody>
      </p:sp>
      <p:sp>
        <p:nvSpPr>
          <p:cNvPr id="28" name="Text 24"/>
          <p:cNvSpPr/>
          <p:nvPr/>
        </p:nvSpPr>
        <p:spPr>
          <a:xfrm>
            <a:off x="9299448" y="3401568"/>
            <a:ext cx="2050999" cy="365760"/>
          </a:xfrm>
          <a:prstGeom prst="rect">
            <a:avLst/>
          </a:prstGeom>
          <a:noFill/>
          <a:ln/>
        </p:spPr>
        <p:txBody>
          <a:bodyPr wrap="square" lIns="0" tIns="0" rIns="0" bIns="0" rtlCol="0" anchor="t"/>
          <a:lstStyle/>
          <a:p>
            <a:pPr algn="l" indent="0" marL="0">
              <a:lnSpc>
                <a:spcPts val="1300"/>
              </a:lnSpc>
              <a:buNone/>
            </a:pPr>
            <a:r>
              <a:rPr lang="en-US" sz="900" dirty="0">
                <a:solidFill>
                  <a:srgbClr val="9AA0A7"/>
                </a:solidFill>
                <a:latin typeface="Calibri" pitchFamily="34" charset="0"/>
                <a:ea typeface="Calibri" pitchFamily="34" charset="-122"/>
                <a:cs typeface="Calibri" pitchFamily="34" charset="-120"/>
              </a:rPr>
              <a:t>sd QWK, irisan papan skor publik (7.100)</a:t>
            </a:r>
            <a:endParaRPr lang="en-US" sz="900" dirty="0"/>
          </a:p>
        </p:txBody>
      </p:sp>
      <p:sp>
        <p:nvSpPr>
          <p:cNvPr id="29" name="Text 25"/>
          <p:cNvSpPr/>
          <p:nvPr/>
        </p:nvSpPr>
        <p:spPr>
          <a:xfrm>
            <a:off x="9299448" y="3822192"/>
            <a:ext cx="2050999" cy="347472"/>
          </a:xfrm>
          <a:prstGeom prst="rect">
            <a:avLst/>
          </a:prstGeom>
          <a:noFill/>
          <a:ln/>
        </p:spPr>
        <p:txBody>
          <a:bodyPr wrap="square" lIns="0" tIns="0" rIns="0" bIns="0" rtlCol="0" anchor="b"/>
          <a:lstStyle/>
          <a:p>
            <a:pPr algn="l" indent="0" marL="0">
              <a:buNone/>
            </a:pPr>
            <a:r>
              <a:rPr lang="en-US" sz="1800" b="1" dirty="0">
                <a:solidFill>
                  <a:srgbClr val="FFFFFF"/>
                </a:solidFill>
                <a:latin typeface="Cambria" pitchFamily="34" charset="0"/>
                <a:ea typeface="Cambria" pitchFamily="34" charset="-122"/>
                <a:cs typeface="Cambria" pitchFamily="34" charset="-120"/>
              </a:rPr>
              <a:t>0,4625 – 0,5027</a:t>
            </a:r>
            <a:endParaRPr lang="en-US" sz="1800" dirty="0"/>
          </a:p>
        </p:txBody>
      </p:sp>
      <p:sp>
        <p:nvSpPr>
          <p:cNvPr id="30" name="Text 26"/>
          <p:cNvSpPr/>
          <p:nvPr/>
        </p:nvSpPr>
        <p:spPr>
          <a:xfrm>
            <a:off x="9299448" y="4206240"/>
            <a:ext cx="2050999" cy="365760"/>
          </a:xfrm>
          <a:prstGeom prst="rect">
            <a:avLst/>
          </a:prstGeom>
          <a:noFill/>
          <a:ln/>
        </p:spPr>
        <p:txBody>
          <a:bodyPr wrap="square" lIns="0" tIns="0" rIns="0" bIns="0" rtlCol="0" anchor="t"/>
          <a:lstStyle/>
          <a:p>
            <a:pPr algn="l" indent="0" marL="0">
              <a:lnSpc>
                <a:spcPts val="1300"/>
              </a:lnSpc>
              <a:buNone/>
            </a:pPr>
            <a:r>
              <a:rPr lang="en-US" sz="900" dirty="0">
                <a:solidFill>
                  <a:srgbClr val="9AA0A7"/>
                </a:solidFill>
                <a:latin typeface="Calibri" pitchFamily="34" charset="0"/>
                <a:ea typeface="Calibri" pitchFamily="34" charset="-122"/>
                <a:cs typeface="Calibri" pitchFamily="34" charset="-120"/>
              </a:rPr>
              <a:t>interval 95% skor kami di irisan itu</a:t>
            </a:r>
            <a:endParaRPr lang="en-US" sz="900" dirty="0"/>
          </a:p>
        </p:txBody>
      </p:sp>
      <p:sp>
        <p:nvSpPr>
          <p:cNvPr id="31" name="Text 27"/>
          <p:cNvSpPr/>
          <p:nvPr/>
        </p:nvSpPr>
        <p:spPr>
          <a:xfrm>
            <a:off x="9299448" y="4681728"/>
            <a:ext cx="2050999" cy="457200"/>
          </a:xfrm>
          <a:prstGeom prst="rect">
            <a:avLst/>
          </a:prstGeom>
          <a:noFill/>
          <a:ln/>
        </p:spPr>
        <p:txBody>
          <a:bodyPr wrap="square" lIns="0" tIns="0" rIns="0" bIns="0" rtlCol="0" anchor="b"/>
          <a:lstStyle/>
          <a:p>
            <a:pPr algn="l" indent="0" marL="0">
              <a:buNone/>
            </a:pPr>
            <a:r>
              <a:rPr lang="en-US" sz="2600" b="1" dirty="0">
                <a:solidFill>
                  <a:srgbClr val="A8442A"/>
                </a:solidFill>
                <a:latin typeface="Cambria" pitchFamily="34" charset="0"/>
                <a:ea typeface="Cambria" pitchFamily="34" charset="-122"/>
                <a:cs typeface="Cambria" pitchFamily="34" charset="-120"/>
              </a:rPr>
              <a:t>0,7 σ</a:t>
            </a:r>
            <a:endParaRPr lang="en-US" sz="2600" dirty="0"/>
          </a:p>
        </p:txBody>
      </p:sp>
      <p:sp>
        <p:nvSpPr>
          <p:cNvPr id="32" name="Text 28"/>
          <p:cNvSpPr/>
          <p:nvPr/>
        </p:nvSpPr>
        <p:spPr>
          <a:xfrm>
            <a:off x="9299448" y="5175504"/>
            <a:ext cx="2050999" cy="420624"/>
          </a:xfrm>
          <a:prstGeom prst="rect">
            <a:avLst/>
          </a:prstGeom>
          <a:noFill/>
          <a:ln/>
        </p:spPr>
        <p:txBody>
          <a:bodyPr wrap="square" lIns="0" tIns="0" rIns="0" bIns="0" rtlCol="0" anchor="t"/>
          <a:lstStyle/>
          <a:p>
            <a:pPr algn="l" indent="0" marL="0">
              <a:lnSpc>
                <a:spcPts val="1300"/>
              </a:lnSpc>
              <a:buNone/>
            </a:pPr>
            <a:r>
              <a:rPr lang="en-US" sz="950" dirty="0">
                <a:solidFill>
                  <a:srgbClr val="9AA0A7"/>
                </a:solidFill>
                <a:latin typeface="Calibri" pitchFamily="34" charset="0"/>
                <a:ea typeface="Calibri" pitchFamily="34" charset="-122"/>
                <a:cs typeface="Calibri" pitchFamily="34" charset="-120"/>
              </a:rPr>
              <a:t>selisih peringkat 4 sampai 9 (0,0075) dalam satuan sd</a:t>
            </a:r>
            <a:endParaRPr lang="en-US" sz="950" dirty="0"/>
          </a:p>
        </p:txBody>
      </p:sp>
      <p:sp>
        <p:nvSpPr>
          <p:cNvPr id="33" name="Text 29"/>
          <p:cNvSpPr/>
          <p:nvPr/>
        </p:nvSpPr>
        <p:spPr>
          <a:xfrm>
            <a:off x="9299448" y="5596128"/>
            <a:ext cx="2050999" cy="640080"/>
          </a:xfrm>
          <a:prstGeom prst="rect">
            <a:avLst/>
          </a:prstGeom>
          <a:noFill/>
          <a:ln/>
        </p:spPr>
        <p:txBody>
          <a:bodyPr wrap="square" lIns="0" tIns="0" rIns="0" bIns="0" rtlCol="0" anchor="t"/>
          <a:lstStyle/>
          <a:p>
            <a:pPr algn="l" indent="0" marL="0">
              <a:lnSpc>
                <a:spcPts val="1283"/>
              </a:lnSpc>
              <a:buNone/>
            </a:pPr>
            <a:r>
              <a:rPr lang="en-US" sz="950" b="1" dirty="0">
                <a:solidFill>
                  <a:srgbClr val="8FB0A4"/>
                </a:solidFill>
                <a:latin typeface="Calibri" pitchFamily="34" charset="0"/>
                <a:ea typeface="Calibri" pitchFamily="34" charset="-122"/>
                <a:cs typeface="Calibri" pitchFamily="34" charset="-120"/>
              </a:rPr>
              <a:t>Selisih di bawah sekitar 0,02 lebih ditentukan irisan data daripada metodologi.</a:t>
            </a:r>
            <a:endParaRPr lang="en-US" sz="950" dirty="0"/>
          </a:p>
        </p:txBody>
      </p:sp>
      <p:sp>
        <p:nvSpPr>
          <p:cNvPr id="35" name="Shape 30"/>
          <p:cNvSpPr/>
          <p:nvPr/>
        </p:nvSpPr>
        <p:spPr>
          <a:xfrm>
            <a:off x="640080" y="6400800"/>
            <a:ext cx="1572768" cy="45720"/>
          </a:xfrm>
          <a:prstGeom prst="rect">
            <a:avLst/>
          </a:prstGeom>
          <a:solidFill>
            <a:srgbClr val="DCD8D1"/>
          </a:solidFill>
          <a:ln/>
        </p:spPr>
      </p:sp>
      <p:sp>
        <p:nvSpPr>
          <p:cNvPr id="36" name="Text 31"/>
          <p:cNvSpPr/>
          <p:nvPr/>
        </p:nvSpPr>
        <p:spPr>
          <a:xfrm>
            <a:off x="640080"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I · Latar &amp; data</a:t>
            </a:r>
            <a:endParaRPr lang="en-US" sz="850" dirty="0"/>
          </a:p>
        </p:txBody>
      </p:sp>
      <p:sp>
        <p:nvSpPr>
          <p:cNvPr id="37" name="Shape 32"/>
          <p:cNvSpPr/>
          <p:nvPr/>
        </p:nvSpPr>
        <p:spPr>
          <a:xfrm>
            <a:off x="2304288" y="6400800"/>
            <a:ext cx="1572768" cy="45720"/>
          </a:xfrm>
          <a:prstGeom prst="rect">
            <a:avLst/>
          </a:prstGeom>
          <a:solidFill>
            <a:srgbClr val="DCD8D1"/>
          </a:solidFill>
          <a:ln/>
        </p:spPr>
      </p:sp>
      <p:sp>
        <p:nvSpPr>
          <p:cNvPr id="38" name="Text 33"/>
          <p:cNvSpPr/>
          <p:nvPr/>
        </p:nvSpPr>
        <p:spPr>
          <a:xfrm>
            <a:off x="2304288"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II · EDA</a:t>
            </a:r>
            <a:endParaRPr lang="en-US" sz="850" dirty="0"/>
          </a:p>
        </p:txBody>
      </p:sp>
      <p:sp>
        <p:nvSpPr>
          <p:cNvPr id="39" name="Shape 34"/>
          <p:cNvSpPr/>
          <p:nvPr/>
        </p:nvSpPr>
        <p:spPr>
          <a:xfrm>
            <a:off x="3968496" y="6400800"/>
            <a:ext cx="1572768" cy="45720"/>
          </a:xfrm>
          <a:prstGeom prst="rect">
            <a:avLst/>
          </a:prstGeom>
          <a:solidFill>
            <a:srgbClr val="DCD8D1"/>
          </a:solidFill>
          <a:ln/>
        </p:spPr>
      </p:sp>
      <p:sp>
        <p:nvSpPr>
          <p:cNvPr id="40" name="Text 35"/>
          <p:cNvSpPr/>
          <p:nvPr/>
        </p:nvSpPr>
        <p:spPr>
          <a:xfrm>
            <a:off x="3968496"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III · Pipeline</a:t>
            </a:r>
            <a:endParaRPr lang="en-US" sz="850" dirty="0"/>
          </a:p>
        </p:txBody>
      </p:sp>
      <p:sp>
        <p:nvSpPr>
          <p:cNvPr id="41" name="Shape 36"/>
          <p:cNvSpPr/>
          <p:nvPr/>
        </p:nvSpPr>
        <p:spPr>
          <a:xfrm>
            <a:off x="5632704" y="6400800"/>
            <a:ext cx="1572768" cy="45720"/>
          </a:xfrm>
          <a:prstGeom prst="rect">
            <a:avLst/>
          </a:prstGeom>
          <a:solidFill>
            <a:srgbClr val="DCD8D1"/>
          </a:solidFill>
          <a:ln/>
        </p:spPr>
      </p:sp>
      <p:sp>
        <p:nvSpPr>
          <p:cNvPr id="42" name="Text 37"/>
          <p:cNvSpPr/>
          <p:nvPr/>
        </p:nvSpPr>
        <p:spPr>
          <a:xfrm>
            <a:off x="5632704"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IV · Disiplin estimasi</a:t>
            </a:r>
            <a:endParaRPr lang="en-US" sz="850" dirty="0"/>
          </a:p>
        </p:txBody>
      </p:sp>
      <p:sp>
        <p:nvSpPr>
          <p:cNvPr id="43" name="Shape 38"/>
          <p:cNvSpPr/>
          <p:nvPr/>
        </p:nvSpPr>
        <p:spPr>
          <a:xfrm>
            <a:off x="7296912" y="6400800"/>
            <a:ext cx="1572768" cy="45720"/>
          </a:xfrm>
          <a:prstGeom prst="rect">
            <a:avLst/>
          </a:prstGeom>
          <a:solidFill>
            <a:srgbClr val="A8442A"/>
          </a:solidFill>
          <a:ln/>
        </p:spPr>
      </p:sp>
      <p:sp>
        <p:nvSpPr>
          <p:cNvPr id="44" name="Text 39"/>
          <p:cNvSpPr/>
          <p:nvPr/>
        </p:nvSpPr>
        <p:spPr>
          <a:xfrm>
            <a:off x="7296912" y="6464808"/>
            <a:ext cx="1572768" cy="201168"/>
          </a:xfrm>
          <a:prstGeom prst="rect">
            <a:avLst/>
          </a:prstGeom>
          <a:noFill/>
          <a:ln/>
        </p:spPr>
        <p:txBody>
          <a:bodyPr wrap="square" lIns="0" tIns="0" rIns="0" bIns="0" rtlCol="0" anchor="ctr"/>
          <a:lstStyle/>
          <a:p>
            <a:pPr indent="0" marL="0">
              <a:buNone/>
            </a:pPr>
            <a:r>
              <a:rPr lang="en-US" sz="850" b="1" dirty="0">
                <a:solidFill>
                  <a:srgbClr val="16191D"/>
                </a:solidFill>
                <a:latin typeface="Calibri" pitchFamily="34" charset="0"/>
                <a:ea typeface="Calibri" pitchFamily="34" charset="-122"/>
                <a:cs typeface="Calibri" pitchFamily="34" charset="-120"/>
              </a:rPr>
              <a:t>V · Hasil &amp; plafon</a:t>
            </a:r>
            <a:endParaRPr lang="en-US" sz="850" dirty="0"/>
          </a:p>
        </p:txBody>
      </p:sp>
      <p:sp>
        <p:nvSpPr>
          <p:cNvPr id="45" name="Shape 40"/>
          <p:cNvSpPr/>
          <p:nvPr/>
        </p:nvSpPr>
        <p:spPr>
          <a:xfrm>
            <a:off x="8961120" y="6400800"/>
            <a:ext cx="1572768" cy="45720"/>
          </a:xfrm>
          <a:prstGeom prst="rect">
            <a:avLst/>
          </a:prstGeom>
          <a:solidFill>
            <a:srgbClr val="DCD8D1"/>
          </a:solidFill>
          <a:ln/>
        </p:spPr>
      </p:sp>
      <p:sp>
        <p:nvSpPr>
          <p:cNvPr id="46" name="Text 41"/>
          <p:cNvSpPr/>
          <p:nvPr/>
        </p:nvSpPr>
        <p:spPr>
          <a:xfrm>
            <a:off x="8961120"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VI · Reproduksi &amp; produk</a:t>
            </a:r>
            <a:endParaRPr lang="en-US" sz="850" dirty="0"/>
          </a:p>
        </p:txBody>
      </p:sp>
      <p:sp>
        <p:nvSpPr>
          <p:cNvPr id="47" name="Text 42"/>
          <p:cNvSpPr/>
          <p:nvPr/>
        </p:nvSpPr>
        <p:spPr>
          <a:xfrm>
            <a:off x="10637215" y="6382512"/>
            <a:ext cx="914400" cy="274320"/>
          </a:xfrm>
          <a:prstGeom prst="rect">
            <a:avLst/>
          </a:prstGeom>
          <a:noFill/>
          <a:ln/>
        </p:spPr>
        <p:txBody>
          <a:bodyPr wrap="square" lIns="0" tIns="0" rIns="0" bIns="0" rtlCol="0" anchor="ctr"/>
          <a:lstStyle/>
          <a:p>
            <a:pPr algn="r" indent="0" marL="0">
              <a:buNone/>
            </a:pPr>
            <a:r>
              <a:rPr lang="en-US" sz="900" b="1" dirty="0">
                <a:solidFill>
                  <a:srgbClr val="9AA0A7"/>
                </a:solidFill>
                <a:latin typeface="Calibri" pitchFamily="34" charset="0"/>
                <a:ea typeface="Calibri" pitchFamily="34" charset="-122"/>
                <a:cs typeface="Calibri"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84048"/>
            <a:ext cx="10911535" cy="530352"/>
          </a:xfrm>
          <a:prstGeom prst="rect">
            <a:avLst/>
          </a:prstGeom>
          <a:noFill/>
          <a:ln/>
        </p:spPr>
        <p:txBody>
          <a:bodyPr wrap="square" lIns="0" tIns="0" rIns="0" bIns="0" rtlCol="0" anchor="t"/>
          <a:lstStyle/>
          <a:p>
            <a:pPr indent="0" marL="0">
              <a:buNone/>
            </a:pPr>
            <a:r>
              <a:rPr lang="en-US" sz="2400" b="1" dirty="0">
                <a:solidFill>
                  <a:srgbClr val="16191D"/>
                </a:solidFill>
                <a:latin typeface="Cambria" pitchFamily="34" charset="0"/>
                <a:ea typeface="Cambria" pitchFamily="34" charset="-122"/>
                <a:cs typeface="Cambria" pitchFamily="34" charset="-120"/>
              </a:rPr>
              <a:t>Satu eksekusi menghasilkan model, submission, dan semua angka ini.</a:t>
            </a:r>
            <a:endParaRPr lang="en-US" sz="2400" dirty="0"/>
          </a:p>
        </p:txBody>
      </p:sp>
      <p:sp>
        <p:nvSpPr>
          <p:cNvPr id="3" name="Text 1"/>
          <p:cNvSpPr/>
          <p:nvPr/>
        </p:nvSpPr>
        <p:spPr>
          <a:xfrm>
            <a:off x="640080" y="896112"/>
            <a:ext cx="10911535" cy="310896"/>
          </a:xfrm>
          <a:prstGeom prst="rect">
            <a:avLst/>
          </a:prstGeom>
          <a:noFill/>
          <a:ln/>
        </p:spPr>
        <p:txBody>
          <a:bodyPr wrap="square" lIns="0" tIns="0" rIns="0" bIns="0" rtlCol="0" anchor="t"/>
          <a:lstStyle/>
          <a:p>
            <a:pPr indent="0" marL="0">
              <a:buNone/>
            </a:pPr>
            <a:r>
              <a:rPr lang="en-US" sz="1250" dirty="0">
                <a:solidFill>
                  <a:srgbClr val="6E747C"/>
                </a:solidFill>
                <a:latin typeface="Calibri" pitchFamily="34" charset="0"/>
                <a:ea typeface="Calibri" pitchFamily="34" charset="-122"/>
                <a:cs typeface="Calibri" pitchFamily="34" charset="-120"/>
              </a:rPr>
              <a:t>Yang dikunci, yang diuji, yang dipenuhi terhadap aturan panitia, dan yang kami akui sebagai batas.</a:t>
            </a:r>
            <a:endParaRPr lang="en-US" sz="1250" dirty="0"/>
          </a:p>
        </p:txBody>
      </p:sp>
      <p:sp>
        <p:nvSpPr>
          <p:cNvPr id="4" name="Shape 2"/>
          <p:cNvSpPr/>
          <p:nvPr/>
        </p:nvSpPr>
        <p:spPr>
          <a:xfrm>
            <a:off x="640080" y="1371600"/>
            <a:ext cx="3484778" cy="4846320"/>
          </a:xfrm>
          <a:prstGeom prst="roundRect">
            <a:avLst>
              <a:gd name="adj" fmla="val 1574"/>
            </a:avLst>
          </a:prstGeom>
          <a:solidFill>
            <a:srgbClr val="FFFFFF"/>
          </a:solidFill>
          <a:ln w="9525">
            <a:solidFill>
              <a:srgbClr val="DCD8D1"/>
            </a:solidFill>
            <a:prstDash val="solid"/>
          </a:ln>
        </p:spPr>
      </p:sp>
      <p:sp>
        <p:nvSpPr>
          <p:cNvPr id="5" name="Text 3"/>
          <p:cNvSpPr/>
          <p:nvPr/>
        </p:nvSpPr>
        <p:spPr>
          <a:xfrm>
            <a:off x="841248" y="1499616"/>
            <a:ext cx="3082442" cy="201168"/>
          </a:xfrm>
          <a:prstGeom prst="rect">
            <a:avLst/>
          </a:prstGeom>
          <a:noFill/>
          <a:ln/>
        </p:spPr>
        <p:txBody>
          <a:bodyPr wrap="square" lIns="0" tIns="0" rIns="0" bIns="0" rtlCol="0" anchor="ctr"/>
          <a:lstStyle/>
          <a:p>
            <a:pPr indent="0" marL="0">
              <a:buNone/>
            </a:pPr>
            <a:r>
              <a:rPr lang="en-US" sz="850" b="1" spc="120" kern="0" dirty="0">
                <a:solidFill>
                  <a:srgbClr val="6E747C"/>
                </a:solidFill>
                <a:latin typeface="Calibri" pitchFamily="34" charset="0"/>
                <a:ea typeface="Calibri" pitchFamily="34" charset="-122"/>
                <a:cs typeface="Calibri" pitchFamily="34" charset="-120"/>
              </a:rPr>
              <a:t>12 · REPRODUKSIBILITAS</a:t>
            </a:r>
            <a:endParaRPr lang="en-US" sz="850" dirty="0"/>
          </a:p>
        </p:txBody>
      </p:sp>
      <p:sp>
        <p:nvSpPr>
          <p:cNvPr id="6" name="Text 4"/>
          <p:cNvSpPr/>
          <p:nvPr/>
        </p:nvSpPr>
        <p:spPr>
          <a:xfrm>
            <a:off x="841248" y="1700784"/>
            <a:ext cx="3082442" cy="475488"/>
          </a:xfrm>
          <a:prstGeom prst="rect">
            <a:avLst/>
          </a:prstGeom>
          <a:noFill/>
          <a:ln/>
        </p:spPr>
        <p:txBody>
          <a:bodyPr wrap="square" lIns="0" tIns="0" rIns="0" bIns="0" rtlCol="0" anchor="t"/>
          <a:lstStyle/>
          <a:p>
            <a:pPr indent="0" marL="0">
              <a:lnSpc>
                <a:spcPts val="1600"/>
              </a:lnSpc>
              <a:buNone/>
            </a:pPr>
            <a:r>
              <a:rPr lang="en-US" sz="1300" b="1" dirty="0">
                <a:solidFill>
                  <a:srgbClr val="16191D"/>
                </a:solidFill>
                <a:latin typeface="Cambria" pitchFamily="34" charset="0"/>
                <a:ea typeface="Cambria" pitchFamily="34" charset="-122"/>
                <a:cs typeface="Cambria" pitchFamily="34" charset="-120"/>
              </a:rPr>
              <a:t>Dikunci, disimpan, diuji</a:t>
            </a:r>
            <a:endParaRPr lang="en-US" sz="1300" dirty="0"/>
          </a:p>
        </p:txBody>
      </p:sp>
      <p:sp>
        <p:nvSpPr>
          <p:cNvPr id="7" name="Text 5"/>
          <p:cNvSpPr/>
          <p:nvPr/>
        </p:nvSpPr>
        <p:spPr>
          <a:xfrm>
            <a:off x="841248" y="2212848"/>
            <a:ext cx="1541221" cy="265176"/>
          </a:xfrm>
          <a:prstGeom prst="rect">
            <a:avLst/>
          </a:prstGeom>
          <a:noFill/>
          <a:ln/>
        </p:spPr>
        <p:txBody>
          <a:bodyPr wrap="square" lIns="0" tIns="0" rIns="0" bIns="0" rtlCol="0" anchor="ctr"/>
          <a:lstStyle/>
          <a:p>
            <a:pPr indent="0" marL="0">
              <a:buNone/>
            </a:pPr>
            <a:r>
              <a:rPr lang="en-US" sz="950" dirty="0">
                <a:solidFill>
                  <a:srgbClr val="3A4048"/>
                </a:solidFill>
                <a:latin typeface="Calibri" pitchFamily="34" charset="0"/>
                <a:ea typeface="Calibri" pitchFamily="34" charset="-122"/>
                <a:cs typeface="Calibri" pitchFamily="34" charset="-120"/>
              </a:rPr>
              <a:t>SEED / seed fold</a:t>
            </a:r>
            <a:endParaRPr lang="en-US" sz="950" dirty="0"/>
          </a:p>
        </p:txBody>
      </p:sp>
      <p:sp>
        <p:nvSpPr>
          <p:cNvPr id="8" name="Text 6"/>
          <p:cNvSpPr/>
          <p:nvPr/>
        </p:nvSpPr>
        <p:spPr>
          <a:xfrm>
            <a:off x="2382469" y="2212848"/>
            <a:ext cx="1541221" cy="265176"/>
          </a:xfrm>
          <a:prstGeom prst="rect">
            <a:avLst/>
          </a:prstGeom>
          <a:noFill/>
          <a:ln/>
        </p:spPr>
        <p:txBody>
          <a:bodyPr wrap="square" lIns="0" tIns="0" rIns="0" bIns="0" rtlCol="0" anchor="ctr"/>
          <a:lstStyle/>
          <a:p>
            <a:pPr algn="r" indent="0" marL="0">
              <a:buNone/>
            </a:pPr>
            <a:r>
              <a:rPr lang="en-US" sz="950" b="1" dirty="0">
                <a:solidFill>
                  <a:srgbClr val="16191D"/>
                </a:solidFill>
                <a:latin typeface="Calibri" pitchFamily="34" charset="0"/>
                <a:ea typeface="Calibri" pitchFamily="34" charset="-122"/>
                <a:cs typeface="Calibri" pitchFamily="34" charset="-120"/>
              </a:rPr>
              <a:t>42 / 0–4</a:t>
            </a:r>
            <a:endParaRPr lang="en-US" sz="950" dirty="0"/>
          </a:p>
        </p:txBody>
      </p:sp>
      <p:sp>
        <p:nvSpPr>
          <p:cNvPr id="9" name="Shape 7"/>
          <p:cNvSpPr/>
          <p:nvPr/>
        </p:nvSpPr>
        <p:spPr>
          <a:xfrm>
            <a:off x="841248" y="2478024"/>
            <a:ext cx="3082442" cy="0"/>
          </a:xfrm>
          <a:prstGeom prst="line">
            <a:avLst/>
          </a:prstGeom>
          <a:noFill/>
          <a:ln w="7620">
            <a:solidFill>
              <a:srgbClr val="DCD8D1"/>
            </a:solidFill>
            <a:prstDash val="solid"/>
          </a:ln>
        </p:spPr>
      </p:sp>
      <p:sp>
        <p:nvSpPr>
          <p:cNvPr id="10" name="Text 8"/>
          <p:cNvSpPr/>
          <p:nvPr/>
        </p:nvSpPr>
        <p:spPr>
          <a:xfrm>
            <a:off x="841248" y="2478024"/>
            <a:ext cx="1541221" cy="265176"/>
          </a:xfrm>
          <a:prstGeom prst="rect">
            <a:avLst/>
          </a:prstGeom>
          <a:noFill/>
          <a:ln/>
        </p:spPr>
        <p:txBody>
          <a:bodyPr wrap="square" lIns="0" tIns="0" rIns="0" bIns="0" rtlCol="0" anchor="ctr"/>
          <a:lstStyle/>
          <a:p>
            <a:pPr indent="0" marL="0">
              <a:buNone/>
            </a:pPr>
            <a:r>
              <a:rPr lang="en-US" sz="950" dirty="0">
                <a:solidFill>
                  <a:srgbClr val="3A4048"/>
                </a:solidFill>
                <a:latin typeface="Calibri" pitchFamily="34" charset="0"/>
                <a:ea typeface="Calibri" pitchFamily="34" charset="-122"/>
                <a:cs typeface="Calibri" pitchFamily="34" charset="-120"/>
              </a:rPr>
              <a:t>PYTHONHASHSEED</a:t>
            </a:r>
            <a:endParaRPr lang="en-US" sz="950" dirty="0"/>
          </a:p>
        </p:txBody>
      </p:sp>
      <p:sp>
        <p:nvSpPr>
          <p:cNvPr id="11" name="Text 9"/>
          <p:cNvSpPr/>
          <p:nvPr/>
        </p:nvSpPr>
        <p:spPr>
          <a:xfrm>
            <a:off x="2382469" y="2478024"/>
            <a:ext cx="1541221" cy="265176"/>
          </a:xfrm>
          <a:prstGeom prst="rect">
            <a:avLst/>
          </a:prstGeom>
          <a:noFill/>
          <a:ln/>
        </p:spPr>
        <p:txBody>
          <a:bodyPr wrap="square" lIns="0" tIns="0" rIns="0" bIns="0" rtlCol="0" anchor="ctr"/>
          <a:lstStyle/>
          <a:p>
            <a:pPr algn="r" indent="0" marL="0">
              <a:buNone/>
            </a:pPr>
            <a:r>
              <a:rPr lang="en-US" sz="950" b="1" dirty="0">
                <a:solidFill>
                  <a:srgbClr val="16191D"/>
                </a:solidFill>
                <a:latin typeface="Calibri" pitchFamily="34" charset="0"/>
                <a:ea typeface="Calibri" pitchFamily="34" charset="-122"/>
                <a:cs typeface="Calibri" pitchFamily="34" charset="-120"/>
              </a:rPr>
              <a:t>diatur</a:t>
            </a:r>
            <a:endParaRPr lang="en-US" sz="950" dirty="0"/>
          </a:p>
        </p:txBody>
      </p:sp>
      <p:sp>
        <p:nvSpPr>
          <p:cNvPr id="12" name="Shape 10"/>
          <p:cNvSpPr/>
          <p:nvPr/>
        </p:nvSpPr>
        <p:spPr>
          <a:xfrm>
            <a:off x="841248" y="2743200"/>
            <a:ext cx="3082442" cy="0"/>
          </a:xfrm>
          <a:prstGeom prst="line">
            <a:avLst/>
          </a:prstGeom>
          <a:noFill/>
          <a:ln w="7620">
            <a:solidFill>
              <a:srgbClr val="DCD8D1"/>
            </a:solidFill>
            <a:prstDash val="solid"/>
          </a:ln>
        </p:spPr>
      </p:sp>
      <p:sp>
        <p:nvSpPr>
          <p:cNvPr id="13" name="Text 11"/>
          <p:cNvSpPr/>
          <p:nvPr/>
        </p:nvSpPr>
        <p:spPr>
          <a:xfrm>
            <a:off x="841248" y="2743200"/>
            <a:ext cx="1541221" cy="265176"/>
          </a:xfrm>
          <a:prstGeom prst="rect">
            <a:avLst/>
          </a:prstGeom>
          <a:noFill/>
          <a:ln/>
        </p:spPr>
        <p:txBody>
          <a:bodyPr wrap="square" lIns="0" tIns="0" rIns="0" bIns="0" rtlCol="0" anchor="ctr"/>
          <a:lstStyle/>
          <a:p>
            <a:pPr indent="0" marL="0">
              <a:buNone/>
            </a:pPr>
            <a:r>
              <a:rPr lang="en-US" sz="950" dirty="0">
                <a:solidFill>
                  <a:srgbClr val="3A4048"/>
                </a:solidFill>
                <a:latin typeface="Calibri" pitchFamily="34" charset="0"/>
                <a:ea typeface="Calibri" pitchFamily="34" charset="-122"/>
                <a:cs typeface="Calibri" pitchFamily="34" charset="-120"/>
              </a:rPr>
              <a:t>Python · LightGBM</a:t>
            </a:r>
            <a:endParaRPr lang="en-US" sz="950" dirty="0"/>
          </a:p>
        </p:txBody>
      </p:sp>
      <p:sp>
        <p:nvSpPr>
          <p:cNvPr id="14" name="Text 12"/>
          <p:cNvSpPr/>
          <p:nvPr/>
        </p:nvSpPr>
        <p:spPr>
          <a:xfrm>
            <a:off x="2382469" y="2743200"/>
            <a:ext cx="1541221" cy="265176"/>
          </a:xfrm>
          <a:prstGeom prst="rect">
            <a:avLst/>
          </a:prstGeom>
          <a:noFill/>
          <a:ln/>
        </p:spPr>
        <p:txBody>
          <a:bodyPr wrap="square" lIns="0" tIns="0" rIns="0" bIns="0" rtlCol="0" anchor="ctr"/>
          <a:lstStyle/>
          <a:p>
            <a:pPr algn="r" indent="0" marL="0">
              <a:buNone/>
            </a:pPr>
            <a:r>
              <a:rPr lang="en-US" sz="950" b="1" dirty="0">
                <a:solidFill>
                  <a:srgbClr val="16191D"/>
                </a:solidFill>
                <a:latin typeface="Calibri" pitchFamily="34" charset="0"/>
                <a:ea typeface="Calibri" pitchFamily="34" charset="-122"/>
                <a:cs typeface="Calibri" pitchFamily="34" charset="-120"/>
              </a:rPr>
              <a:t>3.11.9 · 4.7.0</a:t>
            </a:r>
            <a:endParaRPr lang="en-US" sz="950" dirty="0"/>
          </a:p>
        </p:txBody>
      </p:sp>
      <p:sp>
        <p:nvSpPr>
          <p:cNvPr id="15" name="Shape 13"/>
          <p:cNvSpPr/>
          <p:nvPr/>
        </p:nvSpPr>
        <p:spPr>
          <a:xfrm>
            <a:off x="841248" y="3008376"/>
            <a:ext cx="3082442" cy="0"/>
          </a:xfrm>
          <a:prstGeom prst="line">
            <a:avLst/>
          </a:prstGeom>
          <a:noFill/>
          <a:ln w="7620">
            <a:solidFill>
              <a:srgbClr val="DCD8D1"/>
            </a:solidFill>
            <a:prstDash val="solid"/>
          </a:ln>
        </p:spPr>
      </p:sp>
      <p:sp>
        <p:nvSpPr>
          <p:cNvPr id="16" name="Text 14"/>
          <p:cNvSpPr/>
          <p:nvPr/>
        </p:nvSpPr>
        <p:spPr>
          <a:xfrm>
            <a:off x="841248" y="3008376"/>
            <a:ext cx="1541221" cy="265176"/>
          </a:xfrm>
          <a:prstGeom prst="rect">
            <a:avLst/>
          </a:prstGeom>
          <a:noFill/>
          <a:ln/>
        </p:spPr>
        <p:txBody>
          <a:bodyPr wrap="square" lIns="0" tIns="0" rIns="0" bIns="0" rtlCol="0" anchor="ctr"/>
          <a:lstStyle/>
          <a:p>
            <a:pPr indent="0" marL="0">
              <a:buNone/>
            </a:pPr>
            <a:r>
              <a:rPr lang="en-US" sz="950" dirty="0">
                <a:solidFill>
                  <a:srgbClr val="3A4048"/>
                </a:solidFill>
                <a:latin typeface="Calibri" pitchFamily="34" charset="0"/>
                <a:ea typeface="Calibri" pitchFamily="34" charset="-122"/>
                <a:cs typeface="Calibri" pitchFamily="34" charset="-120"/>
              </a:rPr>
              <a:t>XGBoost · CatBoost</a:t>
            </a:r>
            <a:endParaRPr lang="en-US" sz="950" dirty="0"/>
          </a:p>
        </p:txBody>
      </p:sp>
      <p:sp>
        <p:nvSpPr>
          <p:cNvPr id="17" name="Text 15"/>
          <p:cNvSpPr/>
          <p:nvPr/>
        </p:nvSpPr>
        <p:spPr>
          <a:xfrm>
            <a:off x="2382469" y="3008376"/>
            <a:ext cx="1541221" cy="265176"/>
          </a:xfrm>
          <a:prstGeom prst="rect">
            <a:avLst/>
          </a:prstGeom>
          <a:noFill/>
          <a:ln/>
        </p:spPr>
        <p:txBody>
          <a:bodyPr wrap="square" lIns="0" tIns="0" rIns="0" bIns="0" rtlCol="0" anchor="ctr"/>
          <a:lstStyle/>
          <a:p>
            <a:pPr algn="r" indent="0" marL="0">
              <a:buNone/>
            </a:pPr>
            <a:r>
              <a:rPr lang="en-US" sz="950" b="1" dirty="0">
                <a:solidFill>
                  <a:srgbClr val="16191D"/>
                </a:solidFill>
                <a:latin typeface="Calibri" pitchFamily="34" charset="0"/>
                <a:ea typeface="Calibri" pitchFamily="34" charset="-122"/>
                <a:cs typeface="Calibri" pitchFamily="34" charset="-120"/>
              </a:rPr>
              <a:t>3.2.0 · 1.2.10</a:t>
            </a:r>
            <a:endParaRPr lang="en-US" sz="950" dirty="0"/>
          </a:p>
        </p:txBody>
      </p:sp>
      <p:sp>
        <p:nvSpPr>
          <p:cNvPr id="18" name="Shape 16"/>
          <p:cNvSpPr/>
          <p:nvPr/>
        </p:nvSpPr>
        <p:spPr>
          <a:xfrm>
            <a:off x="841248" y="3273552"/>
            <a:ext cx="3082442" cy="0"/>
          </a:xfrm>
          <a:prstGeom prst="line">
            <a:avLst/>
          </a:prstGeom>
          <a:noFill/>
          <a:ln w="7620">
            <a:solidFill>
              <a:srgbClr val="DCD8D1"/>
            </a:solidFill>
            <a:prstDash val="solid"/>
          </a:ln>
        </p:spPr>
      </p:sp>
      <p:sp>
        <p:nvSpPr>
          <p:cNvPr id="19" name="Text 17"/>
          <p:cNvSpPr/>
          <p:nvPr/>
        </p:nvSpPr>
        <p:spPr>
          <a:xfrm>
            <a:off x="841248" y="3273552"/>
            <a:ext cx="1541221" cy="265176"/>
          </a:xfrm>
          <a:prstGeom prst="rect">
            <a:avLst/>
          </a:prstGeom>
          <a:noFill/>
          <a:ln/>
        </p:spPr>
        <p:txBody>
          <a:bodyPr wrap="square" lIns="0" tIns="0" rIns="0" bIns="0" rtlCol="0" anchor="ctr"/>
          <a:lstStyle/>
          <a:p>
            <a:pPr indent="0" marL="0">
              <a:buNone/>
            </a:pPr>
            <a:r>
              <a:rPr lang="en-US" sz="950" dirty="0">
                <a:solidFill>
                  <a:srgbClr val="3A4048"/>
                </a:solidFill>
                <a:latin typeface="Calibri" pitchFamily="34" charset="0"/>
                <a:ea typeface="Calibri" pitchFamily="34" charset="-122"/>
                <a:cs typeface="Calibri" pitchFamily="34" charset="-120"/>
              </a:rPr>
              <a:t>model_warkab.joblib</a:t>
            </a:r>
            <a:endParaRPr lang="en-US" sz="950" dirty="0"/>
          </a:p>
        </p:txBody>
      </p:sp>
      <p:sp>
        <p:nvSpPr>
          <p:cNvPr id="20" name="Text 18"/>
          <p:cNvSpPr/>
          <p:nvPr/>
        </p:nvSpPr>
        <p:spPr>
          <a:xfrm>
            <a:off x="2382469" y="3273552"/>
            <a:ext cx="1541221" cy="265176"/>
          </a:xfrm>
          <a:prstGeom prst="rect">
            <a:avLst/>
          </a:prstGeom>
          <a:noFill/>
          <a:ln/>
        </p:spPr>
        <p:txBody>
          <a:bodyPr wrap="square" lIns="0" tIns="0" rIns="0" bIns="0" rtlCol="0" anchor="ctr"/>
          <a:lstStyle/>
          <a:p>
            <a:pPr algn="r" indent="0" marL="0">
              <a:buNone/>
            </a:pPr>
            <a:r>
              <a:rPr lang="en-US" sz="950" b="1" dirty="0">
                <a:solidFill>
                  <a:srgbClr val="16191D"/>
                </a:solidFill>
                <a:latin typeface="Calibri" pitchFamily="34" charset="0"/>
                <a:ea typeface="Calibri" pitchFamily="34" charset="-122"/>
                <a:cs typeface="Calibri" pitchFamily="34" charset="-120"/>
              </a:rPr>
              <a:t>84,0 MB</a:t>
            </a:r>
            <a:endParaRPr lang="en-US" sz="950" dirty="0"/>
          </a:p>
        </p:txBody>
      </p:sp>
      <p:sp>
        <p:nvSpPr>
          <p:cNvPr id="21" name="Shape 19"/>
          <p:cNvSpPr/>
          <p:nvPr/>
        </p:nvSpPr>
        <p:spPr>
          <a:xfrm>
            <a:off x="841248" y="3538728"/>
            <a:ext cx="3082442" cy="0"/>
          </a:xfrm>
          <a:prstGeom prst="line">
            <a:avLst/>
          </a:prstGeom>
          <a:noFill/>
          <a:ln w="7620">
            <a:solidFill>
              <a:srgbClr val="DCD8D1"/>
            </a:solidFill>
            <a:prstDash val="solid"/>
          </a:ln>
        </p:spPr>
      </p:sp>
      <p:sp>
        <p:nvSpPr>
          <p:cNvPr id="22" name="Text 20"/>
          <p:cNvSpPr/>
          <p:nvPr/>
        </p:nvSpPr>
        <p:spPr>
          <a:xfrm>
            <a:off x="841248" y="3538728"/>
            <a:ext cx="1541221" cy="265176"/>
          </a:xfrm>
          <a:prstGeom prst="rect">
            <a:avLst/>
          </a:prstGeom>
          <a:noFill/>
          <a:ln/>
        </p:spPr>
        <p:txBody>
          <a:bodyPr wrap="square" lIns="0" tIns="0" rIns="0" bIns="0" rtlCol="0" anchor="ctr"/>
          <a:lstStyle/>
          <a:p>
            <a:pPr indent="0" marL="0">
              <a:buNone/>
            </a:pPr>
            <a:r>
              <a:rPr lang="en-US" sz="950" dirty="0">
                <a:solidFill>
                  <a:srgbClr val="3A4048"/>
                </a:solidFill>
                <a:latin typeface="Calibri" pitchFamily="34" charset="0"/>
                <a:ea typeface="Calibri" pitchFamily="34" charset="-122"/>
                <a:cs typeface="Calibri" pitchFamily="34" charset="-120"/>
              </a:rPr>
              <a:t>Muat ulang</a:t>
            </a:r>
            <a:endParaRPr lang="en-US" sz="950" dirty="0"/>
          </a:p>
        </p:txBody>
      </p:sp>
      <p:sp>
        <p:nvSpPr>
          <p:cNvPr id="23" name="Text 21"/>
          <p:cNvSpPr/>
          <p:nvPr/>
        </p:nvSpPr>
        <p:spPr>
          <a:xfrm>
            <a:off x="2382469" y="3538728"/>
            <a:ext cx="1541221" cy="265176"/>
          </a:xfrm>
          <a:prstGeom prst="rect">
            <a:avLst/>
          </a:prstGeom>
          <a:noFill/>
          <a:ln/>
        </p:spPr>
        <p:txBody>
          <a:bodyPr wrap="square" lIns="0" tIns="0" rIns="0" bIns="0" rtlCol="0" anchor="ctr"/>
          <a:lstStyle/>
          <a:p>
            <a:pPr algn="r" indent="0" marL="0">
              <a:buNone/>
            </a:pPr>
            <a:r>
              <a:rPr lang="en-US" sz="950" b="1" dirty="0">
                <a:solidFill>
                  <a:srgbClr val="16191D"/>
                </a:solidFill>
                <a:latin typeface="Calibri" pitchFamily="34" charset="0"/>
                <a:ea typeface="Calibri" pitchFamily="34" charset="-122"/>
                <a:cs typeface="Calibri" pitchFamily="34" charset="-120"/>
              </a:rPr>
              <a:t>lulus</a:t>
            </a:r>
            <a:endParaRPr lang="en-US" sz="950" dirty="0"/>
          </a:p>
        </p:txBody>
      </p:sp>
      <p:sp>
        <p:nvSpPr>
          <p:cNvPr id="24" name="Shape 22"/>
          <p:cNvSpPr/>
          <p:nvPr/>
        </p:nvSpPr>
        <p:spPr>
          <a:xfrm>
            <a:off x="841248" y="3803904"/>
            <a:ext cx="3082442" cy="0"/>
          </a:xfrm>
          <a:prstGeom prst="line">
            <a:avLst/>
          </a:prstGeom>
          <a:noFill/>
          <a:ln w="7620">
            <a:solidFill>
              <a:srgbClr val="DCD8D1"/>
            </a:solidFill>
            <a:prstDash val="solid"/>
          </a:ln>
        </p:spPr>
      </p:sp>
      <p:sp>
        <p:nvSpPr>
          <p:cNvPr id="25" name="Text 23"/>
          <p:cNvSpPr/>
          <p:nvPr/>
        </p:nvSpPr>
        <p:spPr>
          <a:xfrm>
            <a:off x="841248" y="3803904"/>
            <a:ext cx="1541221" cy="265176"/>
          </a:xfrm>
          <a:prstGeom prst="rect">
            <a:avLst/>
          </a:prstGeom>
          <a:noFill/>
          <a:ln/>
        </p:spPr>
        <p:txBody>
          <a:bodyPr wrap="square" lIns="0" tIns="0" rIns="0" bIns="0" rtlCol="0" anchor="ctr"/>
          <a:lstStyle/>
          <a:p>
            <a:pPr indent="0" marL="0">
              <a:buNone/>
            </a:pPr>
            <a:r>
              <a:rPr lang="en-US" sz="950" dirty="0">
                <a:solidFill>
                  <a:srgbClr val="3A4048"/>
                </a:solidFill>
                <a:latin typeface="Calibri" pitchFamily="34" charset="0"/>
                <a:ea typeface="Calibri" pitchFamily="34" charset="-122"/>
                <a:cs typeface="Calibri" pitchFamily="34" charset="-120"/>
              </a:rPr>
              <a:t>Waktu eksekusi</a:t>
            </a:r>
            <a:endParaRPr lang="en-US" sz="950" dirty="0"/>
          </a:p>
        </p:txBody>
      </p:sp>
      <p:sp>
        <p:nvSpPr>
          <p:cNvPr id="26" name="Text 24"/>
          <p:cNvSpPr/>
          <p:nvPr/>
        </p:nvSpPr>
        <p:spPr>
          <a:xfrm>
            <a:off x="2382469" y="3803904"/>
            <a:ext cx="1541221" cy="265176"/>
          </a:xfrm>
          <a:prstGeom prst="rect">
            <a:avLst/>
          </a:prstGeom>
          <a:noFill/>
          <a:ln/>
        </p:spPr>
        <p:txBody>
          <a:bodyPr wrap="square" lIns="0" tIns="0" rIns="0" bIns="0" rtlCol="0" anchor="ctr"/>
          <a:lstStyle/>
          <a:p>
            <a:pPr algn="r" indent="0" marL="0">
              <a:buNone/>
            </a:pPr>
            <a:r>
              <a:rPr lang="en-US" sz="950" b="1" dirty="0">
                <a:solidFill>
                  <a:srgbClr val="16191D"/>
                </a:solidFill>
                <a:latin typeface="Calibri" pitchFamily="34" charset="0"/>
                <a:ea typeface="Calibri" pitchFamily="34" charset="-122"/>
                <a:cs typeface="Calibri" pitchFamily="34" charset="-120"/>
              </a:rPr>
              <a:t>135,1 menit</a:t>
            </a:r>
            <a:endParaRPr lang="en-US" sz="950" dirty="0"/>
          </a:p>
        </p:txBody>
      </p:sp>
      <p:sp>
        <p:nvSpPr>
          <p:cNvPr id="27" name="Text 25"/>
          <p:cNvSpPr/>
          <p:nvPr/>
        </p:nvSpPr>
        <p:spPr>
          <a:xfrm>
            <a:off x="841248" y="4133088"/>
            <a:ext cx="3082442" cy="731520"/>
          </a:xfrm>
          <a:prstGeom prst="rect">
            <a:avLst/>
          </a:prstGeom>
          <a:noFill/>
          <a:ln/>
        </p:spPr>
        <p:txBody>
          <a:bodyPr wrap="square" lIns="0" tIns="0" rIns="0" bIns="0" rtlCol="0" anchor="t"/>
          <a:lstStyle/>
          <a:p>
            <a:pPr indent="0" marL="0">
              <a:lnSpc>
                <a:spcPts val="1250"/>
              </a:lnSpc>
              <a:buNone/>
            </a:pPr>
            <a:r>
              <a:rPr lang="en-US" sz="950" b="1" dirty="0">
                <a:solidFill>
                  <a:srgbClr val="2F6B5F"/>
                </a:solidFill>
                <a:latin typeface="Calibri" pitchFamily="34" charset="0"/>
                <a:ea typeface="Calibri" pitchFamily="34" charset="-122"/>
                <a:cs typeface="Calibri" pitchFamily="34" charset="-120"/>
              </a:rPr>
              <a:t>7 uji integritas lulus: 23.666 baris, id unik, tanpa kosong, label {1,2,3,4}, id integer, semua id uji ada, model tersimpan.</a:t>
            </a:r>
            <a:endParaRPr lang="en-US" sz="95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841248" y="4910328"/>
          <a:ext cx="1600200" cy="914400"/>
        </p:xfrm>
        <a:graphic>
          <a:graphicData uri="http://schemas.openxmlformats.org/drawingml/2006/table">
            <a:tbl>
              <a:tblPr/>
              <a:tblGrid>
                <a:gridCol w="777240"/>
                <a:gridCol w="822960"/>
              </a:tblGrid>
              <a:tr h="219456">
                <a:tc>
                  <a:txBody>
                    <a:bodyPr/>
                    <a:lstStyle/>
                    <a:p>
                      <a:pPr algn="l" indent="0" marL="0">
                        <a:buNone/>
                      </a:pPr>
                      <a:r>
                        <a:rPr lang="en-US" sz="900" b="1" dirty="0">
                          <a:solidFill>
                            <a:srgbClr val="16191D"/>
                          </a:solidFill>
                          <a:latin typeface="Calibri" pitchFamily="34" charset="0"/>
                          <a:ea typeface="Calibri" pitchFamily="34" charset="-122"/>
                          <a:cs typeface="Calibri" pitchFamily="34" charset="-120"/>
                        </a:rPr>
                        <a:t>Seed meta</a:t>
                      </a:r>
                      <a:endParaRPr lang="en-US" sz="900" dirty="0">
                        <a:latin typeface="Calibri" charset="0"/>
                        <a:ea typeface="Calibri" charset="0"/>
                        <a:cs typeface="Calibri" charset="0"/>
                      </a:endParaRPr>
                    </a:p>
                  </a:txBody>
                  <a:tcPr marL="25400" marR="101600" marT="63500" marB="63500" anchor="ctr">
                    <a:lnL w="0" cap="flat" cmpd="sng" algn="ctr">
                      <a:noFill/>
                    </a:lnL>
                    <a:lnR w="0" cap="flat" cmpd="sng" algn="ctr">
                      <a:noFill/>
                    </a:lnR>
                    <a:lnT w="17780" cap="flat" cmpd="sng" algn="ctr">
                      <a:solidFill>
                        <a:srgbClr val="16191D"/>
                      </a:solidFill>
                      <a:prstDash val="solid"/>
                      <a:round/>
                      <a:headEnd type="none" w="med" len="med"/>
                      <a:tailEnd type="none" w="med" len="med"/>
                    </a:lnT>
                    <a:lnB w="10160" cap="flat" cmpd="sng" algn="ctr">
                      <a:solidFill>
                        <a:srgbClr val="16191D"/>
                      </a:solidFill>
                      <a:prstDash val="solid"/>
                      <a:round/>
                      <a:headEnd type="none" w="med" len="med"/>
                      <a:tailEnd type="none" w="med" len="med"/>
                    </a:lnB>
                  </a:tcPr>
                </a:tc>
                <a:tc>
                  <a:txBody>
                    <a:bodyPr/>
                    <a:lstStyle/>
                    <a:p>
                      <a:pPr algn="r" indent="0" marL="0">
                        <a:buNone/>
                      </a:pPr>
                      <a:r>
                        <a:rPr lang="en-US" sz="900" b="1" dirty="0">
                          <a:solidFill>
                            <a:srgbClr val="16191D"/>
                          </a:solidFill>
                          <a:latin typeface="Calibri" pitchFamily="34" charset="0"/>
                          <a:ea typeface="Calibri" pitchFamily="34" charset="-122"/>
                          <a:cs typeface="Calibri" pitchFamily="34" charset="-120"/>
                        </a:rPr>
                        <a:t>QWK OOF</a:t>
                      </a:r>
                      <a:endParaRPr lang="en-US" sz="900" dirty="0">
                        <a:latin typeface="Calibri" charset="0"/>
                        <a:ea typeface="Calibri" charset="0"/>
                        <a:cs typeface="Calibri" charset="0"/>
                      </a:endParaRPr>
                    </a:p>
                  </a:txBody>
                  <a:tcPr marL="101600" marR="101600" marT="63500" marB="63500" anchor="ctr">
                    <a:lnL w="0" cap="flat" cmpd="sng" algn="ctr">
                      <a:noFill/>
                    </a:lnL>
                    <a:lnR w="0" cap="flat" cmpd="sng" algn="ctr">
                      <a:noFill/>
                    </a:lnR>
                    <a:lnT w="17780" cap="flat" cmpd="sng" algn="ctr">
                      <a:solidFill>
                        <a:srgbClr val="16191D"/>
                      </a:solidFill>
                      <a:prstDash val="solid"/>
                      <a:round/>
                      <a:headEnd type="none" w="med" len="med"/>
                      <a:tailEnd type="none" w="med" len="med"/>
                    </a:lnT>
                    <a:lnB w="10160" cap="flat" cmpd="sng" algn="ctr">
                      <a:solidFill>
                        <a:srgbClr val="16191D"/>
                      </a:solidFill>
                      <a:prstDash val="solid"/>
                      <a:round/>
                      <a:headEnd type="none" w="med" len="med"/>
                      <a:tailEnd type="none" w="med" len="med"/>
                    </a:lnB>
                  </a:tcPr>
                </a:tc>
              </a:tr>
              <a:tr h="219456">
                <a:tc>
                  <a:txBody>
                    <a:bodyPr/>
                    <a:lstStyle/>
                    <a:p>
                      <a:pPr algn="l" indent="0" marL="0">
                        <a:buNone/>
                      </a:pPr>
                      <a:r>
                        <a:rPr lang="en-US" sz="900" dirty="0">
                          <a:solidFill>
                            <a:srgbClr val="3A4048"/>
                          </a:solidFill>
                          <a:latin typeface="Calibri" pitchFamily="34" charset="0"/>
                          <a:ea typeface="Calibri" pitchFamily="34" charset="-122"/>
                          <a:cs typeface="Calibri" pitchFamily="34" charset="-120"/>
                        </a:rPr>
                        <a:t>7</a:t>
                      </a:r>
                      <a:endParaRPr lang="en-US" sz="90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900" dirty="0">
                          <a:solidFill>
                            <a:srgbClr val="3A4048"/>
                          </a:solidFill>
                          <a:latin typeface="Calibri" pitchFamily="34" charset="0"/>
                          <a:ea typeface="Calibri" pitchFamily="34" charset="-122"/>
                          <a:cs typeface="Calibri" pitchFamily="34" charset="-120"/>
                        </a:rPr>
                        <a:t>0,48384</a:t>
                      </a:r>
                      <a:endParaRPr lang="en-US" sz="9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219456">
                <a:tc>
                  <a:txBody>
                    <a:bodyPr/>
                    <a:lstStyle/>
                    <a:p>
                      <a:pPr algn="l" indent="0" marL="0">
                        <a:buNone/>
                      </a:pPr>
                      <a:r>
                        <a:rPr lang="en-US" sz="900" dirty="0">
                          <a:solidFill>
                            <a:srgbClr val="3A4048"/>
                          </a:solidFill>
                          <a:latin typeface="Calibri" pitchFamily="34" charset="0"/>
                          <a:ea typeface="Calibri" pitchFamily="34" charset="-122"/>
                          <a:cs typeface="Calibri" pitchFamily="34" charset="-120"/>
                        </a:rPr>
                        <a:t>202</a:t>
                      </a:r>
                      <a:endParaRPr lang="en-US" sz="90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900" dirty="0">
                          <a:solidFill>
                            <a:srgbClr val="3A4048"/>
                          </a:solidFill>
                          <a:latin typeface="Calibri" pitchFamily="34" charset="0"/>
                          <a:ea typeface="Calibri" pitchFamily="34" charset="-122"/>
                          <a:cs typeface="Calibri" pitchFamily="34" charset="-120"/>
                        </a:rPr>
                        <a:t>0,48413</a:t>
                      </a:r>
                      <a:endParaRPr lang="en-US" sz="9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219456">
                <a:tc>
                  <a:txBody>
                    <a:bodyPr/>
                    <a:lstStyle/>
                    <a:p>
                      <a:pPr algn="l" indent="0" marL="0">
                        <a:buNone/>
                      </a:pPr>
                      <a:r>
                        <a:rPr lang="en-US" sz="900" dirty="0">
                          <a:solidFill>
                            <a:srgbClr val="3A4048"/>
                          </a:solidFill>
                          <a:latin typeface="Calibri" pitchFamily="34" charset="0"/>
                          <a:ea typeface="Calibri" pitchFamily="34" charset="-122"/>
                          <a:cs typeface="Calibri" pitchFamily="34" charset="-120"/>
                        </a:rPr>
                        <a:t>999</a:t>
                      </a:r>
                      <a:endParaRPr lang="en-US" sz="90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17780" cap="flat" cmpd="sng" algn="ctr">
                      <a:solidFill>
                        <a:srgbClr val="16191D"/>
                      </a:solidFill>
                      <a:prstDash val="solid"/>
                      <a:round/>
                      <a:headEnd type="none" w="med" len="med"/>
                      <a:tailEnd type="none" w="med" len="med"/>
                    </a:lnB>
                  </a:tcPr>
                </a:tc>
                <a:tc>
                  <a:txBody>
                    <a:bodyPr/>
                    <a:lstStyle/>
                    <a:p>
                      <a:pPr algn="r" indent="0" marL="0">
                        <a:buNone/>
                      </a:pPr>
                      <a:r>
                        <a:rPr lang="en-US" sz="900" dirty="0">
                          <a:solidFill>
                            <a:srgbClr val="3A4048"/>
                          </a:solidFill>
                          <a:latin typeface="Calibri" pitchFamily="34" charset="0"/>
                          <a:ea typeface="Calibri" pitchFamily="34" charset="-122"/>
                          <a:cs typeface="Calibri" pitchFamily="34" charset="-120"/>
                        </a:rPr>
                        <a:t>0,48390</a:t>
                      </a:r>
                      <a:endParaRPr lang="en-US" sz="9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17780" cap="flat" cmpd="sng" algn="ctr">
                      <a:solidFill>
                        <a:srgbClr val="16191D"/>
                      </a:solidFill>
                      <a:prstDash val="solid"/>
                      <a:round/>
                      <a:headEnd type="none" w="med" len="med"/>
                      <a:tailEnd type="none" w="med" len="med"/>
                    </a:lnB>
                  </a:tcPr>
                </a:tc>
              </a:tr>
            </a:tbl>
          </a:graphicData>
        </a:graphic>
      </p:graphicFrame>
      <p:sp>
        <p:nvSpPr>
          <p:cNvPr id="29" name="Text 26"/>
          <p:cNvSpPr/>
          <p:nvPr/>
        </p:nvSpPr>
        <p:spPr>
          <a:xfrm>
            <a:off x="2606040" y="4910328"/>
            <a:ext cx="1335938" cy="310896"/>
          </a:xfrm>
          <a:prstGeom prst="rect">
            <a:avLst/>
          </a:prstGeom>
          <a:noFill/>
          <a:ln/>
        </p:spPr>
        <p:txBody>
          <a:bodyPr wrap="square" lIns="0" tIns="0" rIns="0" bIns="0" rtlCol="0" anchor="b"/>
          <a:lstStyle/>
          <a:p>
            <a:pPr algn="l" indent="0" marL="0">
              <a:buNone/>
            </a:pPr>
            <a:r>
              <a:rPr lang="en-US" sz="1500" b="1" dirty="0">
                <a:solidFill>
                  <a:srgbClr val="2F6B5F"/>
                </a:solidFill>
                <a:latin typeface="Cambria" pitchFamily="34" charset="0"/>
                <a:ea typeface="Cambria" pitchFamily="34" charset="-122"/>
                <a:cs typeface="Cambria" pitchFamily="34" charset="-120"/>
              </a:rPr>
              <a:t>0,00029</a:t>
            </a:r>
            <a:endParaRPr lang="en-US" sz="1500" dirty="0"/>
          </a:p>
        </p:txBody>
      </p:sp>
      <p:sp>
        <p:nvSpPr>
          <p:cNvPr id="30" name="Text 27"/>
          <p:cNvSpPr/>
          <p:nvPr/>
        </p:nvSpPr>
        <p:spPr>
          <a:xfrm>
            <a:off x="2606040" y="5257800"/>
            <a:ext cx="1335938" cy="457200"/>
          </a:xfrm>
          <a:prstGeom prst="rect">
            <a:avLst/>
          </a:prstGeom>
          <a:noFill/>
          <a:ln/>
        </p:spPr>
        <p:txBody>
          <a:bodyPr wrap="square" lIns="0" tIns="0" rIns="0" bIns="0" rtlCol="0" anchor="t"/>
          <a:lstStyle/>
          <a:p>
            <a:pPr algn="l" indent="0" marL="0">
              <a:lnSpc>
                <a:spcPts val="1300"/>
              </a:lnSpc>
              <a:buNone/>
            </a:pPr>
            <a:r>
              <a:rPr lang="en-US" sz="850" dirty="0">
                <a:solidFill>
                  <a:srgbClr val="6E747C"/>
                </a:solidFill>
                <a:latin typeface="Calibri" pitchFamily="34" charset="0"/>
                <a:ea typeface="Calibri" pitchFamily="34" charset="-122"/>
                <a:cs typeface="Calibri" pitchFamily="34" charset="-120"/>
              </a:rPr>
              <a:t>rentang antar seed, sd 0,00015</a:t>
            </a:r>
            <a:endParaRPr lang="en-US" sz="850" dirty="0"/>
          </a:p>
        </p:txBody>
      </p:sp>
      <p:sp>
        <p:nvSpPr>
          <p:cNvPr id="31" name="Shape 28"/>
          <p:cNvSpPr/>
          <p:nvPr/>
        </p:nvSpPr>
        <p:spPr>
          <a:xfrm>
            <a:off x="4353458" y="1371600"/>
            <a:ext cx="3484778" cy="4846320"/>
          </a:xfrm>
          <a:prstGeom prst="roundRect">
            <a:avLst>
              <a:gd name="adj" fmla="val 1574"/>
            </a:avLst>
          </a:prstGeom>
          <a:solidFill>
            <a:srgbClr val="F4F1EC"/>
          </a:solidFill>
          <a:ln w="9525">
            <a:solidFill>
              <a:srgbClr val="DCD8D1"/>
            </a:solidFill>
            <a:prstDash val="solid"/>
          </a:ln>
        </p:spPr>
      </p:sp>
      <p:sp>
        <p:nvSpPr>
          <p:cNvPr id="32" name="Text 29"/>
          <p:cNvSpPr/>
          <p:nvPr/>
        </p:nvSpPr>
        <p:spPr>
          <a:xfrm>
            <a:off x="4554626" y="1499616"/>
            <a:ext cx="3082442" cy="201168"/>
          </a:xfrm>
          <a:prstGeom prst="rect">
            <a:avLst/>
          </a:prstGeom>
          <a:noFill/>
          <a:ln/>
        </p:spPr>
        <p:txBody>
          <a:bodyPr wrap="square" lIns="0" tIns="0" rIns="0" bIns="0" rtlCol="0" anchor="ctr"/>
          <a:lstStyle/>
          <a:p>
            <a:pPr indent="0" marL="0">
              <a:buNone/>
            </a:pPr>
            <a:r>
              <a:rPr lang="en-US" sz="850" b="1" spc="120" kern="0" dirty="0">
                <a:solidFill>
                  <a:srgbClr val="6E747C"/>
                </a:solidFill>
                <a:latin typeface="Calibri" pitchFamily="34" charset="0"/>
                <a:ea typeface="Calibri" pitchFamily="34" charset="-122"/>
                <a:cs typeface="Calibri" pitchFamily="34" charset="-120"/>
              </a:rPr>
              <a:t>14 · KEPATUHAN ATURAN</a:t>
            </a:r>
            <a:endParaRPr lang="en-US" sz="850" dirty="0"/>
          </a:p>
        </p:txBody>
      </p:sp>
      <p:sp>
        <p:nvSpPr>
          <p:cNvPr id="33" name="Text 30"/>
          <p:cNvSpPr/>
          <p:nvPr/>
        </p:nvSpPr>
        <p:spPr>
          <a:xfrm>
            <a:off x="4554626" y="1700784"/>
            <a:ext cx="3082442" cy="475488"/>
          </a:xfrm>
          <a:prstGeom prst="rect">
            <a:avLst/>
          </a:prstGeom>
          <a:noFill/>
          <a:ln/>
        </p:spPr>
        <p:txBody>
          <a:bodyPr wrap="square" lIns="0" tIns="0" rIns="0" bIns="0" rtlCol="0" anchor="t"/>
          <a:lstStyle/>
          <a:p>
            <a:pPr indent="0" marL="0">
              <a:lnSpc>
                <a:spcPts val="1600"/>
              </a:lnSpc>
              <a:buNone/>
            </a:pPr>
            <a:r>
              <a:rPr lang="en-US" sz="1300" b="1" dirty="0">
                <a:solidFill>
                  <a:srgbClr val="16191D"/>
                </a:solidFill>
                <a:latin typeface="Cambria" pitchFamily="34" charset="0"/>
                <a:ea typeface="Cambria" pitchFamily="34" charset="-122"/>
                <a:cs typeface="Cambria" pitchFamily="34" charset="-120"/>
              </a:rPr>
              <a:t>Setiap pasal dan letak pemenuhannya</a:t>
            </a:r>
            <a:endParaRPr lang="en-US" sz="1300" dirty="0"/>
          </a:p>
        </p:txBody>
      </p:sp>
      <p:graphicFrame>
        <p:nvGraphicFramePr>
          <p:cNvPr id="39" name="Table 1"/>
          <p:cNvGraphicFramePr>
            <a:graphicFrameLocks noGrp="1"/>
          </p:cNvGraphicFramePr>
          <p:nvPr>
            <p:extLst>
              <p:ext uri="{D42A27DB-BD31-4B8C-83A1-F6EECF244321}">
                <p14:modId xmlns:p14="http://schemas.microsoft.com/office/powerpoint/2010/main" val="1579011935"/>
              </p:ext>
            </p:extLst>
          </p:nvPr>
        </p:nvGraphicFramePr>
        <p:xfrm>
          <a:off x="4554626" y="2212848"/>
          <a:ext cx="3082442" cy="914400"/>
        </p:xfrm>
        <a:graphic>
          <a:graphicData uri="http://schemas.openxmlformats.org/drawingml/2006/table">
            <a:tbl>
              <a:tblPr/>
              <a:tblGrid>
                <a:gridCol w="594360"/>
                <a:gridCol w="2488082"/>
              </a:tblGrid>
              <a:tr h="329184">
                <a:tc>
                  <a:txBody>
                    <a:bodyPr/>
                    <a:lstStyle/>
                    <a:p>
                      <a:pPr algn="l" indent="0" marL="0">
                        <a:buNone/>
                      </a:pPr>
                      <a:r>
                        <a:rPr lang="en-US" sz="900" b="1" dirty="0">
                          <a:solidFill>
                            <a:srgbClr val="16191D"/>
                          </a:solidFill>
                          <a:latin typeface="Calibri" pitchFamily="34" charset="0"/>
                          <a:ea typeface="Calibri" pitchFamily="34" charset="-122"/>
                          <a:cs typeface="Calibri" pitchFamily="34" charset="-120"/>
                        </a:rPr>
                        <a:t>Pasal</a:t>
                      </a:r>
                      <a:endParaRPr lang="en-US" sz="900" dirty="0">
                        <a:latin typeface="Calibri" charset="0"/>
                        <a:ea typeface="Calibri" charset="0"/>
                        <a:cs typeface="Calibri" charset="0"/>
                      </a:endParaRPr>
                    </a:p>
                  </a:txBody>
                  <a:tcPr marL="25400" marR="101600" marT="63500" marB="63500" anchor="ctr">
                    <a:lnL w="0" cap="flat" cmpd="sng" algn="ctr">
                      <a:noFill/>
                    </a:lnL>
                    <a:lnR w="0" cap="flat" cmpd="sng" algn="ctr">
                      <a:noFill/>
                    </a:lnR>
                    <a:lnT w="17780" cap="flat" cmpd="sng" algn="ctr">
                      <a:solidFill>
                        <a:srgbClr val="16191D"/>
                      </a:solidFill>
                      <a:prstDash val="solid"/>
                      <a:round/>
                      <a:headEnd type="none" w="med" len="med"/>
                      <a:tailEnd type="none" w="med" len="med"/>
                    </a:lnT>
                    <a:lnB w="10160" cap="flat" cmpd="sng" algn="ctr">
                      <a:solidFill>
                        <a:srgbClr val="16191D"/>
                      </a:solidFill>
                      <a:prstDash val="solid"/>
                      <a:round/>
                      <a:headEnd type="none" w="med" len="med"/>
                      <a:tailEnd type="none" w="med" len="med"/>
                    </a:lnB>
                  </a:tcPr>
                </a:tc>
                <a:tc>
                  <a:txBody>
                    <a:bodyPr/>
                    <a:lstStyle/>
                    <a:p>
                      <a:pPr algn="l" indent="0" marL="0">
                        <a:buNone/>
                      </a:pPr>
                      <a:r>
                        <a:rPr lang="en-US" sz="900" b="1" dirty="0">
                          <a:solidFill>
                            <a:srgbClr val="16191D"/>
                          </a:solidFill>
                          <a:latin typeface="Calibri" pitchFamily="34" charset="0"/>
                          <a:ea typeface="Calibri" pitchFamily="34" charset="-122"/>
                          <a:cs typeface="Calibri" pitchFamily="34" charset="-120"/>
                        </a:rPr>
                        <a:t>Pemenuhan</a:t>
                      </a:r>
                      <a:endParaRPr lang="en-US" sz="900" dirty="0">
                        <a:latin typeface="Calibri" charset="0"/>
                        <a:ea typeface="Calibri" charset="0"/>
                        <a:cs typeface="Calibri" charset="0"/>
                      </a:endParaRPr>
                    </a:p>
                  </a:txBody>
                  <a:tcPr marL="101600" marR="101600" marT="63500" marB="63500" anchor="ctr">
                    <a:lnL w="0" cap="flat" cmpd="sng" algn="ctr">
                      <a:noFill/>
                    </a:lnL>
                    <a:lnR w="0" cap="flat" cmpd="sng" algn="ctr">
                      <a:noFill/>
                    </a:lnR>
                    <a:lnT w="17780" cap="flat" cmpd="sng" algn="ctr">
                      <a:solidFill>
                        <a:srgbClr val="16191D"/>
                      </a:solidFill>
                      <a:prstDash val="solid"/>
                      <a:round/>
                      <a:headEnd type="none" w="med" len="med"/>
                      <a:tailEnd type="none" w="med" len="med"/>
                    </a:lnT>
                    <a:lnB w="10160" cap="flat" cmpd="sng" algn="ctr">
                      <a:solidFill>
                        <a:srgbClr val="16191D"/>
                      </a:solidFill>
                      <a:prstDash val="solid"/>
                      <a:round/>
                      <a:headEnd type="none" w="med" len="med"/>
                      <a:tailEnd type="none" w="med" len="med"/>
                    </a:lnB>
                  </a:tcPr>
                </a:tc>
              </a:tr>
              <a:tr h="329184">
                <a:tc>
                  <a:txBody>
                    <a:bodyPr/>
                    <a:lstStyle/>
                    <a:p>
                      <a:pPr algn="l" indent="0" marL="0">
                        <a:buNone/>
                      </a:pPr>
                      <a:r>
                        <a:rPr lang="en-US" sz="900" dirty="0">
                          <a:solidFill>
                            <a:srgbClr val="3A4048"/>
                          </a:solidFill>
                          <a:latin typeface="Calibri" pitchFamily="34" charset="0"/>
                          <a:ea typeface="Calibri" pitchFamily="34" charset="-122"/>
                          <a:cs typeface="Calibri" pitchFamily="34" charset="-120"/>
                        </a:rPr>
                        <a:t>B.1.a</a:t>
                      </a:r>
                      <a:endParaRPr lang="en-US" sz="90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900" dirty="0">
                          <a:solidFill>
                            <a:srgbClr val="3A4048"/>
                          </a:solidFill>
                          <a:latin typeface="Calibri" pitchFamily="34" charset="0"/>
                          <a:ea typeface="Calibri" pitchFamily="34" charset="-122"/>
                          <a:cs typeface="Calibri" pitchFamily="34" charset="-120"/>
                        </a:rPr>
                        <a:t>Hanya train dan test resmi</a:t>
                      </a:r>
                      <a:endParaRPr lang="en-US" sz="9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329184">
                <a:tc>
                  <a:txBody>
                    <a:bodyPr/>
                    <a:lstStyle/>
                    <a:p>
                      <a:pPr algn="l" indent="0" marL="0">
                        <a:buNone/>
                      </a:pPr>
                      <a:r>
                        <a:rPr lang="en-US" sz="900" dirty="0">
                          <a:solidFill>
                            <a:srgbClr val="3A4048"/>
                          </a:solidFill>
                          <a:latin typeface="Calibri" pitchFamily="34" charset="0"/>
                          <a:ea typeface="Calibri" pitchFamily="34" charset="-122"/>
                          <a:cs typeface="Calibri" pitchFamily="34" charset="-120"/>
                        </a:rPr>
                        <a:t>B.1.b</a:t>
                      </a:r>
                      <a:endParaRPr lang="en-US" sz="90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900" dirty="0">
                          <a:solidFill>
                            <a:srgbClr val="3A4048"/>
                          </a:solidFill>
                          <a:latin typeface="Calibri" pitchFamily="34" charset="0"/>
                          <a:ea typeface="Calibri" pitchFamily="34" charset="-122"/>
                          <a:cs typeface="Calibri" pitchFamily="34" charset="-120"/>
                        </a:rPr>
                        <a:t>LightGBM, XGBoost, CatBoost, sklearn</a:t>
                      </a:r>
                      <a:endParaRPr lang="en-US" sz="9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329184">
                <a:tc>
                  <a:txBody>
                    <a:bodyPr/>
                    <a:lstStyle/>
                    <a:p>
                      <a:pPr algn="l" indent="0" marL="0">
                        <a:buNone/>
                      </a:pPr>
                      <a:r>
                        <a:rPr lang="en-US" sz="900" dirty="0">
                          <a:solidFill>
                            <a:srgbClr val="3A4048"/>
                          </a:solidFill>
                          <a:latin typeface="Calibri" pitchFamily="34" charset="0"/>
                          <a:ea typeface="Calibri" pitchFamily="34" charset="-122"/>
                          <a:cs typeface="Calibri" pitchFamily="34" charset="-120"/>
                        </a:rPr>
                        <a:t>B.1.c</a:t>
                      </a:r>
                      <a:endParaRPr lang="en-US" sz="90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900" dirty="0">
                          <a:solidFill>
                            <a:srgbClr val="3A4048"/>
                          </a:solidFill>
                          <a:latin typeface="Calibri" pitchFamily="34" charset="0"/>
                          <a:ea typeface="Calibri" pitchFamily="34" charset="-122"/>
                          <a:cs typeface="Calibri" pitchFamily="34" charset="-120"/>
                        </a:rPr>
                        <a:t>Ambang dan model dari OOF latih</a:t>
                      </a:r>
                      <a:endParaRPr lang="en-US" sz="9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329184">
                <a:tc>
                  <a:txBody>
                    <a:bodyPr/>
                    <a:lstStyle/>
                    <a:p>
                      <a:pPr algn="l" indent="0" marL="0">
                        <a:buNone/>
                      </a:pPr>
                      <a:r>
                        <a:rPr lang="en-US" sz="900" dirty="0">
                          <a:solidFill>
                            <a:srgbClr val="3A4048"/>
                          </a:solidFill>
                          <a:latin typeface="Calibri" pitchFamily="34" charset="0"/>
                          <a:ea typeface="Calibri" pitchFamily="34" charset="-122"/>
                          <a:cs typeface="Calibri" pitchFamily="34" charset="-120"/>
                        </a:rPr>
                        <a:t>B.1.d</a:t>
                      </a:r>
                      <a:endParaRPr lang="en-US" sz="90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900" dirty="0">
                          <a:solidFill>
                            <a:srgbClr val="3A4048"/>
                          </a:solidFill>
                          <a:latin typeface="Calibri" pitchFamily="34" charset="0"/>
                          <a:ea typeface="Calibri" pitchFamily="34" charset="-122"/>
                          <a:cs typeface="Calibri" pitchFamily="34" charset="-120"/>
                        </a:rPr>
                        <a:t>Dikerjakan internal tim</a:t>
                      </a:r>
                      <a:endParaRPr lang="en-US" sz="9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329184">
                <a:tc>
                  <a:txBody>
                    <a:bodyPr/>
                    <a:lstStyle/>
                    <a:p>
                      <a:pPr algn="l" indent="0" marL="0">
                        <a:buNone/>
                      </a:pPr>
                      <a:r>
                        <a:rPr lang="en-US" sz="900" dirty="0">
                          <a:solidFill>
                            <a:srgbClr val="3A4048"/>
                          </a:solidFill>
                          <a:latin typeface="Calibri" pitchFamily="34" charset="0"/>
                          <a:ea typeface="Calibri" pitchFamily="34" charset="-122"/>
                          <a:cs typeface="Calibri" pitchFamily="34" charset="-120"/>
                        </a:rPr>
                        <a:t>B.1.e</a:t>
                      </a:r>
                      <a:endParaRPr lang="en-US" sz="90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900" dirty="0">
                          <a:solidFill>
                            <a:srgbClr val="3A4048"/>
                          </a:solidFill>
                          <a:latin typeface="Calibri" pitchFamily="34" charset="0"/>
                          <a:ea typeface="Calibri" pitchFamily="34" charset="-122"/>
                          <a:cs typeface="Calibri" pitchFamily="34" charset="-120"/>
                        </a:rPr>
                        <a:t>Tiap keputusan + bukti empiris</a:t>
                      </a:r>
                      <a:endParaRPr lang="en-US" sz="9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329184">
                <a:tc>
                  <a:txBody>
                    <a:bodyPr/>
                    <a:lstStyle/>
                    <a:p>
                      <a:pPr algn="l" indent="0" marL="0">
                        <a:buNone/>
                      </a:pPr>
                      <a:r>
                        <a:rPr lang="en-US" sz="900" dirty="0">
                          <a:solidFill>
                            <a:srgbClr val="3A4048"/>
                          </a:solidFill>
                          <a:latin typeface="Calibri" pitchFamily="34" charset="0"/>
                          <a:ea typeface="Calibri" pitchFamily="34" charset="-122"/>
                          <a:cs typeface="Calibri" pitchFamily="34" charset="-120"/>
                        </a:rPr>
                        <a:t>C</a:t>
                      </a:r>
                      <a:endParaRPr lang="en-US" sz="90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900" dirty="0">
                          <a:solidFill>
                            <a:srgbClr val="3A4048"/>
                          </a:solidFill>
                          <a:latin typeface="Calibri" pitchFamily="34" charset="0"/>
                          <a:ea typeface="Calibri" pitchFamily="34" charset="-122"/>
                          <a:cs typeface="Calibri" pitchFamily="34" charset="-120"/>
                        </a:rPr>
                        <a:t>Alur end-to-end, bagian 1–12</a:t>
                      </a:r>
                      <a:endParaRPr lang="en-US" sz="9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329184">
                <a:tc>
                  <a:txBody>
                    <a:bodyPr/>
                    <a:lstStyle/>
                    <a:p>
                      <a:pPr algn="l" indent="0" marL="0">
                        <a:buNone/>
                      </a:pPr>
                      <a:r>
                        <a:rPr lang="en-US" sz="900" dirty="0">
                          <a:solidFill>
                            <a:srgbClr val="3A4048"/>
                          </a:solidFill>
                          <a:latin typeface="Calibri" pitchFamily="34" charset="0"/>
                          <a:ea typeface="Calibri" pitchFamily="34" charset="-122"/>
                          <a:cs typeface="Calibri" pitchFamily="34" charset="-120"/>
                        </a:rPr>
                        <a:t>C</a:t>
                      </a:r>
                      <a:endParaRPr lang="en-US" sz="90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900" dirty="0">
                          <a:solidFill>
                            <a:srgbClr val="3A4048"/>
                          </a:solidFill>
                          <a:latin typeface="Calibri" pitchFamily="34" charset="0"/>
                          <a:ea typeface="Calibri" pitchFamily="34" charset="-122"/>
                          <a:cs typeface="Calibri" pitchFamily="34" charset="-120"/>
                        </a:rPr>
                        <a:t>SEED 42, FOLD_SEEDS, HASHSEED</a:t>
                      </a:r>
                      <a:endParaRPr lang="en-US" sz="9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329184">
                <a:tc>
                  <a:txBody>
                    <a:bodyPr/>
                    <a:lstStyle/>
                    <a:p>
                      <a:pPr algn="l" indent="0" marL="0">
                        <a:buNone/>
                      </a:pPr>
                      <a:r>
                        <a:rPr lang="en-US" sz="900" dirty="0">
                          <a:solidFill>
                            <a:srgbClr val="3A4048"/>
                          </a:solidFill>
                          <a:latin typeface="Calibri" pitchFamily="34" charset="0"/>
                          <a:ea typeface="Calibri" pitchFamily="34" charset="-122"/>
                          <a:cs typeface="Calibri" pitchFamily="34" charset="-120"/>
                        </a:rPr>
                        <a:t>C</a:t>
                      </a:r>
                      <a:endParaRPr lang="en-US" sz="90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900" dirty="0">
                          <a:solidFill>
                            <a:srgbClr val="3A4048"/>
                          </a:solidFill>
                          <a:latin typeface="Calibri" pitchFamily="34" charset="0"/>
                          <a:ea typeface="Calibri" pitchFamily="34" charset="-122"/>
                          <a:cs typeface="Calibri" pitchFamily="34" charset="-120"/>
                        </a:rPr>
                        <a:t>Model tersimpan + uji muat ulang</a:t>
                      </a:r>
                      <a:endParaRPr lang="en-US" sz="9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329184">
                <a:tc>
                  <a:txBody>
                    <a:bodyPr/>
                    <a:lstStyle/>
                    <a:p>
                      <a:pPr algn="l" indent="0" marL="0">
                        <a:buNone/>
                      </a:pPr>
                      <a:r>
                        <a:rPr lang="en-US" sz="900" dirty="0">
                          <a:solidFill>
                            <a:srgbClr val="3A4048"/>
                          </a:solidFill>
                          <a:latin typeface="Calibri" pitchFamily="34" charset="0"/>
                          <a:ea typeface="Calibri" pitchFamily="34" charset="-122"/>
                          <a:cs typeface="Calibri" pitchFamily="34" charset="-120"/>
                        </a:rPr>
                        <a:t>C</a:t>
                      </a:r>
                      <a:endParaRPr lang="en-US" sz="90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900" dirty="0">
                          <a:solidFill>
                            <a:srgbClr val="3A4048"/>
                          </a:solidFill>
                          <a:latin typeface="Calibri" pitchFamily="34" charset="0"/>
                          <a:ea typeface="Calibri" pitchFamily="34" charset="-122"/>
                          <a:cs typeface="Calibri" pitchFamily="34" charset="-120"/>
                        </a:rPr>
                        <a:t>Seluruh output sel terlihat</a:t>
                      </a:r>
                      <a:endParaRPr lang="en-US" sz="9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329184">
                <a:tc>
                  <a:txBody>
                    <a:bodyPr/>
                    <a:lstStyle/>
                    <a:p>
                      <a:pPr algn="l" indent="0" marL="0">
                        <a:buNone/>
                      </a:pPr>
                      <a:r>
                        <a:rPr lang="en-US" sz="900" dirty="0">
                          <a:solidFill>
                            <a:srgbClr val="3A4048"/>
                          </a:solidFill>
                          <a:latin typeface="Calibri" pitchFamily="34" charset="0"/>
                          <a:ea typeface="Calibri" pitchFamily="34" charset="-122"/>
                          <a:cs typeface="Calibri" pitchFamily="34" charset="-120"/>
                        </a:rPr>
                        <a:t>D</a:t>
                      </a:r>
                      <a:endParaRPr lang="en-US" sz="90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17780" cap="flat" cmpd="sng" algn="ctr">
                      <a:solidFill>
                        <a:srgbClr val="16191D"/>
                      </a:solidFill>
                      <a:prstDash val="solid"/>
                      <a:round/>
                      <a:headEnd type="none" w="med" len="med"/>
                      <a:tailEnd type="none" w="med" len="med"/>
                    </a:lnB>
                  </a:tcPr>
                </a:tc>
                <a:tc>
                  <a:txBody>
                    <a:bodyPr/>
                    <a:lstStyle/>
                    <a:p>
                      <a:pPr algn="l" indent="0" marL="0">
                        <a:buNone/>
                      </a:pPr>
                      <a:r>
                        <a:rPr lang="en-US" sz="900" dirty="0">
                          <a:solidFill>
                            <a:srgbClr val="3A4048"/>
                          </a:solidFill>
                          <a:latin typeface="Calibri" pitchFamily="34" charset="0"/>
                          <a:ea typeface="Calibri" pitchFamily="34" charset="-122"/>
                          <a:cs typeface="Calibri" pitchFamily="34" charset="-120"/>
                        </a:rPr>
                        <a:t>Submission dari notebook yang sama</a:t>
                      </a:r>
                      <a:endParaRPr lang="en-US" sz="9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17780" cap="flat" cmpd="sng" algn="ctr">
                      <a:solidFill>
                        <a:srgbClr val="16191D"/>
                      </a:solidFill>
                      <a:prstDash val="solid"/>
                      <a:round/>
                      <a:headEnd type="none" w="med" len="med"/>
                      <a:tailEnd type="none" w="med" len="med"/>
                    </a:lnB>
                  </a:tcPr>
                </a:tc>
              </a:tr>
            </a:tbl>
          </a:graphicData>
        </a:graphic>
      </p:graphicFrame>
      <p:sp>
        <p:nvSpPr>
          <p:cNvPr id="35" name="Shape 31"/>
          <p:cNvSpPr/>
          <p:nvPr/>
        </p:nvSpPr>
        <p:spPr>
          <a:xfrm>
            <a:off x="8066837" y="1371600"/>
            <a:ext cx="3484778" cy="4846320"/>
          </a:xfrm>
          <a:prstGeom prst="roundRect">
            <a:avLst>
              <a:gd name="adj" fmla="val 1574"/>
            </a:avLst>
          </a:prstGeom>
          <a:solidFill>
            <a:srgbClr val="ECE7DF"/>
          </a:solidFill>
          <a:ln w="9525">
            <a:solidFill>
              <a:srgbClr val="DCD8D1"/>
            </a:solidFill>
            <a:prstDash val="solid"/>
          </a:ln>
        </p:spPr>
      </p:sp>
      <p:sp>
        <p:nvSpPr>
          <p:cNvPr id="36" name="Text 32"/>
          <p:cNvSpPr/>
          <p:nvPr/>
        </p:nvSpPr>
        <p:spPr>
          <a:xfrm>
            <a:off x="8268005" y="1499616"/>
            <a:ext cx="3082442" cy="201168"/>
          </a:xfrm>
          <a:prstGeom prst="rect">
            <a:avLst/>
          </a:prstGeom>
          <a:noFill/>
          <a:ln/>
        </p:spPr>
        <p:txBody>
          <a:bodyPr wrap="square" lIns="0" tIns="0" rIns="0" bIns="0" rtlCol="0" anchor="ctr"/>
          <a:lstStyle/>
          <a:p>
            <a:pPr indent="0" marL="0">
              <a:buNone/>
            </a:pPr>
            <a:r>
              <a:rPr lang="en-US" sz="850" b="1" spc="120" kern="0" dirty="0">
                <a:solidFill>
                  <a:srgbClr val="6E747C"/>
                </a:solidFill>
                <a:latin typeface="Calibri" pitchFamily="34" charset="0"/>
                <a:ea typeface="Calibri" pitchFamily="34" charset="-122"/>
                <a:cs typeface="Calibri" pitchFamily="34" charset="-120"/>
              </a:rPr>
              <a:t>13.3 · KETERBATASAN</a:t>
            </a:r>
            <a:endParaRPr lang="en-US" sz="850" dirty="0"/>
          </a:p>
        </p:txBody>
      </p:sp>
      <p:sp>
        <p:nvSpPr>
          <p:cNvPr id="37" name="Text 33"/>
          <p:cNvSpPr/>
          <p:nvPr/>
        </p:nvSpPr>
        <p:spPr>
          <a:xfrm>
            <a:off x="8268005" y="1700784"/>
            <a:ext cx="3082442" cy="475488"/>
          </a:xfrm>
          <a:prstGeom prst="rect">
            <a:avLst/>
          </a:prstGeom>
          <a:noFill/>
          <a:ln/>
        </p:spPr>
        <p:txBody>
          <a:bodyPr wrap="square" lIns="0" tIns="0" rIns="0" bIns="0" rtlCol="0" anchor="t"/>
          <a:lstStyle/>
          <a:p>
            <a:pPr indent="0" marL="0">
              <a:lnSpc>
                <a:spcPts val="1600"/>
              </a:lnSpc>
              <a:buNone/>
            </a:pPr>
            <a:r>
              <a:rPr lang="en-US" sz="1300" b="1" dirty="0">
                <a:solidFill>
                  <a:srgbClr val="16191D"/>
                </a:solidFill>
                <a:latin typeface="Cambria" pitchFamily="34" charset="0"/>
                <a:ea typeface="Cambria" pitchFamily="34" charset="-122"/>
                <a:cs typeface="Cambria" pitchFamily="34" charset="-120"/>
              </a:rPr>
              <a:t>Kami sebut sebelum ditanya</a:t>
            </a:r>
            <a:endParaRPr lang="en-US" sz="1300" dirty="0"/>
          </a:p>
        </p:txBody>
      </p:sp>
      <p:sp>
        <p:nvSpPr>
          <p:cNvPr id="38" name="Text 34"/>
          <p:cNvSpPr/>
          <p:nvPr/>
        </p:nvSpPr>
        <p:spPr>
          <a:xfrm>
            <a:off x="8268005" y="2212848"/>
            <a:ext cx="3082442" cy="530352"/>
          </a:xfrm>
          <a:prstGeom prst="rect">
            <a:avLst/>
          </a:prstGeom>
          <a:noFill/>
          <a:ln/>
        </p:spPr>
        <p:txBody>
          <a:bodyPr wrap="square" lIns="0" tIns="0" rIns="0" bIns="0" rtlCol="0" anchor="t"/>
          <a:lstStyle/>
          <a:p>
            <a:pPr indent="0" marL="0">
              <a:lnSpc>
                <a:spcPts val="1250"/>
              </a:lnSpc>
              <a:buNone/>
            </a:pPr>
            <a:r>
              <a:rPr lang="en-US" sz="950" b="1" dirty="0">
                <a:solidFill>
                  <a:srgbClr val="16191D"/>
                </a:solidFill>
                <a:latin typeface="Calibri" pitchFamily="34" charset="0"/>
                <a:ea typeface="Calibri" pitchFamily="34" charset="-122"/>
                <a:cs typeface="Calibri" pitchFamily="34" charset="-120"/>
              </a:rPr>
              <a:t>Batas informasi. </a:t>
            </a:r>
            <a:pPr indent="0" marL="0">
              <a:lnSpc>
                <a:spcPts val="1250"/>
              </a:lnSpc>
              <a:buNone/>
            </a:pPr>
            <a:r>
              <a:rPr lang="en-US" sz="950" dirty="0">
                <a:solidFill>
                  <a:srgbClr val="3A4048"/>
                </a:solidFill>
                <a:latin typeface="Calibri" pitchFamily="34" charset="0"/>
                <a:ea typeface="Calibri" pitchFamily="34" charset="-122"/>
                <a:cs typeface="Calibri" pitchFamily="34" charset="-120"/>
              </a:rPr>
              <a:t>faktor psikososial tidak terekam</a:t>
            </a:r>
            <a:endParaRPr lang="en-US" sz="950" dirty="0"/>
          </a:p>
        </p:txBody>
      </p:sp>
      <p:sp>
        <p:nvSpPr>
          <p:cNvPr id="39" name="Text 35"/>
          <p:cNvSpPr/>
          <p:nvPr/>
        </p:nvSpPr>
        <p:spPr>
          <a:xfrm>
            <a:off x="8268005" y="2779776"/>
            <a:ext cx="3082442" cy="530352"/>
          </a:xfrm>
          <a:prstGeom prst="rect">
            <a:avLst/>
          </a:prstGeom>
          <a:noFill/>
          <a:ln/>
        </p:spPr>
        <p:txBody>
          <a:bodyPr wrap="square" lIns="0" tIns="0" rIns="0" bIns="0" rtlCol="0" anchor="t"/>
          <a:lstStyle/>
          <a:p>
            <a:pPr indent="0" marL="0">
              <a:lnSpc>
                <a:spcPts val="1250"/>
              </a:lnSpc>
              <a:buNone/>
            </a:pPr>
            <a:r>
              <a:rPr lang="en-US" sz="950" b="1" dirty="0">
                <a:solidFill>
                  <a:srgbClr val="16191D"/>
                </a:solidFill>
                <a:latin typeface="Calibri" pitchFamily="34" charset="0"/>
                <a:ea typeface="Calibri" pitchFamily="34" charset="-122"/>
                <a:cs typeface="Calibri" pitchFamily="34" charset="-120"/>
              </a:rPr>
              <a:t>Kelas 4 sangat kecil. </a:t>
            </a:r>
            <a:pPr indent="0" marL="0">
              <a:lnSpc>
                <a:spcPts val="1250"/>
              </a:lnSpc>
              <a:buNone/>
            </a:pPr>
            <a:r>
              <a:rPr lang="en-US" sz="950" dirty="0">
                <a:solidFill>
                  <a:srgbClr val="3A4048"/>
                </a:solidFill>
                <a:latin typeface="Calibri" pitchFamily="34" charset="0"/>
                <a:ea typeface="Calibri" pitchFamily="34" charset="-122"/>
                <a:cs typeface="Calibri" pitchFamily="34" charset="-120"/>
              </a:rPr>
              <a:t>893 sampel, t₃ paling sensitif</a:t>
            </a:r>
            <a:endParaRPr lang="en-US" sz="950" dirty="0"/>
          </a:p>
        </p:txBody>
      </p:sp>
      <p:sp>
        <p:nvSpPr>
          <p:cNvPr id="40" name="Text 36"/>
          <p:cNvSpPr/>
          <p:nvPr/>
        </p:nvSpPr>
        <p:spPr>
          <a:xfrm>
            <a:off x="8268005" y="3346704"/>
            <a:ext cx="3082442" cy="530352"/>
          </a:xfrm>
          <a:prstGeom prst="rect">
            <a:avLst/>
          </a:prstGeom>
          <a:noFill/>
          <a:ln/>
        </p:spPr>
        <p:txBody>
          <a:bodyPr wrap="square" lIns="0" tIns="0" rIns="0" bIns="0" rtlCol="0" anchor="t"/>
          <a:lstStyle/>
          <a:p>
            <a:pPr indent="0" marL="0">
              <a:lnSpc>
                <a:spcPts val="1250"/>
              </a:lnSpc>
              <a:buNone/>
            </a:pPr>
            <a:r>
              <a:rPr lang="en-US" sz="950" b="1" dirty="0">
                <a:solidFill>
                  <a:srgbClr val="16191D"/>
                </a:solidFill>
                <a:latin typeface="Calibri" pitchFamily="34" charset="0"/>
                <a:ea typeface="Calibri" pitchFamily="34" charset="-122"/>
                <a:cs typeface="Calibri" pitchFamily="34" charset="-120"/>
              </a:rPr>
              <a:t>Ambang peka distribusi. </a:t>
            </a:r>
            <a:pPr indent="0" marL="0">
              <a:lnSpc>
                <a:spcPts val="1250"/>
              </a:lnSpc>
              <a:buNone/>
            </a:pPr>
            <a:r>
              <a:rPr lang="en-US" sz="950" dirty="0">
                <a:solidFill>
                  <a:srgbClr val="3A4048"/>
                </a:solidFill>
                <a:latin typeface="Calibri" pitchFamily="34" charset="0"/>
                <a:ea typeface="Calibri" pitchFamily="34" charset="-122"/>
                <a:cs typeface="Calibri" pitchFamily="34" charset="-120"/>
              </a:rPr>
              <a:t>dioptimalkan pada distribusi latih; pola latih dan uji mirip</a:t>
            </a:r>
            <a:endParaRPr lang="en-US" sz="950" dirty="0"/>
          </a:p>
        </p:txBody>
      </p:sp>
      <p:sp>
        <p:nvSpPr>
          <p:cNvPr id="41" name="Text 37"/>
          <p:cNvSpPr/>
          <p:nvPr/>
        </p:nvSpPr>
        <p:spPr>
          <a:xfrm>
            <a:off x="8268005" y="3913632"/>
            <a:ext cx="3082442" cy="530352"/>
          </a:xfrm>
          <a:prstGeom prst="rect">
            <a:avLst/>
          </a:prstGeom>
          <a:noFill/>
          <a:ln/>
        </p:spPr>
        <p:txBody>
          <a:bodyPr wrap="square" lIns="0" tIns="0" rIns="0" bIns="0" rtlCol="0" anchor="t"/>
          <a:lstStyle/>
          <a:p>
            <a:pPr indent="0" marL="0">
              <a:lnSpc>
                <a:spcPts val="1250"/>
              </a:lnSpc>
              <a:buNone/>
            </a:pPr>
            <a:r>
              <a:rPr lang="en-US" sz="950" b="1" dirty="0">
                <a:solidFill>
                  <a:srgbClr val="16191D"/>
                </a:solidFill>
                <a:latin typeface="Calibri" pitchFamily="34" charset="0"/>
                <a:ea typeface="Calibri" pitchFamily="34" charset="-122"/>
                <a:cs typeface="Calibri" pitchFamily="34" charset="-120"/>
              </a:rPr>
              <a:t>Ambiguitas kelas 1 dan 2. </a:t>
            </a:r>
            <a:pPr indent="0" marL="0">
              <a:lnSpc>
                <a:spcPts val="1250"/>
              </a:lnSpc>
              <a:buNone/>
            </a:pPr>
            <a:r>
              <a:rPr lang="en-US" sz="950" dirty="0">
                <a:solidFill>
                  <a:srgbClr val="3A4048"/>
                </a:solidFill>
                <a:latin typeface="Calibri" pitchFamily="34" charset="0"/>
                <a:ea typeface="Calibri" pitchFamily="34" charset="-122"/>
                <a:cs typeface="Calibri" pitchFamily="34" charset="-120"/>
              </a:rPr>
              <a:t>sebagian subjektif per responden</a:t>
            </a:r>
            <a:endParaRPr lang="en-US" sz="950" dirty="0"/>
          </a:p>
        </p:txBody>
      </p:sp>
      <p:sp>
        <p:nvSpPr>
          <p:cNvPr id="42" name="Text 38"/>
          <p:cNvSpPr/>
          <p:nvPr/>
        </p:nvSpPr>
        <p:spPr>
          <a:xfrm>
            <a:off x="8268005" y="4480560"/>
            <a:ext cx="3082442" cy="530352"/>
          </a:xfrm>
          <a:prstGeom prst="rect">
            <a:avLst/>
          </a:prstGeom>
          <a:noFill/>
          <a:ln/>
        </p:spPr>
        <p:txBody>
          <a:bodyPr wrap="square" lIns="0" tIns="0" rIns="0" bIns="0" rtlCol="0" anchor="t"/>
          <a:lstStyle/>
          <a:p>
            <a:pPr indent="0" marL="0">
              <a:lnSpc>
                <a:spcPts val="1250"/>
              </a:lnSpc>
              <a:buNone/>
            </a:pPr>
            <a:r>
              <a:rPr lang="en-US" sz="950" b="1" dirty="0">
                <a:solidFill>
                  <a:srgbClr val="16191D"/>
                </a:solidFill>
                <a:latin typeface="Calibri" pitchFamily="34" charset="0"/>
                <a:ea typeface="Calibri" pitchFamily="34" charset="-122"/>
                <a:cs typeface="Calibri" pitchFamily="34" charset="-120"/>
              </a:rPr>
              <a:t>Determinisme. </a:t>
            </a:r>
            <a:pPr indent="0" marL="0">
              <a:lnSpc>
                <a:spcPts val="1250"/>
              </a:lnSpc>
              <a:buNone/>
            </a:pPr>
            <a:r>
              <a:rPr lang="en-US" sz="950" dirty="0">
                <a:solidFill>
                  <a:srgbClr val="3A4048"/>
                </a:solidFill>
                <a:latin typeface="Calibri" pitchFamily="34" charset="0"/>
                <a:ea typeface="Calibri" pitchFamily="34" charset="-122"/>
                <a:cs typeface="Calibri" pitchFamily="34" charset="-120"/>
              </a:rPr>
              <a:t>boosting multi-thread tidak bit-identik, selisih ± 0,001</a:t>
            </a:r>
            <a:endParaRPr lang="en-US" sz="950" dirty="0"/>
          </a:p>
        </p:txBody>
      </p:sp>
      <p:sp>
        <p:nvSpPr>
          <p:cNvPr id="43" name="Text 39"/>
          <p:cNvSpPr/>
          <p:nvPr/>
        </p:nvSpPr>
        <p:spPr>
          <a:xfrm>
            <a:off x="8268005" y="5047488"/>
            <a:ext cx="3082442" cy="530352"/>
          </a:xfrm>
          <a:prstGeom prst="rect">
            <a:avLst/>
          </a:prstGeom>
          <a:noFill/>
          <a:ln/>
        </p:spPr>
        <p:txBody>
          <a:bodyPr wrap="square" lIns="0" tIns="0" rIns="0" bIns="0" rtlCol="0" anchor="t"/>
          <a:lstStyle/>
          <a:p>
            <a:pPr indent="0" marL="0">
              <a:lnSpc>
                <a:spcPts val="1250"/>
              </a:lnSpc>
              <a:buNone/>
            </a:pPr>
            <a:r>
              <a:rPr lang="en-US" sz="950" b="1" dirty="0">
                <a:solidFill>
                  <a:srgbClr val="16191D"/>
                </a:solidFill>
                <a:latin typeface="Calibri" pitchFamily="34" charset="0"/>
                <a:ea typeface="Calibri" pitchFamily="34" charset="-122"/>
                <a:cs typeface="Calibri" pitchFamily="34" charset="-120"/>
              </a:rPr>
              <a:t>Variansi ambang. </a:t>
            </a:r>
            <a:pPr indent="0" marL="0">
              <a:lnSpc>
                <a:spcPts val="1250"/>
              </a:lnSpc>
              <a:buNone/>
            </a:pPr>
            <a:r>
              <a:rPr lang="en-US" sz="950" dirty="0">
                <a:solidFill>
                  <a:srgbClr val="3A4048"/>
                </a:solidFill>
                <a:latin typeface="Calibri" pitchFamily="34" charset="0"/>
                <a:ea typeface="Calibri" pitchFamily="34" charset="-122"/>
                <a:cs typeface="Calibri" pitchFamily="34" charset="-120"/>
              </a:rPr>
              <a:t>diperkecil, tidak hilang; sd t₃ 0,0392</a:t>
            </a:r>
            <a:endParaRPr lang="en-US" sz="950" dirty="0"/>
          </a:p>
        </p:txBody>
      </p:sp>
      <p:sp>
        <p:nvSpPr>
          <p:cNvPr id="45" name="Shape 40"/>
          <p:cNvSpPr/>
          <p:nvPr/>
        </p:nvSpPr>
        <p:spPr>
          <a:xfrm>
            <a:off x="640080" y="6400800"/>
            <a:ext cx="1572768" cy="45720"/>
          </a:xfrm>
          <a:prstGeom prst="rect">
            <a:avLst/>
          </a:prstGeom>
          <a:solidFill>
            <a:srgbClr val="DCD8D1"/>
          </a:solidFill>
          <a:ln/>
        </p:spPr>
      </p:sp>
      <p:sp>
        <p:nvSpPr>
          <p:cNvPr id="46" name="Text 41"/>
          <p:cNvSpPr/>
          <p:nvPr/>
        </p:nvSpPr>
        <p:spPr>
          <a:xfrm>
            <a:off x="640080"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I · Latar &amp; data</a:t>
            </a:r>
            <a:endParaRPr lang="en-US" sz="850" dirty="0"/>
          </a:p>
        </p:txBody>
      </p:sp>
      <p:sp>
        <p:nvSpPr>
          <p:cNvPr id="47" name="Shape 42"/>
          <p:cNvSpPr/>
          <p:nvPr/>
        </p:nvSpPr>
        <p:spPr>
          <a:xfrm>
            <a:off x="2304288" y="6400800"/>
            <a:ext cx="1572768" cy="45720"/>
          </a:xfrm>
          <a:prstGeom prst="rect">
            <a:avLst/>
          </a:prstGeom>
          <a:solidFill>
            <a:srgbClr val="DCD8D1"/>
          </a:solidFill>
          <a:ln/>
        </p:spPr>
      </p:sp>
      <p:sp>
        <p:nvSpPr>
          <p:cNvPr id="48" name="Text 43"/>
          <p:cNvSpPr/>
          <p:nvPr/>
        </p:nvSpPr>
        <p:spPr>
          <a:xfrm>
            <a:off x="2304288"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II · EDA</a:t>
            </a:r>
            <a:endParaRPr lang="en-US" sz="850" dirty="0"/>
          </a:p>
        </p:txBody>
      </p:sp>
      <p:sp>
        <p:nvSpPr>
          <p:cNvPr id="49" name="Shape 44"/>
          <p:cNvSpPr/>
          <p:nvPr/>
        </p:nvSpPr>
        <p:spPr>
          <a:xfrm>
            <a:off x="3968496" y="6400800"/>
            <a:ext cx="1572768" cy="45720"/>
          </a:xfrm>
          <a:prstGeom prst="rect">
            <a:avLst/>
          </a:prstGeom>
          <a:solidFill>
            <a:srgbClr val="DCD8D1"/>
          </a:solidFill>
          <a:ln/>
        </p:spPr>
      </p:sp>
      <p:sp>
        <p:nvSpPr>
          <p:cNvPr id="50" name="Text 45"/>
          <p:cNvSpPr/>
          <p:nvPr/>
        </p:nvSpPr>
        <p:spPr>
          <a:xfrm>
            <a:off x="3968496"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III · Pipeline</a:t>
            </a:r>
            <a:endParaRPr lang="en-US" sz="850" dirty="0"/>
          </a:p>
        </p:txBody>
      </p:sp>
      <p:sp>
        <p:nvSpPr>
          <p:cNvPr id="51" name="Shape 46"/>
          <p:cNvSpPr/>
          <p:nvPr/>
        </p:nvSpPr>
        <p:spPr>
          <a:xfrm>
            <a:off x="5632704" y="6400800"/>
            <a:ext cx="1572768" cy="45720"/>
          </a:xfrm>
          <a:prstGeom prst="rect">
            <a:avLst/>
          </a:prstGeom>
          <a:solidFill>
            <a:srgbClr val="DCD8D1"/>
          </a:solidFill>
          <a:ln/>
        </p:spPr>
      </p:sp>
      <p:sp>
        <p:nvSpPr>
          <p:cNvPr id="52" name="Text 47"/>
          <p:cNvSpPr/>
          <p:nvPr/>
        </p:nvSpPr>
        <p:spPr>
          <a:xfrm>
            <a:off x="5632704"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IV · Disiplin estimasi</a:t>
            </a:r>
            <a:endParaRPr lang="en-US" sz="850" dirty="0"/>
          </a:p>
        </p:txBody>
      </p:sp>
      <p:sp>
        <p:nvSpPr>
          <p:cNvPr id="53" name="Shape 48"/>
          <p:cNvSpPr/>
          <p:nvPr/>
        </p:nvSpPr>
        <p:spPr>
          <a:xfrm>
            <a:off x="7296912" y="6400800"/>
            <a:ext cx="1572768" cy="45720"/>
          </a:xfrm>
          <a:prstGeom prst="rect">
            <a:avLst/>
          </a:prstGeom>
          <a:solidFill>
            <a:srgbClr val="DCD8D1"/>
          </a:solidFill>
          <a:ln/>
        </p:spPr>
      </p:sp>
      <p:sp>
        <p:nvSpPr>
          <p:cNvPr id="54" name="Text 49"/>
          <p:cNvSpPr/>
          <p:nvPr/>
        </p:nvSpPr>
        <p:spPr>
          <a:xfrm>
            <a:off x="7296912"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V · Hasil &amp; plafon</a:t>
            </a:r>
            <a:endParaRPr lang="en-US" sz="850" dirty="0"/>
          </a:p>
        </p:txBody>
      </p:sp>
      <p:sp>
        <p:nvSpPr>
          <p:cNvPr id="55" name="Shape 50"/>
          <p:cNvSpPr/>
          <p:nvPr/>
        </p:nvSpPr>
        <p:spPr>
          <a:xfrm>
            <a:off x="8961120" y="6400800"/>
            <a:ext cx="1572768" cy="45720"/>
          </a:xfrm>
          <a:prstGeom prst="rect">
            <a:avLst/>
          </a:prstGeom>
          <a:solidFill>
            <a:srgbClr val="A8442A"/>
          </a:solidFill>
          <a:ln/>
        </p:spPr>
      </p:sp>
      <p:sp>
        <p:nvSpPr>
          <p:cNvPr id="56" name="Text 51"/>
          <p:cNvSpPr/>
          <p:nvPr/>
        </p:nvSpPr>
        <p:spPr>
          <a:xfrm>
            <a:off x="8961120" y="6464808"/>
            <a:ext cx="1572768" cy="201168"/>
          </a:xfrm>
          <a:prstGeom prst="rect">
            <a:avLst/>
          </a:prstGeom>
          <a:noFill/>
          <a:ln/>
        </p:spPr>
        <p:txBody>
          <a:bodyPr wrap="square" lIns="0" tIns="0" rIns="0" bIns="0" rtlCol="0" anchor="ctr"/>
          <a:lstStyle/>
          <a:p>
            <a:pPr indent="0" marL="0">
              <a:buNone/>
            </a:pPr>
            <a:r>
              <a:rPr lang="en-US" sz="850" b="1" dirty="0">
                <a:solidFill>
                  <a:srgbClr val="16191D"/>
                </a:solidFill>
                <a:latin typeface="Calibri" pitchFamily="34" charset="0"/>
                <a:ea typeface="Calibri" pitchFamily="34" charset="-122"/>
                <a:cs typeface="Calibri" pitchFamily="34" charset="-120"/>
              </a:rPr>
              <a:t>VI · Reproduksi &amp; produk</a:t>
            </a:r>
            <a:endParaRPr lang="en-US" sz="850" dirty="0"/>
          </a:p>
        </p:txBody>
      </p:sp>
      <p:sp>
        <p:nvSpPr>
          <p:cNvPr id="57" name="Text 52"/>
          <p:cNvSpPr/>
          <p:nvPr/>
        </p:nvSpPr>
        <p:spPr>
          <a:xfrm>
            <a:off x="10637215" y="6382512"/>
            <a:ext cx="914400" cy="274320"/>
          </a:xfrm>
          <a:prstGeom prst="rect">
            <a:avLst/>
          </a:prstGeom>
          <a:noFill/>
          <a:ln/>
        </p:spPr>
        <p:txBody>
          <a:bodyPr wrap="square" lIns="0" tIns="0" rIns="0" bIns="0" rtlCol="0" anchor="ctr"/>
          <a:lstStyle/>
          <a:p>
            <a:pPr algn="r" indent="0" marL="0">
              <a:buNone/>
            </a:pPr>
            <a:r>
              <a:rPr lang="en-US" sz="900" b="1" dirty="0">
                <a:solidFill>
                  <a:srgbClr val="9AA0A7"/>
                </a:solidFill>
                <a:latin typeface="Calibri" pitchFamily="34" charset="0"/>
                <a:ea typeface="Calibri" pitchFamily="34" charset="-122"/>
                <a:cs typeface="Calibri"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84048"/>
            <a:ext cx="10911535" cy="530352"/>
          </a:xfrm>
          <a:prstGeom prst="rect">
            <a:avLst/>
          </a:prstGeom>
          <a:noFill/>
          <a:ln/>
        </p:spPr>
        <p:txBody>
          <a:bodyPr wrap="square" lIns="0" tIns="0" rIns="0" bIns="0" rtlCol="0" anchor="t"/>
          <a:lstStyle/>
          <a:p>
            <a:pPr indent="0" marL="0">
              <a:buNone/>
            </a:pPr>
            <a:r>
              <a:rPr lang="en-US" sz="2400" b="1" dirty="0">
                <a:solidFill>
                  <a:srgbClr val="16191D"/>
                </a:solidFill>
                <a:latin typeface="Cambria" pitchFamily="34" charset="0"/>
                <a:ea typeface="Cambria" pitchFamily="34" charset="-122"/>
                <a:cs typeface="Cambria" pitchFamily="34" charset="-120"/>
              </a:rPr>
              <a:t>LifeScope: dari satu angka agregat menjadi daftar prioritas bernama.</a:t>
            </a:r>
            <a:endParaRPr lang="en-US" sz="2400" dirty="0"/>
          </a:p>
        </p:txBody>
      </p:sp>
      <p:sp>
        <p:nvSpPr>
          <p:cNvPr id="3" name="Text 1"/>
          <p:cNvSpPr/>
          <p:nvPr/>
        </p:nvSpPr>
        <p:spPr>
          <a:xfrm>
            <a:off x="640080" y="896112"/>
            <a:ext cx="10911535" cy="310896"/>
          </a:xfrm>
          <a:prstGeom prst="rect">
            <a:avLst/>
          </a:prstGeom>
          <a:noFill/>
          <a:ln/>
        </p:spPr>
        <p:txBody>
          <a:bodyPr wrap="square" lIns="0" tIns="0" rIns="0" bIns="0" rtlCol="0" anchor="t"/>
          <a:lstStyle/>
          <a:p>
            <a:pPr indent="0" marL="0">
              <a:buNone/>
            </a:pPr>
            <a:r>
              <a:rPr lang="en-US" sz="1250" dirty="0">
                <a:solidFill>
                  <a:srgbClr val="6E747C"/>
                </a:solidFill>
                <a:latin typeface="Calibri" pitchFamily="34" charset="0"/>
                <a:ea typeface="Calibri" pitchFamily="34" charset="-122"/>
                <a:cs typeface="Calibri" pitchFamily="34" charset="-120"/>
              </a:rPr>
              <a:t>Aturan keputusan yang sama, berjalan penuh di peramban tanpa server.</a:t>
            </a:r>
            <a:endParaRPr lang="en-US" sz="1250" dirty="0"/>
          </a:p>
        </p:txBody>
      </p:sp>
      <p:pic>
        <p:nvPicPr>
          <p:cNvPr id="4" name="Image 0" descr="shot_lifescope.png">    </p:cNvPr>
          <p:cNvPicPr>
            <a:picLocks noChangeAspect="1"/>
          </p:cNvPicPr>
          <p:nvPr/>
        </p:nvPicPr>
        <p:blipFill>
          <a:blip r:embed="rId1"/>
          <a:stretch>
            <a:fillRect/>
          </a:stretch>
        </p:blipFill>
        <p:spPr>
          <a:xfrm>
            <a:off x="640080" y="1371600"/>
            <a:ext cx="5852160" cy="3253801"/>
          </a:xfrm>
          <a:prstGeom prst="rect">
            <a:avLst/>
          </a:prstGeom>
        </p:spPr>
      </p:pic>
      <p:sp>
        <p:nvSpPr>
          <p:cNvPr id="5" name="Shape 2"/>
          <p:cNvSpPr/>
          <p:nvPr/>
        </p:nvSpPr>
        <p:spPr>
          <a:xfrm>
            <a:off x="640080" y="4754880"/>
            <a:ext cx="5852160" cy="1463040"/>
          </a:xfrm>
          <a:prstGeom prst="roundRect">
            <a:avLst>
              <a:gd name="adj" fmla="val 3750"/>
            </a:avLst>
          </a:prstGeom>
          <a:solidFill>
            <a:srgbClr val="16191D"/>
          </a:solidFill>
          <a:ln w="9525">
            <a:solidFill>
              <a:srgbClr val="16191D"/>
            </a:solidFill>
            <a:prstDash val="solid"/>
          </a:ln>
        </p:spPr>
      </p:sp>
      <p:sp>
        <p:nvSpPr>
          <p:cNvPr id="6" name="Text 3"/>
          <p:cNvSpPr/>
          <p:nvPr/>
        </p:nvSpPr>
        <p:spPr>
          <a:xfrm>
            <a:off x="868680" y="4864608"/>
            <a:ext cx="5394960" cy="274320"/>
          </a:xfrm>
          <a:prstGeom prst="rect">
            <a:avLst/>
          </a:prstGeom>
          <a:noFill/>
          <a:ln/>
        </p:spPr>
        <p:txBody>
          <a:bodyPr wrap="square" lIns="0" tIns="0" rIns="0" bIns="0" rtlCol="0" anchor="ctr"/>
          <a:lstStyle/>
          <a:p>
            <a:pPr indent="0" marL="0">
              <a:buNone/>
            </a:pPr>
            <a:r>
              <a:rPr lang="en-US" sz="1050" b="1" spc="150" kern="0" dirty="0">
                <a:solidFill>
                  <a:srgbClr val="8FB0A4"/>
                </a:solidFill>
                <a:latin typeface="Calibri" pitchFamily="34" charset="0"/>
                <a:ea typeface="Calibri" pitchFamily="34" charset="-122"/>
                <a:cs typeface="Calibri" pitchFamily="34" charset="-120"/>
              </a:rPr>
              <a:t>COBA SAAT PITCHING</a:t>
            </a:r>
            <a:endParaRPr lang="en-US" sz="1050" dirty="0"/>
          </a:p>
        </p:txBody>
      </p:sp>
      <p:sp>
        <p:nvSpPr>
          <p:cNvPr id="7" name="Text 4">
            <a:hlinkClick r:id="rId2" tooltip=""/>
          </p:cNvPr>
          <p:cNvSpPr/>
          <p:nvPr/>
        </p:nvSpPr>
        <p:spPr>
          <a:xfrm>
            <a:off x="868680" y="5138928"/>
            <a:ext cx="5394960" cy="310896"/>
          </a:xfrm>
          <a:prstGeom prst="rect">
            <a:avLst/>
          </a:prstGeom>
          <a:noFill/>
          <a:ln/>
        </p:spPr>
        <p:txBody>
          <a:bodyPr wrap="square" lIns="0" tIns="0" rIns="0" bIns="0" rtlCol="0" anchor="ctr"/>
          <a:lstStyle/>
          <a:p>
            <a:pPr indent="0" marL="0">
              <a:buNone/>
            </a:pPr>
            <a:r>
              <a:rPr lang="en-US" sz="1200" b="1" u="sng" dirty="0">
                <a:solidFill>
                  <a:srgbClr val="FFFFFF"/>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lifescope-mikaeladikara-5555s-projects.vercel.app</a:t>
            </a:r>
            <a:endParaRPr lang="en-US" sz="1200" dirty="0"/>
          </a:p>
        </p:txBody>
      </p:sp>
      <p:sp>
        <p:nvSpPr>
          <p:cNvPr id="8" name="Text 5"/>
          <p:cNvSpPr/>
          <p:nvPr/>
        </p:nvSpPr>
        <p:spPr>
          <a:xfrm>
            <a:off x="868680" y="5486400"/>
            <a:ext cx="5394960" cy="640080"/>
          </a:xfrm>
          <a:prstGeom prst="rect">
            <a:avLst/>
          </a:prstGeom>
          <a:noFill/>
          <a:ln/>
        </p:spPr>
        <p:txBody>
          <a:bodyPr wrap="square" lIns="0" tIns="0" rIns="0" bIns="0" rtlCol="0" anchor="t"/>
          <a:lstStyle/>
          <a:p>
            <a:pPr algn="l" indent="0" marL="0">
              <a:lnSpc>
                <a:spcPts val="1350"/>
              </a:lnSpc>
              <a:buNone/>
            </a:pPr>
            <a:r>
              <a:rPr lang="en-US" sz="1000" dirty="0">
                <a:solidFill>
                  <a:srgbClr val="9AA0A7"/>
                </a:solidFill>
                <a:latin typeface="Calibri" pitchFamily="34" charset="0"/>
                <a:ea typeface="Calibri" pitchFamily="34" charset="-122"/>
                <a:cs typeface="Calibri" pitchFamily="34" charset="-120"/>
              </a:rPr>
              <a:t>Surrogate 440 pohon, 17 fitur: QWK 0,46752, atau 96,5% dari pipeline penuh. +0,06931 di antaranya berasal dari aturan keputusan saja.</a:t>
            </a:r>
            <a:endParaRPr lang="en-US" sz="1000" dirty="0"/>
          </a:p>
        </p:txBody>
      </p:sp>
      <p:sp>
        <p:nvSpPr>
          <p:cNvPr id="9" name="Shape 6"/>
          <p:cNvSpPr/>
          <p:nvPr/>
        </p:nvSpPr>
        <p:spPr>
          <a:xfrm>
            <a:off x="6766560" y="1371600"/>
            <a:ext cx="2163928" cy="2377440"/>
          </a:xfrm>
          <a:prstGeom prst="roundRect">
            <a:avLst>
              <a:gd name="adj" fmla="val 2535"/>
            </a:avLst>
          </a:prstGeom>
          <a:solidFill>
            <a:srgbClr val="F4F1EC"/>
          </a:solidFill>
          <a:ln w="9525">
            <a:solidFill>
              <a:srgbClr val="DCD8D1"/>
            </a:solidFill>
            <a:prstDash val="solid"/>
          </a:ln>
        </p:spPr>
      </p:sp>
      <p:sp>
        <p:nvSpPr>
          <p:cNvPr id="10" name="Text 7"/>
          <p:cNvSpPr/>
          <p:nvPr/>
        </p:nvSpPr>
        <p:spPr>
          <a:xfrm>
            <a:off x="6967728" y="1499616"/>
            <a:ext cx="2163928" cy="274320"/>
          </a:xfrm>
          <a:prstGeom prst="rect">
            <a:avLst/>
          </a:prstGeom>
          <a:noFill/>
          <a:ln/>
        </p:spPr>
        <p:txBody>
          <a:bodyPr wrap="square" lIns="0" tIns="0" rIns="0" bIns="0" rtlCol="0" anchor="ctr"/>
          <a:lstStyle/>
          <a:p>
            <a:pPr indent="0" marL="0">
              <a:buNone/>
            </a:pPr>
            <a:r>
              <a:rPr lang="en-US" sz="1050" b="1" spc="150" kern="0" dirty="0">
                <a:solidFill>
                  <a:srgbClr val="6E747C"/>
                </a:solidFill>
                <a:latin typeface="Calibri" pitchFamily="34" charset="0"/>
                <a:ea typeface="Calibri" pitchFamily="34" charset="-122"/>
                <a:cs typeface="Calibri" pitchFamily="34" charset="-120"/>
              </a:rPr>
              <a:t>SEKARANG</a:t>
            </a:r>
            <a:endParaRPr lang="en-US" sz="1050" dirty="0"/>
          </a:p>
        </p:txBody>
      </p:sp>
      <p:sp>
        <p:nvSpPr>
          <p:cNvPr id="11" name="Text 8"/>
          <p:cNvSpPr/>
          <p:nvPr/>
        </p:nvSpPr>
        <p:spPr>
          <a:xfrm>
            <a:off x="6967728" y="1783080"/>
            <a:ext cx="1761592" cy="594360"/>
          </a:xfrm>
          <a:prstGeom prst="rect">
            <a:avLst/>
          </a:prstGeom>
          <a:noFill/>
          <a:ln/>
        </p:spPr>
        <p:txBody>
          <a:bodyPr wrap="square" lIns="0" tIns="0" rIns="0" bIns="0" rtlCol="0" anchor="ctr"/>
          <a:lstStyle/>
          <a:p>
            <a:pPr indent="0" marL="0">
              <a:buNone/>
            </a:pPr>
            <a:r>
              <a:rPr lang="en-US" sz="3200" b="1" dirty="0">
                <a:solidFill>
                  <a:srgbClr val="16191D"/>
                </a:solidFill>
                <a:latin typeface="Cambria" pitchFamily="34" charset="0"/>
                <a:ea typeface="Cambria" pitchFamily="34" charset="-122"/>
                <a:cs typeface="Cambria" pitchFamily="34" charset="-120"/>
              </a:rPr>
              <a:t>4,7%</a:t>
            </a:r>
            <a:endParaRPr lang="en-US" sz="3200" dirty="0"/>
          </a:p>
        </p:txBody>
      </p:sp>
      <p:sp>
        <p:nvSpPr>
          <p:cNvPr id="12" name="Text 9"/>
          <p:cNvSpPr/>
          <p:nvPr/>
        </p:nvSpPr>
        <p:spPr>
          <a:xfrm>
            <a:off x="6967728" y="2468880"/>
            <a:ext cx="1761592" cy="1097280"/>
          </a:xfrm>
          <a:prstGeom prst="rect">
            <a:avLst/>
          </a:prstGeom>
          <a:noFill/>
          <a:ln/>
        </p:spPr>
        <p:txBody>
          <a:bodyPr wrap="square" lIns="0" tIns="0" rIns="0" bIns="0" rtlCol="0" anchor="t"/>
          <a:lstStyle/>
          <a:p>
            <a:pPr algn="l" indent="0" marL="0">
              <a:lnSpc>
                <a:spcPts val="1350"/>
              </a:lnSpc>
              <a:buNone/>
            </a:pPr>
            <a:r>
              <a:rPr lang="en-US" sz="1000" dirty="0">
                <a:solidFill>
                  <a:srgbClr val="3A4048"/>
                </a:solidFill>
                <a:latin typeface="Calibri" pitchFamily="34" charset="0"/>
                <a:ea typeface="Calibri" pitchFamily="34" charset="-122"/>
                <a:cs typeface="Calibri" pitchFamily="34" charset="-120"/>
              </a:rPr>
              <a:t>Angka agregat laporan survei. Tidak memberi tahu siapa orangnya.</a:t>
            </a:r>
            <a:endParaRPr lang="en-US" sz="1000" dirty="0"/>
          </a:p>
        </p:txBody>
      </p:sp>
      <p:sp>
        <p:nvSpPr>
          <p:cNvPr id="13" name="Text 10"/>
          <p:cNvSpPr/>
          <p:nvPr/>
        </p:nvSpPr>
        <p:spPr>
          <a:xfrm>
            <a:off x="8930488" y="1371600"/>
            <a:ext cx="457200" cy="2377440"/>
          </a:xfrm>
          <a:prstGeom prst="rect">
            <a:avLst/>
          </a:prstGeom>
          <a:noFill/>
          <a:ln/>
        </p:spPr>
        <p:txBody>
          <a:bodyPr wrap="square" lIns="0" tIns="0" rIns="0" bIns="0" rtlCol="0" anchor="ctr"/>
          <a:lstStyle/>
          <a:p>
            <a:pPr algn="ctr" indent="0" marL="0">
              <a:buNone/>
            </a:pPr>
            <a:r>
              <a:rPr lang="en-US" sz="2000" dirty="0">
                <a:solidFill>
                  <a:srgbClr val="9AA0A7"/>
                </a:solidFill>
                <a:latin typeface="Calibri" pitchFamily="34" charset="0"/>
                <a:ea typeface="Calibri" pitchFamily="34" charset="-122"/>
                <a:cs typeface="Calibri" pitchFamily="34" charset="-120"/>
              </a:rPr>
              <a:t>→</a:t>
            </a:r>
            <a:endParaRPr lang="en-US" sz="2000" dirty="0"/>
          </a:p>
        </p:txBody>
      </p:sp>
      <p:sp>
        <p:nvSpPr>
          <p:cNvPr id="14" name="Shape 11"/>
          <p:cNvSpPr/>
          <p:nvPr/>
        </p:nvSpPr>
        <p:spPr>
          <a:xfrm>
            <a:off x="9387688" y="1371600"/>
            <a:ext cx="2163928" cy="2377440"/>
          </a:xfrm>
          <a:prstGeom prst="roundRect">
            <a:avLst>
              <a:gd name="adj" fmla="val 2535"/>
            </a:avLst>
          </a:prstGeom>
          <a:solidFill>
            <a:srgbClr val="FFFFFF"/>
          </a:solidFill>
          <a:ln w="9525">
            <a:solidFill>
              <a:srgbClr val="DCD8D1"/>
            </a:solidFill>
            <a:prstDash val="solid"/>
          </a:ln>
        </p:spPr>
      </p:sp>
      <p:sp>
        <p:nvSpPr>
          <p:cNvPr id="15" name="Text 12"/>
          <p:cNvSpPr/>
          <p:nvPr/>
        </p:nvSpPr>
        <p:spPr>
          <a:xfrm>
            <a:off x="9588856" y="1499616"/>
            <a:ext cx="2163928" cy="274320"/>
          </a:xfrm>
          <a:prstGeom prst="rect">
            <a:avLst/>
          </a:prstGeom>
          <a:noFill/>
          <a:ln/>
        </p:spPr>
        <p:txBody>
          <a:bodyPr wrap="square" lIns="0" tIns="0" rIns="0" bIns="0" rtlCol="0" anchor="ctr"/>
          <a:lstStyle/>
          <a:p>
            <a:pPr indent="0" marL="0">
              <a:buNone/>
            </a:pPr>
            <a:r>
              <a:rPr lang="en-US" sz="1050" b="1" spc="150" kern="0" dirty="0">
                <a:solidFill>
                  <a:srgbClr val="6E747C"/>
                </a:solidFill>
                <a:latin typeface="Calibri" pitchFamily="34" charset="0"/>
                <a:ea typeface="Calibri" pitchFamily="34" charset="-122"/>
                <a:cs typeface="Calibri" pitchFamily="34" charset="-120"/>
              </a:rPr>
              <a:t>DENGAN LIFESCOPE</a:t>
            </a:r>
            <a:endParaRPr lang="en-US" sz="1050" dirty="0"/>
          </a:p>
        </p:txBody>
      </p:sp>
      <p:sp>
        <p:nvSpPr>
          <p:cNvPr id="16" name="Shape 13"/>
          <p:cNvSpPr/>
          <p:nvPr/>
        </p:nvSpPr>
        <p:spPr>
          <a:xfrm>
            <a:off x="9588856" y="1874520"/>
            <a:ext cx="219456" cy="219456"/>
          </a:xfrm>
          <a:prstGeom prst="rect">
            <a:avLst/>
          </a:prstGeom>
          <a:solidFill>
            <a:srgbClr val="A8442A"/>
          </a:solidFill>
          <a:ln/>
        </p:spPr>
      </p:sp>
      <p:sp>
        <p:nvSpPr>
          <p:cNvPr id="17" name="Text 14"/>
          <p:cNvSpPr/>
          <p:nvPr/>
        </p:nvSpPr>
        <p:spPr>
          <a:xfrm>
            <a:off x="9890608" y="1828800"/>
            <a:ext cx="1523848" cy="310896"/>
          </a:xfrm>
          <a:prstGeom prst="rect">
            <a:avLst/>
          </a:prstGeom>
          <a:noFill/>
          <a:ln/>
        </p:spPr>
        <p:txBody>
          <a:bodyPr wrap="square" lIns="0" tIns="0" rIns="0" bIns="0" rtlCol="0" anchor="ctr"/>
          <a:lstStyle/>
          <a:p>
            <a:pPr indent="0" marL="0">
              <a:buNone/>
            </a:pPr>
            <a:r>
              <a:rPr lang="en-US" sz="1000" dirty="0">
                <a:solidFill>
                  <a:srgbClr val="16191D"/>
                </a:solidFill>
                <a:latin typeface="Calibri" pitchFamily="34" charset="0"/>
                <a:ea typeface="Calibri" pitchFamily="34" charset="-122"/>
                <a:cs typeface="Calibri" pitchFamily="34" charset="-120"/>
              </a:rPr>
              <a:t>2,932   Responden #1</a:t>
            </a:r>
            <a:endParaRPr lang="en-US" sz="1000" dirty="0"/>
          </a:p>
        </p:txBody>
      </p:sp>
      <p:sp>
        <p:nvSpPr>
          <p:cNvPr id="18" name="Shape 15"/>
          <p:cNvSpPr/>
          <p:nvPr/>
        </p:nvSpPr>
        <p:spPr>
          <a:xfrm>
            <a:off x="9588856" y="2240280"/>
            <a:ext cx="219456" cy="219456"/>
          </a:xfrm>
          <a:prstGeom prst="rect">
            <a:avLst/>
          </a:prstGeom>
          <a:solidFill>
            <a:srgbClr val="A8442A"/>
          </a:solidFill>
          <a:ln/>
        </p:spPr>
      </p:sp>
      <p:sp>
        <p:nvSpPr>
          <p:cNvPr id="19" name="Text 16"/>
          <p:cNvSpPr/>
          <p:nvPr/>
        </p:nvSpPr>
        <p:spPr>
          <a:xfrm>
            <a:off x="9890608" y="2194560"/>
            <a:ext cx="1523848" cy="310896"/>
          </a:xfrm>
          <a:prstGeom prst="rect">
            <a:avLst/>
          </a:prstGeom>
          <a:noFill/>
          <a:ln/>
        </p:spPr>
        <p:txBody>
          <a:bodyPr wrap="square" lIns="0" tIns="0" rIns="0" bIns="0" rtlCol="0" anchor="ctr"/>
          <a:lstStyle/>
          <a:p>
            <a:pPr indent="0" marL="0">
              <a:buNone/>
            </a:pPr>
            <a:r>
              <a:rPr lang="en-US" sz="1000" dirty="0">
                <a:solidFill>
                  <a:srgbClr val="16191D"/>
                </a:solidFill>
                <a:latin typeface="Calibri" pitchFamily="34" charset="0"/>
                <a:ea typeface="Calibri" pitchFamily="34" charset="-122"/>
                <a:cs typeface="Calibri" pitchFamily="34" charset="-120"/>
              </a:rPr>
              <a:t>2,790   Responden #2</a:t>
            </a:r>
            <a:endParaRPr lang="en-US" sz="1000" dirty="0"/>
          </a:p>
        </p:txBody>
      </p:sp>
      <p:sp>
        <p:nvSpPr>
          <p:cNvPr id="20" name="Shape 17"/>
          <p:cNvSpPr/>
          <p:nvPr/>
        </p:nvSpPr>
        <p:spPr>
          <a:xfrm>
            <a:off x="9588856" y="2606040"/>
            <a:ext cx="219456" cy="219456"/>
          </a:xfrm>
          <a:prstGeom prst="rect">
            <a:avLst/>
          </a:prstGeom>
          <a:solidFill>
            <a:srgbClr val="A8442A"/>
          </a:solidFill>
          <a:ln/>
        </p:spPr>
      </p:sp>
      <p:sp>
        <p:nvSpPr>
          <p:cNvPr id="21" name="Text 18"/>
          <p:cNvSpPr/>
          <p:nvPr/>
        </p:nvSpPr>
        <p:spPr>
          <a:xfrm>
            <a:off x="9890608" y="2560320"/>
            <a:ext cx="1523848" cy="310896"/>
          </a:xfrm>
          <a:prstGeom prst="rect">
            <a:avLst/>
          </a:prstGeom>
          <a:noFill/>
          <a:ln/>
        </p:spPr>
        <p:txBody>
          <a:bodyPr wrap="square" lIns="0" tIns="0" rIns="0" bIns="0" rtlCol="0" anchor="ctr"/>
          <a:lstStyle/>
          <a:p>
            <a:pPr indent="0" marL="0">
              <a:buNone/>
            </a:pPr>
            <a:r>
              <a:rPr lang="en-US" sz="1000" dirty="0">
                <a:solidFill>
                  <a:srgbClr val="16191D"/>
                </a:solidFill>
                <a:latin typeface="Calibri" pitchFamily="34" charset="0"/>
                <a:ea typeface="Calibri" pitchFamily="34" charset="-122"/>
                <a:cs typeface="Calibri" pitchFamily="34" charset="-120"/>
              </a:rPr>
              <a:t>2,738   Responden #3</a:t>
            </a:r>
            <a:endParaRPr lang="en-US" sz="1000" dirty="0"/>
          </a:p>
        </p:txBody>
      </p:sp>
      <p:sp>
        <p:nvSpPr>
          <p:cNvPr id="22" name="Shape 19"/>
          <p:cNvSpPr/>
          <p:nvPr/>
        </p:nvSpPr>
        <p:spPr>
          <a:xfrm>
            <a:off x="9588856" y="2971800"/>
            <a:ext cx="219456" cy="219456"/>
          </a:xfrm>
          <a:prstGeom prst="rect">
            <a:avLst/>
          </a:prstGeom>
          <a:solidFill>
            <a:srgbClr val="D8A25E"/>
          </a:solidFill>
          <a:ln/>
        </p:spPr>
      </p:sp>
      <p:sp>
        <p:nvSpPr>
          <p:cNvPr id="23" name="Text 20"/>
          <p:cNvSpPr/>
          <p:nvPr/>
        </p:nvSpPr>
        <p:spPr>
          <a:xfrm>
            <a:off x="9890608" y="2926080"/>
            <a:ext cx="1523848" cy="310896"/>
          </a:xfrm>
          <a:prstGeom prst="rect">
            <a:avLst/>
          </a:prstGeom>
          <a:noFill/>
          <a:ln/>
        </p:spPr>
        <p:txBody>
          <a:bodyPr wrap="square" lIns="0" tIns="0" rIns="0" bIns="0" rtlCol="0" anchor="ctr"/>
          <a:lstStyle/>
          <a:p>
            <a:pPr indent="0" marL="0">
              <a:buNone/>
            </a:pPr>
            <a:r>
              <a:rPr lang="en-US" sz="1000" dirty="0">
                <a:solidFill>
                  <a:srgbClr val="16191D"/>
                </a:solidFill>
                <a:latin typeface="Calibri" pitchFamily="34" charset="0"/>
                <a:ea typeface="Calibri" pitchFamily="34" charset="-122"/>
                <a:cs typeface="Calibri" pitchFamily="34" charset="-120"/>
              </a:rPr>
              <a:t>2,445   Responden #4</a:t>
            </a:r>
            <a:endParaRPr lang="en-US" sz="1000" dirty="0"/>
          </a:p>
        </p:txBody>
      </p:sp>
      <p:sp>
        <p:nvSpPr>
          <p:cNvPr id="24" name="Text 21"/>
          <p:cNvSpPr/>
          <p:nvPr/>
        </p:nvSpPr>
        <p:spPr>
          <a:xfrm>
            <a:off x="9588856" y="3310128"/>
            <a:ext cx="1761592" cy="365760"/>
          </a:xfrm>
          <a:prstGeom prst="rect">
            <a:avLst/>
          </a:prstGeom>
          <a:noFill/>
          <a:ln/>
        </p:spPr>
        <p:txBody>
          <a:bodyPr wrap="square" lIns="0" tIns="0" rIns="0" bIns="0" rtlCol="0" anchor="t"/>
          <a:lstStyle/>
          <a:p>
            <a:pPr algn="l" indent="0" marL="0">
              <a:lnSpc>
                <a:spcPts val="1283"/>
              </a:lnSpc>
              <a:buNone/>
            </a:pPr>
            <a:r>
              <a:rPr lang="en-US" sz="950" dirty="0">
                <a:solidFill>
                  <a:srgbClr val="6E747C"/>
                </a:solidFill>
                <a:latin typeface="Calibri" pitchFamily="34" charset="0"/>
                <a:ea typeface="Calibri" pitchFamily="34" charset="-122"/>
                <a:cs typeface="Calibri" pitchFamily="34" charset="-120"/>
              </a:rPr>
              <a:t>Terurut menurut E[y], siap dibagi atau diekspor.</a:t>
            </a:r>
            <a:endParaRPr lang="en-US" sz="950" dirty="0"/>
          </a:p>
        </p:txBody>
      </p:sp>
      <p:sp>
        <p:nvSpPr>
          <p:cNvPr id="25" name="Shape 22"/>
          <p:cNvSpPr/>
          <p:nvPr/>
        </p:nvSpPr>
        <p:spPr>
          <a:xfrm>
            <a:off x="6766560" y="3986784"/>
            <a:ext cx="201168" cy="201168"/>
          </a:xfrm>
          <a:prstGeom prst="ellipse">
            <a:avLst/>
          </a:prstGeom>
          <a:solidFill>
            <a:srgbClr val="2F6B5F"/>
          </a:solidFill>
          <a:ln/>
        </p:spPr>
      </p:sp>
      <p:sp>
        <p:nvSpPr>
          <p:cNvPr id="26" name="Text 23"/>
          <p:cNvSpPr/>
          <p:nvPr/>
        </p:nvSpPr>
        <p:spPr>
          <a:xfrm>
            <a:off x="7086600" y="3931920"/>
            <a:ext cx="4465015" cy="475488"/>
          </a:xfrm>
          <a:prstGeom prst="rect">
            <a:avLst/>
          </a:prstGeom>
          <a:noFill/>
          <a:ln/>
        </p:spPr>
        <p:txBody>
          <a:bodyPr wrap="square" lIns="0" tIns="0" rIns="0" bIns="0" rtlCol="0" anchor="t"/>
          <a:lstStyle/>
          <a:p>
            <a:pPr indent="0" marL="0">
              <a:lnSpc>
                <a:spcPts val="1300"/>
              </a:lnSpc>
              <a:buNone/>
            </a:pPr>
            <a:r>
              <a:rPr lang="en-US" sz="1050" b="1" dirty="0">
                <a:solidFill>
                  <a:srgbClr val="16191D"/>
                </a:solidFill>
                <a:latin typeface="Calibri" pitchFamily="34" charset="0"/>
                <a:ea typeface="Calibri" pitchFamily="34" charset="-122"/>
                <a:cs typeface="Calibri" pitchFamily="34" charset="-120"/>
              </a:rPr>
              <a:t>Skrining satu orang  </a:t>
            </a:r>
            <a:pPr indent="0" marL="0">
              <a:lnSpc>
                <a:spcPts val="1300"/>
              </a:lnSpc>
              <a:buNone/>
            </a:pPr>
            <a:r>
              <a:rPr lang="en-US" sz="1050" dirty="0">
                <a:solidFill>
                  <a:srgbClr val="6E747C"/>
                </a:solidFill>
                <a:latin typeface="Calibri" pitchFamily="34" charset="0"/>
                <a:ea typeface="Calibri" pitchFamily="34" charset="-122"/>
                <a:cs typeface="Calibri" pitchFamily="34" charset="-120"/>
              </a:rPr>
              <a:t>17 pertanyaan, gauge E[y], dan pendorong utama</a:t>
            </a:r>
            <a:endParaRPr lang="en-US" sz="1050" dirty="0"/>
          </a:p>
        </p:txBody>
      </p:sp>
      <p:sp>
        <p:nvSpPr>
          <p:cNvPr id="27" name="Shape 24"/>
          <p:cNvSpPr/>
          <p:nvPr/>
        </p:nvSpPr>
        <p:spPr>
          <a:xfrm>
            <a:off x="6766560" y="4553712"/>
            <a:ext cx="201168" cy="201168"/>
          </a:xfrm>
          <a:prstGeom prst="ellipse">
            <a:avLst/>
          </a:prstGeom>
          <a:solidFill>
            <a:srgbClr val="8FB0A4"/>
          </a:solidFill>
          <a:ln/>
        </p:spPr>
      </p:sp>
      <p:sp>
        <p:nvSpPr>
          <p:cNvPr id="28" name="Text 25"/>
          <p:cNvSpPr/>
          <p:nvPr/>
        </p:nvSpPr>
        <p:spPr>
          <a:xfrm>
            <a:off x="7086600" y="4498848"/>
            <a:ext cx="4465015" cy="475488"/>
          </a:xfrm>
          <a:prstGeom prst="rect">
            <a:avLst/>
          </a:prstGeom>
          <a:noFill/>
          <a:ln/>
        </p:spPr>
        <p:txBody>
          <a:bodyPr wrap="square" lIns="0" tIns="0" rIns="0" bIns="0" rtlCol="0" anchor="t"/>
          <a:lstStyle/>
          <a:p>
            <a:pPr indent="0" marL="0">
              <a:lnSpc>
                <a:spcPts val="1300"/>
              </a:lnSpc>
              <a:buNone/>
            </a:pPr>
            <a:r>
              <a:rPr lang="en-US" sz="1050" b="1" dirty="0">
                <a:solidFill>
                  <a:srgbClr val="16191D"/>
                </a:solidFill>
                <a:latin typeface="Calibri" pitchFamily="34" charset="0"/>
                <a:ea typeface="Calibri" pitchFamily="34" charset="-122"/>
                <a:cs typeface="Calibri" pitchFamily="34" charset="-120"/>
              </a:rPr>
              <a:t>Nilai kohort  </a:t>
            </a:r>
            <a:pPr indent="0" marL="0">
              <a:lnSpc>
                <a:spcPts val="1300"/>
              </a:lnSpc>
              <a:buNone/>
            </a:pPr>
            <a:r>
              <a:rPr lang="en-US" sz="1050" dirty="0">
                <a:solidFill>
                  <a:srgbClr val="6E747C"/>
                </a:solidFill>
                <a:latin typeface="Calibri" pitchFamily="34" charset="0"/>
                <a:ea typeface="Calibri" pitchFamily="34" charset="-122"/>
                <a:cs typeface="Calibri" pitchFamily="34" charset="-120"/>
              </a:rPr>
              <a:t>800 baris contoh dinilai di peramban, hasil diekspor CSV</a:t>
            </a:r>
            <a:endParaRPr lang="en-US" sz="1050" dirty="0"/>
          </a:p>
        </p:txBody>
      </p:sp>
      <p:sp>
        <p:nvSpPr>
          <p:cNvPr id="29" name="Shape 26"/>
          <p:cNvSpPr/>
          <p:nvPr/>
        </p:nvSpPr>
        <p:spPr>
          <a:xfrm>
            <a:off x="6766560" y="5120640"/>
            <a:ext cx="201168" cy="201168"/>
          </a:xfrm>
          <a:prstGeom prst="ellipse">
            <a:avLst/>
          </a:prstGeom>
          <a:solidFill>
            <a:srgbClr val="D8A25E"/>
          </a:solidFill>
          <a:ln/>
        </p:spPr>
      </p:sp>
      <p:sp>
        <p:nvSpPr>
          <p:cNvPr id="30" name="Text 27"/>
          <p:cNvSpPr/>
          <p:nvPr/>
        </p:nvSpPr>
        <p:spPr>
          <a:xfrm>
            <a:off x="7086600" y="5065776"/>
            <a:ext cx="4465015" cy="475488"/>
          </a:xfrm>
          <a:prstGeom prst="rect">
            <a:avLst/>
          </a:prstGeom>
          <a:noFill/>
          <a:ln/>
        </p:spPr>
        <p:txBody>
          <a:bodyPr wrap="square" lIns="0" tIns="0" rIns="0" bIns="0" rtlCol="0" anchor="t"/>
          <a:lstStyle/>
          <a:p>
            <a:pPr indent="0" marL="0">
              <a:lnSpc>
                <a:spcPts val="1300"/>
              </a:lnSpc>
              <a:buNone/>
            </a:pPr>
            <a:r>
              <a:rPr lang="en-US" sz="1050" b="1" dirty="0">
                <a:solidFill>
                  <a:srgbClr val="16191D"/>
                </a:solidFill>
                <a:latin typeface="Calibri" pitchFamily="34" charset="0"/>
                <a:ea typeface="Calibri" pitchFamily="34" charset="-122"/>
                <a:cs typeface="Calibri" pitchFamily="34" charset="-120"/>
              </a:rPr>
              <a:t>Ambang dapat digeser  </a:t>
            </a:r>
            <a:pPr indent="0" marL="0">
              <a:lnSpc>
                <a:spcPts val="1300"/>
              </a:lnSpc>
              <a:buNone/>
            </a:pPr>
            <a:r>
              <a:rPr lang="en-US" sz="1050" dirty="0">
                <a:solidFill>
                  <a:srgbClr val="6E747C"/>
                </a:solidFill>
                <a:latin typeface="Calibri" pitchFamily="34" charset="0"/>
                <a:ea typeface="Calibri" pitchFamily="34" charset="-122"/>
                <a:cs typeface="Calibri" pitchFamily="34" charset="-120"/>
              </a:rPr>
              <a:t>seret t₃, jumlah tertangkap dihitung ulang</a:t>
            </a:r>
            <a:endParaRPr lang="en-US" sz="1050" dirty="0"/>
          </a:p>
        </p:txBody>
      </p:sp>
      <p:sp>
        <p:nvSpPr>
          <p:cNvPr id="31" name="Shape 28"/>
          <p:cNvSpPr/>
          <p:nvPr/>
        </p:nvSpPr>
        <p:spPr>
          <a:xfrm>
            <a:off x="6766560" y="5687568"/>
            <a:ext cx="201168" cy="201168"/>
          </a:xfrm>
          <a:prstGeom prst="ellipse">
            <a:avLst/>
          </a:prstGeom>
          <a:solidFill>
            <a:srgbClr val="A8442A"/>
          </a:solidFill>
          <a:ln/>
        </p:spPr>
      </p:sp>
      <p:sp>
        <p:nvSpPr>
          <p:cNvPr id="32" name="Text 29"/>
          <p:cNvSpPr/>
          <p:nvPr/>
        </p:nvSpPr>
        <p:spPr>
          <a:xfrm>
            <a:off x="7086600" y="5632704"/>
            <a:ext cx="4465015" cy="475488"/>
          </a:xfrm>
          <a:prstGeom prst="rect">
            <a:avLst/>
          </a:prstGeom>
          <a:noFill/>
          <a:ln/>
        </p:spPr>
        <p:txBody>
          <a:bodyPr wrap="square" lIns="0" tIns="0" rIns="0" bIns="0" rtlCol="0" anchor="t"/>
          <a:lstStyle/>
          <a:p>
            <a:pPr indent="0" marL="0">
              <a:lnSpc>
                <a:spcPts val="1300"/>
              </a:lnSpc>
              <a:buNone/>
            </a:pPr>
            <a:r>
              <a:rPr lang="en-US" sz="1050" b="1" dirty="0">
                <a:solidFill>
                  <a:srgbClr val="16191D"/>
                </a:solidFill>
                <a:latin typeface="Calibri" pitchFamily="34" charset="0"/>
                <a:ea typeface="Calibri" pitchFamily="34" charset="-122"/>
                <a:cs typeface="Calibri" pitchFamily="34" charset="-120"/>
              </a:rPr>
              <a:t>Tombol (i) di tiap istilah  </a:t>
            </a:r>
            <a:pPr indent="0" marL="0">
              <a:lnSpc>
                <a:spcPts val="1300"/>
              </a:lnSpc>
              <a:buNone/>
            </a:pPr>
            <a:r>
              <a:rPr lang="en-US" sz="1050" dirty="0">
                <a:solidFill>
                  <a:srgbClr val="6E747C"/>
                </a:solidFill>
                <a:latin typeface="Calibri" pitchFamily="34" charset="0"/>
                <a:ea typeface="Calibri" pitchFamily="34" charset="-122"/>
                <a:cs typeface="Calibri" pitchFamily="34" charset="-120"/>
              </a:rPr>
              <a:t>rumus dan definisi untuk tanya jawab</a:t>
            </a:r>
            <a:endParaRPr lang="en-US" sz="1050" dirty="0"/>
          </a:p>
        </p:txBody>
      </p:sp>
      <p:sp>
        <p:nvSpPr>
          <p:cNvPr id="33" name="Text 30"/>
          <p:cNvSpPr/>
          <p:nvPr/>
        </p:nvSpPr>
        <p:spPr>
          <a:xfrm>
            <a:off x="6766560" y="5943600"/>
            <a:ext cx="4785055" cy="310896"/>
          </a:xfrm>
          <a:prstGeom prst="rect">
            <a:avLst/>
          </a:prstGeom>
          <a:noFill/>
          <a:ln/>
        </p:spPr>
        <p:txBody>
          <a:bodyPr wrap="square" lIns="0" tIns="0" rIns="0" bIns="0" rtlCol="0" anchor="ctr"/>
          <a:lstStyle/>
          <a:p>
            <a:pPr algn="l" indent="0" marL="0">
              <a:buNone/>
            </a:pPr>
            <a:r>
              <a:rPr lang="en-US" sz="1000" i="1" dirty="0">
                <a:solidFill>
                  <a:srgbClr val="6E747C"/>
                </a:solidFill>
                <a:latin typeface="Calibri" pitchFamily="34" charset="0"/>
                <a:ea typeface="Calibri" pitchFamily="34" charset="-122"/>
                <a:cs typeface="Calibri" pitchFamily="34" charset="-120"/>
              </a:rPr>
              <a:t>Alat penapisan tingkat populasi, bukan diagnosis individual.</a:t>
            </a:r>
            <a:endParaRPr lang="en-US" sz="1000" dirty="0"/>
          </a:p>
        </p:txBody>
      </p:sp>
      <p:sp>
        <p:nvSpPr>
          <p:cNvPr id="35" name="Shape 31"/>
          <p:cNvSpPr/>
          <p:nvPr/>
        </p:nvSpPr>
        <p:spPr>
          <a:xfrm>
            <a:off x="640080" y="6400800"/>
            <a:ext cx="1572768" cy="45720"/>
          </a:xfrm>
          <a:prstGeom prst="rect">
            <a:avLst/>
          </a:prstGeom>
          <a:solidFill>
            <a:srgbClr val="DCD8D1"/>
          </a:solidFill>
          <a:ln/>
        </p:spPr>
      </p:sp>
      <p:sp>
        <p:nvSpPr>
          <p:cNvPr id="36" name="Text 32"/>
          <p:cNvSpPr/>
          <p:nvPr/>
        </p:nvSpPr>
        <p:spPr>
          <a:xfrm>
            <a:off x="640080"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I · Latar &amp; data</a:t>
            </a:r>
            <a:endParaRPr lang="en-US" sz="850" dirty="0"/>
          </a:p>
        </p:txBody>
      </p:sp>
      <p:sp>
        <p:nvSpPr>
          <p:cNvPr id="37" name="Shape 33"/>
          <p:cNvSpPr/>
          <p:nvPr/>
        </p:nvSpPr>
        <p:spPr>
          <a:xfrm>
            <a:off x="2304288" y="6400800"/>
            <a:ext cx="1572768" cy="45720"/>
          </a:xfrm>
          <a:prstGeom prst="rect">
            <a:avLst/>
          </a:prstGeom>
          <a:solidFill>
            <a:srgbClr val="DCD8D1"/>
          </a:solidFill>
          <a:ln/>
        </p:spPr>
      </p:sp>
      <p:sp>
        <p:nvSpPr>
          <p:cNvPr id="38" name="Text 34"/>
          <p:cNvSpPr/>
          <p:nvPr/>
        </p:nvSpPr>
        <p:spPr>
          <a:xfrm>
            <a:off x="2304288"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II · EDA</a:t>
            </a:r>
            <a:endParaRPr lang="en-US" sz="850" dirty="0"/>
          </a:p>
        </p:txBody>
      </p:sp>
      <p:sp>
        <p:nvSpPr>
          <p:cNvPr id="39" name="Shape 35"/>
          <p:cNvSpPr/>
          <p:nvPr/>
        </p:nvSpPr>
        <p:spPr>
          <a:xfrm>
            <a:off x="3968496" y="6400800"/>
            <a:ext cx="1572768" cy="45720"/>
          </a:xfrm>
          <a:prstGeom prst="rect">
            <a:avLst/>
          </a:prstGeom>
          <a:solidFill>
            <a:srgbClr val="DCD8D1"/>
          </a:solidFill>
          <a:ln/>
        </p:spPr>
      </p:sp>
      <p:sp>
        <p:nvSpPr>
          <p:cNvPr id="40" name="Text 36"/>
          <p:cNvSpPr/>
          <p:nvPr/>
        </p:nvSpPr>
        <p:spPr>
          <a:xfrm>
            <a:off x="3968496"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III · Pipeline</a:t>
            </a:r>
            <a:endParaRPr lang="en-US" sz="850" dirty="0"/>
          </a:p>
        </p:txBody>
      </p:sp>
      <p:sp>
        <p:nvSpPr>
          <p:cNvPr id="41" name="Shape 37"/>
          <p:cNvSpPr/>
          <p:nvPr/>
        </p:nvSpPr>
        <p:spPr>
          <a:xfrm>
            <a:off x="5632704" y="6400800"/>
            <a:ext cx="1572768" cy="45720"/>
          </a:xfrm>
          <a:prstGeom prst="rect">
            <a:avLst/>
          </a:prstGeom>
          <a:solidFill>
            <a:srgbClr val="DCD8D1"/>
          </a:solidFill>
          <a:ln/>
        </p:spPr>
      </p:sp>
      <p:sp>
        <p:nvSpPr>
          <p:cNvPr id="42" name="Text 38"/>
          <p:cNvSpPr/>
          <p:nvPr/>
        </p:nvSpPr>
        <p:spPr>
          <a:xfrm>
            <a:off x="5632704"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IV · Disiplin estimasi</a:t>
            </a:r>
            <a:endParaRPr lang="en-US" sz="850" dirty="0"/>
          </a:p>
        </p:txBody>
      </p:sp>
      <p:sp>
        <p:nvSpPr>
          <p:cNvPr id="43" name="Shape 39"/>
          <p:cNvSpPr/>
          <p:nvPr/>
        </p:nvSpPr>
        <p:spPr>
          <a:xfrm>
            <a:off x="7296912" y="6400800"/>
            <a:ext cx="1572768" cy="45720"/>
          </a:xfrm>
          <a:prstGeom prst="rect">
            <a:avLst/>
          </a:prstGeom>
          <a:solidFill>
            <a:srgbClr val="DCD8D1"/>
          </a:solidFill>
          <a:ln/>
        </p:spPr>
      </p:sp>
      <p:sp>
        <p:nvSpPr>
          <p:cNvPr id="44" name="Text 40"/>
          <p:cNvSpPr/>
          <p:nvPr/>
        </p:nvSpPr>
        <p:spPr>
          <a:xfrm>
            <a:off x="7296912"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V · Hasil &amp; plafon</a:t>
            </a:r>
            <a:endParaRPr lang="en-US" sz="850" dirty="0"/>
          </a:p>
        </p:txBody>
      </p:sp>
      <p:sp>
        <p:nvSpPr>
          <p:cNvPr id="45" name="Shape 41"/>
          <p:cNvSpPr/>
          <p:nvPr/>
        </p:nvSpPr>
        <p:spPr>
          <a:xfrm>
            <a:off x="8961120" y="6400800"/>
            <a:ext cx="1572768" cy="45720"/>
          </a:xfrm>
          <a:prstGeom prst="rect">
            <a:avLst/>
          </a:prstGeom>
          <a:solidFill>
            <a:srgbClr val="A8442A"/>
          </a:solidFill>
          <a:ln/>
        </p:spPr>
      </p:sp>
      <p:sp>
        <p:nvSpPr>
          <p:cNvPr id="46" name="Text 42"/>
          <p:cNvSpPr/>
          <p:nvPr/>
        </p:nvSpPr>
        <p:spPr>
          <a:xfrm>
            <a:off x="8961120" y="6464808"/>
            <a:ext cx="1572768" cy="201168"/>
          </a:xfrm>
          <a:prstGeom prst="rect">
            <a:avLst/>
          </a:prstGeom>
          <a:noFill/>
          <a:ln/>
        </p:spPr>
        <p:txBody>
          <a:bodyPr wrap="square" lIns="0" tIns="0" rIns="0" bIns="0" rtlCol="0" anchor="ctr"/>
          <a:lstStyle/>
          <a:p>
            <a:pPr indent="0" marL="0">
              <a:buNone/>
            </a:pPr>
            <a:r>
              <a:rPr lang="en-US" sz="850" b="1" dirty="0">
                <a:solidFill>
                  <a:srgbClr val="16191D"/>
                </a:solidFill>
                <a:latin typeface="Calibri" pitchFamily="34" charset="0"/>
                <a:ea typeface="Calibri" pitchFamily="34" charset="-122"/>
                <a:cs typeface="Calibri" pitchFamily="34" charset="-120"/>
              </a:rPr>
              <a:t>VI · Reproduksi &amp; produk</a:t>
            </a:r>
            <a:endParaRPr lang="en-US" sz="850" dirty="0"/>
          </a:p>
        </p:txBody>
      </p:sp>
      <p:sp>
        <p:nvSpPr>
          <p:cNvPr id="47" name="Text 43"/>
          <p:cNvSpPr/>
          <p:nvPr/>
        </p:nvSpPr>
        <p:spPr>
          <a:xfrm>
            <a:off x="10637215" y="6382512"/>
            <a:ext cx="914400" cy="274320"/>
          </a:xfrm>
          <a:prstGeom prst="rect">
            <a:avLst/>
          </a:prstGeom>
          <a:noFill/>
          <a:ln/>
        </p:spPr>
        <p:txBody>
          <a:bodyPr wrap="square" lIns="0" tIns="0" rIns="0" bIns="0" rtlCol="0" anchor="ctr"/>
          <a:lstStyle/>
          <a:p>
            <a:pPr algn="r" indent="0" marL="0">
              <a:buNone/>
            </a:pPr>
            <a:r>
              <a:rPr lang="en-US" sz="900" b="1" dirty="0">
                <a:solidFill>
                  <a:srgbClr val="9AA0A7"/>
                </a:solidFill>
                <a:latin typeface="Calibri" pitchFamily="34" charset="0"/>
                <a:ea typeface="Calibri" pitchFamily="34" charset="-122"/>
                <a:cs typeface="Calibri"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566928"/>
            <a:ext cx="10911535" cy="914400"/>
          </a:xfrm>
          <a:prstGeom prst="rect">
            <a:avLst/>
          </a:prstGeom>
          <a:noFill/>
          <a:ln/>
        </p:spPr>
        <p:txBody>
          <a:bodyPr wrap="square" lIns="0" tIns="0" rIns="0" bIns="0" rtlCol="0" anchor="t"/>
          <a:lstStyle/>
          <a:p>
            <a:pPr indent="0" marL="0">
              <a:lnSpc>
                <a:spcPts val="3808"/>
              </a:lnSpc>
              <a:buNone/>
            </a:pPr>
            <a:r>
              <a:rPr lang="en-US" sz="3400" b="1" dirty="0">
                <a:solidFill>
                  <a:srgbClr val="16191D"/>
                </a:solidFill>
                <a:latin typeface="Cambria" pitchFamily="34" charset="0"/>
                <a:ea typeface="Cambria" pitchFamily="34" charset="-122"/>
                <a:cs typeface="Cambria" pitchFamily="34" charset="-120"/>
              </a:rPr>
              <a:t>Empat langkah, masing-masing dengan syaratnya.</a:t>
            </a:r>
            <a:endParaRPr lang="en-US" sz="3400" dirty="0"/>
          </a:p>
        </p:txBody>
      </p:sp>
      <p:sp>
        <p:nvSpPr>
          <p:cNvPr id="3" name="Text 1"/>
          <p:cNvSpPr/>
          <p:nvPr/>
        </p:nvSpPr>
        <p:spPr>
          <a:xfrm>
            <a:off x="640080" y="1645920"/>
            <a:ext cx="10911535" cy="384048"/>
          </a:xfrm>
          <a:prstGeom prst="rect">
            <a:avLst/>
          </a:prstGeom>
          <a:noFill/>
          <a:ln/>
        </p:spPr>
        <p:txBody>
          <a:bodyPr wrap="square" lIns="0" tIns="0" rIns="0" bIns="0" rtlCol="0" anchor="t"/>
          <a:lstStyle/>
          <a:p>
            <a:pPr indent="0" marL="0">
              <a:lnSpc>
                <a:spcPts val="1900"/>
              </a:lnSpc>
              <a:buNone/>
            </a:pPr>
            <a:r>
              <a:rPr lang="en-US" sz="1400" dirty="0">
                <a:solidFill>
                  <a:srgbClr val="6E747C"/>
                </a:solidFill>
                <a:latin typeface="Calibri" pitchFamily="34" charset="0"/>
                <a:ea typeface="Calibri" pitchFamily="34" charset="-122"/>
                <a:cs typeface="Calibri" pitchFamily="34" charset="-120"/>
              </a:rPr>
              <a:t>Kami menuliskan syaratnya karena melewatinya adalah cara model seperti ini gagal.</a:t>
            </a:r>
            <a:endParaRPr lang="en-US" sz="1400" dirty="0"/>
          </a:p>
        </p:txBody>
      </p:sp>
      <p:sp>
        <p:nvSpPr>
          <p:cNvPr id="4" name="Shape 2"/>
          <p:cNvSpPr/>
          <p:nvPr/>
        </p:nvSpPr>
        <p:spPr>
          <a:xfrm>
            <a:off x="640080" y="2286000"/>
            <a:ext cx="2439848" cy="2148840"/>
          </a:xfrm>
          <a:prstGeom prst="roundRect">
            <a:avLst>
              <a:gd name="adj" fmla="val 2553"/>
            </a:avLst>
          </a:prstGeom>
          <a:solidFill>
            <a:srgbClr val="F4F1EC"/>
          </a:solidFill>
          <a:ln w="9525">
            <a:solidFill>
              <a:srgbClr val="DCD8D1"/>
            </a:solidFill>
            <a:prstDash val="solid"/>
          </a:ln>
        </p:spPr>
      </p:sp>
      <p:sp>
        <p:nvSpPr>
          <p:cNvPr id="5" name="Shape 3"/>
          <p:cNvSpPr/>
          <p:nvPr/>
        </p:nvSpPr>
        <p:spPr>
          <a:xfrm>
            <a:off x="914400" y="2487168"/>
            <a:ext cx="365760" cy="365760"/>
          </a:xfrm>
          <a:prstGeom prst="ellipse">
            <a:avLst/>
          </a:prstGeom>
          <a:solidFill>
            <a:srgbClr val="2F6B5F"/>
          </a:solidFill>
          <a:ln/>
        </p:spPr>
      </p:sp>
      <p:sp>
        <p:nvSpPr>
          <p:cNvPr id="6" name="Text 4"/>
          <p:cNvSpPr/>
          <p:nvPr/>
        </p:nvSpPr>
        <p:spPr>
          <a:xfrm>
            <a:off x="914400" y="2487168"/>
            <a:ext cx="365760"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7" name="Text 5"/>
          <p:cNvSpPr/>
          <p:nvPr/>
        </p:nvSpPr>
        <p:spPr>
          <a:xfrm>
            <a:off x="914400" y="2944368"/>
            <a:ext cx="1891208" cy="548640"/>
          </a:xfrm>
          <a:prstGeom prst="rect">
            <a:avLst/>
          </a:prstGeom>
          <a:noFill/>
          <a:ln/>
        </p:spPr>
        <p:txBody>
          <a:bodyPr wrap="square" lIns="0" tIns="0" rIns="0" bIns="0" rtlCol="0" anchor="t"/>
          <a:lstStyle/>
          <a:p>
            <a:pPr indent="0" marL="0">
              <a:lnSpc>
                <a:spcPts val="1600"/>
              </a:lnSpc>
              <a:buNone/>
            </a:pPr>
            <a:r>
              <a:rPr lang="en-US" sz="1300" b="1" dirty="0">
                <a:solidFill>
                  <a:srgbClr val="16191D"/>
                </a:solidFill>
                <a:latin typeface="Cambria" pitchFamily="34" charset="0"/>
                <a:ea typeface="Cambria" pitchFamily="34" charset="-122"/>
                <a:cs typeface="Cambria" pitchFamily="34" charset="-120"/>
              </a:rPr>
              <a:t>Penapisan retrospektif</a:t>
            </a:r>
            <a:endParaRPr lang="en-US" sz="1300" dirty="0"/>
          </a:p>
        </p:txBody>
      </p:sp>
      <p:sp>
        <p:nvSpPr>
          <p:cNvPr id="8" name="Text 6"/>
          <p:cNvSpPr/>
          <p:nvPr/>
        </p:nvSpPr>
        <p:spPr>
          <a:xfrm>
            <a:off x="914400" y="3493008"/>
            <a:ext cx="1891208" cy="621792"/>
          </a:xfrm>
          <a:prstGeom prst="rect">
            <a:avLst/>
          </a:prstGeom>
          <a:noFill/>
          <a:ln/>
        </p:spPr>
        <p:txBody>
          <a:bodyPr wrap="square" lIns="0" tIns="0" rIns="0" bIns="0" rtlCol="0" anchor="t"/>
          <a:lstStyle/>
          <a:p>
            <a:pPr indent="0" marL="0">
              <a:lnSpc>
                <a:spcPts val="1400"/>
              </a:lnSpc>
              <a:buNone/>
            </a:pPr>
            <a:r>
              <a:rPr lang="en-US" sz="1050" dirty="0">
                <a:solidFill>
                  <a:srgbClr val="3A4048"/>
                </a:solidFill>
                <a:latin typeface="Calibri" pitchFamily="34" charset="0"/>
                <a:ea typeface="Calibri" pitchFamily="34" charset="-122"/>
                <a:cs typeface="Calibri" pitchFamily="34" charset="-120"/>
              </a:rPr>
              <a:t>Jalankan pada gelombang survei yang sudah ada.</a:t>
            </a:r>
            <a:endParaRPr lang="en-US" sz="1050" dirty="0"/>
          </a:p>
        </p:txBody>
      </p:sp>
      <p:sp>
        <p:nvSpPr>
          <p:cNvPr id="9" name="Text 7"/>
          <p:cNvSpPr/>
          <p:nvPr/>
        </p:nvSpPr>
        <p:spPr>
          <a:xfrm>
            <a:off x="914400" y="4059936"/>
            <a:ext cx="1891208" cy="329184"/>
          </a:xfrm>
          <a:prstGeom prst="rect">
            <a:avLst/>
          </a:prstGeom>
          <a:noFill/>
          <a:ln/>
        </p:spPr>
        <p:txBody>
          <a:bodyPr wrap="square" lIns="0" tIns="0" rIns="0" bIns="0" rtlCol="0" anchor="t"/>
          <a:lstStyle/>
          <a:p>
            <a:pPr indent="0" marL="0">
              <a:lnSpc>
                <a:spcPts val="1300"/>
              </a:lnSpc>
              <a:buNone/>
            </a:pPr>
            <a:r>
              <a:rPr lang="en-US" sz="1000" dirty="0">
                <a:solidFill>
                  <a:srgbClr val="A8442A"/>
                </a:solidFill>
                <a:latin typeface="Calibri" pitchFamily="34" charset="0"/>
                <a:ea typeface="Calibri" pitchFamily="34" charset="-122"/>
                <a:cs typeface="Calibri" pitchFamily="34" charset="-120"/>
              </a:rPr>
              <a:t>Syarat: tidak ada. Bisa hari ini.</a:t>
            </a:r>
            <a:endParaRPr lang="en-US" sz="1000" dirty="0"/>
          </a:p>
        </p:txBody>
      </p:sp>
      <p:sp>
        <p:nvSpPr>
          <p:cNvPr id="10" name="Shape 8"/>
          <p:cNvSpPr/>
          <p:nvPr/>
        </p:nvSpPr>
        <p:spPr>
          <a:xfrm>
            <a:off x="3463976" y="2286000"/>
            <a:ext cx="2439848" cy="2148840"/>
          </a:xfrm>
          <a:prstGeom prst="roundRect">
            <a:avLst>
              <a:gd name="adj" fmla="val 2553"/>
            </a:avLst>
          </a:prstGeom>
          <a:solidFill>
            <a:srgbClr val="F4F1EC"/>
          </a:solidFill>
          <a:ln w="9525">
            <a:solidFill>
              <a:srgbClr val="DCD8D1"/>
            </a:solidFill>
            <a:prstDash val="solid"/>
          </a:ln>
        </p:spPr>
      </p:sp>
      <p:sp>
        <p:nvSpPr>
          <p:cNvPr id="11" name="Shape 9"/>
          <p:cNvSpPr/>
          <p:nvPr/>
        </p:nvSpPr>
        <p:spPr>
          <a:xfrm>
            <a:off x="3738296" y="2487168"/>
            <a:ext cx="365760" cy="365760"/>
          </a:xfrm>
          <a:prstGeom prst="ellipse">
            <a:avLst/>
          </a:prstGeom>
          <a:solidFill>
            <a:srgbClr val="8FB0A4"/>
          </a:solidFill>
          <a:ln/>
        </p:spPr>
      </p:sp>
      <p:sp>
        <p:nvSpPr>
          <p:cNvPr id="12" name="Text 10"/>
          <p:cNvSpPr/>
          <p:nvPr/>
        </p:nvSpPr>
        <p:spPr>
          <a:xfrm>
            <a:off x="3738296" y="2487168"/>
            <a:ext cx="365760" cy="365760"/>
          </a:xfrm>
          <a:prstGeom prst="rect">
            <a:avLst/>
          </a:prstGeom>
          <a:noFill/>
          <a:ln/>
        </p:spPr>
        <p:txBody>
          <a:bodyPr wrap="square" lIns="0" tIns="0" rIns="0" bIns="0" rtlCol="0" anchor="ctr"/>
          <a:lstStyle/>
          <a:p>
            <a:pPr algn="ctr" indent="0" marL="0">
              <a:buNone/>
            </a:pPr>
            <a:r>
              <a:rPr lang="en-US" sz="1100" b="1" dirty="0">
                <a:solidFill>
                  <a:srgbClr val="16191D"/>
                </a:solidFill>
                <a:latin typeface="Calibri" pitchFamily="34" charset="0"/>
                <a:ea typeface="Calibri" pitchFamily="34" charset="-122"/>
                <a:cs typeface="Calibri" pitchFamily="34" charset="-120"/>
              </a:rPr>
              <a:t>2</a:t>
            </a:r>
            <a:endParaRPr lang="en-US" sz="1100" dirty="0"/>
          </a:p>
        </p:txBody>
      </p:sp>
      <p:sp>
        <p:nvSpPr>
          <p:cNvPr id="13" name="Text 11"/>
          <p:cNvSpPr/>
          <p:nvPr/>
        </p:nvSpPr>
        <p:spPr>
          <a:xfrm>
            <a:off x="3738296" y="2944368"/>
            <a:ext cx="1891208" cy="548640"/>
          </a:xfrm>
          <a:prstGeom prst="rect">
            <a:avLst/>
          </a:prstGeom>
          <a:noFill/>
          <a:ln/>
        </p:spPr>
        <p:txBody>
          <a:bodyPr wrap="square" lIns="0" tIns="0" rIns="0" bIns="0" rtlCol="0" anchor="t"/>
          <a:lstStyle/>
          <a:p>
            <a:pPr indent="0" marL="0">
              <a:lnSpc>
                <a:spcPts val="1600"/>
              </a:lnSpc>
              <a:buNone/>
            </a:pPr>
            <a:r>
              <a:rPr lang="en-US" sz="1300" b="1" dirty="0">
                <a:solidFill>
                  <a:srgbClr val="16191D"/>
                </a:solidFill>
                <a:latin typeface="Cambria" pitchFamily="34" charset="0"/>
                <a:ea typeface="Cambria" pitchFamily="34" charset="-122"/>
                <a:cs typeface="Cambria" pitchFamily="34" charset="-120"/>
              </a:rPr>
              <a:t>Prioritisasi tindak lanjut</a:t>
            </a:r>
            <a:endParaRPr lang="en-US" sz="1300" dirty="0"/>
          </a:p>
        </p:txBody>
      </p:sp>
      <p:sp>
        <p:nvSpPr>
          <p:cNvPr id="14" name="Text 12"/>
          <p:cNvSpPr/>
          <p:nvPr/>
        </p:nvSpPr>
        <p:spPr>
          <a:xfrm>
            <a:off x="3738296" y="3493008"/>
            <a:ext cx="1891208" cy="621792"/>
          </a:xfrm>
          <a:prstGeom prst="rect">
            <a:avLst/>
          </a:prstGeom>
          <a:noFill/>
          <a:ln/>
        </p:spPr>
        <p:txBody>
          <a:bodyPr wrap="square" lIns="0" tIns="0" rIns="0" bIns="0" rtlCol="0" anchor="t"/>
          <a:lstStyle/>
          <a:p>
            <a:pPr indent="0" marL="0">
              <a:lnSpc>
                <a:spcPts val="1400"/>
              </a:lnSpc>
              <a:buNone/>
            </a:pPr>
            <a:r>
              <a:rPr lang="en-US" sz="1050" dirty="0">
                <a:solidFill>
                  <a:srgbClr val="3A4048"/>
                </a:solidFill>
                <a:latin typeface="Calibri" pitchFamily="34" charset="0"/>
                <a:ea typeface="Calibri" pitchFamily="34" charset="-122"/>
                <a:cs typeface="Calibri" pitchFamily="34" charset="-120"/>
              </a:rPr>
              <a:t>Pakai peringkat E[y], bukan label, untuk menyusun antrean.</a:t>
            </a:r>
            <a:endParaRPr lang="en-US" sz="1050" dirty="0"/>
          </a:p>
        </p:txBody>
      </p:sp>
      <p:sp>
        <p:nvSpPr>
          <p:cNvPr id="15" name="Text 13"/>
          <p:cNvSpPr/>
          <p:nvPr/>
        </p:nvSpPr>
        <p:spPr>
          <a:xfrm>
            <a:off x="3738296" y="4059936"/>
            <a:ext cx="1891208" cy="329184"/>
          </a:xfrm>
          <a:prstGeom prst="rect">
            <a:avLst/>
          </a:prstGeom>
          <a:noFill/>
          <a:ln/>
        </p:spPr>
        <p:txBody>
          <a:bodyPr wrap="square" lIns="0" tIns="0" rIns="0" bIns="0" rtlCol="0" anchor="t"/>
          <a:lstStyle/>
          <a:p>
            <a:pPr indent="0" marL="0">
              <a:lnSpc>
                <a:spcPts val="1300"/>
              </a:lnSpc>
              <a:buNone/>
            </a:pPr>
            <a:r>
              <a:rPr lang="en-US" sz="1000" dirty="0">
                <a:solidFill>
                  <a:srgbClr val="A8442A"/>
                </a:solidFill>
                <a:latin typeface="Calibri" pitchFamily="34" charset="0"/>
                <a:ea typeface="Calibri" pitchFamily="34" charset="-122"/>
                <a:cs typeface="Calibri" pitchFamily="34" charset="-120"/>
              </a:rPr>
              <a:t>Syarat: t₃ dikalibrasi untuk sensitivitas.</a:t>
            </a:r>
            <a:endParaRPr lang="en-US" sz="1000" dirty="0"/>
          </a:p>
        </p:txBody>
      </p:sp>
      <p:sp>
        <p:nvSpPr>
          <p:cNvPr id="16" name="Shape 14"/>
          <p:cNvSpPr/>
          <p:nvPr/>
        </p:nvSpPr>
        <p:spPr>
          <a:xfrm>
            <a:off x="6287872" y="2286000"/>
            <a:ext cx="2439848" cy="2148840"/>
          </a:xfrm>
          <a:prstGeom prst="roundRect">
            <a:avLst>
              <a:gd name="adj" fmla="val 2553"/>
            </a:avLst>
          </a:prstGeom>
          <a:solidFill>
            <a:srgbClr val="FFFFFF"/>
          </a:solidFill>
          <a:ln w="9525">
            <a:solidFill>
              <a:srgbClr val="DCD8D1"/>
            </a:solidFill>
            <a:prstDash val="solid"/>
          </a:ln>
        </p:spPr>
      </p:sp>
      <p:sp>
        <p:nvSpPr>
          <p:cNvPr id="17" name="Shape 15"/>
          <p:cNvSpPr/>
          <p:nvPr/>
        </p:nvSpPr>
        <p:spPr>
          <a:xfrm>
            <a:off x="6562192" y="2487168"/>
            <a:ext cx="365760" cy="365760"/>
          </a:xfrm>
          <a:prstGeom prst="ellipse">
            <a:avLst/>
          </a:prstGeom>
          <a:solidFill>
            <a:srgbClr val="D8A25E"/>
          </a:solidFill>
          <a:ln/>
        </p:spPr>
      </p:sp>
      <p:sp>
        <p:nvSpPr>
          <p:cNvPr id="18" name="Text 16"/>
          <p:cNvSpPr/>
          <p:nvPr/>
        </p:nvSpPr>
        <p:spPr>
          <a:xfrm>
            <a:off x="6562192" y="2487168"/>
            <a:ext cx="365760"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19" name="Text 17"/>
          <p:cNvSpPr/>
          <p:nvPr/>
        </p:nvSpPr>
        <p:spPr>
          <a:xfrm>
            <a:off x="6562192" y="2944368"/>
            <a:ext cx="1891208" cy="548640"/>
          </a:xfrm>
          <a:prstGeom prst="rect">
            <a:avLst/>
          </a:prstGeom>
          <a:noFill/>
          <a:ln/>
        </p:spPr>
        <p:txBody>
          <a:bodyPr wrap="square" lIns="0" tIns="0" rIns="0" bIns="0" rtlCol="0" anchor="t"/>
          <a:lstStyle/>
          <a:p>
            <a:pPr indent="0" marL="0">
              <a:lnSpc>
                <a:spcPts val="1600"/>
              </a:lnSpc>
              <a:buNone/>
            </a:pPr>
            <a:r>
              <a:rPr lang="en-US" sz="1300" b="1" dirty="0">
                <a:solidFill>
                  <a:srgbClr val="16191D"/>
                </a:solidFill>
                <a:latin typeface="Cambria" pitchFamily="34" charset="0"/>
                <a:ea typeface="Cambria" pitchFamily="34" charset="-122"/>
                <a:cs typeface="Cambria" pitchFamily="34" charset="-120"/>
              </a:rPr>
              <a:t>Instrumen 17 pertanyaan</a:t>
            </a:r>
            <a:endParaRPr lang="en-US" sz="1300" dirty="0"/>
          </a:p>
        </p:txBody>
      </p:sp>
      <p:sp>
        <p:nvSpPr>
          <p:cNvPr id="20" name="Text 18"/>
          <p:cNvSpPr/>
          <p:nvPr/>
        </p:nvSpPr>
        <p:spPr>
          <a:xfrm>
            <a:off x="6562192" y="3493008"/>
            <a:ext cx="1891208" cy="621792"/>
          </a:xfrm>
          <a:prstGeom prst="rect">
            <a:avLst/>
          </a:prstGeom>
          <a:noFill/>
          <a:ln/>
        </p:spPr>
        <p:txBody>
          <a:bodyPr wrap="square" lIns="0" tIns="0" rIns="0" bIns="0" rtlCol="0" anchor="t"/>
          <a:lstStyle/>
          <a:p>
            <a:pPr indent="0" marL="0">
              <a:lnSpc>
                <a:spcPts val="1400"/>
              </a:lnSpc>
              <a:buNone/>
            </a:pPr>
            <a:r>
              <a:rPr lang="en-US" sz="1050" dirty="0">
                <a:solidFill>
                  <a:srgbClr val="3A4048"/>
                </a:solidFill>
                <a:latin typeface="Calibri" pitchFamily="34" charset="0"/>
                <a:ea typeface="Calibri" pitchFamily="34" charset="-122"/>
                <a:cs typeface="Calibri" pitchFamily="34" charset="-120"/>
              </a:rPr>
              <a:t>Wawancara singkat menggantikan kuesioner penuh.</a:t>
            </a:r>
            <a:endParaRPr lang="en-US" sz="1050" dirty="0"/>
          </a:p>
        </p:txBody>
      </p:sp>
      <p:sp>
        <p:nvSpPr>
          <p:cNvPr id="21" name="Text 19"/>
          <p:cNvSpPr/>
          <p:nvPr/>
        </p:nvSpPr>
        <p:spPr>
          <a:xfrm>
            <a:off x="6562192" y="4059936"/>
            <a:ext cx="1891208" cy="329184"/>
          </a:xfrm>
          <a:prstGeom prst="rect">
            <a:avLst/>
          </a:prstGeom>
          <a:noFill/>
          <a:ln/>
        </p:spPr>
        <p:txBody>
          <a:bodyPr wrap="square" lIns="0" tIns="0" rIns="0" bIns="0" rtlCol="0" anchor="t"/>
          <a:lstStyle/>
          <a:p>
            <a:pPr indent="0" marL="0">
              <a:lnSpc>
                <a:spcPts val="1300"/>
              </a:lnSpc>
              <a:buNone/>
            </a:pPr>
            <a:r>
              <a:rPr lang="en-US" sz="1000" dirty="0">
                <a:solidFill>
                  <a:srgbClr val="A8442A"/>
                </a:solidFill>
                <a:latin typeface="Calibri" pitchFamily="34" charset="0"/>
                <a:ea typeface="Calibri" pitchFamily="34" charset="-122"/>
                <a:cs typeface="Calibri" pitchFamily="34" charset="-120"/>
              </a:rPr>
              <a:t>Syarat: validasi ulang pada populasi sasaran.</a:t>
            </a:r>
            <a:endParaRPr lang="en-US" sz="1000" dirty="0"/>
          </a:p>
        </p:txBody>
      </p:sp>
      <p:sp>
        <p:nvSpPr>
          <p:cNvPr id="22" name="Shape 20"/>
          <p:cNvSpPr/>
          <p:nvPr/>
        </p:nvSpPr>
        <p:spPr>
          <a:xfrm>
            <a:off x="9111767" y="2286000"/>
            <a:ext cx="2439848" cy="2148840"/>
          </a:xfrm>
          <a:prstGeom prst="roundRect">
            <a:avLst>
              <a:gd name="adj" fmla="val 2553"/>
            </a:avLst>
          </a:prstGeom>
          <a:solidFill>
            <a:srgbClr val="FFFFFF"/>
          </a:solidFill>
          <a:ln w="9525">
            <a:solidFill>
              <a:srgbClr val="DCD8D1"/>
            </a:solidFill>
            <a:prstDash val="solid"/>
          </a:ln>
        </p:spPr>
      </p:sp>
      <p:sp>
        <p:nvSpPr>
          <p:cNvPr id="23" name="Shape 21"/>
          <p:cNvSpPr/>
          <p:nvPr/>
        </p:nvSpPr>
        <p:spPr>
          <a:xfrm>
            <a:off x="9386087" y="2487168"/>
            <a:ext cx="365760" cy="365760"/>
          </a:xfrm>
          <a:prstGeom prst="ellipse">
            <a:avLst/>
          </a:prstGeom>
          <a:solidFill>
            <a:srgbClr val="A8442A"/>
          </a:solidFill>
          <a:ln/>
        </p:spPr>
      </p:sp>
      <p:sp>
        <p:nvSpPr>
          <p:cNvPr id="24" name="Text 22"/>
          <p:cNvSpPr/>
          <p:nvPr/>
        </p:nvSpPr>
        <p:spPr>
          <a:xfrm>
            <a:off x="9386087" y="2487168"/>
            <a:ext cx="365760"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25" name="Text 23"/>
          <p:cNvSpPr/>
          <p:nvPr/>
        </p:nvSpPr>
        <p:spPr>
          <a:xfrm>
            <a:off x="9386087" y="2944368"/>
            <a:ext cx="1891208" cy="548640"/>
          </a:xfrm>
          <a:prstGeom prst="rect">
            <a:avLst/>
          </a:prstGeom>
          <a:noFill/>
          <a:ln/>
        </p:spPr>
        <p:txBody>
          <a:bodyPr wrap="square" lIns="0" tIns="0" rIns="0" bIns="0" rtlCol="0" anchor="t"/>
          <a:lstStyle/>
          <a:p>
            <a:pPr indent="0" marL="0">
              <a:lnSpc>
                <a:spcPts val="1600"/>
              </a:lnSpc>
              <a:buNone/>
            </a:pPr>
            <a:r>
              <a:rPr lang="en-US" sz="1300" b="1" dirty="0">
                <a:solidFill>
                  <a:srgbClr val="16191D"/>
                </a:solidFill>
                <a:latin typeface="Cambria" pitchFamily="34" charset="0"/>
                <a:ea typeface="Cambria" pitchFamily="34" charset="-122"/>
                <a:cs typeface="Cambria" pitchFamily="34" charset="-120"/>
              </a:rPr>
              <a:t>Tambah variabel</a:t>
            </a:r>
            <a:endParaRPr lang="en-US" sz="1300" dirty="0"/>
          </a:p>
        </p:txBody>
      </p:sp>
      <p:sp>
        <p:nvSpPr>
          <p:cNvPr id="26" name="Text 24"/>
          <p:cNvSpPr/>
          <p:nvPr/>
        </p:nvSpPr>
        <p:spPr>
          <a:xfrm>
            <a:off x="9386087" y="3493008"/>
            <a:ext cx="1891208" cy="621792"/>
          </a:xfrm>
          <a:prstGeom prst="rect">
            <a:avLst/>
          </a:prstGeom>
          <a:noFill/>
          <a:ln/>
        </p:spPr>
        <p:txBody>
          <a:bodyPr wrap="square" lIns="0" tIns="0" rIns="0" bIns="0" rtlCol="0" anchor="t"/>
          <a:lstStyle/>
          <a:p>
            <a:pPr indent="0" marL="0">
              <a:lnSpc>
                <a:spcPts val="1400"/>
              </a:lnSpc>
              <a:buNone/>
            </a:pPr>
            <a:r>
              <a:rPr lang="en-US" sz="1050" dirty="0">
                <a:solidFill>
                  <a:srgbClr val="3A4048"/>
                </a:solidFill>
                <a:latin typeface="Calibri" pitchFamily="34" charset="0"/>
                <a:ea typeface="Calibri" pitchFamily="34" charset="-122"/>
                <a:cs typeface="Calibri" pitchFamily="34" charset="-120"/>
              </a:rPr>
              <a:t>Kepribadian dan hubungan sosial adalah yang hilang.</a:t>
            </a:r>
            <a:endParaRPr lang="en-US" sz="1050" dirty="0"/>
          </a:p>
        </p:txBody>
      </p:sp>
      <p:sp>
        <p:nvSpPr>
          <p:cNvPr id="27" name="Text 25"/>
          <p:cNvSpPr/>
          <p:nvPr/>
        </p:nvSpPr>
        <p:spPr>
          <a:xfrm>
            <a:off x="9386087" y="4059936"/>
            <a:ext cx="1891208" cy="329184"/>
          </a:xfrm>
          <a:prstGeom prst="rect">
            <a:avLst/>
          </a:prstGeom>
          <a:noFill/>
          <a:ln/>
        </p:spPr>
        <p:txBody>
          <a:bodyPr wrap="square" lIns="0" tIns="0" rIns="0" bIns="0" rtlCol="0" anchor="t"/>
          <a:lstStyle/>
          <a:p>
            <a:pPr indent="0" marL="0">
              <a:lnSpc>
                <a:spcPts val="1300"/>
              </a:lnSpc>
              <a:buNone/>
            </a:pPr>
            <a:r>
              <a:rPr lang="en-US" sz="1000" dirty="0">
                <a:solidFill>
                  <a:srgbClr val="A8442A"/>
                </a:solidFill>
                <a:latin typeface="Calibri" pitchFamily="34" charset="0"/>
                <a:ea typeface="Calibri" pitchFamily="34" charset="-122"/>
                <a:cs typeface="Calibri" pitchFamily="34" charset="-120"/>
              </a:rPr>
              <a:t>Syarat: pengumpulan data baru.</a:t>
            </a:r>
            <a:endParaRPr lang="en-US" sz="1000" dirty="0"/>
          </a:p>
        </p:txBody>
      </p:sp>
      <p:sp>
        <p:nvSpPr>
          <p:cNvPr id="28" name="Text 26"/>
          <p:cNvSpPr/>
          <p:nvPr/>
        </p:nvSpPr>
        <p:spPr>
          <a:xfrm>
            <a:off x="640080" y="4626864"/>
            <a:ext cx="10911535" cy="310896"/>
          </a:xfrm>
          <a:prstGeom prst="rect">
            <a:avLst/>
          </a:prstGeom>
          <a:noFill/>
          <a:ln/>
        </p:spPr>
        <p:txBody>
          <a:bodyPr wrap="square" lIns="0" tIns="0" rIns="0" bIns="0" rtlCol="0" anchor="ctr"/>
          <a:lstStyle/>
          <a:p>
            <a:pPr indent="0" marL="0">
              <a:buNone/>
            </a:pPr>
            <a:r>
              <a:rPr lang="en-US" sz="1500" b="1" dirty="0">
                <a:solidFill>
                  <a:srgbClr val="16191D"/>
                </a:solidFill>
                <a:latin typeface="Cambria" pitchFamily="34" charset="0"/>
                <a:ea typeface="Cambria" pitchFamily="34" charset="-122"/>
                <a:cs typeface="Cambria" pitchFamily="34" charset="-120"/>
              </a:rPr>
              <a:t>Tiga saran yang kami pegang sendiri</a:t>
            </a:r>
            <a:endParaRPr lang="en-US" sz="1500" dirty="0"/>
          </a:p>
        </p:txBody>
      </p:sp>
      <p:sp>
        <p:nvSpPr>
          <p:cNvPr id="29" name="Text 27"/>
          <p:cNvSpPr/>
          <p:nvPr/>
        </p:nvSpPr>
        <p:spPr>
          <a:xfrm>
            <a:off x="640080" y="5010912"/>
            <a:ext cx="274320" cy="365760"/>
          </a:xfrm>
          <a:prstGeom prst="rect">
            <a:avLst/>
          </a:prstGeom>
          <a:noFill/>
          <a:ln/>
        </p:spPr>
        <p:txBody>
          <a:bodyPr wrap="square" lIns="0" tIns="0" rIns="0" bIns="0" rtlCol="0" anchor="ctr"/>
          <a:lstStyle/>
          <a:p>
            <a:pPr indent="0" marL="0">
              <a:buNone/>
            </a:pPr>
            <a:r>
              <a:rPr lang="en-US" sz="1100" b="1" dirty="0">
                <a:solidFill>
                  <a:srgbClr val="2F6B5F"/>
                </a:solidFill>
                <a:latin typeface="Calibri" pitchFamily="34" charset="0"/>
                <a:ea typeface="Calibri" pitchFamily="34" charset="-122"/>
                <a:cs typeface="Calibri" pitchFamily="34" charset="-120"/>
              </a:rPr>
              <a:t>1</a:t>
            </a:r>
            <a:endParaRPr lang="en-US" sz="1100" dirty="0"/>
          </a:p>
        </p:txBody>
      </p:sp>
      <p:sp>
        <p:nvSpPr>
          <p:cNvPr id="30" name="Text 28"/>
          <p:cNvSpPr/>
          <p:nvPr/>
        </p:nvSpPr>
        <p:spPr>
          <a:xfrm>
            <a:off x="969264" y="5010912"/>
            <a:ext cx="4114800" cy="365760"/>
          </a:xfrm>
          <a:prstGeom prst="rect">
            <a:avLst/>
          </a:prstGeom>
          <a:noFill/>
          <a:ln/>
        </p:spPr>
        <p:txBody>
          <a:bodyPr wrap="square" lIns="0" tIns="0" rIns="0" bIns="0" rtlCol="0" anchor="ctr"/>
          <a:lstStyle/>
          <a:p>
            <a:pPr indent="0" marL="0">
              <a:buNone/>
            </a:pPr>
            <a:r>
              <a:rPr lang="en-US" sz="1200" b="1" dirty="0">
                <a:solidFill>
                  <a:srgbClr val="16191D"/>
                </a:solidFill>
                <a:latin typeface="Calibri" pitchFamily="34" charset="0"/>
                <a:ea typeface="Calibri" pitchFamily="34" charset="-122"/>
                <a:cs typeface="Calibri" pitchFamily="34" charset="-120"/>
              </a:rPr>
              <a:t>Pakai untuk populasi, bukan individu</a:t>
            </a:r>
            <a:endParaRPr lang="en-US" sz="1200" dirty="0"/>
          </a:p>
        </p:txBody>
      </p:sp>
      <p:sp>
        <p:nvSpPr>
          <p:cNvPr id="31" name="Text 29"/>
          <p:cNvSpPr/>
          <p:nvPr/>
        </p:nvSpPr>
        <p:spPr>
          <a:xfrm>
            <a:off x="5166360" y="5010912"/>
            <a:ext cx="6385255" cy="365760"/>
          </a:xfrm>
          <a:prstGeom prst="rect">
            <a:avLst/>
          </a:prstGeom>
          <a:noFill/>
          <a:ln/>
        </p:spPr>
        <p:txBody>
          <a:bodyPr wrap="square" lIns="0" tIns="0" rIns="0" bIns="0" rtlCol="0" anchor="ctr"/>
          <a:lstStyle/>
          <a:p>
            <a:pPr indent="0" marL="0">
              <a:buNone/>
            </a:pPr>
            <a:r>
              <a:rPr lang="en-US" sz="1100" dirty="0">
                <a:solidFill>
                  <a:srgbClr val="3A4048"/>
                </a:solidFill>
                <a:latin typeface="Calibri" pitchFamily="34" charset="0"/>
                <a:ea typeface="Calibri" pitchFamily="34" charset="-122"/>
                <a:cs typeface="Calibri" pitchFamily="34" charset="-120"/>
              </a:rPr>
              <a:t>Sebaran E[y] kelas 1 dan 2 bertumpang tindih lebar. Untuk seribu orang agregatnya andal.</a:t>
            </a:r>
            <a:endParaRPr lang="en-US" sz="1100" dirty="0"/>
          </a:p>
        </p:txBody>
      </p:sp>
      <p:sp>
        <p:nvSpPr>
          <p:cNvPr id="32" name="Shape 30"/>
          <p:cNvSpPr/>
          <p:nvPr/>
        </p:nvSpPr>
        <p:spPr>
          <a:xfrm>
            <a:off x="640080" y="5394960"/>
            <a:ext cx="10911535" cy="0"/>
          </a:xfrm>
          <a:prstGeom prst="line">
            <a:avLst/>
          </a:prstGeom>
          <a:noFill/>
          <a:ln w="7620">
            <a:solidFill>
              <a:srgbClr val="DCD8D1"/>
            </a:solidFill>
            <a:prstDash val="solid"/>
          </a:ln>
        </p:spPr>
      </p:sp>
      <p:sp>
        <p:nvSpPr>
          <p:cNvPr id="33" name="Text 31"/>
          <p:cNvSpPr/>
          <p:nvPr/>
        </p:nvSpPr>
        <p:spPr>
          <a:xfrm>
            <a:off x="640080" y="5413248"/>
            <a:ext cx="274320" cy="365760"/>
          </a:xfrm>
          <a:prstGeom prst="rect">
            <a:avLst/>
          </a:prstGeom>
          <a:noFill/>
          <a:ln/>
        </p:spPr>
        <p:txBody>
          <a:bodyPr wrap="square" lIns="0" tIns="0" rIns="0" bIns="0" rtlCol="0" anchor="ctr"/>
          <a:lstStyle/>
          <a:p>
            <a:pPr indent="0" marL="0">
              <a:buNone/>
            </a:pPr>
            <a:r>
              <a:rPr lang="en-US" sz="1100" b="1" dirty="0">
                <a:solidFill>
                  <a:srgbClr val="8FB0A4"/>
                </a:solidFill>
                <a:latin typeface="Calibri" pitchFamily="34" charset="0"/>
                <a:ea typeface="Calibri" pitchFamily="34" charset="-122"/>
                <a:cs typeface="Calibri" pitchFamily="34" charset="-120"/>
              </a:rPr>
              <a:t>2</a:t>
            </a:r>
            <a:endParaRPr lang="en-US" sz="1100" dirty="0"/>
          </a:p>
        </p:txBody>
      </p:sp>
      <p:sp>
        <p:nvSpPr>
          <p:cNvPr id="34" name="Text 32"/>
          <p:cNvSpPr/>
          <p:nvPr/>
        </p:nvSpPr>
        <p:spPr>
          <a:xfrm>
            <a:off x="969264" y="5413248"/>
            <a:ext cx="4114800" cy="365760"/>
          </a:xfrm>
          <a:prstGeom prst="rect">
            <a:avLst/>
          </a:prstGeom>
          <a:noFill/>
          <a:ln/>
        </p:spPr>
        <p:txBody>
          <a:bodyPr wrap="square" lIns="0" tIns="0" rIns="0" bIns="0" rtlCol="0" anchor="ctr"/>
          <a:lstStyle/>
          <a:p>
            <a:pPr indent="0" marL="0">
              <a:buNone/>
            </a:pPr>
            <a:r>
              <a:rPr lang="en-US" sz="1200" b="1" dirty="0">
                <a:solidFill>
                  <a:srgbClr val="16191D"/>
                </a:solidFill>
                <a:latin typeface="Calibri" pitchFamily="34" charset="0"/>
                <a:ea typeface="Calibri" pitchFamily="34" charset="-122"/>
                <a:cs typeface="Calibri" pitchFamily="34" charset="-120"/>
              </a:rPr>
              <a:t>Tambah variabel, bukan tambah model</a:t>
            </a:r>
            <a:endParaRPr lang="en-US" sz="1200" dirty="0"/>
          </a:p>
        </p:txBody>
      </p:sp>
      <p:sp>
        <p:nvSpPr>
          <p:cNvPr id="35" name="Text 33"/>
          <p:cNvSpPr/>
          <p:nvPr/>
        </p:nvSpPr>
        <p:spPr>
          <a:xfrm>
            <a:off x="5166360" y="5413248"/>
            <a:ext cx="6385255" cy="365760"/>
          </a:xfrm>
          <a:prstGeom prst="rect">
            <a:avLst/>
          </a:prstGeom>
          <a:noFill/>
          <a:ln/>
        </p:spPr>
        <p:txBody>
          <a:bodyPr wrap="square" lIns="0" tIns="0" rIns="0" bIns="0" rtlCol="0" anchor="ctr"/>
          <a:lstStyle/>
          <a:p>
            <a:pPr indent="0" marL="0">
              <a:buNone/>
            </a:pPr>
            <a:r>
              <a:rPr lang="en-US" sz="1100" dirty="0">
                <a:solidFill>
                  <a:srgbClr val="3A4048"/>
                </a:solidFill>
                <a:latin typeface="Calibri" pitchFamily="34" charset="0"/>
                <a:ea typeface="Calibri" pitchFamily="34" charset="-122"/>
                <a:cs typeface="Calibri" pitchFamily="34" charset="-120"/>
              </a:rPr>
              <a:t>Kurva belajar menunjukkan pengembalian dari algoritma sudah habis.</a:t>
            </a:r>
            <a:endParaRPr lang="en-US" sz="1100" dirty="0"/>
          </a:p>
        </p:txBody>
      </p:sp>
      <p:sp>
        <p:nvSpPr>
          <p:cNvPr id="36" name="Shape 34"/>
          <p:cNvSpPr/>
          <p:nvPr/>
        </p:nvSpPr>
        <p:spPr>
          <a:xfrm>
            <a:off x="640080" y="5797296"/>
            <a:ext cx="10911535" cy="0"/>
          </a:xfrm>
          <a:prstGeom prst="line">
            <a:avLst/>
          </a:prstGeom>
          <a:noFill/>
          <a:ln w="7620">
            <a:solidFill>
              <a:srgbClr val="DCD8D1"/>
            </a:solidFill>
            <a:prstDash val="solid"/>
          </a:ln>
        </p:spPr>
      </p:sp>
      <p:sp>
        <p:nvSpPr>
          <p:cNvPr id="37" name="Text 35"/>
          <p:cNvSpPr/>
          <p:nvPr/>
        </p:nvSpPr>
        <p:spPr>
          <a:xfrm>
            <a:off x="640080" y="5815584"/>
            <a:ext cx="274320" cy="365760"/>
          </a:xfrm>
          <a:prstGeom prst="rect">
            <a:avLst/>
          </a:prstGeom>
          <a:noFill/>
          <a:ln/>
        </p:spPr>
        <p:txBody>
          <a:bodyPr wrap="square" lIns="0" tIns="0" rIns="0" bIns="0" rtlCol="0" anchor="ctr"/>
          <a:lstStyle/>
          <a:p>
            <a:pPr indent="0" marL="0">
              <a:buNone/>
            </a:pPr>
            <a:r>
              <a:rPr lang="en-US" sz="1100" b="1" dirty="0">
                <a:solidFill>
                  <a:srgbClr val="D8A25E"/>
                </a:solidFill>
                <a:latin typeface="Calibri" pitchFamily="34" charset="0"/>
                <a:ea typeface="Calibri" pitchFamily="34" charset="-122"/>
                <a:cs typeface="Calibri" pitchFamily="34" charset="-120"/>
              </a:rPr>
              <a:t>3</a:t>
            </a:r>
            <a:endParaRPr lang="en-US" sz="1100" dirty="0"/>
          </a:p>
        </p:txBody>
      </p:sp>
      <p:sp>
        <p:nvSpPr>
          <p:cNvPr id="38" name="Text 36"/>
          <p:cNvSpPr/>
          <p:nvPr/>
        </p:nvSpPr>
        <p:spPr>
          <a:xfrm>
            <a:off x="969264" y="5815584"/>
            <a:ext cx="4114800" cy="365760"/>
          </a:xfrm>
          <a:prstGeom prst="rect">
            <a:avLst/>
          </a:prstGeom>
          <a:noFill/>
          <a:ln/>
        </p:spPr>
        <p:txBody>
          <a:bodyPr wrap="square" lIns="0" tIns="0" rIns="0" bIns="0" rtlCol="0" anchor="ctr"/>
          <a:lstStyle/>
          <a:p>
            <a:pPr indent="0" marL="0">
              <a:buNone/>
            </a:pPr>
            <a:r>
              <a:rPr lang="en-US" sz="1200" b="1" dirty="0">
                <a:solidFill>
                  <a:srgbClr val="16191D"/>
                </a:solidFill>
                <a:latin typeface="Calibri" pitchFamily="34" charset="0"/>
                <a:ea typeface="Calibri" pitchFamily="34" charset="-122"/>
                <a:cs typeface="Calibri" pitchFamily="34" charset="-120"/>
              </a:rPr>
              <a:t>Baca 0,47 sampai 0,50 sebagai satu kelompok</a:t>
            </a:r>
            <a:endParaRPr lang="en-US" sz="1200" dirty="0"/>
          </a:p>
        </p:txBody>
      </p:sp>
      <p:sp>
        <p:nvSpPr>
          <p:cNvPr id="39" name="Text 37"/>
          <p:cNvSpPr/>
          <p:nvPr/>
        </p:nvSpPr>
        <p:spPr>
          <a:xfrm>
            <a:off x="5166360" y="5815584"/>
            <a:ext cx="6385255" cy="365760"/>
          </a:xfrm>
          <a:prstGeom prst="rect">
            <a:avLst/>
          </a:prstGeom>
          <a:noFill/>
          <a:ln/>
        </p:spPr>
        <p:txBody>
          <a:bodyPr wrap="square" lIns="0" tIns="0" rIns="0" bIns="0" rtlCol="0" anchor="ctr"/>
          <a:lstStyle/>
          <a:p>
            <a:pPr indent="0" marL="0">
              <a:buNone/>
            </a:pPr>
            <a:r>
              <a:rPr lang="en-US" sz="1100" dirty="0">
                <a:solidFill>
                  <a:srgbClr val="3A4048"/>
                </a:solidFill>
                <a:latin typeface="Calibri" pitchFamily="34" charset="0"/>
                <a:ea typeface="Calibri" pitchFamily="34" charset="-122"/>
                <a:cs typeface="Calibri" pitchFamily="34" charset="-120"/>
              </a:rPr>
              <a:t>Selisih di dalam kisaran itu lebih mencerminkan derau sampling daripada kualitas metodologi.</a:t>
            </a:r>
            <a:endParaRPr lang="en-US" sz="1100" dirty="0"/>
          </a:p>
        </p:txBody>
      </p:sp>
      <p:sp>
        <p:nvSpPr>
          <p:cNvPr id="41" name="Shape 38"/>
          <p:cNvSpPr/>
          <p:nvPr/>
        </p:nvSpPr>
        <p:spPr>
          <a:xfrm>
            <a:off x="640080" y="6400800"/>
            <a:ext cx="1572768" cy="45720"/>
          </a:xfrm>
          <a:prstGeom prst="rect">
            <a:avLst/>
          </a:prstGeom>
          <a:solidFill>
            <a:srgbClr val="DCD8D1"/>
          </a:solidFill>
          <a:ln/>
        </p:spPr>
      </p:sp>
      <p:sp>
        <p:nvSpPr>
          <p:cNvPr id="42" name="Text 39"/>
          <p:cNvSpPr/>
          <p:nvPr/>
        </p:nvSpPr>
        <p:spPr>
          <a:xfrm>
            <a:off x="640080"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I · Latar &amp; data</a:t>
            </a:r>
            <a:endParaRPr lang="en-US" sz="850" dirty="0"/>
          </a:p>
        </p:txBody>
      </p:sp>
      <p:sp>
        <p:nvSpPr>
          <p:cNvPr id="43" name="Shape 40"/>
          <p:cNvSpPr/>
          <p:nvPr/>
        </p:nvSpPr>
        <p:spPr>
          <a:xfrm>
            <a:off x="2304288" y="6400800"/>
            <a:ext cx="1572768" cy="45720"/>
          </a:xfrm>
          <a:prstGeom prst="rect">
            <a:avLst/>
          </a:prstGeom>
          <a:solidFill>
            <a:srgbClr val="DCD8D1"/>
          </a:solidFill>
          <a:ln/>
        </p:spPr>
      </p:sp>
      <p:sp>
        <p:nvSpPr>
          <p:cNvPr id="44" name="Text 41"/>
          <p:cNvSpPr/>
          <p:nvPr/>
        </p:nvSpPr>
        <p:spPr>
          <a:xfrm>
            <a:off x="2304288"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II · EDA</a:t>
            </a:r>
            <a:endParaRPr lang="en-US" sz="850" dirty="0"/>
          </a:p>
        </p:txBody>
      </p:sp>
      <p:sp>
        <p:nvSpPr>
          <p:cNvPr id="45" name="Shape 42"/>
          <p:cNvSpPr/>
          <p:nvPr/>
        </p:nvSpPr>
        <p:spPr>
          <a:xfrm>
            <a:off x="3968496" y="6400800"/>
            <a:ext cx="1572768" cy="45720"/>
          </a:xfrm>
          <a:prstGeom prst="rect">
            <a:avLst/>
          </a:prstGeom>
          <a:solidFill>
            <a:srgbClr val="DCD8D1"/>
          </a:solidFill>
          <a:ln/>
        </p:spPr>
      </p:sp>
      <p:sp>
        <p:nvSpPr>
          <p:cNvPr id="46" name="Text 43"/>
          <p:cNvSpPr/>
          <p:nvPr/>
        </p:nvSpPr>
        <p:spPr>
          <a:xfrm>
            <a:off x="3968496"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III · Pipeline</a:t>
            </a:r>
            <a:endParaRPr lang="en-US" sz="850" dirty="0"/>
          </a:p>
        </p:txBody>
      </p:sp>
      <p:sp>
        <p:nvSpPr>
          <p:cNvPr id="47" name="Shape 44"/>
          <p:cNvSpPr/>
          <p:nvPr/>
        </p:nvSpPr>
        <p:spPr>
          <a:xfrm>
            <a:off x="5632704" y="6400800"/>
            <a:ext cx="1572768" cy="45720"/>
          </a:xfrm>
          <a:prstGeom prst="rect">
            <a:avLst/>
          </a:prstGeom>
          <a:solidFill>
            <a:srgbClr val="DCD8D1"/>
          </a:solidFill>
          <a:ln/>
        </p:spPr>
      </p:sp>
      <p:sp>
        <p:nvSpPr>
          <p:cNvPr id="48" name="Text 45"/>
          <p:cNvSpPr/>
          <p:nvPr/>
        </p:nvSpPr>
        <p:spPr>
          <a:xfrm>
            <a:off x="5632704"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IV · Disiplin estimasi</a:t>
            </a:r>
            <a:endParaRPr lang="en-US" sz="850" dirty="0"/>
          </a:p>
        </p:txBody>
      </p:sp>
      <p:sp>
        <p:nvSpPr>
          <p:cNvPr id="49" name="Shape 46"/>
          <p:cNvSpPr/>
          <p:nvPr/>
        </p:nvSpPr>
        <p:spPr>
          <a:xfrm>
            <a:off x="7296912" y="6400800"/>
            <a:ext cx="1572768" cy="45720"/>
          </a:xfrm>
          <a:prstGeom prst="rect">
            <a:avLst/>
          </a:prstGeom>
          <a:solidFill>
            <a:srgbClr val="DCD8D1"/>
          </a:solidFill>
          <a:ln/>
        </p:spPr>
      </p:sp>
      <p:sp>
        <p:nvSpPr>
          <p:cNvPr id="50" name="Text 47"/>
          <p:cNvSpPr/>
          <p:nvPr/>
        </p:nvSpPr>
        <p:spPr>
          <a:xfrm>
            <a:off x="7296912"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V · Hasil &amp; plafon</a:t>
            </a:r>
            <a:endParaRPr lang="en-US" sz="850" dirty="0"/>
          </a:p>
        </p:txBody>
      </p:sp>
      <p:sp>
        <p:nvSpPr>
          <p:cNvPr id="51" name="Shape 48"/>
          <p:cNvSpPr/>
          <p:nvPr/>
        </p:nvSpPr>
        <p:spPr>
          <a:xfrm>
            <a:off x="8961120" y="6400800"/>
            <a:ext cx="1572768" cy="45720"/>
          </a:xfrm>
          <a:prstGeom prst="rect">
            <a:avLst/>
          </a:prstGeom>
          <a:solidFill>
            <a:srgbClr val="A8442A"/>
          </a:solidFill>
          <a:ln/>
        </p:spPr>
      </p:sp>
      <p:sp>
        <p:nvSpPr>
          <p:cNvPr id="52" name="Text 49"/>
          <p:cNvSpPr/>
          <p:nvPr/>
        </p:nvSpPr>
        <p:spPr>
          <a:xfrm>
            <a:off x="8961120" y="6464808"/>
            <a:ext cx="1572768" cy="201168"/>
          </a:xfrm>
          <a:prstGeom prst="rect">
            <a:avLst/>
          </a:prstGeom>
          <a:noFill/>
          <a:ln/>
        </p:spPr>
        <p:txBody>
          <a:bodyPr wrap="square" lIns="0" tIns="0" rIns="0" bIns="0" rtlCol="0" anchor="ctr"/>
          <a:lstStyle/>
          <a:p>
            <a:pPr indent="0" marL="0">
              <a:buNone/>
            </a:pPr>
            <a:r>
              <a:rPr lang="en-US" sz="850" b="1" dirty="0">
                <a:solidFill>
                  <a:srgbClr val="16191D"/>
                </a:solidFill>
                <a:latin typeface="Calibri" pitchFamily="34" charset="0"/>
                <a:ea typeface="Calibri" pitchFamily="34" charset="-122"/>
                <a:cs typeface="Calibri" pitchFamily="34" charset="-120"/>
              </a:rPr>
              <a:t>VI · Reproduksi &amp; produk</a:t>
            </a:r>
            <a:endParaRPr lang="en-US" sz="850" dirty="0"/>
          </a:p>
        </p:txBody>
      </p:sp>
      <p:sp>
        <p:nvSpPr>
          <p:cNvPr id="53" name="Text 50"/>
          <p:cNvSpPr/>
          <p:nvPr/>
        </p:nvSpPr>
        <p:spPr>
          <a:xfrm>
            <a:off x="10637215" y="6382512"/>
            <a:ext cx="914400" cy="274320"/>
          </a:xfrm>
          <a:prstGeom prst="rect">
            <a:avLst/>
          </a:prstGeom>
          <a:noFill/>
          <a:ln/>
        </p:spPr>
        <p:txBody>
          <a:bodyPr wrap="square" lIns="0" tIns="0" rIns="0" bIns="0" rtlCol="0" anchor="ctr"/>
          <a:lstStyle/>
          <a:p>
            <a:pPr algn="r" indent="0" marL="0">
              <a:buNone/>
            </a:pPr>
            <a:r>
              <a:rPr lang="en-US" sz="900" b="1" dirty="0">
                <a:solidFill>
                  <a:srgbClr val="9AA0A7"/>
                </a:solidFill>
                <a:latin typeface="Calibri" pitchFamily="34" charset="0"/>
                <a:ea typeface="Calibri" pitchFamily="34" charset="-122"/>
                <a:cs typeface="Calibri" pitchFamily="34" charset="-120"/>
              </a:rPr>
              <a:t>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16191D"/>
        </a:solidFill>
      </p:bgPr>
    </p:bg>
    <p:spTree>
      <p:nvGrpSpPr>
        <p:cNvPr id="1" name=""/>
        <p:cNvGrpSpPr/>
        <p:nvPr/>
      </p:nvGrpSpPr>
      <p:grpSpPr>
        <a:xfrm>
          <a:off x="0" y="0"/>
          <a:ext cx="0" cy="0"/>
          <a:chOff x="0" y="0"/>
          <a:chExt cx="0" cy="0"/>
        </a:xfrm>
      </p:grpSpPr>
      <p:sp>
        <p:nvSpPr>
          <p:cNvPr id="2" name="Text 0"/>
          <p:cNvSpPr/>
          <p:nvPr/>
        </p:nvSpPr>
        <p:spPr>
          <a:xfrm>
            <a:off x="640080" y="914400"/>
            <a:ext cx="3657600" cy="274320"/>
          </a:xfrm>
          <a:prstGeom prst="rect">
            <a:avLst/>
          </a:prstGeom>
          <a:noFill/>
          <a:ln/>
        </p:spPr>
        <p:txBody>
          <a:bodyPr wrap="square" lIns="0" tIns="0" rIns="0" bIns="0" rtlCol="0" anchor="ctr"/>
          <a:lstStyle/>
          <a:p>
            <a:pPr indent="0" marL="0">
              <a:buNone/>
            </a:pPr>
            <a:r>
              <a:rPr lang="en-US" sz="1050" b="1" spc="150" kern="0" dirty="0">
                <a:solidFill>
                  <a:srgbClr val="8FB0A4"/>
                </a:solidFill>
                <a:latin typeface="Calibri" pitchFamily="34" charset="0"/>
                <a:ea typeface="Calibri" pitchFamily="34" charset="-122"/>
                <a:cs typeface="Calibri" pitchFamily="34" charset="-120"/>
              </a:rPr>
              <a:t>PENUTUP</a:t>
            </a:r>
            <a:endParaRPr lang="en-US" sz="1050" dirty="0"/>
          </a:p>
        </p:txBody>
      </p:sp>
      <p:sp>
        <p:nvSpPr>
          <p:cNvPr id="3" name="Text 1"/>
          <p:cNvSpPr/>
          <p:nvPr/>
        </p:nvSpPr>
        <p:spPr>
          <a:xfrm>
            <a:off x="640080" y="1463040"/>
            <a:ext cx="6949440" cy="2286000"/>
          </a:xfrm>
          <a:prstGeom prst="rect">
            <a:avLst/>
          </a:prstGeom>
          <a:noFill/>
          <a:ln/>
        </p:spPr>
        <p:txBody>
          <a:bodyPr wrap="square" lIns="0" tIns="0" rIns="0" bIns="0" rtlCol="0" anchor="t"/>
          <a:lstStyle/>
          <a:p>
            <a:pPr indent="0" marL="0">
              <a:lnSpc>
                <a:spcPts val="4600"/>
              </a:lnSpc>
              <a:buNone/>
            </a:pPr>
            <a:r>
              <a:rPr lang="en-US" sz="3300" b="1" dirty="0">
                <a:solidFill>
                  <a:srgbClr val="FFFFFF"/>
                </a:solidFill>
                <a:latin typeface="Cambria" pitchFamily="34" charset="0"/>
                <a:ea typeface="Cambria" pitchFamily="34" charset="-122"/>
                <a:cs typeface="Cambria" pitchFamily="34" charset="-120"/>
              </a:rPr>
              <a:t>Kami tidak mengejar angka.</a:t>
            </a:r>
            <a:endParaRPr lang="en-US" sz="3300" dirty="0"/>
          </a:p>
          <a:p>
            <a:pPr indent="0" marL="0">
              <a:lnSpc>
                <a:spcPts val="4600"/>
              </a:lnSpc>
              <a:buNone/>
            </a:pPr>
            <a:r>
              <a:rPr lang="en-US" sz="3300" b="1" dirty="0">
                <a:solidFill>
                  <a:srgbClr val="FFFFFF"/>
                </a:solidFill>
                <a:latin typeface="Cambria" pitchFamily="34" charset="0"/>
                <a:ea typeface="Cambria" pitchFamily="34" charset="-122"/>
                <a:cs typeface="Cambria" pitchFamily="34" charset="-120"/>
              </a:rPr>
              <a:t>Kami memetakan batasnya,</a:t>
            </a:r>
            <a:endParaRPr lang="en-US" sz="3300" dirty="0"/>
          </a:p>
          <a:p>
            <a:pPr indent="0" marL="0">
              <a:lnSpc>
                <a:spcPts val="4600"/>
              </a:lnSpc>
              <a:buNone/>
            </a:pPr>
            <a:r>
              <a:rPr lang="en-US" sz="3300" b="1" dirty="0">
                <a:solidFill>
                  <a:srgbClr val="FFFFFF"/>
                </a:solidFill>
                <a:latin typeface="Cambria" pitchFamily="34" charset="0"/>
                <a:ea typeface="Cambria" pitchFamily="34" charset="-122"/>
                <a:cs typeface="Cambria" pitchFamily="34" charset="-120"/>
              </a:rPr>
              <a:t>lalu berhenti tepat di sana.</a:t>
            </a:r>
            <a:endParaRPr lang="en-US" sz="3300" dirty="0"/>
          </a:p>
        </p:txBody>
      </p:sp>
      <p:sp>
        <p:nvSpPr>
          <p:cNvPr id="4" name="Text 2"/>
          <p:cNvSpPr/>
          <p:nvPr/>
        </p:nvSpPr>
        <p:spPr>
          <a:xfrm>
            <a:off x="640080" y="3931920"/>
            <a:ext cx="6675120" cy="822960"/>
          </a:xfrm>
          <a:prstGeom prst="rect">
            <a:avLst/>
          </a:prstGeom>
          <a:noFill/>
          <a:ln/>
        </p:spPr>
        <p:txBody>
          <a:bodyPr wrap="square" lIns="0" tIns="0" rIns="0" bIns="0" rtlCol="0" anchor="t"/>
          <a:lstStyle/>
          <a:p>
            <a:pPr indent="0" marL="0">
              <a:lnSpc>
                <a:spcPts val="2100"/>
              </a:lnSpc>
              <a:buNone/>
            </a:pPr>
            <a:r>
              <a:rPr lang="en-US" sz="1400" dirty="0">
                <a:solidFill>
                  <a:srgbClr val="9AA0A7"/>
                </a:solidFill>
                <a:latin typeface="Calibri" pitchFamily="34" charset="0"/>
                <a:ea typeface="Calibri" pitchFamily="34" charset="-122"/>
                <a:cs typeface="Calibri" pitchFamily="34" charset="-120"/>
              </a:rPr>
              <a:t>Setiap keputusan punya angka yang mendasarinya, dan setiap angka dapat dijalankan ulang dari notebook yang kami kumpulkan.</a:t>
            </a:r>
            <a:endParaRPr lang="en-US" sz="1400" dirty="0"/>
          </a:p>
        </p:txBody>
      </p:sp>
      <p:sp>
        <p:nvSpPr>
          <p:cNvPr id="5" name="Text 3"/>
          <p:cNvSpPr/>
          <p:nvPr/>
        </p:nvSpPr>
        <p:spPr>
          <a:xfrm>
            <a:off x="8138160" y="1463040"/>
            <a:ext cx="3413455" cy="274320"/>
          </a:xfrm>
          <a:prstGeom prst="rect">
            <a:avLst/>
          </a:prstGeom>
          <a:noFill/>
          <a:ln/>
        </p:spPr>
        <p:txBody>
          <a:bodyPr wrap="square" lIns="0" tIns="0" rIns="0" bIns="0" rtlCol="0" anchor="ctr"/>
          <a:lstStyle/>
          <a:p>
            <a:pPr indent="0" marL="0">
              <a:buNone/>
            </a:pPr>
            <a:r>
              <a:rPr lang="en-US" sz="1050" b="1" spc="150" kern="0" dirty="0">
                <a:solidFill>
                  <a:srgbClr val="8FB0A4"/>
                </a:solidFill>
                <a:latin typeface="Calibri" pitchFamily="34" charset="0"/>
                <a:ea typeface="Calibri" pitchFamily="34" charset="-122"/>
                <a:cs typeface="Calibri" pitchFamily="34" charset="-120"/>
              </a:rPr>
              <a:t>TIGA ANGKA UNTUK DIINGAT</a:t>
            </a:r>
            <a:endParaRPr lang="en-US" sz="1050" dirty="0"/>
          </a:p>
        </p:txBody>
      </p:sp>
      <p:sp>
        <p:nvSpPr>
          <p:cNvPr id="6" name="Text 4"/>
          <p:cNvSpPr/>
          <p:nvPr/>
        </p:nvSpPr>
        <p:spPr>
          <a:xfrm>
            <a:off x="8138160" y="1828800"/>
            <a:ext cx="3413455" cy="548640"/>
          </a:xfrm>
          <a:prstGeom prst="rect">
            <a:avLst/>
          </a:prstGeom>
          <a:noFill/>
          <a:ln/>
        </p:spPr>
        <p:txBody>
          <a:bodyPr wrap="square" lIns="0" tIns="0" rIns="0" bIns="0" rtlCol="0" anchor="b"/>
          <a:lstStyle/>
          <a:p>
            <a:pPr algn="l" indent="0" marL="0">
              <a:buNone/>
            </a:pPr>
            <a:r>
              <a:rPr lang="en-US" sz="3000" b="1" dirty="0">
                <a:solidFill>
                  <a:srgbClr val="8FB0A4"/>
                </a:solidFill>
                <a:latin typeface="Cambria" pitchFamily="34" charset="0"/>
                <a:ea typeface="Cambria" pitchFamily="34" charset="-122"/>
                <a:cs typeface="Cambria" pitchFamily="34" charset="-120"/>
              </a:rPr>
              <a:t>+0,06269</a:t>
            </a:r>
            <a:endParaRPr lang="en-US" sz="3000" dirty="0"/>
          </a:p>
        </p:txBody>
      </p:sp>
      <p:sp>
        <p:nvSpPr>
          <p:cNvPr id="7" name="Text 5"/>
          <p:cNvSpPr/>
          <p:nvPr/>
        </p:nvSpPr>
        <p:spPr>
          <a:xfrm>
            <a:off x="8138160" y="2414016"/>
            <a:ext cx="3413455" cy="420624"/>
          </a:xfrm>
          <a:prstGeom prst="rect">
            <a:avLst/>
          </a:prstGeom>
          <a:noFill/>
          <a:ln/>
        </p:spPr>
        <p:txBody>
          <a:bodyPr wrap="square" lIns="0" tIns="0" rIns="0" bIns="0" rtlCol="0" anchor="t"/>
          <a:lstStyle/>
          <a:p>
            <a:pPr algn="l" indent="0" marL="0">
              <a:lnSpc>
                <a:spcPts val="1300"/>
              </a:lnSpc>
              <a:buNone/>
            </a:pPr>
            <a:r>
              <a:rPr lang="en-US" sz="1100" dirty="0">
                <a:solidFill>
                  <a:srgbClr val="9AA0A7"/>
                </a:solidFill>
                <a:latin typeface="Calibri" pitchFamily="34" charset="0"/>
                <a:ea typeface="Calibri" pitchFamily="34" charset="-122"/>
                <a:cs typeface="Calibri" pitchFamily="34" charset="-120"/>
              </a:rPr>
              <a:t>dari aturan keputusan, tuas terbesar</a:t>
            </a:r>
            <a:endParaRPr lang="en-US" sz="1100" dirty="0"/>
          </a:p>
        </p:txBody>
      </p:sp>
      <p:sp>
        <p:nvSpPr>
          <p:cNvPr id="8" name="Text 6"/>
          <p:cNvSpPr/>
          <p:nvPr/>
        </p:nvSpPr>
        <p:spPr>
          <a:xfrm>
            <a:off x="8138160" y="3035808"/>
            <a:ext cx="3413455" cy="548640"/>
          </a:xfrm>
          <a:prstGeom prst="rect">
            <a:avLst/>
          </a:prstGeom>
          <a:noFill/>
          <a:ln/>
        </p:spPr>
        <p:txBody>
          <a:bodyPr wrap="square" lIns="0" tIns="0" rIns="0" bIns="0" rtlCol="0" anchor="b"/>
          <a:lstStyle/>
          <a:p>
            <a:pPr algn="l" indent="0" marL="0">
              <a:buNone/>
            </a:pPr>
            <a:r>
              <a:rPr lang="en-US" sz="3000" b="1" dirty="0">
                <a:solidFill>
                  <a:srgbClr val="D8A25E"/>
                </a:solidFill>
                <a:latin typeface="Cambria" pitchFamily="34" charset="0"/>
                <a:ea typeface="Cambria" pitchFamily="34" charset="-122"/>
                <a:cs typeface="Cambria" pitchFamily="34" charset="-120"/>
              </a:rPr>
              <a:t>0,9143</a:t>
            </a:r>
            <a:endParaRPr lang="en-US" sz="3000" dirty="0"/>
          </a:p>
        </p:txBody>
      </p:sp>
      <p:sp>
        <p:nvSpPr>
          <p:cNvPr id="9" name="Text 7"/>
          <p:cNvSpPr/>
          <p:nvPr/>
        </p:nvSpPr>
        <p:spPr>
          <a:xfrm>
            <a:off x="8138160" y="3621024"/>
            <a:ext cx="3413455" cy="420624"/>
          </a:xfrm>
          <a:prstGeom prst="rect">
            <a:avLst/>
          </a:prstGeom>
          <a:noFill/>
          <a:ln/>
        </p:spPr>
        <p:txBody>
          <a:bodyPr wrap="square" lIns="0" tIns="0" rIns="0" bIns="0" rtlCol="0" anchor="t"/>
          <a:lstStyle/>
          <a:p>
            <a:pPr algn="l" indent="0" marL="0">
              <a:lnSpc>
                <a:spcPts val="1300"/>
              </a:lnSpc>
              <a:buNone/>
            </a:pPr>
            <a:r>
              <a:rPr lang="en-US" sz="1100" dirty="0">
                <a:solidFill>
                  <a:srgbClr val="9AA0A7"/>
                </a:solidFill>
                <a:latin typeface="Calibri" pitchFamily="34" charset="0"/>
                <a:ea typeface="Calibri" pitchFamily="34" charset="-122"/>
                <a:cs typeface="Calibri" pitchFamily="34" charset="-120"/>
              </a:rPr>
              <a:t>R² kurva belajar yang membuktikan plafonnya</a:t>
            </a:r>
            <a:endParaRPr lang="en-US" sz="1100" dirty="0"/>
          </a:p>
        </p:txBody>
      </p:sp>
      <p:sp>
        <p:nvSpPr>
          <p:cNvPr id="10" name="Text 8"/>
          <p:cNvSpPr/>
          <p:nvPr/>
        </p:nvSpPr>
        <p:spPr>
          <a:xfrm>
            <a:off x="8138160" y="4242816"/>
            <a:ext cx="3413455" cy="548640"/>
          </a:xfrm>
          <a:prstGeom prst="rect">
            <a:avLst/>
          </a:prstGeom>
          <a:noFill/>
          <a:ln/>
        </p:spPr>
        <p:txBody>
          <a:bodyPr wrap="square" lIns="0" tIns="0" rIns="0" bIns="0" rtlCol="0" anchor="b"/>
          <a:lstStyle/>
          <a:p>
            <a:pPr algn="l" indent="0" marL="0">
              <a:buNone/>
            </a:pPr>
            <a:r>
              <a:rPr lang="en-US" sz="3000" b="1" dirty="0">
                <a:solidFill>
                  <a:srgbClr val="A8442A"/>
                </a:solidFill>
                <a:latin typeface="Cambria" pitchFamily="34" charset="0"/>
                <a:ea typeface="Cambria" pitchFamily="34" charset="-122"/>
                <a:cs typeface="Cambria" pitchFamily="34" charset="-120"/>
              </a:rPr>
              <a:t>0,7 σ</a:t>
            </a:r>
            <a:endParaRPr lang="en-US" sz="3000" dirty="0"/>
          </a:p>
        </p:txBody>
      </p:sp>
      <p:sp>
        <p:nvSpPr>
          <p:cNvPr id="11" name="Text 9"/>
          <p:cNvSpPr/>
          <p:nvPr/>
        </p:nvSpPr>
        <p:spPr>
          <a:xfrm>
            <a:off x="8138160" y="4828032"/>
            <a:ext cx="3413455" cy="420624"/>
          </a:xfrm>
          <a:prstGeom prst="rect">
            <a:avLst/>
          </a:prstGeom>
          <a:noFill/>
          <a:ln/>
        </p:spPr>
        <p:txBody>
          <a:bodyPr wrap="square" lIns="0" tIns="0" rIns="0" bIns="0" rtlCol="0" anchor="t"/>
          <a:lstStyle/>
          <a:p>
            <a:pPr algn="l" indent="0" marL="0">
              <a:lnSpc>
                <a:spcPts val="1300"/>
              </a:lnSpc>
              <a:buNone/>
            </a:pPr>
            <a:r>
              <a:rPr lang="en-US" sz="1100" dirty="0">
                <a:solidFill>
                  <a:srgbClr val="9AA0A7"/>
                </a:solidFill>
                <a:latin typeface="Calibri" pitchFamily="34" charset="0"/>
                <a:ea typeface="Calibri" pitchFamily="34" charset="-122"/>
                <a:cs typeface="Calibri" pitchFamily="34" charset="-120"/>
              </a:rPr>
              <a:t>jarak enam peringkat papan skor</a:t>
            </a:r>
            <a:endParaRPr lang="en-US" sz="1100" dirty="0"/>
          </a:p>
        </p:txBody>
      </p:sp>
      <p:sp>
        <p:nvSpPr>
          <p:cNvPr id="12" name="Shape 10"/>
          <p:cNvSpPr/>
          <p:nvPr/>
        </p:nvSpPr>
        <p:spPr>
          <a:xfrm>
            <a:off x="640080" y="5394960"/>
            <a:ext cx="10911535" cy="0"/>
          </a:xfrm>
          <a:prstGeom prst="line">
            <a:avLst/>
          </a:prstGeom>
          <a:noFill/>
          <a:ln w="12700">
            <a:solidFill>
              <a:srgbClr val="3A4048"/>
            </a:solidFill>
            <a:prstDash val="solid"/>
          </a:ln>
        </p:spPr>
      </p:sp>
      <p:sp>
        <p:nvSpPr>
          <p:cNvPr id="13" name="Text 11"/>
          <p:cNvSpPr/>
          <p:nvPr/>
        </p:nvSpPr>
        <p:spPr>
          <a:xfrm>
            <a:off x="640080" y="5468112"/>
            <a:ext cx="3657600" cy="365760"/>
          </a:xfrm>
          <a:prstGeom prst="rect">
            <a:avLst/>
          </a:prstGeom>
          <a:noFill/>
          <a:ln/>
        </p:spPr>
        <p:txBody>
          <a:bodyPr wrap="square" lIns="0" tIns="0" rIns="0" bIns="0" rtlCol="0" anchor="ctr"/>
          <a:lstStyle/>
          <a:p>
            <a:pPr indent="0" marL="0">
              <a:buNone/>
            </a:pPr>
            <a:r>
              <a:rPr lang="en-US" sz="1700" b="1" dirty="0">
                <a:solidFill>
                  <a:srgbClr val="FFFFFF"/>
                </a:solidFill>
                <a:latin typeface="Cambria" pitchFamily="34" charset="0"/>
                <a:ea typeface="Cambria" pitchFamily="34" charset="-122"/>
                <a:cs typeface="Cambria" pitchFamily="34" charset="-120"/>
              </a:rPr>
              <a:t>Tim Warkab</a:t>
            </a:r>
            <a:endParaRPr lang="en-US" sz="1700" dirty="0"/>
          </a:p>
        </p:txBody>
      </p:sp>
      <p:sp>
        <p:nvSpPr>
          <p:cNvPr id="14" name="Text 12">
            <a:hlinkClick r:id="rId1" tooltip=""/>
          </p:cNvPr>
          <p:cNvSpPr/>
          <p:nvPr/>
        </p:nvSpPr>
        <p:spPr>
          <a:xfrm>
            <a:off x="640080" y="5815584"/>
            <a:ext cx="5029200" cy="274320"/>
          </a:xfrm>
          <a:prstGeom prst="rect">
            <a:avLst/>
          </a:prstGeom>
          <a:noFill/>
          <a:ln/>
        </p:spPr>
        <p:txBody>
          <a:bodyPr wrap="square" lIns="0" tIns="0" rIns="0" bIns="0" rtlCol="0" anchor="ctr"/>
          <a:lstStyle/>
          <a:p>
            <a:pPr indent="0" marL="0">
              <a:buNone/>
            </a:pPr>
            <a:r>
              <a:rPr lang="en-US" sz="1050" u="sng" dirty="0">
                <a:solidFill>
                  <a:srgbClr val="9AA0A7"/>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lifescope-mikaeladikara-5555s-projects.vercel.app</a:t>
            </a:r>
            <a:endParaRPr lang="en-US" sz="1050" dirty="0"/>
          </a:p>
        </p:txBody>
      </p:sp>
      <p:sp>
        <p:nvSpPr>
          <p:cNvPr id="15" name="Text 13">
            <a:hlinkClick r:id="rId2" tooltip=""/>
          </p:cNvPr>
          <p:cNvSpPr/>
          <p:nvPr/>
        </p:nvSpPr>
        <p:spPr>
          <a:xfrm>
            <a:off x="640080" y="6035040"/>
            <a:ext cx="5029200" cy="274320"/>
          </a:xfrm>
          <a:prstGeom prst="rect">
            <a:avLst/>
          </a:prstGeom>
          <a:noFill/>
          <a:ln/>
        </p:spPr>
        <p:txBody>
          <a:bodyPr wrap="square" lIns="0" tIns="0" rIns="0" bIns="0" rtlCol="0" anchor="ctr"/>
          <a:lstStyle/>
          <a:p>
            <a:pPr indent="0" marL="0">
              <a:buNone/>
            </a:pPr>
            <a:r>
              <a:rPr lang="en-US" sz="1050" u="sng" dirty="0">
                <a:solidFill>
                  <a:srgbClr val="9AA0A7"/>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github.com/MikaelAdikara/DataQuest-Warkab</a:t>
            </a:r>
            <a:endParaRPr lang="en-US" sz="1050" dirty="0"/>
          </a:p>
        </p:txBody>
      </p:sp>
      <p:sp>
        <p:nvSpPr>
          <p:cNvPr id="16" name="Text 14"/>
          <p:cNvSpPr/>
          <p:nvPr/>
        </p:nvSpPr>
        <p:spPr>
          <a:xfrm>
            <a:off x="6583680" y="5669280"/>
            <a:ext cx="4965192" cy="365760"/>
          </a:xfrm>
          <a:prstGeom prst="rect">
            <a:avLst/>
          </a:prstGeom>
          <a:noFill/>
          <a:ln/>
        </p:spPr>
        <p:txBody>
          <a:bodyPr wrap="square" lIns="0" tIns="0" rIns="0" bIns="0" rtlCol="0" anchor="ctr"/>
          <a:lstStyle/>
          <a:p>
            <a:pPr algn="r" indent="0" marL="0">
              <a:buNone/>
            </a:pPr>
            <a:r>
              <a:rPr lang="en-US" sz="1400" i="1" dirty="0">
                <a:solidFill>
                  <a:srgbClr val="8FB0A4"/>
                </a:solidFill>
                <a:latin typeface="Calibri" pitchFamily="34" charset="0"/>
                <a:ea typeface="Calibri" pitchFamily="34" charset="-122"/>
                <a:cs typeface="Calibri" pitchFamily="34" charset="-120"/>
              </a:rPr>
              <a:t>Terima kasih, kami siap menjawab pertanyaan.</a:t>
            </a:r>
            <a:endParaRPr lang="en-US" sz="1400" dirty="0"/>
          </a:p>
        </p:txBody>
      </p:sp>
      <p:sp>
        <p:nvSpPr>
          <p:cNvPr id="18" name="Text 15"/>
          <p:cNvSpPr/>
          <p:nvPr/>
        </p:nvSpPr>
        <p:spPr>
          <a:xfrm>
            <a:off x="640080" y="6382512"/>
            <a:ext cx="7315200" cy="274320"/>
          </a:xfrm>
          <a:prstGeom prst="rect">
            <a:avLst/>
          </a:prstGeom>
          <a:noFill/>
          <a:ln/>
        </p:spPr>
        <p:txBody>
          <a:bodyPr wrap="square" lIns="0" tIns="0" rIns="0" bIns="0" rtlCol="0" anchor="ctr"/>
          <a:lstStyle/>
          <a:p>
            <a:pPr indent="0" marL="0">
              <a:buNone/>
            </a:pPr>
            <a:r>
              <a:rPr lang="en-US" sz="900" dirty="0">
                <a:solidFill>
                  <a:srgbClr val="9AA0A7"/>
                </a:solidFill>
                <a:latin typeface="Calibri" pitchFamily="34" charset="0"/>
                <a:ea typeface="Calibri" pitchFamily="34" charset="-122"/>
                <a:cs typeface="Calibri" pitchFamily="34" charset="-120"/>
              </a:rPr>
              <a:t>Tim Warkab  ·  DataQuest 5.0  ·  life_satisfaction / QWK</a:t>
            </a:r>
            <a:endParaRPr lang="en-US" sz="900" dirty="0"/>
          </a:p>
        </p:txBody>
      </p:sp>
      <p:sp>
        <p:nvSpPr>
          <p:cNvPr id="19" name="Text 16"/>
          <p:cNvSpPr/>
          <p:nvPr/>
        </p:nvSpPr>
        <p:spPr>
          <a:xfrm>
            <a:off x="10637215" y="6382512"/>
            <a:ext cx="914400" cy="274320"/>
          </a:xfrm>
          <a:prstGeom prst="rect">
            <a:avLst/>
          </a:prstGeom>
          <a:noFill/>
          <a:ln/>
        </p:spPr>
        <p:txBody>
          <a:bodyPr wrap="square" lIns="0" tIns="0" rIns="0" bIns="0" rtlCol="0" anchor="ctr"/>
          <a:lstStyle/>
          <a:p>
            <a:pPr algn="r" indent="0" marL="0">
              <a:buNone/>
            </a:pPr>
            <a:r>
              <a:rPr lang="en-US" sz="900" b="1" dirty="0">
                <a:solidFill>
                  <a:srgbClr val="9AA0A7"/>
                </a:solidFill>
                <a:latin typeface="Calibri" pitchFamily="34" charset="0"/>
                <a:ea typeface="Calibri" pitchFamily="34" charset="-122"/>
                <a:cs typeface="Calibri" pitchFamily="34" charset="-120"/>
              </a:rPr>
              <a:t>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84048"/>
            <a:ext cx="10911535" cy="530352"/>
          </a:xfrm>
          <a:prstGeom prst="rect">
            <a:avLst/>
          </a:prstGeom>
          <a:noFill/>
          <a:ln/>
        </p:spPr>
        <p:txBody>
          <a:bodyPr wrap="square" lIns="0" tIns="0" rIns="0" bIns="0" rtlCol="0" anchor="t"/>
          <a:lstStyle/>
          <a:p>
            <a:pPr indent="0" marL="0">
              <a:buNone/>
            </a:pPr>
            <a:r>
              <a:rPr lang="en-US" sz="2400" b="1" dirty="0">
                <a:solidFill>
                  <a:srgbClr val="16191D"/>
                </a:solidFill>
                <a:latin typeface="Cambria" pitchFamily="34" charset="0"/>
                <a:ea typeface="Cambria" pitchFamily="34" charset="-122"/>
                <a:cs typeface="Cambria" pitchFamily="34" charset="-120"/>
              </a:rPr>
              <a:t>Lampiran · 21 pendekatan yang diuji lalu ditolak.</a:t>
            </a:r>
            <a:endParaRPr lang="en-US" sz="2400" dirty="0"/>
          </a:p>
        </p:txBody>
      </p:sp>
      <p:sp>
        <p:nvSpPr>
          <p:cNvPr id="3" name="Text 1"/>
          <p:cNvSpPr/>
          <p:nvPr/>
        </p:nvSpPr>
        <p:spPr>
          <a:xfrm>
            <a:off x="640080" y="896112"/>
            <a:ext cx="10911535" cy="310896"/>
          </a:xfrm>
          <a:prstGeom prst="rect">
            <a:avLst/>
          </a:prstGeom>
          <a:noFill/>
          <a:ln/>
        </p:spPr>
        <p:txBody>
          <a:bodyPr wrap="square" lIns="0" tIns="0" rIns="0" bIns="0" rtlCol="0" anchor="t"/>
          <a:lstStyle/>
          <a:p>
            <a:pPr indent="0" marL="0">
              <a:buNone/>
            </a:pPr>
            <a:r>
              <a:rPr lang="en-US" sz="1250" dirty="0">
                <a:solidFill>
                  <a:srgbClr val="6E747C"/>
                </a:solidFill>
                <a:latin typeface="Calibri" pitchFamily="34" charset="0"/>
                <a:ea typeface="Calibri" pitchFamily="34" charset="-122"/>
                <a:cs typeface="Calibri" pitchFamily="34" charset="-120"/>
              </a:rPr>
              <a:t>Hasil negatif dilaporkan selengkap hasil positif, karena menjelaskan kenapa arsitektur akhirnya sesederhana ini.</a:t>
            </a:r>
            <a:endParaRPr lang="en-US" sz="125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640080" y="1371600"/>
          <a:ext cx="5212080" cy="914400"/>
        </p:xfrm>
        <a:graphic>
          <a:graphicData uri="http://schemas.openxmlformats.org/drawingml/2006/table">
            <a:tbl>
              <a:tblPr/>
              <a:tblGrid>
                <a:gridCol w="2011680"/>
                <a:gridCol w="2377440"/>
                <a:gridCol w="822960"/>
              </a:tblGrid>
              <a:tr h="393192">
                <a:tc>
                  <a:txBody>
                    <a:bodyPr/>
                    <a:lstStyle/>
                    <a:p>
                      <a:pPr algn="l" indent="0" marL="0">
                        <a:buNone/>
                      </a:pPr>
                      <a:r>
                        <a:rPr lang="en-US" sz="950" b="1" dirty="0">
                          <a:solidFill>
                            <a:srgbClr val="16191D"/>
                          </a:solidFill>
                          <a:latin typeface="Calibri" pitchFamily="34" charset="0"/>
                          <a:ea typeface="Calibri" pitchFamily="34" charset="-122"/>
                          <a:cs typeface="Calibri" pitchFamily="34" charset="-120"/>
                        </a:rPr>
                        <a:t>Ditolak di notebook</a:t>
                      </a:r>
                      <a:endParaRPr lang="en-US" sz="950" dirty="0">
                        <a:latin typeface="Calibri" charset="0"/>
                        <a:ea typeface="Calibri" charset="0"/>
                        <a:cs typeface="Calibri" charset="0"/>
                      </a:endParaRPr>
                    </a:p>
                  </a:txBody>
                  <a:tcPr marL="25400" marR="101600" marT="63500" marB="63500" anchor="ctr">
                    <a:lnL w="0" cap="flat" cmpd="sng" algn="ctr">
                      <a:noFill/>
                    </a:lnL>
                    <a:lnR w="0" cap="flat" cmpd="sng" algn="ctr">
                      <a:noFill/>
                    </a:lnR>
                    <a:lnT w="17780" cap="flat" cmpd="sng" algn="ctr">
                      <a:solidFill>
                        <a:srgbClr val="16191D"/>
                      </a:solidFill>
                      <a:prstDash val="solid"/>
                      <a:round/>
                      <a:headEnd type="none" w="med" len="med"/>
                      <a:tailEnd type="none" w="med" len="med"/>
                    </a:lnT>
                    <a:lnB w="10160" cap="flat" cmpd="sng" algn="ctr">
                      <a:solidFill>
                        <a:srgbClr val="16191D"/>
                      </a:solidFill>
                      <a:prstDash val="solid"/>
                      <a:round/>
                      <a:headEnd type="none" w="med" len="med"/>
                      <a:tailEnd type="none" w="med" len="med"/>
                    </a:lnB>
                  </a:tcPr>
                </a:tc>
                <a:tc>
                  <a:txBody>
                    <a:bodyPr/>
                    <a:lstStyle/>
                    <a:p>
                      <a:pPr algn="l" indent="0" marL="0">
                        <a:buNone/>
                      </a:pPr>
                      <a:r>
                        <a:rPr lang="en-US" sz="950" b="1" dirty="0">
                          <a:solidFill>
                            <a:srgbClr val="16191D"/>
                          </a:solidFill>
                          <a:latin typeface="Calibri" pitchFamily="34" charset="0"/>
                          <a:ea typeface="Calibri" pitchFamily="34" charset="-122"/>
                          <a:cs typeface="Calibri" pitchFamily="34" charset="-120"/>
                        </a:rPr>
                        <a:t>Alasan</a:t>
                      </a:r>
                      <a:endParaRPr lang="en-US" sz="950" dirty="0">
                        <a:latin typeface="Calibri" charset="0"/>
                        <a:ea typeface="Calibri" charset="0"/>
                        <a:cs typeface="Calibri" charset="0"/>
                      </a:endParaRPr>
                    </a:p>
                  </a:txBody>
                  <a:tcPr marL="101600" marR="101600" marT="63500" marB="63500" anchor="ctr">
                    <a:lnL w="0" cap="flat" cmpd="sng" algn="ctr">
                      <a:noFill/>
                    </a:lnL>
                    <a:lnR w="0" cap="flat" cmpd="sng" algn="ctr">
                      <a:noFill/>
                    </a:lnR>
                    <a:lnT w="17780" cap="flat" cmpd="sng" algn="ctr">
                      <a:solidFill>
                        <a:srgbClr val="16191D"/>
                      </a:solidFill>
                      <a:prstDash val="solid"/>
                      <a:round/>
                      <a:headEnd type="none" w="med" len="med"/>
                      <a:tailEnd type="none" w="med" len="med"/>
                    </a:lnT>
                    <a:lnB w="10160" cap="flat" cmpd="sng" algn="ctr">
                      <a:solidFill>
                        <a:srgbClr val="16191D"/>
                      </a:solidFill>
                      <a:prstDash val="solid"/>
                      <a:round/>
                      <a:headEnd type="none" w="med" len="med"/>
                      <a:tailEnd type="none" w="med" len="med"/>
                    </a:lnB>
                  </a:tcPr>
                </a:tc>
                <a:tc>
                  <a:txBody>
                    <a:bodyPr/>
                    <a:lstStyle/>
                    <a:p>
                      <a:pPr algn="l" indent="0" marL="0">
                        <a:buNone/>
                      </a:pPr>
                      <a:r>
                        <a:rPr lang="en-US" sz="950" b="1" dirty="0">
                          <a:solidFill>
                            <a:srgbClr val="16191D"/>
                          </a:solidFill>
                          <a:latin typeface="Calibri" pitchFamily="34" charset="0"/>
                          <a:ea typeface="Calibri" pitchFamily="34" charset="-122"/>
                          <a:cs typeface="Calibri" pitchFamily="34" charset="-120"/>
                        </a:rPr>
                        <a:t>Bagian</a:t>
                      </a:r>
                      <a:endParaRPr lang="en-US" sz="950" dirty="0">
                        <a:latin typeface="Calibri" charset="0"/>
                        <a:ea typeface="Calibri" charset="0"/>
                        <a:cs typeface="Calibri" charset="0"/>
                      </a:endParaRPr>
                    </a:p>
                  </a:txBody>
                  <a:tcPr marL="101600" marR="101600" marT="63500" marB="63500" anchor="ctr">
                    <a:lnL w="0" cap="flat" cmpd="sng" algn="ctr">
                      <a:noFill/>
                    </a:lnL>
                    <a:lnR w="0" cap="flat" cmpd="sng" algn="ctr">
                      <a:noFill/>
                    </a:lnR>
                    <a:lnT w="17780" cap="flat" cmpd="sng" algn="ctr">
                      <a:solidFill>
                        <a:srgbClr val="16191D"/>
                      </a:solidFill>
                      <a:prstDash val="solid"/>
                      <a:round/>
                      <a:headEnd type="none" w="med" len="med"/>
                      <a:tailEnd type="none" w="med" len="med"/>
                    </a:lnT>
                    <a:lnB w="10160" cap="flat" cmpd="sng" algn="ctr">
                      <a:solidFill>
                        <a:srgbClr val="16191D"/>
                      </a:solidFill>
                      <a:prstDash val="solid"/>
                      <a:round/>
                      <a:headEnd type="none" w="med" len="med"/>
                      <a:tailEnd type="none" w="med" len="med"/>
                    </a:lnB>
                  </a:tcPr>
                </a:tc>
              </a:tr>
              <a:tr h="393192">
                <a:tc>
                  <a:txBody>
                    <a:bodyPr/>
                    <a:lstStyle/>
                    <a:p>
                      <a:pPr algn="l" indent="0" marL="0">
                        <a:buNone/>
                      </a:pPr>
                      <a:r>
                        <a:rPr lang="en-US" sz="950" dirty="0">
                          <a:solidFill>
                            <a:srgbClr val="3A4048"/>
                          </a:solidFill>
                          <a:latin typeface="Calibri" pitchFamily="34" charset="0"/>
                          <a:ea typeface="Calibri" pitchFamily="34" charset="-122"/>
                          <a:cs typeface="Calibri" pitchFamily="34" charset="-120"/>
                        </a:rPr>
                        <a:t>Fitur komposit domain</a:t>
                      </a:r>
                      <a:endParaRPr lang="en-US" sz="95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950" dirty="0">
                          <a:solidFill>
                            <a:srgbClr val="3A4048"/>
                          </a:solidFill>
                          <a:latin typeface="Calibri" pitchFamily="34" charset="0"/>
                          <a:ea typeface="Calibri" pitchFamily="34" charset="-122"/>
                          <a:cs typeface="Calibri" pitchFamily="34" charset="-120"/>
                        </a:rPr>
                        <a:t>Tidak ada perbaikan di ablasi</a:t>
                      </a:r>
                      <a:endParaRPr lang="en-US" sz="9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950" dirty="0">
                          <a:solidFill>
                            <a:srgbClr val="3A4048"/>
                          </a:solidFill>
                          <a:latin typeface="Calibri" pitchFamily="34" charset="0"/>
                          <a:ea typeface="Calibri" pitchFamily="34" charset="-122"/>
                          <a:cs typeface="Calibri" pitchFamily="34" charset="-120"/>
                        </a:rPr>
                        <a:t>5.1</a:t>
                      </a:r>
                      <a:endParaRPr lang="en-US" sz="9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393192">
                <a:tc>
                  <a:txBody>
                    <a:bodyPr/>
                    <a:lstStyle/>
                    <a:p>
                      <a:pPr algn="l" indent="0" marL="0">
                        <a:buNone/>
                      </a:pPr>
                      <a:r>
                        <a:rPr lang="en-US" sz="950" dirty="0">
                          <a:solidFill>
                            <a:srgbClr val="3A4048"/>
                          </a:solidFill>
                          <a:latin typeface="Calibri" pitchFamily="34" charset="0"/>
                          <a:ea typeface="Calibri" pitchFamily="34" charset="-122"/>
                          <a:cs typeface="Calibri" pitchFamily="34" charset="-120"/>
                        </a:rPr>
                        <a:t>Kode 7/8/9 → NaN</a:t>
                      </a:r>
                      <a:endParaRPr lang="en-US" sz="95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950" dirty="0">
                          <a:solidFill>
                            <a:srgbClr val="3A4048"/>
                          </a:solidFill>
                          <a:latin typeface="Calibri" pitchFamily="34" charset="0"/>
                          <a:ea typeface="Calibri" pitchFamily="34" charset="-122"/>
                          <a:cs typeface="Calibri" pitchFamily="34" charset="-120"/>
                        </a:rPr>
                        <a:t>Tidak membantu, kode bersinyal</a:t>
                      </a:r>
                      <a:endParaRPr lang="en-US" sz="9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950" dirty="0">
                          <a:solidFill>
                            <a:srgbClr val="3A4048"/>
                          </a:solidFill>
                          <a:latin typeface="Calibri" pitchFamily="34" charset="0"/>
                          <a:ea typeface="Calibri" pitchFamily="34" charset="-122"/>
                          <a:cs typeface="Calibri" pitchFamily="34" charset="-120"/>
                        </a:rPr>
                        <a:t>3.3, 5.1</a:t>
                      </a:r>
                      <a:endParaRPr lang="en-US" sz="9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393192">
                <a:tc>
                  <a:txBody>
                    <a:bodyPr/>
                    <a:lstStyle/>
                    <a:p>
                      <a:pPr algn="l" indent="0" marL="0">
                        <a:buNone/>
                      </a:pPr>
                      <a:r>
                        <a:rPr lang="en-US" sz="950" dirty="0">
                          <a:solidFill>
                            <a:srgbClr val="3A4048"/>
                          </a:solidFill>
                          <a:latin typeface="Calibri" pitchFamily="34" charset="0"/>
                          <a:ea typeface="Calibri" pitchFamily="34" charset="-122"/>
                          <a:cs typeface="Calibri" pitchFamily="34" charset="-120"/>
                        </a:rPr>
                        <a:t>Target encoding rumah tangga</a:t>
                      </a:r>
                      <a:endParaRPr lang="en-US" sz="95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950" dirty="0">
                          <a:solidFill>
                            <a:srgbClr val="3A4048"/>
                          </a:solidFill>
                          <a:latin typeface="Calibri" pitchFamily="34" charset="0"/>
                          <a:ea typeface="Calibri" pitchFamily="34" charset="-122"/>
                          <a:cs typeface="Calibri" pitchFamily="34" charset="-120"/>
                        </a:rPr>
                        <a:t>Lift +1,6pp, skor turun</a:t>
                      </a:r>
                      <a:endParaRPr lang="en-US" sz="9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950" dirty="0">
                          <a:solidFill>
                            <a:srgbClr val="3A4048"/>
                          </a:solidFill>
                          <a:latin typeface="Calibri" pitchFamily="34" charset="0"/>
                          <a:ea typeface="Calibri" pitchFamily="34" charset="-122"/>
                          <a:cs typeface="Calibri" pitchFamily="34" charset="-120"/>
                        </a:rPr>
                        <a:t>3.5</a:t>
                      </a:r>
                      <a:endParaRPr lang="en-US" sz="9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393192">
                <a:tc>
                  <a:txBody>
                    <a:bodyPr/>
                    <a:lstStyle/>
                    <a:p>
                      <a:pPr algn="l" indent="0" marL="0">
                        <a:buNone/>
                      </a:pPr>
                      <a:r>
                        <a:rPr lang="en-US" sz="950" dirty="0">
                          <a:solidFill>
                            <a:srgbClr val="3A4048"/>
                          </a:solidFill>
                          <a:latin typeface="Calibri" pitchFamily="34" charset="0"/>
                          <a:ea typeface="Calibri" pitchFamily="34" charset="-122"/>
                          <a:cs typeface="Calibri" pitchFamily="34" charset="-120"/>
                        </a:rPr>
                        <a:t>id sebagai fitur</a:t>
                      </a:r>
                      <a:endParaRPr lang="en-US" sz="95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950" dirty="0">
                          <a:solidFill>
                            <a:srgbClr val="3A4048"/>
                          </a:solidFill>
                          <a:latin typeface="Calibri" pitchFamily="34" charset="0"/>
                          <a:ea typeface="Calibri" pitchFamily="34" charset="-122"/>
                          <a:cs typeface="Calibri" pitchFamily="34" charset="-120"/>
                        </a:rPr>
                        <a:t>Spearman 0,006</a:t>
                      </a:r>
                      <a:endParaRPr lang="en-US" sz="9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950" dirty="0">
                          <a:solidFill>
                            <a:srgbClr val="3A4048"/>
                          </a:solidFill>
                          <a:latin typeface="Calibri" pitchFamily="34" charset="0"/>
                          <a:ea typeface="Calibri" pitchFamily="34" charset="-122"/>
                          <a:cs typeface="Calibri" pitchFamily="34" charset="-120"/>
                        </a:rPr>
                        <a:t>3.6</a:t>
                      </a:r>
                      <a:endParaRPr lang="en-US" sz="9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393192">
                <a:tc>
                  <a:txBody>
                    <a:bodyPr/>
                    <a:lstStyle/>
                    <a:p>
                      <a:pPr algn="l" indent="0" marL="0">
                        <a:buNone/>
                      </a:pPr>
                      <a:r>
                        <a:rPr lang="en-US" sz="950" dirty="0">
                          <a:solidFill>
                            <a:srgbClr val="3A4048"/>
                          </a:solidFill>
                          <a:latin typeface="Calibri" pitchFamily="34" charset="0"/>
                          <a:ea typeface="Calibri" pitchFamily="34" charset="-122"/>
                          <a:cs typeface="Calibri" pitchFamily="34" charset="-120"/>
                        </a:rPr>
                        <a:t>argmax probabilitas</a:t>
                      </a:r>
                      <a:endParaRPr lang="en-US" sz="95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950" dirty="0">
                          <a:solidFill>
                            <a:srgbClr val="3A4048"/>
                          </a:solidFill>
                          <a:latin typeface="Calibri" pitchFamily="34" charset="0"/>
                          <a:ea typeface="Calibri" pitchFamily="34" charset="-122"/>
                          <a:cs typeface="Calibri" pitchFamily="34" charset="-120"/>
                        </a:rPr>
                        <a:t>QWK jauh di bawah ambang</a:t>
                      </a:r>
                      <a:endParaRPr lang="en-US" sz="9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950" dirty="0">
                          <a:solidFill>
                            <a:srgbClr val="3A4048"/>
                          </a:solidFill>
                          <a:latin typeface="Calibri" pitchFamily="34" charset="0"/>
                          <a:ea typeface="Calibri" pitchFamily="34" charset="-122"/>
                          <a:cs typeface="Calibri" pitchFamily="34" charset="-120"/>
                        </a:rPr>
                        <a:t>9</a:t>
                      </a:r>
                      <a:endParaRPr lang="en-US" sz="9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393192">
                <a:tc>
                  <a:txBody>
                    <a:bodyPr/>
                    <a:lstStyle/>
                    <a:p>
                      <a:pPr algn="l" indent="0" marL="0">
                        <a:buNone/>
                      </a:pPr>
                      <a:r>
                        <a:rPr lang="en-US" sz="950" dirty="0">
                          <a:solidFill>
                            <a:srgbClr val="3A4048"/>
                          </a:solidFill>
                          <a:latin typeface="Calibri" pitchFamily="34" charset="0"/>
                          <a:ea typeface="Calibri" pitchFamily="34" charset="-122"/>
                          <a:cs typeface="Calibri" pitchFamily="34" charset="-120"/>
                        </a:rPr>
                        <a:t>MLP sebagai model utama</a:t>
                      </a:r>
                      <a:endParaRPr lang="en-US" sz="95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950" dirty="0">
                          <a:solidFill>
                            <a:srgbClr val="3A4048"/>
                          </a:solidFill>
                          <a:latin typeface="Calibri" pitchFamily="34" charset="0"/>
                          <a:ea typeface="Calibri" pitchFamily="34" charset="-122"/>
                          <a:cs typeface="Calibri" pitchFamily="34" charset="-120"/>
                        </a:rPr>
                        <a:t>Di bawah semua pohon</a:t>
                      </a:r>
                      <a:endParaRPr lang="en-US" sz="9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950" dirty="0">
                          <a:solidFill>
                            <a:srgbClr val="3A4048"/>
                          </a:solidFill>
                          <a:latin typeface="Calibri" pitchFamily="34" charset="0"/>
                          <a:ea typeface="Calibri" pitchFamily="34" charset="-122"/>
                          <a:cs typeface="Calibri" pitchFamily="34" charset="-120"/>
                        </a:rPr>
                        <a:t>7.1</a:t>
                      </a:r>
                      <a:endParaRPr lang="en-US" sz="9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393192">
                <a:tc>
                  <a:txBody>
                    <a:bodyPr/>
                    <a:lstStyle/>
                    <a:p>
                      <a:pPr algn="l" indent="0" marL="0">
                        <a:buNone/>
                      </a:pPr>
                      <a:r>
                        <a:rPr lang="en-US" sz="950" dirty="0">
                          <a:solidFill>
                            <a:srgbClr val="3A4048"/>
                          </a:solidFill>
                          <a:latin typeface="Calibri" pitchFamily="34" charset="0"/>
                          <a:ea typeface="Calibri" pitchFamily="34" charset="-122"/>
                          <a:cs typeface="Calibri" pitchFamily="34" charset="-120"/>
                        </a:rPr>
                        <a:t>Ambang titik tunggal</a:t>
                      </a:r>
                      <a:endParaRPr lang="en-US" sz="95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950" dirty="0">
                          <a:solidFill>
                            <a:srgbClr val="3A4048"/>
                          </a:solidFill>
                          <a:latin typeface="Calibri" pitchFamily="34" charset="0"/>
                          <a:ea typeface="Calibri" pitchFamily="34" charset="-122"/>
                          <a:cs typeface="Calibri" pitchFamily="34" charset="-120"/>
                        </a:rPr>
                        <a:t>Selisih split-half terbesar</a:t>
                      </a:r>
                      <a:endParaRPr lang="en-US" sz="9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950" dirty="0">
                          <a:solidFill>
                            <a:srgbClr val="3A4048"/>
                          </a:solidFill>
                          <a:latin typeface="Calibri" pitchFamily="34" charset="0"/>
                          <a:ea typeface="Calibri" pitchFamily="34" charset="-122"/>
                          <a:cs typeface="Calibri" pitchFamily="34" charset="-120"/>
                        </a:rPr>
                        <a:t>9.1</a:t>
                      </a:r>
                      <a:endParaRPr lang="en-US" sz="9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393192">
                <a:tc>
                  <a:txBody>
                    <a:bodyPr/>
                    <a:lstStyle/>
                    <a:p>
                      <a:pPr algn="l" indent="0" marL="0">
                        <a:buNone/>
                      </a:pPr>
                      <a:r>
                        <a:rPr lang="en-US" sz="950" dirty="0">
                          <a:solidFill>
                            <a:srgbClr val="3A4048"/>
                          </a:solidFill>
                          <a:latin typeface="Calibri" pitchFamily="34" charset="0"/>
                          <a:ea typeface="Calibri" pitchFamily="34" charset="-122"/>
                          <a:cs typeface="Calibri" pitchFamily="34" charset="-120"/>
                        </a:rPr>
                        <a:t>Kalibrasi Platt / isotonik</a:t>
                      </a:r>
                      <a:endParaRPr lang="en-US" sz="95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950" dirty="0">
                          <a:solidFill>
                            <a:srgbClr val="3A4048"/>
                          </a:solidFill>
                          <a:latin typeface="Calibri" pitchFamily="34" charset="0"/>
                          <a:ea typeface="Calibri" pitchFamily="34" charset="-122"/>
                          <a:cs typeface="Calibri" pitchFamily="34" charset="-120"/>
                        </a:rPr>
                        <a:t>Reliabilitas sudah diagonal</a:t>
                      </a:r>
                      <a:endParaRPr lang="en-US" sz="9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950" dirty="0">
                          <a:solidFill>
                            <a:srgbClr val="3A4048"/>
                          </a:solidFill>
                          <a:latin typeface="Calibri" pitchFamily="34" charset="0"/>
                          <a:ea typeface="Calibri" pitchFamily="34" charset="-122"/>
                          <a:cs typeface="Calibri" pitchFamily="34" charset="-120"/>
                        </a:rPr>
                        <a:t>9.2</a:t>
                      </a:r>
                      <a:endParaRPr lang="en-US" sz="9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393192">
                <a:tc>
                  <a:txBody>
                    <a:bodyPr/>
                    <a:lstStyle/>
                    <a:p>
                      <a:pPr algn="l" indent="0" marL="0">
                        <a:buNone/>
                      </a:pPr>
                      <a:r>
                        <a:rPr lang="en-US" sz="950" dirty="0">
                          <a:solidFill>
                            <a:srgbClr val="3A4048"/>
                          </a:solidFill>
                          <a:latin typeface="Calibri" pitchFamily="34" charset="0"/>
                          <a:ea typeface="Calibri" pitchFamily="34" charset="-122"/>
                          <a:cs typeface="Calibri" pitchFamily="34" charset="-120"/>
                        </a:rPr>
                        <a:t>Indikator tahun survei</a:t>
                      </a:r>
                      <a:endParaRPr lang="en-US" sz="95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950" dirty="0">
                          <a:solidFill>
                            <a:srgbClr val="3A4048"/>
                          </a:solidFill>
                          <a:latin typeface="Calibri" pitchFamily="34" charset="0"/>
                          <a:ea typeface="Calibri" pitchFamily="34" charset="-122"/>
                          <a:cs typeface="Calibri" pitchFamily="34" charset="-120"/>
                        </a:rPr>
                        <a:t>Target stabil antar tahun</a:t>
                      </a:r>
                      <a:endParaRPr lang="en-US" sz="9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950" dirty="0">
                          <a:solidFill>
                            <a:srgbClr val="3A4048"/>
                          </a:solidFill>
                          <a:latin typeface="Calibri" pitchFamily="34" charset="0"/>
                          <a:ea typeface="Calibri" pitchFamily="34" charset="-122"/>
                          <a:cs typeface="Calibri" pitchFamily="34" charset="-120"/>
                        </a:rPr>
                        <a:t>3.8</a:t>
                      </a:r>
                      <a:endParaRPr lang="en-US" sz="9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393192">
                <a:tc>
                  <a:txBody>
                    <a:bodyPr/>
                    <a:lstStyle/>
                    <a:p>
                      <a:pPr algn="l" indent="0" marL="0">
                        <a:buNone/>
                      </a:pPr>
                      <a:r>
                        <a:rPr lang="en-US" sz="950" dirty="0">
                          <a:solidFill>
                            <a:srgbClr val="3A4048"/>
                          </a:solidFill>
                          <a:latin typeface="Calibri" pitchFamily="34" charset="0"/>
                          <a:ea typeface="Calibri" pitchFamily="34" charset="-122"/>
                          <a:cs typeface="Calibri" pitchFamily="34" charset="-120"/>
                        </a:rPr>
                        <a:t>Seleksi fitur agresif</a:t>
                      </a:r>
                      <a:endParaRPr lang="en-US" sz="95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17780" cap="flat" cmpd="sng" algn="ctr">
                      <a:solidFill>
                        <a:srgbClr val="16191D"/>
                      </a:solidFill>
                      <a:prstDash val="solid"/>
                      <a:round/>
                      <a:headEnd type="none" w="med" len="med"/>
                      <a:tailEnd type="none" w="med" len="med"/>
                    </a:lnB>
                  </a:tcPr>
                </a:tc>
                <a:tc>
                  <a:txBody>
                    <a:bodyPr/>
                    <a:lstStyle/>
                    <a:p>
                      <a:pPr algn="l" indent="0" marL="0">
                        <a:buNone/>
                      </a:pPr>
                      <a:r>
                        <a:rPr lang="en-US" sz="950" dirty="0">
                          <a:solidFill>
                            <a:srgbClr val="3A4048"/>
                          </a:solidFill>
                          <a:latin typeface="Calibri" pitchFamily="34" charset="0"/>
                          <a:ea typeface="Calibri" pitchFamily="34" charset="-122"/>
                          <a:cs typeface="Calibri" pitchFamily="34" charset="-120"/>
                        </a:rPr>
                        <a:t>Sinyal tersebar tipis</a:t>
                      </a:r>
                      <a:endParaRPr lang="en-US" sz="9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17780" cap="flat" cmpd="sng" algn="ctr">
                      <a:solidFill>
                        <a:srgbClr val="16191D"/>
                      </a:solidFill>
                      <a:prstDash val="solid"/>
                      <a:round/>
                      <a:headEnd type="none" w="med" len="med"/>
                      <a:tailEnd type="none" w="med" len="med"/>
                    </a:lnB>
                  </a:tcPr>
                </a:tc>
                <a:tc>
                  <a:txBody>
                    <a:bodyPr/>
                    <a:lstStyle/>
                    <a:p>
                      <a:pPr algn="l" indent="0" marL="0">
                        <a:buNone/>
                      </a:pPr>
                      <a:r>
                        <a:rPr lang="en-US" sz="950" dirty="0">
                          <a:solidFill>
                            <a:srgbClr val="3A4048"/>
                          </a:solidFill>
                          <a:latin typeface="Calibri" pitchFamily="34" charset="0"/>
                          <a:ea typeface="Calibri" pitchFamily="34" charset="-122"/>
                          <a:cs typeface="Calibri" pitchFamily="34" charset="-120"/>
                        </a:rPr>
                        <a:t>3.7</a:t>
                      </a:r>
                      <a:endParaRPr lang="en-US" sz="9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17780" cap="flat" cmpd="sng" algn="ctr">
                      <a:solidFill>
                        <a:srgbClr val="16191D"/>
                      </a:solidFill>
                      <a:prstDash val="solid"/>
                      <a:round/>
                      <a:headEnd type="none" w="med" len="med"/>
                      <a:tailEnd type="none" w="med" len="med"/>
                    </a:lnB>
                  </a:tcPr>
                </a:tc>
              </a:tr>
            </a:tbl>
          </a:graphicData>
        </a:graphic>
      </p:graphicFrame>
      <p:graphicFrame>
        <p:nvGraphicFramePr>
          <p:cNvPr id="47" name="Table 1"/>
          <p:cNvGraphicFramePr>
            <a:graphicFrameLocks noGrp="1"/>
          </p:cNvGraphicFramePr>
          <p:nvPr>
            <p:extLst>
              <p:ext uri="{D42A27DB-BD31-4B8C-83A1-F6EECF244321}">
                <p14:modId xmlns:p14="http://schemas.microsoft.com/office/powerpoint/2010/main" val="1579011935"/>
              </p:ext>
            </p:extLst>
          </p:nvPr>
        </p:nvGraphicFramePr>
        <p:xfrm>
          <a:off x="6126480" y="1371600"/>
          <a:ext cx="5425135" cy="914400"/>
        </p:xfrm>
        <a:graphic>
          <a:graphicData uri="http://schemas.openxmlformats.org/drawingml/2006/table">
            <a:tbl>
              <a:tblPr/>
              <a:tblGrid>
                <a:gridCol w="1783080"/>
                <a:gridCol w="1508760"/>
                <a:gridCol w="1188720"/>
                <a:gridCol w="944575"/>
              </a:tblGrid>
              <a:tr h="361188">
                <a:tc>
                  <a:txBody>
                    <a:bodyPr/>
                    <a:lstStyle/>
                    <a:p>
                      <a:pPr algn="l" indent="0" marL="0">
                        <a:buNone/>
                      </a:pPr>
                      <a:r>
                        <a:rPr lang="en-US" sz="900" b="1" dirty="0">
                          <a:solidFill>
                            <a:srgbClr val="16191D"/>
                          </a:solidFill>
                          <a:latin typeface="Calibri" pitchFamily="34" charset="0"/>
                          <a:ea typeface="Calibri" pitchFamily="34" charset="-122"/>
                          <a:cs typeface="Calibri" pitchFamily="34" charset="-120"/>
                        </a:rPr>
                        <a:t>Di luar notebook (A.2)</a:t>
                      </a:r>
                      <a:endParaRPr lang="en-US" sz="900" dirty="0">
                        <a:latin typeface="Calibri" charset="0"/>
                        <a:ea typeface="Calibri" charset="0"/>
                        <a:cs typeface="Calibri" charset="0"/>
                      </a:endParaRPr>
                    </a:p>
                  </a:txBody>
                  <a:tcPr marL="25400" marR="101600" marT="63500" marB="63500" anchor="ctr">
                    <a:lnL w="0" cap="flat" cmpd="sng" algn="ctr">
                      <a:noFill/>
                    </a:lnL>
                    <a:lnR w="0" cap="flat" cmpd="sng" algn="ctr">
                      <a:noFill/>
                    </a:lnR>
                    <a:lnT w="17780" cap="flat" cmpd="sng" algn="ctr">
                      <a:solidFill>
                        <a:srgbClr val="16191D"/>
                      </a:solidFill>
                      <a:prstDash val="solid"/>
                      <a:round/>
                      <a:headEnd type="none" w="med" len="med"/>
                      <a:tailEnd type="none" w="med" len="med"/>
                    </a:lnT>
                    <a:lnB w="10160" cap="flat" cmpd="sng" algn="ctr">
                      <a:solidFill>
                        <a:srgbClr val="16191D"/>
                      </a:solidFill>
                      <a:prstDash val="solid"/>
                      <a:round/>
                      <a:headEnd type="none" w="med" len="med"/>
                      <a:tailEnd type="none" w="med" len="med"/>
                    </a:lnB>
                  </a:tcPr>
                </a:tc>
                <a:tc>
                  <a:txBody>
                    <a:bodyPr/>
                    <a:lstStyle/>
                    <a:p>
                      <a:pPr algn="l" indent="0" marL="0">
                        <a:buNone/>
                      </a:pPr>
                      <a:r>
                        <a:rPr lang="en-US" sz="900" b="1" dirty="0">
                          <a:solidFill>
                            <a:srgbClr val="16191D"/>
                          </a:solidFill>
                          <a:latin typeface="Calibri" pitchFamily="34" charset="0"/>
                          <a:ea typeface="Calibri" pitchFamily="34" charset="-122"/>
                          <a:cs typeface="Calibri" pitchFamily="34" charset="-120"/>
                        </a:rPr>
                        <a:t>Cakupan</a:t>
                      </a:r>
                      <a:endParaRPr lang="en-US" sz="900" dirty="0">
                        <a:latin typeface="Calibri" charset="0"/>
                        <a:ea typeface="Calibri" charset="0"/>
                        <a:cs typeface="Calibri" charset="0"/>
                      </a:endParaRPr>
                    </a:p>
                  </a:txBody>
                  <a:tcPr marL="101600" marR="101600" marT="63500" marB="63500" anchor="ctr">
                    <a:lnL w="0" cap="flat" cmpd="sng" algn="ctr">
                      <a:noFill/>
                    </a:lnL>
                    <a:lnR w="0" cap="flat" cmpd="sng" algn="ctr">
                      <a:noFill/>
                    </a:lnR>
                    <a:lnT w="17780" cap="flat" cmpd="sng" algn="ctr">
                      <a:solidFill>
                        <a:srgbClr val="16191D"/>
                      </a:solidFill>
                      <a:prstDash val="solid"/>
                      <a:round/>
                      <a:headEnd type="none" w="med" len="med"/>
                      <a:tailEnd type="none" w="med" len="med"/>
                    </a:lnT>
                    <a:lnB w="10160" cap="flat" cmpd="sng" algn="ctr">
                      <a:solidFill>
                        <a:srgbClr val="16191D"/>
                      </a:solidFill>
                      <a:prstDash val="solid"/>
                      <a:round/>
                      <a:headEnd type="none" w="med" len="med"/>
                      <a:tailEnd type="none" w="med" len="med"/>
                    </a:lnB>
                  </a:tcPr>
                </a:tc>
                <a:tc>
                  <a:txBody>
                    <a:bodyPr/>
                    <a:lstStyle/>
                    <a:p>
                      <a:pPr algn="l" indent="0" marL="0">
                        <a:buNone/>
                      </a:pPr>
                      <a:r>
                        <a:rPr lang="en-US" sz="900" b="1" dirty="0">
                          <a:solidFill>
                            <a:srgbClr val="16191D"/>
                          </a:solidFill>
                          <a:latin typeface="Calibri" pitchFamily="34" charset="0"/>
                          <a:ea typeface="Calibri" pitchFamily="34" charset="-122"/>
                          <a:cs typeface="Calibri" pitchFamily="34" charset="-120"/>
                        </a:rPr>
                        <a:t>QWK</a:t>
                      </a:r>
                      <a:endParaRPr lang="en-US" sz="900" dirty="0">
                        <a:latin typeface="Calibri" charset="0"/>
                        <a:ea typeface="Calibri" charset="0"/>
                        <a:cs typeface="Calibri" charset="0"/>
                      </a:endParaRPr>
                    </a:p>
                  </a:txBody>
                  <a:tcPr marL="101600" marR="101600" marT="63500" marB="63500" anchor="ctr">
                    <a:lnL w="0" cap="flat" cmpd="sng" algn="ctr">
                      <a:noFill/>
                    </a:lnL>
                    <a:lnR w="0" cap="flat" cmpd="sng" algn="ctr">
                      <a:noFill/>
                    </a:lnR>
                    <a:lnT w="17780" cap="flat" cmpd="sng" algn="ctr">
                      <a:solidFill>
                        <a:srgbClr val="16191D"/>
                      </a:solidFill>
                      <a:prstDash val="solid"/>
                      <a:round/>
                      <a:headEnd type="none" w="med" len="med"/>
                      <a:tailEnd type="none" w="med" len="med"/>
                    </a:lnT>
                    <a:lnB w="10160" cap="flat" cmpd="sng" algn="ctr">
                      <a:solidFill>
                        <a:srgbClr val="16191D"/>
                      </a:solidFill>
                      <a:prstDash val="solid"/>
                      <a:round/>
                      <a:headEnd type="none" w="med" len="med"/>
                      <a:tailEnd type="none" w="med" len="med"/>
                    </a:lnB>
                  </a:tcPr>
                </a:tc>
                <a:tc>
                  <a:txBody>
                    <a:bodyPr/>
                    <a:lstStyle/>
                    <a:p>
                      <a:pPr algn="l" indent="0" marL="0">
                        <a:buNone/>
                      </a:pPr>
                      <a:r>
                        <a:rPr lang="en-US" sz="900" b="1" dirty="0">
                          <a:solidFill>
                            <a:srgbClr val="16191D"/>
                          </a:solidFill>
                          <a:latin typeface="Calibri" pitchFamily="34" charset="0"/>
                          <a:ea typeface="Calibri" pitchFamily="34" charset="-122"/>
                          <a:cs typeface="Calibri" pitchFamily="34" charset="-120"/>
                        </a:rPr>
                        <a:t>Hasil</a:t>
                      </a:r>
                      <a:endParaRPr lang="en-US" sz="900" dirty="0">
                        <a:latin typeface="Calibri" charset="0"/>
                        <a:ea typeface="Calibri" charset="0"/>
                        <a:cs typeface="Calibri" charset="0"/>
                      </a:endParaRPr>
                    </a:p>
                  </a:txBody>
                  <a:tcPr marL="101600" marR="101600" marT="63500" marB="63500" anchor="ctr">
                    <a:lnL w="0" cap="flat" cmpd="sng" algn="ctr">
                      <a:noFill/>
                    </a:lnL>
                    <a:lnR w="0" cap="flat" cmpd="sng" algn="ctr">
                      <a:noFill/>
                    </a:lnR>
                    <a:lnT w="17780" cap="flat" cmpd="sng" algn="ctr">
                      <a:solidFill>
                        <a:srgbClr val="16191D"/>
                      </a:solidFill>
                      <a:prstDash val="solid"/>
                      <a:round/>
                      <a:headEnd type="none" w="med" len="med"/>
                      <a:tailEnd type="none" w="med" len="med"/>
                    </a:lnT>
                    <a:lnB w="10160" cap="flat" cmpd="sng" algn="ctr">
                      <a:solidFill>
                        <a:srgbClr val="16191D"/>
                      </a:solidFill>
                      <a:prstDash val="solid"/>
                      <a:round/>
                      <a:headEnd type="none" w="med" len="med"/>
                      <a:tailEnd type="none" w="med" len="med"/>
                    </a:lnB>
                  </a:tcPr>
                </a:tc>
              </a:tr>
              <a:tr h="361188">
                <a:tc>
                  <a:txBody>
                    <a:bodyPr/>
                    <a:lstStyle/>
                    <a:p>
                      <a:pPr algn="l" indent="0" marL="0">
                        <a:buNone/>
                      </a:pPr>
                      <a:r>
                        <a:rPr lang="en-US" sz="900" dirty="0">
                          <a:solidFill>
                            <a:srgbClr val="3A4048"/>
                          </a:solidFill>
                          <a:latin typeface="Calibri" pitchFamily="34" charset="0"/>
                          <a:ea typeface="Calibri" pitchFamily="34" charset="-122"/>
                          <a:cs typeface="Calibri" pitchFamily="34" charset="-120"/>
                        </a:rPr>
                        <a:t>Hyperparameter acak</a:t>
                      </a:r>
                      <a:endParaRPr lang="en-US" sz="90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900" dirty="0">
                          <a:solidFill>
                            <a:srgbClr val="3A4048"/>
                          </a:solidFill>
                          <a:latin typeface="Calibri" pitchFamily="34" charset="0"/>
                          <a:ea typeface="Calibri" pitchFamily="34" charset="-122"/>
                          <a:cs typeface="Calibri" pitchFamily="34" charset="-120"/>
                        </a:rPr>
                        <a:t>28 konfigurasi</a:t>
                      </a:r>
                      <a:endParaRPr lang="en-US" sz="9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900" dirty="0">
                          <a:solidFill>
                            <a:srgbClr val="3A4048"/>
                          </a:solidFill>
                          <a:latin typeface="Calibri" pitchFamily="34" charset="0"/>
                          <a:ea typeface="Calibri" pitchFamily="34" charset="-122"/>
                          <a:cs typeface="Calibri" pitchFamily="34" charset="-120"/>
                        </a:rPr>
                        <a:t>0,465–0,467</a:t>
                      </a:r>
                      <a:endParaRPr lang="en-US" sz="9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900" dirty="0">
                          <a:solidFill>
                            <a:srgbClr val="3A4048"/>
                          </a:solidFill>
                          <a:latin typeface="Calibri" pitchFamily="34" charset="0"/>
                          <a:ea typeface="Calibri" pitchFamily="34" charset="-122"/>
                          <a:cs typeface="Calibri" pitchFamily="34" charset="-120"/>
                        </a:rPr>
                        <a:t>Tak menonjol</a:t>
                      </a:r>
                      <a:endParaRPr lang="en-US" sz="9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361188">
                <a:tc>
                  <a:txBody>
                    <a:bodyPr/>
                    <a:lstStyle/>
                    <a:p>
                      <a:pPr algn="l" indent="0" marL="0">
                        <a:buNone/>
                      </a:pPr>
                      <a:r>
                        <a:rPr lang="en-US" sz="900" dirty="0">
                          <a:solidFill>
                            <a:srgbClr val="3A4048"/>
                          </a:solidFill>
                          <a:latin typeface="Calibri" pitchFamily="34" charset="0"/>
                          <a:ea typeface="Calibri" pitchFamily="34" charset="-122"/>
                          <a:cs typeface="Calibri" pitchFamily="34" charset="-120"/>
                        </a:rPr>
                        <a:t>Rekonstruksi nilai hilang</a:t>
                      </a:r>
                      <a:endParaRPr lang="en-US" sz="90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900" dirty="0">
                          <a:solidFill>
                            <a:srgbClr val="3A4048"/>
                          </a:solidFill>
                          <a:latin typeface="Calibri" pitchFamily="34" charset="0"/>
                          <a:ea typeface="Calibri" pitchFamily="34" charset="-122"/>
                          <a:cs typeface="Calibri" pitchFamily="34" charset="-120"/>
                        </a:rPr>
                        <a:t>3.030.768 sel</a:t>
                      </a:r>
                      <a:endParaRPr lang="en-US" sz="9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900" dirty="0">
                          <a:solidFill>
                            <a:srgbClr val="3A4048"/>
                          </a:solidFill>
                          <a:latin typeface="Calibri" pitchFamily="34" charset="0"/>
                          <a:ea typeface="Calibri" pitchFamily="34" charset="-122"/>
                          <a:cs typeface="Calibri" pitchFamily="34" charset="-120"/>
                        </a:rPr>
                        <a:t>0,4755–0,4806</a:t>
                      </a:r>
                      <a:endParaRPr lang="en-US" sz="9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900" dirty="0">
                          <a:solidFill>
                            <a:srgbClr val="3A4048"/>
                          </a:solidFill>
                          <a:latin typeface="Calibri" pitchFamily="34" charset="0"/>
                          <a:ea typeface="Calibri" pitchFamily="34" charset="-122"/>
                          <a:cs typeface="Calibri" pitchFamily="34" charset="-120"/>
                        </a:rPr>
                        <a:t>Datar</a:t>
                      </a:r>
                      <a:endParaRPr lang="en-US" sz="9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361188">
                <a:tc>
                  <a:txBody>
                    <a:bodyPr/>
                    <a:lstStyle/>
                    <a:p>
                      <a:pPr algn="l" indent="0" marL="0">
                        <a:buNone/>
                      </a:pPr>
                      <a:r>
                        <a:rPr lang="en-US" sz="900" dirty="0">
                          <a:solidFill>
                            <a:srgbClr val="3A4048"/>
                          </a:solidFill>
                          <a:latin typeface="Calibri" pitchFamily="34" charset="0"/>
                          <a:ea typeface="Calibri" pitchFamily="34" charset="-122"/>
                          <a:cs typeface="Calibri" pitchFamily="34" charset="-120"/>
                        </a:rPr>
                        <a:t>Pembobotan sampel</a:t>
                      </a:r>
                      <a:endParaRPr lang="en-US" sz="90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900" dirty="0">
                          <a:solidFill>
                            <a:srgbClr val="3A4048"/>
                          </a:solidFill>
                          <a:latin typeface="Calibri" pitchFamily="34" charset="0"/>
                          <a:ea typeface="Calibri" pitchFamily="34" charset="-122"/>
                          <a:cs typeface="Calibri" pitchFamily="34" charset="-120"/>
                        </a:rPr>
                        <a:t>4 tingkat</a:t>
                      </a:r>
                      <a:endParaRPr lang="en-US" sz="9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900" dirty="0">
                          <a:solidFill>
                            <a:srgbClr val="3A4048"/>
                          </a:solidFill>
                          <a:latin typeface="Calibri" pitchFamily="34" charset="0"/>
                          <a:ea typeface="Calibri" pitchFamily="34" charset="-122"/>
                          <a:cs typeface="Calibri" pitchFamily="34" charset="-120"/>
                        </a:rPr>
                        <a:t>0,458–0,469</a:t>
                      </a:r>
                      <a:endParaRPr lang="en-US" sz="9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900" dirty="0">
                          <a:solidFill>
                            <a:srgbClr val="3A4048"/>
                          </a:solidFill>
                          <a:latin typeface="Calibri" pitchFamily="34" charset="0"/>
                          <a:ea typeface="Calibri" pitchFamily="34" charset="-122"/>
                          <a:cs typeface="Calibri" pitchFamily="34" charset="-120"/>
                        </a:rPr>
                        <a:t>Turun monoton</a:t>
                      </a:r>
                      <a:endParaRPr lang="en-US" sz="9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361188">
                <a:tc>
                  <a:txBody>
                    <a:bodyPr/>
                    <a:lstStyle/>
                    <a:p>
                      <a:pPr algn="l" indent="0" marL="0">
                        <a:buNone/>
                      </a:pPr>
                      <a:r>
                        <a:rPr lang="en-US" sz="900" dirty="0">
                          <a:solidFill>
                            <a:srgbClr val="3A4048"/>
                          </a:solidFill>
                          <a:latin typeface="Calibri" pitchFamily="34" charset="0"/>
                          <a:ea typeface="Calibri" pitchFamily="34" charset="-122"/>
                          <a:cs typeface="Calibri" pitchFamily="34" charset="-120"/>
                        </a:rPr>
                        <a:t>Self-training</a:t>
                      </a:r>
                      <a:endParaRPr lang="en-US" sz="90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900" dirty="0">
                          <a:solidFill>
                            <a:srgbClr val="3A4048"/>
                          </a:solidFill>
                          <a:latin typeface="Calibri" pitchFamily="34" charset="0"/>
                          <a:ea typeface="Calibri" pitchFamily="34" charset="-122"/>
                          <a:cs typeface="Calibri" pitchFamily="34" charset="-120"/>
                        </a:rPr>
                        <a:t>Pseudo-label uji</a:t>
                      </a:r>
                      <a:endParaRPr lang="en-US" sz="9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900" dirty="0">
                          <a:solidFill>
                            <a:srgbClr val="3A4048"/>
                          </a:solidFill>
                          <a:latin typeface="Calibri" pitchFamily="34" charset="0"/>
                          <a:ea typeface="Calibri" pitchFamily="34" charset="-122"/>
                          <a:cs typeface="Calibri" pitchFamily="34" charset="-120"/>
                        </a:rPr>
                        <a:t>0,4735</a:t>
                      </a:r>
                      <a:endParaRPr lang="en-US" sz="9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900" dirty="0">
                          <a:solidFill>
                            <a:srgbClr val="3A4048"/>
                          </a:solidFill>
                          <a:latin typeface="Calibri" pitchFamily="34" charset="0"/>
                          <a:ea typeface="Calibri" pitchFamily="34" charset="-122"/>
                          <a:cs typeface="Calibri" pitchFamily="34" charset="-120"/>
                        </a:rPr>
                        <a:t>Tak menembus</a:t>
                      </a:r>
                      <a:endParaRPr lang="en-US" sz="9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361188">
                <a:tc>
                  <a:txBody>
                    <a:bodyPr/>
                    <a:lstStyle/>
                    <a:p>
                      <a:pPr algn="l" indent="0" marL="0">
                        <a:buNone/>
                      </a:pPr>
                      <a:r>
                        <a:rPr lang="en-US" sz="900" dirty="0">
                          <a:solidFill>
                            <a:srgbClr val="3A4048"/>
                          </a:solidFill>
                          <a:latin typeface="Calibri" pitchFamily="34" charset="0"/>
                          <a:ea typeface="Calibri" pitchFamily="34" charset="-122"/>
                          <a:cs typeface="Calibri" pitchFamily="34" charset="-120"/>
                        </a:rPr>
                        <a:t>Pembobotan survei</a:t>
                      </a:r>
                      <a:endParaRPr lang="en-US" sz="90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900" dirty="0">
                          <a:solidFill>
                            <a:srgbClr val="3A4048"/>
                          </a:solidFill>
                          <a:latin typeface="Calibri" pitchFamily="34" charset="0"/>
                          <a:ea typeface="Calibri" pitchFamily="34" charset="-122"/>
                          <a:cs typeface="Calibri" pitchFamily="34" charset="-120"/>
                        </a:rPr>
                        <a:t>survey_weight</a:t>
                      </a:r>
                      <a:endParaRPr lang="en-US" sz="9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900" dirty="0">
                          <a:solidFill>
                            <a:srgbClr val="3A4048"/>
                          </a:solidFill>
                          <a:latin typeface="Calibri" pitchFamily="34" charset="0"/>
                          <a:ea typeface="Calibri" pitchFamily="34" charset="-122"/>
                          <a:cs typeface="Calibri" pitchFamily="34" charset="-120"/>
                        </a:rPr>
                        <a:t>0,4726</a:t>
                      </a:r>
                      <a:endParaRPr lang="en-US" sz="9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900" dirty="0">
                          <a:solidFill>
                            <a:srgbClr val="3A4048"/>
                          </a:solidFill>
                          <a:latin typeface="Calibri" pitchFamily="34" charset="0"/>
                          <a:ea typeface="Calibri" pitchFamily="34" charset="-122"/>
                          <a:cs typeface="Calibri" pitchFamily="34" charset="-120"/>
                        </a:rPr>
                        <a:t>Tak menembus</a:t>
                      </a:r>
                      <a:endParaRPr lang="en-US" sz="9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361188">
                <a:tc>
                  <a:txBody>
                    <a:bodyPr/>
                    <a:lstStyle/>
                    <a:p>
                      <a:pPr algn="l" indent="0" marL="0">
                        <a:buNone/>
                      </a:pPr>
                      <a:r>
                        <a:rPr lang="en-US" sz="900" dirty="0">
                          <a:solidFill>
                            <a:srgbClr val="3A4048"/>
                          </a:solidFill>
                          <a:latin typeface="Calibri" pitchFamily="34" charset="0"/>
                          <a:ea typeface="Calibri" pitchFamily="34" charset="-122"/>
                          <a:cs typeface="Calibri" pitchFamily="34" charset="-120"/>
                        </a:rPr>
                        <a:t>Bagging 9 model</a:t>
                      </a:r>
                      <a:endParaRPr lang="en-US" sz="90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900" dirty="0">
                          <a:solidFill>
                            <a:srgbClr val="3A4048"/>
                          </a:solidFill>
                          <a:latin typeface="Calibri" pitchFamily="34" charset="0"/>
                          <a:ea typeface="Calibri" pitchFamily="34" charset="-122"/>
                          <a:cs typeface="Calibri" pitchFamily="34" charset="-120"/>
                        </a:rPr>
                        <a:t>6 LGB + 3 Cat</a:t>
                      </a:r>
                      <a:endParaRPr lang="en-US" sz="9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900" dirty="0">
                          <a:solidFill>
                            <a:srgbClr val="3A4048"/>
                          </a:solidFill>
                          <a:latin typeface="Calibri" pitchFamily="34" charset="0"/>
                          <a:ea typeface="Calibri" pitchFamily="34" charset="-122"/>
                          <a:cs typeface="Calibri" pitchFamily="34" charset="-120"/>
                        </a:rPr>
                        <a:t>0,4820</a:t>
                      </a:r>
                      <a:endParaRPr lang="en-US" sz="9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900" dirty="0">
                          <a:solidFill>
                            <a:srgbClr val="3A4048"/>
                          </a:solidFill>
                          <a:latin typeface="Calibri" pitchFamily="34" charset="0"/>
                          <a:ea typeface="Calibri" pitchFamily="34" charset="-122"/>
                          <a:cs typeface="Calibri" pitchFamily="34" charset="-120"/>
                        </a:rPr>
                        <a:t>Di bawah stacking</a:t>
                      </a:r>
                      <a:endParaRPr lang="en-US" sz="9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361188">
                <a:tc>
                  <a:txBody>
                    <a:bodyPr/>
                    <a:lstStyle/>
                    <a:p>
                      <a:pPr algn="l" indent="0" marL="0">
                        <a:buNone/>
                      </a:pPr>
                      <a:r>
                        <a:rPr lang="en-US" sz="900" dirty="0">
                          <a:solidFill>
                            <a:srgbClr val="3A4048"/>
                          </a:solidFill>
                          <a:latin typeface="Calibri" pitchFamily="34" charset="0"/>
                          <a:ea typeface="Calibri" pitchFamily="34" charset="-122"/>
                          <a:cs typeface="Calibri" pitchFamily="34" charset="-120"/>
                        </a:rPr>
                        <a:t>Blending 25 kandidat</a:t>
                      </a:r>
                      <a:endParaRPr lang="en-US" sz="90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900" dirty="0">
                          <a:solidFill>
                            <a:srgbClr val="3A4048"/>
                          </a:solidFill>
                          <a:latin typeface="Calibri" pitchFamily="34" charset="0"/>
                          <a:ea typeface="Calibri" pitchFamily="34" charset="-122"/>
                          <a:cs typeface="Calibri" pitchFamily="34" charset="-120"/>
                        </a:rPr>
                        <a:t>Greedy, z, rank</a:t>
                      </a:r>
                      <a:endParaRPr lang="en-US" sz="9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900" dirty="0">
                          <a:solidFill>
                            <a:srgbClr val="3A4048"/>
                          </a:solidFill>
                          <a:latin typeface="Calibri" pitchFamily="34" charset="0"/>
                          <a:ea typeface="Calibri" pitchFamily="34" charset="-122"/>
                          <a:cs typeface="Calibri" pitchFamily="34" charset="-120"/>
                        </a:rPr>
                        <a:t>0,4834–0,4839</a:t>
                      </a:r>
                      <a:endParaRPr lang="en-US" sz="9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900" dirty="0">
                          <a:solidFill>
                            <a:srgbClr val="3A4048"/>
                          </a:solidFill>
                          <a:latin typeface="Calibri" pitchFamily="34" charset="0"/>
                          <a:ea typeface="Calibri" pitchFamily="34" charset="-122"/>
                          <a:cs typeface="Calibri" pitchFamily="34" charset="-120"/>
                        </a:rPr>
                        <a:t>Setara terbaik</a:t>
                      </a:r>
                      <a:endParaRPr lang="en-US" sz="9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361188">
                <a:tc>
                  <a:txBody>
                    <a:bodyPr/>
                    <a:lstStyle/>
                    <a:p>
                      <a:pPr algn="l" indent="0" marL="0">
                        <a:buNone/>
                      </a:pPr>
                      <a:r>
                        <a:rPr lang="en-US" sz="900" dirty="0">
                          <a:solidFill>
                            <a:srgbClr val="3A4048"/>
                          </a:solidFill>
                          <a:latin typeface="Calibri" pitchFamily="34" charset="0"/>
                          <a:ea typeface="Calibri" pitchFamily="34" charset="-122"/>
                          <a:cs typeface="Calibri" pitchFamily="34" charset="-120"/>
                        </a:rPr>
                        <a:t>Vektor nilai kelas</a:t>
                      </a:r>
                      <a:endParaRPr lang="en-US" sz="90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900" dirty="0">
                          <a:solidFill>
                            <a:srgbClr val="3A4048"/>
                          </a:solidFill>
                          <a:latin typeface="Calibri" pitchFamily="34" charset="0"/>
                          <a:ea typeface="Calibri" pitchFamily="34" charset="-122"/>
                          <a:cs typeface="Calibri" pitchFamily="34" charset="-120"/>
                        </a:rPr>
                        <a:t>Ganti (1,2,3,4)</a:t>
                      </a:r>
                      <a:endParaRPr lang="en-US" sz="9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900" dirty="0">
                          <a:solidFill>
                            <a:srgbClr val="3A4048"/>
                          </a:solidFill>
                          <a:latin typeface="Calibri" pitchFamily="34" charset="0"/>
                          <a:ea typeface="Calibri" pitchFamily="34" charset="-122"/>
                          <a:cs typeface="Calibri" pitchFamily="34" charset="-120"/>
                        </a:rPr>
                        <a:t>0,4835</a:t>
                      </a:r>
                      <a:endParaRPr lang="en-US" sz="9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900" dirty="0">
                          <a:solidFill>
                            <a:srgbClr val="3A4048"/>
                          </a:solidFill>
                          <a:latin typeface="Calibri" pitchFamily="34" charset="0"/>
                          <a:ea typeface="Calibri" pitchFamily="34" charset="-122"/>
                          <a:cs typeface="Calibri" pitchFamily="34" charset="-120"/>
                        </a:rPr>
                        <a:t>Tetap (1,2,3,4)</a:t>
                      </a:r>
                      <a:endParaRPr lang="en-US" sz="9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361188">
                <a:tc>
                  <a:txBody>
                    <a:bodyPr/>
                    <a:lstStyle/>
                    <a:p>
                      <a:pPr algn="l" indent="0" marL="0">
                        <a:buNone/>
                      </a:pPr>
                      <a:r>
                        <a:rPr lang="en-US" sz="900" dirty="0">
                          <a:solidFill>
                            <a:srgbClr val="3A4048"/>
                          </a:solidFill>
                          <a:latin typeface="Calibri" pitchFamily="34" charset="0"/>
                          <a:ea typeface="Calibri" pitchFamily="34" charset="-122"/>
                          <a:cs typeface="Calibri" pitchFamily="34" charset="-120"/>
                        </a:rPr>
                        <a:t>Aturan linear simpleks</a:t>
                      </a:r>
                      <a:endParaRPr lang="en-US" sz="90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900" dirty="0">
                          <a:solidFill>
                            <a:srgbClr val="3A4048"/>
                          </a:solidFill>
                          <a:latin typeface="Calibri" pitchFamily="34" charset="0"/>
                          <a:ea typeface="Calibri" pitchFamily="34" charset="-122"/>
                          <a:cs typeface="Calibri" pitchFamily="34" charset="-120"/>
                        </a:rPr>
                        <a:t>argmax(W·p+b)</a:t>
                      </a:r>
                      <a:endParaRPr lang="en-US" sz="9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900" dirty="0">
                          <a:solidFill>
                            <a:srgbClr val="3A4048"/>
                          </a:solidFill>
                          <a:latin typeface="Calibri" pitchFamily="34" charset="0"/>
                          <a:ea typeface="Calibri" pitchFamily="34" charset="-122"/>
                          <a:cs typeface="Calibri" pitchFamily="34" charset="-120"/>
                        </a:rPr>
                        <a:t>0,4744</a:t>
                      </a:r>
                      <a:endParaRPr lang="en-US" sz="9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900" dirty="0">
                          <a:solidFill>
                            <a:srgbClr val="3A4048"/>
                          </a:solidFill>
                          <a:latin typeface="Calibri" pitchFamily="34" charset="0"/>
                          <a:ea typeface="Calibri" pitchFamily="34" charset="-122"/>
                          <a:cs typeface="Calibri" pitchFamily="34" charset="-120"/>
                        </a:rPr>
                        <a:t>Di bawah ordinal</a:t>
                      </a:r>
                      <a:endParaRPr lang="en-US" sz="9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361188">
                <a:tc>
                  <a:txBody>
                    <a:bodyPr/>
                    <a:lstStyle/>
                    <a:p>
                      <a:pPr algn="l" indent="0" marL="0">
                        <a:buNone/>
                      </a:pPr>
                      <a:r>
                        <a:rPr lang="en-US" sz="900" dirty="0">
                          <a:solidFill>
                            <a:srgbClr val="3A4048"/>
                          </a:solidFill>
                          <a:latin typeface="Calibri" pitchFamily="34" charset="0"/>
                          <a:ea typeface="Calibri" pitchFamily="34" charset="-122"/>
                          <a:cs typeface="Calibri" pitchFamily="34" charset="-120"/>
                        </a:rPr>
                        <a:t>TabPFN v2 GPU</a:t>
                      </a:r>
                      <a:endParaRPr lang="en-US" sz="90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900" dirty="0">
                          <a:solidFill>
                            <a:srgbClr val="3A4048"/>
                          </a:solidFill>
                          <a:latin typeface="Calibri" pitchFamily="34" charset="0"/>
                          <a:ea typeface="Calibri" pitchFamily="34" charset="-122"/>
                          <a:cs typeface="Calibri" pitchFamily="34" charset="-120"/>
                        </a:rPr>
                        <a:t>Model fondasi</a:t>
                      </a:r>
                      <a:endParaRPr lang="en-US" sz="9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900" dirty="0">
                          <a:solidFill>
                            <a:srgbClr val="3A4048"/>
                          </a:solidFill>
                          <a:latin typeface="Calibri" pitchFamily="34" charset="0"/>
                          <a:ea typeface="Calibri" pitchFamily="34" charset="-122"/>
                          <a:cs typeface="Calibri" pitchFamily="34" charset="-120"/>
                        </a:rPr>
                        <a:t>tak selesai</a:t>
                      </a:r>
                      <a:endParaRPr lang="en-US" sz="9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900" dirty="0">
                          <a:solidFill>
                            <a:srgbClr val="3A4048"/>
                          </a:solidFill>
                          <a:latin typeface="Calibri" pitchFamily="34" charset="0"/>
                          <a:ea typeface="Calibri" pitchFamily="34" charset="-122"/>
                          <a:cs typeface="Calibri" pitchFamily="34" charset="-120"/>
                        </a:rPr>
                        <a:t>85 menit/bag</a:t>
                      </a:r>
                      <a:endParaRPr lang="en-US" sz="9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361188">
                <a:tc>
                  <a:txBody>
                    <a:bodyPr/>
                    <a:lstStyle/>
                    <a:p>
                      <a:pPr algn="l" indent="0" marL="0">
                        <a:buNone/>
                      </a:pPr>
                      <a:r>
                        <a:rPr lang="en-US" sz="900" b="1" dirty="0">
                          <a:solidFill>
                            <a:srgbClr val="A8442A"/>
                          </a:solidFill>
                          <a:latin typeface="Calibri" pitchFamily="34" charset="0"/>
                          <a:ea typeface="Calibri" pitchFamily="34" charset="-122"/>
                          <a:cs typeface="Calibri" pitchFamily="34" charset="-120"/>
                        </a:rPr>
                        <a:t>Ambang per segmen</a:t>
                      </a:r>
                      <a:endParaRPr lang="en-US" sz="90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17780" cap="flat" cmpd="sng" algn="ctr">
                      <a:solidFill>
                        <a:srgbClr val="16191D"/>
                      </a:solidFill>
                      <a:prstDash val="solid"/>
                      <a:round/>
                      <a:headEnd type="none" w="med" len="med"/>
                      <a:tailEnd type="none" w="med" len="med"/>
                    </a:lnB>
                  </a:tcPr>
                </a:tc>
                <a:tc>
                  <a:txBody>
                    <a:bodyPr/>
                    <a:lstStyle/>
                    <a:p>
                      <a:pPr algn="l" indent="0" marL="0">
                        <a:buNone/>
                      </a:pPr>
                      <a:r>
                        <a:rPr lang="en-US" sz="900" dirty="0">
                          <a:solidFill>
                            <a:srgbClr val="3A4048"/>
                          </a:solidFill>
                          <a:latin typeface="Calibri" pitchFamily="34" charset="0"/>
                          <a:ea typeface="Calibri" pitchFamily="34" charset="-122"/>
                          <a:cs typeface="Calibri" pitchFamily="34" charset="-120"/>
                        </a:rPr>
                        <a:t>Tahun, kesehatan, usia</a:t>
                      </a:r>
                      <a:endParaRPr lang="en-US" sz="9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17780" cap="flat" cmpd="sng" algn="ctr">
                      <a:solidFill>
                        <a:srgbClr val="16191D"/>
                      </a:solidFill>
                      <a:prstDash val="solid"/>
                      <a:round/>
                      <a:headEnd type="none" w="med" len="med"/>
                      <a:tailEnd type="none" w="med" len="med"/>
                    </a:lnB>
                  </a:tcPr>
                </a:tc>
                <a:tc>
                  <a:txBody>
                    <a:bodyPr/>
                    <a:lstStyle/>
                    <a:p>
                      <a:pPr algn="l" indent="0" marL="0">
                        <a:buNone/>
                      </a:pPr>
                      <a:r>
                        <a:rPr lang="en-US" sz="900" dirty="0">
                          <a:solidFill>
                            <a:srgbClr val="3A4048"/>
                          </a:solidFill>
                          <a:latin typeface="Calibri" pitchFamily="34" charset="0"/>
                          <a:ea typeface="Calibri" pitchFamily="34" charset="-122"/>
                          <a:cs typeface="Calibri" pitchFamily="34" charset="-120"/>
                        </a:rPr>
                        <a:t>tampak naik</a:t>
                      </a:r>
                      <a:endParaRPr lang="en-US" sz="9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17780" cap="flat" cmpd="sng" algn="ctr">
                      <a:solidFill>
                        <a:srgbClr val="16191D"/>
                      </a:solidFill>
                      <a:prstDash val="solid"/>
                      <a:round/>
                      <a:headEnd type="none" w="med" len="med"/>
                      <a:tailEnd type="none" w="med" len="med"/>
                    </a:lnB>
                  </a:tcPr>
                </a:tc>
                <a:tc>
                  <a:txBody>
                    <a:bodyPr/>
                    <a:lstStyle/>
                    <a:p>
                      <a:pPr algn="l" indent="0" marL="0">
                        <a:buNone/>
                      </a:pPr>
                      <a:r>
                        <a:rPr lang="en-US" sz="900" b="1" dirty="0">
                          <a:solidFill>
                            <a:srgbClr val="A8442A"/>
                          </a:solidFill>
                          <a:latin typeface="Calibri" pitchFamily="34" charset="0"/>
                          <a:ea typeface="Calibri" pitchFamily="34" charset="-122"/>
                          <a:cs typeface="Calibri" pitchFamily="34" charset="-120"/>
                        </a:rPr>
                        <a:t>Overfit</a:t>
                      </a:r>
                      <a:endParaRPr lang="en-US" sz="9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17780" cap="flat" cmpd="sng" algn="ctr">
                      <a:solidFill>
                        <a:srgbClr val="16191D"/>
                      </a:solidFill>
                      <a:prstDash val="solid"/>
                      <a:round/>
                      <a:headEnd type="none" w="med" len="med"/>
                      <a:tailEnd type="none" w="med" len="med"/>
                    </a:lnB>
                  </a:tcPr>
                </a:tc>
              </a:tr>
            </a:tbl>
          </a:graphicData>
        </a:graphic>
      </p:graphicFrame>
      <p:sp>
        <p:nvSpPr>
          <p:cNvPr id="6" name="Text 2"/>
          <p:cNvSpPr/>
          <p:nvPr/>
        </p:nvSpPr>
        <p:spPr>
          <a:xfrm>
            <a:off x="640080" y="5833872"/>
            <a:ext cx="10911535" cy="365760"/>
          </a:xfrm>
          <a:prstGeom prst="rect">
            <a:avLst/>
          </a:prstGeom>
          <a:noFill/>
          <a:ln/>
        </p:spPr>
        <p:txBody>
          <a:bodyPr wrap="square" lIns="0" tIns="0" rIns="0" bIns="0" rtlCol="0" anchor="ctr"/>
          <a:lstStyle/>
          <a:p>
            <a:pPr algn="l" indent="0" marL="0">
              <a:buNone/>
            </a:pPr>
            <a:r>
              <a:rPr lang="en-US" sz="950" i="1" dirty="0">
                <a:solidFill>
                  <a:srgbClr val="6E747C"/>
                </a:solidFill>
                <a:latin typeface="Calibri" pitchFamily="34" charset="0"/>
                <a:ea typeface="Calibri" pitchFamily="34" charset="-122"/>
                <a:cs typeface="Calibri" pitchFamily="34" charset="-120"/>
              </a:rPr>
              <a:t>Rekonstruksi nilai hilang: 78 kolom pulih di atas 95%, lima sempurna, tetapi QWK datar di tingkat pemulihan 56, 79, dan 100%. Yang dipulihkan adalah redundansi, bukan sinyal.</a:t>
            </a:r>
            <a:endParaRPr lang="en-US" sz="950" dirty="0"/>
          </a:p>
        </p:txBody>
      </p:sp>
      <p:sp>
        <p:nvSpPr>
          <p:cNvPr id="8" name="Shape 3"/>
          <p:cNvSpPr/>
          <p:nvPr/>
        </p:nvSpPr>
        <p:spPr>
          <a:xfrm>
            <a:off x="640080" y="6400800"/>
            <a:ext cx="1572768" cy="45720"/>
          </a:xfrm>
          <a:prstGeom prst="rect">
            <a:avLst/>
          </a:prstGeom>
          <a:solidFill>
            <a:srgbClr val="DCD8D1"/>
          </a:solidFill>
          <a:ln/>
        </p:spPr>
      </p:sp>
      <p:sp>
        <p:nvSpPr>
          <p:cNvPr id="9" name="Text 4"/>
          <p:cNvSpPr/>
          <p:nvPr/>
        </p:nvSpPr>
        <p:spPr>
          <a:xfrm>
            <a:off x="640080"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I · Latar &amp; data</a:t>
            </a:r>
            <a:endParaRPr lang="en-US" sz="850" dirty="0"/>
          </a:p>
        </p:txBody>
      </p:sp>
      <p:sp>
        <p:nvSpPr>
          <p:cNvPr id="10" name="Shape 5"/>
          <p:cNvSpPr/>
          <p:nvPr/>
        </p:nvSpPr>
        <p:spPr>
          <a:xfrm>
            <a:off x="2304288" y="6400800"/>
            <a:ext cx="1572768" cy="45720"/>
          </a:xfrm>
          <a:prstGeom prst="rect">
            <a:avLst/>
          </a:prstGeom>
          <a:solidFill>
            <a:srgbClr val="DCD8D1"/>
          </a:solidFill>
          <a:ln/>
        </p:spPr>
      </p:sp>
      <p:sp>
        <p:nvSpPr>
          <p:cNvPr id="11" name="Text 6"/>
          <p:cNvSpPr/>
          <p:nvPr/>
        </p:nvSpPr>
        <p:spPr>
          <a:xfrm>
            <a:off x="2304288"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II · EDA</a:t>
            </a:r>
            <a:endParaRPr lang="en-US" sz="850" dirty="0"/>
          </a:p>
        </p:txBody>
      </p:sp>
      <p:sp>
        <p:nvSpPr>
          <p:cNvPr id="12" name="Shape 7"/>
          <p:cNvSpPr/>
          <p:nvPr/>
        </p:nvSpPr>
        <p:spPr>
          <a:xfrm>
            <a:off x="3968496" y="6400800"/>
            <a:ext cx="1572768" cy="45720"/>
          </a:xfrm>
          <a:prstGeom prst="rect">
            <a:avLst/>
          </a:prstGeom>
          <a:solidFill>
            <a:srgbClr val="DCD8D1"/>
          </a:solidFill>
          <a:ln/>
        </p:spPr>
      </p:sp>
      <p:sp>
        <p:nvSpPr>
          <p:cNvPr id="13" name="Text 8"/>
          <p:cNvSpPr/>
          <p:nvPr/>
        </p:nvSpPr>
        <p:spPr>
          <a:xfrm>
            <a:off x="3968496"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III · Pipeline</a:t>
            </a:r>
            <a:endParaRPr lang="en-US" sz="850" dirty="0"/>
          </a:p>
        </p:txBody>
      </p:sp>
      <p:sp>
        <p:nvSpPr>
          <p:cNvPr id="14" name="Shape 9"/>
          <p:cNvSpPr/>
          <p:nvPr/>
        </p:nvSpPr>
        <p:spPr>
          <a:xfrm>
            <a:off x="5632704" y="6400800"/>
            <a:ext cx="1572768" cy="45720"/>
          </a:xfrm>
          <a:prstGeom prst="rect">
            <a:avLst/>
          </a:prstGeom>
          <a:solidFill>
            <a:srgbClr val="DCD8D1"/>
          </a:solidFill>
          <a:ln/>
        </p:spPr>
      </p:sp>
      <p:sp>
        <p:nvSpPr>
          <p:cNvPr id="15" name="Text 10"/>
          <p:cNvSpPr/>
          <p:nvPr/>
        </p:nvSpPr>
        <p:spPr>
          <a:xfrm>
            <a:off x="5632704"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IV · Disiplin estimasi</a:t>
            </a:r>
            <a:endParaRPr lang="en-US" sz="850" dirty="0"/>
          </a:p>
        </p:txBody>
      </p:sp>
      <p:sp>
        <p:nvSpPr>
          <p:cNvPr id="16" name="Shape 11"/>
          <p:cNvSpPr/>
          <p:nvPr/>
        </p:nvSpPr>
        <p:spPr>
          <a:xfrm>
            <a:off x="7296912" y="6400800"/>
            <a:ext cx="1572768" cy="45720"/>
          </a:xfrm>
          <a:prstGeom prst="rect">
            <a:avLst/>
          </a:prstGeom>
          <a:solidFill>
            <a:srgbClr val="DCD8D1"/>
          </a:solidFill>
          <a:ln/>
        </p:spPr>
      </p:sp>
      <p:sp>
        <p:nvSpPr>
          <p:cNvPr id="17" name="Text 12"/>
          <p:cNvSpPr/>
          <p:nvPr/>
        </p:nvSpPr>
        <p:spPr>
          <a:xfrm>
            <a:off x="7296912"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V · Hasil &amp; plafon</a:t>
            </a:r>
            <a:endParaRPr lang="en-US" sz="850" dirty="0"/>
          </a:p>
        </p:txBody>
      </p:sp>
      <p:sp>
        <p:nvSpPr>
          <p:cNvPr id="18" name="Shape 13"/>
          <p:cNvSpPr/>
          <p:nvPr/>
        </p:nvSpPr>
        <p:spPr>
          <a:xfrm>
            <a:off x="8961120" y="6400800"/>
            <a:ext cx="1572768" cy="45720"/>
          </a:xfrm>
          <a:prstGeom prst="rect">
            <a:avLst/>
          </a:prstGeom>
          <a:solidFill>
            <a:srgbClr val="A8442A"/>
          </a:solidFill>
          <a:ln/>
        </p:spPr>
      </p:sp>
      <p:sp>
        <p:nvSpPr>
          <p:cNvPr id="19" name="Text 14"/>
          <p:cNvSpPr/>
          <p:nvPr/>
        </p:nvSpPr>
        <p:spPr>
          <a:xfrm>
            <a:off x="8961120" y="6464808"/>
            <a:ext cx="1572768" cy="201168"/>
          </a:xfrm>
          <a:prstGeom prst="rect">
            <a:avLst/>
          </a:prstGeom>
          <a:noFill/>
          <a:ln/>
        </p:spPr>
        <p:txBody>
          <a:bodyPr wrap="square" lIns="0" tIns="0" rIns="0" bIns="0" rtlCol="0" anchor="ctr"/>
          <a:lstStyle/>
          <a:p>
            <a:pPr indent="0" marL="0">
              <a:buNone/>
            </a:pPr>
            <a:r>
              <a:rPr lang="en-US" sz="850" b="1" dirty="0">
                <a:solidFill>
                  <a:srgbClr val="16191D"/>
                </a:solidFill>
                <a:latin typeface="Calibri" pitchFamily="34" charset="0"/>
                <a:ea typeface="Calibri" pitchFamily="34" charset="-122"/>
                <a:cs typeface="Calibri" pitchFamily="34" charset="-120"/>
              </a:rPr>
              <a:t>VI · Reproduksi &amp; produk</a:t>
            </a:r>
            <a:endParaRPr lang="en-US" sz="850" dirty="0"/>
          </a:p>
        </p:txBody>
      </p:sp>
      <p:sp>
        <p:nvSpPr>
          <p:cNvPr id="20" name="Text 15"/>
          <p:cNvSpPr/>
          <p:nvPr/>
        </p:nvSpPr>
        <p:spPr>
          <a:xfrm>
            <a:off x="10637215" y="6382512"/>
            <a:ext cx="914400" cy="274320"/>
          </a:xfrm>
          <a:prstGeom prst="rect">
            <a:avLst/>
          </a:prstGeom>
          <a:noFill/>
          <a:ln/>
        </p:spPr>
        <p:txBody>
          <a:bodyPr wrap="square" lIns="0" tIns="0" rIns="0" bIns="0" rtlCol="0" anchor="ctr"/>
          <a:lstStyle/>
          <a:p>
            <a:pPr algn="r" indent="0" marL="0">
              <a:buNone/>
            </a:pPr>
            <a:r>
              <a:rPr lang="en-US" sz="900" b="1" dirty="0">
                <a:solidFill>
                  <a:srgbClr val="9AA0A7"/>
                </a:solidFill>
                <a:latin typeface="Calibri" pitchFamily="34" charset="0"/>
                <a:ea typeface="Calibri" pitchFamily="34" charset="-122"/>
                <a:cs typeface="Calibri" pitchFamily="34" charset="-120"/>
              </a:rPr>
              <a:t>23</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566928"/>
            <a:ext cx="2743200" cy="274320"/>
          </a:xfrm>
          <a:prstGeom prst="rect">
            <a:avLst/>
          </a:prstGeom>
          <a:noFill/>
          <a:ln/>
        </p:spPr>
        <p:txBody>
          <a:bodyPr wrap="square" lIns="0" tIns="0" rIns="0" bIns="0" rtlCol="0" anchor="ctr"/>
          <a:lstStyle/>
          <a:p>
            <a:pPr indent="0" marL="0">
              <a:buNone/>
            </a:pPr>
            <a:r>
              <a:rPr lang="en-US" sz="1050" b="1" spc="150" kern="0" dirty="0">
                <a:solidFill>
                  <a:srgbClr val="6E747C"/>
                </a:solidFill>
                <a:latin typeface="Calibri" pitchFamily="34" charset="0"/>
                <a:ea typeface="Calibri" pitchFamily="34" charset="-122"/>
                <a:cs typeface="Calibri" pitchFamily="34" charset="-120"/>
              </a:rPr>
              <a:t>LAMPIRAN A.3</a:t>
            </a:r>
            <a:endParaRPr lang="en-US" sz="1050" dirty="0"/>
          </a:p>
        </p:txBody>
      </p:sp>
      <p:sp>
        <p:nvSpPr>
          <p:cNvPr id="3" name="Text 1"/>
          <p:cNvSpPr/>
          <p:nvPr/>
        </p:nvSpPr>
        <p:spPr>
          <a:xfrm>
            <a:off x="640080" y="877824"/>
            <a:ext cx="10911535" cy="548640"/>
          </a:xfrm>
          <a:prstGeom prst="rect">
            <a:avLst/>
          </a:prstGeom>
          <a:noFill/>
          <a:ln/>
        </p:spPr>
        <p:txBody>
          <a:bodyPr wrap="square" lIns="0" tIns="0" rIns="0" bIns="0" rtlCol="0" anchor="t"/>
          <a:lstStyle/>
          <a:p>
            <a:pPr indent="0" marL="0">
              <a:lnSpc>
                <a:spcPts val="3136"/>
              </a:lnSpc>
              <a:buNone/>
            </a:pPr>
            <a:r>
              <a:rPr lang="en-US" sz="2800" b="1" dirty="0">
                <a:solidFill>
                  <a:srgbClr val="16191D"/>
                </a:solidFill>
                <a:latin typeface="Cambria" pitchFamily="34" charset="0"/>
                <a:ea typeface="Cambria" pitchFamily="34" charset="-122"/>
                <a:cs typeface="Cambria" pitchFamily="34" charset="-120"/>
              </a:rPr>
              <a:t>Daftar pustaka.</a:t>
            </a:r>
            <a:endParaRPr lang="en-US" sz="2800" dirty="0"/>
          </a:p>
        </p:txBody>
      </p:sp>
      <p:sp>
        <p:nvSpPr>
          <p:cNvPr id="4" name="Text 2"/>
          <p:cNvSpPr/>
          <p:nvPr/>
        </p:nvSpPr>
        <p:spPr>
          <a:xfrm>
            <a:off x="640080" y="1627632"/>
            <a:ext cx="10911535" cy="310896"/>
          </a:xfrm>
          <a:prstGeom prst="rect">
            <a:avLst/>
          </a:prstGeom>
          <a:noFill/>
          <a:ln/>
        </p:spPr>
        <p:txBody>
          <a:bodyPr wrap="square" lIns="0" tIns="0" rIns="0" bIns="0" rtlCol="0" anchor="ctr"/>
          <a:lstStyle/>
          <a:p>
            <a:pPr indent="0" marL="0">
              <a:buNone/>
            </a:pPr>
            <a:r>
              <a:rPr lang="en-US" sz="1050" dirty="0">
                <a:solidFill>
                  <a:srgbClr val="3A4048"/>
                </a:solidFill>
                <a:latin typeface="Calibri" pitchFamily="34" charset="0"/>
                <a:ea typeface="Calibri" pitchFamily="34" charset="-122"/>
                <a:cs typeface="Calibri" pitchFamily="34" charset="-120"/>
              </a:rPr>
              <a:t>Chen, T., &amp; Guestrin, C. (2016). XGBoost: A scalable tree boosting system. Proceedings of KDD 2016.</a:t>
            </a:r>
            <a:endParaRPr lang="en-US" sz="1050" dirty="0"/>
          </a:p>
        </p:txBody>
      </p:sp>
      <p:sp>
        <p:nvSpPr>
          <p:cNvPr id="5" name="Text 3"/>
          <p:cNvSpPr/>
          <p:nvPr/>
        </p:nvSpPr>
        <p:spPr>
          <a:xfrm>
            <a:off x="640080" y="1956816"/>
            <a:ext cx="10911535" cy="310896"/>
          </a:xfrm>
          <a:prstGeom prst="rect">
            <a:avLst/>
          </a:prstGeom>
          <a:noFill/>
          <a:ln/>
        </p:spPr>
        <p:txBody>
          <a:bodyPr wrap="square" lIns="0" tIns="0" rIns="0" bIns="0" rtlCol="0" anchor="ctr"/>
          <a:lstStyle/>
          <a:p>
            <a:pPr indent="0" marL="0">
              <a:buNone/>
            </a:pPr>
            <a:r>
              <a:rPr lang="en-US" sz="1050" dirty="0">
                <a:solidFill>
                  <a:srgbClr val="3A4048"/>
                </a:solidFill>
                <a:latin typeface="Calibri" pitchFamily="34" charset="0"/>
                <a:ea typeface="Calibri" pitchFamily="34" charset="-122"/>
                <a:cs typeface="Calibri" pitchFamily="34" charset="-120"/>
              </a:rPr>
              <a:t>Cohen, J. (1968). Weighted kappa: Nominal scale agreement with provision for scaled disagreement or partial credit. Psychological Bulletin, 70(4).</a:t>
            </a:r>
            <a:endParaRPr lang="en-US" sz="1050" dirty="0"/>
          </a:p>
        </p:txBody>
      </p:sp>
      <p:sp>
        <p:nvSpPr>
          <p:cNvPr id="6" name="Text 4"/>
          <p:cNvSpPr/>
          <p:nvPr/>
        </p:nvSpPr>
        <p:spPr>
          <a:xfrm>
            <a:off x="640080" y="2286000"/>
            <a:ext cx="10911535" cy="310896"/>
          </a:xfrm>
          <a:prstGeom prst="rect">
            <a:avLst/>
          </a:prstGeom>
          <a:noFill/>
          <a:ln/>
        </p:spPr>
        <p:txBody>
          <a:bodyPr wrap="square" lIns="0" tIns="0" rIns="0" bIns="0" rtlCol="0" anchor="ctr"/>
          <a:lstStyle/>
          <a:p>
            <a:pPr indent="0" marL="0">
              <a:buNone/>
            </a:pPr>
            <a:r>
              <a:rPr lang="en-US" sz="1050" dirty="0">
                <a:solidFill>
                  <a:srgbClr val="3A4048"/>
                </a:solidFill>
                <a:latin typeface="Calibri" pitchFamily="34" charset="0"/>
                <a:ea typeface="Calibri" pitchFamily="34" charset="-122"/>
                <a:cs typeface="Calibri" pitchFamily="34" charset="-120"/>
              </a:rPr>
              <a:t>Efron, B. (1979). Bootstrap methods: Another look at the jackknife. The Annals of Statistics, 7(1).</a:t>
            </a:r>
            <a:endParaRPr lang="en-US" sz="1050" dirty="0"/>
          </a:p>
        </p:txBody>
      </p:sp>
      <p:sp>
        <p:nvSpPr>
          <p:cNvPr id="7" name="Text 5"/>
          <p:cNvSpPr/>
          <p:nvPr/>
        </p:nvSpPr>
        <p:spPr>
          <a:xfrm>
            <a:off x="640080" y="2615184"/>
            <a:ext cx="10911535" cy="310896"/>
          </a:xfrm>
          <a:prstGeom prst="rect">
            <a:avLst/>
          </a:prstGeom>
          <a:noFill/>
          <a:ln/>
        </p:spPr>
        <p:txBody>
          <a:bodyPr wrap="square" lIns="0" tIns="0" rIns="0" bIns="0" rtlCol="0" anchor="ctr"/>
          <a:lstStyle/>
          <a:p>
            <a:pPr indent="0" marL="0">
              <a:buNone/>
            </a:pPr>
            <a:r>
              <a:rPr lang="en-US" sz="1050" dirty="0">
                <a:solidFill>
                  <a:srgbClr val="3A4048"/>
                </a:solidFill>
                <a:latin typeface="Calibri" pitchFamily="34" charset="0"/>
                <a:ea typeface="Calibri" pitchFamily="34" charset="-122"/>
                <a:cs typeface="Calibri" pitchFamily="34" charset="-120"/>
              </a:rPr>
              <a:t>Frank, E., &amp; Hall, M. (2001). A simple approach to ordinal classification. ECML 2001, LNCS 2167.</a:t>
            </a:r>
            <a:endParaRPr lang="en-US" sz="1050" dirty="0"/>
          </a:p>
        </p:txBody>
      </p:sp>
      <p:sp>
        <p:nvSpPr>
          <p:cNvPr id="8" name="Text 6"/>
          <p:cNvSpPr/>
          <p:nvPr/>
        </p:nvSpPr>
        <p:spPr>
          <a:xfrm>
            <a:off x="640080" y="2944368"/>
            <a:ext cx="10911535" cy="310896"/>
          </a:xfrm>
          <a:prstGeom prst="rect">
            <a:avLst/>
          </a:prstGeom>
          <a:noFill/>
          <a:ln/>
        </p:spPr>
        <p:txBody>
          <a:bodyPr wrap="square" lIns="0" tIns="0" rIns="0" bIns="0" rtlCol="0" anchor="ctr"/>
          <a:lstStyle/>
          <a:p>
            <a:pPr indent="0" marL="0">
              <a:buNone/>
            </a:pPr>
            <a:r>
              <a:rPr lang="en-US" sz="1050" dirty="0">
                <a:solidFill>
                  <a:srgbClr val="3A4048"/>
                </a:solidFill>
                <a:latin typeface="Calibri" pitchFamily="34" charset="0"/>
                <a:ea typeface="Calibri" pitchFamily="34" charset="-122"/>
                <a:cs typeface="Calibri" pitchFamily="34" charset="-120"/>
              </a:rPr>
              <a:t>Friedman, J. H. (2001). Greedy function approximation: A gradient boosting machine. The Annals of Statistics, 29(5).</a:t>
            </a:r>
            <a:endParaRPr lang="en-US" sz="1050" dirty="0"/>
          </a:p>
        </p:txBody>
      </p:sp>
      <p:sp>
        <p:nvSpPr>
          <p:cNvPr id="9" name="Text 7"/>
          <p:cNvSpPr/>
          <p:nvPr/>
        </p:nvSpPr>
        <p:spPr>
          <a:xfrm>
            <a:off x="640080" y="3273552"/>
            <a:ext cx="10911535" cy="310896"/>
          </a:xfrm>
          <a:prstGeom prst="rect">
            <a:avLst/>
          </a:prstGeom>
          <a:noFill/>
          <a:ln/>
        </p:spPr>
        <p:txBody>
          <a:bodyPr wrap="square" lIns="0" tIns="0" rIns="0" bIns="0" rtlCol="0" anchor="ctr"/>
          <a:lstStyle/>
          <a:p>
            <a:pPr indent="0" marL="0">
              <a:buNone/>
            </a:pPr>
            <a:r>
              <a:rPr lang="en-US" sz="1050" dirty="0">
                <a:solidFill>
                  <a:srgbClr val="3A4048"/>
                </a:solidFill>
                <a:latin typeface="Calibri" pitchFamily="34" charset="0"/>
                <a:ea typeface="Calibri" pitchFamily="34" charset="-122"/>
                <a:cs typeface="Calibri" pitchFamily="34" charset="-120"/>
              </a:rPr>
              <a:t>Huber, P. J. (1964). Robust estimation of a location parameter. The Annals of Mathematical Statistics, 35(1).</a:t>
            </a:r>
            <a:endParaRPr lang="en-US" sz="1050" dirty="0"/>
          </a:p>
        </p:txBody>
      </p:sp>
      <p:sp>
        <p:nvSpPr>
          <p:cNvPr id="10" name="Text 8"/>
          <p:cNvSpPr/>
          <p:nvPr/>
        </p:nvSpPr>
        <p:spPr>
          <a:xfrm>
            <a:off x="640080" y="3602736"/>
            <a:ext cx="10911535" cy="310896"/>
          </a:xfrm>
          <a:prstGeom prst="rect">
            <a:avLst/>
          </a:prstGeom>
          <a:noFill/>
          <a:ln/>
        </p:spPr>
        <p:txBody>
          <a:bodyPr wrap="square" lIns="0" tIns="0" rIns="0" bIns="0" rtlCol="0" anchor="ctr"/>
          <a:lstStyle/>
          <a:p>
            <a:pPr indent="0" marL="0">
              <a:buNone/>
            </a:pPr>
            <a:r>
              <a:rPr lang="en-US" sz="1050" dirty="0">
                <a:solidFill>
                  <a:srgbClr val="3A4048"/>
                </a:solidFill>
                <a:latin typeface="Calibri" pitchFamily="34" charset="0"/>
                <a:ea typeface="Calibri" pitchFamily="34" charset="-122"/>
                <a:cs typeface="Calibri" pitchFamily="34" charset="-120"/>
              </a:rPr>
              <a:t>Kahneman, D., &amp; Deaton, A. (2010). High income improves evaluation of life but not emotional well-being. PNAS, 107(38).</a:t>
            </a:r>
            <a:endParaRPr lang="en-US" sz="1050" dirty="0"/>
          </a:p>
        </p:txBody>
      </p:sp>
      <p:sp>
        <p:nvSpPr>
          <p:cNvPr id="11" name="Text 9"/>
          <p:cNvSpPr/>
          <p:nvPr/>
        </p:nvSpPr>
        <p:spPr>
          <a:xfrm>
            <a:off x="640080" y="3931920"/>
            <a:ext cx="10911535" cy="310896"/>
          </a:xfrm>
          <a:prstGeom prst="rect">
            <a:avLst/>
          </a:prstGeom>
          <a:noFill/>
          <a:ln/>
        </p:spPr>
        <p:txBody>
          <a:bodyPr wrap="square" lIns="0" tIns="0" rIns="0" bIns="0" rtlCol="0" anchor="ctr"/>
          <a:lstStyle/>
          <a:p>
            <a:pPr indent="0" marL="0">
              <a:buNone/>
            </a:pPr>
            <a:r>
              <a:rPr lang="en-US" sz="1050" dirty="0">
                <a:solidFill>
                  <a:srgbClr val="3A4048"/>
                </a:solidFill>
                <a:latin typeface="Calibri" pitchFamily="34" charset="0"/>
                <a:ea typeface="Calibri" pitchFamily="34" charset="-122"/>
                <a:cs typeface="Calibri" pitchFamily="34" charset="-120"/>
              </a:rPr>
              <a:t>Ke, G., dkk. (2017). LightGBM: A highly efficient gradient boosting decision tree. NeurIPS 2017.</a:t>
            </a:r>
            <a:endParaRPr lang="en-US" sz="1050" dirty="0"/>
          </a:p>
        </p:txBody>
      </p:sp>
      <p:sp>
        <p:nvSpPr>
          <p:cNvPr id="12" name="Text 10"/>
          <p:cNvSpPr/>
          <p:nvPr/>
        </p:nvSpPr>
        <p:spPr>
          <a:xfrm>
            <a:off x="640080" y="4261104"/>
            <a:ext cx="10911535" cy="310896"/>
          </a:xfrm>
          <a:prstGeom prst="rect">
            <a:avLst/>
          </a:prstGeom>
          <a:noFill/>
          <a:ln/>
        </p:spPr>
        <p:txBody>
          <a:bodyPr wrap="square" lIns="0" tIns="0" rIns="0" bIns="0" rtlCol="0" anchor="ctr"/>
          <a:lstStyle/>
          <a:p>
            <a:pPr indent="0" marL="0">
              <a:buNone/>
            </a:pPr>
            <a:r>
              <a:rPr lang="en-US" sz="1050" dirty="0">
                <a:solidFill>
                  <a:srgbClr val="3A4048"/>
                </a:solidFill>
                <a:latin typeface="Calibri" pitchFamily="34" charset="0"/>
                <a:ea typeface="Calibri" pitchFamily="34" charset="-122"/>
                <a:cs typeface="Calibri" pitchFamily="34" charset="-120"/>
              </a:rPr>
              <a:t>Landis, J. R., &amp; Koch, G. G. (1977). The measurement of observer agreement for categorical data. Biometrics, 33(1).</a:t>
            </a:r>
            <a:endParaRPr lang="en-US" sz="1050" dirty="0"/>
          </a:p>
        </p:txBody>
      </p:sp>
      <p:sp>
        <p:nvSpPr>
          <p:cNvPr id="13" name="Text 11"/>
          <p:cNvSpPr/>
          <p:nvPr/>
        </p:nvSpPr>
        <p:spPr>
          <a:xfrm>
            <a:off x="640080" y="4590288"/>
            <a:ext cx="10911535" cy="310896"/>
          </a:xfrm>
          <a:prstGeom prst="rect">
            <a:avLst/>
          </a:prstGeom>
          <a:noFill/>
          <a:ln/>
        </p:spPr>
        <p:txBody>
          <a:bodyPr wrap="square" lIns="0" tIns="0" rIns="0" bIns="0" rtlCol="0" anchor="ctr"/>
          <a:lstStyle/>
          <a:p>
            <a:pPr indent="0" marL="0">
              <a:buNone/>
            </a:pPr>
            <a:r>
              <a:rPr lang="en-US" sz="1050" dirty="0">
                <a:solidFill>
                  <a:srgbClr val="3A4048"/>
                </a:solidFill>
                <a:latin typeface="Calibri" pitchFamily="34" charset="0"/>
                <a:ea typeface="Calibri" pitchFamily="34" charset="-122"/>
                <a:cs typeface="Calibri" pitchFamily="34" charset="-120"/>
              </a:rPr>
              <a:t>Lykken, D., &amp; Tellegen, A. (1996). Happiness is a stochastic phenomenon. Psychological Science, 7(3).</a:t>
            </a:r>
            <a:endParaRPr lang="en-US" sz="1050" dirty="0"/>
          </a:p>
        </p:txBody>
      </p:sp>
      <p:sp>
        <p:nvSpPr>
          <p:cNvPr id="14" name="Text 12"/>
          <p:cNvSpPr/>
          <p:nvPr/>
        </p:nvSpPr>
        <p:spPr>
          <a:xfrm>
            <a:off x="640080" y="4919472"/>
            <a:ext cx="10911535" cy="310896"/>
          </a:xfrm>
          <a:prstGeom prst="rect">
            <a:avLst/>
          </a:prstGeom>
          <a:noFill/>
          <a:ln/>
        </p:spPr>
        <p:txBody>
          <a:bodyPr wrap="square" lIns="0" tIns="0" rIns="0" bIns="0" rtlCol="0" anchor="ctr"/>
          <a:lstStyle/>
          <a:p>
            <a:pPr indent="0" marL="0">
              <a:buNone/>
            </a:pPr>
            <a:r>
              <a:rPr lang="en-US" sz="1050" dirty="0">
                <a:solidFill>
                  <a:srgbClr val="3A4048"/>
                </a:solidFill>
                <a:latin typeface="Calibri" pitchFamily="34" charset="0"/>
                <a:ea typeface="Calibri" pitchFamily="34" charset="-122"/>
                <a:cs typeface="Calibri" pitchFamily="34" charset="-120"/>
              </a:rPr>
              <a:t>OECD. (2013). OECD Guidelines on Measuring Subjective Well-being. OECD Publishing, Paris.</a:t>
            </a:r>
            <a:endParaRPr lang="en-US" sz="1050" dirty="0"/>
          </a:p>
        </p:txBody>
      </p:sp>
      <p:sp>
        <p:nvSpPr>
          <p:cNvPr id="15" name="Text 13"/>
          <p:cNvSpPr/>
          <p:nvPr/>
        </p:nvSpPr>
        <p:spPr>
          <a:xfrm>
            <a:off x="640080" y="5248656"/>
            <a:ext cx="10911535" cy="310896"/>
          </a:xfrm>
          <a:prstGeom prst="rect">
            <a:avLst/>
          </a:prstGeom>
          <a:noFill/>
          <a:ln/>
        </p:spPr>
        <p:txBody>
          <a:bodyPr wrap="square" lIns="0" tIns="0" rIns="0" bIns="0" rtlCol="0" anchor="ctr"/>
          <a:lstStyle/>
          <a:p>
            <a:pPr indent="0" marL="0">
              <a:buNone/>
            </a:pPr>
            <a:r>
              <a:rPr lang="en-US" sz="1050" dirty="0">
                <a:solidFill>
                  <a:srgbClr val="3A4048"/>
                </a:solidFill>
                <a:latin typeface="Calibri" pitchFamily="34" charset="0"/>
                <a:ea typeface="Calibri" pitchFamily="34" charset="-122"/>
                <a:cs typeface="Calibri" pitchFamily="34" charset="-120"/>
              </a:rPr>
              <a:t>Prokhorenkova, L., dkk. (2018). CatBoost: Unbiased boosting with categorical features. NeurIPS 2018.</a:t>
            </a:r>
            <a:endParaRPr lang="en-US" sz="1050" dirty="0"/>
          </a:p>
        </p:txBody>
      </p:sp>
      <p:sp>
        <p:nvSpPr>
          <p:cNvPr id="16" name="Text 14"/>
          <p:cNvSpPr/>
          <p:nvPr/>
        </p:nvSpPr>
        <p:spPr>
          <a:xfrm>
            <a:off x="640080" y="5577840"/>
            <a:ext cx="10911535" cy="310896"/>
          </a:xfrm>
          <a:prstGeom prst="rect">
            <a:avLst/>
          </a:prstGeom>
          <a:noFill/>
          <a:ln/>
        </p:spPr>
        <p:txBody>
          <a:bodyPr wrap="square" lIns="0" tIns="0" rIns="0" bIns="0" rtlCol="0" anchor="ctr"/>
          <a:lstStyle/>
          <a:p>
            <a:pPr indent="0" marL="0">
              <a:buNone/>
            </a:pPr>
            <a:r>
              <a:rPr lang="en-US" sz="1050" dirty="0">
                <a:solidFill>
                  <a:srgbClr val="3A4048"/>
                </a:solidFill>
                <a:latin typeface="Calibri" pitchFamily="34" charset="0"/>
                <a:ea typeface="Calibri" pitchFamily="34" charset="-122"/>
                <a:cs typeface="Calibri" pitchFamily="34" charset="-120"/>
              </a:rPr>
              <a:t>Wolpert, D. H. (1992). Stacked generalization. Neural Networks, 5(2).</a:t>
            </a:r>
            <a:endParaRPr lang="en-US" sz="1050" dirty="0"/>
          </a:p>
        </p:txBody>
      </p:sp>
      <p:sp>
        <p:nvSpPr>
          <p:cNvPr id="17" name="Text 15"/>
          <p:cNvSpPr/>
          <p:nvPr/>
        </p:nvSpPr>
        <p:spPr>
          <a:xfrm>
            <a:off x="640080" y="5907024"/>
            <a:ext cx="10911535" cy="310896"/>
          </a:xfrm>
          <a:prstGeom prst="rect">
            <a:avLst/>
          </a:prstGeom>
          <a:noFill/>
          <a:ln/>
        </p:spPr>
        <p:txBody>
          <a:bodyPr wrap="square" lIns="0" tIns="0" rIns="0" bIns="0" rtlCol="0" anchor="ctr"/>
          <a:lstStyle/>
          <a:p>
            <a:pPr indent="0" marL="0">
              <a:buNone/>
            </a:pPr>
            <a:r>
              <a:rPr lang="en-US" sz="1050" dirty="0">
                <a:solidFill>
                  <a:srgbClr val="3A4048"/>
                </a:solidFill>
                <a:latin typeface="Calibri" pitchFamily="34" charset="0"/>
                <a:ea typeface="Calibri" pitchFamily="34" charset="-122"/>
                <a:cs typeface="Calibri" pitchFamily="34" charset="-120"/>
              </a:rPr>
              <a:t>World Health Organization. (2023). Depressive disorder (depression), fact sheet.</a:t>
            </a:r>
            <a:endParaRPr lang="en-US" sz="1050" dirty="0"/>
          </a:p>
        </p:txBody>
      </p:sp>
      <p:sp>
        <p:nvSpPr>
          <p:cNvPr id="19" name="Shape 16"/>
          <p:cNvSpPr/>
          <p:nvPr/>
        </p:nvSpPr>
        <p:spPr>
          <a:xfrm>
            <a:off x="640080" y="6400800"/>
            <a:ext cx="1572768" cy="45720"/>
          </a:xfrm>
          <a:prstGeom prst="rect">
            <a:avLst/>
          </a:prstGeom>
          <a:solidFill>
            <a:srgbClr val="DCD8D1"/>
          </a:solidFill>
          <a:ln/>
        </p:spPr>
      </p:sp>
      <p:sp>
        <p:nvSpPr>
          <p:cNvPr id="20" name="Text 17"/>
          <p:cNvSpPr/>
          <p:nvPr/>
        </p:nvSpPr>
        <p:spPr>
          <a:xfrm>
            <a:off x="640080"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I · Latar &amp; data</a:t>
            </a:r>
            <a:endParaRPr lang="en-US" sz="850" dirty="0"/>
          </a:p>
        </p:txBody>
      </p:sp>
      <p:sp>
        <p:nvSpPr>
          <p:cNvPr id="21" name="Shape 18"/>
          <p:cNvSpPr/>
          <p:nvPr/>
        </p:nvSpPr>
        <p:spPr>
          <a:xfrm>
            <a:off x="2304288" y="6400800"/>
            <a:ext cx="1572768" cy="45720"/>
          </a:xfrm>
          <a:prstGeom prst="rect">
            <a:avLst/>
          </a:prstGeom>
          <a:solidFill>
            <a:srgbClr val="DCD8D1"/>
          </a:solidFill>
          <a:ln/>
        </p:spPr>
      </p:sp>
      <p:sp>
        <p:nvSpPr>
          <p:cNvPr id="22" name="Text 19"/>
          <p:cNvSpPr/>
          <p:nvPr/>
        </p:nvSpPr>
        <p:spPr>
          <a:xfrm>
            <a:off x="2304288"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II · EDA</a:t>
            </a:r>
            <a:endParaRPr lang="en-US" sz="850" dirty="0"/>
          </a:p>
        </p:txBody>
      </p:sp>
      <p:sp>
        <p:nvSpPr>
          <p:cNvPr id="23" name="Shape 20"/>
          <p:cNvSpPr/>
          <p:nvPr/>
        </p:nvSpPr>
        <p:spPr>
          <a:xfrm>
            <a:off x="3968496" y="6400800"/>
            <a:ext cx="1572768" cy="45720"/>
          </a:xfrm>
          <a:prstGeom prst="rect">
            <a:avLst/>
          </a:prstGeom>
          <a:solidFill>
            <a:srgbClr val="DCD8D1"/>
          </a:solidFill>
          <a:ln/>
        </p:spPr>
      </p:sp>
      <p:sp>
        <p:nvSpPr>
          <p:cNvPr id="24" name="Text 21"/>
          <p:cNvSpPr/>
          <p:nvPr/>
        </p:nvSpPr>
        <p:spPr>
          <a:xfrm>
            <a:off x="3968496"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III · Pipeline</a:t>
            </a:r>
            <a:endParaRPr lang="en-US" sz="850" dirty="0"/>
          </a:p>
        </p:txBody>
      </p:sp>
      <p:sp>
        <p:nvSpPr>
          <p:cNvPr id="25" name="Shape 22"/>
          <p:cNvSpPr/>
          <p:nvPr/>
        </p:nvSpPr>
        <p:spPr>
          <a:xfrm>
            <a:off x="5632704" y="6400800"/>
            <a:ext cx="1572768" cy="45720"/>
          </a:xfrm>
          <a:prstGeom prst="rect">
            <a:avLst/>
          </a:prstGeom>
          <a:solidFill>
            <a:srgbClr val="DCD8D1"/>
          </a:solidFill>
          <a:ln/>
        </p:spPr>
      </p:sp>
      <p:sp>
        <p:nvSpPr>
          <p:cNvPr id="26" name="Text 23"/>
          <p:cNvSpPr/>
          <p:nvPr/>
        </p:nvSpPr>
        <p:spPr>
          <a:xfrm>
            <a:off x="5632704"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IV · Disiplin estimasi</a:t>
            </a:r>
            <a:endParaRPr lang="en-US" sz="850" dirty="0"/>
          </a:p>
        </p:txBody>
      </p:sp>
      <p:sp>
        <p:nvSpPr>
          <p:cNvPr id="27" name="Shape 24"/>
          <p:cNvSpPr/>
          <p:nvPr/>
        </p:nvSpPr>
        <p:spPr>
          <a:xfrm>
            <a:off x="7296912" y="6400800"/>
            <a:ext cx="1572768" cy="45720"/>
          </a:xfrm>
          <a:prstGeom prst="rect">
            <a:avLst/>
          </a:prstGeom>
          <a:solidFill>
            <a:srgbClr val="DCD8D1"/>
          </a:solidFill>
          <a:ln/>
        </p:spPr>
      </p:sp>
      <p:sp>
        <p:nvSpPr>
          <p:cNvPr id="28" name="Text 25"/>
          <p:cNvSpPr/>
          <p:nvPr/>
        </p:nvSpPr>
        <p:spPr>
          <a:xfrm>
            <a:off x="7296912"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V · Hasil &amp; plafon</a:t>
            </a:r>
            <a:endParaRPr lang="en-US" sz="850" dirty="0"/>
          </a:p>
        </p:txBody>
      </p:sp>
      <p:sp>
        <p:nvSpPr>
          <p:cNvPr id="29" name="Shape 26"/>
          <p:cNvSpPr/>
          <p:nvPr/>
        </p:nvSpPr>
        <p:spPr>
          <a:xfrm>
            <a:off x="8961120" y="6400800"/>
            <a:ext cx="1572768" cy="45720"/>
          </a:xfrm>
          <a:prstGeom prst="rect">
            <a:avLst/>
          </a:prstGeom>
          <a:solidFill>
            <a:srgbClr val="A8442A"/>
          </a:solidFill>
          <a:ln/>
        </p:spPr>
      </p:sp>
      <p:sp>
        <p:nvSpPr>
          <p:cNvPr id="30" name="Text 27"/>
          <p:cNvSpPr/>
          <p:nvPr/>
        </p:nvSpPr>
        <p:spPr>
          <a:xfrm>
            <a:off x="8961120" y="6464808"/>
            <a:ext cx="1572768" cy="201168"/>
          </a:xfrm>
          <a:prstGeom prst="rect">
            <a:avLst/>
          </a:prstGeom>
          <a:noFill/>
          <a:ln/>
        </p:spPr>
        <p:txBody>
          <a:bodyPr wrap="square" lIns="0" tIns="0" rIns="0" bIns="0" rtlCol="0" anchor="ctr"/>
          <a:lstStyle/>
          <a:p>
            <a:pPr indent="0" marL="0">
              <a:buNone/>
            </a:pPr>
            <a:r>
              <a:rPr lang="en-US" sz="850" b="1" dirty="0">
                <a:solidFill>
                  <a:srgbClr val="16191D"/>
                </a:solidFill>
                <a:latin typeface="Calibri" pitchFamily="34" charset="0"/>
                <a:ea typeface="Calibri" pitchFamily="34" charset="-122"/>
                <a:cs typeface="Calibri" pitchFamily="34" charset="-120"/>
              </a:rPr>
              <a:t>VI · Reproduksi &amp; produk</a:t>
            </a:r>
            <a:endParaRPr lang="en-US" sz="850" dirty="0"/>
          </a:p>
        </p:txBody>
      </p:sp>
      <p:sp>
        <p:nvSpPr>
          <p:cNvPr id="31" name="Text 28"/>
          <p:cNvSpPr/>
          <p:nvPr/>
        </p:nvSpPr>
        <p:spPr>
          <a:xfrm>
            <a:off x="10637215" y="6382512"/>
            <a:ext cx="914400" cy="274320"/>
          </a:xfrm>
          <a:prstGeom prst="rect">
            <a:avLst/>
          </a:prstGeom>
          <a:noFill/>
          <a:ln/>
        </p:spPr>
        <p:txBody>
          <a:bodyPr wrap="square" lIns="0" tIns="0" rIns="0" bIns="0" rtlCol="0" anchor="ctr"/>
          <a:lstStyle/>
          <a:p>
            <a:pPr algn="r" indent="0" marL="0">
              <a:buNone/>
            </a:pPr>
            <a:r>
              <a:rPr lang="en-US" sz="900" b="1" dirty="0">
                <a:solidFill>
                  <a:srgbClr val="9AA0A7"/>
                </a:solidFill>
                <a:latin typeface="Calibri" pitchFamily="34" charset="0"/>
                <a:ea typeface="Calibri" pitchFamily="34" charset="-122"/>
                <a:cs typeface="Calibri" pitchFamily="34" charset="-120"/>
              </a:rPr>
              <a:t>24</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Objective Quest DataQuest 5.0</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Membaca Skala, Bukan Menebak Kelas · Tim Warkab</dc:title>
  <dc:subject>PptxGenJS Presentation</dc:subject>
  <dc:creator>Tim Warkab</dc:creator>
  <cp:lastModifiedBy>Tim Warkab</cp:lastModifiedBy>
  <cp:revision>1</cp:revision>
  <dcterms:created xsi:type="dcterms:W3CDTF">2026-09-16T13:04:52Z</dcterms:created>
  <dcterms:modified xsi:type="dcterms:W3CDTF">2026-09-16T13:04:52Z</dcterms:modified>
</cp:coreProperties>
</file>