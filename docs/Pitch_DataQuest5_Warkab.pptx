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2.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QWK out-of-fold</c:v>
                </c:pt>
              </c:strCache>
            </c:strRef>
          </c:tx>
          <c:spPr>
            <a:solidFill>
              <a:srgbClr val="3A4048"/>
            </a:solidFill>
            <a:effectLst/>
          </c:spPr>
          <c:invertIfNegative val="0"/>
          <c:dLbls>
            <c:numFmt formatCode="0.00000" sourceLinked="0"/>
            <c:txPr>
              <a:bodyPr/>
              <a:lstStyle/>
              <a:p>
                <a:pPr>
                  <a:defRPr b="0" i="0" strike="noStrike" sz="1050" u="none">
                    <a:solidFill>
                      <a:srgbClr val="16191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mlp — jaringan saraf</c:v>
                  </c:pt>
                  <c:pt idx="1">
                    <c:v>lgb — boosting leaf-wise</c:v>
                  </c:pt>
                  <c:pt idx="2">
                    <c:v>reg — Huber pada skala ordinal</c:v>
                  </c:pt>
                  <c:pt idx="3">
                    <c:v>cat — ordered boosting</c:v>
                  </c:pt>
                  <c:pt idx="4">
                    <c:v>xgb — boosting level-wise</c:v>
                  </c:pt>
                  <c:pt idx="5">
                    <c:v>ord — dekomposisi kumulatif P(y&gt;k)</c:v>
                  </c:pt>
                </c:lvl>
              </c:multiLvlStrCache>
            </c:multiLvlStrRef>
          </c:cat>
          <c:val>
            <c:numRef>
              <c:f>Sheet1!$B$2:$B$7</c:f>
              <c:numCache>
                <c:formatCode>General</c:formatCode>
                <c:ptCount val="6"/>
                <c:pt idx="0">
                  <c:v>0.44411</c:v>
                </c:pt>
                <c:pt idx="1">
                  <c:v>0.4773</c:v>
                </c:pt>
                <c:pt idx="2">
                  <c:v>0.47826</c:v>
                </c:pt>
                <c:pt idx="3">
                  <c:v>0.47922</c:v>
                </c:pt>
                <c:pt idx="4">
                  <c:v>0.48015</c:v>
                </c:pt>
                <c:pt idx="5">
                  <c:v>0.48062</c:v>
                </c:pt>
              </c:numCache>
            </c:numRef>
          </c:val>
        </c:ser>
        <c:dLbls>
          <c:numFmt formatCode="0.00000" sourceLinked="0"/>
          <c:txPr>
            <a:bodyPr/>
            <a:lstStyle/>
            <a:p>
              <a:pPr>
                <a:defRPr b="0" i="0" strike="noStrike" sz="1050" u="none">
                  <a:solidFill>
                    <a:srgbClr val="16191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050" b="0" i="0" u="none" strike="noStrike">
                <a:solidFill>
                  <a:srgbClr val="3A4048"/>
                </a:solidFill>
                <a:latin typeface="Calibri"/>
              </a:defRPr>
            </a:pPr>
            <a:endParaRPr lang="en-US"/>
          </a:p>
        </c:txPr>
        <c:crossAx val="2094734552"/>
        <c:crosses val="autoZero"/>
        <c:auto val="1"/>
        <c:lblAlgn val="ctr"/>
        <c:noMultiLvlLbl val="1"/>
      </c:catAx>
      <c:valAx>
        <c:axId val="2094734552"/>
        <c:scaling>
          <c:orientation val="minMax"/>
          <c:max val="0.49"/>
          <c:min val="0.42"/>
        </c:scaling>
        <c:delete val="0"/>
        <c:axPos val="b"/>
        <c:majorGridlines>
          <c:spPr>
            <a:ln w="6350" cap="flat">
              <a:solidFill>
                <a:srgbClr val="DCD8D1"/>
              </a:solidFill>
              <a:prstDash val="solid"/>
              <a:round/>
            </a:ln>
          </c:spPr>
        </c:majorGridlines>
        <c:numFmt formatCode="0.00" sourceLinked="0"/>
        <c:majorTickMark val="out"/>
        <c:minorTickMark val="none"/>
        <c:tickLblPos val="low"/>
        <c:spPr>
          <a:ln w="12700" cap="flat">
            <a:noFill/>
            <a:prstDash val="solid"/>
            <a:round/>
          </a:ln>
        </c:spPr>
        <c:txPr>
          <a:bodyPr/>
          <a:lstStyle/>
          <a:p>
            <a:pPr>
              <a:defRPr sz="950" b="0" i="0" u="none" strike="noStrike">
                <a:solidFill>
                  <a:srgbClr val="6E747C"/>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QWK terukur</c:v>
                </c:pt>
              </c:strCache>
            </c:strRef>
          </c:tx>
          <c:spPr>
            <a:solidFill>
              <a:srgbClr val="A8442A"/>
            </a:solidFill>
            <a:ln w="31750" cap="flat">
              <a:solidFill>
                <a:srgbClr val="A8442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8442A"/>
              </a:solidFill>
              <a:ln w="9525" cap="flat">
                <a:solidFill>
                  <a:srgbClr val="A8442A"/>
                </a:solidFill>
                <a:prstDash val="solid"/>
                <a:round/>
              </a:ln>
              <a:effectLst/>
            </c:spPr>
          </c:marker>
          <c:cat>
            <c:multiLvlStrRef>
              <c:f>Sheet1!$A$2:$A$6</c:f>
              <c:multiLvlStrCache>
                <c:ptCount val="5"/>
                <c:lvl>
                  <c:pt idx="0">
                    <c:v>11.473</c:v>
                  </c:pt>
                  <c:pt idx="1">
                    <c:v>23.902</c:v>
                  </c:pt>
                  <c:pt idx="2">
                    <c:v>43.024</c:v>
                  </c:pt>
                  <c:pt idx="3">
                    <c:v>66.926</c:v>
                  </c:pt>
                  <c:pt idx="4">
                    <c:v>95.609</c:v>
                  </c:pt>
                </c:lvl>
              </c:multiLvlStrCache>
            </c:multiLvlStrRef>
          </c:cat>
          <c:val>
            <c:numRef>
              <c:f>Sheet1!$B$2:$B$6</c:f>
              <c:numCache>
                <c:formatCode>General</c:formatCode>
                <c:ptCount val="5"/>
                <c:pt idx="0">
                  <c:v>0.43883</c:v>
                </c:pt>
                <c:pt idx="1">
                  <c:v>0.46162</c:v>
                </c:pt>
                <c:pt idx="2">
                  <c:v>0.46391</c:v>
                </c:pt>
                <c:pt idx="3">
                  <c:v>0.46911</c:v>
                </c:pt>
                <c:pt idx="4">
                  <c:v>0.47669</c:v>
                </c:pt>
              </c:numCache>
            </c:numRef>
          </c:val>
          <c:smooth val="0"/>
        </c:ser>
        <c:ser>
          <c:idx val="1"/>
          <c:order val="1"/>
          <c:tx>
            <c:strRef>
              <c:f>Sheet1!$C$1</c:f>
              <c:strCache>
                <c:ptCount val="1"/>
                <c:pt idx="0">
                  <c:v>model logaritmik</c:v>
                </c:pt>
              </c:strCache>
            </c:strRef>
          </c:tx>
          <c:spPr>
            <a:solidFill>
              <a:srgbClr val="3A4048"/>
            </a:solidFill>
            <a:ln w="31750" cap="flat">
              <a:solidFill>
                <a:srgbClr val="3A404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A4048"/>
              </a:solidFill>
              <a:ln w="9525" cap="flat">
                <a:solidFill>
                  <a:srgbClr val="3A4048"/>
                </a:solidFill>
                <a:prstDash val="solid"/>
                <a:round/>
              </a:ln>
              <a:effectLst/>
            </c:spPr>
          </c:marker>
          <c:cat>
            <c:multiLvlStrRef>
              <c:f>Sheet1!$A$2:$A$6</c:f>
              <c:multiLvlStrCache>
                <c:ptCount val="5"/>
                <c:lvl>
                  <c:pt idx="0">
                    <c:v>11.473</c:v>
                  </c:pt>
                  <c:pt idx="1">
                    <c:v>23.902</c:v>
                  </c:pt>
                  <c:pt idx="2">
                    <c:v>43.024</c:v>
                  </c:pt>
                  <c:pt idx="3">
                    <c:v>66.926</c:v>
                  </c:pt>
                  <c:pt idx="4">
                    <c:v>95.609</c:v>
                  </c:pt>
                </c:lvl>
              </c:multiLvlStrCache>
            </c:multiLvlStrRef>
          </c:cat>
          <c:val>
            <c:numRef>
              <c:f>Sheet1!$C$2:$C$6</c:f>
              <c:numCache>
                <c:formatCode>General</c:formatCode>
                <c:ptCount val="5"/>
                <c:pt idx="0">
                  <c:v>0.44287</c:v>
                </c:pt>
                <c:pt idx="1">
                  <c:v>0.45471</c:v>
                </c:pt>
                <c:pt idx="2">
                  <c:v>0.46419</c:v>
                </c:pt>
                <c:pt idx="3">
                  <c:v>0.47132</c:v>
                </c:pt>
                <c:pt idx="4">
                  <c:v>0.47707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3A4048"/>
                </a:solidFill>
                <a:latin typeface="Calibri"/>
              </a:defRPr>
            </a:pPr>
            <a:endParaRPr lang="en-US"/>
          </a:p>
        </c:txPr>
        <c:crossAx val="2094734552"/>
        <c:crosses val="autoZero"/>
        <c:auto val="1"/>
        <c:lblAlgn val="ctr"/>
        <c:noMultiLvlLbl val="1"/>
      </c:catAx>
      <c:valAx>
        <c:axId val="2094734552"/>
        <c:scaling>
          <c:orientation val="minMax"/>
          <c:max val="0.485"/>
          <c:min val="0.43"/>
        </c:scaling>
        <c:delete val="0"/>
        <c:axPos val="l"/>
        <c:majorGridlines>
          <c:spPr>
            <a:ln w="6350" cap="flat">
              <a:solidFill>
                <a:srgbClr val="DCD8D1"/>
              </a:solidFill>
              <a:prstDash val="solid"/>
              <a:round/>
            </a:ln>
          </c:spPr>
        </c:majorGridlines>
        <c:numFmt formatCode="0.000" sourceLinked="0"/>
        <c:majorTickMark val="out"/>
        <c:minorTickMark val="none"/>
        <c:tickLblPos val="nextTo"/>
        <c:spPr>
          <a:ln w="12700" cap="flat">
            <a:noFill/>
            <a:prstDash val="solid"/>
            <a:round/>
          </a:ln>
        </c:spPr>
        <c:txPr>
          <a:bodyPr/>
          <a:lstStyle/>
          <a:p>
            <a:pPr>
              <a:defRPr sz="950" b="0" i="0" u="none" strike="noStrike">
                <a:solidFill>
                  <a:srgbClr val="6E747C"/>
                </a:solidFill>
                <a:latin typeface="Calibri"/>
              </a:defRPr>
            </a:pPr>
            <a:endParaRPr lang="en-US"/>
          </a:p>
        </c:txPr>
        <c:crossAx val="2094734554"/>
        <c:crosses val="autoZero"/>
        <c:crossBetween val="between"/>
        <c:majorUnit val="0.01"/>
      </c:valAx>
      <c:spPr>
        <a:noFill/>
        <a:ln>
          <a:noFill/>
        </a:ln>
        <a:effectLst/>
      </c:spPr>
    </c:plotArea>
    <c:legend>
      <c:legendPos val="b"/>
      <c:overlay val="0"/>
      <c:txPr>
        <a:bodyPr/>
        <a:lstStyle/>
        <a:p>
          <a:pPr>
            <a:defRPr sz="1050">
              <a:solidFill>
                <a:srgbClr val="3A404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 Satu kalimat kunci: kompetisi ini dinilai dengan QWK, dan QWK bukan akurasi — ia mengukur seberapa dekat tebakan kita pada skala ordinal. Seluruh keputusan kami turun dari fakta itu. Perhatikan distribusi di kanan: kelas 3 dan 4 hanya 4,7% dari data, tetapi merekalah yang menentukan skor.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Bingkai masalahnya dulu sebelum masuk teknis. Pengguna yang kami bayangkan adalah perencana program kesehatan masyarakat: mereka sudah punya datanya, yang belum ada adalah cara memakainya untuk menandai orang. Tiga angka di tengah menjelaskan mengapa ini bukan tugas klasifikasi biasa — dan ketiganya langsung mengarah ke keputusan desain di slide-slide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peta presentasi. Kalau juri hanya ingat satu hal: tuas terbesar dalam kompetisi ini bukan model, melainkan cara kita mengubah probabilitas menjadi label. Angka +0,06269 versus +0,00708 dibuktikan di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alasan kami tidak pernah melaporkan akurasi sebagai metrik utama. Matriks di kiri adalah metrik kompetisi ini, digambar apa adanya. Diagonalnya nol dan penaltinya tumbuh kuadratik. Begitu juri melihat angka 9 di pojok, seluruh sisa presentasi jadi masuk akal.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yang ingin kami tekankan: setiap temuan EDA di sini diakhiri panah merah — konsekuensi desainnya. Kami tidak menampilkan analisis yang tidak mengubah keputusan 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sudut yang menurut kami jarang diperiksa tim lain. Struktur rumah tangga adalah sumber kebocoran paling menggoda di dataset survei. Kami mengukurnya secara eksplisit lewat matriks kondisional penuh, menemukan liftnya hanya 1,6 poin persentase, lalu menolaknya. Yang penting: penolakan itu terjadi berdasarkan besaran efeknya, bukan setelah mengintip skor.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inti teknis presentasi. argmax memilih modus; QWK menghukum jarak, sehingga penduga yang benar adalah rata-rata, bukan modus. Perhatikan angka terakhir: kami sengaja memprediksi kelas 3 dan 4 lebih sering daripada proporsi aslinya. Itu bukan kesalahan kalibrasi, itu keputusan optimal di bawah galat kuadratik.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Baris 4 menarik: LightGBM + argmax justru punya AKURASI tertinggi di seluruh tabel, 66,7%, tetapi QWK-nya paling rendah di antara model pohon. Akurasi dan QWK menarik ke arah berlawanan. Inilah bukti kuantitatif tesis kami: tim yang menghabiskan seluruh waktunya pada arsitektur model sedang memperebutkan 10% terakhir dari perbaikan yang tersedia.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Meta-learner yang kami pilih bukan logistic regression melainkan rata-rata sederhana lima model pohon — MLP dikeluarkan di muka karena jelas lebih lemah. Alasannya struktural, dijelaskan di slide 13: pada rentang sesempit ini, memilih berdasarkan skor sama dengan memilih derau.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tempat kami membalik naluri kompetisi. Naluri kompetisi: ambil skor validasi tertinggi. Yang kami lakukan: ambil penduga dengan variansi terkecil, walaupun skornya bukan yang tertinggi. Slide 13 menunjukkan mengapa naluri itu memang salah pada dataset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juri bertanya “apa titik terlemah pipeline kalian”, jawabannya ada di slide ini, lengkap dengan angkanya. Kami lebih memilih menunjukkannya sendiri daripada menunggu ditemukan.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tim akan melaporkan “kami mencoba imputasi canggih”. Kami melaporkan hasil nolnya beserta penjelasan mengapa nol adalah hasil yang benar. Rekonstruksi sempurna yang tidak menaikkan skor adalah bukti langsung bahwa redundansi antar kolom tinggi, dan itu konsisten dengan temuan EDA kami bahwa sinyal tersebar tipis.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Kalau ada satu slide yang membedakan kami dari tim yang mengejar leaderboard: ini. Kami punya konfigurasi yang skornya lebih tinggi di validasi, dan kami membuangnya karena kami tahu kenaikannya palsu.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bisa dilewati kalau waktu pitching sempit — tetapi kalau juri bertanya “apa lagi yang sudah kalian coba”, buka slide ini dan biarkan tabelnya berbicara. Baris merah adalah yang paling penting: satu-satunya konfigurasi yang skornya naik, dan kami tetap menolaknya karena kenaikannya terbukti semu.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juga bukti tambahan bahwa kinerja sudah mencapai plafon: bukan hanya modelnya yang mentok, pemilihan di antara varian yang setara pun sudah tidak lagi membawa informasi. Ketika perbedaan antar konfigurasi tenggelam di bawah derau pengukuran, yang tersisa hanya memilih penduga paling stabil.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bukti ketiga dan yang paling kuantitatif. Kecocokan logaritmik dengan R² 0,914 pada rentang data hampir sepuluh kali lipat bukan kebetulan — itu tanda khas kurva belajar yang sudah memasuki wilayah pengembalian yang menurun. Slide berikutnya menerjemahkan koefisien ini menjadi angka yang bisa diperiksa siapa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sengaja menyatakannya sebagai klaim yang bisa difalsifikasi, bukan sebagai tuduhan. Kalau ada pipeline yang menembus 0,55 hanya dari dua berkas resmi, kurva belajar kami salah dan kami ingin melihat caranya. Sampai itu ditunjukkan, aritmetikanya berdiri sendiri.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Perhitungan ini sepenuhnya dapat direproduksi dari matriks konfusi yang tercetak di notebook kami — tidak butuh data apa pun yang tidak kami miliki. Implikasinya: enam peringkat berturut-turut di papan skor secara statistik tidak dapat dibedakan. Karena itu kami mengoptimalkan estimator yang stabil, bukan posisi papan skor. Kalau kami mengejar posisi, kami akan mengejar derau.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permutation importance layak ditekankan saat pitching: variabel desain survei muncul tinggi, dan godaannya adalah memakai survey_weight sebagai bobot pelatihan. Kami mengujinya — skornya turun — jadi kami biarkan sebagai fitur biasa. Itu contoh kecil dari pola yang berulang sepanjang proyek: uji dulu, baru putuskan.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tautannya saat pitching dan geser slider t3 di depan juri — itu momen paling kuat dari seluruh presentasi, karena rekomendasi kami berubah dari kalimat menjadi sesuatu yang mereka lihat bergerak. Sebutkan juga bahwa model di halaman ini adalah versi ringkas 17 variabel; selisih kinerjanya terhadap pipeline penuh kami cantumkan terbuka di panel Model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Yang membedakan slide ini dari roadmap biasa adalah baris merah di setiap kartu: syarat yang harus dipenuhi. Langkah 1 bisa dilakukan hari ini; langkah 4 tidak bisa dipercepat dengan algoritma apa pun. Kejujuran tentang urutan itu justru yang membuat rencananya kredibel.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ingin juri melihat bahwa kami memikirkan apa yang terjadi setelah kompetisi. Rekomendasi menurunkan t3 untuk penapisan adalah contoh konkret: itu berarti sengaja menurunkan QWK demi kegunaan nyata. Metrik kompetisi bukan tujuan akhir pemodelan.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kalimat besar di kiri, lalu tunjuk tiga angka di kanan. Kalau ada waktu tanya jawab, siapkan tiga jawaban: (1) mengapa tidak pakai deep learning — lihat konvergensi enam keluarga model; (2) mengapa skor tidak lebih tinggi — lihat kurva belajar dan ekstrapolasi; (3) apa yang kalian buang — rumah tangga, fitur komposit, ambang per segmen, dan dua belas lainnya, semuanya dengan angka.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mikaeladikara.github.io/DataQuest-Warkab" TargetMode="External"/><Relationship Id="rId3" Type="http://schemas.openxmlformats.org/officeDocument/2006/relationships/hyperlink" Target="https://github.com/MikaelAdikara/DataQuest-Warkab" TargetMode="External"/><Relationship Id="rId1" Type="http://schemas.openxmlformats.org/officeDocument/2006/relationships/image" Target="../media/image-20-1.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640080" y="777240"/>
            <a:ext cx="7680960" cy="274320"/>
          </a:xfrm>
          <a:prstGeom prst="rect">
            <a:avLst/>
          </a:prstGeom>
          <a:noFill/>
          <a:ln/>
        </p:spPr>
        <p:txBody>
          <a:bodyPr wrap="square" lIns="0" tIns="0" rIns="0" bIns="0" rtlCol="0" anchor="ctr"/>
          <a:lstStyle/>
          <a:p>
            <a:pPr indent="0" marL="0">
              <a:buNone/>
            </a:pPr>
            <a:r>
              <a:rPr lang="en-US" sz="1100" b="1" spc="220" kern="0" dirty="0">
                <a:solidFill>
                  <a:srgbClr val="8FB0A4"/>
                </a:solidFill>
                <a:latin typeface="Calibri" pitchFamily="34" charset="0"/>
                <a:ea typeface="Calibri" pitchFamily="34" charset="-122"/>
                <a:cs typeface="Calibri" pitchFamily="34" charset="-120"/>
              </a:rPr>
              <a:t>TIM WARKAB   ·   OBJECTIVE QUEST DATAQUEST 5.0</a:t>
            </a:r>
            <a:endParaRPr lang="en-US" sz="1100" dirty="0"/>
          </a:p>
        </p:txBody>
      </p:sp>
      <p:sp>
        <p:nvSpPr>
          <p:cNvPr id="3" name="Text 1"/>
          <p:cNvSpPr/>
          <p:nvPr/>
        </p:nvSpPr>
        <p:spPr>
          <a:xfrm>
            <a:off x="640080" y="1325880"/>
            <a:ext cx="6949440" cy="1828800"/>
          </a:xfrm>
          <a:prstGeom prst="rect">
            <a:avLst/>
          </a:prstGeom>
          <a:noFill/>
          <a:ln/>
        </p:spPr>
        <p:txBody>
          <a:bodyPr wrap="square" lIns="0" tIns="0" rIns="0" bIns="0" rtlCol="0" anchor="t"/>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Membaca Skala,</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Bukan Menebak Kelas</a:t>
            </a:r>
            <a:endParaRPr lang="en-US" sz="4600" dirty="0"/>
          </a:p>
        </p:txBody>
      </p:sp>
      <p:sp>
        <p:nvSpPr>
          <p:cNvPr id="4" name="Text 2"/>
          <p:cNvSpPr/>
          <p:nvPr/>
        </p:nvSpPr>
        <p:spPr>
          <a:xfrm>
            <a:off x="640080" y="3346704"/>
            <a:ext cx="6583680" cy="822960"/>
          </a:xfrm>
          <a:prstGeom prst="rect">
            <a:avLst/>
          </a:prstGeom>
          <a:noFill/>
          <a:ln/>
        </p:spPr>
        <p:txBody>
          <a:bodyPr wrap="square" lIns="0" tIns="0" rIns="0" bIns="0" rtlCol="0" anchor="t"/>
          <a:lstStyle/>
          <a:p>
            <a:pPr indent="0" marL="0">
              <a:lnSpc>
                <a:spcPts val="2100"/>
              </a:lnSpc>
              <a:buNone/>
            </a:pPr>
            <a:r>
              <a:rPr lang="en-US" sz="1450" dirty="0">
                <a:solidFill>
                  <a:srgbClr val="9AA0A7"/>
                </a:solidFill>
                <a:latin typeface="Calibri" pitchFamily="34" charset="0"/>
                <a:ea typeface="Calibri" pitchFamily="34" charset="-122"/>
                <a:cs typeface="Calibri" pitchFamily="34" charset="-120"/>
              </a:rPr>
              <a:t>Memprediksi tingkat kepuasan hidup dari 176 variabel survei kesehatan, dengan seluruh pipeline dirancang untuk satu metrik: Quadratic Weighted Kappa.</a:t>
            </a:r>
            <a:endParaRPr lang="en-US" sz="1450" dirty="0"/>
          </a:p>
        </p:txBody>
      </p:sp>
      <p:sp>
        <p:nvSpPr>
          <p:cNvPr id="5" name="Text 3"/>
          <p:cNvSpPr/>
          <p:nvPr/>
        </p:nvSpPr>
        <p:spPr>
          <a:xfrm>
            <a:off x="8092440" y="1325880"/>
            <a:ext cx="3474720" cy="256032"/>
          </a:xfrm>
          <a:prstGeom prst="rect">
            <a:avLst/>
          </a:prstGeom>
          <a:noFill/>
          <a:ln/>
        </p:spPr>
        <p:txBody>
          <a:bodyPr wrap="square" lIns="0" tIns="0" rIns="0" bIns="0" rtlCol="0" anchor="ctr"/>
          <a:lstStyle/>
          <a:p>
            <a:pPr indent="0" marL="0">
              <a:buNone/>
            </a:pPr>
            <a:r>
              <a:rPr lang="en-US" sz="950" b="1" spc="140" kern="0" dirty="0">
                <a:solidFill>
                  <a:srgbClr val="9AA0A7"/>
                </a:solidFill>
                <a:latin typeface="Calibri" pitchFamily="34" charset="0"/>
                <a:ea typeface="Calibri" pitchFamily="34" charset="-122"/>
                <a:cs typeface="Calibri" pitchFamily="34" charset="-120"/>
              </a:rPr>
              <a:t>DISTRIBUSI TARGET · 95.609 BARIS LATIH</a:t>
            </a:r>
            <a:endParaRPr lang="en-US" sz="950" dirty="0"/>
          </a:p>
        </p:txBody>
      </p:sp>
      <p:sp>
        <p:nvSpPr>
          <p:cNvPr id="6" name="Shape 4"/>
          <p:cNvSpPr/>
          <p:nvPr/>
        </p:nvSpPr>
        <p:spPr>
          <a:xfrm>
            <a:off x="8092440" y="1700784"/>
            <a:ext cx="3474720" cy="182880"/>
          </a:xfrm>
          <a:prstGeom prst="rect">
            <a:avLst/>
          </a:prstGeom>
          <a:solidFill>
            <a:srgbClr val="2A2F36"/>
          </a:solidFill>
          <a:ln/>
        </p:spPr>
      </p:sp>
      <p:sp>
        <p:nvSpPr>
          <p:cNvPr id="7" name="Shape 5"/>
          <p:cNvSpPr/>
          <p:nvPr/>
        </p:nvSpPr>
        <p:spPr>
          <a:xfrm>
            <a:off x="8092440" y="1700784"/>
            <a:ext cx="1561539" cy="182880"/>
          </a:xfrm>
          <a:prstGeom prst="rect">
            <a:avLst/>
          </a:prstGeom>
          <a:solidFill>
            <a:srgbClr val="2F6B5F"/>
          </a:solidFill>
          <a:ln/>
        </p:spPr>
      </p:sp>
      <p:sp>
        <p:nvSpPr>
          <p:cNvPr id="8" name="Text 6"/>
          <p:cNvSpPr/>
          <p:nvPr/>
        </p:nvSpPr>
        <p:spPr>
          <a:xfrm>
            <a:off x="8092440" y="1901952"/>
            <a:ext cx="2154326"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1 — Sangat puas</a:t>
            </a:r>
            <a:endParaRPr lang="en-US" sz="1000" dirty="0"/>
          </a:p>
        </p:txBody>
      </p:sp>
      <p:sp>
        <p:nvSpPr>
          <p:cNvPr id="9" name="Text 7"/>
          <p:cNvSpPr/>
          <p:nvPr/>
        </p:nvSpPr>
        <p:spPr>
          <a:xfrm>
            <a:off x="10246766" y="1901952"/>
            <a:ext cx="1320394" cy="237744"/>
          </a:xfrm>
          <a:prstGeom prst="rect">
            <a:avLst/>
          </a:prstGeom>
          <a:noFill/>
          <a:ln/>
        </p:spPr>
        <p:txBody>
          <a:bodyPr wrap="square" lIns="0" tIns="0" rIns="0" bIns="0" rtlCol="0" anchor="ctr"/>
          <a:lstStyle/>
          <a:p>
            <a:pPr algn="r" indent="0" marL="0">
              <a:buNone/>
            </a:pPr>
            <a:r>
              <a:rPr lang="en-US" sz="1000" dirty="0">
                <a:solidFill>
                  <a:srgbClr val="9AA0A7"/>
                </a:solidFill>
                <a:latin typeface="Calibri" pitchFamily="34" charset="0"/>
                <a:ea typeface="Calibri" pitchFamily="34" charset="-122"/>
                <a:cs typeface="Calibri" pitchFamily="34" charset="-120"/>
              </a:rPr>
              <a:t>42.968   ·   44,9%</a:t>
            </a:r>
            <a:endParaRPr lang="en-US" sz="1000" dirty="0"/>
          </a:p>
        </p:txBody>
      </p:sp>
      <p:sp>
        <p:nvSpPr>
          <p:cNvPr id="10" name="Shape 8"/>
          <p:cNvSpPr/>
          <p:nvPr/>
        </p:nvSpPr>
        <p:spPr>
          <a:xfrm>
            <a:off x="8092440" y="2304288"/>
            <a:ext cx="3474720" cy="182880"/>
          </a:xfrm>
          <a:prstGeom prst="rect">
            <a:avLst/>
          </a:prstGeom>
          <a:solidFill>
            <a:srgbClr val="2A2F36"/>
          </a:solidFill>
          <a:ln/>
        </p:spPr>
      </p:sp>
      <p:sp>
        <p:nvSpPr>
          <p:cNvPr id="11" name="Shape 9"/>
          <p:cNvSpPr/>
          <p:nvPr/>
        </p:nvSpPr>
        <p:spPr>
          <a:xfrm>
            <a:off x="8092440" y="2304288"/>
            <a:ext cx="1751259" cy="182880"/>
          </a:xfrm>
          <a:prstGeom prst="rect">
            <a:avLst/>
          </a:prstGeom>
          <a:solidFill>
            <a:srgbClr val="8FB0A4"/>
          </a:solidFill>
          <a:ln/>
        </p:spPr>
      </p:sp>
      <p:sp>
        <p:nvSpPr>
          <p:cNvPr id="12" name="Text 10"/>
          <p:cNvSpPr/>
          <p:nvPr/>
        </p:nvSpPr>
        <p:spPr>
          <a:xfrm>
            <a:off x="8092440" y="2505456"/>
            <a:ext cx="2154326"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2 — Puas</a:t>
            </a:r>
            <a:endParaRPr lang="en-US" sz="1000" dirty="0"/>
          </a:p>
        </p:txBody>
      </p:sp>
      <p:sp>
        <p:nvSpPr>
          <p:cNvPr id="13" name="Text 11"/>
          <p:cNvSpPr/>
          <p:nvPr/>
        </p:nvSpPr>
        <p:spPr>
          <a:xfrm>
            <a:off x="10246766" y="2505456"/>
            <a:ext cx="1320394" cy="237744"/>
          </a:xfrm>
          <a:prstGeom prst="rect">
            <a:avLst/>
          </a:prstGeom>
          <a:noFill/>
          <a:ln/>
        </p:spPr>
        <p:txBody>
          <a:bodyPr wrap="square" lIns="0" tIns="0" rIns="0" bIns="0" rtlCol="0" anchor="ctr"/>
          <a:lstStyle/>
          <a:p>
            <a:pPr algn="r" indent="0" marL="0">
              <a:buNone/>
            </a:pPr>
            <a:r>
              <a:rPr lang="en-US" sz="1000" dirty="0">
                <a:solidFill>
                  <a:srgbClr val="9AA0A7"/>
                </a:solidFill>
                <a:latin typeface="Calibri" pitchFamily="34" charset="0"/>
                <a:ea typeface="Calibri" pitchFamily="34" charset="-122"/>
                <a:cs typeface="Calibri" pitchFamily="34" charset="-120"/>
              </a:rPr>
              <a:t>48.189   ·   50,4%</a:t>
            </a:r>
            <a:endParaRPr lang="en-US" sz="1000" dirty="0"/>
          </a:p>
        </p:txBody>
      </p:sp>
      <p:sp>
        <p:nvSpPr>
          <p:cNvPr id="14" name="Shape 12"/>
          <p:cNvSpPr/>
          <p:nvPr/>
        </p:nvSpPr>
        <p:spPr>
          <a:xfrm>
            <a:off x="8092440" y="2907792"/>
            <a:ext cx="3474720" cy="182880"/>
          </a:xfrm>
          <a:prstGeom prst="rect">
            <a:avLst/>
          </a:prstGeom>
          <a:solidFill>
            <a:srgbClr val="2A2F36"/>
          </a:solidFill>
          <a:ln/>
        </p:spPr>
      </p:sp>
      <p:sp>
        <p:nvSpPr>
          <p:cNvPr id="15" name="Shape 13"/>
          <p:cNvSpPr/>
          <p:nvPr/>
        </p:nvSpPr>
        <p:spPr>
          <a:xfrm>
            <a:off x="8092440" y="2907792"/>
            <a:ext cx="129260" cy="182880"/>
          </a:xfrm>
          <a:prstGeom prst="rect">
            <a:avLst/>
          </a:prstGeom>
          <a:solidFill>
            <a:srgbClr val="D8A25E"/>
          </a:solidFill>
          <a:ln/>
        </p:spPr>
      </p:sp>
      <p:sp>
        <p:nvSpPr>
          <p:cNvPr id="16" name="Text 14"/>
          <p:cNvSpPr/>
          <p:nvPr/>
        </p:nvSpPr>
        <p:spPr>
          <a:xfrm>
            <a:off x="8092440" y="3108960"/>
            <a:ext cx="2154326"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3 — Tidak puas</a:t>
            </a:r>
            <a:endParaRPr lang="en-US" sz="1000" dirty="0"/>
          </a:p>
        </p:txBody>
      </p:sp>
      <p:sp>
        <p:nvSpPr>
          <p:cNvPr id="17" name="Text 15"/>
          <p:cNvSpPr/>
          <p:nvPr/>
        </p:nvSpPr>
        <p:spPr>
          <a:xfrm>
            <a:off x="10246766" y="3108960"/>
            <a:ext cx="1320394" cy="237744"/>
          </a:xfrm>
          <a:prstGeom prst="rect">
            <a:avLst/>
          </a:prstGeom>
          <a:noFill/>
          <a:ln/>
        </p:spPr>
        <p:txBody>
          <a:bodyPr wrap="square" lIns="0" tIns="0" rIns="0" bIns="0" rtlCol="0" anchor="ctr"/>
          <a:lstStyle/>
          <a:p>
            <a:pPr algn="r" indent="0" marL="0">
              <a:buNone/>
            </a:pPr>
            <a:r>
              <a:rPr lang="en-US" sz="1000" dirty="0">
                <a:solidFill>
                  <a:srgbClr val="9AA0A7"/>
                </a:solidFill>
                <a:latin typeface="Calibri" pitchFamily="34" charset="0"/>
                <a:ea typeface="Calibri" pitchFamily="34" charset="-122"/>
                <a:cs typeface="Calibri" pitchFamily="34" charset="-120"/>
              </a:rPr>
              <a:t>3.559   ·   3,7%</a:t>
            </a:r>
            <a:endParaRPr lang="en-US" sz="1000" dirty="0"/>
          </a:p>
        </p:txBody>
      </p:sp>
      <p:sp>
        <p:nvSpPr>
          <p:cNvPr id="18" name="Shape 16"/>
          <p:cNvSpPr/>
          <p:nvPr/>
        </p:nvSpPr>
        <p:spPr>
          <a:xfrm>
            <a:off x="8092440" y="3511296"/>
            <a:ext cx="3474720" cy="182880"/>
          </a:xfrm>
          <a:prstGeom prst="rect">
            <a:avLst/>
          </a:prstGeom>
          <a:solidFill>
            <a:srgbClr val="2A2F36"/>
          </a:solidFill>
          <a:ln/>
        </p:spPr>
      </p:sp>
      <p:sp>
        <p:nvSpPr>
          <p:cNvPr id="19" name="Shape 17"/>
          <p:cNvSpPr/>
          <p:nvPr/>
        </p:nvSpPr>
        <p:spPr>
          <a:xfrm>
            <a:off x="8092440" y="3511296"/>
            <a:ext cx="32315" cy="182880"/>
          </a:xfrm>
          <a:prstGeom prst="rect">
            <a:avLst/>
          </a:prstGeom>
          <a:solidFill>
            <a:srgbClr val="A8442A"/>
          </a:solidFill>
          <a:ln/>
        </p:spPr>
      </p:sp>
      <p:sp>
        <p:nvSpPr>
          <p:cNvPr id="20" name="Text 18"/>
          <p:cNvSpPr/>
          <p:nvPr/>
        </p:nvSpPr>
        <p:spPr>
          <a:xfrm>
            <a:off x="8092440" y="3712464"/>
            <a:ext cx="2154326" cy="23774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4 — Sangat tidak puas</a:t>
            </a:r>
            <a:endParaRPr lang="en-US" sz="1000" dirty="0"/>
          </a:p>
        </p:txBody>
      </p:sp>
      <p:sp>
        <p:nvSpPr>
          <p:cNvPr id="21" name="Text 19"/>
          <p:cNvSpPr/>
          <p:nvPr/>
        </p:nvSpPr>
        <p:spPr>
          <a:xfrm>
            <a:off x="10246766" y="3712464"/>
            <a:ext cx="1320394" cy="237744"/>
          </a:xfrm>
          <a:prstGeom prst="rect">
            <a:avLst/>
          </a:prstGeom>
          <a:noFill/>
          <a:ln/>
        </p:spPr>
        <p:txBody>
          <a:bodyPr wrap="square" lIns="0" tIns="0" rIns="0" bIns="0" rtlCol="0" anchor="ctr"/>
          <a:lstStyle/>
          <a:p>
            <a:pPr algn="r" indent="0" marL="0">
              <a:buNone/>
            </a:pPr>
            <a:r>
              <a:rPr lang="en-US" sz="1000" dirty="0">
                <a:solidFill>
                  <a:srgbClr val="9AA0A7"/>
                </a:solidFill>
                <a:latin typeface="Calibri" pitchFamily="34" charset="0"/>
                <a:ea typeface="Calibri" pitchFamily="34" charset="-122"/>
                <a:cs typeface="Calibri" pitchFamily="34" charset="-120"/>
              </a:rPr>
              <a:t>893   ·   0,9%</a:t>
            </a:r>
            <a:endParaRPr lang="en-US" sz="1000" dirty="0"/>
          </a:p>
        </p:txBody>
      </p:sp>
      <p:sp>
        <p:nvSpPr>
          <p:cNvPr id="22" name="Text 20"/>
          <p:cNvSpPr/>
          <p:nvPr/>
        </p:nvSpPr>
        <p:spPr>
          <a:xfrm>
            <a:off x="8092440" y="4160520"/>
            <a:ext cx="3474720" cy="566928"/>
          </a:xfrm>
          <a:prstGeom prst="rect">
            <a:avLst/>
          </a:prstGeom>
          <a:noFill/>
          <a:ln/>
        </p:spPr>
        <p:txBody>
          <a:bodyPr wrap="square" lIns="0" tIns="0" rIns="0" bIns="0" rtlCol="0" anchor="t"/>
          <a:lstStyle/>
          <a:p>
            <a:pPr indent="0" marL="0">
              <a:lnSpc>
                <a:spcPts val="1500"/>
              </a:lnSpc>
              <a:buNone/>
            </a:pPr>
            <a:r>
              <a:rPr lang="en-US" sz="1050" i="1" dirty="0">
                <a:solidFill>
                  <a:srgbClr val="8FB0A4"/>
                </a:solidFill>
                <a:latin typeface="Calibri" pitchFamily="34" charset="0"/>
                <a:ea typeface="Calibri" pitchFamily="34" charset="-122"/>
                <a:cs typeface="Calibri" pitchFamily="34" charset="-120"/>
              </a:rPr>
              <a:t>Dua kelas terbawah hanya 4,7% dari data — dan di sanalah hampir seluruh penalti QWK berada.</a:t>
            </a:r>
            <a:endParaRPr lang="en-US" sz="1050" dirty="0"/>
          </a:p>
        </p:txBody>
      </p:sp>
      <p:sp>
        <p:nvSpPr>
          <p:cNvPr id="23" name="Shape 21"/>
          <p:cNvSpPr/>
          <p:nvPr/>
        </p:nvSpPr>
        <p:spPr>
          <a:xfrm>
            <a:off x="640080" y="5138928"/>
            <a:ext cx="10908792" cy="0"/>
          </a:xfrm>
          <a:prstGeom prst="line">
            <a:avLst/>
          </a:prstGeom>
          <a:noFill/>
          <a:ln w="12700">
            <a:solidFill>
              <a:srgbClr val="3A4048"/>
            </a:solidFill>
            <a:prstDash val="solid"/>
          </a:ln>
        </p:spPr>
      </p:sp>
      <p:sp>
        <p:nvSpPr>
          <p:cNvPr id="24" name="Text 22"/>
          <p:cNvSpPr/>
          <p:nvPr/>
        </p:nvSpPr>
        <p:spPr>
          <a:xfrm>
            <a:off x="640080"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0,48425</a:t>
            </a:r>
            <a:endParaRPr lang="en-US" sz="2200" dirty="0"/>
          </a:p>
        </p:txBody>
      </p:sp>
      <p:sp>
        <p:nvSpPr>
          <p:cNvPr id="25" name="Text 23"/>
          <p:cNvSpPr/>
          <p:nvPr/>
        </p:nvSpPr>
        <p:spPr>
          <a:xfrm>
            <a:off x="640080"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QWK out-of-fold</a:t>
            </a:r>
            <a:endParaRPr lang="en-US" sz="950" dirty="0"/>
          </a:p>
        </p:txBody>
      </p:sp>
      <p:sp>
        <p:nvSpPr>
          <p:cNvPr id="26" name="Text 24"/>
          <p:cNvSpPr/>
          <p:nvPr/>
        </p:nvSpPr>
        <p:spPr>
          <a:xfrm>
            <a:off x="2487168"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0,63305</a:t>
            </a:r>
            <a:endParaRPr lang="en-US" sz="2200" dirty="0"/>
          </a:p>
        </p:txBody>
      </p:sp>
      <p:sp>
        <p:nvSpPr>
          <p:cNvPr id="27" name="Text 25"/>
          <p:cNvSpPr/>
          <p:nvPr/>
        </p:nvSpPr>
        <p:spPr>
          <a:xfrm>
            <a:off x="2487168"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Akurasi out-of-fold</a:t>
            </a:r>
            <a:endParaRPr lang="en-US" sz="950" dirty="0"/>
          </a:p>
        </p:txBody>
      </p:sp>
      <p:sp>
        <p:nvSpPr>
          <p:cNvPr id="28" name="Text 26"/>
          <p:cNvSpPr/>
          <p:nvPr/>
        </p:nvSpPr>
        <p:spPr>
          <a:xfrm>
            <a:off x="4334256"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29" name="Text 27"/>
          <p:cNvSpPr/>
          <p:nvPr/>
        </p:nvSpPr>
        <p:spPr>
          <a:xfrm>
            <a:off x="4334256"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Keluarga algoritma</a:t>
            </a:r>
            <a:endParaRPr lang="en-US" sz="950" dirty="0"/>
          </a:p>
        </p:txBody>
      </p:sp>
      <p:sp>
        <p:nvSpPr>
          <p:cNvPr id="30" name="Text 28"/>
          <p:cNvSpPr/>
          <p:nvPr/>
        </p:nvSpPr>
        <p:spPr>
          <a:xfrm>
            <a:off x="6181344"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176</a:t>
            </a:r>
            <a:endParaRPr lang="en-US" sz="2200" dirty="0"/>
          </a:p>
        </p:txBody>
      </p:sp>
      <p:sp>
        <p:nvSpPr>
          <p:cNvPr id="31" name="Text 29"/>
          <p:cNvSpPr/>
          <p:nvPr/>
        </p:nvSpPr>
        <p:spPr>
          <a:xfrm>
            <a:off x="6181344"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Fitur mentah</a:t>
            </a:r>
            <a:endParaRPr lang="en-US" sz="950" dirty="0"/>
          </a:p>
        </p:txBody>
      </p:sp>
      <p:sp>
        <p:nvSpPr>
          <p:cNvPr id="32" name="Text 30"/>
          <p:cNvSpPr/>
          <p:nvPr/>
        </p:nvSpPr>
        <p:spPr>
          <a:xfrm>
            <a:off x="8028432"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42</a:t>
            </a:r>
            <a:endParaRPr lang="en-US" sz="2200" dirty="0"/>
          </a:p>
        </p:txBody>
      </p:sp>
      <p:sp>
        <p:nvSpPr>
          <p:cNvPr id="33" name="Text 31"/>
          <p:cNvSpPr/>
          <p:nvPr/>
        </p:nvSpPr>
        <p:spPr>
          <a:xfrm>
            <a:off x="8028432"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Seed tunggal, dikunci</a:t>
            </a:r>
            <a:endParaRPr lang="en-US" sz="950" dirty="0"/>
          </a:p>
        </p:txBody>
      </p:sp>
      <p:sp>
        <p:nvSpPr>
          <p:cNvPr id="34" name="Text 32"/>
          <p:cNvSpPr/>
          <p:nvPr/>
        </p:nvSpPr>
        <p:spPr>
          <a:xfrm>
            <a:off x="9875520" y="5358384"/>
            <a:ext cx="1783080" cy="384048"/>
          </a:xfrm>
          <a:prstGeom prst="rect">
            <a:avLst/>
          </a:prstGeom>
          <a:noFill/>
          <a:ln/>
        </p:spPr>
        <p:txBody>
          <a:bodyPr wrap="square" lIns="0" tIns="0" rIns="0" bIns="0" rtlCol="0" anchor="b"/>
          <a:lstStyle/>
          <a:p>
            <a:pPr algn="l" indent="0" marL="0">
              <a:buNone/>
            </a:pPr>
            <a:r>
              <a:rPr lang="en-US" sz="2200" b="1" dirty="0">
                <a:solidFill>
                  <a:srgbClr val="FFFFFF"/>
                </a:solidFill>
                <a:latin typeface="Cambria" pitchFamily="34" charset="0"/>
                <a:ea typeface="Cambria" pitchFamily="34" charset="-122"/>
                <a:cs typeface="Cambria" pitchFamily="34" charset="-120"/>
              </a:rPr>
              <a:t>0</a:t>
            </a:r>
            <a:endParaRPr lang="en-US" sz="2200" dirty="0"/>
          </a:p>
        </p:txBody>
      </p:sp>
      <p:sp>
        <p:nvSpPr>
          <p:cNvPr id="35" name="Text 33"/>
          <p:cNvSpPr/>
          <p:nvPr/>
        </p:nvSpPr>
        <p:spPr>
          <a:xfrm>
            <a:off x="9875520" y="5779008"/>
            <a:ext cx="1783080" cy="420624"/>
          </a:xfrm>
          <a:prstGeom prst="rect">
            <a:avLst/>
          </a:prstGeom>
          <a:noFill/>
          <a:ln/>
        </p:spPr>
        <p:txBody>
          <a:bodyPr wrap="square" lIns="0" tIns="0" rIns="0" bIns="0" rtlCol="0" anchor="t"/>
          <a:lstStyle/>
          <a:p>
            <a:pPr algn="l" indent="0" marL="0">
              <a:lnSpc>
                <a:spcPts val="1300"/>
              </a:lnSpc>
              <a:buNone/>
            </a:pPr>
            <a:r>
              <a:rPr lang="en-US" sz="950" dirty="0">
                <a:solidFill>
                  <a:srgbClr val="9AA0A7"/>
                </a:solidFill>
                <a:latin typeface="Calibri" pitchFamily="34" charset="0"/>
                <a:ea typeface="Calibri" pitchFamily="34" charset="-122"/>
                <a:cs typeface="Calibri" pitchFamily="34" charset="-120"/>
              </a:rPr>
              <a:t>Baris data eksternal</a:t>
            </a:r>
            <a:endParaRPr lang="en-US" sz="950" dirty="0"/>
          </a:p>
        </p:txBody>
      </p:sp>
      <p:sp>
        <p:nvSpPr>
          <p:cNvPr id="37" name="Text 34"/>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38" name="Text 35"/>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MASALAH</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596"/>
              </a:lnSpc>
              <a:buNone/>
            </a:pPr>
            <a:r>
              <a:rPr lang="en-US" sz="3100" b="1" dirty="0">
                <a:solidFill>
                  <a:srgbClr val="16191D"/>
                </a:solidFill>
                <a:latin typeface="Cambria" pitchFamily="34" charset="0"/>
                <a:ea typeface="Cambria" pitchFamily="34" charset="-122"/>
                <a:cs typeface="Cambria" pitchFamily="34" charset="-120"/>
              </a:rPr>
              <a:t>Menandai siapa, bukan melaporkan berapa persen</a:t>
            </a:r>
            <a:endParaRPr lang="en-US" sz="31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Survei kesehatan sudah mengukur kepuasan hidup. Yang belum tersedia adalah cara memakainya untuk menandai individu yang perlu ditindaklanjuti.</a:t>
            </a:r>
            <a:endParaRPr lang="en-US" sz="1350" dirty="0"/>
          </a:p>
        </p:txBody>
      </p:sp>
      <p:sp>
        <p:nvSpPr>
          <p:cNvPr id="7" name="Shape 5"/>
          <p:cNvSpPr/>
          <p:nvPr/>
        </p:nvSpPr>
        <p:spPr>
          <a:xfrm>
            <a:off x="640080" y="2286000"/>
            <a:ext cx="5291176" cy="1371600"/>
          </a:xfrm>
          <a:prstGeom prst="roundRect">
            <a:avLst>
              <a:gd name="adj" fmla="val 4000"/>
            </a:avLst>
          </a:prstGeom>
          <a:solidFill>
            <a:srgbClr val="F4F1EC"/>
          </a:solidFill>
          <a:ln w="9525">
            <a:solidFill>
              <a:srgbClr val="DCD8D1"/>
            </a:solidFill>
            <a:prstDash val="solid"/>
          </a:ln>
        </p:spPr>
      </p:sp>
      <p:sp>
        <p:nvSpPr>
          <p:cNvPr id="8" name="Text 6"/>
          <p:cNvSpPr/>
          <p:nvPr/>
        </p:nvSpPr>
        <p:spPr>
          <a:xfrm>
            <a:off x="914400" y="2432304"/>
            <a:ext cx="4742536" cy="274320"/>
          </a:xfrm>
          <a:prstGeom prst="rect">
            <a:avLst/>
          </a:prstGeom>
          <a:noFill/>
          <a:ln/>
        </p:spPr>
        <p:txBody>
          <a:bodyPr wrap="square" lIns="0" tIns="0" rIns="0" bIns="0" rtlCol="0" anchor="ctr"/>
          <a:lstStyle/>
          <a:p>
            <a:pPr indent="0" marL="0">
              <a:buNone/>
            </a:pPr>
            <a:r>
              <a:rPr lang="en-US" sz="1050" b="1" spc="140" kern="0" dirty="0">
                <a:solidFill>
                  <a:srgbClr val="6E747C"/>
                </a:solidFill>
                <a:latin typeface="Calibri" pitchFamily="34" charset="0"/>
                <a:ea typeface="Calibri" pitchFamily="34" charset="-122"/>
                <a:cs typeface="Calibri" pitchFamily="34" charset="-120"/>
              </a:rPr>
              <a:t>Situasi</a:t>
            </a:r>
            <a:endParaRPr lang="en-US" sz="1050" dirty="0"/>
          </a:p>
        </p:txBody>
      </p:sp>
      <p:sp>
        <p:nvSpPr>
          <p:cNvPr id="9" name="Text 7"/>
          <p:cNvSpPr/>
          <p:nvPr/>
        </p:nvSpPr>
        <p:spPr>
          <a:xfrm>
            <a:off x="914400" y="2724912"/>
            <a:ext cx="4742536" cy="822960"/>
          </a:xfrm>
          <a:prstGeom prst="rect">
            <a:avLst/>
          </a:prstGeom>
          <a:noFill/>
          <a:ln/>
        </p:spPr>
        <p:txBody>
          <a:bodyPr wrap="square" lIns="0" tIns="0" rIns="0" bIns="0" rtlCol="0" anchor="t"/>
          <a:lstStyle/>
          <a:p>
            <a:pPr indent="0" marL="0">
              <a:lnSpc>
                <a:spcPts val="1700"/>
              </a:lnSpc>
              <a:buNone/>
            </a:pPr>
            <a:r>
              <a:rPr lang="en-US" sz="1250" dirty="0">
                <a:solidFill>
                  <a:srgbClr val="3A4048"/>
                </a:solidFill>
                <a:latin typeface="Calibri" pitchFamily="34" charset="0"/>
                <a:ea typeface="Calibri" pitchFamily="34" charset="-122"/>
                <a:cs typeface="Calibri" pitchFamily="34" charset="-120"/>
              </a:rPr>
              <a:t>95.609 responden, 176 variabel per orang, empat tahun survei. Kepuasan hidup dilaporkan sebagai satu persentase agregat dan berhenti di situ.</a:t>
            </a:r>
            <a:endParaRPr lang="en-US" sz="1250" dirty="0"/>
          </a:p>
        </p:txBody>
      </p:sp>
      <p:sp>
        <p:nvSpPr>
          <p:cNvPr id="10" name="Shape 8"/>
          <p:cNvSpPr/>
          <p:nvPr/>
        </p:nvSpPr>
        <p:spPr>
          <a:xfrm>
            <a:off x="6260440" y="2286000"/>
            <a:ext cx="5291176" cy="1371600"/>
          </a:xfrm>
          <a:prstGeom prst="roundRect">
            <a:avLst>
              <a:gd name="adj" fmla="val 4000"/>
            </a:avLst>
          </a:prstGeom>
          <a:solidFill>
            <a:srgbClr val="ECE7DF"/>
          </a:solidFill>
          <a:ln w="9525">
            <a:solidFill>
              <a:srgbClr val="DCD8D1"/>
            </a:solidFill>
            <a:prstDash val="solid"/>
          </a:ln>
        </p:spPr>
      </p:sp>
      <p:sp>
        <p:nvSpPr>
          <p:cNvPr id="11" name="Text 9"/>
          <p:cNvSpPr/>
          <p:nvPr/>
        </p:nvSpPr>
        <p:spPr>
          <a:xfrm>
            <a:off x="6534760" y="2432304"/>
            <a:ext cx="4742536" cy="274320"/>
          </a:xfrm>
          <a:prstGeom prst="rect">
            <a:avLst/>
          </a:prstGeom>
          <a:noFill/>
          <a:ln/>
        </p:spPr>
        <p:txBody>
          <a:bodyPr wrap="square" lIns="0" tIns="0" rIns="0" bIns="0" rtlCol="0" anchor="ctr"/>
          <a:lstStyle/>
          <a:p>
            <a:pPr indent="0" marL="0">
              <a:buNone/>
            </a:pPr>
            <a:r>
              <a:rPr lang="en-US" sz="1050" b="1" spc="140" kern="0" dirty="0">
                <a:solidFill>
                  <a:srgbClr val="6E747C"/>
                </a:solidFill>
                <a:latin typeface="Calibri" pitchFamily="34" charset="0"/>
                <a:ea typeface="Calibri" pitchFamily="34" charset="-122"/>
                <a:cs typeface="Calibri" pitchFamily="34" charset="-120"/>
              </a:rPr>
              <a:t>Kesenjangan</a:t>
            </a:r>
            <a:endParaRPr lang="en-US" sz="1050" dirty="0"/>
          </a:p>
        </p:txBody>
      </p:sp>
      <p:sp>
        <p:nvSpPr>
          <p:cNvPr id="12" name="Text 10"/>
          <p:cNvSpPr/>
          <p:nvPr/>
        </p:nvSpPr>
        <p:spPr>
          <a:xfrm>
            <a:off x="6534760" y="2724912"/>
            <a:ext cx="4742536" cy="822960"/>
          </a:xfrm>
          <a:prstGeom prst="rect">
            <a:avLst/>
          </a:prstGeom>
          <a:noFill/>
          <a:ln/>
        </p:spPr>
        <p:txBody>
          <a:bodyPr wrap="square" lIns="0" tIns="0" rIns="0" bIns="0" rtlCol="0" anchor="t"/>
          <a:lstStyle/>
          <a:p>
            <a:pPr indent="0" marL="0">
              <a:lnSpc>
                <a:spcPts val="1700"/>
              </a:lnSpc>
              <a:buNone/>
            </a:pPr>
            <a:r>
              <a:rPr lang="en-US" sz="1250" b="1" dirty="0">
                <a:solidFill>
                  <a:srgbClr val="A8442A"/>
                </a:solidFill>
                <a:latin typeface="Calibri" pitchFamily="34" charset="0"/>
                <a:ea typeface="Calibri" pitchFamily="34" charset="-122"/>
                <a:cs typeface="Calibri" pitchFamily="34" charset="-120"/>
              </a:rPr>
              <a:t>4.452 responden </a:t>
            </a:r>
            <a:pPr indent="0" marL="0">
              <a:lnSpc>
                <a:spcPts val="1700"/>
              </a:lnSpc>
              <a:buNone/>
            </a:pPr>
            <a:r>
              <a:rPr lang="en-US" sz="1250" dirty="0">
                <a:solidFill>
                  <a:srgbClr val="3A4048"/>
                </a:solidFill>
                <a:latin typeface="Calibri" pitchFamily="34" charset="0"/>
                <a:ea typeface="Calibri" pitchFamily="34" charset="-122"/>
                <a:cs typeface="Calibri" pitchFamily="34" charset="-120"/>
              </a:rPr>
              <a:t>berada di dua kelas terbawah. Tanpa model, satu-satunya cara menemukan mereka adalah membaca ulang seluruh kuesioner, satu per satu.</a:t>
            </a:r>
            <a:endParaRPr lang="en-US" sz="1250" dirty="0"/>
          </a:p>
        </p:txBody>
      </p:sp>
      <p:sp>
        <p:nvSpPr>
          <p:cNvPr id="13" name="Text 11"/>
          <p:cNvSpPr/>
          <p:nvPr/>
        </p:nvSpPr>
        <p:spPr>
          <a:xfrm>
            <a:off x="640080" y="3877056"/>
            <a:ext cx="10911535" cy="274320"/>
          </a:xfrm>
          <a:prstGeom prst="rect">
            <a:avLst/>
          </a:prstGeom>
          <a:noFill/>
          <a:ln/>
        </p:spPr>
        <p:txBody>
          <a:bodyPr wrap="square" lIns="0" tIns="0" rIns="0" bIns="0" rtlCol="0" anchor="ctr"/>
          <a:lstStyle/>
          <a:p>
            <a:pPr indent="0" marL="0">
              <a:buNone/>
            </a:pPr>
            <a:r>
              <a:rPr lang="en-US" sz="1000" b="1" spc="120" kern="0" dirty="0">
                <a:solidFill>
                  <a:srgbClr val="6E747C"/>
                </a:solidFill>
                <a:latin typeface="Calibri" pitchFamily="34" charset="0"/>
                <a:ea typeface="Calibri" pitchFamily="34" charset="-122"/>
                <a:cs typeface="Calibri" pitchFamily="34" charset="-120"/>
              </a:rPr>
              <a:t>MENGAPA INI BUKAN SOAL KLASIFIKASI BIASA</a:t>
            </a:r>
            <a:endParaRPr lang="en-US" sz="1000" dirty="0"/>
          </a:p>
        </p:txBody>
      </p:sp>
      <p:sp>
        <p:nvSpPr>
          <p:cNvPr id="14" name="Shape 12"/>
          <p:cNvSpPr/>
          <p:nvPr/>
        </p:nvSpPr>
        <p:spPr>
          <a:xfrm>
            <a:off x="640080" y="4261104"/>
            <a:ext cx="182880" cy="182880"/>
          </a:xfrm>
          <a:prstGeom prst="ellipse">
            <a:avLst/>
          </a:prstGeom>
          <a:solidFill>
            <a:srgbClr val="2F6B5F"/>
          </a:solidFill>
          <a:ln/>
        </p:spPr>
      </p:sp>
      <p:sp>
        <p:nvSpPr>
          <p:cNvPr id="15" name="Text 13"/>
          <p:cNvSpPr/>
          <p:nvPr/>
        </p:nvSpPr>
        <p:spPr>
          <a:xfrm>
            <a:off x="914400" y="4206240"/>
            <a:ext cx="3149498" cy="347472"/>
          </a:xfrm>
          <a:prstGeom prst="rect">
            <a:avLst/>
          </a:prstGeom>
          <a:noFill/>
          <a:ln/>
        </p:spPr>
        <p:txBody>
          <a:bodyPr wrap="square" lIns="0" tIns="0" rIns="0" bIns="0" rtlCol="0" anchor="ctr"/>
          <a:lstStyle/>
          <a:p>
            <a:pPr indent="0" marL="0">
              <a:buNone/>
            </a:pPr>
            <a:r>
              <a:rPr lang="en-US" sz="1900" b="1" dirty="0">
                <a:solidFill>
                  <a:srgbClr val="16191D"/>
                </a:solidFill>
                <a:latin typeface="Cambria" pitchFamily="34" charset="0"/>
                <a:ea typeface="Cambria" pitchFamily="34" charset="-122"/>
                <a:cs typeface="Cambria" pitchFamily="34" charset="-120"/>
              </a:rPr>
              <a:t>|ρ| = 0,361</a:t>
            </a:r>
            <a:endParaRPr lang="en-US" sz="1900" dirty="0"/>
          </a:p>
        </p:txBody>
      </p:sp>
      <p:sp>
        <p:nvSpPr>
          <p:cNvPr id="16" name="Text 14"/>
          <p:cNvSpPr/>
          <p:nvPr/>
        </p:nvSpPr>
        <p:spPr>
          <a:xfrm>
            <a:off x="914400" y="4572000"/>
            <a:ext cx="3094634" cy="822960"/>
          </a:xfrm>
          <a:prstGeom prst="rect">
            <a:avLst/>
          </a:prstGeom>
          <a:noFill/>
          <a:ln/>
        </p:spPr>
        <p:txBody>
          <a:bodyPr wrap="square" lIns="0" tIns="0" rIns="0" bIns="0" rtlCol="0" anchor="t"/>
          <a:lstStyle/>
          <a:p>
            <a:pPr indent="0" marL="0">
              <a:lnSpc>
                <a:spcPts val="1500"/>
              </a:lnSpc>
              <a:buNone/>
            </a:pPr>
            <a:r>
              <a:rPr lang="en-US" sz="1150" dirty="0">
                <a:solidFill>
                  <a:srgbClr val="3A4048"/>
                </a:solidFill>
                <a:latin typeface="Calibri" pitchFamily="34" charset="0"/>
                <a:ea typeface="Calibri" pitchFamily="34" charset="-122"/>
                <a:cs typeface="Calibri" pitchFamily="34" charset="-120"/>
              </a:rPr>
              <a:t>Prediktor tunggal terkuat. Sinyalnya tersebar tipis di banyak variabel, tidak terkonsentrasi di segelintir kolom.</a:t>
            </a:r>
            <a:endParaRPr lang="en-US" sz="1150" dirty="0"/>
          </a:p>
        </p:txBody>
      </p:sp>
      <p:sp>
        <p:nvSpPr>
          <p:cNvPr id="17" name="Shape 15"/>
          <p:cNvSpPr/>
          <p:nvPr/>
        </p:nvSpPr>
        <p:spPr>
          <a:xfrm>
            <a:off x="4383938" y="4261104"/>
            <a:ext cx="182880" cy="182880"/>
          </a:xfrm>
          <a:prstGeom prst="ellipse">
            <a:avLst/>
          </a:prstGeom>
          <a:solidFill>
            <a:srgbClr val="8FB0A4"/>
          </a:solidFill>
          <a:ln/>
        </p:spPr>
      </p:sp>
      <p:sp>
        <p:nvSpPr>
          <p:cNvPr id="18" name="Text 16"/>
          <p:cNvSpPr/>
          <p:nvPr/>
        </p:nvSpPr>
        <p:spPr>
          <a:xfrm>
            <a:off x="4658258" y="4206240"/>
            <a:ext cx="3149498" cy="347472"/>
          </a:xfrm>
          <a:prstGeom prst="rect">
            <a:avLst/>
          </a:prstGeom>
          <a:noFill/>
          <a:ln/>
        </p:spPr>
        <p:txBody>
          <a:bodyPr wrap="square" lIns="0" tIns="0" rIns="0" bIns="0" rtlCol="0" anchor="ctr"/>
          <a:lstStyle/>
          <a:p>
            <a:pPr indent="0" marL="0">
              <a:buNone/>
            </a:pPr>
            <a:r>
              <a:rPr lang="en-US" sz="1900" b="1" dirty="0">
                <a:solidFill>
                  <a:srgbClr val="16191D"/>
                </a:solidFill>
                <a:latin typeface="Cambria" pitchFamily="34" charset="0"/>
                <a:ea typeface="Cambria" pitchFamily="34" charset="-122"/>
                <a:cs typeface="Cambria" pitchFamily="34" charset="-120"/>
              </a:rPr>
              <a:t>893 baris</a:t>
            </a:r>
            <a:endParaRPr lang="en-US" sz="1900" dirty="0"/>
          </a:p>
        </p:txBody>
      </p:sp>
      <p:sp>
        <p:nvSpPr>
          <p:cNvPr id="19" name="Text 17"/>
          <p:cNvSpPr/>
          <p:nvPr/>
        </p:nvSpPr>
        <p:spPr>
          <a:xfrm>
            <a:off x="4658258" y="4572000"/>
            <a:ext cx="3094634" cy="822960"/>
          </a:xfrm>
          <a:prstGeom prst="rect">
            <a:avLst/>
          </a:prstGeom>
          <a:noFill/>
          <a:ln/>
        </p:spPr>
        <p:txBody>
          <a:bodyPr wrap="square" lIns="0" tIns="0" rIns="0" bIns="0" rtlCol="0" anchor="t"/>
          <a:lstStyle/>
          <a:p>
            <a:pPr indent="0" marL="0">
              <a:lnSpc>
                <a:spcPts val="1500"/>
              </a:lnSpc>
              <a:buNone/>
            </a:pPr>
            <a:r>
              <a:rPr lang="en-US" sz="1150" dirty="0">
                <a:solidFill>
                  <a:srgbClr val="3A4048"/>
                </a:solidFill>
                <a:latin typeface="Calibri" pitchFamily="34" charset="0"/>
                <a:ea typeface="Calibri" pitchFamily="34" charset="-122"/>
                <a:cs typeface="Calibri" pitchFamily="34" charset="-120"/>
              </a:rPr>
              <a:t>Seluruh data latih kelas 4. Kelas yang paling penting ditemukan justru yang paling langka.</a:t>
            </a:r>
            <a:endParaRPr lang="en-US" sz="1150" dirty="0"/>
          </a:p>
        </p:txBody>
      </p:sp>
      <p:sp>
        <p:nvSpPr>
          <p:cNvPr id="20" name="Shape 18"/>
          <p:cNvSpPr/>
          <p:nvPr/>
        </p:nvSpPr>
        <p:spPr>
          <a:xfrm>
            <a:off x="8127797" y="4261104"/>
            <a:ext cx="182880" cy="182880"/>
          </a:xfrm>
          <a:prstGeom prst="ellipse">
            <a:avLst/>
          </a:prstGeom>
          <a:solidFill>
            <a:srgbClr val="D8A25E"/>
          </a:solidFill>
          <a:ln/>
        </p:spPr>
      </p:sp>
      <p:sp>
        <p:nvSpPr>
          <p:cNvPr id="21" name="Text 19"/>
          <p:cNvSpPr/>
          <p:nvPr/>
        </p:nvSpPr>
        <p:spPr>
          <a:xfrm>
            <a:off x="8402117" y="4206240"/>
            <a:ext cx="3149498" cy="347472"/>
          </a:xfrm>
          <a:prstGeom prst="rect">
            <a:avLst/>
          </a:prstGeom>
          <a:noFill/>
          <a:ln/>
        </p:spPr>
        <p:txBody>
          <a:bodyPr wrap="square" lIns="0" tIns="0" rIns="0" bIns="0" rtlCol="0" anchor="ctr"/>
          <a:lstStyle/>
          <a:p>
            <a:pPr indent="0" marL="0">
              <a:buNone/>
            </a:pPr>
            <a:r>
              <a:rPr lang="en-US" sz="1900" b="1" dirty="0">
                <a:solidFill>
                  <a:srgbClr val="16191D"/>
                </a:solidFill>
                <a:latin typeface="Cambria" pitchFamily="34" charset="0"/>
                <a:ea typeface="Cambria" pitchFamily="34" charset="-122"/>
                <a:cs typeface="Cambria" pitchFamily="34" charset="-120"/>
              </a:rPr>
              <a:t>9×</a:t>
            </a:r>
            <a:endParaRPr lang="en-US" sz="1900" dirty="0"/>
          </a:p>
        </p:txBody>
      </p:sp>
      <p:sp>
        <p:nvSpPr>
          <p:cNvPr id="22" name="Text 20"/>
          <p:cNvSpPr/>
          <p:nvPr/>
        </p:nvSpPr>
        <p:spPr>
          <a:xfrm>
            <a:off x="8402117" y="4572000"/>
            <a:ext cx="3094634" cy="822960"/>
          </a:xfrm>
          <a:prstGeom prst="rect">
            <a:avLst/>
          </a:prstGeom>
          <a:noFill/>
          <a:ln/>
        </p:spPr>
        <p:txBody>
          <a:bodyPr wrap="square" lIns="0" tIns="0" rIns="0" bIns="0" rtlCol="0" anchor="t"/>
          <a:lstStyle/>
          <a:p>
            <a:pPr indent="0" marL="0">
              <a:lnSpc>
                <a:spcPts val="1500"/>
              </a:lnSpc>
              <a:buNone/>
            </a:pPr>
            <a:r>
              <a:rPr lang="en-US" sz="1150" dirty="0">
                <a:solidFill>
                  <a:srgbClr val="3A4048"/>
                </a:solidFill>
                <a:latin typeface="Calibri" pitchFamily="34" charset="0"/>
                <a:ea typeface="Calibri" pitchFamily="34" charset="-122"/>
                <a:cs typeface="Calibri" pitchFamily="34" charset="-120"/>
              </a:rPr>
              <a:t>Penalti menebak kelas 4 sebagai kelas 1 dibandingkan menebak 2 sebagai 1. Kesalahan tidak setara.</a:t>
            </a:r>
            <a:endParaRPr lang="en-US" sz="1150" dirty="0"/>
          </a:p>
        </p:txBody>
      </p:sp>
      <p:sp>
        <p:nvSpPr>
          <p:cNvPr id="23" name="Shape 21"/>
          <p:cNvSpPr/>
          <p:nvPr/>
        </p:nvSpPr>
        <p:spPr>
          <a:xfrm>
            <a:off x="640080" y="5449824"/>
            <a:ext cx="10911535" cy="786384"/>
          </a:xfrm>
          <a:prstGeom prst="roundRect">
            <a:avLst>
              <a:gd name="adj" fmla="val 6977"/>
            </a:avLst>
          </a:prstGeom>
          <a:solidFill>
            <a:srgbClr val="16191D"/>
          </a:solidFill>
          <a:ln/>
        </p:spPr>
      </p:sp>
      <p:sp>
        <p:nvSpPr>
          <p:cNvPr id="24" name="Text 22"/>
          <p:cNvSpPr/>
          <p:nvPr/>
        </p:nvSpPr>
        <p:spPr>
          <a:xfrm>
            <a:off x="914400" y="5449824"/>
            <a:ext cx="10362895" cy="786384"/>
          </a:xfrm>
          <a:prstGeom prst="rect">
            <a:avLst/>
          </a:prstGeom>
          <a:noFill/>
          <a:ln/>
        </p:spPr>
        <p:txBody>
          <a:bodyPr wrap="square" lIns="0" tIns="0" rIns="0" bIns="0" rtlCol="0" anchor="ctr"/>
          <a:lstStyle/>
          <a:p>
            <a:pPr indent="0" marL="0">
              <a:lnSpc>
                <a:spcPts val="1700"/>
              </a:lnSpc>
              <a:buNone/>
            </a:pPr>
            <a:r>
              <a:rPr lang="en-US" sz="1250" b="1" dirty="0">
                <a:solidFill>
                  <a:srgbClr val="FFFFFF"/>
                </a:solidFill>
                <a:latin typeface="Calibri" pitchFamily="34" charset="0"/>
                <a:ea typeface="Calibri" pitchFamily="34" charset="-122"/>
                <a:cs typeface="Calibri" pitchFamily="34" charset="-120"/>
              </a:rPr>
              <a:t>Ukuran keberhasilan yang kami pakai:  </a:t>
            </a:r>
            <a:pPr indent="0" marL="0">
              <a:lnSpc>
                <a:spcPts val="1700"/>
              </a:lnSpc>
              <a:buNone/>
            </a:pPr>
            <a:r>
              <a:rPr lang="en-US" sz="1250" dirty="0">
                <a:solidFill>
                  <a:srgbClr val="9AA0A7"/>
                </a:solidFill>
                <a:latin typeface="Calibri" pitchFamily="34" charset="0"/>
                <a:ea typeface="Calibri" pitchFamily="34" charset="-122"/>
                <a:cs typeface="Calibri" pitchFamily="34" charset="-120"/>
              </a:rPr>
              <a:t>QWK di kompetisi, dan di lapangan — daftar prioritas yang terurut, bukan empat label. Kedua-duanya menuntut keluaran pada skala, bukan kelas.</a:t>
            </a:r>
            <a:endParaRPr lang="en-US" sz="1250" dirty="0"/>
          </a:p>
        </p:txBody>
      </p:sp>
      <p:sp>
        <p:nvSpPr>
          <p:cNvPr id="26" name="Text 23"/>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7" name="Text 24"/>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RINGKASAN EKSEKUTIF</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364"/>
              </a:lnSpc>
              <a:buNone/>
            </a:pPr>
            <a:r>
              <a:rPr lang="en-US" sz="2900" b="1" dirty="0">
                <a:solidFill>
                  <a:srgbClr val="16191D"/>
                </a:solidFill>
                <a:latin typeface="Cambria" pitchFamily="34" charset="0"/>
                <a:ea typeface="Cambria" pitchFamily="34" charset="-122"/>
                <a:cs typeface="Cambria" pitchFamily="34" charset="-120"/>
              </a:rPr>
              <a:t>Tiga temuan yang membentuk seluruh strategi</a:t>
            </a:r>
            <a:endParaRPr lang="en-US" sz="29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Setiap keputusan arsitektur dalam presentasi ini dapat dilacak kembali ke salah satu dari tiga temuan berikut.</a:t>
            </a:r>
            <a:endParaRPr lang="en-US" sz="1350" dirty="0"/>
          </a:p>
        </p:txBody>
      </p:sp>
      <p:sp>
        <p:nvSpPr>
          <p:cNvPr id="7" name="Shape 5"/>
          <p:cNvSpPr/>
          <p:nvPr/>
        </p:nvSpPr>
        <p:spPr>
          <a:xfrm>
            <a:off x="640080" y="2084832"/>
            <a:ext cx="365760" cy="365760"/>
          </a:xfrm>
          <a:prstGeom prst="ellipse">
            <a:avLst/>
          </a:prstGeom>
          <a:solidFill>
            <a:srgbClr val="2F6B5F"/>
          </a:solidFill>
          <a:ln/>
        </p:spPr>
      </p:sp>
      <p:sp>
        <p:nvSpPr>
          <p:cNvPr id="8" name="Text 6"/>
          <p:cNvSpPr/>
          <p:nvPr/>
        </p:nvSpPr>
        <p:spPr>
          <a:xfrm>
            <a:off x="640080" y="20848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207008" y="2066544"/>
            <a:ext cx="10241280" cy="329184"/>
          </a:xfrm>
          <a:prstGeom prst="rect">
            <a:avLst/>
          </a:prstGeom>
          <a:noFill/>
          <a:ln/>
        </p:spPr>
        <p:txBody>
          <a:bodyPr wrap="square" lIns="0" tIns="0" rIns="0" bIns="0" rtlCol="0" anchor="ctr"/>
          <a:lstStyle/>
          <a:p>
            <a:pPr indent="0" marL="0">
              <a:buNone/>
            </a:pPr>
            <a:r>
              <a:rPr lang="en-US" sz="1650" b="1" dirty="0">
                <a:solidFill>
                  <a:srgbClr val="16191D"/>
                </a:solidFill>
                <a:latin typeface="Cambria" pitchFamily="34" charset="0"/>
                <a:ea typeface="Cambria" pitchFamily="34" charset="-122"/>
                <a:cs typeface="Cambria" pitchFamily="34" charset="-120"/>
              </a:rPr>
              <a:t>Metrik ini menghukum kehati-hatian.</a:t>
            </a:r>
            <a:endParaRPr lang="en-US" sz="1650" dirty="0"/>
          </a:p>
        </p:txBody>
      </p:sp>
      <p:sp>
        <p:nvSpPr>
          <p:cNvPr id="10" name="Text 8"/>
          <p:cNvSpPr/>
          <p:nvPr/>
        </p:nvSpPr>
        <p:spPr>
          <a:xfrm>
            <a:off x="1207008" y="2414016"/>
            <a:ext cx="10149840" cy="786384"/>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Menebak kelas mayoritas untuk semua orang memberi akurasi 50,402% dengan QWK persis 0,00000. Akurasi dan QWK di sini menarik ke arah berlawanan, jadi akurasi kami tolak sebagai panduan optimasi sejak awal.</a:t>
            </a:r>
            <a:endParaRPr lang="en-US" sz="1250" dirty="0"/>
          </a:p>
        </p:txBody>
      </p:sp>
      <p:sp>
        <p:nvSpPr>
          <p:cNvPr id="11" name="Shape 9"/>
          <p:cNvSpPr/>
          <p:nvPr/>
        </p:nvSpPr>
        <p:spPr>
          <a:xfrm>
            <a:off x="640080" y="3273552"/>
            <a:ext cx="365760" cy="365760"/>
          </a:xfrm>
          <a:prstGeom prst="ellipse">
            <a:avLst/>
          </a:prstGeom>
          <a:solidFill>
            <a:srgbClr val="8FB0A4"/>
          </a:solidFill>
          <a:ln/>
        </p:spPr>
      </p:sp>
      <p:sp>
        <p:nvSpPr>
          <p:cNvPr id="12" name="Text 10"/>
          <p:cNvSpPr/>
          <p:nvPr/>
        </p:nvSpPr>
        <p:spPr>
          <a:xfrm>
            <a:off x="640080" y="327355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207008" y="3255264"/>
            <a:ext cx="10241280" cy="329184"/>
          </a:xfrm>
          <a:prstGeom prst="rect">
            <a:avLst/>
          </a:prstGeom>
          <a:noFill/>
          <a:ln/>
        </p:spPr>
        <p:txBody>
          <a:bodyPr wrap="square" lIns="0" tIns="0" rIns="0" bIns="0" rtlCol="0" anchor="ctr"/>
          <a:lstStyle/>
          <a:p>
            <a:pPr indent="0" marL="0">
              <a:buNone/>
            </a:pPr>
            <a:r>
              <a:rPr lang="en-US" sz="1650" b="1" dirty="0">
                <a:solidFill>
                  <a:srgbClr val="16191D"/>
                </a:solidFill>
                <a:latin typeface="Cambria" pitchFamily="34" charset="0"/>
                <a:ea typeface="Cambria" pitchFamily="34" charset="-122"/>
                <a:cs typeface="Cambria" pitchFamily="34" charset="-120"/>
              </a:rPr>
              <a:t>Tuas terbesar bukan model, melainkan aturan keputusan.</a:t>
            </a:r>
            <a:endParaRPr lang="en-US" sz="1650" dirty="0"/>
          </a:p>
        </p:txBody>
      </p:sp>
      <p:sp>
        <p:nvSpPr>
          <p:cNvPr id="14" name="Text 12"/>
          <p:cNvSpPr/>
          <p:nvPr/>
        </p:nvSpPr>
        <p:spPr>
          <a:xfrm>
            <a:off x="1207008" y="3602736"/>
            <a:ext cx="10149840" cy="786384"/>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Mengganti argmax dengan nilai harapan + tiga ambang batas pada model yang sama persis menaikkan QWK sebesar +0,06269. Seluruh sisa pekerjaan — lima model tambahan, stacking, dan studi ambang — hanya menyumbang +0,00708.</a:t>
            </a:r>
            <a:endParaRPr lang="en-US" sz="1250" dirty="0"/>
          </a:p>
        </p:txBody>
      </p:sp>
      <p:sp>
        <p:nvSpPr>
          <p:cNvPr id="15" name="Shape 13"/>
          <p:cNvSpPr/>
          <p:nvPr/>
        </p:nvSpPr>
        <p:spPr>
          <a:xfrm>
            <a:off x="640080" y="4462272"/>
            <a:ext cx="365760" cy="365760"/>
          </a:xfrm>
          <a:prstGeom prst="ellipse">
            <a:avLst/>
          </a:prstGeom>
          <a:solidFill>
            <a:srgbClr val="D8A25E"/>
          </a:solidFill>
          <a:ln/>
        </p:spPr>
      </p:sp>
      <p:sp>
        <p:nvSpPr>
          <p:cNvPr id="16" name="Text 14"/>
          <p:cNvSpPr/>
          <p:nvPr/>
        </p:nvSpPr>
        <p:spPr>
          <a:xfrm>
            <a:off x="640080" y="446227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207008" y="4443984"/>
            <a:ext cx="10241280" cy="329184"/>
          </a:xfrm>
          <a:prstGeom prst="rect">
            <a:avLst/>
          </a:prstGeom>
          <a:noFill/>
          <a:ln/>
        </p:spPr>
        <p:txBody>
          <a:bodyPr wrap="square" lIns="0" tIns="0" rIns="0" bIns="0" rtlCol="0" anchor="ctr"/>
          <a:lstStyle/>
          <a:p>
            <a:pPr indent="0" marL="0">
              <a:buNone/>
            </a:pPr>
            <a:r>
              <a:rPr lang="en-US" sz="1650" b="1" dirty="0">
                <a:solidFill>
                  <a:srgbClr val="16191D"/>
                </a:solidFill>
                <a:latin typeface="Cambria" pitchFamily="34" charset="0"/>
                <a:ea typeface="Cambria" pitchFamily="34" charset="-122"/>
                <a:cs typeface="Cambria" pitchFamily="34" charset="-120"/>
              </a:rPr>
              <a:t>Kinerja mentok pada batas informasi, bukan batas teknik.</a:t>
            </a:r>
            <a:endParaRPr lang="en-US" sz="1650" dirty="0"/>
          </a:p>
        </p:txBody>
      </p:sp>
      <p:sp>
        <p:nvSpPr>
          <p:cNvPr id="18" name="Text 16"/>
          <p:cNvSpPr/>
          <p:nvPr/>
        </p:nvSpPr>
        <p:spPr>
          <a:xfrm>
            <a:off x="1207008" y="4791456"/>
            <a:ext cx="10149840" cy="786384"/>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Enam keluarga algoritma yang bias induktifnya sangat berbeda semuanya mendarat di rentang 0,478–0,481. Kurva belajar (R² = 0,9143) memperlihatkan dindingnya milik data, bukan milik metode.</a:t>
            </a:r>
            <a:endParaRPr lang="en-US" sz="1250" dirty="0"/>
          </a:p>
        </p:txBody>
      </p:sp>
      <p:sp>
        <p:nvSpPr>
          <p:cNvPr id="19" name="Shape 17"/>
          <p:cNvSpPr/>
          <p:nvPr/>
        </p:nvSpPr>
        <p:spPr>
          <a:xfrm>
            <a:off x="640080" y="5669280"/>
            <a:ext cx="10911535" cy="585216"/>
          </a:xfrm>
          <a:prstGeom prst="roundRect">
            <a:avLst>
              <a:gd name="adj" fmla="val 9375"/>
            </a:avLst>
          </a:prstGeom>
          <a:solidFill>
            <a:srgbClr val="F4F1EC"/>
          </a:solidFill>
          <a:ln w="9525">
            <a:solidFill>
              <a:srgbClr val="DCD8D1"/>
            </a:solidFill>
            <a:prstDash val="solid"/>
          </a:ln>
        </p:spPr>
      </p:sp>
      <p:sp>
        <p:nvSpPr>
          <p:cNvPr id="20" name="Text 18"/>
          <p:cNvSpPr/>
          <p:nvPr/>
        </p:nvSpPr>
        <p:spPr>
          <a:xfrm>
            <a:off x="868680" y="5669280"/>
            <a:ext cx="10454335" cy="585216"/>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Hasil akhir:  </a:t>
            </a:r>
            <a:pPr indent="0" marL="0">
              <a:buNone/>
            </a:pPr>
            <a:r>
              <a:rPr lang="en-US" sz="1200" dirty="0">
                <a:solidFill>
                  <a:srgbClr val="3A4048"/>
                </a:solidFill>
                <a:latin typeface="Calibri" pitchFamily="34" charset="0"/>
                <a:ea typeface="Calibri" pitchFamily="34" charset="-122"/>
                <a:cs typeface="Calibri" pitchFamily="34" charset="-120"/>
              </a:rPr>
              <a:t>stacking enam model dasar → nilai harapan ordinal → tiga ambang batas yang diestimasi dengan rata-rata bootstrap.  </a:t>
            </a:r>
            <a:pPr indent="0" marL="0">
              <a:buNone/>
            </a:pPr>
            <a:r>
              <a:rPr lang="en-US" sz="1200" b="1" dirty="0">
                <a:solidFill>
                  <a:srgbClr val="A8442A"/>
                </a:solidFill>
                <a:latin typeface="Calibri" pitchFamily="34" charset="0"/>
                <a:ea typeface="Calibri" pitchFamily="34" charset="-122"/>
                <a:cs typeface="Calibri" pitchFamily="34" charset="-120"/>
              </a:rPr>
              <a:t>QWK OOF 0,48425.</a:t>
            </a:r>
            <a:endParaRPr lang="en-US" sz="1200" dirty="0"/>
          </a:p>
        </p:txBody>
      </p:sp>
      <p:sp>
        <p:nvSpPr>
          <p:cNvPr id="22" name="Text 19"/>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3" name="Text 20"/>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TITIK MASUK</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596"/>
              </a:lnSpc>
              <a:buNone/>
            </a:pPr>
            <a:r>
              <a:rPr lang="en-US" sz="3100" b="1" dirty="0">
                <a:solidFill>
                  <a:srgbClr val="16191D"/>
                </a:solidFill>
                <a:latin typeface="Cambria" pitchFamily="34" charset="0"/>
                <a:ea typeface="Cambria" pitchFamily="34" charset="-122"/>
                <a:cs typeface="Cambria" pitchFamily="34" charset="-120"/>
              </a:rPr>
              <a:t>Metrik ini menghukum kehati-hatian</a:t>
            </a:r>
            <a:endParaRPr lang="en-US" sz="31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QWK adalah galat kuadratik yang dinormalkan. Yang dihitung adalah jaraknya, bukan benar-salahnya.</a:t>
            </a:r>
            <a:endParaRPr lang="en-US" sz="1350" dirty="0"/>
          </a:p>
        </p:txBody>
      </p:sp>
      <p:sp>
        <p:nvSpPr>
          <p:cNvPr id="7" name="Text 5"/>
          <p:cNvSpPr/>
          <p:nvPr/>
        </p:nvSpPr>
        <p:spPr>
          <a:xfrm>
            <a:off x="1508760" y="2011680"/>
            <a:ext cx="2999232" cy="237744"/>
          </a:xfrm>
          <a:prstGeom prst="rect">
            <a:avLst/>
          </a:prstGeom>
          <a:noFill/>
          <a:ln/>
        </p:spPr>
        <p:txBody>
          <a:bodyPr wrap="square" lIns="0" tIns="0" rIns="0" bIns="0" rtlCol="0" anchor="ctr"/>
          <a:lstStyle/>
          <a:p>
            <a:pPr algn="ctr" indent="0" marL="0">
              <a:buNone/>
            </a:pPr>
            <a:r>
              <a:rPr lang="en-US" sz="1000" b="1" spc="100" kern="0" dirty="0">
                <a:solidFill>
                  <a:srgbClr val="6E747C"/>
                </a:solidFill>
                <a:latin typeface="Calibri" pitchFamily="34" charset="0"/>
                <a:ea typeface="Calibri" pitchFamily="34" charset="-122"/>
                <a:cs typeface="Calibri" pitchFamily="34" charset="-120"/>
              </a:rPr>
              <a:t>prediksi</a:t>
            </a:r>
            <a:endParaRPr lang="en-US" sz="1000" dirty="0"/>
          </a:p>
        </p:txBody>
      </p:sp>
      <p:sp>
        <p:nvSpPr>
          <p:cNvPr id="8" name="Text 6"/>
          <p:cNvSpPr/>
          <p:nvPr/>
        </p:nvSpPr>
        <p:spPr>
          <a:xfrm>
            <a:off x="1508760" y="2322576"/>
            <a:ext cx="749808" cy="274320"/>
          </a:xfrm>
          <a:prstGeom prst="rect">
            <a:avLst/>
          </a:prstGeom>
          <a:noFill/>
          <a:ln/>
        </p:spPr>
        <p:txBody>
          <a:bodyPr wrap="square" lIns="0" tIns="0" rIns="0" bIns="0" rtlCol="0" anchor="ctr"/>
          <a:lstStyle/>
          <a:p>
            <a:pPr algn="ctr" indent="0" marL="0">
              <a:buNone/>
            </a:pPr>
            <a:r>
              <a:rPr lang="en-US" sz="1100" b="1" dirty="0">
                <a:solidFill>
                  <a:srgbClr val="3A4048"/>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2258568" y="2322576"/>
            <a:ext cx="749808" cy="274320"/>
          </a:xfrm>
          <a:prstGeom prst="rect">
            <a:avLst/>
          </a:prstGeom>
          <a:noFill/>
          <a:ln/>
        </p:spPr>
        <p:txBody>
          <a:bodyPr wrap="square" lIns="0" tIns="0" rIns="0" bIns="0" rtlCol="0" anchor="ctr"/>
          <a:lstStyle/>
          <a:p>
            <a:pPr algn="ctr" indent="0" marL="0">
              <a:buNone/>
            </a:pPr>
            <a:r>
              <a:rPr lang="en-US" sz="1100" b="1" dirty="0">
                <a:solidFill>
                  <a:srgbClr val="3A4048"/>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3008376" y="2322576"/>
            <a:ext cx="749808" cy="274320"/>
          </a:xfrm>
          <a:prstGeom prst="rect">
            <a:avLst/>
          </a:prstGeom>
          <a:noFill/>
          <a:ln/>
        </p:spPr>
        <p:txBody>
          <a:bodyPr wrap="square" lIns="0" tIns="0" rIns="0" bIns="0" rtlCol="0" anchor="ctr"/>
          <a:lstStyle/>
          <a:p>
            <a:pPr algn="ctr" indent="0" marL="0">
              <a:buNone/>
            </a:pPr>
            <a:r>
              <a:rPr lang="en-US" sz="1100" b="1" dirty="0">
                <a:solidFill>
                  <a:srgbClr val="3A4048"/>
                </a:solidFill>
                <a:latin typeface="Calibri" pitchFamily="34" charset="0"/>
                <a:ea typeface="Calibri" pitchFamily="34" charset="-122"/>
                <a:cs typeface="Calibri" pitchFamily="34" charset="-120"/>
              </a:rPr>
              <a:t>3</a:t>
            </a:r>
            <a:endParaRPr lang="en-US" sz="1100" dirty="0"/>
          </a:p>
        </p:txBody>
      </p:sp>
      <p:sp>
        <p:nvSpPr>
          <p:cNvPr id="11" name="Text 9"/>
          <p:cNvSpPr/>
          <p:nvPr/>
        </p:nvSpPr>
        <p:spPr>
          <a:xfrm>
            <a:off x="3758184" y="2322576"/>
            <a:ext cx="749808" cy="274320"/>
          </a:xfrm>
          <a:prstGeom prst="rect">
            <a:avLst/>
          </a:prstGeom>
          <a:noFill/>
          <a:ln/>
        </p:spPr>
        <p:txBody>
          <a:bodyPr wrap="square" lIns="0" tIns="0" rIns="0" bIns="0" rtlCol="0" anchor="ctr"/>
          <a:lstStyle/>
          <a:p>
            <a:pPr algn="ctr" indent="0" marL="0">
              <a:buNone/>
            </a:pPr>
            <a:r>
              <a:rPr lang="en-US" sz="1100" b="1" dirty="0">
                <a:solidFill>
                  <a:srgbClr val="3A4048"/>
                </a:solidFill>
                <a:latin typeface="Calibri" pitchFamily="34" charset="0"/>
                <a:ea typeface="Calibri" pitchFamily="34" charset="-122"/>
                <a:cs typeface="Calibri" pitchFamily="34" charset="-120"/>
              </a:rPr>
              <a:t>4</a:t>
            </a:r>
            <a:endParaRPr lang="en-US" sz="1100" dirty="0"/>
          </a:p>
        </p:txBody>
      </p:sp>
      <p:sp>
        <p:nvSpPr>
          <p:cNvPr id="12" name="Text 10"/>
          <p:cNvSpPr/>
          <p:nvPr/>
        </p:nvSpPr>
        <p:spPr>
          <a:xfrm>
            <a:off x="137160" y="3593592"/>
            <a:ext cx="713232" cy="274320"/>
          </a:xfrm>
          <a:prstGeom prst="rect">
            <a:avLst/>
          </a:prstGeom>
          <a:noFill/>
          <a:ln/>
        </p:spPr>
        <p:txBody>
          <a:bodyPr wrap="square" lIns="0" tIns="0" rIns="0" bIns="0" rtlCol="0" anchor="ctr"/>
          <a:lstStyle/>
          <a:p>
            <a:pPr algn="r" indent="0" marL="0">
              <a:buNone/>
            </a:pPr>
            <a:r>
              <a:rPr lang="en-US" sz="1000" b="1" spc="100" kern="0" dirty="0">
                <a:solidFill>
                  <a:srgbClr val="6E747C"/>
                </a:solidFill>
                <a:latin typeface="Calibri" pitchFamily="34" charset="0"/>
                <a:ea typeface="Calibri" pitchFamily="34" charset="-122"/>
                <a:cs typeface="Calibri" pitchFamily="34" charset="-120"/>
              </a:rPr>
              <a:t>aktual</a:t>
            </a:r>
            <a:endParaRPr lang="en-US" sz="1000" dirty="0"/>
          </a:p>
        </p:txBody>
      </p:sp>
      <p:sp>
        <p:nvSpPr>
          <p:cNvPr id="13" name="Text 11"/>
          <p:cNvSpPr/>
          <p:nvPr/>
        </p:nvSpPr>
        <p:spPr>
          <a:xfrm>
            <a:off x="1106424" y="2670048"/>
            <a:ext cx="274320" cy="530352"/>
          </a:xfrm>
          <a:prstGeom prst="rect">
            <a:avLst/>
          </a:prstGeom>
          <a:noFill/>
          <a:ln/>
        </p:spPr>
        <p:txBody>
          <a:bodyPr wrap="square" lIns="0" tIns="0" rIns="0" bIns="0" rtlCol="0" anchor="ctr"/>
          <a:lstStyle/>
          <a:p>
            <a:pPr algn="r" indent="0" marL="0">
              <a:buNone/>
            </a:pPr>
            <a:r>
              <a:rPr lang="en-US" sz="1100" b="1" dirty="0">
                <a:solidFill>
                  <a:srgbClr val="3A4048"/>
                </a:solidFill>
                <a:latin typeface="Calibri" pitchFamily="34" charset="0"/>
                <a:ea typeface="Calibri" pitchFamily="34" charset="-122"/>
                <a:cs typeface="Calibri" pitchFamily="34" charset="-120"/>
              </a:rPr>
              <a:t>1</a:t>
            </a:r>
            <a:endParaRPr lang="en-US" sz="1100" dirty="0"/>
          </a:p>
        </p:txBody>
      </p:sp>
      <p:sp>
        <p:nvSpPr>
          <p:cNvPr id="14" name="Shape 12"/>
          <p:cNvSpPr/>
          <p:nvPr/>
        </p:nvSpPr>
        <p:spPr>
          <a:xfrm>
            <a:off x="1508760" y="2670048"/>
            <a:ext cx="704088" cy="484632"/>
          </a:xfrm>
          <a:prstGeom prst="rect">
            <a:avLst/>
          </a:prstGeom>
          <a:solidFill>
            <a:srgbClr val="F4F1EC"/>
          </a:solidFill>
          <a:ln w="12700">
            <a:solidFill>
              <a:srgbClr val="FFFFFF"/>
            </a:solidFill>
            <a:prstDash val="solid"/>
          </a:ln>
        </p:spPr>
      </p:sp>
      <p:sp>
        <p:nvSpPr>
          <p:cNvPr id="15" name="Text 13"/>
          <p:cNvSpPr/>
          <p:nvPr/>
        </p:nvSpPr>
        <p:spPr>
          <a:xfrm>
            <a:off x="1508760" y="2670048"/>
            <a:ext cx="704088" cy="484632"/>
          </a:xfrm>
          <a:prstGeom prst="rect">
            <a:avLst/>
          </a:prstGeom>
          <a:noFill/>
          <a:ln/>
        </p:spPr>
        <p:txBody>
          <a:bodyPr wrap="square" lIns="0" tIns="0" rIns="0" bIns="0" rtlCol="0" anchor="ctr"/>
          <a:lstStyle/>
          <a:p>
            <a:pPr algn="ctr" indent="0" marL="0">
              <a:buNone/>
            </a:pPr>
            <a:r>
              <a:rPr lang="en-US" sz="1400" b="1" dirty="0">
                <a:solidFill>
                  <a:srgbClr val="9AA0A7"/>
                </a:solidFill>
                <a:latin typeface="Cambria" pitchFamily="34" charset="0"/>
                <a:ea typeface="Cambria" pitchFamily="34" charset="-122"/>
                <a:cs typeface="Cambria" pitchFamily="34" charset="-120"/>
              </a:rPr>
              <a:t>0</a:t>
            </a:r>
            <a:endParaRPr lang="en-US" sz="1400" dirty="0"/>
          </a:p>
        </p:txBody>
      </p:sp>
      <p:sp>
        <p:nvSpPr>
          <p:cNvPr id="16" name="Shape 14"/>
          <p:cNvSpPr/>
          <p:nvPr/>
        </p:nvSpPr>
        <p:spPr>
          <a:xfrm>
            <a:off x="2258568" y="2670048"/>
            <a:ext cx="704088" cy="484632"/>
          </a:xfrm>
          <a:prstGeom prst="rect">
            <a:avLst/>
          </a:prstGeom>
          <a:solidFill>
            <a:srgbClr val="8FB0A4"/>
          </a:solidFill>
          <a:ln w="12700">
            <a:solidFill>
              <a:srgbClr val="FFFFFF"/>
            </a:solidFill>
            <a:prstDash val="solid"/>
          </a:ln>
        </p:spPr>
      </p:sp>
      <p:sp>
        <p:nvSpPr>
          <p:cNvPr id="17" name="Text 15"/>
          <p:cNvSpPr/>
          <p:nvPr/>
        </p:nvSpPr>
        <p:spPr>
          <a:xfrm>
            <a:off x="2258568" y="2670048"/>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18" name="Shape 16"/>
          <p:cNvSpPr/>
          <p:nvPr/>
        </p:nvSpPr>
        <p:spPr>
          <a:xfrm>
            <a:off x="3008376" y="2670048"/>
            <a:ext cx="704088" cy="484632"/>
          </a:xfrm>
          <a:prstGeom prst="rect">
            <a:avLst/>
          </a:prstGeom>
          <a:solidFill>
            <a:srgbClr val="D8A25E"/>
          </a:solidFill>
          <a:ln w="12700">
            <a:solidFill>
              <a:srgbClr val="FFFFFF"/>
            </a:solidFill>
            <a:prstDash val="solid"/>
          </a:ln>
        </p:spPr>
      </p:sp>
      <p:sp>
        <p:nvSpPr>
          <p:cNvPr id="19" name="Text 17"/>
          <p:cNvSpPr/>
          <p:nvPr/>
        </p:nvSpPr>
        <p:spPr>
          <a:xfrm>
            <a:off x="3008376" y="2670048"/>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4</a:t>
            </a:r>
            <a:endParaRPr lang="en-US" sz="1400" dirty="0"/>
          </a:p>
        </p:txBody>
      </p:sp>
      <p:sp>
        <p:nvSpPr>
          <p:cNvPr id="20" name="Shape 18"/>
          <p:cNvSpPr/>
          <p:nvPr/>
        </p:nvSpPr>
        <p:spPr>
          <a:xfrm>
            <a:off x="3758184" y="2670048"/>
            <a:ext cx="704088" cy="484632"/>
          </a:xfrm>
          <a:prstGeom prst="rect">
            <a:avLst/>
          </a:prstGeom>
          <a:solidFill>
            <a:srgbClr val="A8442A"/>
          </a:solidFill>
          <a:ln w="12700">
            <a:solidFill>
              <a:srgbClr val="FFFFFF"/>
            </a:solidFill>
            <a:prstDash val="solid"/>
          </a:ln>
        </p:spPr>
      </p:sp>
      <p:sp>
        <p:nvSpPr>
          <p:cNvPr id="21" name="Text 19"/>
          <p:cNvSpPr/>
          <p:nvPr/>
        </p:nvSpPr>
        <p:spPr>
          <a:xfrm>
            <a:off x="3758184" y="2670048"/>
            <a:ext cx="704088"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22" name="Text 20"/>
          <p:cNvSpPr/>
          <p:nvPr/>
        </p:nvSpPr>
        <p:spPr>
          <a:xfrm>
            <a:off x="1106424" y="3200400"/>
            <a:ext cx="274320" cy="530352"/>
          </a:xfrm>
          <a:prstGeom prst="rect">
            <a:avLst/>
          </a:prstGeom>
          <a:noFill/>
          <a:ln/>
        </p:spPr>
        <p:txBody>
          <a:bodyPr wrap="square" lIns="0" tIns="0" rIns="0" bIns="0" rtlCol="0" anchor="ctr"/>
          <a:lstStyle/>
          <a:p>
            <a:pPr algn="r" indent="0" marL="0">
              <a:buNone/>
            </a:pPr>
            <a:r>
              <a:rPr lang="en-US" sz="1100" b="1" dirty="0">
                <a:solidFill>
                  <a:srgbClr val="3A4048"/>
                </a:solidFill>
                <a:latin typeface="Calibri" pitchFamily="34" charset="0"/>
                <a:ea typeface="Calibri" pitchFamily="34" charset="-122"/>
                <a:cs typeface="Calibri" pitchFamily="34" charset="-120"/>
              </a:rPr>
              <a:t>2</a:t>
            </a:r>
            <a:endParaRPr lang="en-US" sz="1100" dirty="0"/>
          </a:p>
        </p:txBody>
      </p:sp>
      <p:sp>
        <p:nvSpPr>
          <p:cNvPr id="23" name="Shape 21"/>
          <p:cNvSpPr/>
          <p:nvPr/>
        </p:nvSpPr>
        <p:spPr>
          <a:xfrm>
            <a:off x="1508760" y="3200400"/>
            <a:ext cx="704088" cy="484632"/>
          </a:xfrm>
          <a:prstGeom prst="rect">
            <a:avLst/>
          </a:prstGeom>
          <a:solidFill>
            <a:srgbClr val="8FB0A4"/>
          </a:solidFill>
          <a:ln w="12700">
            <a:solidFill>
              <a:srgbClr val="FFFFFF"/>
            </a:solidFill>
            <a:prstDash val="solid"/>
          </a:ln>
        </p:spPr>
      </p:sp>
      <p:sp>
        <p:nvSpPr>
          <p:cNvPr id="24" name="Text 22"/>
          <p:cNvSpPr/>
          <p:nvPr/>
        </p:nvSpPr>
        <p:spPr>
          <a:xfrm>
            <a:off x="1508760" y="3200400"/>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25" name="Shape 23"/>
          <p:cNvSpPr/>
          <p:nvPr/>
        </p:nvSpPr>
        <p:spPr>
          <a:xfrm>
            <a:off x="2258568" y="3200400"/>
            <a:ext cx="704088" cy="484632"/>
          </a:xfrm>
          <a:prstGeom prst="rect">
            <a:avLst/>
          </a:prstGeom>
          <a:solidFill>
            <a:srgbClr val="F4F1EC"/>
          </a:solidFill>
          <a:ln w="12700">
            <a:solidFill>
              <a:srgbClr val="FFFFFF"/>
            </a:solidFill>
            <a:prstDash val="solid"/>
          </a:ln>
        </p:spPr>
      </p:sp>
      <p:sp>
        <p:nvSpPr>
          <p:cNvPr id="26" name="Text 24"/>
          <p:cNvSpPr/>
          <p:nvPr/>
        </p:nvSpPr>
        <p:spPr>
          <a:xfrm>
            <a:off x="2258568" y="3200400"/>
            <a:ext cx="704088" cy="484632"/>
          </a:xfrm>
          <a:prstGeom prst="rect">
            <a:avLst/>
          </a:prstGeom>
          <a:noFill/>
          <a:ln/>
        </p:spPr>
        <p:txBody>
          <a:bodyPr wrap="square" lIns="0" tIns="0" rIns="0" bIns="0" rtlCol="0" anchor="ctr"/>
          <a:lstStyle/>
          <a:p>
            <a:pPr algn="ctr" indent="0" marL="0">
              <a:buNone/>
            </a:pPr>
            <a:r>
              <a:rPr lang="en-US" sz="1400" b="1" dirty="0">
                <a:solidFill>
                  <a:srgbClr val="9AA0A7"/>
                </a:solidFill>
                <a:latin typeface="Cambria" pitchFamily="34" charset="0"/>
                <a:ea typeface="Cambria" pitchFamily="34" charset="-122"/>
                <a:cs typeface="Cambria" pitchFamily="34" charset="-120"/>
              </a:rPr>
              <a:t>0</a:t>
            </a:r>
            <a:endParaRPr lang="en-US" sz="1400" dirty="0"/>
          </a:p>
        </p:txBody>
      </p:sp>
      <p:sp>
        <p:nvSpPr>
          <p:cNvPr id="27" name="Shape 25"/>
          <p:cNvSpPr/>
          <p:nvPr/>
        </p:nvSpPr>
        <p:spPr>
          <a:xfrm>
            <a:off x="3008376" y="3200400"/>
            <a:ext cx="704088" cy="484632"/>
          </a:xfrm>
          <a:prstGeom prst="rect">
            <a:avLst/>
          </a:prstGeom>
          <a:solidFill>
            <a:srgbClr val="8FB0A4"/>
          </a:solidFill>
          <a:ln w="12700">
            <a:solidFill>
              <a:srgbClr val="FFFFFF"/>
            </a:solidFill>
            <a:prstDash val="solid"/>
          </a:ln>
        </p:spPr>
      </p:sp>
      <p:sp>
        <p:nvSpPr>
          <p:cNvPr id="28" name="Text 26"/>
          <p:cNvSpPr/>
          <p:nvPr/>
        </p:nvSpPr>
        <p:spPr>
          <a:xfrm>
            <a:off x="3008376" y="3200400"/>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29" name="Shape 27"/>
          <p:cNvSpPr/>
          <p:nvPr/>
        </p:nvSpPr>
        <p:spPr>
          <a:xfrm>
            <a:off x="3758184" y="3200400"/>
            <a:ext cx="704088" cy="484632"/>
          </a:xfrm>
          <a:prstGeom prst="rect">
            <a:avLst/>
          </a:prstGeom>
          <a:solidFill>
            <a:srgbClr val="D8A25E"/>
          </a:solidFill>
          <a:ln w="12700">
            <a:solidFill>
              <a:srgbClr val="FFFFFF"/>
            </a:solidFill>
            <a:prstDash val="solid"/>
          </a:ln>
        </p:spPr>
      </p:sp>
      <p:sp>
        <p:nvSpPr>
          <p:cNvPr id="30" name="Text 28"/>
          <p:cNvSpPr/>
          <p:nvPr/>
        </p:nvSpPr>
        <p:spPr>
          <a:xfrm>
            <a:off x="3758184" y="3200400"/>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4</a:t>
            </a:r>
            <a:endParaRPr lang="en-US" sz="1400" dirty="0"/>
          </a:p>
        </p:txBody>
      </p:sp>
      <p:sp>
        <p:nvSpPr>
          <p:cNvPr id="31" name="Text 29"/>
          <p:cNvSpPr/>
          <p:nvPr/>
        </p:nvSpPr>
        <p:spPr>
          <a:xfrm>
            <a:off x="1106424" y="3730752"/>
            <a:ext cx="274320" cy="530352"/>
          </a:xfrm>
          <a:prstGeom prst="rect">
            <a:avLst/>
          </a:prstGeom>
          <a:noFill/>
          <a:ln/>
        </p:spPr>
        <p:txBody>
          <a:bodyPr wrap="square" lIns="0" tIns="0" rIns="0" bIns="0" rtlCol="0" anchor="ctr"/>
          <a:lstStyle/>
          <a:p>
            <a:pPr algn="r" indent="0" marL="0">
              <a:buNone/>
            </a:pPr>
            <a:r>
              <a:rPr lang="en-US" sz="1100" b="1" dirty="0">
                <a:solidFill>
                  <a:srgbClr val="3A4048"/>
                </a:solidFill>
                <a:latin typeface="Calibri" pitchFamily="34" charset="0"/>
                <a:ea typeface="Calibri" pitchFamily="34" charset="-122"/>
                <a:cs typeface="Calibri" pitchFamily="34" charset="-120"/>
              </a:rPr>
              <a:t>3</a:t>
            </a:r>
            <a:endParaRPr lang="en-US" sz="1100" dirty="0"/>
          </a:p>
        </p:txBody>
      </p:sp>
      <p:sp>
        <p:nvSpPr>
          <p:cNvPr id="32" name="Shape 30"/>
          <p:cNvSpPr/>
          <p:nvPr/>
        </p:nvSpPr>
        <p:spPr>
          <a:xfrm>
            <a:off x="1508760" y="3730752"/>
            <a:ext cx="704088" cy="484632"/>
          </a:xfrm>
          <a:prstGeom prst="rect">
            <a:avLst/>
          </a:prstGeom>
          <a:solidFill>
            <a:srgbClr val="D8A25E"/>
          </a:solidFill>
          <a:ln w="12700">
            <a:solidFill>
              <a:srgbClr val="FFFFFF"/>
            </a:solidFill>
            <a:prstDash val="solid"/>
          </a:ln>
        </p:spPr>
      </p:sp>
      <p:sp>
        <p:nvSpPr>
          <p:cNvPr id="33" name="Text 31"/>
          <p:cNvSpPr/>
          <p:nvPr/>
        </p:nvSpPr>
        <p:spPr>
          <a:xfrm>
            <a:off x="1508760" y="3730752"/>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4</a:t>
            </a:r>
            <a:endParaRPr lang="en-US" sz="1400" dirty="0"/>
          </a:p>
        </p:txBody>
      </p:sp>
      <p:sp>
        <p:nvSpPr>
          <p:cNvPr id="34" name="Shape 32"/>
          <p:cNvSpPr/>
          <p:nvPr/>
        </p:nvSpPr>
        <p:spPr>
          <a:xfrm>
            <a:off x="2258568" y="3730752"/>
            <a:ext cx="704088" cy="484632"/>
          </a:xfrm>
          <a:prstGeom prst="rect">
            <a:avLst/>
          </a:prstGeom>
          <a:solidFill>
            <a:srgbClr val="8FB0A4"/>
          </a:solidFill>
          <a:ln w="12700">
            <a:solidFill>
              <a:srgbClr val="FFFFFF"/>
            </a:solidFill>
            <a:prstDash val="solid"/>
          </a:ln>
        </p:spPr>
      </p:sp>
      <p:sp>
        <p:nvSpPr>
          <p:cNvPr id="35" name="Text 33"/>
          <p:cNvSpPr/>
          <p:nvPr/>
        </p:nvSpPr>
        <p:spPr>
          <a:xfrm>
            <a:off x="2258568" y="3730752"/>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36" name="Shape 34"/>
          <p:cNvSpPr/>
          <p:nvPr/>
        </p:nvSpPr>
        <p:spPr>
          <a:xfrm>
            <a:off x="3008376" y="3730752"/>
            <a:ext cx="704088" cy="484632"/>
          </a:xfrm>
          <a:prstGeom prst="rect">
            <a:avLst/>
          </a:prstGeom>
          <a:solidFill>
            <a:srgbClr val="F4F1EC"/>
          </a:solidFill>
          <a:ln w="12700">
            <a:solidFill>
              <a:srgbClr val="FFFFFF"/>
            </a:solidFill>
            <a:prstDash val="solid"/>
          </a:ln>
        </p:spPr>
      </p:sp>
      <p:sp>
        <p:nvSpPr>
          <p:cNvPr id="37" name="Text 35"/>
          <p:cNvSpPr/>
          <p:nvPr/>
        </p:nvSpPr>
        <p:spPr>
          <a:xfrm>
            <a:off x="3008376" y="3730752"/>
            <a:ext cx="704088" cy="484632"/>
          </a:xfrm>
          <a:prstGeom prst="rect">
            <a:avLst/>
          </a:prstGeom>
          <a:noFill/>
          <a:ln/>
        </p:spPr>
        <p:txBody>
          <a:bodyPr wrap="square" lIns="0" tIns="0" rIns="0" bIns="0" rtlCol="0" anchor="ctr"/>
          <a:lstStyle/>
          <a:p>
            <a:pPr algn="ctr" indent="0" marL="0">
              <a:buNone/>
            </a:pPr>
            <a:r>
              <a:rPr lang="en-US" sz="1400" b="1" dirty="0">
                <a:solidFill>
                  <a:srgbClr val="9AA0A7"/>
                </a:solidFill>
                <a:latin typeface="Cambria" pitchFamily="34" charset="0"/>
                <a:ea typeface="Cambria" pitchFamily="34" charset="-122"/>
                <a:cs typeface="Cambria" pitchFamily="34" charset="-120"/>
              </a:rPr>
              <a:t>0</a:t>
            </a:r>
            <a:endParaRPr lang="en-US" sz="1400" dirty="0"/>
          </a:p>
        </p:txBody>
      </p:sp>
      <p:sp>
        <p:nvSpPr>
          <p:cNvPr id="38" name="Shape 36"/>
          <p:cNvSpPr/>
          <p:nvPr/>
        </p:nvSpPr>
        <p:spPr>
          <a:xfrm>
            <a:off x="3758184" y="3730752"/>
            <a:ext cx="704088" cy="484632"/>
          </a:xfrm>
          <a:prstGeom prst="rect">
            <a:avLst/>
          </a:prstGeom>
          <a:solidFill>
            <a:srgbClr val="8FB0A4"/>
          </a:solidFill>
          <a:ln w="12700">
            <a:solidFill>
              <a:srgbClr val="FFFFFF"/>
            </a:solidFill>
            <a:prstDash val="solid"/>
          </a:ln>
        </p:spPr>
      </p:sp>
      <p:sp>
        <p:nvSpPr>
          <p:cNvPr id="39" name="Text 37"/>
          <p:cNvSpPr/>
          <p:nvPr/>
        </p:nvSpPr>
        <p:spPr>
          <a:xfrm>
            <a:off x="3758184" y="3730752"/>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40" name="Text 38"/>
          <p:cNvSpPr/>
          <p:nvPr/>
        </p:nvSpPr>
        <p:spPr>
          <a:xfrm>
            <a:off x="1106424" y="4261104"/>
            <a:ext cx="274320" cy="530352"/>
          </a:xfrm>
          <a:prstGeom prst="rect">
            <a:avLst/>
          </a:prstGeom>
          <a:noFill/>
          <a:ln/>
        </p:spPr>
        <p:txBody>
          <a:bodyPr wrap="square" lIns="0" tIns="0" rIns="0" bIns="0" rtlCol="0" anchor="ctr"/>
          <a:lstStyle/>
          <a:p>
            <a:pPr algn="r" indent="0" marL="0">
              <a:buNone/>
            </a:pPr>
            <a:r>
              <a:rPr lang="en-US" sz="1100" b="1" dirty="0">
                <a:solidFill>
                  <a:srgbClr val="3A4048"/>
                </a:solidFill>
                <a:latin typeface="Calibri" pitchFamily="34" charset="0"/>
                <a:ea typeface="Calibri" pitchFamily="34" charset="-122"/>
                <a:cs typeface="Calibri" pitchFamily="34" charset="-120"/>
              </a:rPr>
              <a:t>4</a:t>
            </a:r>
            <a:endParaRPr lang="en-US" sz="1100" dirty="0"/>
          </a:p>
        </p:txBody>
      </p:sp>
      <p:sp>
        <p:nvSpPr>
          <p:cNvPr id="41" name="Shape 39"/>
          <p:cNvSpPr/>
          <p:nvPr/>
        </p:nvSpPr>
        <p:spPr>
          <a:xfrm>
            <a:off x="1508760" y="4261104"/>
            <a:ext cx="704088" cy="484632"/>
          </a:xfrm>
          <a:prstGeom prst="rect">
            <a:avLst/>
          </a:prstGeom>
          <a:solidFill>
            <a:srgbClr val="A8442A"/>
          </a:solidFill>
          <a:ln w="12700">
            <a:solidFill>
              <a:srgbClr val="FFFFFF"/>
            </a:solidFill>
            <a:prstDash val="solid"/>
          </a:ln>
        </p:spPr>
      </p:sp>
      <p:sp>
        <p:nvSpPr>
          <p:cNvPr id="42" name="Text 40"/>
          <p:cNvSpPr/>
          <p:nvPr/>
        </p:nvSpPr>
        <p:spPr>
          <a:xfrm>
            <a:off x="1508760" y="4261104"/>
            <a:ext cx="704088" cy="484632"/>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9</a:t>
            </a:r>
            <a:endParaRPr lang="en-US" sz="1400" dirty="0"/>
          </a:p>
        </p:txBody>
      </p:sp>
      <p:sp>
        <p:nvSpPr>
          <p:cNvPr id="43" name="Shape 41"/>
          <p:cNvSpPr/>
          <p:nvPr/>
        </p:nvSpPr>
        <p:spPr>
          <a:xfrm>
            <a:off x="2258568" y="4261104"/>
            <a:ext cx="704088" cy="484632"/>
          </a:xfrm>
          <a:prstGeom prst="rect">
            <a:avLst/>
          </a:prstGeom>
          <a:solidFill>
            <a:srgbClr val="D8A25E"/>
          </a:solidFill>
          <a:ln w="12700">
            <a:solidFill>
              <a:srgbClr val="FFFFFF"/>
            </a:solidFill>
            <a:prstDash val="solid"/>
          </a:ln>
        </p:spPr>
      </p:sp>
      <p:sp>
        <p:nvSpPr>
          <p:cNvPr id="44" name="Text 42"/>
          <p:cNvSpPr/>
          <p:nvPr/>
        </p:nvSpPr>
        <p:spPr>
          <a:xfrm>
            <a:off x="2258568" y="4261104"/>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4</a:t>
            </a:r>
            <a:endParaRPr lang="en-US" sz="1400" dirty="0"/>
          </a:p>
        </p:txBody>
      </p:sp>
      <p:sp>
        <p:nvSpPr>
          <p:cNvPr id="45" name="Shape 43"/>
          <p:cNvSpPr/>
          <p:nvPr/>
        </p:nvSpPr>
        <p:spPr>
          <a:xfrm>
            <a:off x="3008376" y="4261104"/>
            <a:ext cx="704088" cy="484632"/>
          </a:xfrm>
          <a:prstGeom prst="rect">
            <a:avLst/>
          </a:prstGeom>
          <a:solidFill>
            <a:srgbClr val="8FB0A4"/>
          </a:solidFill>
          <a:ln w="12700">
            <a:solidFill>
              <a:srgbClr val="FFFFFF"/>
            </a:solidFill>
            <a:prstDash val="solid"/>
          </a:ln>
        </p:spPr>
      </p:sp>
      <p:sp>
        <p:nvSpPr>
          <p:cNvPr id="46" name="Text 44"/>
          <p:cNvSpPr/>
          <p:nvPr/>
        </p:nvSpPr>
        <p:spPr>
          <a:xfrm>
            <a:off x="3008376" y="4261104"/>
            <a:ext cx="704088" cy="484632"/>
          </a:xfrm>
          <a:prstGeom prst="rect">
            <a:avLst/>
          </a:prstGeom>
          <a:noFill/>
          <a:ln/>
        </p:spPr>
        <p:txBody>
          <a:bodyPr wrap="square" lIns="0" tIns="0" rIns="0" bIns="0" rtlCol="0" anchor="ctr"/>
          <a:lstStyle/>
          <a:p>
            <a:pPr algn="ctr" indent="0" marL="0">
              <a:buNone/>
            </a:pPr>
            <a:r>
              <a:rPr lang="en-US" sz="1400" b="1" dirty="0">
                <a:solidFill>
                  <a:srgbClr val="16191D"/>
                </a:solidFill>
                <a:latin typeface="Cambria" pitchFamily="34" charset="0"/>
                <a:ea typeface="Cambria" pitchFamily="34" charset="-122"/>
                <a:cs typeface="Cambria" pitchFamily="34" charset="-120"/>
              </a:rPr>
              <a:t>1</a:t>
            </a:r>
            <a:endParaRPr lang="en-US" sz="1400" dirty="0"/>
          </a:p>
        </p:txBody>
      </p:sp>
      <p:sp>
        <p:nvSpPr>
          <p:cNvPr id="47" name="Shape 45"/>
          <p:cNvSpPr/>
          <p:nvPr/>
        </p:nvSpPr>
        <p:spPr>
          <a:xfrm>
            <a:off x="3758184" y="4261104"/>
            <a:ext cx="704088" cy="484632"/>
          </a:xfrm>
          <a:prstGeom prst="rect">
            <a:avLst/>
          </a:prstGeom>
          <a:solidFill>
            <a:srgbClr val="F4F1EC"/>
          </a:solidFill>
          <a:ln w="12700">
            <a:solidFill>
              <a:srgbClr val="FFFFFF"/>
            </a:solidFill>
            <a:prstDash val="solid"/>
          </a:ln>
        </p:spPr>
      </p:sp>
      <p:sp>
        <p:nvSpPr>
          <p:cNvPr id="48" name="Text 46"/>
          <p:cNvSpPr/>
          <p:nvPr/>
        </p:nvSpPr>
        <p:spPr>
          <a:xfrm>
            <a:off x="3758184" y="4261104"/>
            <a:ext cx="704088" cy="484632"/>
          </a:xfrm>
          <a:prstGeom prst="rect">
            <a:avLst/>
          </a:prstGeom>
          <a:noFill/>
          <a:ln/>
        </p:spPr>
        <p:txBody>
          <a:bodyPr wrap="square" lIns="0" tIns="0" rIns="0" bIns="0" rtlCol="0" anchor="ctr"/>
          <a:lstStyle/>
          <a:p>
            <a:pPr algn="ctr" indent="0" marL="0">
              <a:buNone/>
            </a:pPr>
            <a:r>
              <a:rPr lang="en-US" sz="1400" b="1" dirty="0">
                <a:solidFill>
                  <a:srgbClr val="9AA0A7"/>
                </a:solidFill>
                <a:latin typeface="Cambria" pitchFamily="34" charset="0"/>
                <a:ea typeface="Cambria" pitchFamily="34" charset="-122"/>
                <a:cs typeface="Cambria" pitchFamily="34" charset="-120"/>
              </a:rPr>
              <a:t>0</a:t>
            </a:r>
            <a:endParaRPr lang="en-US" sz="1400" dirty="0"/>
          </a:p>
        </p:txBody>
      </p:sp>
      <p:sp>
        <p:nvSpPr>
          <p:cNvPr id="49" name="Text 47"/>
          <p:cNvSpPr/>
          <p:nvPr/>
        </p:nvSpPr>
        <p:spPr>
          <a:xfrm>
            <a:off x="640080" y="5029200"/>
            <a:ext cx="5394960" cy="548640"/>
          </a:xfrm>
          <a:prstGeom prst="rect">
            <a:avLst/>
          </a:prstGeom>
          <a:noFill/>
          <a:ln/>
        </p:spPr>
        <p:txBody>
          <a:bodyPr wrap="square" lIns="0" tIns="0" rIns="0" bIns="0" rtlCol="0" anchor="t"/>
          <a:lstStyle/>
          <a:p>
            <a:pPr indent="0" marL="0">
              <a:lnSpc>
                <a:spcPts val="1500"/>
              </a:lnSpc>
              <a:buNone/>
            </a:pPr>
            <a:r>
              <a:rPr lang="en-US" sz="1100" dirty="0">
                <a:solidFill>
                  <a:srgbClr val="6E747C"/>
                </a:solidFill>
                <a:latin typeface="Calibri" pitchFamily="34" charset="0"/>
                <a:ea typeface="Calibri" pitchFamily="34" charset="-122"/>
                <a:cs typeface="Calibri" pitchFamily="34" charset="-120"/>
              </a:rPr>
              <a:t>Bobot penalti (i − j)². Menebak kelas 4 sebagai kelas 1 dihukum 9× lebih berat daripada menebak 2 sebagai 1.</a:t>
            </a:r>
            <a:endParaRPr lang="en-US" sz="1100" dirty="0"/>
          </a:p>
        </p:txBody>
      </p:sp>
      <p:sp>
        <p:nvSpPr>
          <p:cNvPr id="50" name="Shape 48"/>
          <p:cNvSpPr/>
          <p:nvPr/>
        </p:nvSpPr>
        <p:spPr>
          <a:xfrm>
            <a:off x="6446520" y="2377440"/>
            <a:ext cx="5105095" cy="1371600"/>
          </a:xfrm>
          <a:prstGeom prst="roundRect">
            <a:avLst>
              <a:gd name="adj" fmla="val 4000"/>
            </a:avLst>
          </a:prstGeom>
          <a:solidFill>
            <a:srgbClr val="F4F1EC"/>
          </a:solidFill>
          <a:ln w="9525">
            <a:solidFill>
              <a:srgbClr val="DCD8D1"/>
            </a:solidFill>
            <a:prstDash val="solid"/>
          </a:ln>
        </p:spPr>
      </p:sp>
      <p:sp>
        <p:nvSpPr>
          <p:cNvPr id="51" name="Text 49"/>
          <p:cNvSpPr/>
          <p:nvPr/>
        </p:nvSpPr>
        <p:spPr>
          <a:xfrm>
            <a:off x="6766560" y="2560320"/>
            <a:ext cx="2194560" cy="566928"/>
          </a:xfrm>
          <a:prstGeom prst="rect">
            <a:avLst/>
          </a:prstGeom>
          <a:noFill/>
          <a:ln/>
        </p:spPr>
        <p:txBody>
          <a:bodyPr wrap="square" lIns="0" tIns="0" rIns="0" bIns="0" rtlCol="0" anchor="b"/>
          <a:lstStyle/>
          <a:p>
            <a:pPr algn="l" indent="0" marL="0">
              <a:buNone/>
            </a:pPr>
            <a:r>
              <a:rPr lang="en-US" sz="2700" b="1" dirty="0">
                <a:solidFill>
                  <a:srgbClr val="16191D"/>
                </a:solidFill>
                <a:latin typeface="Cambria" pitchFamily="34" charset="0"/>
                <a:ea typeface="Cambria" pitchFamily="34" charset="-122"/>
                <a:cs typeface="Cambria" pitchFamily="34" charset="-120"/>
              </a:rPr>
              <a:t>50,402%</a:t>
            </a:r>
            <a:endParaRPr lang="en-US" sz="2700" dirty="0"/>
          </a:p>
        </p:txBody>
      </p:sp>
      <p:sp>
        <p:nvSpPr>
          <p:cNvPr id="52" name="Text 50"/>
          <p:cNvSpPr/>
          <p:nvPr/>
        </p:nvSpPr>
        <p:spPr>
          <a:xfrm>
            <a:off x="6766560" y="3163824"/>
            <a:ext cx="2194560"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Akurasi baseline kelas mayoritas</a:t>
            </a:r>
            <a:endParaRPr lang="en-US" sz="1050" dirty="0"/>
          </a:p>
        </p:txBody>
      </p:sp>
      <p:sp>
        <p:nvSpPr>
          <p:cNvPr id="53" name="Text 51"/>
          <p:cNvSpPr/>
          <p:nvPr/>
        </p:nvSpPr>
        <p:spPr>
          <a:xfrm>
            <a:off x="9235440" y="2560320"/>
            <a:ext cx="2194560" cy="566928"/>
          </a:xfrm>
          <a:prstGeom prst="rect">
            <a:avLst/>
          </a:prstGeom>
          <a:noFill/>
          <a:ln/>
        </p:spPr>
        <p:txBody>
          <a:bodyPr wrap="square" lIns="0" tIns="0" rIns="0" bIns="0" rtlCol="0" anchor="b"/>
          <a:lstStyle/>
          <a:p>
            <a:pPr algn="l" indent="0" marL="0">
              <a:buNone/>
            </a:pPr>
            <a:r>
              <a:rPr lang="en-US" sz="2700" b="1" dirty="0">
                <a:solidFill>
                  <a:srgbClr val="A8442A"/>
                </a:solidFill>
                <a:latin typeface="Cambria" pitchFamily="34" charset="0"/>
                <a:ea typeface="Cambria" pitchFamily="34" charset="-122"/>
                <a:cs typeface="Cambria" pitchFamily="34" charset="-120"/>
              </a:rPr>
              <a:t>0,00000</a:t>
            </a:r>
            <a:endParaRPr lang="en-US" sz="2700" dirty="0"/>
          </a:p>
        </p:txBody>
      </p:sp>
      <p:sp>
        <p:nvSpPr>
          <p:cNvPr id="54" name="Text 52"/>
          <p:cNvSpPr/>
          <p:nvPr/>
        </p:nvSpPr>
        <p:spPr>
          <a:xfrm>
            <a:off x="9235440" y="3163824"/>
            <a:ext cx="2194560"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QWK baseline kelas mayoritas</a:t>
            </a:r>
            <a:endParaRPr lang="en-US" sz="1050" dirty="0"/>
          </a:p>
        </p:txBody>
      </p:sp>
      <p:sp>
        <p:nvSpPr>
          <p:cNvPr id="55" name="Text 53"/>
          <p:cNvSpPr/>
          <p:nvPr/>
        </p:nvSpPr>
        <p:spPr>
          <a:xfrm>
            <a:off x="6446520" y="3950208"/>
            <a:ext cx="5105095" cy="676656"/>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Strategi yang aman secara akurasi bernilai nol secara QWK. Metrik ini tidak memberi imbalan apa pun pada tebakan aman.</a:t>
            </a:r>
            <a:endParaRPr lang="en-US" sz="1250" dirty="0"/>
          </a:p>
        </p:txBody>
      </p:sp>
      <p:sp>
        <p:nvSpPr>
          <p:cNvPr id="56" name="Text 54"/>
          <p:cNvSpPr/>
          <p:nvPr/>
        </p:nvSpPr>
        <p:spPr>
          <a:xfrm>
            <a:off x="6446520" y="4700016"/>
            <a:ext cx="5105095" cy="274320"/>
          </a:xfrm>
          <a:prstGeom prst="rect">
            <a:avLst/>
          </a:prstGeom>
          <a:noFill/>
          <a:ln/>
        </p:spPr>
        <p:txBody>
          <a:bodyPr wrap="square" lIns="0" tIns="0" rIns="0" bIns="0" rtlCol="0" anchor="ctr"/>
          <a:lstStyle/>
          <a:p>
            <a:pPr indent="0" marL="0">
              <a:buNone/>
            </a:pPr>
            <a:r>
              <a:rPr lang="en-US" sz="1150" b="1" dirty="0">
                <a:solidFill>
                  <a:srgbClr val="16191D"/>
                </a:solidFill>
                <a:latin typeface="Calibri" pitchFamily="34" charset="0"/>
                <a:ea typeface="Calibri" pitchFamily="34" charset="-122"/>
                <a:cs typeface="Calibri" pitchFamily="34" charset="-120"/>
              </a:rPr>
              <a:t>Dua konsekuensi desain yang kami ambil dari sini:</a:t>
            </a:r>
            <a:endParaRPr lang="en-US" sz="1150" dirty="0"/>
          </a:p>
        </p:txBody>
      </p:sp>
      <p:sp>
        <p:nvSpPr>
          <p:cNvPr id="57" name="Text 55"/>
          <p:cNvSpPr/>
          <p:nvPr/>
        </p:nvSpPr>
        <p:spPr>
          <a:xfrm>
            <a:off x="6501384" y="5010912"/>
            <a:ext cx="5050231" cy="1097280"/>
          </a:xfrm>
          <a:prstGeom prst="rect">
            <a:avLst/>
          </a:prstGeom>
          <a:noFill/>
          <a:ln/>
        </p:spPr>
        <p:txBody>
          <a:bodyPr wrap="square" lIns="0" tIns="0" rIns="0" bIns="0" rtlCol="0" anchor="t"/>
          <a:lstStyle/>
          <a:p>
            <a:pPr marL="342900" indent="-342900">
              <a:lnSpc>
                <a:spcPts val="1700"/>
              </a:lnSpc>
              <a:spcAft>
                <a:spcPts val="800"/>
              </a:spcAft>
              <a:buSzPct val="100000"/>
              <a:buChar char="•"/>
            </a:pPr>
            <a:r>
              <a:rPr lang="en-US" sz="1200" dirty="0">
                <a:solidFill>
                  <a:srgbClr val="3A4048"/>
                </a:solidFill>
                <a:latin typeface="Calibri" pitchFamily="34" charset="0"/>
                <a:ea typeface="Calibri" pitchFamily="34" charset="-122"/>
                <a:cs typeface="Calibri" pitchFamily="34" charset="-120"/>
              </a:rPr>
              <a:t>Target diperlakukan sebagai skala ordinal, bukan empat kelas terpisah — karena penaltinya adalah fungsi jarak.</a:t>
            </a:r>
            <a:endParaRPr lang="en-US" sz="1200" dirty="0"/>
          </a:p>
          <a:p>
            <a:pPr marL="342900" indent="-342900">
              <a:lnSpc>
                <a:spcPts val="1700"/>
              </a:lnSpc>
              <a:spcAft>
                <a:spcPts val="800"/>
              </a:spcAft>
              <a:buSzPct val="100000"/>
              <a:buChar char="•"/>
            </a:pPr>
            <a:r>
              <a:rPr lang="en-US" sz="1200" dirty="0">
                <a:solidFill>
                  <a:srgbClr val="3A4048"/>
                </a:solidFill>
                <a:latin typeface="Calibri" pitchFamily="34" charset="0"/>
                <a:ea typeface="Calibri" pitchFamily="34" charset="-122"/>
                <a:cs typeface="Calibri" pitchFamily="34" charset="-120"/>
              </a:rPr>
              <a:t>Model harus berani menebak kelas 3 dan 4 meski keduanya hanya 4,7% data — menghindarinya justru merugikan.</a:t>
            </a:r>
            <a:endParaRPr lang="en-US" sz="1200" dirty="0"/>
          </a:p>
        </p:txBody>
      </p:sp>
      <p:sp>
        <p:nvSpPr>
          <p:cNvPr id="59" name="Text 56"/>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60" name="Text 57"/>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DIAGNOSIS DATA</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364"/>
              </a:lnSpc>
              <a:buNone/>
            </a:pPr>
            <a:r>
              <a:rPr lang="en-US" sz="2900" b="1" dirty="0">
                <a:solidFill>
                  <a:srgbClr val="16191D"/>
                </a:solidFill>
                <a:latin typeface="Cambria" pitchFamily="34" charset="0"/>
                <a:ea typeface="Cambria" pitchFamily="34" charset="-122"/>
                <a:cs typeface="Cambria" pitchFamily="34" charset="-120"/>
              </a:rPr>
              <a:t>Apa yang data katakan sebelum satu model pun dilatih</a:t>
            </a:r>
            <a:endParaRPr lang="en-US" sz="29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Empat pemeriksaan yang masing-masing langsung mengubah satu keputusan desain.</a:t>
            </a:r>
            <a:endParaRPr lang="en-US" sz="1350" dirty="0"/>
          </a:p>
        </p:txBody>
      </p:sp>
      <p:sp>
        <p:nvSpPr>
          <p:cNvPr id="7" name="Shape 5"/>
          <p:cNvSpPr/>
          <p:nvPr/>
        </p:nvSpPr>
        <p:spPr>
          <a:xfrm>
            <a:off x="640080" y="2212848"/>
            <a:ext cx="5291176" cy="1847088"/>
          </a:xfrm>
          <a:prstGeom prst="roundRect">
            <a:avLst>
              <a:gd name="adj" fmla="val 2970"/>
            </a:avLst>
          </a:prstGeom>
          <a:solidFill>
            <a:srgbClr val="F4F1EC"/>
          </a:solidFill>
          <a:ln w="9525">
            <a:solidFill>
              <a:srgbClr val="DCD8D1"/>
            </a:solidFill>
            <a:prstDash val="solid"/>
          </a:ln>
        </p:spPr>
      </p:sp>
      <p:sp>
        <p:nvSpPr>
          <p:cNvPr id="8" name="Shape 6"/>
          <p:cNvSpPr/>
          <p:nvPr/>
        </p:nvSpPr>
        <p:spPr>
          <a:xfrm>
            <a:off x="896112" y="2450592"/>
            <a:ext cx="237744" cy="237744"/>
          </a:xfrm>
          <a:prstGeom prst="ellipse">
            <a:avLst/>
          </a:prstGeom>
          <a:solidFill>
            <a:srgbClr val="2F6B5F"/>
          </a:solidFill>
          <a:ln/>
        </p:spPr>
      </p:sp>
      <p:sp>
        <p:nvSpPr>
          <p:cNvPr id="9" name="Text 7"/>
          <p:cNvSpPr/>
          <p:nvPr/>
        </p:nvSpPr>
        <p:spPr>
          <a:xfrm>
            <a:off x="1243584" y="2395728"/>
            <a:ext cx="4422496" cy="347472"/>
          </a:xfrm>
          <a:prstGeom prst="rect">
            <a:avLst/>
          </a:prstGeom>
          <a:noFill/>
          <a:ln/>
        </p:spPr>
        <p:txBody>
          <a:bodyPr wrap="square" lIns="0" tIns="0" rIns="0" bIns="0" rtlCol="0" anchor="ctr"/>
          <a:lstStyle/>
          <a:p>
            <a:pPr indent="0" marL="0">
              <a:buNone/>
            </a:pPr>
            <a:r>
              <a:rPr lang="en-US" sz="1450" b="1" dirty="0">
                <a:solidFill>
                  <a:srgbClr val="16191D"/>
                </a:solidFill>
                <a:latin typeface="Cambria" pitchFamily="34" charset="0"/>
                <a:ea typeface="Cambria" pitchFamily="34" charset="-122"/>
                <a:cs typeface="Cambria" pitchFamily="34" charset="-120"/>
              </a:rPr>
              <a:t>Target sangat timpang</a:t>
            </a:r>
            <a:endParaRPr lang="en-US" sz="1450" dirty="0"/>
          </a:p>
        </p:txBody>
      </p:sp>
      <p:sp>
        <p:nvSpPr>
          <p:cNvPr id="10" name="Text 8"/>
          <p:cNvSpPr/>
          <p:nvPr/>
        </p:nvSpPr>
        <p:spPr>
          <a:xfrm>
            <a:off x="896112" y="2779776"/>
            <a:ext cx="4779112" cy="566928"/>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Proporsi 44,9 / 50,4 / 3,7 / 0,9 persen. Kelas 4 hanya memiliki 893 baris latih.</a:t>
            </a:r>
            <a:endParaRPr lang="en-US" sz="1150" dirty="0"/>
          </a:p>
        </p:txBody>
      </p:sp>
      <p:sp>
        <p:nvSpPr>
          <p:cNvPr id="11" name="Text 9"/>
          <p:cNvSpPr/>
          <p:nvPr/>
        </p:nvSpPr>
        <p:spPr>
          <a:xfrm>
            <a:off x="896112" y="3364992"/>
            <a:ext cx="4779112" cy="603504"/>
          </a:xfrm>
          <a:prstGeom prst="rect">
            <a:avLst/>
          </a:prstGeom>
          <a:noFill/>
          <a:ln/>
        </p:spPr>
        <p:txBody>
          <a:bodyPr wrap="square" lIns="0" tIns="0" rIns="0" bIns="0" rtlCol="0" anchor="t"/>
          <a:lstStyle/>
          <a:p>
            <a:pPr indent="0" marL="0">
              <a:lnSpc>
                <a:spcPts val="1500"/>
              </a:lnSpc>
              <a:buNone/>
            </a:pPr>
            <a:r>
              <a:rPr lang="en-US" sz="1100" dirty="0">
                <a:solidFill>
                  <a:srgbClr val="A8442A"/>
                </a:solidFill>
                <a:latin typeface="Calibri" pitchFamily="34" charset="0"/>
                <a:ea typeface="Calibri" pitchFamily="34" charset="-122"/>
                <a:cs typeface="Calibri" pitchFamily="34" charset="-120"/>
              </a:rPr>
              <a:t>→ Ambang batas ketiga akan menjadi parameter paling tidak stabil di seluruh pipeline. Kami mengukur ketidakstabilan itu, bukan mengabaikannya.</a:t>
            </a:r>
            <a:endParaRPr lang="en-US" sz="1100" dirty="0"/>
          </a:p>
        </p:txBody>
      </p:sp>
      <p:sp>
        <p:nvSpPr>
          <p:cNvPr id="12" name="Shape 10"/>
          <p:cNvSpPr/>
          <p:nvPr/>
        </p:nvSpPr>
        <p:spPr>
          <a:xfrm>
            <a:off x="6260440" y="2212848"/>
            <a:ext cx="5291176" cy="1847088"/>
          </a:xfrm>
          <a:prstGeom prst="roundRect">
            <a:avLst>
              <a:gd name="adj" fmla="val 2970"/>
            </a:avLst>
          </a:prstGeom>
          <a:solidFill>
            <a:srgbClr val="F4F1EC"/>
          </a:solidFill>
          <a:ln w="9525">
            <a:solidFill>
              <a:srgbClr val="DCD8D1"/>
            </a:solidFill>
            <a:prstDash val="solid"/>
          </a:ln>
        </p:spPr>
      </p:sp>
      <p:sp>
        <p:nvSpPr>
          <p:cNvPr id="13" name="Shape 11"/>
          <p:cNvSpPr/>
          <p:nvPr/>
        </p:nvSpPr>
        <p:spPr>
          <a:xfrm>
            <a:off x="6516472" y="2450592"/>
            <a:ext cx="237744" cy="237744"/>
          </a:xfrm>
          <a:prstGeom prst="ellipse">
            <a:avLst/>
          </a:prstGeom>
          <a:solidFill>
            <a:srgbClr val="8FB0A4"/>
          </a:solidFill>
          <a:ln/>
        </p:spPr>
      </p:sp>
      <p:sp>
        <p:nvSpPr>
          <p:cNvPr id="14" name="Text 12"/>
          <p:cNvSpPr/>
          <p:nvPr/>
        </p:nvSpPr>
        <p:spPr>
          <a:xfrm>
            <a:off x="6863944" y="2395728"/>
            <a:ext cx="4422496" cy="347472"/>
          </a:xfrm>
          <a:prstGeom prst="rect">
            <a:avLst/>
          </a:prstGeom>
          <a:noFill/>
          <a:ln/>
        </p:spPr>
        <p:txBody>
          <a:bodyPr wrap="square" lIns="0" tIns="0" rIns="0" bIns="0" rtlCol="0" anchor="ctr"/>
          <a:lstStyle/>
          <a:p>
            <a:pPr indent="0" marL="0">
              <a:buNone/>
            </a:pPr>
            <a:r>
              <a:rPr lang="en-US" sz="1450" b="1" dirty="0">
                <a:solidFill>
                  <a:srgbClr val="16191D"/>
                </a:solidFill>
                <a:latin typeface="Cambria" pitchFamily="34" charset="0"/>
                <a:ea typeface="Cambria" pitchFamily="34" charset="-122"/>
                <a:cs typeface="Cambria" pitchFamily="34" charset="-120"/>
              </a:rPr>
              <a:t>Missing bersifat struktural</a:t>
            </a:r>
            <a:endParaRPr lang="en-US" sz="1450" dirty="0"/>
          </a:p>
        </p:txBody>
      </p:sp>
      <p:sp>
        <p:nvSpPr>
          <p:cNvPr id="15" name="Text 13"/>
          <p:cNvSpPr/>
          <p:nvPr/>
        </p:nvSpPr>
        <p:spPr>
          <a:xfrm>
            <a:off x="6516472" y="2779776"/>
            <a:ext cx="4779112" cy="566928"/>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14,4% sel kosong; 0 dari 176 kolom bebas missing. Korelasi pola missing train–test 0,9998.</a:t>
            </a:r>
            <a:endParaRPr lang="en-US" sz="1150" dirty="0"/>
          </a:p>
        </p:txBody>
      </p:sp>
      <p:sp>
        <p:nvSpPr>
          <p:cNvPr id="16" name="Text 14"/>
          <p:cNvSpPr/>
          <p:nvPr/>
        </p:nvSpPr>
        <p:spPr>
          <a:xfrm>
            <a:off x="6516472" y="3364992"/>
            <a:ext cx="4779112" cy="603504"/>
          </a:xfrm>
          <a:prstGeom prst="rect">
            <a:avLst/>
          </a:prstGeom>
          <a:noFill/>
          <a:ln/>
        </p:spPr>
        <p:txBody>
          <a:bodyPr wrap="square" lIns="0" tIns="0" rIns="0" bIns="0" rtlCol="0" anchor="t"/>
          <a:lstStyle/>
          <a:p>
            <a:pPr indent="0" marL="0">
              <a:lnSpc>
                <a:spcPts val="1500"/>
              </a:lnSpc>
              <a:buNone/>
            </a:pPr>
            <a:r>
              <a:rPr lang="en-US" sz="1100" dirty="0">
                <a:solidFill>
                  <a:srgbClr val="A8442A"/>
                </a:solidFill>
                <a:latin typeface="Calibri" pitchFamily="34" charset="0"/>
                <a:ea typeface="Calibri" pitchFamily="34" charset="-122"/>
                <a:cs typeface="Calibri" pitchFamily="34" charset="-120"/>
              </a:rPr>
              <a:t>→ Tanpa imputasi. Kekosongan adalah jejak alur kuesioner, dan ketiga pustaka boosting menanganinya sebagai cabang tersendiri.</a:t>
            </a:r>
            <a:endParaRPr lang="en-US" sz="1100" dirty="0"/>
          </a:p>
        </p:txBody>
      </p:sp>
      <p:sp>
        <p:nvSpPr>
          <p:cNvPr id="17" name="Shape 15"/>
          <p:cNvSpPr/>
          <p:nvPr/>
        </p:nvSpPr>
        <p:spPr>
          <a:xfrm>
            <a:off x="640080" y="4352544"/>
            <a:ext cx="5291176" cy="1847088"/>
          </a:xfrm>
          <a:prstGeom prst="roundRect">
            <a:avLst>
              <a:gd name="adj" fmla="val 2970"/>
            </a:avLst>
          </a:prstGeom>
          <a:solidFill>
            <a:srgbClr val="F4F1EC"/>
          </a:solidFill>
          <a:ln w="9525">
            <a:solidFill>
              <a:srgbClr val="DCD8D1"/>
            </a:solidFill>
            <a:prstDash val="solid"/>
          </a:ln>
        </p:spPr>
      </p:sp>
      <p:sp>
        <p:nvSpPr>
          <p:cNvPr id="18" name="Shape 16"/>
          <p:cNvSpPr/>
          <p:nvPr/>
        </p:nvSpPr>
        <p:spPr>
          <a:xfrm>
            <a:off x="896112" y="4590288"/>
            <a:ext cx="237744" cy="237744"/>
          </a:xfrm>
          <a:prstGeom prst="ellipse">
            <a:avLst/>
          </a:prstGeom>
          <a:solidFill>
            <a:srgbClr val="D8A25E"/>
          </a:solidFill>
          <a:ln/>
        </p:spPr>
      </p:sp>
      <p:sp>
        <p:nvSpPr>
          <p:cNvPr id="19" name="Text 17"/>
          <p:cNvSpPr/>
          <p:nvPr/>
        </p:nvSpPr>
        <p:spPr>
          <a:xfrm>
            <a:off x="1243584" y="4535424"/>
            <a:ext cx="4422496" cy="347472"/>
          </a:xfrm>
          <a:prstGeom prst="rect">
            <a:avLst/>
          </a:prstGeom>
          <a:noFill/>
          <a:ln/>
        </p:spPr>
        <p:txBody>
          <a:bodyPr wrap="square" lIns="0" tIns="0" rIns="0" bIns="0" rtlCol="0" anchor="ctr"/>
          <a:lstStyle/>
          <a:p>
            <a:pPr indent="0" marL="0">
              <a:buNone/>
            </a:pPr>
            <a:r>
              <a:rPr lang="en-US" sz="1450" b="1" dirty="0">
                <a:solidFill>
                  <a:srgbClr val="16191D"/>
                </a:solidFill>
                <a:latin typeface="Cambria" pitchFamily="34" charset="0"/>
                <a:ea typeface="Cambria" pitchFamily="34" charset="-122"/>
                <a:cs typeface="Cambria" pitchFamily="34" charset="-120"/>
              </a:rPr>
              <a:t>Sinyal tersebar tipis</a:t>
            </a:r>
            <a:endParaRPr lang="en-US" sz="1450" dirty="0"/>
          </a:p>
        </p:txBody>
      </p:sp>
      <p:sp>
        <p:nvSpPr>
          <p:cNvPr id="20" name="Text 18"/>
          <p:cNvSpPr/>
          <p:nvPr/>
        </p:nvSpPr>
        <p:spPr>
          <a:xfrm>
            <a:off x="896112" y="4919472"/>
            <a:ext cx="4779112" cy="566928"/>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Prediktor tunggal terkuat hanya |ρ| = 0,361. Median |ρ| antar 176 fitur hanya 0,037.</a:t>
            </a:r>
            <a:endParaRPr lang="en-US" sz="1150" dirty="0"/>
          </a:p>
        </p:txBody>
      </p:sp>
      <p:sp>
        <p:nvSpPr>
          <p:cNvPr id="21" name="Text 19"/>
          <p:cNvSpPr/>
          <p:nvPr/>
        </p:nvSpPr>
        <p:spPr>
          <a:xfrm>
            <a:off x="896112" y="5504688"/>
            <a:ext cx="4779112" cy="603504"/>
          </a:xfrm>
          <a:prstGeom prst="rect">
            <a:avLst/>
          </a:prstGeom>
          <a:noFill/>
          <a:ln/>
        </p:spPr>
        <p:txBody>
          <a:bodyPr wrap="square" lIns="0" tIns="0" rIns="0" bIns="0" rtlCol="0" anchor="t"/>
          <a:lstStyle/>
          <a:p>
            <a:pPr indent="0" marL="0">
              <a:lnSpc>
                <a:spcPts val="1500"/>
              </a:lnSpc>
              <a:buNone/>
            </a:pPr>
            <a:r>
              <a:rPr lang="en-US" sz="1100" dirty="0">
                <a:solidFill>
                  <a:srgbClr val="A8442A"/>
                </a:solidFill>
                <a:latin typeface="Calibri" pitchFamily="34" charset="0"/>
                <a:ea typeface="Calibri" pitchFamily="34" charset="-122"/>
                <a:cs typeface="Calibri" pitchFamily="34" charset="-120"/>
              </a:rPr>
              <a:t>→ Seleksi fitur agresif merugikan: tidak ada kolom yang bisa dibuang tanpa kehilangan sedikit sinyal. Seluruh 176 fitur dipertahankan.</a:t>
            </a:r>
            <a:endParaRPr lang="en-US" sz="1100" dirty="0"/>
          </a:p>
        </p:txBody>
      </p:sp>
      <p:sp>
        <p:nvSpPr>
          <p:cNvPr id="22" name="Shape 20"/>
          <p:cNvSpPr/>
          <p:nvPr/>
        </p:nvSpPr>
        <p:spPr>
          <a:xfrm>
            <a:off x="6260440" y="4352544"/>
            <a:ext cx="5291176" cy="1847088"/>
          </a:xfrm>
          <a:prstGeom prst="roundRect">
            <a:avLst>
              <a:gd name="adj" fmla="val 2970"/>
            </a:avLst>
          </a:prstGeom>
          <a:solidFill>
            <a:srgbClr val="F4F1EC"/>
          </a:solidFill>
          <a:ln w="9525">
            <a:solidFill>
              <a:srgbClr val="DCD8D1"/>
            </a:solidFill>
            <a:prstDash val="solid"/>
          </a:ln>
        </p:spPr>
      </p:sp>
      <p:sp>
        <p:nvSpPr>
          <p:cNvPr id="23" name="Shape 21"/>
          <p:cNvSpPr/>
          <p:nvPr/>
        </p:nvSpPr>
        <p:spPr>
          <a:xfrm>
            <a:off x="6516472" y="4590288"/>
            <a:ext cx="237744" cy="237744"/>
          </a:xfrm>
          <a:prstGeom prst="ellipse">
            <a:avLst/>
          </a:prstGeom>
          <a:solidFill>
            <a:srgbClr val="A8442A"/>
          </a:solidFill>
          <a:ln/>
        </p:spPr>
      </p:sp>
      <p:sp>
        <p:nvSpPr>
          <p:cNvPr id="24" name="Text 22"/>
          <p:cNvSpPr/>
          <p:nvPr/>
        </p:nvSpPr>
        <p:spPr>
          <a:xfrm>
            <a:off x="6863944" y="4535424"/>
            <a:ext cx="4422496" cy="347472"/>
          </a:xfrm>
          <a:prstGeom prst="rect">
            <a:avLst/>
          </a:prstGeom>
          <a:noFill/>
          <a:ln/>
        </p:spPr>
        <p:txBody>
          <a:bodyPr wrap="square" lIns="0" tIns="0" rIns="0" bIns="0" rtlCol="0" anchor="ctr"/>
          <a:lstStyle/>
          <a:p>
            <a:pPr indent="0" marL="0">
              <a:buNone/>
            </a:pPr>
            <a:r>
              <a:rPr lang="en-US" sz="1450" b="1" dirty="0">
                <a:solidFill>
                  <a:srgbClr val="16191D"/>
                </a:solidFill>
                <a:latin typeface="Cambria" pitchFamily="34" charset="0"/>
                <a:ea typeface="Cambria" pitchFamily="34" charset="-122"/>
                <a:cs typeface="Cambria" pitchFamily="34" charset="-120"/>
              </a:rPr>
              <a:t>Tidak ada kebocoran urutan</a:t>
            </a:r>
            <a:endParaRPr lang="en-US" sz="1450" dirty="0"/>
          </a:p>
        </p:txBody>
      </p:sp>
      <p:sp>
        <p:nvSpPr>
          <p:cNvPr id="25" name="Text 23"/>
          <p:cNvSpPr/>
          <p:nvPr/>
        </p:nvSpPr>
        <p:spPr>
          <a:xfrm>
            <a:off x="6516472" y="4919472"/>
            <a:ext cx="4779112" cy="566928"/>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Spearman(id, target) = 0,00595. Rentang mean target antar 20 bin id: 1,5925 – 1,6251.</a:t>
            </a:r>
            <a:endParaRPr lang="en-US" sz="1150" dirty="0"/>
          </a:p>
        </p:txBody>
      </p:sp>
      <p:sp>
        <p:nvSpPr>
          <p:cNvPr id="26" name="Text 24"/>
          <p:cNvSpPr/>
          <p:nvPr/>
        </p:nvSpPr>
        <p:spPr>
          <a:xfrm>
            <a:off x="6516472" y="5504688"/>
            <a:ext cx="4779112" cy="603504"/>
          </a:xfrm>
          <a:prstGeom prst="rect">
            <a:avLst/>
          </a:prstGeom>
          <a:noFill/>
          <a:ln/>
        </p:spPr>
        <p:txBody>
          <a:bodyPr wrap="square" lIns="0" tIns="0" rIns="0" bIns="0" rtlCol="0" anchor="t"/>
          <a:lstStyle/>
          <a:p>
            <a:pPr indent="0" marL="0">
              <a:lnSpc>
                <a:spcPts val="1500"/>
              </a:lnSpc>
              <a:buNone/>
            </a:pPr>
            <a:r>
              <a:rPr lang="en-US" sz="1100" dirty="0">
                <a:solidFill>
                  <a:srgbClr val="A8442A"/>
                </a:solidFill>
                <a:latin typeface="Calibri" pitchFamily="34" charset="0"/>
                <a:ea typeface="Calibri" pitchFamily="34" charset="-122"/>
                <a:cs typeface="Calibri" pitchFamily="34" charset="-120"/>
              </a:rPr>
              <a:t>→ Kolom id murni pengenal. Kami memeriksanya lebih dulu justru agar tidak diam-diam memanfaatkan artefak penyusunan berkas.</a:t>
            </a:r>
            <a:endParaRPr lang="en-US" sz="1100" dirty="0"/>
          </a:p>
        </p:txBody>
      </p:sp>
      <p:sp>
        <p:nvSpPr>
          <p:cNvPr id="28" name="Text 25"/>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9" name="Text 26"/>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SUDUT EKSKLUSIF 01</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596"/>
              </a:lnSpc>
              <a:buNone/>
            </a:pPr>
            <a:r>
              <a:rPr lang="en-US" sz="3100" b="1" dirty="0">
                <a:solidFill>
                  <a:srgbClr val="16191D"/>
                </a:solidFill>
                <a:latin typeface="Cambria" pitchFamily="34" charset="0"/>
                <a:ea typeface="Cambria" pitchFamily="34" charset="-122"/>
                <a:cs typeface="Cambria" pitchFamily="34" charset="-120"/>
              </a:rPr>
              <a:t>Jebakan yang kami ukur — lalu tolak</a:t>
            </a:r>
            <a:endParaRPr lang="en-US" sz="31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Responden dalam dataset ini berbagi rumah tangga. 61,3% baris test punya anggota rumah tangga yang labelnya ada di data latih.</a:t>
            </a:r>
            <a:endParaRPr lang="en-US" sz="1350" dirty="0"/>
          </a:p>
        </p:txBody>
      </p:sp>
      <p:sp>
        <p:nvSpPr>
          <p:cNvPr id="7" name="Text 5"/>
          <p:cNvSpPr/>
          <p:nvPr/>
        </p:nvSpPr>
        <p:spPr>
          <a:xfrm>
            <a:off x="640080" y="2084832"/>
            <a:ext cx="10911535" cy="365760"/>
          </a:xfrm>
          <a:prstGeom prst="rect">
            <a:avLst/>
          </a:prstGeom>
          <a:noFill/>
          <a:ln/>
        </p:spPr>
        <p:txBody>
          <a:bodyPr wrap="square" lIns="0" tIns="0" rIns="0" bIns="0" rtlCol="0" anchor="ctr"/>
          <a:lstStyle/>
          <a:p>
            <a:pPr indent="0" marL="0">
              <a:buNone/>
            </a:pPr>
            <a:r>
              <a:rPr lang="en-US" sz="1250" i="1" dirty="0">
                <a:solidFill>
                  <a:srgbClr val="16191D"/>
                </a:solidFill>
                <a:latin typeface="Calibri" pitchFamily="34" charset="0"/>
                <a:ea typeface="Calibri" pitchFamily="34" charset="-122"/>
                <a:cs typeface="Calibri" pitchFamily="34" charset="-120"/>
              </a:rPr>
              <a:t>Target encoding di sini akan terlihat brilian pada validasi mana pun. Pertanyaannya bukan “bisakah dipakai”, melainkan “seberapa besar sebenarnya sinyalnya”.</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615184"/>
          <a:ext cx="7223760" cy="914400"/>
        </p:xfrm>
        <a:graphic>
          <a:graphicData uri="http://schemas.openxmlformats.org/drawingml/2006/table">
            <a:tbl>
              <a:tblPr/>
              <a:tblGrid>
                <a:gridCol w="3200400"/>
                <a:gridCol w="1005840"/>
                <a:gridCol w="1005840"/>
                <a:gridCol w="1005840"/>
                <a:gridCol w="1005840"/>
              </a:tblGrid>
              <a:tr h="329184">
                <a:tc>
                  <a:txBody>
                    <a:bodyPr/>
                    <a:lstStyle/>
                    <a:p>
                      <a:pPr algn="l" indent="0" marL="0">
                        <a:buNone/>
                      </a:pPr>
                      <a:r>
                        <a:rPr lang="en-US" sz="1150" b="1" dirty="0">
                          <a:solidFill>
                            <a:srgbClr val="16191D"/>
                          </a:solidFill>
                          <a:latin typeface="Calibri" pitchFamily="34" charset="0"/>
                          <a:ea typeface="Calibri" pitchFamily="34" charset="-122"/>
                          <a:cs typeface="Calibri" pitchFamily="34" charset="-120"/>
                        </a:rPr>
                        <a:t>P(label responden | label anggota lain)</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yᵢ = 1</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yᵢ = 2</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yᵢ = 3</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yᵢ = 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r>
              <a:tr h="329184">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anggota lain menjawab 1 — Sangat puas</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b="1" dirty="0">
                          <a:solidFill>
                            <a:srgbClr val="A8442A"/>
                          </a:solidFill>
                          <a:latin typeface="Calibri" pitchFamily="34" charset="0"/>
                          <a:ea typeface="Calibri" pitchFamily="34" charset="-122"/>
                          <a:cs typeface="Calibri" pitchFamily="34" charset="-120"/>
                        </a:rPr>
                        <a:t>0,4654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0,4903</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0,0354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0,0089</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29184">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anggota lain menjawab 2 — Puas</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0,4347</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0,5200</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0,0360</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0,0093</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29184">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anggota lain menjawab 3 — Tidak puas</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0,4280</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0,4902</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0,0712</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0,0106</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29184">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anggota lain menjawab 4 — Sangat tidak puas</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0,4294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0,5068</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0,0425</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0,0212</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r>
            </a:tbl>
          </a:graphicData>
        </a:graphic>
      </p:graphicFrame>
      <p:sp>
        <p:nvSpPr>
          <p:cNvPr id="9" name="Shape 6"/>
          <p:cNvSpPr/>
          <p:nvPr/>
        </p:nvSpPr>
        <p:spPr>
          <a:xfrm>
            <a:off x="8275320" y="2615184"/>
            <a:ext cx="3276295" cy="2029968"/>
          </a:xfrm>
          <a:prstGeom prst="roundRect">
            <a:avLst>
              <a:gd name="adj" fmla="val 2703"/>
            </a:avLst>
          </a:prstGeom>
          <a:solidFill>
            <a:srgbClr val="ECE7DF"/>
          </a:solidFill>
          <a:ln w="9525">
            <a:solidFill>
              <a:srgbClr val="DCD8D1"/>
            </a:solidFill>
            <a:prstDash val="solid"/>
          </a:ln>
        </p:spPr>
      </p:sp>
      <p:sp>
        <p:nvSpPr>
          <p:cNvPr id="10" name="Text 7"/>
          <p:cNvSpPr/>
          <p:nvPr/>
        </p:nvSpPr>
        <p:spPr>
          <a:xfrm>
            <a:off x="8549640" y="2761488"/>
            <a:ext cx="2727655" cy="274320"/>
          </a:xfrm>
          <a:prstGeom prst="rect">
            <a:avLst/>
          </a:prstGeom>
          <a:noFill/>
          <a:ln/>
        </p:spPr>
        <p:txBody>
          <a:bodyPr wrap="square" lIns="0" tIns="0" rIns="0" bIns="0" rtlCol="0" anchor="ctr"/>
          <a:lstStyle/>
          <a:p>
            <a:pPr indent="0" marL="0">
              <a:buNone/>
            </a:pPr>
            <a:r>
              <a:rPr lang="en-US" sz="1000" b="1" spc="140" kern="0" dirty="0">
                <a:solidFill>
                  <a:srgbClr val="6E747C"/>
                </a:solidFill>
                <a:latin typeface="Calibri" pitchFamily="34" charset="0"/>
                <a:ea typeface="Calibri" pitchFamily="34" charset="-122"/>
                <a:cs typeface="Calibri" pitchFamily="34" charset="-120"/>
              </a:rPr>
              <a:t>LIFT SEBENARNYA</a:t>
            </a:r>
            <a:endParaRPr lang="en-US" sz="1000" dirty="0"/>
          </a:p>
        </p:txBody>
      </p:sp>
      <p:sp>
        <p:nvSpPr>
          <p:cNvPr id="11" name="Text 8"/>
          <p:cNvSpPr/>
          <p:nvPr/>
        </p:nvSpPr>
        <p:spPr>
          <a:xfrm>
            <a:off x="8549640" y="3054096"/>
            <a:ext cx="2727655" cy="457200"/>
          </a:xfrm>
          <a:prstGeom prst="rect">
            <a:avLst/>
          </a:prstGeom>
          <a:noFill/>
          <a:ln/>
        </p:spPr>
        <p:txBody>
          <a:bodyPr wrap="square" lIns="0" tIns="0" rIns="0" bIns="0" rtlCol="0" anchor="ctr"/>
          <a:lstStyle/>
          <a:p>
            <a:pPr indent="0" marL="0">
              <a:buNone/>
            </a:pPr>
            <a:r>
              <a:rPr lang="en-US" sz="2100" b="1" dirty="0">
                <a:solidFill>
                  <a:srgbClr val="16191D"/>
                </a:solidFill>
                <a:latin typeface="Cambria" pitchFamily="34" charset="0"/>
                <a:ea typeface="Cambria" pitchFamily="34" charset="-122"/>
                <a:cs typeface="Cambria" pitchFamily="34" charset="-120"/>
              </a:rPr>
              <a:t>44,9%  →  46,5%</a:t>
            </a:r>
            <a:endParaRPr lang="en-US" sz="2100" dirty="0"/>
          </a:p>
        </p:txBody>
      </p:sp>
      <p:sp>
        <p:nvSpPr>
          <p:cNvPr id="12" name="Text 9"/>
          <p:cNvSpPr/>
          <p:nvPr/>
        </p:nvSpPr>
        <p:spPr>
          <a:xfrm>
            <a:off x="8549640" y="3547872"/>
            <a:ext cx="2727655" cy="329184"/>
          </a:xfrm>
          <a:prstGeom prst="rect">
            <a:avLst/>
          </a:prstGeom>
          <a:noFill/>
          <a:ln/>
        </p:spPr>
        <p:txBody>
          <a:bodyPr wrap="square" lIns="0" tIns="0" rIns="0" bIns="0" rtlCol="0" anchor="ctr"/>
          <a:lstStyle/>
          <a:p>
            <a:pPr indent="0" marL="0">
              <a:buNone/>
            </a:pPr>
            <a:r>
              <a:rPr lang="en-US" sz="1800" b="1" dirty="0">
                <a:solidFill>
                  <a:srgbClr val="A8442A"/>
                </a:solidFill>
                <a:latin typeface="Cambria" pitchFamily="34" charset="0"/>
                <a:ea typeface="Cambria" pitchFamily="34" charset="-122"/>
                <a:cs typeface="Cambria" pitchFamily="34" charset="-120"/>
              </a:rPr>
              <a:t>+1,6 poin persentase</a:t>
            </a:r>
            <a:endParaRPr lang="en-US" sz="1800" dirty="0"/>
          </a:p>
        </p:txBody>
      </p:sp>
      <p:sp>
        <p:nvSpPr>
          <p:cNvPr id="13" name="Text 10"/>
          <p:cNvSpPr/>
          <p:nvPr/>
        </p:nvSpPr>
        <p:spPr>
          <a:xfrm>
            <a:off x="8549640" y="3931920"/>
            <a:ext cx="2727655" cy="640080"/>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Dari marginal kelas 1 menuju kondisional terhadap anggota rumah tangga yang paling informatif.</a:t>
            </a:r>
            <a:endParaRPr lang="en-US" sz="1100" dirty="0"/>
          </a:p>
        </p:txBody>
      </p:sp>
      <p:sp>
        <p:nvSpPr>
          <p:cNvPr id="14" name="Text 11"/>
          <p:cNvSpPr/>
          <p:nvPr/>
        </p:nvSpPr>
        <p:spPr>
          <a:xfrm>
            <a:off x="8275320" y="4864608"/>
            <a:ext cx="1638148" cy="329184"/>
          </a:xfrm>
          <a:prstGeom prst="rect">
            <a:avLst/>
          </a:prstGeom>
          <a:noFill/>
          <a:ln/>
        </p:spPr>
        <p:txBody>
          <a:bodyPr wrap="square" lIns="0" tIns="0" rIns="0" bIns="0" rtlCol="0" anchor="b"/>
          <a:lstStyle/>
          <a:p>
            <a:pPr algn="l" indent="0" marL="0">
              <a:buNone/>
            </a:pPr>
            <a:r>
              <a:rPr lang="en-US" sz="1900" b="1" dirty="0">
                <a:solidFill>
                  <a:srgbClr val="16191D"/>
                </a:solidFill>
                <a:latin typeface="Cambria" pitchFamily="34" charset="0"/>
                <a:ea typeface="Cambria" pitchFamily="34" charset="-122"/>
                <a:cs typeface="Cambria" pitchFamily="34" charset="-120"/>
              </a:rPr>
              <a:t>11.620</a:t>
            </a:r>
            <a:endParaRPr lang="en-US" sz="1900" dirty="0"/>
          </a:p>
        </p:txBody>
      </p:sp>
      <p:sp>
        <p:nvSpPr>
          <p:cNvPr id="15" name="Text 12"/>
          <p:cNvSpPr/>
          <p:nvPr/>
        </p:nvSpPr>
        <p:spPr>
          <a:xfrm>
            <a:off x="8275320" y="5230368"/>
            <a:ext cx="1638148" cy="420624"/>
          </a:xfrm>
          <a:prstGeom prst="rect">
            <a:avLst/>
          </a:prstGeom>
          <a:noFill/>
          <a:ln/>
        </p:spPr>
        <p:txBody>
          <a:bodyPr wrap="square" lIns="0" tIns="0" rIns="0" bIns="0" rtlCol="0" anchor="t"/>
          <a:lstStyle/>
          <a:p>
            <a:pPr algn="l" indent="0" marL="0">
              <a:lnSpc>
                <a:spcPts val="1300"/>
              </a:lnSpc>
              <a:buNone/>
            </a:pPr>
            <a:r>
              <a:rPr lang="en-US" sz="950" dirty="0">
                <a:solidFill>
                  <a:srgbClr val="6E747C"/>
                </a:solidFill>
                <a:latin typeface="Calibri" pitchFamily="34" charset="0"/>
                <a:ea typeface="Calibri" pitchFamily="34" charset="-122"/>
                <a:cs typeface="Calibri" pitchFamily="34" charset="-120"/>
              </a:rPr>
              <a:t>Rumah tangga beririsan</a:t>
            </a:r>
            <a:endParaRPr lang="en-US" sz="950" dirty="0"/>
          </a:p>
          <a:p>
            <a:pPr algn="l" indent="0" marL="0">
              <a:lnSpc>
                <a:spcPts val="1300"/>
              </a:lnSpc>
              <a:buNone/>
            </a:pPr>
            <a:r>
              <a:rPr lang="en-US" sz="950" dirty="0">
                <a:solidFill>
                  <a:srgbClr val="6E747C"/>
                </a:solidFill>
                <a:latin typeface="Calibri" pitchFamily="34" charset="0"/>
                <a:ea typeface="Calibri" pitchFamily="34" charset="-122"/>
                <a:cs typeface="Calibri" pitchFamily="34" charset="-120"/>
              </a:rPr>
              <a:t>train–test</a:t>
            </a:r>
            <a:endParaRPr lang="en-US" sz="950" dirty="0"/>
          </a:p>
        </p:txBody>
      </p:sp>
      <p:sp>
        <p:nvSpPr>
          <p:cNvPr id="16" name="Text 13"/>
          <p:cNvSpPr/>
          <p:nvPr/>
        </p:nvSpPr>
        <p:spPr>
          <a:xfrm>
            <a:off x="9913468" y="4864608"/>
            <a:ext cx="1638148" cy="329184"/>
          </a:xfrm>
          <a:prstGeom prst="rect">
            <a:avLst/>
          </a:prstGeom>
          <a:noFill/>
          <a:ln/>
        </p:spPr>
        <p:txBody>
          <a:bodyPr wrap="square" lIns="0" tIns="0" rIns="0" bIns="0" rtlCol="0" anchor="b"/>
          <a:lstStyle/>
          <a:p>
            <a:pPr algn="l" indent="0" marL="0">
              <a:buNone/>
            </a:pPr>
            <a:r>
              <a:rPr lang="en-US" sz="1900" b="1" dirty="0">
                <a:solidFill>
                  <a:srgbClr val="16191D"/>
                </a:solidFill>
                <a:latin typeface="Cambria" pitchFamily="34" charset="0"/>
                <a:ea typeface="Cambria" pitchFamily="34" charset="-122"/>
                <a:cs typeface="Cambria" pitchFamily="34" charset="-120"/>
              </a:rPr>
              <a:t>61,3%</a:t>
            </a:r>
            <a:endParaRPr lang="en-US" sz="1900" dirty="0"/>
          </a:p>
        </p:txBody>
      </p:sp>
      <p:sp>
        <p:nvSpPr>
          <p:cNvPr id="17" name="Text 14"/>
          <p:cNvSpPr/>
          <p:nvPr/>
        </p:nvSpPr>
        <p:spPr>
          <a:xfrm>
            <a:off x="9913468" y="5230368"/>
            <a:ext cx="1638148" cy="420624"/>
          </a:xfrm>
          <a:prstGeom prst="rect">
            <a:avLst/>
          </a:prstGeom>
          <a:noFill/>
          <a:ln/>
        </p:spPr>
        <p:txBody>
          <a:bodyPr wrap="square" lIns="0" tIns="0" rIns="0" bIns="0" rtlCol="0" anchor="t"/>
          <a:lstStyle/>
          <a:p>
            <a:pPr algn="l" indent="0" marL="0">
              <a:lnSpc>
                <a:spcPts val="1300"/>
              </a:lnSpc>
              <a:buNone/>
            </a:pPr>
            <a:r>
              <a:rPr lang="en-US" sz="950" dirty="0">
                <a:solidFill>
                  <a:srgbClr val="6E747C"/>
                </a:solidFill>
                <a:latin typeface="Calibri" pitchFamily="34" charset="0"/>
                <a:ea typeface="Calibri" pitchFamily="34" charset="-122"/>
                <a:cs typeface="Calibri" pitchFamily="34" charset="-120"/>
              </a:rPr>
              <a:t>Baris test yang</a:t>
            </a:r>
            <a:endParaRPr lang="en-US" sz="950" dirty="0"/>
          </a:p>
          <a:p>
            <a:pPr algn="l" indent="0" marL="0">
              <a:lnSpc>
                <a:spcPts val="1300"/>
              </a:lnSpc>
              <a:buNone/>
            </a:pPr>
            <a:r>
              <a:rPr lang="en-US" sz="950" dirty="0">
                <a:solidFill>
                  <a:srgbClr val="6E747C"/>
                </a:solidFill>
                <a:latin typeface="Calibri" pitchFamily="34" charset="0"/>
                <a:ea typeface="Calibri" pitchFamily="34" charset="-122"/>
                <a:cs typeface="Calibri" pitchFamily="34" charset="-120"/>
              </a:rPr>
              <a:t>terjangkau</a:t>
            </a:r>
            <a:endParaRPr lang="en-US" sz="950" dirty="0"/>
          </a:p>
        </p:txBody>
      </p:sp>
      <p:sp>
        <p:nvSpPr>
          <p:cNvPr id="18" name="Text 15"/>
          <p:cNvSpPr/>
          <p:nvPr/>
        </p:nvSpPr>
        <p:spPr>
          <a:xfrm>
            <a:off x="640080" y="4901184"/>
            <a:ext cx="7223760" cy="1097280"/>
          </a:xfrm>
          <a:prstGeom prst="rect">
            <a:avLst/>
          </a:prstGeom>
          <a:noFill/>
          <a:ln/>
        </p:spPr>
        <p:txBody>
          <a:bodyPr wrap="square" lIns="0" tIns="0" rIns="0" bIns="0" rtlCol="0" anchor="t"/>
          <a:lstStyle/>
          <a:p>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Keputusan:  </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fitur ini kami buang — dan kami membuangnya berdasarkan besaran sinyalnya, bukan berdasarkan skor. Kepuasan hidup ternyata jauh lebih individual daripada dugaan awal: mengetahui jawaban orang yang serumah hampir tidak memberi tahu apa pun tentang jawaban responden sendiri.</a:t>
            </a:r>
            <a:endParaRPr lang="en-US" sz="1250" dirty="0"/>
          </a:p>
        </p:txBody>
      </p:sp>
      <p:sp>
        <p:nvSpPr>
          <p:cNvPr id="20" name="Text 16"/>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1" name="Text 17"/>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ARSITEKTUR</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Kami memprediksi posisi pada skala, bukan kelas</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argmax adalah penduga optimal untuk akurasi. Untuk galat kuadratik pada skala ordinal, penduga optimalnya adalah nilai harapan.</a:t>
            </a:r>
            <a:endParaRPr lang="en-US" sz="1350" dirty="0"/>
          </a:p>
        </p:txBody>
      </p:sp>
      <p:sp>
        <p:nvSpPr>
          <p:cNvPr id="7" name="Shape 5"/>
          <p:cNvSpPr/>
          <p:nvPr/>
        </p:nvSpPr>
        <p:spPr>
          <a:xfrm>
            <a:off x="640080" y="2249424"/>
            <a:ext cx="2487168" cy="1042416"/>
          </a:xfrm>
          <a:prstGeom prst="roundRect">
            <a:avLst>
              <a:gd name="adj" fmla="val 5263"/>
            </a:avLst>
          </a:prstGeom>
          <a:solidFill>
            <a:srgbClr val="F4F1EC"/>
          </a:solidFill>
          <a:ln w="9525">
            <a:solidFill>
              <a:srgbClr val="DCD8D1"/>
            </a:solidFill>
            <a:prstDash val="solid"/>
          </a:ln>
        </p:spPr>
      </p:sp>
      <p:sp>
        <p:nvSpPr>
          <p:cNvPr id="8" name="Text 6"/>
          <p:cNvSpPr/>
          <p:nvPr/>
        </p:nvSpPr>
        <p:spPr>
          <a:xfrm>
            <a:off x="786384" y="2359152"/>
            <a:ext cx="2194560" cy="329184"/>
          </a:xfrm>
          <a:prstGeom prst="rect">
            <a:avLst/>
          </a:prstGeom>
          <a:noFill/>
          <a:ln/>
        </p:spPr>
        <p:txBody>
          <a:bodyPr wrap="square" lIns="0" tIns="0" rIns="0" bIns="0" rtlCol="0" anchor="ctr"/>
          <a:lstStyle/>
          <a:p>
            <a:pPr algn="ctr" indent="0" marL="0">
              <a:buNone/>
            </a:pPr>
            <a:r>
              <a:rPr lang="en-US" sz="1450" b="1" dirty="0">
                <a:solidFill>
                  <a:srgbClr val="16191D"/>
                </a:solidFill>
                <a:latin typeface="Cambria" pitchFamily="34" charset="0"/>
                <a:ea typeface="Cambria" pitchFamily="34" charset="-122"/>
                <a:cs typeface="Cambria" pitchFamily="34" charset="-120"/>
              </a:rPr>
              <a:t>176 fitur mentah</a:t>
            </a:r>
            <a:endParaRPr lang="en-US" sz="1450" dirty="0"/>
          </a:p>
        </p:txBody>
      </p:sp>
      <p:sp>
        <p:nvSpPr>
          <p:cNvPr id="9" name="Text 7"/>
          <p:cNvSpPr/>
          <p:nvPr/>
        </p:nvSpPr>
        <p:spPr>
          <a:xfrm>
            <a:off x="786384" y="2688336"/>
            <a:ext cx="2194560" cy="512064"/>
          </a:xfrm>
          <a:prstGeom prst="rect">
            <a:avLst/>
          </a:prstGeom>
          <a:noFill/>
          <a:ln/>
        </p:spPr>
        <p:txBody>
          <a:bodyPr wrap="square" lIns="0" tIns="0" rIns="0" bIns="0" rtlCol="0" anchor="t"/>
          <a:lstStyle/>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tanpa imputasi,</a:t>
            </a:r>
            <a:endParaRPr lang="en-US" sz="1000" dirty="0"/>
          </a:p>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kode 7/8/9 dipertahankan</a:t>
            </a:r>
            <a:endParaRPr lang="en-US" sz="1000" dirty="0"/>
          </a:p>
        </p:txBody>
      </p:sp>
      <p:sp>
        <p:nvSpPr>
          <p:cNvPr id="10" name="Text 8"/>
          <p:cNvSpPr/>
          <p:nvPr/>
        </p:nvSpPr>
        <p:spPr>
          <a:xfrm>
            <a:off x="3127248" y="2249424"/>
            <a:ext cx="310896" cy="1042416"/>
          </a:xfrm>
          <a:prstGeom prst="rect">
            <a:avLst/>
          </a:prstGeom>
          <a:noFill/>
          <a:ln/>
        </p:spPr>
        <p:txBody>
          <a:bodyPr wrap="square" lIns="0" tIns="0" rIns="0" bIns="0" rtlCol="0" anchor="ctr"/>
          <a:lstStyle/>
          <a:p>
            <a:pPr algn="ctr" indent="0" marL="0">
              <a:buNone/>
            </a:pPr>
            <a:r>
              <a:rPr lang="en-US" sz="1700" dirty="0">
                <a:solidFill>
                  <a:srgbClr val="9AA0A7"/>
                </a:solidFill>
                <a:latin typeface="Calibri" pitchFamily="34" charset="0"/>
                <a:ea typeface="Calibri" pitchFamily="34" charset="-122"/>
                <a:cs typeface="Calibri" pitchFamily="34" charset="-120"/>
              </a:rPr>
              <a:t>→</a:t>
            </a:r>
            <a:endParaRPr lang="en-US" sz="1700" dirty="0"/>
          </a:p>
        </p:txBody>
      </p:sp>
      <p:sp>
        <p:nvSpPr>
          <p:cNvPr id="11" name="Shape 9"/>
          <p:cNvSpPr/>
          <p:nvPr/>
        </p:nvSpPr>
        <p:spPr>
          <a:xfrm>
            <a:off x="3438144" y="2249424"/>
            <a:ext cx="2487168" cy="1042416"/>
          </a:xfrm>
          <a:prstGeom prst="roundRect">
            <a:avLst>
              <a:gd name="adj" fmla="val 5263"/>
            </a:avLst>
          </a:prstGeom>
          <a:solidFill>
            <a:srgbClr val="F4F1EC"/>
          </a:solidFill>
          <a:ln w="9525">
            <a:solidFill>
              <a:srgbClr val="DCD8D1"/>
            </a:solidFill>
            <a:prstDash val="solid"/>
          </a:ln>
        </p:spPr>
      </p:sp>
      <p:sp>
        <p:nvSpPr>
          <p:cNvPr id="12" name="Text 10"/>
          <p:cNvSpPr/>
          <p:nvPr/>
        </p:nvSpPr>
        <p:spPr>
          <a:xfrm>
            <a:off x="3584448" y="2359152"/>
            <a:ext cx="2194560" cy="329184"/>
          </a:xfrm>
          <a:prstGeom prst="rect">
            <a:avLst/>
          </a:prstGeom>
          <a:noFill/>
          <a:ln/>
        </p:spPr>
        <p:txBody>
          <a:bodyPr wrap="square" lIns="0" tIns="0" rIns="0" bIns="0" rtlCol="0" anchor="ctr"/>
          <a:lstStyle/>
          <a:p>
            <a:pPr algn="ctr" indent="0" marL="0">
              <a:buNone/>
            </a:pPr>
            <a:r>
              <a:rPr lang="en-US" sz="1450" b="1" dirty="0">
                <a:solidFill>
                  <a:srgbClr val="16191D"/>
                </a:solidFill>
                <a:latin typeface="Cambria" pitchFamily="34" charset="0"/>
                <a:ea typeface="Cambria" pitchFamily="34" charset="-122"/>
                <a:cs typeface="Cambria" pitchFamily="34" charset="-120"/>
              </a:rPr>
              <a:t>6 model dasar</a:t>
            </a:r>
            <a:endParaRPr lang="en-US" sz="1450" dirty="0"/>
          </a:p>
        </p:txBody>
      </p:sp>
      <p:sp>
        <p:nvSpPr>
          <p:cNvPr id="13" name="Text 11"/>
          <p:cNvSpPr/>
          <p:nvPr/>
        </p:nvSpPr>
        <p:spPr>
          <a:xfrm>
            <a:off x="3584448" y="2688336"/>
            <a:ext cx="2194560" cy="512064"/>
          </a:xfrm>
          <a:prstGeom prst="rect">
            <a:avLst/>
          </a:prstGeom>
          <a:noFill/>
          <a:ln/>
        </p:spPr>
        <p:txBody>
          <a:bodyPr wrap="square" lIns="0" tIns="0" rIns="0" bIns="0" rtlCol="0" anchor="t"/>
          <a:lstStyle/>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LightGBM · XGBoost · CatBoost</a:t>
            </a:r>
            <a:endParaRPr lang="en-US" sz="1000" dirty="0"/>
          </a:p>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Huber ordinal · kumulatif · MLP</a:t>
            </a:r>
            <a:endParaRPr lang="en-US" sz="1000" dirty="0"/>
          </a:p>
        </p:txBody>
      </p:sp>
      <p:sp>
        <p:nvSpPr>
          <p:cNvPr id="14" name="Text 12"/>
          <p:cNvSpPr/>
          <p:nvPr/>
        </p:nvSpPr>
        <p:spPr>
          <a:xfrm>
            <a:off x="5925312" y="2249424"/>
            <a:ext cx="310896" cy="1042416"/>
          </a:xfrm>
          <a:prstGeom prst="rect">
            <a:avLst/>
          </a:prstGeom>
          <a:noFill/>
          <a:ln/>
        </p:spPr>
        <p:txBody>
          <a:bodyPr wrap="square" lIns="0" tIns="0" rIns="0" bIns="0" rtlCol="0" anchor="ctr"/>
          <a:lstStyle/>
          <a:p>
            <a:pPr algn="ctr" indent="0" marL="0">
              <a:buNone/>
            </a:pPr>
            <a:r>
              <a:rPr lang="en-US" sz="1700" dirty="0">
                <a:solidFill>
                  <a:srgbClr val="9AA0A7"/>
                </a:solidFill>
                <a:latin typeface="Calibri" pitchFamily="34" charset="0"/>
                <a:ea typeface="Calibri" pitchFamily="34" charset="-122"/>
                <a:cs typeface="Calibri" pitchFamily="34" charset="-120"/>
              </a:rPr>
              <a:t>→</a:t>
            </a:r>
            <a:endParaRPr lang="en-US" sz="1700" dirty="0"/>
          </a:p>
        </p:txBody>
      </p:sp>
      <p:sp>
        <p:nvSpPr>
          <p:cNvPr id="15" name="Shape 13"/>
          <p:cNvSpPr/>
          <p:nvPr/>
        </p:nvSpPr>
        <p:spPr>
          <a:xfrm>
            <a:off x="6236208" y="2249424"/>
            <a:ext cx="2487168" cy="1042416"/>
          </a:xfrm>
          <a:prstGeom prst="roundRect">
            <a:avLst>
              <a:gd name="adj" fmla="val 5263"/>
            </a:avLst>
          </a:prstGeom>
          <a:solidFill>
            <a:srgbClr val="F4F1EC"/>
          </a:solidFill>
          <a:ln w="9525">
            <a:solidFill>
              <a:srgbClr val="DCD8D1"/>
            </a:solidFill>
            <a:prstDash val="solid"/>
          </a:ln>
        </p:spPr>
      </p:sp>
      <p:sp>
        <p:nvSpPr>
          <p:cNvPr id="16" name="Text 14"/>
          <p:cNvSpPr/>
          <p:nvPr/>
        </p:nvSpPr>
        <p:spPr>
          <a:xfrm>
            <a:off x="6382512" y="2359152"/>
            <a:ext cx="2194560" cy="329184"/>
          </a:xfrm>
          <a:prstGeom prst="rect">
            <a:avLst/>
          </a:prstGeom>
          <a:noFill/>
          <a:ln/>
        </p:spPr>
        <p:txBody>
          <a:bodyPr wrap="square" lIns="0" tIns="0" rIns="0" bIns="0" rtlCol="0" anchor="ctr"/>
          <a:lstStyle/>
          <a:p>
            <a:pPr algn="ctr" indent="0" marL="0">
              <a:buNone/>
            </a:pPr>
            <a:r>
              <a:rPr lang="en-US" sz="1450" b="1" dirty="0">
                <a:solidFill>
                  <a:srgbClr val="16191D"/>
                </a:solidFill>
                <a:latin typeface="Cambria" pitchFamily="34" charset="0"/>
                <a:ea typeface="Cambria" pitchFamily="34" charset="-122"/>
                <a:cs typeface="Cambria" pitchFamily="34" charset="-120"/>
              </a:rPr>
              <a:t>p₁  p₂  p₃  p₄</a:t>
            </a:r>
            <a:endParaRPr lang="en-US" sz="1450" dirty="0"/>
          </a:p>
        </p:txBody>
      </p:sp>
      <p:sp>
        <p:nvSpPr>
          <p:cNvPr id="17" name="Text 15"/>
          <p:cNvSpPr/>
          <p:nvPr/>
        </p:nvSpPr>
        <p:spPr>
          <a:xfrm>
            <a:off x="6382512" y="2688336"/>
            <a:ext cx="2194560" cy="512064"/>
          </a:xfrm>
          <a:prstGeom prst="rect">
            <a:avLst/>
          </a:prstGeom>
          <a:noFill/>
          <a:ln/>
        </p:spPr>
        <p:txBody>
          <a:bodyPr wrap="square" lIns="0" tIns="0" rIns="0" bIns="0" rtlCol="0" anchor="t"/>
          <a:lstStyle/>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rata-rata probabilitas</a:t>
            </a:r>
            <a:endParaRPr lang="en-US" sz="1000" dirty="0"/>
          </a:p>
          <a:p>
            <a:pPr algn="ctr" indent="0" marL="0">
              <a:lnSpc>
                <a:spcPts val="1300"/>
              </a:lnSpc>
              <a:buNone/>
            </a:pPr>
            <a:r>
              <a:rPr lang="en-US" sz="1000" dirty="0">
                <a:solidFill>
                  <a:srgbClr val="6E747C"/>
                </a:solidFill>
                <a:latin typeface="Calibri" pitchFamily="34" charset="0"/>
                <a:ea typeface="Calibri" pitchFamily="34" charset="-122"/>
                <a:cs typeface="Calibri" pitchFamily="34" charset="-120"/>
              </a:rPr>
              <a:t>lima model pohon</a:t>
            </a:r>
            <a:endParaRPr lang="en-US" sz="1000" dirty="0"/>
          </a:p>
        </p:txBody>
      </p:sp>
      <p:sp>
        <p:nvSpPr>
          <p:cNvPr id="18" name="Text 16"/>
          <p:cNvSpPr/>
          <p:nvPr/>
        </p:nvSpPr>
        <p:spPr>
          <a:xfrm>
            <a:off x="8723376" y="2249424"/>
            <a:ext cx="310896" cy="1042416"/>
          </a:xfrm>
          <a:prstGeom prst="rect">
            <a:avLst/>
          </a:prstGeom>
          <a:noFill/>
          <a:ln/>
        </p:spPr>
        <p:txBody>
          <a:bodyPr wrap="square" lIns="0" tIns="0" rIns="0" bIns="0" rtlCol="0" anchor="ctr"/>
          <a:lstStyle/>
          <a:p>
            <a:pPr algn="ctr" indent="0" marL="0">
              <a:buNone/>
            </a:pPr>
            <a:r>
              <a:rPr lang="en-US" sz="1700" dirty="0">
                <a:solidFill>
                  <a:srgbClr val="9AA0A7"/>
                </a:solidFill>
                <a:latin typeface="Calibri" pitchFamily="34" charset="0"/>
                <a:ea typeface="Calibri" pitchFamily="34" charset="-122"/>
                <a:cs typeface="Calibri" pitchFamily="34" charset="-120"/>
              </a:rPr>
              <a:t>→</a:t>
            </a:r>
            <a:endParaRPr lang="en-US" sz="1700" dirty="0"/>
          </a:p>
        </p:txBody>
      </p:sp>
      <p:sp>
        <p:nvSpPr>
          <p:cNvPr id="19" name="Shape 17"/>
          <p:cNvSpPr/>
          <p:nvPr/>
        </p:nvSpPr>
        <p:spPr>
          <a:xfrm>
            <a:off x="9034272" y="2249424"/>
            <a:ext cx="2487168" cy="1042416"/>
          </a:xfrm>
          <a:prstGeom prst="roundRect">
            <a:avLst>
              <a:gd name="adj" fmla="val 5263"/>
            </a:avLst>
          </a:prstGeom>
          <a:solidFill>
            <a:srgbClr val="16191D"/>
          </a:solidFill>
          <a:ln w="9525">
            <a:solidFill>
              <a:srgbClr val="16191D"/>
            </a:solidFill>
            <a:prstDash val="solid"/>
          </a:ln>
        </p:spPr>
      </p:sp>
      <p:sp>
        <p:nvSpPr>
          <p:cNvPr id="20" name="Text 18"/>
          <p:cNvSpPr/>
          <p:nvPr/>
        </p:nvSpPr>
        <p:spPr>
          <a:xfrm>
            <a:off x="9180576" y="2359152"/>
            <a:ext cx="2194560"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E[y] = Σ pₖ · k</a:t>
            </a:r>
            <a:endParaRPr lang="en-US" sz="1450" dirty="0"/>
          </a:p>
        </p:txBody>
      </p:sp>
      <p:sp>
        <p:nvSpPr>
          <p:cNvPr id="21" name="Text 19"/>
          <p:cNvSpPr/>
          <p:nvPr/>
        </p:nvSpPr>
        <p:spPr>
          <a:xfrm>
            <a:off x="9180576" y="2688336"/>
            <a:ext cx="2194560" cy="512064"/>
          </a:xfrm>
          <a:prstGeom prst="rect">
            <a:avLst/>
          </a:prstGeom>
          <a:noFill/>
          <a:ln/>
        </p:spPr>
        <p:txBody>
          <a:bodyPr wrap="square" lIns="0" tIns="0" rIns="0" bIns="0" rtlCol="0" anchor="t"/>
          <a:lstStyle/>
          <a:p>
            <a:pPr algn="ctr" indent="0" marL="0">
              <a:lnSpc>
                <a:spcPts val="1300"/>
              </a:lnSpc>
              <a:buNone/>
            </a:pPr>
            <a:r>
              <a:rPr lang="en-US" sz="1000" dirty="0">
                <a:solidFill>
                  <a:srgbClr val="9AA0A7"/>
                </a:solidFill>
                <a:latin typeface="Calibri" pitchFamily="34" charset="0"/>
                <a:ea typeface="Calibri" pitchFamily="34" charset="-122"/>
                <a:cs typeface="Calibri" pitchFamily="34" charset="-120"/>
              </a:rPr>
              <a:t>satu bilangan riil</a:t>
            </a:r>
            <a:endParaRPr lang="en-US" sz="1000" dirty="0"/>
          </a:p>
          <a:p>
            <a:pPr algn="ctr" indent="0" marL="0">
              <a:lnSpc>
                <a:spcPts val="1300"/>
              </a:lnSpc>
              <a:buNone/>
            </a:pPr>
            <a:r>
              <a:rPr lang="en-US" sz="1000" dirty="0">
                <a:solidFill>
                  <a:srgbClr val="9AA0A7"/>
                </a:solidFill>
                <a:latin typeface="Calibri" pitchFamily="34" charset="0"/>
                <a:ea typeface="Calibri" pitchFamily="34" charset="-122"/>
                <a:cs typeface="Calibri" pitchFamily="34" charset="-120"/>
              </a:rPr>
              <a:t>pada rentang 1 – 4</a:t>
            </a:r>
            <a:endParaRPr lang="en-US" sz="1000" dirty="0"/>
          </a:p>
        </p:txBody>
      </p:sp>
      <p:sp>
        <p:nvSpPr>
          <p:cNvPr id="22" name="Text 20"/>
          <p:cNvSpPr/>
          <p:nvPr/>
        </p:nvSpPr>
        <p:spPr>
          <a:xfrm>
            <a:off x="640080" y="3712464"/>
            <a:ext cx="2377440" cy="274320"/>
          </a:xfrm>
          <a:prstGeom prst="rect">
            <a:avLst/>
          </a:prstGeom>
          <a:noFill/>
          <a:ln/>
        </p:spPr>
        <p:txBody>
          <a:bodyPr wrap="square" lIns="0" tIns="0" rIns="0" bIns="0" rtlCol="0" anchor="ctr"/>
          <a:lstStyle/>
          <a:p>
            <a:pPr indent="0" marL="0">
              <a:buNone/>
            </a:pPr>
            <a:r>
              <a:rPr lang="en-US" sz="1000" b="1" spc="110" kern="0" dirty="0">
                <a:solidFill>
                  <a:srgbClr val="6E747C"/>
                </a:solidFill>
                <a:latin typeface="Calibri" pitchFamily="34" charset="0"/>
                <a:ea typeface="Calibri" pitchFamily="34" charset="-122"/>
                <a:cs typeface="Calibri" pitchFamily="34" charset="-120"/>
              </a:rPr>
              <a:t>ATURAN KEPUTUSAN</a:t>
            </a:r>
            <a:endParaRPr lang="en-US" sz="1000" dirty="0"/>
          </a:p>
        </p:txBody>
      </p:sp>
      <p:sp>
        <p:nvSpPr>
          <p:cNvPr id="23" name="Shape 21"/>
          <p:cNvSpPr/>
          <p:nvPr/>
        </p:nvSpPr>
        <p:spPr>
          <a:xfrm>
            <a:off x="1051560" y="4242816"/>
            <a:ext cx="2759995" cy="512064"/>
          </a:xfrm>
          <a:prstGeom prst="rect">
            <a:avLst/>
          </a:prstGeom>
          <a:solidFill>
            <a:srgbClr val="2F6B5F"/>
          </a:solidFill>
          <a:ln w="15240">
            <a:solidFill>
              <a:srgbClr val="FFFFFF"/>
            </a:solidFill>
            <a:prstDash val="solid"/>
          </a:ln>
        </p:spPr>
      </p:sp>
      <p:sp>
        <p:nvSpPr>
          <p:cNvPr id="24" name="Text 22"/>
          <p:cNvSpPr/>
          <p:nvPr/>
        </p:nvSpPr>
        <p:spPr>
          <a:xfrm>
            <a:off x="1051560" y="4242816"/>
            <a:ext cx="2759995"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kelas 1</a:t>
            </a:r>
            <a:endParaRPr lang="en-US" sz="1100" dirty="0"/>
          </a:p>
        </p:txBody>
      </p:sp>
      <p:sp>
        <p:nvSpPr>
          <p:cNvPr id="25" name="Shape 23"/>
          <p:cNvSpPr/>
          <p:nvPr/>
        </p:nvSpPr>
        <p:spPr>
          <a:xfrm>
            <a:off x="3811555" y="4242816"/>
            <a:ext cx="2271877" cy="512064"/>
          </a:xfrm>
          <a:prstGeom prst="rect">
            <a:avLst/>
          </a:prstGeom>
          <a:solidFill>
            <a:srgbClr val="8FB0A4"/>
          </a:solidFill>
          <a:ln w="15240">
            <a:solidFill>
              <a:srgbClr val="FFFFFF"/>
            </a:solidFill>
            <a:prstDash val="solid"/>
          </a:ln>
        </p:spPr>
      </p:sp>
      <p:sp>
        <p:nvSpPr>
          <p:cNvPr id="26" name="Text 24"/>
          <p:cNvSpPr/>
          <p:nvPr/>
        </p:nvSpPr>
        <p:spPr>
          <a:xfrm>
            <a:off x="3811555" y="4242816"/>
            <a:ext cx="2271877" cy="512064"/>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kelas 2</a:t>
            </a:r>
            <a:endParaRPr lang="en-US" sz="1100" dirty="0"/>
          </a:p>
        </p:txBody>
      </p:sp>
      <p:sp>
        <p:nvSpPr>
          <p:cNvPr id="27" name="Shape 25"/>
          <p:cNvSpPr/>
          <p:nvPr/>
        </p:nvSpPr>
        <p:spPr>
          <a:xfrm>
            <a:off x="6083432" y="4242816"/>
            <a:ext cx="1947967" cy="512064"/>
          </a:xfrm>
          <a:prstGeom prst="rect">
            <a:avLst/>
          </a:prstGeom>
          <a:solidFill>
            <a:srgbClr val="D8A25E"/>
          </a:solidFill>
          <a:ln w="15240">
            <a:solidFill>
              <a:srgbClr val="FFFFFF"/>
            </a:solidFill>
            <a:prstDash val="solid"/>
          </a:ln>
        </p:spPr>
      </p:sp>
      <p:sp>
        <p:nvSpPr>
          <p:cNvPr id="28" name="Text 26"/>
          <p:cNvSpPr/>
          <p:nvPr/>
        </p:nvSpPr>
        <p:spPr>
          <a:xfrm>
            <a:off x="6083432" y="4242816"/>
            <a:ext cx="1947967"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kelas 3</a:t>
            </a:r>
            <a:endParaRPr lang="en-US" sz="1100" dirty="0"/>
          </a:p>
        </p:txBody>
      </p:sp>
      <p:sp>
        <p:nvSpPr>
          <p:cNvPr id="29" name="Shape 27"/>
          <p:cNvSpPr/>
          <p:nvPr/>
        </p:nvSpPr>
        <p:spPr>
          <a:xfrm>
            <a:off x="8031399" y="4242816"/>
            <a:ext cx="3032841" cy="512064"/>
          </a:xfrm>
          <a:prstGeom prst="rect">
            <a:avLst/>
          </a:prstGeom>
          <a:solidFill>
            <a:srgbClr val="A8442A"/>
          </a:solidFill>
          <a:ln w="15240">
            <a:solidFill>
              <a:srgbClr val="FFFFFF"/>
            </a:solidFill>
            <a:prstDash val="solid"/>
          </a:ln>
        </p:spPr>
      </p:sp>
      <p:sp>
        <p:nvSpPr>
          <p:cNvPr id="30" name="Text 28"/>
          <p:cNvSpPr/>
          <p:nvPr/>
        </p:nvSpPr>
        <p:spPr>
          <a:xfrm>
            <a:off x="8031399" y="4242816"/>
            <a:ext cx="3032841" cy="51206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kelas 4</a:t>
            </a:r>
            <a:endParaRPr lang="en-US" sz="1100" dirty="0"/>
          </a:p>
        </p:txBody>
      </p:sp>
      <p:sp>
        <p:nvSpPr>
          <p:cNvPr id="31" name="Shape 29"/>
          <p:cNvSpPr/>
          <p:nvPr/>
        </p:nvSpPr>
        <p:spPr>
          <a:xfrm>
            <a:off x="3811555" y="3968496"/>
            <a:ext cx="0" cy="274320"/>
          </a:xfrm>
          <a:prstGeom prst="line">
            <a:avLst/>
          </a:prstGeom>
          <a:noFill/>
          <a:ln w="15240">
            <a:solidFill>
              <a:srgbClr val="16191D"/>
            </a:solidFill>
            <a:prstDash val="solid"/>
          </a:ln>
        </p:spPr>
      </p:sp>
      <p:sp>
        <p:nvSpPr>
          <p:cNvPr id="32" name="Text 30"/>
          <p:cNvSpPr/>
          <p:nvPr/>
        </p:nvSpPr>
        <p:spPr>
          <a:xfrm>
            <a:off x="3080035" y="3657600"/>
            <a:ext cx="1463040" cy="274320"/>
          </a:xfrm>
          <a:prstGeom prst="rect">
            <a:avLst/>
          </a:prstGeom>
          <a:noFill/>
          <a:ln/>
        </p:spPr>
        <p:txBody>
          <a:bodyPr wrap="square" lIns="0" tIns="0" rIns="0" bIns="0" rtlCol="0" anchor="ctr"/>
          <a:lstStyle/>
          <a:p>
            <a:pPr algn="ctr" indent="0" marL="0">
              <a:buNone/>
            </a:pPr>
            <a:r>
              <a:rPr lang="en-US" sz="1050" b="1" dirty="0">
                <a:solidFill>
                  <a:srgbClr val="16191D"/>
                </a:solidFill>
                <a:latin typeface="Calibri" pitchFamily="34" charset="0"/>
                <a:ea typeface="Calibri" pitchFamily="34" charset="-122"/>
                <a:cs typeface="Calibri" pitchFamily="34" charset="-120"/>
              </a:rPr>
              <a:t>t1 = 1,5513</a:t>
            </a:r>
            <a:endParaRPr lang="en-US" sz="1050" dirty="0"/>
          </a:p>
        </p:txBody>
      </p:sp>
      <p:sp>
        <p:nvSpPr>
          <p:cNvPr id="33" name="Shape 31"/>
          <p:cNvSpPr/>
          <p:nvPr/>
        </p:nvSpPr>
        <p:spPr>
          <a:xfrm>
            <a:off x="6083432" y="3968496"/>
            <a:ext cx="0" cy="274320"/>
          </a:xfrm>
          <a:prstGeom prst="line">
            <a:avLst/>
          </a:prstGeom>
          <a:noFill/>
          <a:ln w="15240">
            <a:solidFill>
              <a:srgbClr val="16191D"/>
            </a:solidFill>
            <a:prstDash val="solid"/>
          </a:ln>
        </p:spPr>
      </p:sp>
      <p:sp>
        <p:nvSpPr>
          <p:cNvPr id="34" name="Text 32"/>
          <p:cNvSpPr/>
          <p:nvPr/>
        </p:nvSpPr>
        <p:spPr>
          <a:xfrm>
            <a:off x="5351912" y="3657600"/>
            <a:ext cx="1463040" cy="274320"/>
          </a:xfrm>
          <a:prstGeom prst="rect">
            <a:avLst/>
          </a:prstGeom>
          <a:noFill/>
          <a:ln/>
        </p:spPr>
        <p:txBody>
          <a:bodyPr wrap="square" lIns="0" tIns="0" rIns="0" bIns="0" rtlCol="0" anchor="ctr"/>
          <a:lstStyle/>
          <a:p>
            <a:pPr algn="ctr" indent="0" marL="0">
              <a:buNone/>
            </a:pPr>
            <a:r>
              <a:rPr lang="en-US" sz="1050" b="1" dirty="0">
                <a:solidFill>
                  <a:srgbClr val="16191D"/>
                </a:solidFill>
                <a:latin typeface="Calibri" pitchFamily="34" charset="0"/>
                <a:ea typeface="Calibri" pitchFamily="34" charset="-122"/>
                <a:cs typeface="Calibri" pitchFamily="34" charset="-120"/>
              </a:rPr>
              <a:t>t2 = 2,0051</a:t>
            </a:r>
            <a:endParaRPr lang="en-US" sz="1050" dirty="0"/>
          </a:p>
        </p:txBody>
      </p:sp>
      <p:sp>
        <p:nvSpPr>
          <p:cNvPr id="35" name="Shape 33"/>
          <p:cNvSpPr/>
          <p:nvPr/>
        </p:nvSpPr>
        <p:spPr>
          <a:xfrm>
            <a:off x="8031399" y="3968496"/>
            <a:ext cx="0" cy="274320"/>
          </a:xfrm>
          <a:prstGeom prst="line">
            <a:avLst/>
          </a:prstGeom>
          <a:noFill/>
          <a:ln w="15240">
            <a:solidFill>
              <a:srgbClr val="16191D"/>
            </a:solidFill>
            <a:prstDash val="solid"/>
          </a:ln>
        </p:spPr>
      </p:sp>
      <p:sp>
        <p:nvSpPr>
          <p:cNvPr id="36" name="Text 34"/>
          <p:cNvSpPr/>
          <p:nvPr/>
        </p:nvSpPr>
        <p:spPr>
          <a:xfrm>
            <a:off x="7299879" y="3657600"/>
            <a:ext cx="1463040" cy="274320"/>
          </a:xfrm>
          <a:prstGeom prst="rect">
            <a:avLst/>
          </a:prstGeom>
          <a:noFill/>
          <a:ln/>
        </p:spPr>
        <p:txBody>
          <a:bodyPr wrap="square" lIns="0" tIns="0" rIns="0" bIns="0" rtlCol="0" anchor="ctr"/>
          <a:lstStyle/>
          <a:p>
            <a:pPr algn="ctr" indent="0" marL="0">
              <a:buNone/>
            </a:pPr>
            <a:r>
              <a:rPr lang="en-US" sz="1050" b="1" dirty="0">
                <a:solidFill>
                  <a:srgbClr val="16191D"/>
                </a:solidFill>
                <a:latin typeface="Calibri" pitchFamily="34" charset="0"/>
                <a:ea typeface="Calibri" pitchFamily="34" charset="-122"/>
                <a:cs typeface="Calibri" pitchFamily="34" charset="-120"/>
              </a:rPr>
              <a:t>t3 = 2,3942</a:t>
            </a:r>
            <a:endParaRPr lang="en-US" sz="1050" dirty="0"/>
          </a:p>
        </p:txBody>
      </p:sp>
      <p:sp>
        <p:nvSpPr>
          <p:cNvPr id="37" name="Shape 35"/>
          <p:cNvSpPr/>
          <p:nvPr/>
        </p:nvSpPr>
        <p:spPr>
          <a:xfrm>
            <a:off x="1051560" y="4754880"/>
            <a:ext cx="0" cy="91440"/>
          </a:xfrm>
          <a:prstGeom prst="line">
            <a:avLst/>
          </a:prstGeom>
          <a:noFill/>
          <a:ln w="12700">
            <a:solidFill>
              <a:srgbClr val="9AA0A7"/>
            </a:solidFill>
            <a:prstDash val="solid"/>
          </a:ln>
        </p:spPr>
      </p:sp>
      <p:sp>
        <p:nvSpPr>
          <p:cNvPr id="38" name="Text 36"/>
          <p:cNvSpPr/>
          <p:nvPr/>
        </p:nvSpPr>
        <p:spPr>
          <a:xfrm>
            <a:off x="685800" y="4846320"/>
            <a:ext cx="73152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1,0</a:t>
            </a:r>
            <a:endParaRPr lang="en-US" sz="950" dirty="0"/>
          </a:p>
        </p:txBody>
      </p:sp>
      <p:sp>
        <p:nvSpPr>
          <p:cNvPr id="39" name="Shape 37"/>
          <p:cNvSpPr/>
          <p:nvPr/>
        </p:nvSpPr>
        <p:spPr>
          <a:xfrm>
            <a:off x="3554730" y="4754880"/>
            <a:ext cx="0" cy="91440"/>
          </a:xfrm>
          <a:prstGeom prst="line">
            <a:avLst/>
          </a:prstGeom>
          <a:noFill/>
          <a:ln w="12700">
            <a:solidFill>
              <a:srgbClr val="9AA0A7"/>
            </a:solidFill>
            <a:prstDash val="solid"/>
          </a:ln>
        </p:spPr>
      </p:sp>
      <p:sp>
        <p:nvSpPr>
          <p:cNvPr id="40" name="Text 38"/>
          <p:cNvSpPr/>
          <p:nvPr/>
        </p:nvSpPr>
        <p:spPr>
          <a:xfrm>
            <a:off x="3188970" y="4846320"/>
            <a:ext cx="73152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1,5</a:t>
            </a:r>
            <a:endParaRPr lang="en-US" sz="950" dirty="0"/>
          </a:p>
        </p:txBody>
      </p:sp>
      <p:sp>
        <p:nvSpPr>
          <p:cNvPr id="41" name="Shape 39"/>
          <p:cNvSpPr/>
          <p:nvPr/>
        </p:nvSpPr>
        <p:spPr>
          <a:xfrm>
            <a:off x="6057900" y="4754880"/>
            <a:ext cx="0" cy="91440"/>
          </a:xfrm>
          <a:prstGeom prst="line">
            <a:avLst/>
          </a:prstGeom>
          <a:noFill/>
          <a:ln w="12700">
            <a:solidFill>
              <a:srgbClr val="9AA0A7"/>
            </a:solidFill>
            <a:prstDash val="solid"/>
          </a:ln>
        </p:spPr>
      </p:sp>
      <p:sp>
        <p:nvSpPr>
          <p:cNvPr id="42" name="Text 40"/>
          <p:cNvSpPr/>
          <p:nvPr/>
        </p:nvSpPr>
        <p:spPr>
          <a:xfrm>
            <a:off x="5692140" y="4846320"/>
            <a:ext cx="73152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2,0</a:t>
            </a:r>
            <a:endParaRPr lang="en-US" sz="950" dirty="0"/>
          </a:p>
        </p:txBody>
      </p:sp>
      <p:sp>
        <p:nvSpPr>
          <p:cNvPr id="43" name="Shape 41"/>
          <p:cNvSpPr/>
          <p:nvPr/>
        </p:nvSpPr>
        <p:spPr>
          <a:xfrm>
            <a:off x="8561070" y="4754880"/>
            <a:ext cx="0" cy="91440"/>
          </a:xfrm>
          <a:prstGeom prst="line">
            <a:avLst/>
          </a:prstGeom>
          <a:noFill/>
          <a:ln w="12700">
            <a:solidFill>
              <a:srgbClr val="9AA0A7"/>
            </a:solidFill>
            <a:prstDash val="solid"/>
          </a:ln>
        </p:spPr>
      </p:sp>
      <p:sp>
        <p:nvSpPr>
          <p:cNvPr id="44" name="Text 42"/>
          <p:cNvSpPr/>
          <p:nvPr/>
        </p:nvSpPr>
        <p:spPr>
          <a:xfrm>
            <a:off x="8195310" y="4846320"/>
            <a:ext cx="73152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2,5</a:t>
            </a:r>
            <a:endParaRPr lang="en-US" sz="950" dirty="0"/>
          </a:p>
        </p:txBody>
      </p:sp>
      <p:sp>
        <p:nvSpPr>
          <p:cNvPr id="45" name="Shape 43"/>
          <p:cNvSpPr/>
          <p:nvPr/>
        </p:nvSpPr>
        <p:spPr>
          <a:xfrm>
            <a:off x="11064240" y="4754880"/>
            <a:ext cx="0" cy="91440"/>
          </a:xfrm>
          <a:prstGeom prst="line">
            <a:avLst/>
          </a:prstGeom>
          <a:noFill/>
          <a:ln w="12700">
            <a:solidFill>
              <a:srgbClr val="9AA0A7"/>
            </a:solidFill>
            <a:prstDash val="solid"/>
          </a:ln>
        </p:spPr>
      </p:sp>
      <p:sp>
        <p:nvSpPr>
          <p:cNvPr id="46" name="Text 44"/>
          <p:cNvSpPr/>
          <p:nvPr/>
        </p:nvSpPr>
        <p:spPr>
          <a:xfrm>
            <a:off x="10698480" y="4846320"/>
            <a:ext cx="73152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3,0</a:t>
            </a:r>
            <a:endParaRPr lang="en-US" sz="950" dirty="0"/>
          </a:p>
        </p:txBody>
      </p:sp>
      <p:sp>
        <p:nvSpPr>
          <p:cNvPr id="47" name="Text 45"/>
          <p:cNvSpPr/>
          <p:nvPr/>
        </p:nvSpPr>
        <p:spPr>
          <a:xfrm>
            <a:off x="1051560" y="5084064"/>
            <a:ext cx="10012680" cy="237744"/>
          </a:xfrm>
          <a:prstGeom prst="rect">
            <a:avLst/>
          </a:prstGeom>
          <a:noFill/>
          <a:ln/>
        </p:spPr>
        <p:txBody>
          <a:bodyPr wrap="square" lIns="0" tIns="0" rIns="0" bIns="0" rtlCol="0" anchor="ctr"/>
          <a:lstStyle/>
          <a:p>
            <a:pPr algn="ctr" indent="0" marL="0">
              <a:buNone/>
            </a:pPr>
            <a:r>
              <a:rPr lang="en-US" sz="1000" i="1" dirty="0">
                <a:solidFill>
                  <a:srgbClr val="6E747C"/>
                </a:solidFill>
                <a:latin typeface="Calibri" pitchFamily="34" charset="0"/>
                <a:ea typeface="Calibri" pitchFamily="34" charset="-122"/>
                <a:cs typeface="Calibri" pitchFamily="34" charset="-120"/>
              </a:rPr>
              <a:t>E[y]  —  nilai harapan pada skala kepuasan.  Ketiga ambang diestimasi sepenuhnya dari out-of-fold data latih.</a:t>
            </a:r>
            <a:endParaRPr lang="en-US" sz="1000" dirty="0"/>
          </a:p>
        </p:txBody>
      </p:sp>
      <p:sp>
        <p:nvSpPr>
          <p:cNvPr id="48" name="Shape 46"/>
          <p:cNvSpPr/>
          <p:nvPr/>
        </p:nvSpPr>
        <p:spPr>
          <a:xfrm>
            <a:off x="640080" y="5486400"/>
            <a:ext cx="10911535" cy="749808"/>
          </a:xfrm>
          <a:prstGeom prst="roundRect">
            <a:avLst>
              <a:gd name="adj" fmla="val 7317"/>
            </a:avLst>
          </a:prstGeom>
          <a:solidFill>
            <a:srgbClr val="F4F1EC"/>
          </a:solidFill>
          <a:ln w="9525">
            <a:solidFill>
              <a:srgbClr val="DCD8D1"/>
            </a:solidFill>
            <a:prstDash val="solid"/>
          </a:ln>
        </p:spPr>
      </p:sp>
      <p:sp>
        <p:nvSpPr>
          <p:cNvPr id="49" name="Text 47"/>
          <p:cNvSpPr/>
          <p:nvPr/>
        </p:nvSpPr>
        <p:spPr>
          <a:xfrm>
            <a:off x="868680" y="5486400"/>
            <a:ext cx="10454335" cy="749808"/>
          </a:xfrm>
          <a:prstGeom prst="rect">
            <a:avLst/>
          </a:prstGeom>
          <a:noFill/>
          <a:ln/>
        </p:spPr>
        <p:txBody>
          <a:bodyPr wrap="square" lIns="0" tIns="0" rIns="0" bIns="0" rtlCol="0" anchor="ctr"/>
          <a:lstStyle/>
          <a:p>
            <a:pPr indent="0" marL="0">
              <a:lnSpc>
                <a:spcPts val="1600"/>
              </a:lnSpc>
              <a:buNone/>
            </a:pPr>
            <a:r>
              <a:rPr lang="en-US" sz="1150" b="1" dirty="0">
                <a:solidFill>
                  <a:srgbClr val="16191D"/>
                </a:solidFill>
                <a:latin typeface="Calibri" pitchFamily="34" charset="0"/>
                <a:ea typeface="Calibri" pitchFamily="34" charset="-122"/>
                <a:cs typeface="Calibri" pitchFamily="34" charset="-120"/>
              </a:rPr>
              <a:t>Konsekuensi yang terukur:  </a:t>
            </a:r>
            <a:pPr indent="0" marL="0">
              <a:lnSpc>
                <a:spcPts val="1600"/>
              </a:lnSpc>
              <a:buNone/>
            </a:pPr>
            <a:r>
              <a:rPr lang="en-US" sz="1150" dirty="0">
                <a:solidFill>
                  <a:srgbClr val="3A4048"/>
                </a:solidFill>
                <a:latin typeface="Calibri" pitchFamily="34" charset="0"/>
                <a:ea typeface="Calibri" pitchFamily="34" charset="-122"/>
                <a:cs typeface="Calibri" pitchFamily="34" charset="-120"/>
              </a:rPr>
              <a:t>argmax hanya pernah menebak kelas 3 atau 4 pada 0,70% baris, padahal proporsi sebenarnya 4,71%. Aturan ambang batas menaikkannya ke 8,48% — sengaja melampaui proporsi aktual, karena di bawah penalti kuadratik biaya diam lebih mahal daripada biaya salah satu tingkat.</a:t>
            </a:r>
            <a:endParaRPr lang="en-US" sz="1150" dirty="0"/>
          </a:p>
        </p:txBody>
      </p:sp>
      <p:sp>
        <p:nvSpPr>
          <p:cNvPr id="51" name="Text 48"/>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52" name="Text 49"/>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BUKTI 01 · DEKOMPOSISI</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89,9% perbaikan datang dari aturan keputusan</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Bukan dari model. Enam baseline dijalankan penuh — bukan diestimasi — sehingga sumbangan tiap komponen bisa dipisahkan satu per satu.</a:t>
            </a:r>
            <a:endParaRPr lang="en-US" sz="1350" dirty="0"/>
          </a:p>
        </p:txBody>
      </p:sp>
      <p:sp>
        <p:nvSpPr>
          <p:cNvPr id="7" name="Text 5"/>
          <p:cNvSpPr/>
          <p:nvPr/>
        </p:nvSpPr>
        <p:spPr>
          <a:xfrm>
            <a:off x="640080" y="2231136"/>
            <a:ext cx="3931920" cy="365760"/>
          </a:xfrm>
          <a:prstGeom prst="rect">
            <a:avLst/>
          </a:prstGeom>
          <a:noFill/>
          <a:ln/>
        </p:spPr>
        <p:txBody>
          <a:bodyPr wrap="square" lIns="0" tIns="0" rIns="0" bIns="0" rtlCol="0" anchor="ctr"/>
          <a:lstStyle/>
          <a:p>
            <a:pPr algn="r" indent="0" marL="0">
              <a:buNone/>
            </a:pPr>
            <a:r>
              <a:rPr lang="en-US" sz="1150" dirty="0">
                <a:solidFill>
                  <a:srgbClr val="3A4048"/>
                </a:solidFill>
                <a:latin typeface="Calibri" pitchFamily="34" charset="0"/>
                <a:ea typeface="Calibri" pitchFamily="34" charset="-122"/>
                <a:cs typeface="Calibri" pitchFamily="34" charset="-120"/>
              </a:rPr>
              <a:t>1.  Kelas mayoritas (semua = 2)</a:t>
            </a:r>
            <a:endParaRPr lang="en-US" sz="1150" dirty="0"/>
          </a:p>
        </p:txBody>
      </p:sp>
      <p:sp>
        <p:nvSpPr>
          <p:cNvPr id="8" name="Shape 6"/>
          <p:cNvSpPr/>
          <p:nvPr/>
        </p:nvSpPr>
        <p:spPr>
          <a:xfrm>
            <a:off x="4681728" y="2295144"/>
            <a:ext cx="5937199" cy="237744"/>
          </a:xfrm>
          <a:prstGeom prst="rect">
            <a:avLst/>
          </a:prstGeom>
          <a:solidFill>
            <a:srgbClr val="F4F1EC"/>
          </a:solidFill>
          <a:ln/>
        </p:spPr>
      </p:sp>
      <p:sp>
        <p:nvSpPr>
          <p:cNvPr id="9" name="Shape 7"/>
          <p:cNvSpPr/>
          <p:nvPr/>
        </p:nvSpPr>
        <p:spPr>
          <a:xfrm>
            <a:off x="4681728" y="2295144"/>
            <a:ext cx="18288" cy="237744"/>
          </a:xfrm>
          <a:prstGeom prst="rect">
            <a:avLst/>
          </a:prstGeom>
          <a:solidFill>
            <a:srgbClr val="C9C4BB"/>
          </a:solidFill>
          <a:ln/>
        </p:spPr>
      </p:sp>
      <p:sp>
        <p:nvSpPr>
          <p:cNvPr id="10" name="Text 8"/>
          <p:cNvSpPr/>
          <p:nvPr/>
        </p:nvSpPr>
        <p:spPr>
          <a:xfrm>
            <a:off x="10710367" y="2231136"/>
            <a:ext cx="822960" cy="365760"/>
          </a:xfrm>
          <a:prstGeom prst="rect">
            <a:avLst/>
          </a:prstGeom>
          <a:noFill/>
          <a:ln/>
        </p:spPr>
        <p:txBody>
          <a:bodyPr wrap="square" lIns="0" tIns="0" rIns="0" bIns="0" rtlCol="0" anchor="ctr"/>
          <a:lstStyle/>
          <a:p>
            <a:pPr algn="l" indent="0" marL="0">
              <a:buNone/>
            </a:pPr>
            <a:r>
              <a:rPr lang="en-US" sz="1150" dirty="0">
                <a:solidFill>
                  <a:srgbClr val="3A4048"/>
                </a:solidFill>
                <a:latin typeface="Calibri" pitchFamily="34" charset="0"/>
                <a:ea typeface="Calibri" pitchFamily="34" charset="-122"/>
                <a:cs typeface="Calibri" pitchFamily="34" charset="-120"/>
              </a:rPr>
              <a:t>0,00000</a:t>
            </a:r>
            <a:endParaRPr lang="en-US" sz="1150" dirty="0"/>
          </a:p>
        </p:txBody>
      </p:sp>
      <p:sp>
        <p:nvSpPr>
          <p:cNvPr id="11" name="Text 9"/>
          <p:cNvSpPr/>
          <p:nvPr/>
        </p:nvSpPr>
        <p:spPr>
          <a:xfrm>
            <a:off x="640080" y="2688336"/>
            <a:ext cx="3931920" cy="365760"/>
          </a:xfrm>
          <a:prstGeom prst="rect">
            <a:avLst/>
          </a:prstGeom>
          <a:noFill/>
          <a:ln/>
        </p:spPr>
        <p:txBody>
          <a:bodyPr wrap="square" lIns="0" tIns="0" rIns="0" bIns="0" rtlCol="0" anchor="ctr"/>
          <a:lstStyle/>
          <a:p>
            <a:pPr algn="r" indent="0" marL="0">
              <a:buNone/>
            </a:pPr>
            <a:r>
              <a:rPr lang="en-US" sz="1150" dirty="0">
                <a:solidFill>
                  <a:srgbClr val="3A4048"/>
                </a:solidFill>
                <a:latin typeface="Calibri" pitchFamily="34" charset="0"/>
                <a:ea typeface="Calibri" pitchFamily="34" charset="-122"/>
                <a:cs typeface="Calibri" pitchFamily="34" charset="-120"/>
              </a:rPr>
              <a:t>2.  Acak mengikuti proporsi kelas</a:t>
            </a:r>
            <a:endParaRPr lang="en-US" sz="1150" dirty="0"/>
          </a:p>
        </p:txBody>
      </p:sp>
      <p:sp>
        <p:nvSpPr>
          <p:cNvPr id="12" name="Shape 10"/>
          <p:cNvSpPr/>
          <p:nvPr/>
        </p:nvSpPr>
        <p:spPr>
          <a:xfrm>
            <a:off x="4681728" y="2752344"/>
            <a:ext cx="5937199" cy="237744"/>
          </a:xfrm>
          <a:prstGeom prst="rect">
            <a:avLst/>
          </a:prstGeom>
          <a:solidFill>
            <a:srgbClr val="F4F1EC"/>
          </a:solidFill>
          <a:ln/>
        </p:spPr>
      </p:sp>
      <p:sp>
        <p:nvSpPr>
          <p:cNvPr id="13" name="Shape 11"/>
          <p:cNvSpPr/>
          <p:nvPr/>
        </p:nvSpPr>
        <p:spPr>
          <a:xfrm>
            <a:off x="4681728" y="2752344"/>
            <a:ext cx="44410" cy="237744"/>
          </a:xfrm>
          <a:prstGeom prst="rect">
            <a:avLst/>
          </a:prstGeom>
          <a:solidFill>
            <a:srgbClr val="C9C4BB"/>
          </a:solidFill>
          <a:ln/>
        </p:spPr>
      </p:sp>
      <p:sp>
        <p:nvSpPr>
          <p:cNvPr id="14" name="Text 12"/>
          <p:cNvSpPr/>
          <p:nvPr/>
        </p:nvSpPr>
        <p:spPr>
          <a:xfrm>
            <a:off x="10710367" y="2688336"/>
            <a:ext cx="822960" cy="365760"/>
          </a:xfrm>
          <a:prstGeom prst="rect">
            <a:avLst/>
          </a:prstGeom>
          <a:noFill/>
          <a:ln/>
        </p:spPr>
        <p:txBody>
          <a:bodyPr wrap="square" lIns="0" tIns="0" rIns="0" bIns="0" rtlCol="0" anchor="ctr"/>
          <a:lstStyle/>
          <a:p>
            <a:pPr algn="l" indent="0" marL="0">
              <a:buNone/>
            </a:pPr>
            <a:r>
              <a:rPr lang="en-US" sz="1150" dirty="0">
                <a:solidFill>
                  <a:srgbClr val="3A4048"/>
                </a:solidFill>
                <a:latin typeface="Calibri" pitchFamily="34" charset="0"/>
                <a:ea typeface="Calibri" pitchFamily="34" charset="-122"/>
                <a:cs typeface="Calibri" pitchFamily="34" charset="-120"/>
              </a:rPr>
              <a:t>0,00374</a:t>
            </a:r>
            <a:endParaRPr lang="en-US" sz="1150" dirty="0"/>
          </a:p>
        </p:txBody>
      </p:sp>
      <p:sp>
        <p:nvSpPr>
          <p:cNvPr id="15" name="Text 13"/>
          <p:cNvSpPr/>
          <p:nvPr/>
        </p:nvSpPr>
        <p:spPr>
          <a:xfrm>
            <a:off x="640080" y="3145536"/>
            <a:ext cx="3931920" cy="365760"/>
          </a:xfrm>
          <a:prstGeom prst="rect">
            <a:avLst/>
          </a:prstGeom>
          <a:noFill/>
          <a:ln/>
        </p:spPr>
        <p:txBody>
          <a:bodyPr wrap="square" lIns="0" tIns="0" rIns="0" bIns="0" rtlCol="0" anchor="ctr"/>
          <a:lstStyle/>
          <a:p>
            <a:pPr algn="r" indent="0" marL="0">
              <a:buNone/>
            </a:pPr>
            <a:r>
              <a:rPr lang="en-US" sz="1150" dirty="0">
                <a:solidFill>
                  <a:srgbClr val="3A4048"/>
                </a:solidFill>
                <a:latin typeface="Calibri" pitchFamily="34" charset="0"/>
                <a:ea typeface="Calibri" pitchFamily="34" charset="-122"/>
                <a:cs typeface="Calibri" pitchFamily="34" charset="-120"/>
              </a:rPr>
              <a:t>3.  Regresi logistik + ambang batas</a:t>
            </a:r>
            <a:endParaRPr lang="en-US" sz="1150" dirty="0"/>
          </a:p>
        </p:txBody>
      </p:sp>
      <p:sp>
        <p:nvSpPr>
          <p:cNvPr id="16" name="Shape 14"/>
          <p:cNvSpPr/>
          <p:nvPr/>
        </p:nvSpPr>
        <p:spPr>
          <a:xfrm>
            <a:off x="4681728" y="3209544"/>
            <a:ext cx="5937199" cy="237744"/>
          </a:xfrm>
          <a:prstGeom prst="rect">
            <a:avLst/>
          </a:prstGeom>
          <a:solidFill>
            <a:srgbClr val="F4F1EC"/>
          </a:solidFill>
          <a:ln/>
        </p:spPr>
      </p:sp>
      <p:sp>
        <p:nvSpPr>
          <p:cNvPr id="17" name="Shape 15"/>
          <p:cNvSpPr/>
          <p:nvPr/>
        </p:nvSpPr>
        <p:spPr>
          <a:xfrm>
            <a:off x="4681728" y="3209544"/>
            <a:ext cx="5329230" cy="237744"/>
          </a:xfrm>
          <a:prstGeom prst="rect">
            <a:avLst/>
          </a:prstGeom>
          <a:solidFill>
            <a:srgbClr val="3A4048"/>
          </a:solidFill>
          <a:ln/>
        </p:spPr>
      </p:sp>
      <p:sp>
        <p:nvSpPr>
          <p:cNvPr id="18" name="Text 16"/>
          <p:cNvSpPr/>
          <p:nvPr/>
        </p:nvSpPr>
        <p:spPr>
          <a:xfrm>
            <a:off x="10710367" y="3145536"/>
            <a:ext cx="822960" cy="365760"/>
          </a:xfrm>
          <a:prstGeom prst="rect">
            <a:avLst/>
          </a:prstGeom>
          <a:noFill/>
          <a:ln/>
        </p:spPr>
        <p:txBody>
          <a:bodyPr wrap="square" lIns="0" tIns="0" rIns="0" bIns="0" rtlCol="0" anchor="ctr"/>
          <a:lstStyle/>
          <a:p>
            <a:pPr algn="l" indent="0" marL="0">
              <a:buNone/>
            </a:pPr>
            <a:r>
              <a:rPr lang="en-US" sz="1150" dirty="0">
                <a:solidFill>
                  <a:srgbClr val="3A4048"/>
                </a:solidFill>
                <a:latin typeface="Calibri" pitchFamily="34" charset="0"/>
                <a:ea typeface="Calibri" pitchFamily="34" charset="-122"/>
                <a:cs typeface="Calibri" pitchFamily="34" charset="-120"/>
              </a:rPr>
              <a:t>0,44880</a:t>
            </a:r>
            <a:endParaRPr lang="en-US" sz="1150" dirty="0"/>
          </a:p>
        </p:txBody>
      </p:sp>
      <p:sp>
        <p:nvSpPr>
          <p:cNvPr id="19" name="Text 17"/>
          <p:cNvSpPr/>
          <p:nvPr/>
        </p:nvSpPr>
        <p:spPr>
          <a:xfrm>
            <a:off x="640080" y="3602736"/>
            <a:ext cx="3931920" cy="365760"/>
          </a:xfrm>
          <a:prstGeom prst="rect">
            <a:avLst/>
          </a:prstGeom>
          <a:noFill/>
          <a:ln/>
        </p:spPr>
        <p:txBody>
          <a:bodyPr wrap="square" lIns="0" tIns="0" rIns="0" bIns="0" rtlCol="0" anchor="ctr"/>
          <a:lstStyle/>
          <a:p>
            <a:pPr algn="r" indent="0" marL="0">
              <a:buNone/>
            </a:pPr>
            <a:r>
              <a:rPr lang="en-US" sz="1150" dirty="0">
                <a:solidFill>
                  <a:srgbClr val="3A4048"/>
                </a:solidFill>
                <a:latin typeface="Calibri" pitchFamily="34" charset="0"/>
                <a:ea typeface="Calibri" pitchFamily="34" charset="-122"/>
                <a:cs typeface="Calibri" pitchFamily="34" charset="-120"/>
              </a:rPr>
              <a:t>4.  LightGBM tunggal + argmax</a:t>
            </a:r>
            <a:endParaRPr lang="en-US" sz="1150" dirty="0"/>
          </a:p>
        </p:txBody>
      </p:sp>
      <p:sp>
        <p:nvSpPr>
          <p:cNvPr id="20" name="Shape 18"/>
          <p:cNvSpPr/>
          <p:nvPr/>
        </p:nvSpPr>
        <p:spPr>
          <a:xfrm>
            <a:off x="4681728" y="3666744"/>
            <a:ext cx="5937199" cy="237744"/>
          </a:xfrm>
          <a:prstGeom prst="rect">
            <a:avLst/>
          </a:prstGeom>
          <a:solidFill>
            <a:srgbClr val="F4F1EC"/>
          </a:solidFill>
          <a:ln/>
        </p:spPr>
      </p:sp>
      <p:sp>
        <p:nvSpPr>
          <p:cNvPr id="21" name="Shape 19"/>
          <p:cNvSpPr/>
          <p:nvPr/>
        </p:nvSpPr>
        <p:spPr>
          <a:xfrm>
            <a:off x="4681728" y="3666744"/>
            <a:ext cx="4921701" cy="237744"/>
          </a:xfrm>
          <a:prstGeom prst="rect">
            <a:avLst/>
          </a:prstGeom>
          <a:solidFill>
            <a:srgbClr val="D8A25E"/>
          </a:solidFill>
          <a:ln/>
        </p:spPr>
      </p:sp>
      <p:sp>
        <p:nvSpPr>
          <p:cNvPr id="22" name="Text 20"/>
          <p:cNvSpPr/>
          <p:nvPr/>
        </p:nvSpPr>
        <p:spPr>
          <a:xfrm>
            <a:off x="10710367" y="3602736"/>
            <a:ext cx="822960" cy="365760"/>
          </a:xfrm>
          <a:prstGeom prst="rect">
            <a:avLst/>
          </a:prstGeom>
          <a:noFill/>
          <a:ln/>
        </p:spPr>
        <p:txBody>
          <a:bodyPr wrap="square" lIns="0" tIns="0" rIns="0" bIns="0" rtlCol="0" anchor="ctr"/>
          <a:lstStyle/>
          <a:p>
            <a:pPr algn="l" indent="0" marL="0">
              <a:buNone/>
            </a:pPr>
            <a:r>
              <a:rPr lang="en-US" sz="1150" dirty="0">
                <a:solidFill>
                  <a:srgbClr val="3A4048"/>
                </a:solidFill>
                <a:latin typeface="Calibri" pitchFamily="34" charset="0"/>
                <a:ea typeface="Calibri" pitchFamily="34" charset="-122"/>
                <a:cs typeface="Calibri" pitchFamily="34" charset="-120"/>
              </a:rPr>
              <a:t>0,41448</a:t>
            </a:r>
            <a:endParaRPr lang="en-US" sz="1150" dirty="0"/>
          </a:p>
        </p:txBody>
      </p:sp>
      <p:sp>
        <p:nvSpPr>
          <p:cNvPr id="23" name="Text 21"/>
          <p:cNvSpPr/>
          <p:nvPr/>
        </p:nvSpPr>
        <p:spPr>
          <a:xfrm>
            <a:off x="640080" y="4059936"/>
            <a:ext cx="3931920" cy="365760"/>
          </a:xfrm>
          <a:prstGeom prst="rect">
            <a:avLst/>
          </a:prstGeom>
          <a:noFill/>
          <a:ln/>
        </p:spPr>
        <p:txBody>
          <a:bodyPr wrap="square" lIns="0" tIns="0" rIns="0" bIns="0" rtlCol="0" anchor="ctr"/>
          <a:lstStyle/>
          <a:p>
            <a:pPr algn="r" indent="0" marL="0">
              <a:buNone/>
            </a:pPr>
            <a:r>
              <a:rPr lang="en-US" sz="1150" dirty="0">
                <a:solidFill>
                  <a:srgbClr val="3A4048"/>
                </a:solidFill>
                <a:latin typeface="Calibri" pitchFamily="34" charset="0"/>
                <a:ea typeface="Calibri" pitchFamily="34" charset="-122"/>
                <a:cs typeface="Calibri" pitchFamily="34" charset="-120"/>
              </a:rPr>
              <a:t>5.  LightGBM tunggal + ambang batas</a:t>
            </a:r>
            <a:endParaRPr lang="en-US" sz="1150" dirty="0"/>
          </a:p>
        </p:txBody>
      </p:sp>
      <p:sp>
        <p:nvSpPr>
          <p:cNvPr id="24" name="Shape 22"/>
          <p:cNvSpPr/>
          <p:nvPr/>
        </p:nvSpPr>
        <p:spPr>
          <a:xfrm>
            <a:off x="4681728" y="4123944"/>
            <a:ext cx="5937199" cy="237744"/>
          </a:xfrm>
          <a:prstGeom prst="rect">
            <a:avLst/>
          </a:prstGeom>
          <a:solidFill>
            <a:srgbClr val="F4F1EC"/>
          </a:solidFill>
          <a:ln/>
        </p:spPr>
      </p:sp>
      <p:sp>
        <p:nvSpPr>
          <p:cNvPr id="25" name="Shape 23"/>
          <p:cNvSpPr/>
          <p:nvPr/>
        </p:nvSpPr>
        <p:spPr>
          <a:xfrm>
            <a:off x="4681728" y="4123944"/>
            <a:ext cx="5666107" cy="237744"/>
          </a:xfrm>
          <a:prstGeom prst="rect">
            <a:avLst/>
          </a:prstGeom>
          <a:solidFill>
            <a:srgbClr val="2F6B5F"/>
          </a:solidFill>
          <a:ln/>
        </p:spPr>
      </p:sp>
      <p:sp>
        <p:nvSpPr>
          <p:cNvPr id="26" name="Text 24"/>
          <p:cNvSpPr/>
          <p:nvPr/>
        </p:nvSpPr>
        <p:spPr>
          <a:xfrm>
            <a:off x="10710367" y="4059936"/>
            <a:ext cx="822960" cy="365760"/>
          </a:xfrm>
          <a:prstGeom prst="rect">
            <a:avLst/>
          </a:prstGeom>
          <a:noFill/>
          <a:ln/>
        </p:spPr>
        <p:txBody>
          <a:bodyPr wrap="square" lIns="0" tIns="0" rIns="0" bIns="0" rtlCol="0" anchor="ctr"/>
          <a:lstStyle/>
          <a:p>
            <a:pPr algn="l" indent="0" marL="0">
              <a:buNone/>
            </a:pPr>
            <a:r>
              <a:rPr lang="en-US" sz="1150" dirty="0">
                <a:solidFill>
                  <a:srgbClr val="3A4048"/>
                </a:solidFill>
                <a:latin typeface="Calibri" pitchFamily="34" charset="0"/>
                <a:ea typeface="Calibri" pitchFamily="34" charset="-122"/>
                <a:cs typeface="Calibri" pitchFamily="34" charset="-120"/>
              </a:rPr>
              <a:t>0,47717</a:t>
            </a:r>
            <a:endParaRPr lang="en-US" sz="1150" dirty="0"/>
          </a:p>
        </p:txBody>
      </p:sp>
      <p:sp>
        <p:nvSpPr>
          <p:cNvPr id="27" name="Text 25"/>
          <p:cNvSpPr/>
          <p:nvPr/>
        </p:nvSpPr>
        <p:spPr>
          <a:xfrm>
            <a:off x="640080" y="4517136"/>
            <a:ext cx="3931920" cy="365760"/>
          </a:xfrm>
          <a:prstGeom prst="rect">
            <a:avLst/>
          </a:prstGeom>
          <a:noFill/>
          <a:ln/>
        </p:spPr>
        <p:txBody>
          <a:bodyPr wrap="square" lIns="0" tIns="0" rIns="0" bIns="0" rtlCol="0" anchor="ctr"/>
          <a:lstStyle/>
          <a:p>
            <a:pPr algn="r" indent="0" marL="0">
              <a:buNone/>
            </a:pPr>
            <a:r>
              <a:rPr lang="en-US" sz="1150" b="1" dirty="0">
                <a:solidFill>
                  <a:srgbClr val="16191D"/>
                </a:solidFill>
                <a:latin typeface="Calibri" pitchFamily="34" charset="0"/>
                <a:ea typeface="Calibri" pitchFamily="34" charset="-122"/>
                <a:cs typeface="Calibri" pitchFamily="34" charset="-120"/>
              </a:rPr>
              <a:t>6.  PIPELINE FINAL (stacking + ambang)</a:t>
            </a:r>
            <a:endParaRPr lang="en-US" sz="1150" dirty="0"/>
          </a:p>
        </p:txBody>
      </p:sp>
      <p:sp>
        <p:nvSpPr>
          <p:cNvPr id="28" name="Shape 26"/>
          <p:cNvSpPr/>
          <p:nvPr/>
        </p:nvSpPr>
        <p:spPr>
          <a:xfrm>
            <a:off x="4681728" y="4581144"/>
            <a:ext cx="5937199" cy="237744"/>
          </a:xfrm>
          <a:prstGeom prst="rect">
            <a:avLst/>
          </a:prstGeom>
          <a:solidFill>
            <a:srgbClr val="F4F1EC"/>
          </a:solidFill>
          <a:ln/>
        </p:spPr>
      </p:sp>
      <p:sp>
        <p:nvSpPr>
          <p:cNvPr id="29" name="Shape 27"/>
          <p:cNvSpPr/>
          <p:nvPr/>
        </p:nvSpPr>
        <p:spPr>
          <a:xfrm>
            <a:off x="4681728" y="4581144"/>
            <a:ext cx="5750177" cy="237744"/>
          </a:xfrm>
          <a:prstGeom prst="rect">
            <a:avLst/>
          </a:prstGeom>
          <a:solidFill>
            <a:srgbClr val="A8442A"/>
          </a:solidFill>
          <a:ln/>
        </p:spPr>
      </p:sp>
      <p:sp>
        <p:nvSpPr>
          <p:cNvPr id="30" name="Text 28"/>
          <p:cNvSpPr/>
          <p:nvPr/>
        </p:nvSpPr>
        <p:spPr>
          <a:xfrm>
            <a:off x="10710367" y="4517136"/>
            <a:ext cx="822960" cy="365760"/>
          </a:xfrm>
          <a:prstGeom prst="rect">
            <a:avLst/>
          </a:prstGeom>
          <a:noFill/>
          <a:ln/>
        </p:spPr>
        <p:txBody>
          <a:bodyPr wrap="square" lIns="0" tIns="0" rIns="0" bIns="0" rtlCol="0" anchor="ctr"/>
          <a:lstStyle/>
          <a:p>
            <a:pPr algn="l" indent="0" marL="0">
              <a:buNone/>
            </a:pPr>
            <a:r>
              <a:rPr lang="en-US" sz="1150" b="1" dirty="0">
                <a:solidFill>
                  <a:srgbClr val="A8442A"/>
                </a:solidFill>
                <a:latin typeface="Calibri" pitchFamily="34" charset="0"/>
                <a:ea typeface="Calibri" pitchFamily="34" charset="-122"/>
                <a:cs typeface="Calibri" pitchFamily="34" charset="-120"/>
              </a:rPr>
              <a:t>0,48425</a:t>
            </a:r>
            <a:endParaRPr lang="en-US" sz="1150" dirty="0"/>
          </a:p>
        </p:txBody>
      </p:sp>
      <p:sp>
        <p:nvSpPr>
          <p:cNvPr id="31" name="Text 29"/>
          <p:cNvSpPr/>
          <p:nvPr/>
        </p:nvSpPr>
        <p:spPr>
          <a:xfrm>
            <a:off x="4681728" y="4992624"/>
            <a:ext cx="5943600" cy="237744"/>
          </a:xfrm>
          <a:prstGeom prst="rect">
            <a:avLst/>
          </a:prstGeom>
          <a:noFill/>
          <a:ln/>
        </p:spPr>
        <p:txBody>
          <a:bodyPr wrap="square" lIns="0" tIns="0" rIns="0" bIns="0" rtlCol="0" anchor="ctr"/>
          <a:lstStyle/>
          <a:p>
            <a:pPr indent="0" marL="0">
              <a:buNone/>
            </a:pPr>
            <a:r>
              <a:rPr lang="en-US" sz="950" i="1" dirty="0">
                <a:solidFill>
                  <a:srgbClr val="6E747C"/>
                </a:solidFill>
                <a:latin typeface="Calibri" pitchFamily="34" charset="0"/>
                <a:ea typeface="Calibri" pitchFamily="34" charset="-122"/>
                <a:cs typeface="Calibri" pitchFamily="34" charset="-120"/>
              </a:rPr>
              <a:t>QWK out-of-fold, skala 0 – 0,5</a:t>
            </a:r>
            <a:endParaRPr lang="en-US" sz="950" dirty="0"/>
          </a:p>
        </p:txBody>
      </p:sp>
      <p:sp>
        <p:nvSpPr>
          <p:cNvPr id="32" name="Shape 30"/>
          <p:cNvSpPr/>
          <p:nvPr/>
        </p:nvSpPr>
        <p:spPr>
          <a:xfrm>
            <a:off x="640080" y="5321808"/>
            <a:ext cx="5291176" cy="932688"/>
          </a:xfrm>
          <a:prstGeom prst="roundRect">
            <a:avLst>
              <a:gd name="adj" fmla="val 5882"/>
            </a:avLst>
          </a:prstGeom>
          <a:solidFill>
            <a:srgbClr val="F4F1EC"/>
          </a:solidFill>
          <a:ln w="9525">
            <a:solidFill>
              <a:srgbClr val="DCD8D1"/>
            </a:solidFill>
            <a:prstDash val="solid"/>
          </a:ln>
        </p:spPr>
      </p:sp>
      <p:sp>
        <p:nvSpPr>
          <p:cNvPr id="33" name="Text 31"/>
          <p:cNvSpPr/>
          <p:nvPr/>
        </p:nvSpPr>
        <p:spPr>
          <a:xfrm>
            <a:off x="896112" y="5394960"/>
            <a:ext cx="4779112" cy="365760"/>
          </a:xfrm>
          <a:prstGeom prst="rect">
            <a:avLst/>
          </a:prstGeom>
          <a:noFill/>
          <a:ln/>
        </p:spPr>
        <p:txBody>
          <a:bodyPr wrap="square" lIns="0" tIns="0" rIns="0" bIns="0" rtlCol="0" anchor="ctr"/>
          <a:lstStyle/>
          <a:p>
            <a:pPr indent="0" marL="0">
              <a:buNone/>
            </a:pPr>
            <a:r>
              <a:rPr lang="en-US" sz="2200" b="1" dirty="0">
                <a:solidFill>
                  <a:srgbClr val="2F6B5F"/>
                </a:solidFill>
                <a:latin typeface="Cambria" pitchFamily="34" charset="0"/>
                <a:ea typeface="Cambria" pitchFamily="34" charset="-122"/>
                <a:cs typeface="Cambria" pitchFamily="34" charset="-120"/>
              </a:rPr>
              <a:t>+0,06269</a:t>
            </a:r>
            <a:pPr indent="0" marL="0">
              <a:buNone/>
            </a:pPr>
            <a:r>
              <a:rPr lang="en-US" sz="1100" dirty="0">
                <a:solidFill>
                  <a:srgbClr val="6E747C"/>
                </a:solidFill>
                <a:latin typeface="Calibri" pitchFamily="34" charset="0"/>
                <a:ea typeface="Calibri" pitchFamily="34" charset="-122"/>
                <a:cs typeface="Calibri" pitchFamily="34" charset="-120"/>
              </a:rPr>
              <a:t>   baris 4 → 5</a:t>
            </a:r>
            <a:endParaRPr lang="en-US" sz="2200" dirty="0"/>
          </a:p>
        </p:txBody>
      </p:sp>
      <p:sp>
        <p:nvSpPr>
          <p:cNvPr id="34" name="Text 32"/>
          <p:cNvSpPr/>
          <p:nvPr/>
        </p:nvSpPr>
        <p:spPr>
          <a:xfrm>
            <a:off x="896112" y="5760720"/>
            <a:ext cx="4779112" cy="420624"/>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Hanya mengganti argmax dengan nilai harapan + ambang batas. Model, fitur, dan seed identik.</a:t>
            </a:r>
            <a:endParaRPr lang="en-US" sz="1050" dirty="0"/>
          </a:p>
        </p:txBody>
      </p:sp>
      <p:sp>
        <p:nvSpPr>
          <p:cNvPr id="35" name="Shape 33"/>
          <p:cNvSpPr/>
          <p:nvPr/>
        </p:nvSpPr>
        <p:spPr>
          <a:xfrm>
            <a:off x="6260440" y="5321808"/>
            <a:ext cx="5291176" cy="932688"/>
          </a:xfrm>
          <a:prstGeom prst="roundRect">
            <a:avLst>
              <a:gd name="adj" fmla="val 5882"/>
            </a:avLst>
          </a:prstGeom>
          <a:solidFill>
            <a:srgbClr val="F4F1EC"/>
          </a:solidFill>
          <a:ln w="9525">
            <a:solidFill>
              <a:srgbClr val="DCD8D1"/>
            </a:solidFill>
            <a:prstDash val="solid"/>
          </a:ln>
        </p:spPr>
      </p:sp>
      <p:sp>
        <p:nvSpPr>
          <p:cNvPr id="36" name="Text 34"/>
          <p:cNvSpPr/>
          <p:nvPr/>
        </p:nvSpPr>
        <p:spPr>
          <a:xfrm>
            <a:off x="6516472" y="5394960"/>
            <a:ext cx="4779112" cy="365760"/>
          </a:xfrm>
          <a:prstGeom prst="rect">
            <a:avLst/>
          </a:prstGeom>
          <a:noFill/>
          <a:ln/>
        </p:spPr>
        <p:txBody>
          <a:bodyPr wrap="square" lIns="0" tIns="0" rIns="0" bIns="0" rtlCol="0" anchor="ctr"/>
          <a:lstStyle/>
          <a:p>
            <a:pPr indent="0" marL="0">
              <a:buNone/>
            </a:pPr>
            <a:r>
              <a:rPr lang="en-US" sz="2200" b="1" dirty="0">
                <a:solidFill>
                  <a:srgbClr val="6E747C"/>
                </a:solidFill>
                <a:latin typeface="Cambria" pitchFamily="34" charset="0"/>
                <a:ea typeface="Cambria" pitchFamily="34" charset="-122"/>
                <a:cs typeface="Cambria" pitchFamily="34" charset="-120"/>
              </a:rPr>
              <a:t>+0,00708</a:t>
            </a:r>
            <a:pPr indent="0" marL="0">
              <a:buNone/>
            </a:pPr>
            <a:r>
              <a:rPr lang="en-US" sz="1100" dirty="0">
                <a:solidFill>
                  <a:srgbClr val="6E747C"/>
                </a:solidFill>
                <a:latin typeface="Calibri" pitchFamily="34" charset="0"/>
                <a:ea typeface="Calibri" pitchFamily="34" charset="-122"/>
                <a:cs typeface="Calibri" pitchFamily="34" charset="-120"/>
              </a:rPr>
              <a:t>   baris 5 → 6</a:t>
            </a:r>
            <a:endParaRPr lang="en-US" sz="2200" dirty="0"/>
          </a:p>
        </p:txBody>
      </p:sp>
      <p:sp>
        <p:nvSpPr>
          <p:cNvPr id="37" name="Text 35"/>
          <p:cNvSpPr/>
          <p:nvPr/>
        </p:nvSpPr>
        <p:spPr>
          <a:xfrm>
            <a:off x="6516472" y="5760720"/>
            <a:ext cx="4779112" cy="420624"/>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Lima model dasar tambahan, stacking meta-learner, dan seluruh studi estimasi ambang batas — digabung.</a:t>
            </a:r>
            <a:endParaRPr lang="en-US" sz="1050" dirty="0"/>
          </a:p>
        </p:txBody>
      </p:sp>
      <p:sp>
        <p:nvSpPr>
          <p:cNvPr id="39" name="Text 36"/>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40" name="Text 37"/>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PEMODELAN</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Enam keluarga algoritma, satu dinding yang sama</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Setiap keluarga dipilih karena bias induktifnya berbeda — bukan karena variasi hyperparameter dari model yang sama.</a:t>
            </a:r>
            <a:endParaRPr lang="en-US" sz="1350" dirty="0"/>
          </a:p>
        </p:txBody>
      </p:sp>
      <p:graphicFrame>
        <p:nvGraphicFramePr>
          <p:cNvPr id="7" name="Chart 0" descr=""/>
          <p:cNvGraphicFramePr/>
          <p:nvPr/>
        </p:nvGraphicFramePr>
        <p:xfrm>
          <a:off x="594360" y="2139696"/>
          <a:ext cx="7086600" cy="324612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40080" y="5431536"/>
            <a:ext cx="7040880" cy="457200"/>
          </a:xfrm>
          <a:prstGeom prst="rect">
            <a:avLst/>
          </a:prstGeom>
          <a:noFill/>
          <a:ln/>
        </p:spPr>
        <p:txBody>
          <a:bodyPr wrap="square" lIns="0" tIns="0" rIns="0" bIns="0" rtlCol="0" anchor="t"/>
          <a:lstStyle/>
          <a:p>
            <a:pPr indent="0" marL="0">
              <a:lnSpc>
                <a:spcPts val="1400"/>
              </a:lnSpc>
              <a:buNone/>
            </a:pPr>
            <a:r>
              <a:rPr lang="en-US" sz="1000" i="1" dirty="0">
                <a:solidFill>
                  <a:srgbClr val="6E747C"/>
                </a:solidFill>
                <a:latin typeface="Calibri" pitchFamily="34" charset="0"/>
                <a:ea typeface="Calibri" pitchFamily="34" charset="-122"/>
                <a:cs typeface="Calibri" pitchFamily="34" charset="-120"/>
              </a:rPr>
              <a:t>Sumbu dipotong pada 0,42 agar rentang antar model terlihat. Rentang sesungguhnya antar lima model pohon hanya 0,0033 QWK.</a:t>
            </a:r>
            <a:endParaRPr lang="en-US" sz="1000" dirty="0"/>
          </a:p>
        </p:txBody>
      </p:sp>
      <p:sp>
        <p:nvSpPr>
          <p:cNvPr id="9" name="Text 6"/>
          <p:cNvSpPr/>
          <p:nvPr/>
        </p:nvSpPr>
        <p:spPr>
          <a:xfrm>
            <a:off x="8001000" y="2194560"/>
            <a:ext cx="3550615" cy="566928"/>
          </a:xfrm>
          <a:prstGeom prst="rect">
            <a:avLst/>
          </a:prstGeom>
          <a:noFill/>
          <a:ln/>
        </p:spPr>
        <p:txBody>
          <a:bodyPr wrap="square" lIns="0" tIns="0" rIns="0" bIns="0" rtlCol="0" anchor="b"/>
          <a:lstStyle/>
          <a:p>
            <a:pPr algn="l" indent="0" marL="0">
              <a:buNone/>
            </a:pPr>
            <a:r>
              <a:rPr lang="en-US" sz="3000" b="1" dirty="0">
                <a:solidFill>
                  <a:srgbClr val="16191D"/>
                </a:solidFill>
                <a:latin typeface="Cambria" pitchFamily="34" charset="0"/>
                <a:ea typeface="Cambria" pitchFamily="34" charset="-122"/>
                <a:cs typeface="Cambria" pitchFamily="34" charset="-120"/>
              </a:rPr>
              <a:t>0,0033</a:t>
            </a:r>
            <a:endParaRPr lang="en-US" sz="3000" dirty="0"/>
          </a:p>
        </p:txBody>
      </p:sp>
      <p:sp>
        <p:nvSpPr>
          <p:cNvPr id="10" name="Text 7"/>
          <p:cNvSpPr/>
          <p:nvPr/>
        </p:nvSpPr>
        <p:spPr>
          <a:xfrm>
            <a:off x="8001000" y="2798064"/>
            <a:ext cx="355061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Rentang QWK antar lima model pohon</a:t>
            </a:r>
            <a:endParaRPr lang="en-US" sz="1050" dirty="0"/>
          </a:p>
        </p:txBody>
      </p:sp>
      <p:sp>
        <p:nvSpPr>
          <p:cNvPr id="11" name="Text 8"/>
          <p:cNvSpPr/>
          <p:nvPr/>
        </p:nvSpPr>
        <p:spPr>
          <a:xfrm>
            <a:off x="8001000" y="3145536"/>
            <a:ext cx="3550615" cy="566928"/>
          </a:xfrm>
          <a:prstGeom prst="rect">
            <a:avLst/>
          </a:prstGeom>
          <a:noFill/>
          <a:ln/>
        </p:spPr>
        <p:txBody>
          <a:bodyPr wrap="square" lIns="0" tIns="0" rIns="0" bIns="0" rtlCol="0" anchor="b"/>
          <a:lstStyle/>
          <a:p>
            <a:pPr algn="l" indent="0" marL="0">
              <a:buNone/>
            </a:pPr>
            <a:r>
              <a:rPr lang="en-US" sz="3000" b="1" dirty="0">
                <a:solidFill>
                  <a:srgbClr val="16191D"/>
                </a:solidFill>
                <a:latin typeface="Cambria" pitchFamily="34" charset="0"/>
                <a:ea typeface="Cambria" pitchFamily="34" charset="-122"/>
                <a:cs typeface="Cambria" pitchFamily="34" charset="-120"/>
              </a:rPr>
              <a:t>0,974</a:t>
            </a:r>
            <a:endParaRPr lang="en-US" sz="3000" dirty="0"/>
          </a:p>
        </p:txBody>
      </p:sp>
      <p:sp>
        <p:nvSpPr>
          <p:cNvPr id="12" name="Text 9"/>
          <p:cNvSpPr/>
          <p:nvPr/>
        </p:nvSpPr>
        <p:spPr>
          <a:xfrm>
            <a:off x="8001000" y="3749040"/>
            <a:ext cx="355061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Korelasi rata-rata prediksi antar model pohon</a:t>
            </a:r>
            <a:endParaRPr lang="en-US" sz="1050" dirty="0"/>
          </a:p>
        </p:txBody>
      </p:sp>
      <p:sp>
        <p:nvSpPr>
          <p:cNvPr id="13" name="Text 10"/>
          <p:cNvSpPr/>
          <p:nvPr/>
        </p:nvSpPr>
        <p:spPr>
          <a:xfrm>
            <a:off x="8001000" y="4096512"/>
            <a:ext cx="3550615" cy="566928"/>
          </a:xfrm>
          <a:prstGeom prst="rect">
            <a:avLst/>
          </a:prstGeom>
          <a:noFill/>
          <a:ln/>
        </p:spPr>
        <p:txBody>
          <a:bodyPr wrap="square" lIns="0" tIns="0" rIns="0" bIns="0" rtlCol="0" anchor="b"/>
          <a:lstStyle/>
          <a:p>
            <a:pPr algn="l" indent="0" marL="0">
              <a:buNone/>
            </a:pPr>
            <a:r>
              <a:rPr lang="en-US" sz="3000" b="1" dirty="0">
                <a:solidFill>
                  <a:srgbClr val="A8442A"/>
                </a:solidFill>
                <a:latin typeface="Cambria" pitchFamily="34" charset="0"/>
                <a:ea typeface="Cambria" pitchFamily="34" charset="-122"/>
                <a:cs typeface="Cambria" pitchFamily="34" charset="-120"/>
              </a:rPr>
              <a:t>+0,00455</a:t>
            </a:r>
            <a:endParaRPr lang="en-US" sz="3000" dirty="0"/>
          </a:p>
        </p:txBody>
      </p:sp>
      <p:sp>
        <p:nvSpPr>
          <p:cNvPr id="14" name="Text 11"/>
          <p:cNvSpPr/>
          <p:nvPr/>
        </p:nvSpPr>
        <p:spPr>
          <a:xfrm>
            <a:off x="8001000" y="4700016"/>
            <a:ext cx="355061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Sumbangan meta-learner di atas model dasar terbaik</a:t>
            </a:r>
            <a:endParaRPr lang="en-US" sz="1050" dirty="0"/>
          </a:p>
        </p:txBody>
      </p:sp>
      <p:sp>
        <p:nvSpPr>
          <p:cNvPr id="15" name="Shape 12"/>
          <p:cNvSpPr/>
          <p:nvPr/>
        </p:nvSpPr>
        <p:spPr>
          <a:xfrm>
            <a:off x="8001000" y="5047488"/>
            <a:ext cx="3550615" cy="1188720"/>
          </a:xfrm>
          <a:prstGeom prst="roundRect">
            <a:avLst>
              <a:gd name="adj" fmla="val 4615"/>
            </a:avLst>
          </a:prstGeom>
          <a:solidFill>
            <a:srgbClr val="F4F1EC"/>
          </a:solidFill>
          <a:ln w="9525">
            <a:solidFill>
              <a:srgbClr val="DCD8D1"/>
            </a:solidFill>
            <a:prstDash val="solid"/>
          </a:ln>
        </p:spPr>
      </p:sp>
      <p:sp>
        <p:nvSpPr>
          <p:cNvPr id="16" name="Text 13"/>
          <p:cNvSpPr/>
          <p:nvPr/>
        </p:nvSpPr>
        <p:spPr>
          <a:xfrm>
            <a:off x="8238744" y="5047488"/>
            <a:ext cx="3075127" cy="1188720"/>
          </a:xfrm>
          <a:prstGeom prst="rect">
            <a:avLst/>
          </a:prstGeom>
          <a:noFill/>
          <a:ln/>
        </p:spPr>
        <p:txBody>
          <a:bodyPr wrap="square" lIns="0" tIns="0" rIns="0" bIns="0" rtlCol="0" anchor="ctr"/>
          <a:lstStyle/>
          <a:p>
            <a:pPr indent="0" marL="0">
              <a:lnSpc>
                <a:spcPts val="1700"/>
              </a:lnSpc>
              <a:buNone/>
            </a:pPr>
            <a:r>
              <a:rPr lang="en-US" sz="1200" i="1" dirty="0">
                <a:solidFill>
                  <a:srgbClr val="16191D"/>
                </a:solidFill>
                <a:latin typeface="Calibri" pitchFamily="34" charset="0"/>
                <a:ea typeface="Calibri" pitchFamily="34" charset="-122"/>
                <a:cs typeface="Calibri" pitchFamily="34" charset="-120"/>
              </a:rPr>
              <a:t>Ketika enam kelas fungsi yang bias induktifnya sangat berbeda mendarat di titik yang sama, dindingnya berasal dari data — bukan dari model.</a:t>
            </a:r>
            <a:endParaRPr lang="en-US" sz="1200" dirty="0"/>
          </a:p>
        </p:txBody>
      </p:sp>
      <p:sp>
        <p:nvSpPr>
          <p:cNvPr id="18" name="Text 14"/>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9" name="Text 15"/>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BUKTI 02 · SELEKSI</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248"/>
              </a:lnSpc>
              <a:buNone/>
            </a:pPr>
            <a:r>
              <a:rPr lang="en-US" sz="2800" b="1" dirty="0">
                <a:solidFill>
                  <a:srgbClr val="16191D"/>
                </a:solidFill>
                <a:latin typeface="Cambria" pitchFamily="34" charset="0"/>
                <a:ea typeface="Cambria" pitchFamily="34" charset="-122"/>
                <a:cs typeface="Cambria" pitchFamily="34" charset="-120"/>
              </a:rPr>
              <a:t>Kami tidak memilih strategi ambang batas dengan skor tertinggi</a:t>
            </a:r>
            <a:endParaRPr lang="en-US" sz="28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Lima strategi estimasi dijalankan penuh, lalu diuji ulang dengan split-half: pasang ambang pada separuh data, ukur pada separuh lainnya.</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432304"/>
          <a:ext cx="7452360" cy="914400"/>
        </p:xfrm>
        <a:graphic>
          <a:graphicData uri="http://schemas.openxmlformats.org/drawingml/2006/table">
            <a:tbl>
              <a:tblPr/>
              <a:tblGrid>
                <a:gridCol w="3246120"/>
                <a:gridCol w="1051560"/>
                <a:gridCol w="1051560"/>
                <a:gridCol w="1051560"/>
                <a:gridCol w="1051560"/>
              </a:tblGrid>
              <a:tr h="347472">
                <a:tc>
                  <a:txBody>
                    <a:bodyPr/>
                    <a:lstStyle/>
                    <a:p>
                      <a:pPr algn="l" indent="0" marL="0">
                        <a:buNone/>
                      </a:pPr>
                      <a:r>
                        <a:rPr lang="en-US" sz="1150" b="1" dirty="0">
                          <a:solidFill>
                            <a:srgbClr val="16191D"/>
                          </a:solidFill>
                          <a:latin typeface="Calibri" pitchFamily="34" charset="0"/>
                          <a:ea typeface="Calibri" pitchFamily="34" charset="-122"/>
                          <a:cs typeface="Calibri" pitchFamily="34" charset="-120"/>
                        </a:rPr>
                        <a:t>Strategi estimasi ambang batas</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QWK OOF</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in-sample</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held-out</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150" b="1" dirty="0">
                          <a:solidFill>
                            <a:srgbClr val="16191D"/>
                          </a:solidFill>
                          <a:latin typeface="Calibri" pitchFamily="34" charset="0"/>
                          <a:ea typeface="Calibri" pitchFamily="34" charset="-122"/>
                          <a:cs typeface="Calibri" pitchFamily="34" charset="-120"/>
                        </a:rPr>
                        <a:t>selisih</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r>
              <a:tr h="347472">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a.  titik tunggal (optimum tunggal)</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b="1" dirty="0">
                          <a:solidFill>
                            <a:srgbClr val="D8A25E"/>
                          </a:solidFill>
                          <a:latin typeface="Calibri" pitchFamily="34" charset="0"/>
                          <a:ea typeface="Calibri" pitchFamily="34" charset="-122"/>
                          <a:cs typeface="Calibri" pitchFamily="34" charset="-120"/>
                        </a:rPr>
                        <a:t>0,48517</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0,48688</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0,48083</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0,00606</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47472">
                <a:tc>
                  <a:txBody>
                    <a:bodyPr/>
                    <a:lstStyle/>
                    <a:p>
                      <a:pPr algn="l" indent="0" marL="0">
                        <a:buNone/>
                      </a:pPr>
                      <a:r>
                        <a:rPr lang="en-US" sz="1150" b="1" dirty="0">
                          <a:solidFill>
                            <a:srgbClr val="A8442A"/>
                          </a:solidFill>
                          <a:latin typeface="Calibri" pitchFamily="34" charset="0"/>
                          <a:ea typeface="Calibri" pitchFamily="34" charset="-122"/>
                          <a:cs typeface="Calibri" pitchFamily="34" charset="-120"/>
                        </a:rPr>
                        <a:t>b.  rata-rata bootstrap   ← DIPILIH</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0,48425</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0,48625</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b="1" dirty="0">
                          <a:solidFill>
                            <a:srgbClr val="A8442A"/>
                          </a:solidFill>
                          <a:latin typeface="Calibri" pitchFamily="34" charset="0"/>
                          <a:ea typeface="Calibri" pitchFamily="34" charset="-122"/>
                          <a:cs typeface="Calibri" pitchFamily="34" charset="-120"/>
                        </a:rPr>
                        <a:t>0,48106</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b="1" dirty="0">
                          <a:solidFill>
                            <a:srgbClr val="A8442A"/>
                          </a:solidFill>
                          <a:latin typeface="Calibri" pitchFamily="34" charset="0"/>
                          <a:ea typeface="Calibri" pitchFamily="34" charset="-122"/>
                          <a:cs typeface="Calibri" pitchFamily="34" charset="-120"/>
                        </a:rPr>
                        <a:t>0,00519</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47472">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c.  rata-rata subsample</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0,48419</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0,48654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0,48100</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0,00554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47472">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d.  pencocokan distribusi</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0,47413</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0,47650</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0,47206</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0,00444</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47472">
                <a:tc>
                  <a:txBody>
                    <a:bodyPr/>
                    <a:lstStyle/>
                    <a:p>
                      <a:pPr algn="l" indent="0" marL="0">
                        <a:buNone/>
                      </a:pPr>
                      <a:r>
                        <a:rPr lang="en-US" sz="1150" dirty="0">
                          <a:solidFill>
                            <a:srgbClr val="3A4048"/>
                          </a:solidFill>
                          <a:latin typeface="Calibri" pitchFamily="34" charset="0"/>
                          <a:ea typeface="Calibri" pitchFamily="34" charset="-122"/>
                          <a:cs typeface="Calibri" pitchFamily="34" charset="-120"/>
                        </a:rPr>
                        <a:t>e.  objektif dihaluskan</a:t>
                      </a:r>
                      <a:endParaRPr lang="en-US" sz="11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0,48435</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150" dirty="0">
                          <a:solidFill>
                            <a:srgbClr val="3A4048"/>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r>
            </a:tbl>
          </a:graphicData>
        </a:graphic>
      </p:graphicFrame>
      <p:sp>
        <p:nvSpPr>
          <p:cNvPr id="8" name="Shape 5"/>
          <p:cNvSpPr/>
          <p:nvPr/>
        </p:nvSpPr>
        <p:spPr>
          <a:xfrm>
            <a:off x="8503920" y="2432304"/>
            <a:ext cx="3047695" cy="2395728"/>
          </a:xfrm>
          <a:prstGeom prst="roundRect">
            <a:avLst>
              <a:gd name="adj" fmla="val 2290"/>
            </a:avLst>
          </a:prstGeom>
          <a:solidFill>
            <a:srgbClr val="ECE7DF"/>
          </a:solidFill>
          <a:ln w="9525">
            <a:solidFill>
              <a:srgbClr val="DCD8D1"/>
            </a:solidFill>
            <a:prstDash val="solid"/>
          </a:ln>
        </p:spPr>
      </p:sp>
      <p:sp>
        <p:nvSpPr>
          <p:cNvPr id="9" name="Text 6"/>
          <p:cNvSpPr/>
          <p:nvPr/>
        </p:nvSpPr>
        <p:spPr>
          <a:xfrm>
            <a:off x="8759952" y="2596896"/>
            <a:ext cx="2535631" cy="292608"/>
          </a:xfrm>
          <a:prstGeom prst="rect">
            <a:avLst/>
          </a:prstGeom>
          <a:noFill/>
          <a:ln/>
        </p:spPr>
        <p:txBody>
          <a:bodyPr wrap="square" lIns="0" tIns="0" rIns="0" bIns="0" rtlCol="0" anchor="ctr"/>
          <a:lstStyle/>
          <a:p>
            <a:pPr indent="0" marL="0">
              <a:buNone/>
            </a:pPr>
            <a:r>
              <a:rPr lang="en-US" sz="1400" b="1" dirty="0">
                <a:solidFill>
                  <a:srgbClr val="16191D"/>
                </a:solidFill>
                <a:latin typeface="Cambria" pitchFamily="34" charset="0"/>
                <a:ea typeface="Cambria" pitchFamily="34" charset="-122"/>
                <a:cs typeface="Cambria" pitchFamily="34" charset="-120"/>
              </a:rPr>
              <a:t>Perhatikan baris a</a:t>
            </a:r>
            <a:endParaRPr lang="en-US" sz="1400" dirty="0"/>
          </a:p>
        </p:txBody>
      </p:sp>
      <p:sp>
        <p:nvSpPr>
          <p:cNvPr id="10" name="Text 7"/>
          <p:cNvSpPr/>
          <p:nvPr/>
        </p:nvSpPr>
        <p:spPr>
          <a:xfrm>
            <a:off x="8759952" y="2962656"/>
            <a:ext cx="2535631" cy="106070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Strategi dengan QWK OOF tertinggi justru punya selisih in-sample → held-out terbesar. Skornya tinggi karena ia dipasang dan diukur pada himpunan yang sama.</a:t>
            </a:r>
            <a:endParaRPr lang="en-US" sz="1100" dirty="0"/>
          </a:p>
        </p:txBody>
      </p:sp>
      <p:sp>
        <p:nvSpPr>
          <p:cNvPr id="11" name="Text 8"/>
          <p:cNvSpPr/>
          <p:nvPr/>
        </p:nvSpPr>
        <p:spPr>
          <a:xfrm>
            <a:off x="8759952" y="4059936"/>
            <a:ext cx="2535631" cy="676656"/>
          </a:xfrm>
          <a:prstGeom prst="rect">
            <a:avLst/>
          </a:prstGeom>
          <a:noFill/>
          <a:ln/>
        </p:spPr>
        <p:txBody>
          <a:bodyPr wrap="square" lIns="0" tIns="0" rIns="0" bIns="0" rtlCol="0" anchor="t"/>
          <a:lstStyle/>
          <a:p>
            <a:pPr indent="0" marL="0">
              <a:lnSpc>
                <a:spcPts val="1500"/>
              </a:lnSpc>
              <a:buNone/>
            </a:pPr>
            <a:r>
              <a:rPr lang="en-US" sz="1100" b="1" dirty="0">
                <a:solidFill>
                  <a:srgbClr val="A8442A"/>
                </a:solidFill>
                <a:latin typeface="Calibri" pitchFamily="34" charset="0"/>
                <a:ea typeface="Calibri" pitchFamily="34" charset="-122"/>
                <a:cs typeface="Calibri" pitchFamily="34" charset="-120"/>
              </a:rPr>
              <a:t>Kami memilih b: QWK OOF lebih rendah, held-out tertinggi, selisih terkecil.</a:t>
            </a:r>
            <a:endParaRPr lang="en-US" sz="1100" dirty="0"/>
          </a:p>
        </p:txBody>
      </p:sp>
      <p:sp>
        <p:nvSpPr>
          <p:cNvPr id="12" name="Text 9"/>
          <p:cNvSpPr/>
          <p:nvPr/>
        </p:nvSpPr>
        <p:spPr>
          <a:xfrm>
            <a:off x="640080" y="4937760"/>
            <a:ext cx="10911535" cy="292608"/>
          </a:xfrm>
          <a:prstGeom prst="rect">
            <a:avLst/>
          </a:prstGeom>
          <a:noFill/>
          <a:ln/>
        </p:spPr>
        <p:txBody>
          <a:bodyPr wrap="square" lIns="0" tIns="0" rIns="0" bIns="0" rtlCol="0" anchor="ctr"/>
          <a:lstStyle/>
          <a:p>
            <a:pPr indent="0" marL="0">
              <a:buNone/>
            </a:pPr>
            <a:r>
              <a:rPr lang="en-US" sz="1500" b="1" dirty="0">
                <a:solidFill>
                  <a:srgbClr val="16191D"/>
                </a:solidFill>
                <a:latin typeface="Cambria" pitchFamily="34" charset="0"/>
                <a:ea typeface="Cambria" pitchFamily="34" charset="-122"/>
                <a:cs typeface="Cambria" pitchFamily="34" charset="-120"/>
              </a:rPr>
              <a:t>Mengapa rata-rata bootstrap, dan mengapa ditetapkan di muka</a:t>
            </a:r>
            <a:endParaRPr lang="en-US" sz="1500" dirty="0"/>
          </a:p>
        </p:txBody>
      </p:sp>
      <p:sp>
        <p:nvSpPr>
          <p:cNvPr id="13" name="Text 10"/>
          <p:cNvSpPr/>
          <p:nvPr/>
        </p:nvSpPr>
        <p:spPr>
          <a:xfrm>
            <a:off x="640080" y="5285232"/>
            <a:ext cx="10911535" cy="914400"/>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Optimum tunggal menempatkan ambang tepat di satu puncak permukaan QWK — dan puncak itu sebagian dibentuk oleh derau sampling. Merata-ratakan ambang atas puluhan resampel bootstrap menempatkannya di </a:t>
            </a:r>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pusat dataran tinggi</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 bukan di puncak derau. Ini argumen tentang variansi penduga, yang bisa diperiksa tanpa menyentuh data uji sama sekali — karena itu kami menetapkannya sebelum melihat perbandingan skor mana pun.</a:t>
            </a:r>
            <a:endParaRPr lang="en-US" sz="1250" dirty="0"/>
          </a:p>
        </p:txBody>
      </p:sp>
      <p:sp>
        <p:nvSpPr>
          <p:cNvPr id="15" name="Text 11"/>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6" name="Text 12"/>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DIAGNOSTIK</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596"/>
              </a:lnSpc>
              <a:buNone/>
            </a:pPr>
            <a:r>
              <a:rPr lang="en-US" sz="3100" b="1" dirty="0">
                <a:solidFill>
                  <a:srgbClr val="16191D"/>
                </a:solidFill>
                <a:latin typeface="Cambria" pitchFamily="34" charset="0"/>
                <a:ea typeface="Cambria" pitchFamily="34" charset="-122"/>
                <a:cs typeface="Cambria" pitchFamily="34" charset="-120"/>
              </a:rPr>
              <a:t>t₃ adalah titik paling rapuh di seluruh pipeline</a:t>
            </a:r>
            <a:endParaRPr lang="en-US" sz="31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Sebaran ambang batas atas resampel bootstrap — bukan satu angka, melainkan distribusinya.</a:t>
            </a:r>
            <a:endParaRPr lang="en-US" sz="1350" dirty="0"/>
          </a:p>
        </p:txBody>
      </p:sp>
      <p:sp>
        <p:nvSpPr>
          <p:cNvPr id="7" name="Text 5"/>
          <p:cNvSpPr/>
          <p:nvPr/>
        </p:nvSpPr>
        <p:spPr>
          <a:xfrm>
            <a:off x="640080" y="2377440"/>
            <a:ext cx="2286000" cy="493776"/>
          </a:xfrm>
          <a:prstGeom prst="rect">
            <a:avLst/>
          </a:prstGeom>
          <a:noFill/>
          <a:ln/>
        </p:spPr>
        <p:txBody>
          <a:bodyPr wrap="square" lIns="0" tIns="0" rIns="0" bIns="0" rtlCol="0" anchor="ctr"/>
          <a:lstStyle/>
          <a:p>
            <a:pPr algn="r" indent="0" marL="0">
              <a:buNone/>
            </a:pPr>
            <a:r>
              <a:rPr lang="en-US" sz="1200" dirty="0">
                <a:solidFill>
                  <a:srgbClr val="3A4048"/>
                </a:solidFill>
                <a:latin typeface="Calibri" pitchFamily="34" charset="0"/>
                <a:ea typeface="Calibri" pitchFamily="34" charset="-122"/>
                <a:cs typeface="Calibri" pitchFamily="34" charset="-120"/>
              </a:rPr>
              <a:t>t₁  —  batas kelas 1 | 2</a:t>
            </a:r>
            <a:endParaRPr lang="en-US" sz="1200" dirty="0"/>
          </a:p>
        </p:txBody>
      </p:sp>
      <p:sp>
        <p:nvSpPr>
          <p:cNvPr id="8" name="Shape 6"/>
          <p:cNvSpPr/>
          <p:nvPr/>
        </p:nvSpPr>
        <p:spPr>
          <a:xfrm>
            <a:off x="3035808" y="2441448"/>
            <a:ext cx="3621024" cy="365760"/>
          </a:xfrm>
          <a:prstGeom prst="rect">
            <a:avLst/>
          </a:prstGeom>
          <a:solidFill>
            <a:srgbClr val="F4F1EC"/>
          </a:solidFill>
          <a:ln/>
        </p:spPr>
      </p:sp>
      <p:sp>
        <p:nvSpPr>
          <p:cNvPr id="9" name="Shape 7"/>
          <p:cNvSpPr/>
          <p:nvPr/>
        </p:nvSpPr>
        <p:spPr>
          <a:xfrm>
            <a:off x="3035808" y="2441448"/>
            <a:ext cx="931120" cy="365760"/>
          </a:xfrm>
          <a:prstGeom prst="rect">
            <a:avLst/>
          </a:prstGeom>
          <a:solidFill>
            <a:srgbClr val="2F6B5F"/>
          </a:solidFill>
          <a:ln/>
        </p:spPr>
      </p:sp>
      <p:sp>
        <p:nvSpPr>
          <p:cNvPr id="10" name="Text 8"/>
          <p:cNvSpPr/>
          <p:nvPr/>
        </p:nvSpPr>
        <p:spPr>
          <a:xfrm>
            <a:off x="6748272" y="2377440"/>
            <a:ext cx="731520" cy="493776"/>
          </a:xfrm>
          <a:prstGeom prst="rect">
            <a:avLst/>
          </a:prstGeom>
          <a:noFill/>
          <a:ln/>
        </p:spPr>
        <p:txBody>
          <a:bodyPr wrap="square" lIns="0" tIns="0" rIns="0" bIns="0" rtlCol="0" anchor="ctr"/>
          <a:lstStyle/>
          <a:p>
            <a:pPr algn="l" indent="0" marL="0">
              <a:buNone/>
            </a:pPr>
            <a:r>
              <a:rPr lang="en-US" sz="1200" dirty="0">
                <a:solidFill>
                  <a:srgbClr val="3A4048"/>
                </a:solidFill>
                <a:latin typeface="Calibri" pitchFamily="34" charset="0"/>
                <a:ea typeface="Calibri" pitchFamily="34" charset="-122"/>
                <a:cs typeface="Calibri" pitchFamily="34" charset="-120"/>
              </a:rPr>
              <a:t>0,0108</a:t>
            </a:r>
            <a:endParaRPr lang="en-US" sz="1200" dirty="0"/>
          </a:p>
        </p:txBody>
      </p:sp>
      <p:sp>
        <p:nvSpPr>
          <p:cNvPr id="11" name="Text 9"/>
          <p:cNvSpPr/>
          <p:nvPr/>
        </p:nvSpPr>
        <p:spPr>
          <a:xfrm>
            <a:off x="640080" y="3054096"/>
            <a:ext cx="2286000" cy="493776"/>
          </a:xfrm>
          <a:prstGeom prst="rect">
            <a:avLst/>
          </a:prstGeom>
          <a:noFill/>
          <a:ln/>
        </p:spPr>
        <p:txBody>
          <a:bodyPr wrap="square" lIns="0" tIns="0" rIns="0" bIns="0" rtlCol="0" anchor="ctr"/>
          <a:lstStyle/>
          <a:p>
            <a:pPr algn="r" indent="0" marL="0">
              <a:buNone/>
            </a:pPr>
            <a:r>
              <a:rPr lang="en-US" sz="1200" dirty="0">
                <a:solidFill>
                  <a:srgbClr val="3A4048"/>
                </a:solidFill>
                <a:latin typeface="Calibri" pitchFamily="34" charset="0"/>
                <a:ea typeface="Calibri" pitchFamily="34" charset="-122"/>
                <a:cs typeface="Calibri" pitchFamily="34" charset="-120"/>
              </a:rPr>
              <a:t>t₂  —  batas kelas 2 | 3</a:t>
            </a:r>
            <a:endParaRPr lang="en-US" sz="1200" dirty="0"/>
          </a:p>
        </p:txBody>
      </p:sp>
      <p:sp>
        <p:nvSpPr>
          <p:cNvPr id="12" name="Shape 10"/>
          <p:cNvSpPr/>
          <p:nvPr/>
        </p:nvSpPr>
        <p:spPr>
          <a:xfrm>
            <a:off x="3035808" y="3118104"/>
            <a:ext cx="3621024" cy="365760"/>
          </a:xfrm>
          <a:prstGeom prst="rect">
            <a:avLst/>
          </a:prstGeom>
          <a:solidFill>
            <a:srgbClr val="F4F1EC"/>
          </a:solidFill>
          <a:ln/>
        </p:spPr>
      </p:sp>
      <p:sp>
        <p:nvSpPr>
          <p:cNvPr id="13" name="Shape 11"/>
          <p:cNvSpPr/>
          <p:nvPr/>
        </p:nvSpPr>
        <p:spPr>
          <a:xfrm>
            <a:off x="3035808" y="3118104"/>
            <a:ext cx="1155279" cy="365760"/>
          </a:xfrm>
          <a:prstGeom prst="rect">
            <a:avLst/>
          </a:prstGeom>
          <a:solidFill>
            <a:srgbClr val="2F6B5F"/>
          </a:solidFill>
          <a:ln/>
        </p:spPr>
      </p:sp>
      <p:sp>
        <p:nvSpPr>
          <p:cNvPr id="14" name="Text 12"/>
          <p:cNvSpPr/>
          <p:nvPr/>
        </p:nvSpPr>
        <p:spPr>
          <a:xfrm>
            <a:off x="6748272" y="3054096"/>
            <a:ext cx="731520" cy="493776"/>
          </a:xfrm>
          <a:prstGeom prst="rect">
            <a:avLst/>
          </a:prstGeom>
          <a:noFill/>
          <a:ln/>
        </p:spPr>
        <p:txBody>
          <a:bodyPr wrap="square" lIns="0" tIns="0" rIns="0" bIns="0" rtlCol="0" anchor="ctr"/>
          <a:lstStyle/>
          <a:p>
            <a:pPr algn="l" indent="0" marL="0">
              <a:buNone/>
            </a:pPr>
            <a:r>
              <a:rPr lang="en-US" sz="1200" dirty="0">
                <a:solidFill>
                  <a:srgbClr val="3A4048"/>
                </a:solidFill>
                <a:latin typeface="Calibri" pitchFamily="34" charset="0"/>
                <a:ea typeface="Calibri" pitchFamily="34" charset="-122"/>
                <a:cs typeface="Calibri" pitchFamily="34" charset="-120"/>
              </a:rPr>
              <a:t>0,0134</a:t>
            </a:r>
            <a:endParaRPr lang="en-US" sz="1200" dirty="0"/>
          </a:p>
        </p:txBody>
      </p:sp>
      <p:sp>
        <p:nvSpPr>
          <p:cNvPr id="15" name="Text 13"/>
          <p:cNvSpPr/>
          <p:nvPr/>
        </p:nvSpPr>
        <p:spPr>
          <a:xfrm>
            <a:off x="640080" y="3730752"/>
            <a:ext cx="2286000" cy="493776"/>
          </a:xfrm>
          <a:prstGeom prst="rect">
            <a:avLst/>
          </a:prstGeom>
          <a:noFill/>
          <a:ln/>
        </p:spPr>
        <p:txBody>
          <a:bodyPr wrap="square" lIns="0" tIns="0" rIns="0" bIns="0" rtlCol="0" anchor="ctr"/>
          <a:lstStyle/>
          <a:p>
            <a:pPr algn="r" indent="0" marL="0">
              <a:buNone/>
            </a:pPr>
            <a:r>
              <a:rPr lang="en-US" sz="1200" b="1" dirty="0">
                <a:solidFill>
                  <a:srgbClr val="16191D"/>
                </a:solidFill>
                <a:latin typeface="Calibri" pitchFamily="34" charset="0"/>
                <a:ea typeface="Calibri" pitchFamily="34" charset="-122"/>
                <a:cs typeface="Calibri" pitchFamily="34" charset="-120"/>
              </a:rPr>
              <a:t>t₃  —  batas kelas 3 | 4</a:t>
            </a:r>
            <a:endParaRPr lang="en-US" sz="1200" dirty="0"/>
          </a:p>
        </p:txBody>
      </p:sp>
      <p:sp>
        <p:nvSpPr>
          <p:cNvPr id="16" name="Shape 14"/>
          <p:cNvSpPr/>
          <p:nvPr/>
        </p:nvSpPr>
        <p:spPr>
          <a:xfrm>
            <a:off x="3035808" y="3794760"/>
            <a:ext cx="3621024" cy="365760"/>
          </a:xfrm>
          <a:prstGeom prst="rect">
            <a:avLst/>
          </a:prstGeom>
          <a:solidFill>
            <a:srgbClr val="F4F1EC"/>
          </a:solidFill>
          <a:ln/>
        </p:spPr>
      </p:sp>
      <p:sp>
        <p:nvSpPr>
          <p:cNvPr id="17" name="Shape 15"/>
          <p:cNvSpPr/>
          <p:nvPr/>
        </p:nvSpPr>
        <p:spPr>
          <a:xfrm>
            <a:off x="3035808" y="3794760"/>
            <a:ext cx="3379622" cy="365760"/>
          </a:xfrm>
          <a:prstGeom prst="rect">
            <a:avLst/>
          </a:prstGeom>
          <a:solidFill>
            <a:srgbClr val="A8442A"/>
          </a:solidFill>
          <a:ln/>
        </p:spPr>
      </p:sp>
      <p:sp>
        <p:nvSpPr>
          <p:cNvPr id="18" name="Text 16"/>
          <p:cNvSpPr/>
          <p:nvPr/>
        </p:nvSpPr>
        <p:spPr>
          <a:xfrm>
            <a:off x="6748272" y="3730752"/>
            <a:ext cx="731520" cy="493776"/>
          </a:xfrm>
          <a:prstGeom prst="rect">
            <a:avLst/>
          </a:prstGeom>
          <a:noFill/>
          <a:ln/>
        </p:spPr>
        <p:txBody>
          <a:bodyPr wrap="square" lIns="0" tIns="0" rIns="0" bIns="0" rtlCol="0" anchor="ctr"/>
          <a:lstStyle/>
          <a:p>
            <a:pPr algn="l" indent="0" marL="0">
              <a:buNone/>
            </a:pPr>
            <a:r>
              <a:rPr lang="en-US" sz="1200" b="1" dirty="0">
                <a:solidFill>
                  <a:srgbClr val="A8442A"/>
                </a:solidFill>
                <a:latin typeface="Calibri" pitchFamily="34" charset="0"/>
                <a:ea typeface="Calibri" pitchFamily="34" charset="-122"/>
                <a:cs typeface="Calibri" pitchFamily="34" charset="-120"/>
              </a:rPr>
              <a:t>0,0392</a:t>
            </a:r>
            <a:endParaRPr lang="en-US" sz="1200" dirty="0"/>
          </a:p>
        </p:txBody>
      </p:sp>
      <p:sp>
        <p:nvSpPr>
          <p:cNvPr id="19" name="Text 17"/>
          <p:cNvSpPr/>
          <p:nvPr/>
        </p:nvSpPr>
        <p:spPr>
          <a:xfrm>
            <a:off x="3035808" y="4480560"/>
            <a:ext cx="4389120" cy="237744"/>
          </a:xfrm>
          <a:prstGeom prst="rect">
            <a:avLst/>
          </a:prstGeom>
          <a:noFill/>
          <a:ln/>
        </p:spPr>
        <p:txBody>
          <a:bodyPr wrap="square" lIns="0" tIns="0" rIns="0" bIns="0" rtlCol="0" anchor="ctr"/>
          <a:lstStyle/>
          <a:p>
            <a:pPr indent="0" marL="0">
              <a:buNone/>
            </a:pPr>
            <a:r>
              <a:rPr lang="en-US" sz="950" i="1" dirty="0">
                <a:solidFill>
                  <a:srgbClr val="6E747C"/>
                </a:solidFill>
                <a:latin typeface="Calibri" pitchFamily="34" charset="0"/>
                <a:ea typeface="Calibri" pitchFamily="34" charset="-122"/>
                <a:cs typeface="Calibri" pitchFamily="34" charset="-120"/>
              </a:rPr>
              <a:t>Simpangan baku estimasi ambang antar resampel bootstrap</a:t>
            </a:r>
            <a:endParaRPr lang="en-US" sz="950" dirty="0"/>
          </a:p>
        </p:txBody>
      </p:sp>
      <p:sp>
        <p:nvSpPr>
          <p:cNvPr id="20" name="Text 18"/>
          <p:cNvSpPr/>
          <p:nvPr/>
        </p:nvSpPr>
        <p:spPr>
          <a:xfrm>
            <a:off x="7863840" y="2377440"/>
            <a:ext cx="3687775" cy="566928"/>
          </a:xfrm>
          <a:prstGeom prst="rect">
            <a:avLst/>
          </a:prstGeom>
          <a:noFill/>
          <a:ln/>
        </p:spPr>
        <p:txBody>
          <a:bodyPr wrap="square" lIns="0" tIns="0" rIns="0" bIns="0" rtlCol="0" anchor="b"/>
          <a:lstStyle/>
          <a:p>
            <a:pPr algn="l" indent="0" marL="0">
              <a:buNone/>
            </a:pPr>
            <a:r>
              <a:rPr lang="en-US" sz="3400" b="1" dirty="0">
                <a:solidFill>
                  <a:srgbClr val="A8442A"/>
                </a:solidFill>
                <a:latin typeface="Cambria" pitchFamily="34" charset="0"/>
                <a:ea typeface="Cambria" pitchFamily="34" charset="-122"/>
                <a:cs typeface="Cambria" pitchFamily="34" charset="-120"/>
              </a:rPr>
              <a:t>3,6×</a:t>
            </a:r>
            <a:endParaRPr lang="en-US" sz="3400" dirty="0"/>
          </a:p>
        </p:txBody>
      </p:sp>
      <p:sp>
        <p:nvSpPr>
          <p:cNvPr id="21" name="Text 19"/>
          <p:cNvSpPr/>
          <p:nvPr/>
        </p:nvSpPr>
        <p:spPr>
          <a:xfrm>
            <a:off x="7863840" y="2980944"/>
            <a:ext cx="368777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Simpangan baku t₃ dibandingkan t₁</a:t>
            </a:r>
            <a:endParaRPr lang="en-US" sz="1050" dirty="0"/>
          </a:p>
        </p:txBody>
      </p:sp>
      <p:sp>
        <p:nvSpPr>
          <p:cNvPr id="22" name="Text 20"/>
          <p:cNvSpPr/>
          <p:nvPr/>
        </p:nvSpPr>
        <p:spPr>
          <a:xfrm>
            <a:off x="7863840" y="3401568"/>
            <a:ext cx="3687775" cy="566928"/>
          </a:xfrm>
          <a:prstGeom prst="rect">
            <a:avLst/>
          </a:prstGeom>
          <a:noFill/>
          <a:ln/>
        </p:spPr>
        <p:txBody>
          <a:bodyPr wrap="square" lIns="0" tIns="0" rIns="0" bIns="0" rtlCol="0" anchor="b"/>
          <a:lstStyle/>
          <a:p>
            <a:pPr algn="l" indent="0" marL="0">
              <a:buNone/>
            </a:pPr>
            <a:r>
              <a:rPr lang="en-US" sz="3400" b="1" dirty="0">
                <a:solidFill>
                  <a:srgbClr val="16191D"/>
                </a:solidFill>
                <a:latin typeface="Cambria" pitchFamily="34" charset="0"/>
                <a:ea typeface="Cambria" pitchFamily="34" charset="-122"/>
                <a:cs typeface="Cambria" pitchFamily="34" charset="-120"/>
              </a:rPr>
              <a:t>893</a:t>
            </a:r>
            <a:endParaRPr lang="en-US" sz="3400" dirty="0"/>
          </a:p>
        </p:txBody>
      </p:sp>
      <p:sp>
        <p:nvSpPr>
          <p:cNvPr id="23" name="Text 21"/>
          <p:cNvSpPr/>
          <p:nvPr/>
        </p:nvSpPr>
        <p:spPr>
          <a:xfrm>
            <a:off x="7863840" y="4005072"/>
            <a:ext cx="368777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Jumlah baris latih kelas 4 — 0,93% dari data</a:t>
            </a:r>
            <a:endParaRPr lang="en-US" sz="1050" dirty="0"/>
          </a:p>
        </p:txBody>
      </p:sp>
      <p:sp>
        <p:nvSpPr>
          <p:cNvPr id="24" name="Shape 22"/>
          <p:cNvSpPr/>
          <p:nvPr/>
        </p:nvSpPr>
        <p:spPr>
          <a:xfrm>
            <a:off x="640080" y="4937760"/>
            <a:ext cx="10911535" cy="1298448"/>
          </a:xfrm>
          <a:prstGeom prst="roundRect">
            <a:avLst>
              <a:gd name="adj" fmla="val 4225"/>
            </a:avLst>
          </a:prstGeom>
          <a:solidFill>
            <a:srgbClr val="F4F1EC"/>
          </a:solidFill>
          <a:ln w="9525">
            <a:solidFill>
              <a:srgbClr val="DCD8D1"/>
            </a:solidFill>
            <a:prstDash val="solid"/>
          </a:ln>
        </p:spPr>
      </p:sp>
      <p:sp>
        <p:nvSpPr>
          <p:cNvPr id="25" name="Text 23"/>
          <p:cNvSpPr/>
          <p:nvPr/>
        </p:nvSpPr>
        <p:spPr>
          <a:xfrm>
            <a:off x="896112" y="4937760"/>
            <a:ext cx="10399471" cy="1298448"/>
          </a:xfrm>
          <a:prstGeom prst="rect">
            <a:avLst/>
          </a:prstGeom>
          <a:noFill/>
          <a:ln/>
        </p:spPr>
        <p:txBody>
          <a:bodyPr wrap="square" lIns="0" tIns="0" rIns="0" bIns="0" rtlCol="0" anchor="ctr"/>
          <a:lstStyle/>
          <a:p>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Mengapa ini penting untuk juri:  </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ketidakstabilan t₃ adalah konsekuensi langsung dari langkanya kelas 4, dan tidak ada model yang bisa memperbaikinya. Kami tidak menyembunyikannya di keterbatasan — kami mengukurnya, lalu memilih strategi estimasi yang secara eksplisit mengurangi variansi itu. Untuk pemakaian nyata, rekomendasi kami adalah </a:t>
            </a:r>
            <a:pPr indent="0" marL="0">
              <a:lnSpc>
                <a:spcPts val="1800"/>
              </a:lnSpc>
              <a:buNone/>
            </a:pPr>
            <a:r>
              <a:rPr lang="en-US" sz="1250" b="1" dirty="0">
                <a:solidFill>
                  <a:srgbClr val="A8442A"/>
                </a:solidFill>
                <a:latin typeface="Calibri" pitchFamily="34" charset="0"/>
                <a:ea typeface="Calibri" pitchFamily="34" charset="-122"/>
                <a:cs typeface="Calibri" pitchFamily="34" charset="-120"/>
              </a:rPr>
              <a:t>menurunkan t₃ di bawah nilai optimum QWK</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 karena penapisan kesehatan lebih menoleransi positif palsu daripada melewatkan kasus.</a:t>
            </a:r>
            <a:endParaRPr lang="en-US" sz="1250" dirty="0"/>
          </a:p>
        </p:txBody>
      </p:sp>
      <p:sp>
        <p:nvSpPr>
          <p:cNvPr id="27" name="Text 24"/>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8" name="Text 25"/>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SUDUT EKSKLUSIF 02</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Hasil nol yang paling informatif dalam proyek ini</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Dataset ini punya 14,4% sel kosong. Pertanyaan yang wajar: berapa banyak sinyal yang hilang bersamanya?</a:t>
            </a:r>
            <a:endParaRPr lang="en-US" sz="1350" dirty="0"/>
          </a:p>
        </p:txBody>
      </p:sp>
      <p:sp>
        <p:nvSpPr>
          <p:cNvPr id="7" name="Text 5"/>
          <p:cNvSpPr/>
          <p:nvPr/>
        </p:nvSpPr>
        <p:spPr>
          <a:xfrm>
            <a:off x="640080" y="2066544"/>
            <a:ext cx="10911535" cy="365760"/>
          </a:xfrm>
          <a:prstGeom prst="rect">
            <a:avLst/>
          </a:prstGeom>
          <a:noFill/>
          <a:ln/>
        </p:spPr>
        <p:txBody>
          <a:bodyPr wrap="square" lIns="0" tIns="0" rIns="0" bIns="0" rtlCol="0" anchor="ctr"/>
          <a:lstStyle/>
          <a:p>
            <a:pPr indent="0" marL="0">
              <a:buNone/>
            </a:pPr>
            <a:r>
              <a:rPr lang="en-US" sz="1250" dirty="0">
                <a:solidFill>
                  <a:srgbClr val="3A4048"/>
                </a:solidFill>
                <a:latin typeface="Calibri" pitchFamily="34" charset="0"/>
                <a:ea typeface="Calibri" pitchFamily="34" charset="-122"/>
                <a:cs typeface="Calibri" pitchFamily="34" charset="-120"/>
              </a:rPr>
              <a:t>Kami melatih satu model rekonstruksi per kolom, memakai kolom-kolom lain di dalam dataset resmi, lalu memulihkan nilai yang hilang secara bertahap.</a:t>
            </a:r>
            <a:endParaRPr lang="en-US" sz="1250" dirty="0"/>
          </a:p>
        </p:txBody>
      </p:sp>
      <p:sp>
        <p:nvSpPr>
          <p:cNvPr id="8" name="Shape 6"/>
          <p:cNvSpPr/>
          <p:nvPr/>
        </p:nvSpPr>
        <p:spPr>
          <a:xfrm>
            <a:off x="640080" y="2615184"/>
            <a:ext cx="3423818" cy="1481328"/>
          </a:xfrm>
          <a:prstGeom prst="roundRect">
            <a:avLst>
              <a:gd name="adj" fmla="val 3704"/>
            </a:avLst>
          </a:prstGeom>
          <a:solidFill>
            <a:srgbClr val="F4F1EC"/>
          </a:solidFill>
          <a:ln w="9525">
            <a:solidFill>
              <a:srgbClr val="DCD8D1"/>
            </a:solidFill>
            <a:prstDash val="solid"/>
          </a:ln>
        </p:spPr>
      </p:sp>
      <p:sp>
        <p:nvSpPr>
          <p:cNvPr id="9" name="Text 7"/>
          <p:cNvSpPr/>
          <p:nvPr/>
        </p:nvSpPr>
        <p:spPr>
          <a:xfrm>
            <a:off x="896112" y="2779776"/>
            <a:ext cx="2911754" cy="51206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3.030.768</a:t>
            </a:r>
            <a:endParaRPr lang="en-US" sz="3000" dirty="0"/>
          </a:p>
        </p:txBody>
      </p:sp>
      <p:sp>
        <p:nvSpPr>
          <p:cNvPr id="10" name="Text 8"/>
          <p:cNvSpPr/>
          <p:nvPr/>
        </p:nvSpPr>
        <p:spPr>
          <a:xfrm>
            <a:off x="896112" y="3328416"/>
            <a:ext cx="2911754" cy="640080"/>
          </a:xfrm>
          <a:prstGeom prst="rect">
            <a:avLst/>
          </a:prstGeom>
          <a:noFill/>
          <a:ln/>
        </p:spPr>
        <p:txBody>
          <a:bodyPr wrap="square" lIns="0" tIns="0" rIns="0" bIns="0" rtlCol="0" anchor="t"/>
          <a:lstStyle/>
          <a:p>
            <a:pPr indent="0" marL="0">
              <a:lnSpc>
                <a:spcPts val="1500"/>
              </a:lnSpc>
              <a:buNone/>
            </a:pPr>
            <a:r>
              <a:rPr lang="en-US" sz="1100" dirty="0">
                <a:solidFill>
                  <a:srgbClr val="6E747C"/>
                </a:solidFill>
                <a:latin typeface="Calibri" pitchFamily="34" charset="0"/>
                <a:ea typeface="Calibri" pitchFamily="34" charset="-122"/>
                <a:cs typeface="Calibri" pitchFamily="34" charset="-120"/>
              </a:rPr>
              <a:t>sel ter-mask dipulihkan seluruhnya</a:t>
            </a:r>
            <a:endParaRPr lang="en-US" sz="1100" dirty="0"/>
          </a:p>
        </p:txBody>
      </p:sp>
      <p:sp>
        <p:nvSpPr>
          <p:cNvPr id="11" name="Shape 9"/>
          <p:cNvSpPr/>
          <p:nvPr/>
        </p:nvSpPr>
        <p:spPr>
          <a:xfrm>
            <a:off x="4383938" y="2615184"/>
            <a:ext cx="3423818" cy="1481328"/>
          </a:xfrm>
          <a:prstGeom prst="roundRect">
            <a:avLst>
              <a:gd name="adj" fmla="val 3704"/>
            </a:avLst>
          </a:prstGeom>
          <a:solidFill>
            <a:srgbClr val="F4F1EC"/>
          </a:solidFill>
          <a:ln w="9525">
            <a:solidFill>
              <a:srgbClr val="DCD8D1"/>
            </a:solidFill>
            <a:prstDash val="solid"/>
          </a:ln>
        </p:spPr>
      </p:sp>
      <p:sp>
        <p:nvSpPr>
          <p:cNvPr id="12" name="Text 10"/>
          <p:cNvSpPr/>
          <p:nvPr/>
        </p:nvSpPr>
        <p:spPr>
          <a:xfrm>
            <a:off x="4639970" y="2779776"/>
            <a:ext cx="2911754" cy="51206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78</a:t>
            </a:r>
            <a:endParaRPr lang="en-US" sz="3000" dirty="0"/>
          </a:p>
        </p:txBody>
      </p:sp>
      <p:sp>
        <p:nvSpPr>
          <p:cNvPr id="13" name="Text 11"/>
          <p:cNvSpPr/>
          <p:nvPr/>
        </p:nvSpPr>
        <p:spPr>
          <a:xfrm>
            <a:off x="4639970" y="3328416"/>
            <a:ext cx="2911754" cy="640080"/>
          </a:xfrm>
          <a:prstGeom prst="rect">
            <a:avLst/>
          </a:prstGeom>
          <a:noFill/>
          <a:ln/>
        </p:spPr>
        <p:txBody>
          <a:bodyPr wrap="square" lIns="0" tIns="0" rIns="0" bIns="0" rtlCol="0" anchor="t"/>
          <a:lstStyle/>
          <a:p>
            <a:pPr indent="0" marL="0">
              <a:lnSpc>
                <a:spcPts val="1500"/>
              </a:lnSpc>
              <a:buNone/>
            </a:pPr>
            <a:r>
              <a:rPr lang="en-US" sz="1100" dirty="0">
                <a:solidFill>
                  <a:srgbClr val="6E747C"/>
                </a:solidFill>
                <a:latin typeface="Calibri" pitchFamily="34" charset="0"/>
                <a:ea typeface="Calibri" pitchFamily="34" charset="-122"/>
                <a:cs typeface="Calibri" pitchFamily="34" charset="-120"/>
              </a:rPr>
              <a:t>kolom direkonstruksi dengan akurasi di atas 95% — lima di antaranya sempurna</a:t>
            </a:r>
            <a:endParaRPr lang="en-US" sz="1100" dirty="0"/>
          </a:p>
        </p:txBody>
      </p:sp>
      <p:sp>
        <p:nvSpPr>
          <p:cNvPr id="14" name="Shape 12"/>
          <p:cNvSpPr/>
          <p:nvPr/>
        </p:nvSpPr>
        <p:spPr>
          <a:xfrm>
            <a:off x="8127797" y="2615184"/>
            <a:ext cx="3423818" cy="1481328"/>
          </a:xfrm>
          <a:prstGeom prst="roundRect">
            <a:avLst>
              <a:gd name="adj" fmla="val 3704"/>
            </a:avLst>
          </a:prstGeom>
          <a:solidFill>
            <a:srgbClr val="F4F1EC"/>
          </a:solidFill>
          <a:ln w="9525">
            <a:solidFill>
              <a:srgbClr val="DCD8D1"/>
            </a:solidFill>
            <a:prstDash val="solid"/>
          </a:ln>
        </p:spPr>
      </p:sp>
      <p:sp>
        <p:nvSpPr>
          <p:cNvPr id="15" name="Text 13"/>
          <p:cNvSpPr/>
          <p:nvPr/>
        </p:nvSpPr>
        <p:spPr>
          <a:xfrm>
            <a:off x="8383829" y="2779776"/>
            <a:ext cx="2911754" cy="512064"/>
          </a:xfrm>
          <a:prstGeom prst="rect">
            <a:avLst/>
          </a:prstGeom>
          <a:noFill/>
          <a:ln/>
        </p:spPr>
        <p:txBody>
          <a:bodyPr wrap="square" lIns="0" tIns="0" rIns="0" bIns="0" rtlCol="0" anchor="ctr"/>
          <a:lstStyle/>
          <a:p>
            <a:pPr indent="0" marL="0">
              <a:buNone/>
            </a:pPr>
            <a:r>
              <a:rPr lang="en-US" sz="2300" b="1" dirty="0">
                <a:solidFill>
                  <a:srgbClr val="A8442A"/>
                </a:solidFill>
                <a:latin typeface="Cambria" pitchFamily="34" charset="0"/>
                <a:ea typeface="Cambria" pitchFamily="34" charset="-122"/>
                <a:cs typeface="Cambria" pitchFamily="34" charset="-120"/>
              </a:rPr>
              <a:t>0,4755 – 0,4806</a:t>
            </a:r>
            <a:endParaRPr lang="en-US" sz="2300" dirty="0"/>
          </a:p>
        </p:txBody>
      </p:sp>
      <p:sp>
        <p:nvSpPr>
          <p:cNvPr id="16" name="Text 14"/>
          <p:cNvSpPr/>
          <p:nvPr/>
        </p:nvSpPr>
        <p:spPr>
          <a:xfrm>
            <a:off x="8383829" y="3328416"/>
            <a:ext cx="2911754" cy="640080"/>
          </a:xfrm>
          <a:prstGeom prst="rect">
            <a:avLst/>
          </a:prstGeom>
          <a:noFill/>
          <a:ln/>
        </p:spPr>
        <p:txBody>
          <a:bodyPr wrap="square" lIns="0" tIns="0" rIns="0" bIns="0" rtlCol="0" anchor="t"/>
          <a:lstStyle/>
          <a:p>
            <a:pPr indent="0" marL="0">
              <a:lnSpc>
                <a:spcPts val="1500"/>
              </a:lnSpc>
              <a:buNone/>
            </a:pPr>
            <a:r>
              <a:rPr lang="en-US" sz="1100" dirty="0">
                <a:solidFill>
                  <a:srgbClr val="6E747C"/>
                </a:solidFill>
                <a:latin typeface="Calibri" pitchFamily="34" charset="0"/>
                <a:ea typeface="Calibri" pitchFamily="34" charset="-122"/>
                <a:cs typeface="Calibri" pitchFamily="34" charset="-120"/>
              </a:rPr>
              <a:t>QWK pada tiga tingkat pemulihan: 56%, 79%, dan 100%</a:t>
            </a:r>
            <a:endParaRPr lang="en-US" sz="1100" dirty="0"/>
          </a:p>
        </p:txBody>
      </p:sp>
      <p:sp>
        <p:nvSpPr>
          <p:cNvPr id="17" name="Shape 15"/>
          <p:cNvSpPr/>
          <p:nvPr/>
        </p:nvSpPr>
        <p:spPr>
          <a:xfrm>
            <a:off x="640080" y="4370832"/>
            <a:ext cx="10911535" cy="1024128"/>
          </a:xfrm>
          <a:prstGeom prst="roundRect">
            <a:avLst>
              <a:gd name="adj" fmla="val 5357"/>
            </a:avLst>
          </a:prstGeom>
          <a:solidFill>
            <a:srgbClr val="16191D"/>
          </a:solidFill>
          <a:ln/>
        </p:spPr>
      </p:sp>
      <p:sp>
        <p:nvSpPr>
          <p:cNvPr id="18" name="Text 16"/>
          <p:cNvSpPr/>
          <p:nvPr/>
        </p:nvSpPr>
        <p:spPr>
          <a:xfrm>
            <a:off x="914400" y="4370832"/>
            <a:ext cx="10362895" cy="10241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Yang dapat dipulihkan adalah redundansi, bukan sinyal.</a:t>
            </a:r>
            <a:endParaRPr lang="en-US" sz="2600" dirty="0"/>
          </a:p>
        </p:txBody>
      </p:sp>
      <p:sp>
        <p:nvSpPr>
          <p:cNvPr id="19" name="Text 17"/>
          <p:cNvSpPr/>
          <p:nvPr/>
        </p:nvSpPr>
        <p:spPr>
          <a:xfrm>
            <a:off x="640080" y="5541264"/>
            <a:ext cx="10911535" cy="731520"/>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Memulihkan tiga juta sel tidak menaikkan QWK sama sekali — ketiga tingkat pemulihan menghasilkan skor yang praktis identik. Penjelasannya lugas: nilai yang dapat ditebak dengan akurasi 99% dari kolom lain, menurut definisi, tidak membawa informasi baru. </a:t>
            </a:r>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Konsekuensinya untuk desain: kami berhenti mengejar imputasi dan mengarahkan seluruh sisa waktu ke kalibrasi aturan keputusan.</a:t>
            </a:r>
            <a:endParaRPr lang="en-US" sz="1250" dirty="0"/>
          </a:p>
        </p:txBody>
      </p:sp>
      <p:sp>
        <p:nvSpPr>
          <p:cNvPr id="21" name="Text 18"/>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2" name="Text 19"/>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SUDUT EKSKLUSIF 03</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Kami menangkap overfitting kami sendiri</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Ambang batas per segmen adalah ide yang terdengar benar: kalibrasi berbeda untuk tahun survei, status kesehatan, dan kelompok usia yang berbeda.</a:t>
            </a:r>
            <a:endParaRPr lang="en-US" sz="1350" dirty="0"/>
          </a:p>
        </p:txBody>
      </p:sp>
      <p:sp>
        <p:nvSpPr>
          <p:cNvPr id="7" name="Shape 5"/>
          <p:cNvSpPr/>
          <p:nvPr/>
        </p:nvSpPr>
        <p:spPr>
          <a:xfrm>
            <a:off x="640080" y="2615184"/>
            <a:ext cx="5272888" cy="2139696"/>
          </a:xfrm>
          <a:prstGeom prst="roundRect">
            <a:avLst>
              <a:gd name="adj" fmla="val 2564"/>
            </a:avLst>
          </a:prstGeom>
          <a:solidFill>
            <a:srgbClr val="F4F1EC"/>
          </a:solidFill>
          <a:ln w="9525">
            <a:solidFill>
              <a:srgbClr val="DCD8D1"/>
            </a:solidFill>
            <a:prstDash val="solid"/>
          </a:ln>
        </p:spPr>
      </p:sp>
      <p:sp>
        <p:nvSpPr>
          <p:cNvPr id="8" name="Text 6"/>
          <p:cNvSpPr/>
          <p:nvPr/>
        </p:nvSpPr>
        <p:spPr>
          <a:xfrm>
            <a:off x="914400" y="2779776"/>
            <a:ext cx="4724248" cy="310896"/>
          </a:xfrm>
          <a:prstGeom prst="rect">
            <a:avLst/>
          </a:prstGeom>
          <a:noFill/>
          <a:ln/>
        </p:spPr>
        <p:txBody>
          <a:bodyPr wrap="square" lIns="0" tIns="0" rIns="0" bIns="0" rtlCol="0" anchor="ctr"/>
          <a:lstStyle/>
          <a:p>
            <a:pPr indent="0" marL="0">
              <a:buNone/>
            </a:pPr>
            <a:r>
              <a:rPr lang="en-US" sz="1050" b="1" spc="140" kern="0" dirty="0">
                <a:solidFill>
                  <a:srgbClr val="6E747C"/>
                </a:solidFill>
                <a:latin typeface="Calibri" pitchFamily="34" charset="0"/>
                <a:ea typeface="Calibri" pitchFamily="34" charset="-122"/>
                <a:cs typeface="Calibri" pitchFamily="34" charset="-120"/>
              </a:rPr>
              <a:t>Yang terlihat</a:t>
            </a:r>
            <a:endParaRPr lang="en-US" sz="1050" dirty="0"/>
          </a:p>
        </p:txBody>
      </p:sp>
      <p:sp>
        <p:nvSpPr>
          <p:cNvPr id="9" name="Text 7"/>
          <p:cNvSpPr/>
          <p:nvPr/>
        </p:nvSpPr>
        <p:spPr>
          <a:xfrm>
            <a:off x="914400" y="3108960"/>
            <a:ext cx="4724248" cy="457200"/>
          </a:xfrm>
          <a:prstGeom prst="rect">
            <a:avLst/>
          </a:prstGeom>
          <a:noFill/>
          <a:ln/>
        </p:spPr>
        <p:txBody>
          <a:bodyPr wrap="square" lIns="0" tIns="0" rIns="0" bIns="0" rtlCol="0" anchor="ctr"/>
          <a:lstStyle/>
          <a:p>
            <a:pPr indent="0" marL="0">
              <a:buNone/>
            </a:pPr>
            <a:r>
              <a:rPr lang="en-US" sz="2400" b="1" dirty="0">
                <a:solidFill>
                  <a:srgbClr val="2F6B5F"/>
                </a:solidFill>
                <a:latin typeface="Cambria" pitchFamily="34" charset="0"/>
                <a:ea typeface="Cambria" pitchFamily="34" charset="-122"/>
                <a:cs typeface="Cambria" pitchFamily="34" charset="-120"/>
              </a:rPr>
              <a:t>QWK naik</a:t>
            </a:r>
            <a:endParaRPr lang="en-US" sz="2400" dirty="0"/>
          </a:p>
        </p:txBody>
      </p:sp>
      <p:sp>
        <p:nvSpPr>
          <p:cNvPr id="10" name="Text 8"/>
          <p:cNvSpPr/>
          <p:nvPr/>
        </p:nvSpPr>
        <p:spPr>
          <a:xfrm>
            <a:off x="914400" y="3602736"/>
            <a:ext cx="4724248" cy="1042416"/>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Memasang ambang terpisah untuk setiap segmen — tahun survei, status kesehatan, kelompok usia, dan silangannya — konsisten menaikkan QWK pada himpunan tempat ambang itu dipasang. Semakin banyak segmen, semakin tinggi skornya.</a:t>
            </a:r>
            <a:endParaRPr lang="en-US" sz="1150" dirty="0"/>
          </a:p>
        </p:txBody>
      </p:sp>
      <p:sp>
        <p:nvSpPr>
          <p:cNvPr id="11" name="Shape 9"/>
          <p:cNvSpPr/>
          <p:nvPr/>
        </p:nvSpPr>
        <p:spPr>
          <a:xfrm>
            <a:off x="6278728" y="2615184"/>
            <a:ext cx="5272888" cy="2139696"/>
          </a:xfrm>
          <a:prstGeom prst="roundRect">
            <a:avLst>
              <a:gd name="adj" fmla="val 2564"/>
            </a:avLst>
          </a:prstGeom>
          <a:solidFill>
            <a:srgbClr val="F4F1EC"/>
          </a:solidFill>
          <a:ln w="9525">
            <a:solidFill>
              <a:srgbClr val="DCD8D1"/>
            </a:solidFill>
            <a:prstDash val="solid"/>
          </a:ln>
        </p:spPr>
      </p:sp>
      <p:sp>
        <p:nvSpPr>
          <p:cNvPr id="12" name="Text 10"/>
          <p:cNvSpPr/>
          <p:nvPr/>
        </p:nvSpPr>
        <p:spPr>
          <a:xfrm>
            <a:off x="6553048" y="2779776"/>
            <a:ext cx="4724248" cy="310896"/>
          </a:xfrm>
          <a:prstGeom prst="rect">
            <a:avLst/>
          </a:prstGeom>
          <a:noFill/>
          <a:ln/>
        </p:spPr>
        <p:txBody>
          <a:bodyPr wrap="square" lIns="0" tIns="0" rIns="0" bIns="0" rtlCol="0" anchor="ctr"/>
          <a:lstStyle/>
          <a:p>
            <a:pPr indent="0" marL="0">
              <a:buNone/>
            </a:pPr>
            <a:r>
              <a:rPr lang="en-US" sz="1050" b="1" spc="140" kern="0" dirty="0">
                <a:solidFill>
                  <a:srgbClr val="6E747C"/>
                </a:solidFill>
                <a:latin typeface="Calibri" pitchFamily="34" charset="0"/>
                <a:ea typeface="Calibri" pitchFamily="34" charset="-122"/>
                <a:cs typeface="Calibri" pitchFamily="34" charset="-120"/>
              </a:rPr>
              <a:t>Yang sebenarnya terjadi</a:t>
            </a:r>
            <a:endParaRPr lang="en-US" sz="1050" dirty="0"/>
          </a:p>
        </p:txBody>
      </p:sp>
      <p:sp>
        <p:nvSpPr>
          <p:cNvPr id="13" name="Text 11"/>
          <p:cNvSpPr/>
          <p:nvPr/>
        </p:nvSpPr>
        <p:spPr>
          <a:xfrm>
            <a:off x="6553048" y="3108960"/>
            <a:ext cx="4724248" cy="457200"/>
          </a:xfrm>
          <a:prstGeom prst="rect">
            <a:avLst/>
          </a:prstGeom>
          <a:noFill/>
          <a:ln/>
        </p:spPr>
        <p:txBody>
          <a:bodyPr wrap="square" lIns="0" tIns="0" rIns="0" bIns="0" rtlCol="0" anchor="ctr"/>
          <a:lstStyle/>
          <a:p>
            <a:pPr indent="0" marL="0">
              <a:buNone/>
            </a:pPr>
            <a:r>
              <a:rPr lang="en-US" sz="2400" b="1" dirty="0">
                <a:solidFill>
                  <a:srgbClr val="A8442A"/>
                </a:solidFill>
                <a:latin typeface="Cambria" pitchFamily="34" charset="0"/>
                <a:ea typeface="Cambria" pitchFamily="34" charset="-122"/>
                <a:cs typeface="Cambria" pitchFamily="34" charset="-120"/>
              </a:rPr>
              <a:t>held-out turun monoton</a:t>
            </a:r>
            <a:endParaRPr lang="en-US" sz="2400" dirty="0"/>
          </a:p>
        </p:txBody>
      </p:sp>
      <p:sp>
        <p:nvSpPr>
          <p:cNvPr id="14" name="Text 12"/>
          <p:cNvSpPr/>
          <p:nvPr/>
        </p:nvSpPr>
        <p:spPr>
          <a:xfrm>
            <a:off x="6553048" y="3602736"/>
            <a:ext cx="4724248" cy="1042416"/>
          </a:xfrm>
          <a:prstGeom prst="rect">
            <a:avLst/>
          </a:prstGeom>
          <a:noFill/>
          <a:ln/>
        </p:spPr>
        <p:txBody>
          <a:bodyPr wrap="square" lIns="0" tIns="0" rIns="0" bIns="0" rtlCol="0" anchor="t"/>
          <a:lstStyle/>
          <a:p>
            <a:pPr indent="0" marL="0">
              <a:lnSpc>
                <a:spcPts val="1600"/>
              </a:lnSpc>
              <a:buNone/>
            </a:pPr>
            <a:r>
              <a:rPr lang="en-US" sz="1150" dirty="0">
                <a:solidFill>
                  <a:srgbClr val="3A4048"/>
                </a:solidFill>
                <a:latin typeface="Calibri" pitchFamily="34" charset="0"/>
                <a:ea typeface="Calibri" pitchFamily="34" charset="-122"/>
                <a:cs typeface="Calibri" pitchFamily="34" charset="-120"/>
              </a:rPr>
              <a:t>Uji split-half membongkarnya: setiap parameter tambahan menaikkan skor in-sample dan menurunkan skor held-out. Kenaikan itu bukan kalibrasi yang lebih baik, melainkan hafalan terhadap derau tiap segmen.</a:t>
            </a:r>
            <a:endParaRPr lang="en-US" sz="1150" dirty="0"/>
          </a:p>
        </p:txBody>
      </p:sp>
      <p:sp>
        <p:nvSpPr>
          <p:cNvPr id="15" name="Shape 13"/>
          <p:cNvSpPr/>
          <p:nvPr/>
        </p:nvSpPr>
        <p:spPr>
          <a:xfrm>
            <a:off x="640080" y="4974336"/>
            <a:ext cx="10911535" cy="1280160"/>
          </a:xfrm>
          <a:prstGeom prst="roundRect">
            <a:avLst>
              <a:gd name="adj" fmla="val 4286"/>
            </a:avLst>
          </a:prstGeom>
          <a:solidFill>
            <a:srgbClr val="ECE7DF"/>
          </a:solidFill>
          <a:ln w="9525">
            <a:solidFill>
              <a:srgbClr val="DCD8D1"/>
            </a:solidFill>
            <a:prstDash val="solid"/>
          </a:ln>
        </p:spPr>
      </p:sp>
      <p:sp>
        <p:nvSpPr>
          <p:cNvPr id="16" name="Text 14"/>
          <p:cNvSpPr/>
          <p:nvPr/>
        </p:nvSpPr>
        <p:spPr>
          <a:xfrm>
            <a:off x="914400" y="4974336"/>
            <a:ext cx="10362895" cy="1280160"/>
          </a:xfrm>
          <a:prstGeom prst="rect">
            <a:avLst/>
          </a:prstGeom>
          <a:noFill/>
          <a:ln/>
        </p:spPr>
        <p:txBody>
          <a:bodyPr wrap="square" lIns="0" tIns="0" rIns="0" bIns="0" rtlCol="0" anchor="ctr"/>
          <a:lstStyle/>
          <a:p>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Keputusan:  </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ditolak, dan kami membatasi diri pada tiga ambang global saja. Yang ingin kami tekankan bukan bahwa kami menemukan ide ini, melainkan bahwa kami </a:t>
            </a:r>
            <a:pPr indent="0" marL="0">
              <a:lnSpc>
                <a:spcPts val="1800"/>
              </a:lnSpc>
              <a:buNone/>
            </a:pPr>
            <a:r>
              <a:rPr lang="en-US" sz="1250" b="1" dirty="0">
                <a:solidFill>
                  <a:srgbClr val="A8442A"/>
                </a:solidFill>
                <a:latin typeface="Calibri" pitchFamily="34" charset="0"/>
                <a:ea typeface="Calibri" pitchFamily="34" charset="-122"/>
                <a:cs typeface="Calibri" pitchFamily="34" charset="-120"/>
              </a:rPr>
              <a:t>membangun alat untuk membunuhnya</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 sebelum mengirimkannya. Tanpa uji split-half, konfigurasi ini akan terlihat sebagai perbaikan terbesar kedua dalam proyek — dan akan merugikan kami di data uji. Pengalaman inilah yang mendasari seluruh kebijakan seleksi di slide berikutnya.</a:t>
            </a:r>
            <a:endParaRPr lang="en-US" sz="1250" dirty="0"/>
          </a:p>
        </p:txBody>
      </p:sp>
      <p:sp>
        <p:nvSpPr>
          <p:cNvPr id="18" name="Text 15"/>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9" name="Text 16"/>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JEJAK KERJA</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Enam belas pendekatan yang kami uji lalu tolak</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Hasil negatif kami laporkan selengkap hasil positif. Daftar inilah yang menjelaskan mengapa arsitektur akhir sesederhana ini.</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249424"/>
          <a:ext cx="10911535" cy="914400"/>
        </p:xfrm>
        <a:graphic>
          <a:graphicData uri="http://schemas.openxmlformats.org/drawingml/2006/table">
            <a:tbl>
              <a:tblPr/>
              <a:tblGrid>
                <a:gridCol w="3017520"/>
                <a:gridCol w="3154680"/>
                <a:gridCol w="1874520"/>
                <a:gridCol w="2862072"/>
              </a:tblGrid>
              <a:tr h="214884">
                <a:tc>
                  <a:txBody>
                    <a:bodyPr/>
                    <a:lstStyle/>
                    <a:p>
                      <a:pPr algn="l" indent="0" marL="0">
                        <a:buNone/>
                      </a:pPr>
                      <a:r>
                        <a:rPr lang="en-US" sz="1000" b="1" dirty="0">
                          <a:solidFill>
                            <a:srgbClr val="16191D"/>
                          </a:solidFill>
                          <a:latin typeface="Calibri" pitchFamily="34" charset="0"/>
                          <a:ea typeface="Calibri" pitchFamily="34" charset="-122"/>
                          <a:cs typeface="Calibri" pitchFamily="34" charset="-120"/>
                        </a:rPr>
                        <a:t>Eksperimen</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000" b="1" dirty="0">
                          <a:solidFill>
                            <a:srgbClr val="16191D"/>
                          </a:solidFill>
                          <a:latin typeface="Calibri" pitchFamily="34" charset="0"/>
                          <a:ea typeface="Calibri" pitchFamily="34" charset="-122"/>
                          <a:cs typeface="Calibri" pitchFamily="34" charset="-120"/>
                        </a:rPr>
                        <a:t>Cakupan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000" b="1" dirty="0">
                          <a:solidFill>
                            <a:srgbClr val="16191D"/>
                          </a:solidFill>
                          <a:latin typeface="Calibri" pitchFamily="34" charset="0"/>
                          <a:ea typeface="Calibri" pitchFamily="34" charset="-122"/>
                          <a:cs typeface="Calibri" pitchFamily="34" charset="-120"/>
                        </a:rPr>
                        <a:t>QWK</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000" b="1" dirty="0">
                          <a:solidFill>
                            <a:srgbClr val="16191D"/>
                          </a:solidFill>
                          <a:latin typeface="Calibri" pitchFamily="34" charset="0"/>
                          <a:ea typeface="Calibri" pitchFamily="34" charset="-122"/>
                          <a:cs typeface="Calibri" pitchFamily="34" charset="-120"/>
                        </a:rPr>
                        <a:t>Kesimpulan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Pencarian hyperparameter acak</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28 konfigurasi LightGBM</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0,465 – 0,467</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Tidak ada yang menonjol</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Rekonstruksi nilai hilang</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3.030.768 sel dipulihkan penuh</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0,4755 – 0,4806</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Datar di tiga tingkat pemulihan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Pembobotan sampel</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4 tingkat bobot kelas minoritas</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0,458 – 0,469</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Menurun monoton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Self-training</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Pseudo-label data uji</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0,4735</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Tidak menembus</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Pembobotan survei</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survey_weight sebagai bobot latih</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0,4726</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Tidak menembus</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Bagging 9 model</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6 LightGBM + 3 CatBoost</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0,4820</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Di bawah stacking</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Blending 25 kandidat</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Greedy forward, z-score, rank-avg</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0,4834 – 0,4839</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Setara model tunggal terbaik</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Vektor nilai kelas terlatih</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Mengganti bobot (1,2,3,4)</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0,4835</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Optimum tetap (1,2,3,4)</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Aturan linear pada simpleks</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argmax(W·p + b), 20 parameter</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0,4744</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Di bawah pendekatan ordinal</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Model fondasi tabular</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TabPFN v2 pada GPU</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tidak selesai</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85 menit per bag</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b="1" dirty="0">
                          <a:solidFill>
                            <a:srgbClr val="A8442A"/>
                          </a:solidFill>
                          <a:latin typeface="Calibri" pitchFamily="34" charset="0"/>
                          <a:ea typeface="Calibri" pitchFamily="34" charset="-122"/>
                          <a:cs typeface="Calibri" pitchFamily="34" charset="-120"/>
                        </a:rPr>
                        <a:t>Ambang batas per segmen</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A8442A"/>
                          </a:solidFill>
                          <a:latin typeface="Calibri" pitchFamily="34" charset="0"/>
                          <a:ea typeface="Calibri" pitchFamily="34" charset="-122"/>
                          <a:cs typeface="Calibri" pitchFamily="34" charset="-120"/>
                        </a:rPr>
                        <a:t>Tahun, kesehatan, usia, silangannya</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A8442A"/>
                          </a:solidFill>
                          <a:latin typeface="Calibri" pitchFamily="34" charset="0"/>
                          <a:ea typeface="Calibri" pitchFamily="34" charset="-122"/>
                          <a:cs typeface="Calibri" pitchFamily="34" charset="-120"/>
                        </a:rPr>
                        <a:t>tampak naik</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b="1" dirty="0">
                          <a:solidFill>
                            <a:srgbClr val="A8442A"/>
                          </a:solidFill>
                          <a:latin typeface="Calibri" pitchFamily="34" charset="0"/>
                          <a:ea typeface="Calibri" pitchFamily="34" charset="-122"/>
                          <a:cs typeface="Calibri" pitchFamily="34" charset="-120"/>
                        </a:rPr>
                        <a:t>Terbukti overfit lewat split-half</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Fitur komposit (ablasi)</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Indeks gabungan buatan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−0,00090</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Dibuang</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Kode khusus 7/8/9 → NaN (ablasi)</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Penanganan non-respons</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+0,00111</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Di bawah derau, dibuang</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214884">
                <a:tc>
                  <a:txBody>
                    <a:bodyPr/>
                    <a:lstStyle/>
                    <a:p>
                      <a:pPr algn="l" indent="0" marL="0">
                        <a:buNone/>
                      </a:pPr>
                      <a:r>
                        <a:rPr lang="en-US" sz="1000" dirty="0">
                          <a:solidFill>
                            <a:srgbClr val="3A4048"/>
                          </a:solidFill>
                          <a:latin typeface="Calibri" pitchFamily="34" charset="0"/>
                          <a:ea typeface="Calibri" pitchFamily="34" charset="-122"/>
                          <a:cs typeface="Calibri" pitchFamily="34" charset="-120"/>
                        </a:rPr>
                        <a:t>Target encoding rumah tangga</a:t>
                      </a:r>
                      <a:endParaRPr lang="en-US" sz="1000" dirty="0">
                        <a:latin typeface="Calibri" charset="0"/>
                        <a:ea typeface="Calibri" charset="0"/>
                        <a:cs typeface="Calibri" charset="0"/>
                      </a:endParaRPr>
                    </a:p>
                  </a:txBody>
                  <a:tcPr marL="25400" marR="101600" marT="25400" marB="254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11.620 rumah tangga beririsan</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lift +1,6pp</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000" dirty="0">
                          <a:solidFill>
                            <a:srgbClr val="3A4048"/>
                          </a:solidFill>
                          <a:latin typeface="Calibri" pitchFamily="34" charset="0"/>
                          <a:ea typeface="Calibri" pitchFamily="34" charset="-122"/>
                          <a:cs typeface="Calibri" pitchFamily="34" charset="-120"/>
                        </a:rPr>
                        <a:t>Ditolak sebelum dipakai</a:t>
                      </a:r>
                      <a:endParaRPr lang="en-US" sz="1000" dirty="0">
                        <a:latin typeface="Calibri" charset="0"/>
                        <a:ea typeface="Calibri" charset="0"/>
                        <a:cs typeface="Calibri" charset="0"/>
                      </a:endParaRPr>
                    </a:p>
                  </a:txBody>
                  <a:tcPr marL="101600" marR="101600" marT="25400" marB="254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r>
            </a:tbl>
          </a:graphicData>
        </a:graphic>
      </p:graphicFrame>
      <p:sp>
        <p:nvSpPr>
          <p:cNvPr id="8" name="Text 5"/>
          <p:cNvSpPr/>
          <p:nvPr/>
        </p:nvSpPr>
        <p:spPr>
          <a:xfrm>
            <a:off x="640080" y="5961888"/>
            <a:ext cx="10911535" cy="292608"/>
          </a:xfrm>
          <a:prstGeom prst="rect">
            <a:avLst/>
          </a:prstGeom>
          <a:noFill/>
          <a:ln/>
        </p:spPr>
        <p:txBody>
          <a:bodyPr wrap="square" lIns="0" tIns="0" rIns="0" bIns="0" rtlCol="0" anchor="ctr"/>
          <a:lstStyle/>
          <a:p>
            <a:pPr indent="0" marL="0">
              <a:buNone/>
            </a:pPr>
            <a:r>
              <a:rPr lang="en-US" sz="1000" i="1" dirty="0">
                <a:solidFill>
                  <a:srgbClr val="6E747C"/>
                </a:solidFill>
                <a:latin typeface="Calibri" pitchFamily="34" charset="0"/>
                <a:ea typeface="Calibri" pitchFamily="34" charset="-122"/>
                <a:cs typeface="Calibri" pitchFamily="34" charset="-120"/>
              </a:rPr>
              <a:t>Dua ablasi tambahan — imputasi median dan seleksi fitur berbasis permutation — dijalankan di luar notebook dengan hasil serupa.</a:t>
            </a:r>
            <a:endParaRPr lang="en-US" sz="1000" dirty="0"/>
          </a:p>
        </p:txBody>
      </p:sp>
      <p:sp>
        <p:nvSpPr>
          <p:cNvPr id="10" name="Text 6"/>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1" name="Text 7"/>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SUDUT EKSKLUSIF 04</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Tidak ada kriteria seleksi yang benar-benar bekerja</a:t>
            </a:r>
            <a:endParaRPr lang="en-US" sz="3000" dirty="0"/>
          </a:p>
        </p:txBody>
      </p:sp>
      <p:sp>
        <p:nvSpPr>
          <p:cNvPr id="6" name="Text 4"/>
          <p:cNvSpPr/>
          <p:nvPr/>
        </p:nvSpPr>
        <p:spPr>
          <a:xfrm>
            <a:off x="640080" y="1609344"/>
            <a:ext cx="10911535" cy="54864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Kami mengevaluasi 25 konfigurasi — lima cara menggabungkan model dasar × lima strategi estimasi ambang — lalu menguji apakah kriteria seleksi kami sendiri mampu menunjuk pemenangnya.</a:t>
            </a:r>
            <a:endParaRPr lang="en-US" sz="13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2688336"/>
          <a:ext cx="6035040" cy="914400"/>
        </p:xfrm>
        <a:graphic>
          <a:graphicData uri="http://schemas.openxmlformats.org/drawingml/2006/table">
            <a:tbl>
              <a:tblPr/>
              <a:tblGrid>
                <a:gridCol w="3749040"/>
                <a:gridCol w="2286000"/>
              </a:tblGrid>
              <a:tr h="384048">
                <a:tc>
                  <a:txBody>
                    <a:bodyPr/>
                    <a:lstStyle/>
                    <a:p>
                      <a:pPr algn="l" indent="0" marL="0">
                        <a:buNone/>
                      </a:pPr>
                      <a:r>
                        <a:rPr lang="en-US" sz="1250" b="1" dirty="0">
                          <a:solidFill>
                            <a:srgbClr val="16191D"/>
                          </a:solidFill>
                          <a:latin typeface="Calibri" pitchFamily="34" charset="0"/>
                          <a:ea typeface="Calibri" pitchFamily="34" charset="-122"/>
                          <a:cs typeface="Calibri" pitchFamily="34" charset="-120"/>
                        </a:rPr>
                        <a:t>Kriteria seleksi berbasis data latih</a:t>
                      </a:r>
                      <a:endParaRPr lang="en-US" sz="1250" dirty="0">
                        <a:latin typeface="Calibri" charset="0"/>
                        <a:ea typeface="Calibri" charset="0"/>
                        <a:cs typeface="Calibri" charset="0"/>
                      </a:endParaRPr>
                    </a:p>
                  </a:txBody>
                  <a:tcPr marL="254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250" b="1" dirty="0">
                          <a:solidFill>
                            <a:srgbClr val="16191D"/>
                          </a:solidFill>
                          <a:latin typeface="Calibri" pitchFamily="34" charset="0"/>
                          <a:ea typeface="Calibri" pitchFamily="34" charset="-122"/>
                          <a:cs typeface="Calibri" pitchFamily="34" charset="-120"/>
                        </a:rPr>
                        <a:t>Korelasi dengan kinerja pada data uji</a:t>
                      </a:r>
                      <a:endParaRPr lang="en-US" sz="125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r>
              <a:tr h="384048">
                <a:tc>
                  <a:txBody>
                    <a:bodyPr/>
                    <a:lstStyle/>
                    <a:p>
                      <a:pPr algn="l" indent="0" marL="0">
                        <a:buNone/>
                      </a:pPr>
                      <a:r>
                        <a:rPr lang="en-US" sz="1250" dirty="0">
                          <a:solidFill>
                            <a:srgbClr val="3A4048"/>
                          </a:solidFill>
                          <a:latin typeface="Calibri" pitchFamily="34" charset="0"/>
                          <a:ea typeface="Calibri" pitchFamily="34" charset="-122"/>
                          <a:cs typeface="Calibri" pitchFamily="34" charset="-120"/>
                        </a:rPr>
                        <a:t>QWK out-of-fold</a:t>
                      </a:r>
                      <a:endParaRPr lang="en-US" sz="12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250" b="1" dirty="0">
                          <a:solidFill>
                            <a:srgbClr val="A8442A"/>
                          </a:solidFill>
                          <a:latin typeface="Calibri" pitchFamily="34" charset="0"/>
                          <a:ea typeface="Calibri" pitchFamily="34" charset="-122"/>
                          <a:cs typeface="Calibri" pitchFamily="34" charset="-120"/>
                        </a:rPr>
                        <a:t>≈ 0,08</a:t>
                      </a:r>
                      <a:endParaRPr lang="en-US" sz="12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384048">
                <a:tc>
                  <a:txBody>
                    <a:bodyPr/>
                    <a:lstStyle/>
                    <a:p>
                      <a:pPr algn="l" indent="0" marL="0">
                        <a:buNone/>
                      </a:pPr>
                      <a:r>
                        <a:rPr lang="en-US" sz="1250" dirty="0">
                          <a:solidFill>
                            <a:srgbClr val="3A4048"/>
                          </a:solidFill>
                          <a:latin typeface="Calibri" pitchFamily="34" charset="0"/>
                          <a:ea typeface="Calibri" pitchFamily="34" charset="-122"/>
                          <a:cs typeface="Calibri" pitchFamily="34" charset="-120"/>
                        </a:rPr>
                        <a:t>QWK held-out (uji split-half)</a:t>
                      </a:r>
                      <a:endParaRPr lang="en-US" sz="125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250" b="1" dirty="0">
                          <a:solidFill>
                            <a:srgbClr val="A8442A"/>
                          </a:solidFill>
                          <a:latin typeface="Calibri" pitchFamily="34" charset="0"/>
                          <a:ea typeface="Calibri" pitchFamily="34" charset="-122"/>
                          <a:cs typeface="Calibri" pitchFamily="34" charset="-120"/>
                        </a:rPr>
                        <a:t>≈ 0,16</a:t>
                      </a:r>
                      <a:endParaRPr lang="en-US" sz="125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r>
            </a:tbl>
          </a:graphicData>
        </a:graphic>
      </p:graphicFrame>
      <p:sp>
        <p:nvSpPr>
          <p:cNvPr id="8" name="Text 5"/>
          <p:cNvSpPr/>
          <p:nvPr/>
        </p:nvSpPr>
        <p:spPr>
          <a:xfrm>
            <a:off x="640080" y="4133088"/>
            <a:ext cx="6035040" cy="603504"/>
          </a:xfrm>
          <a:prstGeom prst="rect">
            <a:avLst/>
          </a:prstGeom>
          <a:noFill/>
          <a:ln/>
        </p:spPr>
        <p:txBody>
          <a:bodyPr wrap="square" lIns="0" tIns="0" rIns="0" bIns="0" rtlCol="0" anchor="t"/>
          <a:lstStyle/>
          <a:p>
            <a:pPr indent="0" marL="0">
              <a:lnSpc>
                <a:spcPts val="1400"/>
              </a:lnSpc>
              <a:buNone/>
            </a:pPr>
            <a:r>
              <a:rPr lang="en-US" sz="1050" i="1" dirty="0">
                <a:solidFill>
                  <a:srgbClr val="6E747C"/>
                </a:solidFill>
                <a:latin typeface="Calibri" pitchFamily="34" charset="0"/>
                <a:ea typeface="Calibri" pitchFamily="34" charset="-122"/>
                <a:cs typeface="Calibri" pitchFamily="34" charset="-120"/>
              </a:rPr>
              <a:t>Dihitung pada 20 konfigurasi yang sama-sama masuk akal, setelah satu strategi yang jelas buruk (pencocokan distribusi) dikeluarkan agar tidak menggelembungkan korelasi.</a:t>
            </a:r>
            <a:endParaRPr lang="en-US" sz="1050" dirty="0"/>
          </a:p>
        </p:txBody>
      </p:sp>
      <p:sp>
        <p:nvSpPr>
          <p:cNvPr id="9" name="Text 6"/>
          <p:cNvSpPr/>
          <p:nvPr/>
        </p:nvSpPr>
        <p:spPr>
          <a:xfrm>
            <a:off x="7178040" y="2688336"/>
            <a:ext cx="4373575" cy="566928"/>
          </a:xfrm>
          <a:prstGeom prst="rect">
            <a:avLst/>
          </a:prstGeom>
          <a:noFill/>
          <a:ln/>
        </p:spPr>
        <p:txBody>
          <a:bodyPr wrap="square" lIns="0" tIns="0" rIns="0" bIns="0" rtlCol="0" anchor="b"/>
          <a:lstStyle/>
          <a:p>
            <a:pPr algn="l" indent="0" marL="0">
              <a:buNone/>
            </a:pPr>
            <a:r>
              <a:rPr lang="en-US" sz="3400" b="1" dirty="0">
                <a:solidFill>
                  <a:srgbClr val="16191D"/>
                </a:solidFill>
                <a:latin typeface="Cambria" pitchFamily="34" charset="0"/>
                <a:ea typeface="Cambria" pitchFamily="34" charset="-122"/>
                <a:cs typeface="Cambria" pitchFamily="34" charset="-120"/>
              </a:rPr>
              <a:t>0,003</a:t>
            </a:r>
            <a:endParaRPr lang="en-US" sz="3400" dirty="0"/>
          </a:p>
        </p:txBody>
      </p:sp>
      <p:sp>
        <p:nvSpPr>
          <p:cNvPr id="10" name="Text 7"/>
          <p:cNvSpPr/>
          <p:nvPr/>
        </p:nvSpPr>
        <p:spPr>
          <a:xfrm>
            <a:off x="7178040" y="3291840"/>
            <a:ext cx="4373575" cy="731520"/>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Rentang QWK di antara kedua puluh konfigurasi itu — lebih kecil daripada derau pengukurannya sendiri</a:t>
            </a:r>
            <a:endParaRPr lang="en-US" sz="1050" dirty="0"/>
          </a:p>
        </p:txBody>
      </p:sp>
      <p:sp>
        <p:nvSpPr>
          <p:cNvPr id="11" name="Shape 8"/>
          <p:cNvSpPr/>
          <p:nvPr/>
        </p:nvSpPr>
        <p:spPr>
          <a:xfrm>
            <a:off x="640080" y="4626864"/>
            <a:ext cx="10911535" cy="841248"/>
          </a:xfrm>
          <a:prstGeom prst="roundRect">
            <a:avLst>
              <a:gd name="adj" fmla="val 6522"/>
            </a:avLst>
          </a:prstGeom>
          <a:solidFill>
            <a:srgbClr val="16191D"/>
          </a:solidFill>
          <a:ln/>
        </p:spPr>
      </p:sp>
      <p:sp>
        <p:nvSpPr>
          <p:cNvPr id="12" name="Text 9"/>
          <p:cNvSpPr/>
          <p:nvPr/>
        </p:nvSpPr>
        <p:spPr>
          <a:xfrm>
            <a:off x="914400" y="4626864"/>
            <a:ext cx="10362895" cy="8412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Mengejar skor validasi tertinggi pada rentang ini bukan optimasi. Itu memilih derau.</a:t>
            </a:r>
            <a:endParaRPr lang="en-US" sz="2100" dirty="0"/>
          </a:p>
        </p:txBody>
      </p:sp>
      <p:sp>
        <p:nvSpPr>
          <p:cNvPr id="13" name="Text 10"/>
          <p:cNvSpPr/>
          <p:nvPr/>
        </p:nvSpPr>
        <p:spPr>
          <a:xfrm>
            <a:off x="640080" y="5596128"/>
            <a:ext cx="10911535" cy="713232"/>
          </a:xfrm>
          <a:prstGeom prst="rect">
            <a:avLst/>
          </a:prstGeom>
          <a:noFill/>
          <a:ln/>
        </p:spPr>
        <p:txBody>
          <a:bodyPr wrap="square" lIns="0" tIns="0" rIns="0" bIns="0" rtlCol="0" anchor="t"/>
          <a:lstStyle/>
          <a:p>
            <a:pPr indent="0" marL="0">
              <a:lnSpc>
                <a:spcPts val="1800"/>
              </a:lnSpc>
              <a:buNone/>
            </a:pPr>
            <a:r>
              <a:rPr lang="en-US" sz="1250" dirty="0">
                <a:solidFill>
                  <a:srgbClr val="3A4048"/>
                </a:solidFill>
                <a:latin typeface="Calibri" pitchFamily="34" charset="0"/>
                <a:ea typeface="Calibri" pitchFamily="34" charset="-122"/>
                <a:cs typeface="Calibri" pitchFamily="34" charset="-120"/>
              </a:rPr>
              <a:t>Karena itu kombinasi ensemble dan strategi ambang kami tetapkan di muka, berdasarkan alasan struktural yang bisa diperiksa tanpa data uji: rata-rata sederhana lebih tahan daripada meta-learner berparameter; anggota yang jelas lemah dikeluarkan lebih dulu; ambang batas diestimasi dengan reduksi variansi. </a:t>
            </a:r>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Ketiganya adalah argumen tentang sifat penduga, bukan tentang skor — dan karena itu tidak bisa overfit.</a:t>
            </a:r>
            <a:endParaRPr lang="en-US" sz="1250" dirty="0"/>
          </a:p>
        </p:txBody>
      </p:sp>
      <p:sp>
        <p:nvSpPr>
          <p:cNvPr id="15" name="Text 11"/>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6" name="Text 12"/>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15</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BUKTI 03 · PLAFON</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Plafon ini milik data, bukan milik kami</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Melatih ulang seluruh pipeline pada 12%, 25%, 45%, 70%, dan 100% data latih — lima titik, masing-masing dengan validasi silang sendiri.</a:t>
            </a:r>
            <a:endParaRPr lang="en-US" sz="1350" dirty="0"/>
          </a:p>
        </p:txBody>
      </p:sp>
      <p:graphicFrame>
        <p:nvGraphicFramePr>
          <p:cNvPr id="7" name="Chart 0" descr=""/>
          <p:cNvGraphicFramePr/>
          <p:nvPr/>
        </p:nvGraphicFramePr>
        <p:xfrm>
          <a:off x="594360" y="2286000"/>
          <a:ext cx="7178040" cy="32004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40080" y="5504688"/>
            <a:ext cx="7132320" cy="237744"/>
          </a:xfrm>
          <a:prstGeom prst="rect">
            <a:avLst/>
          </a:prstGeom>
          <a:noFill/>
          <a:ln/>
        </p:spPr>
        <p:txBody>
          <a:bodyPr wrap="square" lIns="0" tIns="0" rIns="0" bIns="0" rtlCol="0" anchor="ctr"/>
          <a:lstStyle/>
          <a:p>
            <a:pPr algn="ctr" indent="0" marL="0">
              <a:buNone/>
            </a:pPr>
            <a:r>
              <a:rPr lang="en-US" sz="1000" i="1" dirty="0">
                <a:solidFill>
                  <a:srgbClr val="6E747C"/>
                </a:solidFill>
                <a:latin typeface="Calibri" pitchFamily="34" charset="0"/>
                <a:ea typeface="Calibri" pitchFamily="34" charset="-122"/>
                <a:cs typeface="Calibri" pitchFamily="34" charset="-120"/>
              </a:rPr>
              <a:t>Jumlah baris data latih</a:t>
            </a:r>
            <a:endParaRPr lang="en-US" sz="1000" dirty="0"/>
          </a:p>
        </p:txBody>
      </p:sp>
      <p:sp>
        <p:nvSpPr>
          <p:cNvPr id="9" name="Shape 6"/>
          <p:cNvSpPr/>
          <p:nvPr/>
        </p:nvSpPr>
        <p:spPr>
          <a:xfrm>
            <a:off x="8092440" y="2286000"/>
            <a:ext cx="3459175" cy="786384"/>
          </a:xfrm>
          <a:prstGeom prst="roundRect">
            <a:avLst>
              <a:gd name="adj" fmla="val 6977"/>
            </a:avLst>
          </a:prstGeom>
          <a:solidFill>
            <a:srgbClr val="16191D"/>
          </a:solidFill>
          <a:ln w="9525">
            <a:solidFill>
              <a:srgbClr val="16191D"/>
            </a:solidFill>
            <a:prstDash val="solid"/>
          </a:ln>
        </p:spPr>
      </p:sp>
      <p:sp>
        <p:nvSpPr>
          <p:cNvPr id="10" name="Text 7"/>
          <p:cNvSpPr/>
          <p:nvPr/>
        </p:nvSpPr>
        <p:spPr>
          <a:xfrm>
            <a:off x="8275320" y="2286000"/>
            <a:ext cx="3093415" cy="786384"/>
          </a:xfrm>
          <a:prstGeom prst="rect">
            <a:avLst/>
          </a:prstGeom>
          <a:noFill/>
          <a:ln/>
        </p:spPr>
        <p:txBody>
          <a:bodyPr wrap="square" lIns="0" tIns="0" rIns="0" bIns="0" rtlCol="0" anchor="ctr"/>
          <a:lstStyle/>
          <a:p>
            <a:pPr algn="ctr" indent="0" marL="0">
              <a:buNone/>
            </a:pPr>
            <a:r>
              <a:rPr lang="en-US" sz="1550" b="1" dirty="0">
                <a:solidFill>
                  <a:srgbClr val="FFFFFF"/>
                </a:solidFill>
                <a:latin typeface="Cambria" pitchFamily="34" charset="0"/>
                <a:ea typeface="Cambria" pitchFamily="34" charset="-122"/>
                <a:cs typeface="Cambria" pitchFamily="34" charset="-120"/>
              </a:rPr>
              <a:t>QWK = 0,29209 + 0,01613 · ln(n)</a:t>
            </a:r>
            <a:endParaRPr lang="en-US" sz="1550" dirty="0"/>
          </a:p>
        </p:txBody>
      </p:sp>
      <p:sp>
        <p:nvSpPr>
          <p:cNvPr id="11" name="Text 8"/>
          <p:cNvSpPr/>
          <p:nvPr/>
        </p:nvSpPr>
        <p:spPr>
          <a:xfrm>
            <a:off x="8092440" y="3310128"/>
            <a:ext cx="3459175" cy="566928"/>
          </a:xfrm>
          <a:prstGeom prst="rect">
            <a:avLst/>
          </a:prstGeom>
          <a:noFill/>
          <a:ln/>
        </p:spPr>
        <p:txBody>
          <a:bodyPr wrap="square" lIns="0" tIns="0" rIns="0" bIns="0" rtlCol="0" anchor="b"/>
          <a:lstStyle/>
          <a:p>
            <a:pPr algn="l" indent="0" marL="0">
              <a:buNone/>
            </a:pPr>
            <a:r>
              <a:rPr lang="en-US" sz="3200" b="1" dirty="0">
                <a:solidFill>
                  <a:srgbClr val="16191D"/>
                </a:solidFill>
                <a:latin typeface="Cambria" pitchFamily="34" charset="0"/>
                <a:ea typeface="Cambria" pitchFamily="34" charset="-122"/>
                <a:cs typeface="Cambria" pitchFamily="34" charset="-120"/>
              </a:rPr>
              <a:t>0,9143</a:t>
            </a:r>
            <a:endParaRPr lang="en-US" sz="3200" dirty="0"/>
          </a:p>
        </p:txBody>
      </p:sp>
      <p:sp>
        <p:nvSpPr>
          <p:cNvPr id="12" name="Text 9"/>
          <p:cNvSpPr/>
          <p:nvPr/>
        </p:nvSpPr>
        <p:spPr>
          <a:xfrm>
            <a:off x="8092440" y="3913632"/>
            <a:ext cx="345917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R² kecocokan model logaritmik terhadap lima titik terukur</a:t>
            </a:r>
            <a:endParaRPr lang="en-US" sz="1050" dirty="0"/>
          </a:p>
        </p:txBody>
      </p:sp>
      <p:sp>
        <p:nvSpPr>
          <p:cNvPr id="13" name="Text 10"/>
          <p:cNvSpPr/>
          <p:nvPr/>
        </p:nvSpPr>
        <p:spPr>
          <a:xfrm>
            <a:off x="8092440" y="4334256"/>
            <a:ext cx="3459175" cy="566928"/>
          </a:xfrm>
          <a:prstGeom prst="rect">
            <a:avLst/>
          </a:prstGeom>
          <a:noFill/>
          <a:ln/>
        </p:spPr>
        <p:txBody>
          <a:bodyPr wrap="square" lIns="0" tIns="0" rIns="0" bIns="0" rtlCol="0" anchor="b"/>
          <a:lstStyle/>
          <a:p>
            <a:pPr algn="l" indent="0" marL="0">
              <a:buNone/>
            </a:pPr>
            <a:r>
              <a:rPr lang="en-US" sz="3200" b="1" dirty="0">
                <a:solidFill>
                  <a:srgbClr val="A8442A"/>
                </a:solidFill>
                <a:latin typeface="Cambria" pitchFamily="34" charset="0"/>
                <a:ea typeface="Cambria" pitchFamily="34" charset="-122"/>
                <a:cs typeface="Cambria" pitchFamily="34" charset="-120"/>
              </a:rPr>
              <a:t>+0,01118</a:t>
            </a:r>
            <a:endParaRPr lang="en-US" sz="3200" dirty="0"/>
          </a:p>
        </p:txBody>
      </p:sp>
      <p:sp>
        <p:nvSpPr>
          <p:cNvPr id="14" name="Text 11"/>
          <p:cNvSpPr/>
          <p:nvPr/>
        </p:nvSpPr>
        <p:spPr>
          <a:xfrm>
            <a:off x="8092440" y="4937760"/>
            <a:ext cx="3459175" cy="420624"/>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Kenaikan QWK per penggandaan jumlah data latih</a:t>
            </a:r>
            <a:endParaRPr lang="en-US" sz="1050" dirty="0"/>
          </a:p>
        </p:txBody>
      </p:sp>
      <p:sp>
        <p:nvSpPr>
          <p:cNvPr id="15" name="Text 12"/>
          <p:cNvSpPr/>
          <p:nvPr/>
        </p:nvSpPr>
        <p:spPr>
          <a:xfrm>
            <a:off x="8092440" y="5394960"/>
            <a:ext cx="3459175" cy="548640"/>
          </a:xfrm>
          <a:prstGeom prst="rect">
            <a:avLst/>
          </a:prstGeom>
          <a:noFill/>
          <a:ln/>
        </p:spPr>
        <p:txBody>
          <a:bodyPr wrap="square" lIns="0" tIns="0" rIns="0" bIns="0" rtlCol="0" anchor="t"/>
          <a:lstStyle/>
          <a:p>
            <a:pPr indent="0" marL="0">
              <a:lnSpc>
                <a:spcPts val="1600"/>
              </a:lnSpc>
              <a:buNone/>
            </a:pPr>
            <a:r>
              <a:rPr lang="en-US" sz="1150" i="1" dirty="0">
                <a:solidFill>
                  <a:srgbClr val="3A4048"/>
                </a:solidFill>
                <a:latin typeface="Calibri" pitchFamily="34" charset="0"/>
                <a:ea typeface="Calibri" pitchFamily="34" charset="-122"/>
                <a:cs typeface="Calibri" pitchFamily="34" charset="-120"/>
              </a:rPr>
              <a:t>Dan kurva ini masih melambat — sehingga angka di atas justru terlalu optimistis.</a:t>
            </a:r>
            <a:endParaRPr lang="en-US" sz="1150" dirty="0"/>
          </a:p>
        </p:txBody>
      </p:sp>
      <p:sp>
        <p:nvSpPr>
          <p:cNvPr id="17" name="Text 13"/>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8" name="Text 14"/>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16</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BUKTI 03 · LANJUTAN</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Berapa data yang dibutuhkan untuk skor yang lebih tinggi</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Menyelesaikan persamaan kurva belajar untuk n pada beberapa target QWK. Semua angka turun langsung dari koefisien di slide sebelumnya.</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2468880"/>
          <a:ext cx="10911535" cy="914400"/>
        </p:xfrm>
        <a:graphic>
          <a:graphicData uri="http://schemas.openxmlformats.org/drawingml/2006/table">
            <a:tbl>
              <a:tblPr/>
              <a:tblGrid>
                <a:gridCol w="2377440"/>
                <a:gridCol w="3108960"/>
                <a:gridCol w="2560320"/>
                <a:gridCol w="2862072"/>
              </a:tblGrid>
              <a:tr h="420624">
                <a:tc>
                  <a:txBody>
                    <a:bodyPr/>
                    <a:lstStyle/>
                    <a:p>
                      <a:pPr algn="l" indent="0" marL="0">
                        <a:buNone/>
                      </a:pPr>
                      <a:r>
                        <a:rPr lang="en-US" sz="1300" b="1" dirty="0">
                          <a:solidFill>
                            <a:srgbClr val="16191D"/>
                          </a:solidFill>
                          <a:latin typeface="Calibri" pitchFamily="34" charset="0"/>
                          <a:ea typeface="Calibri" pitchFamily="34" charset="-122"/>
                          <a:cs typeface="Calibri" pitchFamily="34" charset="-120"/>
                        </a:rPr>
                        <a:t>Target QWK</a:t>
                      </a:r>
                      <a:endParaRPr lang="en-US" sz="1300" dirty="0">
                        <a:latin typeface="Calibri" charset="0"/>
                        <a:ea typeface="Calibri" charset="0"/>
                        <a:cs typeface="Calibri" charset="0"/>
                      </a:endParaRPr>
                    </a:p>
                  </a:txBody>
                  <a:tcPr marL="254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16191D"/>
                          </a:solidFill>
                          <a:latin typeface="Calibri" pitchFamily="34" charset="0"/>
                          <a:ea typeface="Calibri" pitchFamily="34" charset="-122"/>
                          <a:cs typeface="Calibri" pitchFamily="34" charset="-120"/>
                        </a:rPr>
                        <a:t>Baris data latih dibutuhkan</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16191D"/>
                          </a:solidFill>
                          <a:latin typeface="Calibri" pitchFamily="34" charset="0"/>
                          <a:ea typeface="Calibri" pitchFamily="34" charset="-122"/>
                          <a:cs typeface="Calibri" pitchFamily="34" charset="-120"/>
                        </a:rPr>
                        <a:t>Kelipatan data saat ini</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16191D"/>
                          </a:solidFill>
                          <a:latin typeface="Calibri" pitchFamily="34" charset="0"/>
                          <a:ea typeface="Calibri" pitchFamily="34" charset="-122"/>
                          <a:cs typeface="Calibri" pitchFamily="34" charset="-120"/>
                        </a:rPr>
                        <a:t>Waktu pengumpulan setara</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17780" cap="flat" cmpd="sng" algn="ctr">
                      <a:solidFill>
                        <a:srgbClr val="16191D"/>
                      </a:solidFill>
                      <a:prstDash val="solid"/>
                      <a:round/>
                      <a:headEnd type="none" w="med" len="med"/>
                      <a:tailEnd type="none" w="med" len="med"/>
                    </a:lnT>
                    <a:lnB w="10160" cap="flat" cmpd="sng" algn="ctr">
                      <a:solidFill>
                        <a:srgbClr val="16191D"/>
                      </a:solidFill>
                      <a:prstDash val="solid"/>
                      <a:round/>
                      <a:headEnd type="none" w="med" len="med"/>
                      <a:tailEnd type="none" w="med" len="med"/>
                    </a:lnB>
                  </a:tcPr>
                </a:tc>
              </a:tr>
              <a:tr h="420624">
                <a:tc>
                  <a:txBody>
                    <a:bodyPr/>
                    <a:lstStyle/>
                    <a:p>
                      <a:pPr algn="l" indent="0" marL="0">
                        <a:buNone/>
                      </a:pPr>
                      <a:r>
                        <a:rPr lang="en-US" sz="1300" dirty="0">
                          <a:solidFill>
                            <a:srgbClr val="3A4048"/>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213.000</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 2 tahun survei</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420624">
                <a:tc>
                  <a:txBody>
                    <a:bodyPr/>
                    <a:lstStyle/>
                    <a:p>
                      <a:pPr algn="l" indent="0" marL="0">
                        <a:buNone/>
                      </a:pPr>
                      <a:r>
                        <a:rPr lang="en-US" sz="1300" dirty="0">
                          <a:solidFill>
                            <a:srgbClr val="3A4048"/>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396.000</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 4 tahun survei</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420624">
                <a:tc>
                  <a:txBody>
                    <a:bodyPr/>
                    <a:lstStyle/>
                    <a:p>
                      <a:pPr algn="l" indent="0" marL="0">
                        <a:buNone/>
                      </a:pPr>
                      <a:r>
                        <a:rPr lang="en-US" sz="1300" dirty="0">
                          <a:solidFill>
                            <a:srgbClr val="3A4048"/>
                          </a:solidFill>
                          <a:latin typeface="Calibri" pitchFamily="34" charset="0"/>
                          <a:ea typeface="Calibri" pitchFamily="34" charset="-122"/>
                          <a:cs typeface="Calibri" pitchFamily="34" charset="-120"/>
                        </a:rPr>
                        <a:t>0,55</a:t>
                      </a:r>
                      <a:endParaRPr lang="en-US" sz="130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8.790.000</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c>
                  <a:txBody>
                    <a:bodyPr/>
                    <a:lstStyle/>
                    <a:p>
                      <a:pPr algn="r" indent="0" marL="0">
                        <a:buNone/>
                      </a:pPr>
                      <a:r>
                        <a:rPr lang="en-US" sz="1300" dirty="0">
                          <a:solidFill>
                            <a:srgbClr val="3A4048"/>
                          </a:solidFill>
                          <a:latin typeface="Calibri" pitchFamily="34" charset="0"/>
                          <a:ea typeface="Calibri" pitchFamily="34" charset="-122"/>
                          <a:cs typeface="Calibri" pitchFamily="34" charset="-120"/>
                        </a:rPr>
                        <a:t>± 88 tahun survei</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7620" cap="flat" cmpd="sng" algn="ctr">
                      <a:solidFill>
                        <a:srgbClr val="DCD8D1"/>
                      </a:solidFill>
                      <a:prstDash val="solid"/>
                      <a:round/>
                      <a:headEnd type="none" w="med" len="med"/>
                      <a:tailEnd type="none" w="med" len="med"/>
                    </a:lnB>
                  </a:tcPr>
                </a:tc>
              </a:tr>
              <a:tr h="420624">
                <a:tc>
                  <a:txBody>
                    <a:bodyPr/>
                    <a:lstStyle/>
                    <a:p>
                      <a:pPr algn="l" indent="0" marL="0">
                        <a:buNone/>
                      </a:pPr>
                      <a:r>
                        <a:rPr lang="en-US" sz="1300" b="1" dirty="0">
                          <a:solidFill>
                            <a:srgbClr val="A8442A"/>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254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A8442A"/>
                          </a:solidFill>
                          <a:latin typeface="Calibri" pitchFamily="34" charset="0"/>
                          <a:ea typeface="Calibri" pitchFamily="34" charset="-122"/>
                          <a:cs typeface="Calibri" pitchFamily="34" charset="-120"/>
                        </a:rPr>
                        <a:t>195.000.000</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A8442A"/>
                          </a:solidFill>
                          <a:latin typeface="Calibri" pitchFamily="34" charset="0"/>
                          <a:ea typeface="Calibri" pitchFamily="34" charset="-122"/>
                          <a:cs typeface="Calibri" pitchFamily="34" charset="-120"/>
                        </a:rPr>
                        <a:t>2.041×</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c>
                  <a:txBody>
                    <a:bodyPr/>
                    <a:lstStyle/>
                    <a:p>
                      <a:pPr algn="r" indent="0" marL="0">
                        <a:buNone/>
                      </a:pPr>
                      <a:r>
                        <a:rPr lang="en-US" sz="1300" b="1" dirty="0">
                          <a:solidFill>
                            <a:srgbClr val="A8442A"/>
                          </a:solidFill>
                          <a:latin typeface="Calibri" pitchFamily="34" charset="0"/>
                          <a:ea typeface="Calibri" pitchFamily="34" charset="-122"/>
                          <a:cs typeface="Calibri" pitchFamily="34" charset="-120"/>
                        </a:rPr>
                        <a:t>± 1.950 tahun survei</a:t>
                      </a:r>
                      <a:endParaRPr lang="en-US" sz="1300" dirty="0">
                        <a:latin typeface="Calibri" charset="0"/>
                        <a:ea typeface="Calibri" charset="0"/>
                        <a:cs typeface="Calibri" charset="0"/>
                      </a:endParaRPr>
                    </a:p>
                  </a:txBody>
                  <a:tcPr marL="101600" marR="101600" marT="63500" marB="63500" anchor="ctr">
                    <a:lnL w="0" cap="flat" cmpd="sng" algn="ctr">
                      <a:noFill/>
                    </a:lnL>
                    <a:lnR w="0" cap="flat" cmpd="sng" algn="ctr">
                      <a:noFill/>
                    </a:lnR>
                    <a:lnT w="0" cap="flat" cmpd="sng" algn="ctr">
                      <a:noFill/>
                    </a:lnT>
                    <a:lnB w="17780" cap="flat" cmpd="sng" algn="ctr">
                      <a:solidFill>
                        <a:srgbClr val="16191D"/>
                      </a:solidFill>
                      <a:prstDash val="solid"/>
                      <a:round/>
                      <a:headEnd type="none" w="med" len="med"/>
                      <a:tailEnd type="none" w="med" len="med"/>
                    </a:lnB>
                  </a:tcPr>
                </a:tc>
              </a:tr>
            </a:tbl>
          </a:graphicData>
        </a:graphic>
      </p:graphicFrame>
      <p:sp>
        <p:nvSpPr>
          <p:cNvPr id="8" name="Text 5"/>
          <p:cNvSpPr/>
          <p:nvPr/>
        </p:nvSpPr>
        <p:spPr>
          <a:xfrm>
            <a:off x="640080" y="4681728"/>
            <a:ext cx="10911535" cy="365760"/>
          </a:xfrm>
          <a:prstGeom prst="rect">
            <a:avLst/>
          </a:prstGeom>
          <a:noFill/>
          <a:ln/>
        </p:spPr>
        <p:txBody>
          <a:bodyPr wrap="square" lIns="0" tIns="0" rIns="0" bIns="0" rtlCol="0" anchor="ctr"/>
          <a:lstStyle/>
          <a:p>
            <a:pPr indent="0" marL="0">
              <a:buNone/>
            </a:pPr>
            <a:r>
              <a:rPr lang="en-US" sz="1050" i="1" dirty="0">
                <a:solidFill>
                  <a:srgbClr val="6E747C"/>
                </a:solidFill>
                <a:latin typeface="Calibri" pitchFamily="34" charset="0"/>
                <a:ea typeface="Calibri" pitchFamily="34" charset="-122"/>
                <a:cs typeface="Calibri" pitchFamily="34" charset="-120"/>
              </a:rPr>
              <a:t>Kolom terakhir memakai laju wajar survei kesehatan nasional, sekitar 10⁵ responden dewasa per tahun — sebanding dengan laju yang menghasilkan dataset ini.</a:t>
            </a:r>
            <a:endParaRPr lang="en-US" sz="1050" dirty="0"/>
          </a:p>
        </p:txBody>
      </p:sp>
      <p:sp>
        <p:nvSpPr>
          <p:cNvPr id="9" name="Shape 6"/>
          <p:cNvSpPr/>
          <p:nvPr/>
        </p:nvSpPr>
        <p:spPr>
          <a:xfrm>
            <a:off x="640080" y="5120640"/>
            <a:ext cx="10911535" cy="1097280"/>
          </a:xfrm>
          <a:prstGeom prst="roundRect">
            <a:avLst>
              <a:gd name="adj" fmla="val 5000"/>
            </a:avLst>
          </a:prstGeom>
          <a:solidFill>
            <a:srgbClr val="ECE7DF"/>
          </a:solidFill>
          <a:ln w="9525">
            <a:solidFill>
              <a:srgbClr val="DCD8D1"/>
            </a:solidFill>
            <a:prstDash val="solid"/>
          </a:ln>
        </p:spPr>
      </p:sp>
      <p:sp>
        <p:nvSpPr>
          <p:cNvPr id="10" name="Text 7"/>
          <p:cNvSpPr/>
          <p:nvPr/>
        </p:nvSpPr>
        <p:spPr>
          <a:xfrm>
            <a:off x="914400" y="5120640"/>
            <a:ext cx="10362895" cy="1097280"/>
          </a:xfrm>
          <a:prstGeom prst="rect">
            <a:avLst/>
          </a:prstGeom>
          <a:noFill/>
          <a:ln/>
        </p:spPr>
        <p:txBody>
          <a:bodyPr wrap="square" lIns="0" tIns="0" rIns="0" bIns="0" rtlCol="0" anchor="ctr"/>
          <a:lstStyle/>
          <a:p>
            <a:pPr indent="0" marL="0">
              <a:lnSpc>
                <a:spcPts val="1800"/>
              </a:lnSpc>
              <a:buNone/>
            </a:pPr>
            <a:r>
              <a:rPr lang="en-US" sz="1250" b="1" dirty="0">
                <a:solidFill>
                  <a:srgbClr val="16191D"/>
                </a:solidFill>
                <a:latin typeface="Calibri" pitchFamily="34" charset="0"/>
                <a:ea typeface="Calibri" pitchFamily="34" charset="-122"/>
                <a:cs typeface="Calibri" pitchFamily="34" charset="-120"/>
              </a:rPr>
              <a:t>Klaim kami, dan klaim ini dapat difalsifikasi:  </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dari dataset resmi kompetisi ini saja, QWK yang jauh di atas 0,50 tidak dapat dicapai dengan pemodelan yang lebih baik. Kisaran yang wajar adalah </a:t>
            </a:r>
            <a:pPr indent="0" marL="0">
              <a:lnSpc>
                <a:spcPts val="1800"/>
              </a:lnSpc>
              <a:buNone/>
            </a:pPr>
            <a:r>
              <a:rPr lang="en-US" sz="1250" b="1" dirty="0">
                <a:solidFill>
                  <a:srgbClr val="A8442A"/>
                </a:solidFill>
                <a:latin typeface="Calibri" pitchFamily="34" charset="0"/>
                <a:ea typeface="Calibri" pitchFamily="34" charset="-122"/>
                <a:cs typeface="Calibri" pitchFamily="34" charset="-120"/>
              </a:rPr>
              <a:t>0,47 – 0,50</a:t>
            </a:r>
            <a:pPr indent="0" marL="0">
              <a:lnSpc>
                <a:spcPts val="1800"/>
              </a:lnSpc>
              <a:buNone/>
            </a:pPr>
            <a:r>
              <a:rPr lang="en-US" sz="1250" dirty="0">
                <a:solidFill>
                  <a:srgbClr val="3A4048"/>
                </a:solidFill>
                <a:latin typeface="Calibri" pitchFamily="34" charset="0"/>
                <a:ea typeface="Calibri" pitchFamily="34" charset="-122"/>
                <a:cs typeface="Calibri" pitchFamily="34" charset="-120"/>
              </a:rPr>
              <a:t>. Siapa pun dapat menguji klaim ini: jalankan kurva belajar yang sama, dan koefisiennya akan keluar sama.</a:t>
            </a:r>
            <a:endParaRPr lang="en-US" sz="1250" dirty="0"/>
          </a:p>
        </p:txBody>
      </p:sp>
      <p:sp>
        <p:nvSpPr>
          <p:cNvPr id="12" name="Text 8"/>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3" name="Text 9"/>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17</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SUDUT EKSKLUSIF 05</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248"/>
              </a:lnSpc>
              <a:buNone/>
            </a:pPr>
            <a:r>
              <a:rPr lang="en-US" sz="2800" b="1" dirty="0">
                <a:solidFill>
                  <a:srgbClr val="16191D"/>
                </a:solidFill>
                <a:latin typeface="Cambria" pitchFamily="34" charset="0"/>
                <a:ea typeface="Cambria" pitchFamily="34" charset="-122"/>
                <a:cs typeface="Cambria" pitchFamily="34" charset="-120"/>
              </a:rPr>
              <a:t>Enam peringkat teratas tidak dapat dibedakan secara statistik</a:t>
            </a:r>
            <a:endParaRPr lang="en-US" sz="2800" dirty="0"/>
          </a:p>
        </p:txBody>
      </p:sp>
      <p:sp>
        <p:nvSpPr>
          <p:cNvPr id="6" name="Text 4"/>
          <p:cNvSpPr/>
          <p:nvPr/>
        </p:nvSpPr>
        <p:spPr>
          <a:xfrm>
            <a:off x="640080" y="1609344"/>
            <a:ext cx="10911535" cy="54864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Bootstrap 400× atas matriks konfusi out-of-fold kami sendiri (95.609 baris) — mengukur berapa banyak QWK bergerak hanya karena baris mana yang kebetulan masuk irisan penilaian.</a:t>
            </a:r>
            <a:endParaRPr lang="en-US" sz="1350" dirty="0"/>
          </a:p>
        </p:txBody>
      </p:sp>
      <p:sp>
        <p:nvSpPr>
          <p:cNvPr id="7" name="Text 5"/>
          <p:cNvSpPr/>
          <p:nvPr/>
        </p:nvSpPr>
        <p:spPr>
          <a:xfrm>
            <a:off x="640080" y="2706624"/>
            <a:ext cx="10911535" cy="256032"/>
          </a:xfrm>
          <a:prstGeom prst="rect">
            <a:avLst/>
          </a:prstGeom>
          <a:noFill/>
          <a:ln/>
        </p:spPr>
        <p:txBody>
          <a:bodyPr wrap="square" lIns="0" tIns="0" rIns="0" bIns="0" rtlCol="0" anchor="ctr"/>
          <a:lstStyle/>
          <a:p>
            <a:pPr indent="0" marL="0">
              <a:buNone/>
            </a:pPr>
            <a:r>
              <a:rPr lang="en-US" sz="1000" b="1" spc="120" kern="0" dirty="0">
                <a:solidFill>
                  <a:srgbClr val="6E747C"/>
                </a:solidFill>
                <a:latin typeface="Calibri" pitchFamily="34" charset="0"/>
                <a:ea typeface="Calibri" pitchFamily="34" charset="-122"/>
                <a:cs typeface="Calibri" pitchFamily="34" charset="-120"/>
              </a:rPr>
              <a:t>IRISAN 7.100 BARIS  (≈ UKURAN PAPAN SKOR PUBLIK)  —  INTERVAL 95%</a:t>
            </a:r>
            <a:endParaRPr lang="en-US" sz="1000" dirty="0"/>
          </a:p>
        </p:txBody>
      </p:sp>
      <p:sp>
        <p:nvSpPr>
          <p:cNvPr id="8" name="Shape 6"/>
          <p:cNvSpPr/>
          <p:nvPr/>
        </p:nvSpPr>
        <p:spPr>
          <a:xfrm>
            <a:off x="3056709" y="3054096"/>
            <a:ext cx="5566345" cy="566928"/>
          </a:xfrm>
          <a:prstGeom prst="rect">
            <a:avLst/>
          </a:prstGeom>
          <a:solidFill>
            <a:srgbClr val="8FB0A4"/>
          </a:solidFill>
          <a:ln/>
        </p:spPr>
      </p:sp>
      <p:sp>
        <p:nvSpPr>
          <p:cNvPr id="9" name="Shape 7"/>
          <p:cNvSpPr/>
          <p:nvPr/>
        </p:nvSpPr>
        <p:spPr>
          <a:xfrm>
            <a:off x="6068350" y="2907792"/>
            <a:ext cx="0" cy="859536"/>
          </a:xfrm>
          <a:prstGeom prst="line">
            <a:avLst/>
          </a:prstGeom>
          <a:noFill/>
          <a:ln w="25400">
            <a:solidFill>
              <a:srgbClr val="16191D"/>
            </a:solidFill>
            <a:prstDash val="solid"/>
          </a:ln>
        </p:spPr>
      </p:sp>
      <p:sp>
        <p:nvSpPr>
          <p:cNvPr id="10" name="Text 8"/>
          <p:cNvSpPr/>
          <p:nvPr/>
        </p:nvSpPr>
        <p:spPr>
          <a:xfrm>
            <a:off x="2416629" y="3675888"/>
            <a:ext cx="1280160" cy="237744"/>
          </a:xfrm>
          <a:prstGeom prst="rect">
            <a:avLst/>
          </a:prstGeom>
          <a:noFill/>
          <a:ln/>
        </p:spPr>
        <p:txBody>
          <a:bodyPr wrap="square" lIns="0" tIns="0" rIns="0" bIns="0" rtlCol="0" anchor="ctr"/>
          <a:lstStyle/>
          <a:p>
            <a:pPr algn="ctr" indent="0" marL="0">
              <a:buNone/>
            </a:pPr>
            <a:r>
              <a:rPr lang="en-US" sz="1050" dirty="0">
                <a:solidFill>
                  <a:srgbClr val="3A4048"/>
                </a:solidFill>
                <a:latin typeface="Calibri" pitchFamily="34" charset="0"/>
                <a:ea typeface="Calibri" pitchFamily="34" charset="-122"/>
                <a:cs typeface="Calibri" pitchFamily="34" charset="-120"/>
              </a:rPr>
              <a:t>0,4625</a:t>
            </a:r>
            <a:endParaRPr lang="en-US" sz="1050" dirty="0"/>
          </a:p>
        </p:txBody>
      </p:sp>
      <p:sp>
        <p:nvSpPr>
          <p:cNvPr id="11" name="Text 9"/>
          <p:cNvSpPr/>
          <p:nvPr/>
        </p:nvSpPr>
        <p:spPr>
          <a:xfrm>
            <a:off x="7982973" y="3675888"/>
            <a:ext cx="1280160" cy="237744"/>
          </a:xfrm>
          <a:prstGeom prst="rect">
            <a:avLst/>
          </a:prstGeom>
          <a:noFill/>
          <a:ln/>
        </p:spPr>
        <p:txBody>
          <a:bodyPr wrap="square" lIns="0" tIns="0" rIns="0" bIns="0" rtlCol="0" anchor="ctr"/>
          <a:lstStyle/>
          <a:p>
            <a:pPr algn="ctr" indent="0" marL="0">
              <a:buNone/>
            </a:pPr>
            <a:r>
              <a:rPr lang="en-US" sz="1050" dirty="0">
                <a:solidFill>
                  <a:srgbClr val="3A4048"/>
                </a:solidFill>
                <a:latin typeface="Calibri" pitchFamily="34" charset="0"/>
                <a:ea typeface="Calibri" pitchFamily="34" charset="-122"/>
                <a:cs typeface="Calibri" pitchFamily="34" charset="-120"/>
              </a:rPr>
              <a:t>0,5027</a:t>
            </a:r>
            <a:endParaRPr lang="en-US" sz="1050" dirty="0"/>
          </a:p>
        </p:txBody>
      </p:sp>
      <p:sp>
        <p:nvSpPr>
          <p:cNvPr id="12" name="Text 10"/>
          <p:cNvSpPr/>
          <p:nvPr/>
        </p:nvSpPr>
        <p:spPr>
          <a:xfrm>
            <a:off x="5062510" y="2560320"/>
            <a:ext cx="2011680" cy="27432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QWK kami  0,48425</a:t>
            </a:r>
            <a:endParaRPr lang="en-US" sz="1100" dirty="0"/>
          </a:p>
        </p:txBody>
      </p:sp>
      <p:sp>
        <p:nvSpPr>
          <p:cNvPr id="13" name="Shape 11"/>
          <p:cNvSpPr/>
          <p:nvPr/>
        </p:nvSpPr>
        <p:spPr>
          <a:xfrm>
            <a:off x="5549102" y="4114800"/>
            <a:ext cx="1038497" cy="274320"/>
          </a:xfrm>
          <a:prstGeom prst="rect">
            <a:avLst/>
          </a:prstGeom>
          <a:solidFill>
            <a:srgbClr val="A8442A"/>
          </a:solidFill>
          <a:ln/>
        </p:spPr>
      </p:sp>
      <p:sp>
        <p:nvSpPr>
          <p:cNvPr id="14" name="Text 12"/>
          <p:cNvSpPr/>
          <p:nvPr/>
        </p:nvSpPr>
        <p:spPr>
          <a:xfrm>
            <a:off x="6715615" y="4114800"/>
            <a:ext cx="5120640" cy="274320"/>
          </a:xfrm>
          <a:prstGeom prst="rect">
            <a:avLst/>
          </a:prstGeom>
          <a:noFill/>
          <a:ln/>
        </p:spPr>
        <p:txBody>
          <a:bodyPr wrap="square" lIns="0" tIns="0" rIns="0" bIns="0" rtlCol="0" anchor="ctr"/>
          <a:lstStyle/>
          <a:p>
            <a:pPr indent="0" marL="0">
              <a:buNone/>
            </a:pPr>
            <a:r>
              <a:rPr lang="en-US" sz="1150" b="1" dirty="0">
                <a:solidFill>
                  <a:srgbClr val="A8442A"/>
                </a:solidFill>
                <a:latin typeface="Calibri" pitchFamily="34" charset="0"/>
                <a:ea typeface="Calibri" pitchFamily="34" charset="-122"/>
                <a:cs typeface="Calibri" pitchFamily="34" charset="-120"/>
              </a:rPr>
              <a:t>selisih peringkat 4 sampai 9 di papan skor publik  =  0,0075</a:t>
            </a:r>
            <a:endParaRPr lang="en-US" sz="1150" dirty="0"/>
          </a:p>
        </p:txBody>
      </p:sp>
      <p:sp>
        <p:nvSpPr>
          <p:cNvPr id="15" name="Shape 13"/>
          <p:cNvSpPr/>
          <p:nvPr/>
        </p:nvSpPr>
        <p:spPr>
          <a:xfrm>
            <a:off x="1325880" y="4517136"/>
            <a:ext cx="0" cy="91440"/>
          </a:xfrm>
          <a:prstGeom prst="line">
            <a:avLst/>
          </a:prstGeom>
          <a:noFill/>
          <a:ln w="12700">
            <a:solidFill>
              <a:srgbClr val="9AA0A7"/>
            </a:solidFill>
            <a:prstDash val="solid"/>
          </a:ln>
        </p:spPr>
      </p:sp>
      <p:sp>
        <p:nvSpPr>
          <p:cNvPr id="16" name="Text 14"/>
          <p:cNvSpPr/>
          <p:nvPr/>
        </p:nvSpPr>
        <p:spPr>
          <a:xfrm>
            <a:off x="1005840"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0,45</a:t>
            </a:r>
            <a:endParaRPr lang="en-US" sz="950" dirty="0"/>
          </a:p>
        </p:txBody>
      </p:sp>
      <p:sp>
        <p:nvSpPr>
          <p:cNvPr id="17" name="Shape 15"/>
          <p:cNvSpPr/>
          <p:nvPr/>
        </p:nvSpPr>
        <p:spPr>
          <a:xfrm>
            <a:off x="2710543" y="4517136"/>
            <a:ext cx="0" cy="91440"/>
          </a:xfrm>
          <a:prstGeom prst="line">
            <a:avLst/>
          </a:prstGeom>
          <a:noFill/>
          <a:ln w="12700">
            <a:solidFill>
              <a:srgbClr val="9AA0A7"/>
            </a:solidFill>
            <a:prstDash val="solid"/>
          </a:ln>
        </p:spPr>
      </p:sp>
      <p:sp>
        <p:nvSpPr>
          <p:cNvPr id="18" name="Text 16"/>
          <p:cNvSpPr/>
          <p:nvPr/>
        </p:nvSpPr>
        <p:spPr>
          <a:xfrm>
            <a:off x="2390503"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0,46</a:t>
            </a:r>
            <a:endParaRPr lang="en-US" sz="950" dirty="0"/>
          </a:p>
        </p:txBody>
      </p:sp>
      <p:sp>
        <p:nvSpPr>
          <p:cNvPr id="19" name="Shape 17"/>
          <p:cNvSpPr/>
          <p:nvPr/>
        </p:nvSpPr>
        <p:spPr>
          <a:xfrm>
            <a:off x="4095206" y="4517136"/>
            <a:ext cx="0" cy="91440"/>
          </a:xfrm>
          <a:prstGeom prst="line">
            <a:avLst/>
          </a:prstGeom>
          <a:noFill/>
          <a:ln w="12700">
            <a:solidFill>
              <a:srgbClr val="9AA0A7"/>
            </a:solidFill>
            <a:prstDash val="solid"/>
          </a:ln>
        </p:spPr>
      </p:sp>
      <p:sp>
        <p:nvSpPr>
          <p:cNvPr id="20" name="Text 18"/>
          <p:cNvSpPr/>
          <p:nvPr/>
        </p:nvSpPr>
        <p:spPr>
          <a:xfrm>
            <a:off x="3775166"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0,47</a:t>
            </a:r>
            <a:endParaRPr lang="en-US" sz="950" dirty="0"/>
          </a:p>
        </p:txBody>
      </p:sp>
      <p:sp>
        <p:nvSpPr>
          <p:cNvPr id="21" name="Shape 19"/>
          <p:cNvSpPr/>
          <p:nvPr/>
        </p:nvSpPr>
        <p:spPr>
          <a:xfrm>
            <a:off x="5479869" y="4517136"/>
            <a:ext cx="0" cy="91440"/>
          </a:xfrm>
          <a:prstGeom prst="line">
            <a:avLst/>
          </a:prstGeom>
          <a:noFill/>
          <a:ln w="12700">
            <a:solidFill>
              <a:srgbClr val="9AA0A7"/>
            </a:solidFill>
            <a:prstDash val="solid"/>
          </a:ln>
        </p:spPr>
      </p:sp>
      <p:sp>
        <p:nvSpPr>
          <p:cNvPr id="22" name="Text 20"/>
          <p:cNvSpPr/>
          <p:nvPr/>
        </p:nvSpPr>
        <p:spPr>
          <a:xfrm>
            <a:off x="5159829"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0,48</a:t>
            </a:r>
            <a:endParaRPr lang="en-US" sz="950" dirty="0"/>
          </a:p>
        </p:txBody>
      </p:sp>
      <p:sp>
        <p:nvSpPr>
          <p:cNvPr id="23" name="Shape 21"/>
          <p:cNvSpPr/>
          <p:nvPr/>
        </p:nvSpPr>
        <p:spPr>
          <a:xfrm>
            <a:off x="6864531" y="4517136"/>
            <a:ext cx="0" cy="91440"/>
          </a:xfrm>
          <a:prstGeom prst="line">
            <a:avLst/>
          </a:prstGeom>
          <a:noFill/>
          <a:ln w="12700">
            <a:solidFill>
              <a:srgbClr val="9AA0A7"/>
            </a:solidFill>
            <a:prstDash val="solid"/>
          </a:ln>
        </p:spPr>
      </p:sp>
      <p:sp>
        <p:nvSpPr>
          <p:cNvPr id="24" name="Text 22"/>
          <p:cNvSpPr/>
          <p:nvPr/>
        </p:nvSpPr>
        <p:spPr>
          <a:xfrm>
            <a:off x="6544491"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0,49</a:t>
            </a:r>
            <a:endParaRPr lang="en-US" sz="950" dirty="0"/>
          </a:p>
        </p:txBody>
      </p:sp>
      <p:sp>
        <p:nvSpPr>
          <p:cNvPr id="25" name="Shape 23"/>
          <p:cNvSpPr/>
          <p:nvPr/>
        </p:nvSpPr>
        <p:spPr>
          <a:xfrm>
            <a:off x="8249194" y="4517136"/>
            <a:ext cx="0" cy="91440"/>
          </a:xfrm>
          <a:prstGeom prst="line">
            <a:avLst/>
          </a:prstGeom>
          <a:noFill/>
          <a:ln w="12700">
            <a:solidFill>
              <a:srgbClr val="9AA0A7"/>
            </a:solidFill>
            <a:prstDash val="solid"/>
          </a:ln>
        </p:spPr>
      </p:sp>
      <p:sp>
        <p:nvSpPr>
          <p:cNvPr id="26" name="Text 24"/>
          <p:cNvSpPr/>
          <p:nvPr/>
        </p:nvSpPr>
        <p:spPr>
          <a:xfrm>
            <a:off x="7929154"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0,50</a:t>
            </a:r>
            <a:endParaRPr lang="en-US" sz="950" dirty="0"/>
          </a:p>
        </p:txBody>
      </p:sp>
      <p:sp>
        <p:nvSpPr>
          <p:cNvPr id="27" name="Shape 25"/>
          <p:cNvSpPr/>
          <p:nvPr/>
        </p:nvSpPr>
        <p:spPr>
          <a:xfrm>
            <a:off x="9633857" y="4517136"/>
            <a:ext cx="0" cy="91440"/>
          </a:xfrm>
          <a:prstGeom prst="line">
            <a:avLst/>
          </a:prstGeom>
          <a:noFill/>
          <a:ln w="12700">
            <a:solidFill>
              <a:srgbClr val="9AA0A7"/>
            </a:solidFill>
            <a:prstDash val="solid"/>
          </a:ln>
        </p:spPr>
      </p:sp>
      <p:sp>
        <p:nvSpPr>
          <p:cNvPr id="28" name="Text 26"/>
          <p:cNvSpPr/>
          <p:nvPr/>
        </p:nvSpPr>
        <p:spPr>
          <a:xfrm>
            <a:off x="9313817"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0,51</a:t>
            </a:r>
            <a:endParaRPr lang="en-US" sz="950" dirty="0"/>
          </a:p>
        </p:txBody>
      </p:sp>
      <p:sp>
        <p:nvSpPr>
          <p:cNvPr id="29" name="Shape 27"/>
          <p:cNvSpPr/>
          <p:nvPr/>
        </p:nvSpPr>
        <p:spPr>
          <a:xfrm>
            <a:off x="11018520" y="4517136"/>
            <a:ext cx="0" cy="91440"/>
          </a:xfrm>
          <a:prstGeom prst="line">
            <a:avLst/>
          </a:prstGeom>
          <a:noFill/>
          <a:ln w="12700">
            <a:solidFill>
              <a:srgbClr val="9AA0A7"/>
            </a:solidFill>
            <a:prstDash val="solid"/>
          </a:ln>
        </p:spPr>
      </p:sp>
      <p:sp>
        <p:nvSpPr>
          <p:cNvPr id="30" name="Text 28"/>
          <p:cNvSpPr/>
          <p:nvPr/>
        </p:nvSpPr>
        <p:spPr>
          <a:xfrm>
            <a:off x="10698480" y="4608576"/>
            <a:ext cx="640080" cy="237744"/>
          </a:xfrm>
          <a:prstGeom prst="rect">
            <a:avLst/>
          </a:prstGeom>
          <a:noFill/>
          <a:ln/>
        </p:spPr>
        <p:txBody>
          <a:bodyPr wrap="square" lIns="0" tIns="0" rIns="0" bIns="0" rtlCol="0" anchor="ctr"/>
          <a:lstStyle/>
          <a:p>
            <a:pPr algn="ctr" indent="0" marL="0">
              <a:buNone/>
            </a:pPr>
            <a:r>
              <a:rPr lang="en-US" sz="950" dirty="0">
                <a:solidFill>
                  <a:srgbClr val="6E747C"/>
                </a:solidFill>
                <a:latin typeface="Calibri" pitchFamily="34" charset="0"/>
                <a:ea typeface="Calibri" pitchFamily="34" charset="-122"/>
                <a:cs typeface="Calibri" pitchFamily="34" charset="-120"/>
              </a:rPr>
              <a:t>0,52</a:t>
            </a:r>
            <a:endParaRPr lang="en-US" sz="950" dirty="0"/>
          </a:p>
        </p:txBody>
      </p:sp>
      <p:sp>
        <p:nvSpPr>
          <p:cNvPr id="31" name="Text 29"/>
          <p:cNvSpPr/>
          <p:nvPr/>
        </p:nvSpPr>
        <p:spPr>
          <a:xfrm>
            <a:off x="640080" y="5120640"/>
            <a:ext cx="3423818" cy="457200"/>
          </a:xfrm>
          <a:prstGeom prst="rect">
            <a:avLst/>
          </a:prstGeom>
          <a:noFill/>
          <a:ln/>
        </p:spPr>
        <p:txBody>
          <a:bodyPr wrap="square" lIns="0" tIns="0" rIns="0" bIns="0" rtlCol="0" anchor="b"/>
          <a:lstStyle/>
          <a:p>
            <a:pPr algn="l" indent="0" marL="0">
              <a:buNone/>
            </a:pPr>
            <a:r>
              <a:rPr lang="en-US" sz="2700" b="1" dirty="0">
                <a:solidFill>
                  <a:srgbClr val="16191D"/>
                </a:solidFill>
                <a:latin typeface="Cambria" pitchFamily="34" charset="0"/>
                <a:ea typeface="Cambria" pitchFamily="34" charset="-122"/>
                <a:cs typeface="Cambria" pitchFamily="34" charset="-120"/>
              </a:rPr>
              <a:t>0,0050</a:t>
            </a:r>
            <a:endParaRPr lang="en-US" sz="2700" dirty="0"/>
          </a:p>
        </p:txBody>
      </p:sp>
      <p:sp>
        <p:nvSpPr>
          <p:cNvPr id="32" name="Text 30"/>
          <p:cNvSpPr/>
          <p:nvPr/>
        </p:nvSpPr>
        <p:spPr>
          <a:xfrm>
            <a:off x="640080" y="5614416"/>
            <a:ext cx="3423818" cy="731520"/>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Simpangan baku QWK pada irisan seukuran data uji penuh (23.666 baris)</a:t>
            </a:r>
            <a:endParaRPr lang="en-US" sz="1050" dirty="0"/>
          </a:p>
        </p:txBody>
      </p:sp>
      <p:sp>
        <p:nvSpPr>
          <p:cNvPr id="33" name="Text 31"/>
          <p:cNvSpPr/>
          <p:nvPr/>
        </p:nvSpPr>
        <p:spPr>
          <a:xfrm>
            <a:off x="4383938" y="5120640"/>
            <a:ext cx="3423818" cy="457200"/>
          </a:xfrm>
          <a:prstGeom prst="rect">
            <a:avLst/>
          </a:prstGeom>
          <a:noFill/>
          <a:ln/>
        </p:spPr>
        <p:txBody>
          <a:bodyPr wrap="square" lIns="0" tIns="0" rIns="0" bIns="0" rtlCol="0" anchor="b"/>
          <a:lstStyle/>
          <a:p>
            <a:pPr algn="l" indent="0" marL="0">
              <a:buNone/>
            </a:pPr>
            <a:r>
              <a:rPr lang="en-US" sz="2700" b="1" dirty="0">
                <a:solidFill>
                  <a:srgbClr val="16191D"/>
                </a:solidFill>
                <a:latin typeface="Cambria" pitchFamily="34" charset="0"/>
                <a:ea typeface="Cambria" pitchFamily="34" charset="-122"/>
                <a:cs typeface="Cambria" pitchFamily="34" charset="-120"/>
              </a:rPr>
              <a:t>0,0105</a:t>
            </a:r>
            <a:endParaRPr lang="en-US" sz="2700" dirty="0"/>
          </a:p>
        </p:txBody>
      </p:sp>
      <p:sp>
        <p:nvSpPr>
          <p:cNvPr id="34" name="Text 32"/>
          <p:cNvSpPr/>
          <p:nvPr/>
        </p:nvSpPr>
        <p:spPr>
          <a:xfrm>
            <a:off x="4383938" y="5614416"/>
            <a:ext cx="3423818" cy="731520"/>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Simpangan baku QWK pada irisan seukuran papan skor publik (7.100 baris)</a:t>
            </a:r>
            <a:endParaRPr lang="en-US" sz="1050" dirty="0"/>
          </a:p>
        </p:txBody>
      </p:sp>
      <p:sp>
        <p:nvSpPr>
          <p:cNvPr id="35" name="Text 33"/>
          <p:cNvSpPr/>
          <p:nvPr/>
        </p:nvSpPr>
        <p:spPr>
          <a:xfrm>
            <a:off x="8127797" y="5120640"/>
            <a:ext cx="3423818" cy="457200"/>
          </a:xfrm>
          <a:prstGeom prst="rect">
            <a:avLst/>
          </a:prstGeom>
          <a:noFill/>
          <a:ln/>
        </p:spPr>
        <p:txBody>
          <a:bodyPr wrap="square" lIns="0" tIns="0" rIns="0" bIns="0" rtlCol="0" anchor="b"/>
          <a:lstStyle/>
          <a:p>
            <a:pPr algn="l" indent="0" marL="0">
              <a:buNone/>
            </a:pPr>
            <a:r>
              <a:rPr lang="en-US" sz="2700" b="1" dirty="0">
                <a:solidFill>
                  <a:srgbClr val="A8442A"/>
                </a:solidFill>
                <a:latin typeface="Cambria" pitchFamily="34" charset="0"/>
                <a:ea typeface="Cambria" pitchFamily="34" charset="-122"/>
                <a:cs typeface="Cambria" pitchFamily="34" charset="-120"/>
              </a:rPr>
              <a:t>0,7 σ</a:t>
            </a:r>
            <a:endParaRPr lang="en-US" sz="2700" dirty="0"/>
          </a:p>
        </p:txBody>
      </p:sp>
      <p:sp>
        <p:nvSpPr>
          <p:cNvPr id="36" name="Text 34"/>
          <p:cNvSpPr/>
          <p:nvPr/>
        </p:nvSpPr>
        <p:spPr>
          <a:xfrm>
            <a:off x="8127797" y="5614416"/>
            <a:ext cx="3423818" cy="731520"/>
          </a:xfrm>
          <a:prstGeom prst="rect">
            <a:avLst/>
          </a:prstGeom>
          <a:noFill/>
          <a:ln/>
        </p:spPr>
        <p:txBody>
          <a:bodyPr wrap="square" lIns="0" tIns="0" rIns="0" bIns="0" rtlCol="0" anchor="t"/>
          <a:lstStyle/>
          <a:p>
            <a:pPr algn="l" indent="0" marL="0">
              <a:lnSpc>
                <a:spcPts val="1300"/>
              </a:lnSpc>
              <a:buNone/>
            </a:pPr>
            <a:r>
              <a:rPr lang="en-US" sz="1050" dirty="0">
                <a:solidFill>
                  <a:srgbClr val="6E747C"/>
                </a:solidFill>
                <a:latin typeface="Calibri" pitchFamily="34" charset="0"/>
                <a:ea typeface="Calibri" pitchFamily="34" charset="-122"/>
                <a:cs typeface="Calibri" pitchFamily="34" charset="-120"/>
              </a:rPr>
              <a:t>Besarnya selisih enam peringkat berturut-turut, diukur dalam simpangan baku itu</a:t>
            </a:r>
            <a:endParaRPr lang="en-US" sz="1050" dirty="0"/>
          </a:p>
        </p:txBody>
      </p:sp>
      <p:sp>
        <p:nvSpPr>
          <p:cNvPr id="38" name="Text 35"/>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39" name="Text 36"/>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18</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KUALITAS KERJA</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Yang kami periksa sebelum menyebut pekerjaan ini selesai</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Dua hal terpisah: apakah modelnya benar, dan apakah siapa pun bisa mendapatkan hasil yang sama.</a:t>
            </a:r>
            <a:endParaRPr lang="en-US" sz="1350" dirty="0"/>
          </a:p>
        </p:txBody>
      </p:sp>
      <p:sp>
        <p:nvSpPr>
          <p:cNvPr id="7" name="Shape 5"/>
          <p:cNvSpPr/>
          <p:nvPr/>
        </p:nvSpPr>
        <p:spPr>
          <a:xfrm>
            <a:off x="640080" y="2286000"/>
            <a:ext cx="5272888" cy="3931920"/>
          </a:xfrm>
          <a:prstGeom prst="roundRect">
            <a:avLst>
              <a:gd name="adj" fmla="val 1395"/>
            </a:avLst>
          </a:prstGeom>
          <a:solidFill>
            <a:srgbClr val="F4F1EC"/>
          </a:solidFill>
          <a:ln w="9525">
            <a:solidFill>
              <a:srgbClr val="DCD8D1"/>
            </a:solidFill>
            <a:prstDash val="solid"/>
          </a:ln>
        </p:spPr>
      </p:sp>
      <p:sp>
        <p:nvSpPr>
          <p:cNvPr id="8" name="Text 6"/>
          <p:cNvSpPr/>
          <p:nvPr/>
        </p:nvSpPr>
        <p:spPr>
          <a:xfrm>
            <a:off x="950976" y="2487168"/>
            <a:ext cx="4651096" cy="274320"/>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VALIDASI</a:t>
            </a:r>
            <a:endParaRPr lang="en-US" sz="1050" dirty="0"/>
          </a:p>
        </p:txBody>
      </p:sp>
      <p:sp>
        <p:nvSpPr>
          <p:cNvPr id="9" name="Shape 7"/>
          <p:cNvSpPr/>
          <p:nvPr/>
        </p:nvSpPr>
        <p:spPr>
          <a:xfrm>
            <a:off x="950976" y="2889504"/>
            <a:ext cx="146304" cy="146304"/>
          </a:xfrm>
          <a:prstGeom prst="ellipse">
            <a:avLst/>
          </a:prstGeom>
          <a:solidFill>
            <a:srgbClr val="2F6B5F"/>
          </a:solidFill>
          <a:ln/>
        </p:spPr>
      </p:sp>
      <p:sp>
        <p:nvSpPr>
          <p:cNvPr id="10" name="Text 8"/>
          <p:cNvSpPr/>
          <p:nvPr/>
        </p:nvSpPr>
        <p:spPr>
          <a:xfrm>
            <a:off x="1207008" y="281635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Dekomposisi penalti, bukan sekadar matriks konfusi.</a:t>
            </a:r>
            <a:endParaRPr lang="en-US" sz="1200" dirty="0"/>
          </a:p>
        </p:txBody>
      </p:sp>
      <p:sp>
        <p:nvSpPr>
          <p:cNvPr id="11" name="Text 9"/>
          <p:cNvSpPr/>
          <p:nvPr/>
        </p:nvSpPr>
        <p:spPr>
          <a:xfrm>
            <a:off x="1207008" y="309067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Satu sel — aktual 2 diprediksi 1 — menyumbang 35,8% dari seluruh penalti QWK. Di situlah ambiguitas “Sangat puas” versus “Puas” yang sebagian memang subjektif.</a:t>
            </a:r>
            <a:endParaRPr lang="en-US" sz="1100" dirty="0"/>
          </a:p>
        </p:txBody>
      </p:sp>
      <p:sp>
        <p:nvSpPr>
          <p:cNvPr id="12" name="Shape 10"/>
          <p:cNvSpPr/>
          <p:nvPr/>
        </p:nvSpPr>
        <p:spPr>
          <a:xfrm>
            <a:off x="950976" y="3986784"/>
            <a:ext cx="146304" cy="146304"/>
          </a:xfrm>
          <a:prstGeom prst="ellipse">
            <a:avLst/>
          </a:prstGeom>
          <a:solidFill>
            <a:srgbClr val="8FB0A4"/>
          </a:solidFill>
          <a:ln/>
        </p:spPr>
      </p:sp>
      <p:sp>
        <p:nvSpPr>
          <p:cNvPr id="13" name="Text 11"/>
          <p:cNvSpPr/>
          <p:nvPr/>
        </p:nvSpPr>
        <p:spPr>
          <a:xfrm>
            <a:off x="1207008" y="391363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QWK per subkelompok.</a:t>
            </a:r>
            <a:endParaRPr lang="en-US" sz="1200" dirty="0"/>
          </a:p>
        </p:txBody>
      </p:sp>
      <p:sp>
        <p:nvSpPr>
          <p:cNvPr id="14" name="Text 12"/>
          <p:cNvSpPr/>
          <p:nvPr/>
        </p:nvSpPr>
        <p:spPr>
          <a:xfrm>
            <a:off x="1207008" y="418795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Jenis kelamin 0,4839 vs 0,4836; diperiksa juga per kelompok usia, wilayah, dan tahun survei. Tidak ada segmen yang ditinggalkan model.</a:t>
            </a:r>
            <a:endParaRPr lang="en-US" sz="1100" dirty="0"/>
          </a:p>
        </p:txBody>
      </p:sp>
      <p:sp>
        <p:nvSpPr>
          <p:cNvPr id="15" name="Shape 13"/>
          <p:cNvSpPr/>
          <p:nvPr/>
        </p:nvSpPr>
        <p:spPr>
          <a:xfrm>
            <a:off x="950976" y="5084064"/>
            <a:ext cx="146304" cy="146304"/>
          </a:xfrm>
          <a:prstGeom prst="ellipse">
            <a:avLst/>
          </a:prstGeom>
          <a:solidFill>
            <a:srgbClr val="D8A25E"/>
          </a:solidFill>
          <a:ln/>
        </p:spPr>
      </p:sp>
      <p:sp>
        <p:nvSpPr>
          <p:cNvPr id="16" name="Text 14"/>
          <p:cNvSpPr/>
          <p:nvPr/>
        </p:nvSpPr>
        <p:spPr>
          <a:xfrm>
            <a:off x="1207008" y="501091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Permutation importance, bukan split-gain.</a:t>
            </a:r>
            <a:endParaRPr lang="en-US" sz="1200" dirty="0"/>
          </a:p>
        </p:txBody>
      </p:sp>
      <p:sp>
        <p:nvSpPr>
          <p:cNvPr id="17" name="Text 15"/>
          <p:cNvSpPr/>
          <p:nvPr/>
        </p:nvSpPr>
        <p:spPr>
          <a:xfrm>
            <a:off x="1207008" y="528523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Split-gain melebih-lebihkan fitur berkardinalitas tinggi. Permutation menempatkan survey_weight, pseudo_stratum, dan pseudo_psu di delapan besar — variabel desain survei, bukan variabel substantif. Kami mengujinya sebagai bobot latih: QWK turun ke 0,4726, jadi keduanya tetap sekadar fitur.</a:t>
            </a:r>
            <a:endParaRPr lang="en-US" sz="1100" dirty="0"/>
          </a:p>
        </p:txBody>
      </p:sp>
      <p:sp>
        <p:nvSpPr>
          <p:cNvPr id="18" name="Shape 16"/>
          <p:cNvSpPr/>
          <p:nvPr/>
        </p:nvSpPr>
        <p:spPr>
          <a:xfrm>
            <a:off x="6278728" y="2286000"/>
            <a:ext cx="5272888" cy="3931920"/>
          </a:xfrm>
          <a:prstGeom prst="roundRect">
            <a:avLst>
              <a:gd name="adj" fmla="val 1395"/>
            </a:avLst>
          </a:prstGeom>
          <a:solidFill>
            <a:srgbClr val="F4F1EC"/>
          </a:solidFill>
          <a:ln w="9525">
            <a:solidFill>
              <a:srgbClr val="DCD8D1"/>
            </a:solidFill>
            <a:prstDash val="solid"/>
          </a:ln>
        </p:spPr>
      </p:sp>
      <p:sp>
        <p:nvSpPr>
          <p:cNvPr id="19" name="Text 17"/>
          <p:cNvSpPr/>
          <p:nvPr/>
        </p:nvSpPr>
        <p:spPr>
          <a:xfrm>
            <a:off x="6589624" y="2487168"/>
            <a:ext cx="4651096" cy="274320"/>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REPRODUKSIBILITAS</a:t>
            </a:r>
            <a:endParaRPr lang="en-US" sz="1050" dirty="0"/>
          </a:p>
        </p:txBody>
      </p:sp>
      <p:sp>
        <p:nvSpPr>
          <p:cNvPr id="20" name="Shape 18"/>
          <p:cNvSpPr/>
          <p:nvPr/>
        </p:nvSpPr>
        <p:spPr>
          <a:xfrm>
            <a:off x="6589624" y="2889504"/>
            <a:ext cx="146304" cy="146304"/>
          </a:xfrm>
          <a:prstGeom prst="ellipse">
            <a:avLst/>
          </a:prstGeom>
          <a:solidFill>
            <a:srgbClr val="2F6B5F"/>
          </a:solidFill>
          <a:ln/>
        </p:spPr>
      </p:sp>
      <p:sp>
        <p:nvSpPr>
          <p:cNvPr id="21" name="Text 19"/>
          <p:cNvSpPr/>
          <p:nvPr/>
        </p:nvSpPr>
        <p:spPr>
          <a:xfrm>
            <a:off x="6845656" y="281635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Satu seed, dikunci di setiap tahap.</a:t>
            </a:r>
            <a:endParaRPr lang="en-US" sz="1200" dirty="0"/>
          </a:p>
        </p:txBody>
      </p:sp>
      <p:sp>
        <p:nvSpPr>
          <p:cNvPr id="22" name="Text 20"/>
          <p:cNvSpPr/>
          <p:nvPr/>
        </p:nvSpPr>
        <p:spPr>
          <a:xfrm>
            <a:off x="6845656" y="309067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SEED = 42 diteruskan ke pembagian fold, keenam model dasar, meta-learner, resampel bootstrap, dan analisis kurva belajar.</a:t>
            </a:r>
            <a:endParaRPr lang="en-US" sz="1100" dirty="0"/>
          </a:p>
        </p:txBody>
      </p:sp>
      <p:sp>
        <p:nvSpPr>
          <p:cNvPr id="23" name="Shape 21"/>
          <p:cNvSpPr/>
          <p:nvPr/>
        </p:nvSpPr>
        <p:spPr>
          <a:xfrm>
            <a:off x="6589624" y="3986784"/>
            <a:ext cx="146304" cy="146304"/>
          </a:xfrm>
          <a:prstGeom prst="ellipse">
            <a:avLst/>
          </a:prstGeom>
          <a:solidFill>
            <a:srgbClr val="8FB0A4"/>
          </a:solidFill>
          <a:ln/>
        </p:spPr>
      </p:sp>
      <p:sp>
        <p:nvSpPr>
          <p:cNvPr id="24" name="Text 22"/>
          <p:cNvSpPr/>
          <p:nvPr/>
        </p:nvSpPr>
        <p:spPr>
          <a:xfrm>
            <a:off x="6845656" y="391363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Model tersimpan lengkap, bukan hanya bobot.</a:t>
            </a:r>
            <a:endParaRPr lang="en-US" sz="1200" dirty="0"/>
          </a:p>
        </p:txBody>
      </p:sp>
      <p:sp>
        <p:nvSpPr>
          <p:cNvPr id="25" name="Text 23"/>
          <p:cNvSpPr/>
          <p:nvPr/>
        </p:nvSpPr>
        <p:spPr>
          <a:xfrm>
            <a:off x="6845656" y="418795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model_warkab.joblib memuat keenam model dasar, meta-learner, ketiga ambang batas, dan daftar 176 fitur dalam urutan yang benar — cukup untuk memproduksi ulang submission tanpa melatih apa pun.</a:t>
            </a:r>
            <a:endParaRPr lang="en-US" sz="1100" dirty="0"/>
          </a:p>
        </p:txBody>
      </p:sp>
      <p:sp>
        <p:nvSpPr>
          <p:cNvPr id="26" name="Shape 24"/>
          <p:cNvSpPr/>
          <p:nvPr/>
        </p:nvSpPr>
        <p:spPr>
          <a:xfrm>
            <a:off x="6589624" y="5084064"/>
            <a:ext cx="146304" cy="146304"/>
          </a:xfrm>
          <a:prstGeom prst="ellipse">
            <a:avLst/>
          </a:prstGeom>
          <a:solidFill>
            <a:srgbClr val="D8A25E"/>
          </a:solidFill>
          <a:ln/>
        </p:spPr>
      </p:sp>
      <p:sp>
        <p:nvSpPr>
          <p:cNvPr id="27" name="Text 25"/>
          <p:cNvSpPr/>
          <p:nvPr/>
        </p:nvSpPr>
        <p:spPr>
          <a:xfrm>
            <a:off x="6845656" y="5010912"/>
            <a:ext cx="4395064" cy="274320"/>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Notebook dijalankan penuh dari awal.</a:t>
            </a:r>
            <a:endParaRPr lang="en-US" sz="1200" dirty="0"/>
          </a:p>
        </p:txBody>
      </p:sp>
      <p:sp>
        <p:nvSpPr>
          <p:cNvPr id="28" name="Text 26"/>
          <p:cNvSpPr/>
          <p:nvPr/>
        </p:nvSpPr>
        <p:spPr>
          <a:xfrm>
            <a:off x="6845656" y="5285232"/>
            <a:ext cx="4395064" cy="877824"/>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Eksekusi penuh 135 menit, seluruh sel berisi output, nol error, dan berkas submission yang dihasilkan identik dengan yang kami kumpulkan. Batasan yang kami akui: pustaka boosting multi-thread tidak menjamin hasil bit-identik; selisihnya terukur sekitar 0,001 QWK.</a:t>
            </a:r>
            <a:endParaRPr lang="en-US" sz="1100" dirty="0"/>
          </a:p>
        </p:txBody>
      </p:sp>
      <p:sp>
        <p:nvSpPr>
          <p:cNvPr id="30" name="Text 27"/>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31" name="Text 28"/>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19</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PROTOTIPE</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Dari notebook ke alat yang bisa dipakai: LifeScope</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Aturan keputusan yang sama, dibungkus menjadi alat penapisan yang berjalan sepenuhnya di peramban — tanpa server, tanpa data yang dikirim ke mana pun.</a:t>
            </a:r>
            <a:endParaRPr lang="en-US" sz="1350" dirty="0"/>
          </a:p>
        </p:txBody>
      </p:sp>
      <p:sp>
        <p:nvSpPr>
          <p:cNvPr id="7" name="Shape 5"/>
          <p:cNvSpPr/>
          <p:nvPr/>
        </p:nvSpPr>
        <p:spPr>
          <a:xfrm>
            <a:off x="612648" y="2203704"/>
            <a:ext cx="6684264" cy="3712464"/>
          </a:xfrm>
          <a:prstGeom prst="rect">
            <a:avLst/>
          </a:prstGeom>
          <a:solidFill>
            <a:srgbClr val="DCD8D1"/>
          </a:solidFill>
          <a:ln/>
        </p:spPr>
      </p:sp>
      <p:pic>
        <p:nvPicPr>
          <p:cNvPr id="8" name="Image 0" descr="shot_lifescope.png">    </p:cNvPr>
          <p:cNvPicPr>
            <a:picLocks noChangeAspect="1"/>
          </p:cNvPicPr>
          <p:nvPr/>
        </p:nvPicPr>
        <p:blipFill>
          <a:blip r:embed="rId1"/>
          <a:stretch>
            <a:fillRect/>
          </a:stretch>
        </p:blipFill>
        <p:spPr>
          <a:xfrm>
            <a:off x="640080" y="2231136"/>
            <a:ext cx="6629400" cy="3657600"/>
          </a:xfrm>
          <a:prstGeom prst="rect">
            <a:avLst/>
          </a:prstGeom>
        </p:spPr>
      </p:pic>
      <p:sp>
        <p:nvSpPr>
          <p:cNvPr id="9" name="Text 6"/>
          <p:cNvSpPr/>
          <p:nvPr/>
        </p:nvSpPr>
        <p:spPr>
          <a:xfrm>
            <a:off x="640080" y="5961888"/>
            <a:ext cx="6629400" cy="310896"/>
          </a:xfrm>
          <a:prstGeom prst="rect">
            <a:avLst/>
          </a:prstGeom>
          <a:noFill/>
          <a:ln/>
        </p:spPr>
        <p:txBody>
          <a:bodyPr wrap="square" lIns="0" tIns="0" rIns="0" bIns="0" rtlCol="0" anchor="ctr"/>
          <a:lstStyle/>
          <a:p>
            <a:pPr indent="0" marL="0">
              <a:buNone/>
            </a:pPr>
            <a:r>
              <a:rPr lang="en-US" sz="1000" i="1" dirty="0">
                <a:solidFill>
                  <a:srgbClr val="6E747C"/>
                </a:solidFill>
                <a:latin typeface="Calibri" pitchFamily="34" charset="0"/>
                <a:ea typeface="Calibri" pitchFamily="34" charset="-122"/>
                <a:cs typeface="Calibri" pitchFamily="34" charset="-120"/>
              </a:rPr>
              <a:t>Panel skrining individu — E[y] ditampilkan sebagai posisi pada skala, lengkap dengan ketiga ambang batas produksi.</a:t>
            </a:r>
            <a:endParaRPr lang="en-US" sz="1000" dirty="0"/>
          </a:p>
        </p:txBody>
      </p:sp>
      <p:sp>
        <p:nvSpPr>
          <p:cNvPr id="10" name="Shape 7"/>
          <p:cNvSpPr/>
          <p:nvPr/>
        </p:nvSpPr>
        <p:spPr>
          <a:xfrm>
            <a:off x="7690104" y="2231136"/>
            <a:ext cx="3861511" cy="932688"/>
          </a:xfrm>
          <a:prstGeom prst="roundRect">
            <a:avLst>
              <a:gd name="adj" fmla="val 5882"/>
            </a:avLst>
          </a:prstGeom>
          <a:solidFill>
            <a:srgbClr val="16191D"/>
          </a:solidFill>
          <a:ln/>
        </p:spPr>
      </p:sp>
      <p:sp>
        <p:nvSpPr>
          <p:cNvPr id="11" name="Text 8"/>
          <p:cNvSpPr/>
          <p:nvPr/>
        </p:nvSpPr>
        <p:spPr>
          <a:xfrm>
            <a:off x="7927848" y="2340864"/>
            <a:ext cx="3386023" cy="219456"/>
          </a:xfrm>
          <a:prstGeom prst="rect">
            <a:avLst/>
          </a:prstGeom>
          <a:noFill/>
          <a:ln/>
        </p:spPr>
        <p:txBody>
          <a:bodyPr wrap="square" lIns="0" tIns="0" rIns="0" bIns="0" rtlCol="0" anchor="ctr"/>
          <a:lstStyle/>
          <a:p>
            <a:pPr indent="0" marL="0">
              <a:buNone/>
            </a:pPr>
            <a:r>
              <a:rPr lang="en-US" sz="900" b="1" spc="140" kern="0" dirty="0">
                <a:solidFill>
                  <a:srgbClr val="9AA0A7"/>
                </a:solidFill>
                <a:latin typeface="Calibri" pitchFamily="34" charset="0"/>
                <a:ea typeface="Calibri" pitchFamily="34" charset="-122"/>
                <a:cs typeface="Calibri" pitchFamily="34" charset="-120"/>
              </a:rPr>
              <a:t>COBA LANGSUNG SAAT PITCHING</a:t>
            </a:r>
            <a:endParaRPr lang="en-US" sz="900" dirty="0"/>
          </a:p>
        </p:txBody>
      </p:sp>
      <p:sp>
        <p:nvSpPr>
          <p:cNvPr id="12" name="Text 9">
            <a:hlinkClick r:id="rId2" tooltip=""/>
          </p:cNvPr>
          <p:cNvSpPr/>
          <p:nvPr/>
        </p:nvSpPr>
        <p:spPr>
          <a:xfrm>
            <a:off x="7927848" y="2560320"/>
            <a:ext cx="3386023" cy="292608"/>
          </a:xfrm>
          <a:prstGeom prst="rect">
            <a:avLst/>
          </a:prstGeom>
          <a:noFill/>
          <a:ln/>
        </p:spPr>
        <p:txBody>
          <a:bodyPr wrap="square" lIns="0" tIns="0" rIns="0" bIns="0" rtlCol="0" anchor="ctr"/>
          <a:lstStyle/>
          <a:p>
            <a:pPr indent="0" marL="0">
              <a:buNone/>
            </a:pPr>
            <a:r>
              <a:rPr lang="en-US" sz="1250" b="1"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mikaeladikara.github.io/DataQuest-Warkab</a:t>
            </a:r>
            <a:endParaRPr lang="en-US" sz="1250" dirty="0"/>
          </a:p>
        </p:txBody>
      </p:sp>
      <p:sp>
        <p:nvSpPr>
          <p:cNvPr id="13" name="Text 10">
            <a:hlinkClick r:id="rId3" tooltip=""/>
          </p:cNvPr>
          <p:cNvSpPr/>
          <p:nvPr/>
        </p:nvSpPr>
        <p:spPr>
          <a:xfrm>
            <a:off x="7927848" y="2834640"/>
            <a:ext cx="3386023" cy="274320"/>
          </a:xfrm>
          <a:prstGeom prst="rect">
            <a:avLst/>
          </a:prstGeom>
          <a:noFill/>
          <a:ln/>
        </p:spPr>
        <p:txBody>
          <a:bodyPr wrap="square" lIns="0" tIns="0" rIns="0" bIns="0" rtlCol="0" anchor="ctr"/>
          <a:lstStyle/>
          <a:p>
            <a:pPr indent="0" marL="0">
              <a:buNone/>
            </a:pPr>
            <a:r>
              <a:rPr lang="en-US" sz="1050" u="sng" dirty="0">
                <a:solidFill>
                  <a:srgbClr val="8FB0A4"/>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github.com/MikaelAdikara/DataQuest-Warkab</a:t>
            </a:r>
            <a:endParaRPr lang="en-US" sz="1050" dirty="0"/>
          </a:p>
        </p:txBody>
      </p:sp>
      <p:sp>
        <p:nvSpPr>
          <p:cNvPr id="14" name="Shape 11"/>
          <p:cNvSpPr/>
          <p:nvPr/>
        </p:nvSpPr>
        <p:spPr>
          <a:xfrm>
            <a:off x="7690104" y="3401568"/>
            <a:ext cx="173736" cy="173736"/>
          </a:xfrm>
          <a:prstGeom prst="ellipse">
            <a:avLst/>
          </a:prstGeom>
          <a:solidFill>
            <a:srgbClr val="2F6B5F"/>
          </a:solidFill>
          <a:ln/>
        </p:spPr>
      </p:sp>
      <p:sp>
        <p:nvSpPr>
          <p:cNvPr id="15" name="Text 12"/>
          <p:cNvSpPr/>
          <p:nvPr/>
        </p:nvSpPr>
        <p:spPr>
          <a:xfrm>
            <a:off x="7955280" y="3364992"/>
            <a:ext cx="3596335" cy="256032"/>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Aturan keputusan, bukan label</a:t>
            </a:r>
            <a:endParaRPr lang="en-US" sz="1200" dirty="0"/>
          </a:p>
        </p:txBody>
      </p:sp>
      <p:sp>
        <p:nvSpPr>
          <p:cNvPr id="16" name="Text 13"/>
          <p:cNvSpPr/>
          <p:nvPr/>
        </p:nvSpPr>
        <p:spPr>
          <a:xfrm>
            <a:off x="7955280" y="3639312"/>
            <a:ext cx="3596335" cy="658368"/>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E[y] tampil sebagai posisi pada skala kontinu. Ketika responden jatuh 0,02 dari sebuah ambang, panel mengatakannya.</a:t>
            </a:r>
            <a:endParaRPr lang="en-US" sz="1050" dirty="0"/>
          </a:p>
        </p:txBody>
      </p:sp>
      <p:sp>
        <p:nvSpPr>
          <p:cNvPr id="17" name="Shape 14"/>
          <p:cNvSpPr/>
          <p:nvPr/>
        </p:nvSpPr>
        <p:spPr>
          <a:xfrm>
            <a:off x="7690104" y="4389120"/>
            <a:ext cx="173736" cy="173736"/>
          </a:xfrm>
          <a:prstGeom prst="ellipse">
            <a:avLst/>
          </a:prstGeom>
          <a:solidFill>
            <a:srgbClr val="8FB0A4"/>
          </a:solidFill>
          <a:ln/>
        </p:spPr>
      </p:sp>
      <p:sp>
        <p:nvSpPr>
          <p:cNvPr id="18" name="Text 15"/>
          <p:cNvSpPr/>
          <p:nvPr/>
        </p:nvSpPr>
        <p:spPr>
          <a:xfrm>
            <a:off x="7955280" y="4352544"/>
            <a:ext cx="3596335" cy="256032"/>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Ambang penapisan dapat digeser</a:t>
            </a:r>
            <a:endParaRPr lang="en-US" sz="1200" dirty="0"/>
          </a:p>
        </p:txBody>
      </p:sp>
      <p:sp>
        <p:nvSpPr>
          <p:cNvPr id="19" name="Text 16"/>
          <p:cNvSpPr/>
          <p:nvPr/>
        </p:nvSpPr>
        <p:spPr>
          <a:xfrm>
            <a:off x="7955280" y="4626864"/>
            <a:ext cx="3596335" cy="658368"/>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Garis t₃ diseret langsung di histogram: batangnya berubah warna seketika, dan jumlah orang yang tertangkap terhitung ulang di depan mata juri.</a:t>
            </a:r>
            <a:endParaRPr lang="en-US" sz="1050" dirty="0"/>
          </a:p>
        </p:txBody>
      </p:sp>
      <p:sp>
        <p:nvSpPr>
          <p:cNvPr id="20" name="Shape 17"/>
          <p:cNvSpPr/>
          <p:nvPr/>
        </p:nvSpPr>
        <p:spPr>
          <a:xfrm>
            <a:off x="7690104" y="5376672"/>
            <a:ext cx="173736" cy="173736"/>
          </a:xfrm>
          <a:prstGeom prst="ellipse">
            <a:avLst/>
          </a:prstGeom>
          <a:solidFill>
            <a:srgbClr val="D8A25E"/>
          </a:solidFill>
          <a:ln/>
        </p:spPr>
      </p:sp>
      <p:sp>
        <p:nvSpPr>
          <p:cNvPr id="21" name="Text 18"/>
          <p:cNvSpPr/>
          <p:nvPr/>
        </p:nvSpPr>
        <p:spPr>
          <a:xfrm>
            <a:off x="7955280" y="5340096"/>
            <a:ext cx="3596335" cy="256032"/>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Keluaran berupa peringkat</a:t>
            </a:r>
            <a:endParaRPr lang="en-US" sz="1200" dirty="0"/>
          </a:p>
        </p:txBody>
      </p:sp>
      <p:sp>
        <p:nvSpPr>
          <p:cNvPr id="22" name="Text 19"/>
          <p:cNvSpPr/>
          <p:nvPr/>
        </p:nvSpPr>
        <p:spPr>
          <a:xfrm>
            <a:off x="7955280" y="5614416"/>
            <a:ext cx="3596335" cy="658368"/>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Tabel prioritas yang dapat diurutkan dan diekspor sebagai CSV — bentuk keluaran yang benar-benar dipakai perencana program.</a:t>
            </a:r>
            <a:endParaRPr lang="en-US" sz="1050" dirty="0"/>
          </a:p>
        </p:txBody>
      </p:sp>
      <p:sp>
        <p:nvSpPr>
          <p:cNvPr id="24" name="Text 20"/>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25" name="Text 21"/>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20</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DAMPAK</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Jalur dari prototipe ke pemakaian nyata</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Setiap langkah disertai syarat yang harus dipenuhi lebih dulu. Kami menuliskan syaratnya karena melewatinya adalah cara model seperti ini biasanya gagal.</a:t>
            </a:r>
            <a:endParaRPr lang="en-US" sz="1350" dirty="0"/>
          </a:p>
        </p:txBody>
      </p:sp>
      <p:sp>
        <p:nvSpPr>
          <p:cNvPr id="7" name="Shape 5"/>
          <p:cNvSpPr/>
          <p:nvPr/>
        </p:nvSpPr>
        <p:spPr>
          <a:xfrm>
            <a:off x="640080" y="2304288"/>
            <a:ext cx="2522144" cy="3246120"/>
          </a:xfrm>
          <a:prstGeom prst="roundRect">
            <a:avLst>
              <a:gd name="adj" fmla="val 2175"/>
            </a:avLst>
          </a:prstGeom>
          <a:solidFill>
            <a:srgbClr val="F4F1EC"/>
          </a:solidFill>
          <a:ln w="9525">
            <a:solidFill>
              <a:srgbClr val="DCD8D1"/>
            </a:solidFill>
            <a:prstDash val="solid"/>
          </a:ln>
        </p:spPr>
      </p:sp>
      <p:sp>
        <p:nvSpPr>
          <p:cNvPr id="8" name="Shape 6"/>
          <p:cNvSpPr/>
          <p:nvPr/>
        </p:nvSpPr>
        <p:spPr>
          <a:xfrm>
            <a:off x="896112" y="2505456"/>
            <a:ext cx="329184" cy="329184"/>
          </a:xfrm>
          <a:prstGeom prst="ellipse">
            <a:avLst/>
          </a:prstGeom>
          <a:solidFill>
            <a:srgbClr val="2F6B5F"/>
          </a:solidFill>
          <a:ln/>
        </p:spPr>
      </p:sp>
      <p:sp>
        <p:nvSpPr>
          <p:cNvPr id="9" name="Text 7"/>
          <p:cNvSpPr/>
          <p:nvPr/>
        </p:nvSpPr>
        <p:spPr>
          <a:xfrm>
            <a:off x="896112" y="2505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0" name="Text 8"/>
          <p:cNvSpPr/>
          <p:nvPr/>
        </p:nvSpPr>
        <p:spPr>
          <a:xfrm>
            <a:off x="896112" y="2944368"/>
            <a:ext cx="2010080" cy="566928"/>
          </a:xfrm>
          <a:prstGeom prst="rect">
            <a:avLst/>
          </a:prstGeom>
          <a:noFill/>
          <a:ln/>
        </p:spPr>
        <p:txBody>
          <a:bodyPr wrap="square" lIns="0" tIns="0" rIns="0" bIns="0" rtlCol="0" anchor="t"/>
          <a:lstStyle/>
          <a:p>
            <a:pPr indent="0" marL="0">
              <a:lnSpc>
                <a:spcPts val="1800"/>
              </a:lnSpc>
              <a:buNone/>
            </a:pPr>
            <a:r>
              <a:rPr lang="en-US" sz="1400" b="1" dirty="0">
                <a:solidFill>
                  <a:srgbClr val="16191D"/>
                </a:solidFill>
                <a:latin typeface="Cambria" pitchFamily="34" charset="0"/>
                <a:ea typeface="Cambria" pitchFamily="34" charset="-122"/>
                <a:cs typeface="Cambria" pitchFamily="34" charset="-120"/>
              </a:rPr>
              <a:t>Penapisan retrospektif</a:t>
            </a:r>
            <a:endParaRPr lang="en-US" sz="1400" dirty="0"/>
          </a:p>
        </p:txBody>
      </p:sp>
      <p:sp>
        <p:nvSpPr>
          <p:cNvPr id="11" name="Text 9"/>
          <p:cNvSpPr/>
          <p:nvPr/>
        </p:nvSpPr>
        <p:spPr>
          <a:xfrm>
            <a:off x="896112" y="3547872"/>
            <a:ext cx="2010080" cy="1097280"/>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Menjalankan model pada gelombang survei yang sudah ada untuk menemukan segmen berisiko rendah kepuasan hidup.</a:t>
            </a:r>
            <a:endParaRPr lang="en-US" sz="1100" dirty="0"/>
          </a:p>
        </p:txBody>
      </p:sp>
      <p:sp>
        <p:nvSpPr>
          <p:cNvPr id="12" name="Text 10"/>
          <p:cNvSpPr/>
          <p:nvPr/>
        </p:nvSpPr>
        <p:spPr>
          <a:xfrm>
            <a:off x="896112" y="4626864"/>
            <a:ext cx="2010080" cy="822960"/>
          </a:xfrm>
          <a:prstGeom prst="rect">
            <a:avLst/>
          </a:prstGeom>
          <a:noFill/>
          <a:ln/>
        </p:spPr>
        <p:txBody>
          <a:bodyPr wrap="square" lIns="0" tIns="0" rIns="0" bIns="0" rtlCol="0" anchor="t"/>
          <a:lstStyle/>
          <a:p>
            <a:pPr indent="0" marL="0">
              <a:lnSpc>
                <a:spcPts val="1400"/>
              </a:lnSpc>
              <a:buNone/>
            </a:pPr>
            <a:r>
              <a:rPr lang="en-US" sz="1050" dirty="0">
                <a:solidFill>
                  <a:srgbClr val="A8442A"/>
                </a:solidFill>
                <a:latin typeface="Calibri" pitchFamily="34" charset="0"/>
                <a:ea typeface="Calibri" pitchFamily="34" charset="-122"/>
                <a:cs typeface="Calibri" pitchFamily="34" charset="-120"/>
              </a:rPr>
              <a:t>Syarat: tidak ada. Dapat dilakukan hari ini dengan data yang sudah dimiliki.</a:t>
            </a:r>
            <a:endParaRPr lang="en-US" sz="1050" dirty="0"/>
          </a:p>
        </p:txBody>
      </p:sp>
      <p:sp>
        <p:nvSpPr>
          <p:cNvPr id="13" name="Shape 11"/>
          <p:cNvSpPr/>
          <p:nvPr/>
        </p:nvSpPr>
        <p:spPr>
          <a:xfrm>
            <a:off x="3436544" y="2304288"/>
            <a:ext cx="2522144" cy="3246120"/>
          </a:xfrm>
          <a:prstGeom prst="roundRect">
            <a:avLst>
              <a:gd name="adj" fmla="val 2175"/>
            </a:avLst>
          </a:prstGeom>
          <a:solidFill>
            <a:srgbClr val="F4F1EC"/>
          </a:solidFill>
          <a:ln w="9525">
            <a:solidFill>
              <a:srgbClr val="DCD8D1"/>
            </a:solidFill>
            <a:prstDash val="solid"/>
          </a:ln>
        </p:spPr>
      </p:sp>
      <p:sp>
        <p:nvSpPr>
          <p:cNvPr id="14" name="Shape 12"/>
          <p:cNvSpPr/>
          <p:nvPr/>
        </p:nvSpPr>
        <p:spPr>
          <a:xfrm>
            <a:off x="3692576" y="2505456"/>
            <a:ext cx="329184" cy="329184"/>
          </a:xfrm>
          <a:prstGeom prst="ellipse">
            <a:avLst/>
          </a:prstGeom>
          <a:solidFill>
            <a:srgbClr val="8FB0A4"/>
          </a:solidFill>
          <a:ln/>
        </p:spPr>
      </p:sp>
      <p:sp>
        <p:nvSpPr>
          <p:cNvPr id="15" name="Text 13"/>
          <p:cNvSpPr/>
          <p:nvPr/>
        </p:nvSpPr>
        <p:spPr>
          <a:xfrm>
            <a:off x="3692576" y="2505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3692576" y="2944368"/>
            <a:ext cx="2010080" cy="566928"/>
          </a:xfrm>
          <a:prstGeom prst="rect">
            <a:avLst/>
          </a:prstGeom>
          <a:noFill/>
          <a:ln/>
        </p:spPr>
        <p:txBody>
          <a:bodyPr wrap="square" lIns="0" tIns="0" rIns="0" bIns="0" rtlCol="0" anchor="t"/>
          <a:lstStyle/>
          <a:p>
            <a:pPr indent="0" marL="0">
              <a:lnSpc>
                <a:spcPts val="1800"/>
              </a:lnSpc>
              <a:buNone/>
            </a:pPr>
            <a:r>
              <a:rPr lang="en-US" sz="1400" b="1" dirty="0">
                <a:solidFill>
                  <a:srgbClr val="16191D"/>
                </a:solidFill>
                <a:latin typeface="Cambria" pitchFamily="34" charset="0"/>
                <a:ea typeface="Cambria" pitchFamily="34" charset="-122"/>
                <a:cs typeface="Cambria" pitchFamily="34" charset="-120"/>
              </a:rPr>
              <a:t>Prioritisasi tindak lanjut</a:t>
            </a:r>
            <a:endParaRPr lang="en-US" sz="1400" dirty="0"/>
          </a:p>
        </p:txBody>
      </p:sp>
      <p:sp>
        <p:nvSpPr>
          <p:cNvPr id="17" name="Text 15"/>
          <p:cNvSpPr/>
          <p:nvPr/>
        </p:nvSpPr>
        <p:spPr>
          <a:xfrm>
            <a:off x="3692576" y="3547872"/>
            <a:ext cx="2010080" cy="1097280"/>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Memakai peringkat E[y], bukan label, untuk menyusun antrean kunjungan atau wawancara lanjutan.</a:t>
            </a:r>
            <a:endParaRPr lang="en-US" sz="1100" dirty="0"/>
          </a:p>
        </p:txBody>
      </p:sp>
      <p:sp>
        <p:nvSpPr>
          <p:cNvPr id="18" name="Text 16"/>
          <p:cNvSpPr/>
          <p:nvPr/>
        </p:nvSpPr>
        <p:spPr>
          <a:xfrm>
            <a:off x="3692576" y="4626864"/>
            <a:ext cx="2010080" cy="822960"/>
          </a:xfrm>
          <a:prstGeom prst="rect">
            <a:avLst/>
          </a:prstGeom>
          <a:noFill/>
          <a:ln/>
        </p:spPr>
        <p:txBody>
          <a:bodyPr wrap="square" lIns="0" tIns="0" rIns="0" bIns="0" rtlCol="0" anchor="t"/>
          <a:lstStyle/>
          <a:p>
            <a:pPr indent="0" marL="0">
              <a:lnSpc>
                <a:spcPts val="1400"/>
              </a:lnSpc>
              <a:buNone/>
            </a:pPr>
            <a:r>
              <a:rPr lang="en-US" sz="1050" dirty="0">
                <a:solidFill>
                  <a:srgbClr val="A8442A"/>
                </a:solidFill>
                <a:latin typeface="Calibri" pitchFamily="34" charset="0"/>
                <a:ea typeface="Calibri" pitchFamily="34" charset="-122"/>
                <a:cs typeface="Calibri" pitchFamily="34" charset="-120"/>
              </a:rPr>
              <a:t>Syarat: t₃ dikalibrasi ulang untuk sensitivitas, bukan untuk QWK. Slider pada prototipe adalah alatnya.</a:t>
            </a:r>
            <a:endParaRPr lang="en-US" sz="1050" dirty="0"/>
          </a:p>
        </p:txBody>
      </p:sp>
      <p:sp>
        <p:nvSpPr>
          <p:cNvPr id="19" name="Shape 17"/>
          <p:cNvSpPr/>
          <p:nvPr/>
        </p:nvSpPr>
        <p:spPr>
          <a:xfrm>
            <a:off x="6233008" y="2304288"/>
            <a:ext cx="2522144" cy="3246120"/>
          </a:xfrm>
          <a:prstGeom prst="roundRect">
            <a:avLst>
              <a:gd name="adj" fmla="val 2175"/>
            </a:avLst>
          </a:prstGeom>
          <a:solidFill>
            <a:srgbClr val="F4F1EC"/>
          </a:solidFill>
          <a:ln w="9525">
            <a:solidFill>
              <a:srgbClr val="DCD8D1"/>
            </a:solidFill>
            <a:prstDash val="solid"/>
          </a:ln>
        </p:spPr>
      </p:sp>
      <p:sp>
        <p:nvSpPr>
          <p:cNvPr id="20" name="Shape 18"/>
          <p:cNvSpPr/>
          <p:nvPr/>
        </p:nvSpPr>
        <p:spPr>
          <a:xfrm>
            <a:off x="6489040" y="2505456"/>
            <a:ext cx="329184" cy="329184"/>
          </a:xfrm>
          <a:prstGeom prst="ellipse">
            <a:avLst/>
          </a:prstGeom>
          <a:solidFill>
            <a:srgbClr val="D8A25E"/>
          </a:solidFill>
          <a:ln/>
        </p:spPr>
      </p:sp>
      <p:sp>
        <p:nvSpPr>
          <p:cNvPr id="21" name="Text 19"/>
          <p:cNvSpPr/>
          <p:nvPr/>
        </p:nvSpPr>
        <p:spPr>
          <a:xfrm>
            <a:off x="6489040" y="2505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2" name="Text 20"/>
          <p:cNvSpPr/>
          <p:nvPr/>
        </p:nvSpPr>
        <p:spPr>
          <a:xfrm>
            <a:off x="6489040" y="2944368"/>
            <a:ext cx="2010080" cy="566928"/>
          </a:xfrm>
          <a:prstGeom prst="rect">
            <a:avLst/>
          </a:prstGeom>
          <a:noFill/>
          <a:ln/>
        </p:spPr>
        <p:txBody>
          <a:bodyPr wrap="square" lIns="0" tIns="0" rIns="0" bIns="0" rtlCol="0" anchor="t"/>
          <a:lstStyle/>
          <a:p>
            <a:pPr indent="0" marL="0">
              <a:lnSpc>
                <a:spcPts val="1800"/>
              </a:lnSpc>
              <a:buNone/>
            </a:pPr>
            <a:r>
              <a:rPr lang="en-US" sz="1400" b="1" dirty="0">
                <a:solidFill>
                  <a:srgbClr val="16191D"/>
                </a:solidFill>
                <a:latin typeface="Cambria" pitchFamily="34" charset="0"/>
                <a:ea typeface="Cambria" pitchFamily="34" charset="-122"/>
                <a:cs typeface="Cambria" pitchFamily="34" charset="-120"/>
              </a:rPr>
              <a:t>Instrumen singkat 17 pertanyaan</a:t>
            </a:r>
            <a:endParaRPr lang="en-US" sz="1400" dirty="0"/>
          </a:p>
        </p:txBody>
      </p:sp>
      <p:sp>
        <p:nvSpPr>
          <p:cNvPr id="23" name="Text 21"/>
          <p:cNvSpPr/>
          <p:nvPr/>
        </p:nvSpPr>
        <p:spPr>
          <a:xfrm>
            <a:off x="6489040" y="3547872"/>
            <a:ext cx="2010080" cy="1097280"/>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Model ringkas pada prototipe memakai variabel yang dapat ditanyakan dalam wawancara beberapa menit.</a:t>
            </a:r>
            <a:endParaRPr lang="en-US" sz="1100" dirty="0"/>
          </a:p>
        </p:txBody>
      </p:sp>
      <p:sp>
        <p:nvSpPr>
          <p:cNvPr id="24" name="Text 22"/>
          <p:cNvSpPr/>
          <p:nvPr/>
        </p:nvSpPr>
        <p:spPr>
          <a:xfrm>
            <a:off x="6489040" y="4626864"/>
            <a:ext cx="2010080" cy="822960"/>
          </a:xfrm>
          <a:prstGeom prst="rect">
            <a:avLst/>
          </a:prstGeom>
          <a:noFill/>
          <a:ln/>
        </p:spPr>
        <p:txBody>
          <a:bodyPr wrap="square" lIns="0" tIns="0" rIns="0" bIns="0" rtlCol="0" anchor="t"/>
          <a:lstStyle/>
          <a:p>
            <a:pPr indent="0" marL="0">
              <a:lnSpc>
                <a:spcPts val="1400"/>
              </a:lnSpc>
              <a:buNone/>
            </a:pPr>
            <a:r>
              <a:rPr lang="en-US" sz="1050" dirty="0">
                <a:solidFill>
                  <a:srgbClr val="A8442A"/>
                </a:solidFill>
                <a:latin typeface="Calibri" pitchFamily="34" charset="0"/>
                <a:ea typeface="Calibri" pitchFamily="34" charset="-122"/>
                <a:cs typeface="Calibri" pitchFamily="34" charset="-120"/>
              </a:rPr>
              <a:t>Syarat: validasi ulang pada populasi sasaran — model ini dilatih pada satu instrumen, satu negara, 2021–2024.</a:t>
            </a:r>
            <a:endParaRPr lang="en-US" sz="1050" dirty="0"/>
          </a:p>
        </p:txBody>
      </p:sp>
      <p:sp>
        <p:nvSpPr>
          <p:cNvPr id="25" name="Shape 23"/>
          <p:cNvSpPr/>
          <p:nvPr/>
        </p:nvSpPr>
        <p:spPr>
          <a:xfrm>
            <a:off x="9029471" y="2304288"/>
            <a:ext cx="2522144" cy="3246120"/>
          </a:xfrm>
          <a:prstGeom prst="roundRect">
            <a:avLst>
              <a:gd name="adj" fmla="val 2175"/>
            </a:avLst>
          </a:prstGeom>
          <a:solidFill>
            <a:srgbClr val="ECE7DF"/>
          </a:solidFill>
          <a:ln w="9525">
            <a:solidFill>
              <a:srgbClr val="DCD8D1"/>
            </a:solidFill>
            <a:prstDash val="solid"/>
          </a:ln>
        </p:spPr>
      </p:sp>
      <p:sp>
        <p:nvSpPr>
          <p:cNvPr id="26" name="Shape 24"/>
          <p:cNvSpPr/>
          <p:nvPr/>
        </p:nvSpPr>
        <p:spPr>
          <a:xfrm>
            <a:off x="9285503" y="2505456"/>
            <a:ext cx="329184" cy="329184"/>
          </a:xfrm>
          <a:prstGeom prst="ellipse">
            <a:avLst/>
          </a:prstGeom>
          <a:solidFill>
            <a:srgbClr val="A8442A"/>
          </a:solidFill>
          <a:ln/>
        </p:spPr>
      </p:sp>
      <p:sp>
        <p:nvSpPr>
          <p:cNvPr id="27" name="Text 25"/>
          <p:cNvSpPr/>
          <p:nvPr/>
        </p:nvSpPr>
        <p:spPr>
          <a:xfrm>
            <a:off x="9285503" y="250545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8" name="Text 26"/>
          <p:cNvSpPr/>
          <p:nvPr/>
        </p:nvSpPr>
        <p:spPr>
          <a:xfrm>
            <a:off x="9285503" y="2944368"/>
            <a:ext cx="2010080" cy="566928"/>
          </a:xfrm>
          <a:prstGeom prst="rect">
            <a:avLst/>
          </a:prstGeom>
          <a:noFill/>
          <a:ln/>
        </p:spPr>
        <p:txBody>
          <a:bodyPr wrap="square" lIns="0" tIns="0" rIns="0" bIns="0" rtlCol="0" anchor="t"/>
          <a:lstStyle/>
          <a:p>
            <a:pPr indent="0" marL="0">
              <a:lnSpc>
                <a:spcPts val="1800"/>
              </a:lnSpc>
              <a:buNone/>
            </a:pPr>
            <a:r>
              <a:rPr lang="en-US" sz="1400" b="1" dirty="0">
                <a:solidFill>
                  <a:srgbClr val="16191D"/>
                </a:solidFill>
                <a:latin typeface="Cambria" pitchFamily="34" charset="0"/>
                <a:ea typeface="Cambria" pitchFamily="34" charset="-122"/>
                <a:cs typeface="Cambria" pitchFamily="34" charset="-120"/>
              </a:rPr>
              <a:t>Menambah variabel, bukan model</a:t>
            </a:r>
            <a:endParaRPr lang="en-US" sz="1400" dirty="0"/>
          </a:p>
        </p:txBody>
      </p:sp>
      <p:sp>
        <p:nvSpPr>
          <p:cNvPr id="29" name="Text 27"/>
          <p:cNvSpPr/>
          <p:nvPr/>
        </p:nvSpPr>
        <p:spPr>
          <a:xfrm>
            <a:off x="9285503" y="3547872"/>
            <a:ext cx="2010080" cy="1097280"/>
          </a:xfrm>
          <a:prstGeom prst="rect">
            <a:avLst/>
          </a:prstGeom>
          <a:noFill/>
          <a:ln/>
        </p:spPr>
        <p:txBody>
          <a:bodyPr wrap="square" lIns="0" tIns="0" rIns="0" bIns="0" rtlCol="0" anchor="t"/>
          <a:lstStyle/>
          <a:p>
            <a:pPr indent="0" marL="0">
              <a:lnSpc>
                <a:spcPts val="1500"/>
              </a:lnSpc>
              <a:buNone/>
            </a:pPr>
            <a:r>
              <a:rPr lang="en-US" sz="1100" dirty="0">
                <a:solidFill>
                  <a:srgbClr val="3A4048"/>
                </a:solidFill>
                <a:latin typeface="Calibri" pitchFamily="34" charset="0"/>
                <a:ea typeface="Calibri" pitchFamily="34" charset="-122"/>
                <a:cs typeface="Calibri" pitchFamily="34" charset="-120"/>
              </a:rPr>
              <a:t>Kepribadian, kualitas hubungan sosial, dan rasa bermakna hidup adalah variabel yang hilang.</a:t>
            </a:r>
            <a:endParaRPr lang="en-US" sz="1100" dirty="0"/>
          </a:p>
        </p:txBody>
      </p:sp>
      <p:sp>
        <p:nvSpPr>
          <p:cNvPr id="30" name="Text 28"/>
          <p:cNvSpPr/>
          <p:nvPr/>
        </p:nvSpPr>
        <p:spPr>
          <a:xfrm>
            <a:off x="9285503" y="4626864"/>
            <a:ext cx="2010080" cy="822960"/>
          </a:xfrm>
          <a:prstGeom prst="rect">
            <a:avLst/>
          </a:prstGeom>
          <a:noFill/>
          <a:ln/>
        </p:spPr>
        <p:txBody>
          <a:bodyPr wrap="square" lIns="0" tIns="0" rIns="0" bIns="0" rtlCol="0" anchor="t"/>
          <a:lstStyle/>
          <a:p>
            <a:pPr indent="0" marL="0">
              <a:lnSpc>
                <a:spcPts val="1400"/>
              </a:lnSpc>
              <a:buNone/>
            </a:pPr>
            <a:r>
              <a:rPr lang="en-US" sz="1050" dirty="0">
                <a:solidFill>
                  <a:srgbClr val="A8442A"/>
                </a:solidFill>
                <a:latin typeface="Calibri" pitchFamily="34" charset="0"/>
                <a:ea typeface="Calibri" pitchFamily="34" charset="-122"/>
                <a:cs typeface="Calibri" pitchFamily="34" charset="-120"/>
              </a:rPr>
              <a:t>Syarat: pengumpulan data baru. Analisis plafon menunjukkan tidak ada jalan pintas algoritmik ke sini.</a:t>
            </a:r>
            <a:endParaRPr lang="en-US" sz="1050" dirty="0"/>
          </a:p>
        </p:txBody>
      </p:sp>
      <p:sp>
        <p:nvSpPr>
          <p:cNvPr id="31" name="Shape 29"/>
          <p:cNvSpPr/>
          <p:nvPr/>
        </p:nvSpPr>
        <p:spPr>
          <a:xfrm>
            <a:off x="640080" y="5669280"/>
            <a:ext cx="10911535" cy="603504"/>
          </a:xfrm>
          <a:prstGeom prst="roundRect">
            <a:avLst>
              <a:gd name="adj" fmla="val 9091"/>
            </a:avLst>
          </a:prstGeom>
          <a:solidFill>
            <a:srgbClr val="F4F1EC"/>
          </a:solidFill>
          <a:ln w="9525">
            <a:solidFill>
              <a:srgbClr val="DCD8D1"/>
            </a:solidFill>
            <a:prstDash val="solid"/>
          </a:ln>
        </p:spPr>
      </p:sp>
      <p:sp>
        <p:nvSpPr>
          <p:cNvPr id="32" name="Text 30"/>
          <p:cNvSpPr/>
          <p:nvPr/>
        </p:nvSpPr>
        <p:spPr>
          <a:xfrm>
            <a:off x="914400" y="5669280"/>
            <a:ext cx="10362895" cy="603504"/>
          </a:xfrm>
          <a:prstGeom prst="rect">
            <a:avLst/>
          </a:prstGeom>
          <a:noFill/>
          <a:ln/>
        </p:spPr>
        <p:txBody>
          <a:bodyPr wrap="square" lIns="0" tIns="0" rIns="0" bIns="0" rtlCol="0" anchor="ctr"/>
          <a:lstStyle/>
          <a:p>
            <a:pPr indent="0" marL="0">
              <a:buNone/>
            </a:pPr>
            <a:r>
              <a:rPr lang="en-US" sz="1200" b="1" dirty="0">
                <a:solidFill>
                  <a:srgbClr val="16191D"/>
                </a:solidFill>
                <a:latin typeface="Calibri" pitchFamily="34" charset="0"/>
                <a:ea typeface="Calibri" pitchFamily="34" charset="-122"/>
                <a:cs typeface="Calibri" pitchFamily="34" charset="-120"/>
              </a:rPr>
              <a:t>Batas yang kami pegang:  </a:t>
            </a:r>
            <a:pPr indent="0" marL="0">
              <a:buNone/>
            </a:pPr>
            <a:r>
              <a:rPr lang="en-US" sz="1200" dirty="0">
                <a:solidFill>
                  <a:srgbClr val="3A4048"/>
                </a:solidFill>
                <a:latin typeface="Calibri" pitchFamily="34" charset="0"/>
                <a:ea typeface="Calibri" pitchFamily="34" charset="-122"/>
                <a:cs typeface="Calibri" pitchFamily="34" charset="-120"/>
              </a:rPr>
              <a:t>alat penapisan tingkat populasi, bukan keputusan individual. Untuk satu responden, sebaran E[y] kelas 1 dan 2 bertumpang tindih terlalu lebar untuk dipakai sendirian.</a:t>
            </a:r>
            <a:endParaRPr lang="en-US" sz="1200" dirty="0"/>
          </a:p>
        </p:txBody>
      </p:sp>
      <p:sp>
        <p:nvSpPr>
          <p:cNvPr id="34" name="Text 31"/>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35" name="Text 32"/>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384048"/>
            <a:ext cx="329184" cy="329184"/>
          </a:xfrm>
          <a:prstGeom prst="ellipse">
            <a:avLst/>
          </a:prstGeom>
          <a:solidFill>
            <a:srgbClr val="16191D"/>
          </a:solidFill>
          <a:ln/>
        </p:spPr>
      </p:sp>
      <p:sp>
        <p:nvSpPr>
          <p:cNvPr id="3" name="Text 1"/>
          <p:cNvSpPr/>
          <p:nvPr/>
        </p:nvSpPr>
        <p:spPr>
          <a:xfrm>
            <a:off x="640080" y="384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21</a:t>
            </a:r>
            <a:endParaRPr lang="en-US" sz="1300" dirty="0"/>
          </a:p>
        </p:txBody>
      </p:sp>
      <p:sp>
        <p:nvSpPr>
          <p:cNvPr id="4" name="Text 2"/>
          <p:cNvSpPr/>
          <p:nvPr/>
        </p:nvSpPr>
        <p:spPr>
          <a:xfrm>
            <a:off x="1115568" y="384048"/>
            <a:ext cx="10436047" cy="329184"/>
          </a:xfrm>
          <a:prstGeom prst="rect">
            <a:avLst/>
          </a:prstGeom>
          <a:noFill/>
          <a:ln/>
        </p:spPr>
        <p:txBody>
          <a:bodyPr wrap="square" lIns="0" tIns="0" rIns="0" bIns="0" rtlCol="0" anchor="ctr"/>
          <a:lstStyle/>
          <a:p>
            <a:pPr indent="0" marL="0">
              <a:buNone/>
            </a:pPr>
            <a:r>
              <a:rPr lang="en-US" sz="1050" b="1" spc="160" kern="0" dirty="0">
                <a:solidFill>
                  <a:srgbClr val="6E747C"/>
                </a:solidFill>
                <a:latin typeface="Calibri" pitchFamily="34" charset="0"/>
                <a:ea typeface="Calibri" pitchFamily="34" charset="-122"/>
                <a:cs typeface="Calibri" pitchFamily="34" charset="-120"/>
              </a:rPr>
              <a:t>REKOMENDASI</a:t>
            </a:r>
            <a:endParaRPr lang="en-US" sz="1050" dirty="0"/>
          </a:p>
        </p:txBody>
      </p:sp>
      <p:sp>
        <p:nvSpPr>
          <p:cNvPr id="5" name="Text 3"/>
          <p:cNvSpPr/>
          <p:nvPr/>
        </p:nvSpPr>
        <p:spPr>
          <a:xfrm>
            <a:off x="640080" y="841248"/>
            <a:ext cx="10911535" cy="749808"/>
          </a:xfrm>
          <a:prstGeom prst="rect">
            <a:avLst/>
          </a:prstGeom>
          <a:noFill/>
          <a:ln/>
        </p:spPr>
        <p:txBody>
          <a:bodyPr wrap="square" lIns="0" tIns="0" rIns="0" bIns="0" rtlCol="0" anchor="t"/>
          <a:lstStyle/>
          <a:p>
            <a:pPr indent="0" marL="0">
              <a:lnSpc>
                <a:spcPts val="3480"/>
              </a:lnSpc>
              <a:buNone/>
            </a:pPr>
            <a:r>
              <a:rPr lang="en-US" sz="3000" b="1" dirty="0">
                <a:solidFill>
                  <a:srgbClr val="16191D"/>
                </a:solidFill>
                <a:latin typeface="Cambria" pitchFamily="34" charset="0"/>
                <a:ea typeface="Cambria" pitchFamily="34" charset="-122"/>
                <a:cs typeface="Cambria" pitchFamily="34" charset="-120"/>
              </a:rPr>
              <a:t>Apa yang layak dilakukan dengan model ini — dan setelahnya</a:t>
            </a:r>
            <a:endParaRPr lang="en-US" sz="3000" dirty="0"/>
          </a:p>
        </p:txBody>
      </p:sp>
      <p:sp>
        <p:nvSpPr>
          <p:cNvPr id="6" name="Text 4"/>
          <p:cNvSpPr/>
          <p:nvPr/>
        </p:nvSpPr>
        <p:spPr>
          <a:xfrm>
            <a:off x="640080" y="1609344"/>
            <a:ext cx="10911535" cy="457200"/>
          </a:xfrm>
          <a:prstGeom prst="rect">
            <a:avLst/>
          </a:prstGeom>
          <a:noFill/>
          <a:ln/>
        </p:spPr>
        <p:txBody>
          <a:bodyPr wrap="square" lIns="0" tIns="0" rIns="0" bIns="0" rtlCol="0" anchor="t"/>
          <a:lstStyle/>
          <a:p>
            <a:pPr indent="0" marL="0">
              <a:lnSpc>
                <a:spcPts val="1800"/>
              </a:lnSpc>
              <a:buNone/>
            </a:pPr>
            <a:r>
              <a:rPr lang="en-US" sz="1350" dirty="0">
                <a:solidFill>
                  <a:srgbClr val="6E747C"/>
                </a:solidFill>
                <a:latin typeface="Calibri" pitchFamily="34" charset="0"/>
                <a:ea typeface="Calibri" pitchFamily="34" charset="-122"/>
                <a:cs typeface="Calibri" pitchFamily="34" charset="-120"/>
              </a:rPr>
              <a:t>Model yang baik disertai petunjuk pemakaian yang jujur, termasuk batas di mana ia tidak boleh dipakai.</a:t>
            </a:r>
            <a:endParaRPr lang="en-US" sz="1350" dirty="0"/>
          </a:p>
        </p:txBody>
      </p:sp>
      <p:sp>
        <p:nvSpPr>
          <p:cNvPr id="7" name="Shape 5"/>
          <p:cNvSpPr/>
          <p:nvPr/>
        </p:nvSpPr>
        <p:spPr>
          <a:xfrm>
            <a:off x="640080" y="2286000"/>
            <a:ext cx="3423818" cy="3931920"/>
          </a:xfrm>
          <a:prstGeom prst="roundRect">
            <a:avLst>
              <a:gd name="adj" fmla="val 1602"/>
            </a:avLst>
          </a:prstGeom>
          <a:solidFill>
            <a:srgbClr val="F4F1EC"/>
          </a:solidFill>
          <a:ln w="9525">
            <a:solidFill>
              <a:srgbClr val="DCD8D1"/>
            </a:solidFill>
            <a:prstDash val="solid"/>
          </a:ln>
        </p:spPr>
      </p:sp>
      <p:sp>
        <p:nvSpPr>
          <p:cNvPr id="8" name="Shape 6"/>
          <p:cNvSpPr/>
          <p:nvPr/>
        </p:nvSpPr>
        <p:spPr>
          <a:xfrm>
            <a:off x="932688" y="2523744"/>
            <a:ext cx="274320" cy="274320"/>
          </a:xfrm>
          <a:prstGeom prst="ellipse">
            <a:avLst/>
          </a:prstGeom>
          <a:solidFill>
            <a:srgbClr val="2F6B5F"/>
          </a:solidFill>
          <a:ln/>
        </p:spPr>
      </p:sp>
      <p:sp>
        <p:nvSpPr>
          <p:cNvPr id="9" name="Text 7"/>
          <p:cNvSpPr/>
          <p:nvPr/>
        </p:nvSpPr>
        <p:spPr>
          <a:xfrm>
            <a:off x="932688" y="25237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316736" y="2487168"/>
            <a:ext cx="2454554" cy="347472"/>
          </a:xfrm>
          <a:prstGeom prst="rect">
            <a:avLst/>
          </a:prstGeom>
          <a:noFill/>
          <a:ln/>
        </p:spPr>
        <p:txBody>
          <a:bodyPr wrap="square" lIns="0" tIns="0" rIns="0" bIns="0" rtlCol="0" anchor="ctr"/>
          <a:lstStyle/>
          <a:p>
            <a:pPr indent="0" marL="0">
              <a:buNone/>
            </a:pPr>
            <a:r>
              <a:rPr lang="en-US" sz="1400" b="1" dirty="0">
                <a:solidFill>
                  <a:srgbClr val="16191D"/>
                </a:solidFill>
                <a:latin typeface="Cambria" pitchFamily="34" charset="0"/>
                <a:ea typeface="Cambria" pitchFamily="34" charset="-122"/>
                <a:cs typeface="Cambria" pitchFamily="34" charset="-120"/>
              </a:rPr>
              <a:t>Untuk pemakaian model</a:t>
            </a:r>
            <a:endParaRPr lang="en-US" sz="1400" dirty="0"/>
          </a:p>
        </p:txBody>
      </p:sp>
      <p:sp>
        <p:nvSpPr>
          <p:cNvPr id="11" name="Text 9"/>
          <p:cNvSpPr/>
          <p:nvPr/>
        </p:nvSpPr>
        <p:spPr>
          <a:xfrm>
            <a:off x="932688" y="3035808"/>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Penapisan tingkat populasi, bukan keputusan individual.</a:t>
            </a:r>
            <a:endParaRPr lang="en-US" sz="1150" dirty="0"/>
          </a:p>
        </p:txBody>
      </p:sp>
      <p:sp>
        <p:nvSpPr>
          <p:cNvPr id="12" name="Text 10"/>
          <p:cNvSpPr/>
          <p:nvPr/>
        </p:nvSpPr>
        <p:spPr>
          <a:xfrm>
            <a:off x="932688" y="3602736"/>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QWK 0,48 memadai untuk mengidentifikasi kelompok berisiko dalam perencanaan program kesehatan. Untuk satu responden, sebaran E[y] kelas 1 dan 2 bertumpang tindih sangat lebar.</a:t>
            </a:r>
            <a:endParaRPr lang="en-US" sz="1050" dirty="0"/>
          </a:p>
        </p:txBody>
      </p:sp>
      <p:sp>
        <p:nvSpPr>
          <p:cNvPr id="13" name="Text 11"/>
          <p:cNvSpPr/>
          <p:nvPr/>
        </p:nvSpPr>
        <p:spPr>
          <a:xfrm>
            <a:off x="932688" y="4700016"/>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Turunkan t₃ bila dipakai untuk penapisan.</a:t>
            </a:r>
            <a:endParaRPr lang="en-US" sz="1150" dirty="0"/>
          </a:p>
        </p:txBody>
      </p:sp>
      <p:sp>
        <p:nvSpPr>
          <p:cNvPr id="14" name="Text 12"/>
          <p:cNvSpPr/>
          <p:nvPr/>
        </p:nvSpPr>
        <p:spPr>
          <a:xfrm>
            <a:off x="932688" y="5266944"/>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Optimum QWK menyeimbangkan seluruh kelas; penapisan kesehatan lebih menoleransi positif palsu daripada melewatkan kasus.</a:t>
            </a:r>
            <a:endParaRPr lang="en-US" sz="1050" dirty="0"/>
          </a:p>
        </p:txBody>
      </p:sp>
      <p:sp>
        <p:nvSpPr>
          <p:cNvPr id="15" name="Shape 13"/>
          <p:cNvSpPr/>
          <p:nvPr/>
        </p:nvSpPr>
        <p:spPr>
          <a:xfrm>
            <a:off x="4383938" y="2286000"/>
            <a:ext cx="3423818" cy="3931920"/>
          </a:xfrm>
          <a:prstGeom prst="roundRect">
            <a:avLst>
              <a:gd name="adj" fmla="val 1602"/>
            </a:avLst>
          </a:prstGeom>
          <a:solidFill>
            <a:srgbClr val="F4F1EC"/>
          </a:solidFill>
          <a:ln w="9525">
            <a:solidFill>
              <a:srgbClr val="DCD8D1"/>
            </a:solidFill>
            <a:prstDash val="solid"/>
          </a:ln>
        </p:spPr>
      </p:sp>
      <p:sp>
        <p:nvSpPr>
          <p:cNvPr id="16" name="Shape 14"/>
          <p:cNvSpPr/>
          <p:nvPr/>
        </p:nvSpPr>
        <p:spPr>
          <a:xfrm>
            <a:off x="4676546" y="2523744"/>
            <a:ext cx="274320" cy="274320"/>
          </a:xfrm>
          <a:prstGeom prst="ellipse">
            <a:avLst/>
          </a:prstGeom>
          <a:solidFill>
            <a:srgbClr val="D8A25E"/>
          </a:solidFill>
          <a:ln/>
        </p:spPr>
      </p:sp>
      <p:sp>
        <p:nvSpPr>
          <p:cNvPr id="17" name="Text 15"/>
          <p:cNvSpPr/>
          <p:nvPr/>
        </p:nvSpPr>
        <p:spPr>
          <a:xfrm>
            <a:off x="4676546" y="25237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5060594" y="2487168"/>
            <a:ext cx="2454554" cy="347472"/>
          </a:xfrm>
          <a:prstGeom prst="rect">
            <a:avLst/>
          </a:prstGeom>
          <a:noFill/>
          <a:ln/>
        </p:spPr>
        <p:txBody>
          <a:bodyPr wrap="square" lIns="0" tIns="0" rIns="0" bIns="0" rtlCol="0" anchor="ctr"/>
          <a:lstStyle/>
          <a:p>
            <a:pPr indent="0" marL="0">
              <a:buNone/>
            </a:pPr>
            <a:r>
              <a:rPr lang="en-US" sz="1400" b="1" dirty="0">
                <a:solidFill>
                  <a:srgbClr val="16191D"/>
                </a:solidFill>
                <a:latin typeface="Cambria" pitchFamily="34" charset="0"/>
                <a:ea typeface="Cambria" pitchFamily="34" charset="-122"/>
                <a:cs typeface="Cambria" pitchFamily="34" charset="-120"/>
              </a:rPr>
              <a:t>Untuk pengembangan lanjutan</a:t>
            </a:r>
            <a:endParaRPr lang="en-US" sz="1400" dirty="0"/>
          </a:p>
        </p:txBody>
      </p:sp>
      <p:sp>
        <p:nvSpPr>
          <p:cNvPr id="19" name="Text 17"/>
          <p:cNvSpPr/>
          <p:nvPr/>
        </p:nvSpPr>
        <p:spPr>
          <a:xfrm>
            <a:off x="4676546" y="3035808"/>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Tambah variabel, bukan tambah model.</a:t>
            </a:r>
            <a:endParaRPr lang="en-US" sz="1150" dirty="0"/>
          </a:p>
        </p:txBody>
      </p:sp>
      <p:sp>
        <p:nvSpPr>
          <p:cNvPr id="20" name="Text 18"/>
          <p:cNvSpPr/>
          <p:nvPr/>
        </p:nvSpPr>
        <p:spPr>
          <a:xfrm>
            <a:off x="4676546" y="3602736"/>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Kurva belajar menunjukkan pengembalian dari perbaikan algoritma sudah habis. Yang hilang bersifat substantif: kepribadian, kualitas hubungan sosial, rasa bermakna hidup, riwayat peristiwa besar.</a:t>
            </a:r>
            <a:endParaRPr lang="en-US" sz="1050" dirty="0"/>
          </a:p>
        </p:txBody>
      </p:sp>
      <p:sp>
        <p:nvSpPr>
          <p:cNvPr id="21" name="Text 19"/>
          <p:cNvSpPr/>
          <p:nvPr/>
        </p:nvSpPr>
        <p:spPr>
          <a:xfrm>
            <a:off x="4676546" y="4700016"/>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Satu instrumen kepribadian saja berpotensi melampaui seluruh notebook ini.</a:t>
            </a:r>
            <a:endParaRPr lang="en-US" sz="1150" dirty="0"/>
          </a:p>
        </p:txBody>
      </p:sp>
      <p:sp>
        <p:nvSpPr>
          <p:cNvPr id="22" name="Text 20"/>
          <p:cNvSpPr/>
          <p:nvPr/>
        </p:nvSpPr>
        <p:spPr>
          <a:xfrm>
            <a:off x="4676546" y="5266944"/>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Perkiraan yang sengaja provokatif, dan konsisten dengan besaran sisa variasi yang tak teramati.</a:t>
            </a:r>
            <a:endParaRPr lang="en-US" sz="1050" dirty="0"/>
          </a:p>
        </p:txBody>
      </p:sp>
      <p:sp>
        <p:nvSpPr>
          <p:cNvPr id="23" name="Shape 21"/>
          <p:cNvSpPr/>
          <p:nvPr/>
        </p:nvSpPr>
        <p:spPr>
          <a:xfrm>
            <a:off x="8127797" y="2286000"/>
            <a:ext cx="3423818" cy="3931920"/>
          </a:xfrm>
          <a:prstGeom prst="roundRect">
            <a:avLst>
              <a:gd name="adj" fmla="val 1602"/>
            </a:avLst>
          </a:prstGeom>
          <a:solidFill>
            <a:srgbClr val="F4F1EC"/>
          </a:solidFill>
          <a:ln w="9525">
            <a:solidFill>
              <a:srgbClr val="DCD8D1"/>
            </a:solidFill>
            <a:prstDash val="solid"/>
          </a:ln>
        </p:spPr>
      </p:sp>
      <p:sp>
        <p:nvSpPr>
          <p:cNvPr id="24" name="Shape 22"/>
          <p:cNvSpPr/>
          <p:nvPr/>
        </p:nvSpPr>
        <p:spPr>
          <a:xfrm>
            <a:off x="8420405" y="2523744"/>
            <a:ext cx="274320" cy="274320"/>
          </a:xfrm>
          <a:prstGeom prst="ellipse">
            <a:avLst/>
          </a:prstGeom>
          <a:solidFill>
            <a:srgbClr val="A8442A"/>
          </a:solidFill>
          <a:ln/>
        </p:spPr>
      </p:sp>
      <p:sp>
        <p:nvSpPr>
          <p:cNvPr id="25" name="Text 23"/>
          <p:cNvSpPr/>
          <p:nvPr/>
        </p:nvSpPr>
        <p:spPr>
          <a:xfrm>
            <a:off x="8420405" y="25237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8804453" y="2487168"/>
            <a:ext cx="2454554" cy="347472"/>
          </a:xfrm>
          <a:prstGeom prst="rect">
            <a:avLst/>
          </a:prstGeom>
          <a:noFill/>
          <a:ln/>
        </p:spPr>
        <p:txBody>
          <a:bodyPr wrap="square" lIns="0" tIns="0" rIns="0" bIns="0" rtlCol="0" anchor="ctr"/>
          <a:lstStyle/>
          <a:p>
            <a:pPr indent="0" marL="0">
              <a:buNone/>
            </a:pPr>
            <a:r>
              <a:rPr lang="en-US" sz="1400" b="1" dirty="0">
                <a:solidFill>
                  <a:srgbClr val="16191D"/>
                </a:solidFill>
                <a:latin typeface="Cambria" pitchFamily="34" charset="0"/>
                <a:ea typeface="Cambria" pitchFamily="34" charset="-122"/>
                <a:cs typeface="Cambria" pitchFamily="34" charset="-120"/>
              </a:rPr>
              <a:t>Untuk membaca skor kompetisi</a:t>
            </a:r>
            <a:endParaRPr lang="en-US" sz="1400" dirty="0"/>
          </a:p>
        </p:txBody>
      </p:sp>
      <p:sp>
        <p:nvSpPr>
          <p:cNvPr id="27" name="Text 25"/>
          <p:cNvSpPr/>
          <p:nvPr/>
        </p:nvSpPr>
        <p:spPr>
          <a:xfrm>
            <a:off x="8420405" y="3035808"/>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Kisaran wajar dari dataset ini: 0,47 – 0,50.</a:t>
            </a:r>
            <a:endParaRPr lang="en-US" sz="1150" dirty="0"/>
          </a:p>
        </p:txBody>
      </p:sp>
      <p:sp>
        <p:nvSpPr>
          <p:cNvPr id="28" name="Text 26"/>
          <p:cNvSpPr/>
          <p:nvPr/>
        </p:nvSpPr>
        <p:spPr>
          <a:xfrm>
            <a:off x="8420405" y="3602736"/>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Skor di dalamnya menandakan pipeline yang sudah mendekati batas informasi; selisih kecil di dalam kisaran itu lebih mencerminkan derau sampling daripada kualitas metodologi.</a:t>
            </a:r>
            <a:endParaRPr lang="en-US" sz="1050" dirty="0"/>
          </a:p>
        </p:txBody>
      </p:sp>
      <p:sp>
        <p:nvSpPr>
          <p:cNvPr id="29" name="Text 27"/>
          <p:cNvSpPr/>
          <p:nvPr/>
        </p:nvSpPr>
        <p:spPr>
          <a:xfrm>
            <a:off x="8420405" y="4700016"/>
            <a:ext cx="2838602" cy="548640"/>
          </a:xfrm>
          <a:prstGeom prst="rect">
            <a:avLst/>
          </a:prstGeom>
          <a:noFill/>
          <a:ln/>
        </p:spPr>
        <p:txBody>
          <a:bodyPr wrap="square" lIns="0" tIns="0" rIns="0" bIns="0" rtlCol="0" anchor="t"/>
          <a:lstStyle/>
          <a:p>
            <a:pPr indent="0" marL="0">
              <a:lnSpc>
                <a:spcPts val="1500"/>
              </a:lnSpc>
              <a:buNone/>
            </a:pPr>
            <a:r>
              <a:rPr lang="en-US" sz="1150" b="1" dirty="0">
                <a:solidFill>
                  <a:srgbClr val="16191D"/>
                </a:solidFill>
                <a:latin typeface="Calibri" pitchFamily="34" charset="0"/>
                <a:ea typeface="Calibri" pitchFamily="34" charset="-122"/>
                <a:cs typeface="Calibri" pitchFamily="34" charset="-120"/>
              </a:rPr>
              <a:t>Enam belas pendekatan yang kami tolak kami dokumentasikan lengkap dengan angkanya.</a:t>
            </a:r>
            <a:endParaRPr lang="en-US" sz="1150" dirty="0"/>
          </a:p>
        </p:txBody>
      </p:sp>
      <p:sp>
        <p:nvSpPr>
          <p:cNvPr id="30" name="Text 28"/>
          <p:cNvSpPr/>
          <p:nvPr/>
        </p:nvSpPr>
        <p:spPr>
          <a:xfrm>
            <a:off x="8420405" y="5266944"/>
            <a:ext cx="2838602" cy="1005840"/>
          </a:xfrm>
          <a:prstGeom prst="rect">
            <a:avLst/>
          </a:prstGeom>
          <a:noFill/>
          <a:ln/>
        </p:spPr>
        <p:txBody>
          <a:bodyPr wrap="square" lIns="0" tIns="0" rIns="0" bIns="0" rtlCol="0" anchor="t"/>
          <a:lstStyle/>
          <a:p>
            <a:pPr indent="0" marL="0">
              <a:lnSpc>
                <a:spcPts val="1400"/>
              </a:lnSpc>
              <a:buNone/>
            </a:pPr>
            <a:r>
              <a:rPr lang="en-US" sz="1050" dirty="0">
                <a:solidFill>
                  <a:srgbClr val="3A4048"/>
                </a:solidFill>
                <a:latin typeface="Calibri" pitchFamily="34" charset="0"/>
                <a:ea typeface="Calibri" pitchFamily="34" charset="-122"/>
                <a:cs typeface="Calibri" pitchFamily="34" charset="-120"/>
              </a:rPr>
              <a:t>Tujuannya agar tim berikutnya tidak mengulang jalan buntu yang sama.</a:t>
            </a:r>
            <a:endParaRPr lang="en-US" sz="1050" dirty="0"/>
          </a:p>
        </p:txBody>
      </p:sp>
      <p:sp>
        <p:nvSpPr>
          <p:cNvPr id="32" name="Text 29"/>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33" name="Text 30"/>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6191D"/>
        </a:solidFill>
      </p:bgPr>
    </p:bg>
    <p:spTree>
      <p:nvGrpSpPr>
        <p:cNvPr id="1" name=""/>
        <p:cNvGrpSpPr/>
        <p:nvPr/>
      </p:nvGrpSpPr>
      <p:grpSpPr>
        <a:xfrm>
          <a:off x="0" y="0"/>
          <a:ext cx="0" cy="0"/>
          <a:chOff x="0" y="0"/>
          <a:chExt cx="0" cy="0"/>
        </a:xfrm>
      </p:grpSpPr>
      <p:sp>
        <p:nvSpPr>
          <p:cNvPr id="2" name="Text 0"/>
          <p:cNvSpPr/>
          <p:nvPr/>
        </p:nvSpPr>
        <p:spPr>
          <a:xfrm>
            <a:off x="640080" y="822960"/>
            <a:ext cx="5486400" cy="274320"/>
          </a:xfrm>
          <a:prstGeom prst="rect">
            <a:avLst/>
          </a:prstGeom>
          <a:noFill/>
          <a:ln/>
        </p:spPr>
        <p:txBody>
          <a:bodyPr wrap="square" lIns="0" tIns="0" rIns="0" bIns="0" rtlCol="0" anchor="ctr"/>
          <a:lstStyle/>
          <a:p>
            <a:pPr indent="0" marL="0">
              <a:buNone/>
            </a:pPr>
            <a:r>
              <a:rPr lang="en-US" sz="1100" b="1" spc="220" kern="0" dirty="0">
                <a:solidFill>
                  <a:srgbClr val="8FB0A4"/>
                </a:solidFill>
                <a:latin typeface="Calibri" pitchFamily="34" charset="0"/>
                <a:ea typeface="Calibri" pitchFamily="34" charset="-122"/>
                <a:cs typeface="Calibri" pitchFamily="34" charset="-120"/>
              </a:rPr>
              <a:t>PENUTUP</a:t>
            </a:r>
            <a:endParaRPr lang="en-US" sz="1100" dirty="0"/>
          </a:p>
        </p:txBody>
      </p:sp>
      <p:sp>
        <p:nvSpPr>
          <p:cNvPr id="3" name="Text 1"/>
          <p:cNvSpPr/>
          <p:nvPr/>
        </p:nvSpPr>
        <p:spPr>
          <a:xfrm>
            <a:off x="640080" y="1371600"/>
            <a:ext cx="7680960" cy="2286000"/>
          </a:xfrm>
          <a:prstGeom prst="rect">
            <a:avLst/>
          </a:prstGeom>
          <a:noFill/>
          <a:ln/>
        </p:spPr>
        <p:txBody>
          <a:bodyPr wrap="square" lIns="0" tIns="0" rIns="0" bIns="0" rtlCol="0" anchor="t"/>
          <a:lstStyle/>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Kami tidak mengejar angka.</a:t>
            </a:r>
            <a:endParaRPr lang="en-US" sz="3600" dirty="0"/>
          </a:p>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Kami memetakan batasnya —</a:t>
            </a:r>
            <a:endParaRPr lang="en-US" sz="3600" dirty="0"/>
          </a:p>
          <a:p>
            <a:pPr indent="0" marL="0">
              <a:lnSpc>
                <a:spcPts val="4800"/>
              </a:lnSpc>
              <a:buNone/>
            </a:pPr>
            <a:r>
              <a:rPr lang="en-US" sz="3600" b="1" dirty="0">
                <a:solidFill>
                  <a:srgbClr val="FFFFFF"/>
                </a:solidFill>
                <a:latin typeface="Cambria" pitchFamily="34" charset="0"/>
                <a:ea typeface="Cambria" pitchFamily="34" charset="-122"/>
                <a:cs typeface="Cambria" pitchFamily="34" charset="-120"/>
              </a:rPr>
              <a:t>lalu berhenti tepat di sana.</a:t>
            </a:r>
            <a:endParaRPr lang="en-US" sz="3600" dirty="0"/>
          </a:p>
        </p:txBody>
      </p:sp>
      <p:sp>
        <p:nvSpPr>
          <p:cNvPr id="4" name="Text 2"/>
          <p:cNvSpPr/>
          <p:nvPr/>
        </p:nvSpPr>
        <p:spPr>
          <a:xfrm>
            <a:off x="640080" y="3803904"/>
            <a:ext cx="6949440" cy="914400"/>
          </a:xfrm>
          <a:prstGeom prst="rect">
            <a:avLst/>
          </a:prstGeom>
          <a:noFill/>
          <a:ln/>
        </p:spPr>
        <p:txBody>
          <a:bodyPr wrap="square" lIns="0" tIns="0" rIns="0" bIns="0" rtlCol="0" anchor="t"/>
          <a:lstStyle/>
          <a:p>
            <a:pPr indent="0" marL="0">
              <a:lnSpc>
                <a:spcPts val="2100"/>
              </a:lnSpc>
              <a:buNone/>
            </a:pPr>
            <a:r>
              <a:rPr lang="en-US" sz="1400" dirty="0">
                <a:solidFill>
                  <a:srgbClr val="9AA0A7"/>
                </a:solidFill>
                <a:latin typeface="Calibri" pitchFamily="34" charset="0"/>
                <a:ea typeface="Calibri" pitchFamily="34" charset="-122"/>
                <a:cs typeface="Calibri" pitchFamily="34" charset="-120"/>
              </a:rPr>
              <a:t>Setiap keputusan dalam pipeline ini punya angka yang mendasarinya, dan setiap angka itu dapat dijalankan ulang dari notebook yang kami kumpulkan. Yang kami tolak didokumentasikan selengkap yang kami pakai.</a:t>
            </a:r>
            <a:endParaRPr lang="en-US" sz="1400" dirty="0"/>
          </a:p>
        </p:txBody>
      </p:sp>
      <p:sp>
        <p:nvSpPr>
          <p:cNvPr id="5" name="Text 3"/>
          <p:cNvSpPr/>
          <p:nvPr/>
        </p:nvSpPr>
        <p:spPr>
          <a:xfrm>
            <a:off x="8229600" y="1371600"/>
            <a:ext cx="3322015" cy="256032"/>
          </a:xfrm>
          <a:prstGeom prst="rect">
            <a:avLst/>
          </a:prstGeom>
          <a:noFill/>
          <a:ln/>
        </p:spPr>
        <p:txBody>
          <a:bodyPr wrap="square" lIns="0" tIns="0" rIns="0" bIns="0" rtlCol="0" anchor="ctr"/>
          <a:lstStyle/>
          <a:p>
            <a:pPr indent="0" marL="0">
              <a:buNone/>
            </a:pPr>
            <a:r>
              <a:rPr lang="en-US" sz="950" b="1" spc="140" kern="0" dirty="0">
                <a:solidFill>
                  <a:srgbClr val="9AA0A7"/>
                </a:solidFill>
                <a:latin typeface="Calibri" pitchFamily="34" charset="0"/>
                <a:ea typeface="Calibri" pitchFamily="34" charset="-122"/>
                <a:cs typeface="Calibri" pitchFamily="34" charset="-120"/>
              </a:rPr>
              <a:t>TIGA ANGKA UNTUK DIINGAT</a:t>
            </a:r>
            <a:endParaRPr lang="en-US" sz="950" dirty="0"/>
          </a:p>
        </p:txBody>
      </p:sp>
      <p:sp>
        <p:nvSpPr>
          <p:cNvPr id="6" name="Text 4"/>
          <p:cNvSpPr/>
          <p:nvPr/>
        </p:nvSpPr>
        <p:spPr>
          <a:xfrm>
            <a:off x="8229600" y="1755648"/>
            <a:ext cx="3322015" cy="475488"/>
          </a:xfrm>
          <a:prstGeom prst="rect">
            <a:avLst/>
          </a:prstGeom>
          <a:noFill/>
          <a:ln/>
        </p:spPr>
        <p:txBody>
          <a:bodyPr wrap="square" lIns="0" tIns="0" rIns="0" bIns="0" rtlCol="0" anchor="ctr"/>
          <a:lstStyle/>
          <a:p>
            <a:pPr indent="0" marL="0">
              <a:buNone/>
            </a:pPr>
            <a:r>
              <a:rPr lang="en-US" sz="2600" b="1" dirty="0">
                <a:solidFill>
                  <a:srgbClr val="8FB0A4"/>
                </a:solidFill>
                <a:latin typeface="Cambria" pitchFamily="34" charset="0"/>
                <a:ea typeface="Cambria" pitchFamily="34" charset="-122"/>
                <a:cs typeface="Cambria" pitchFamily="34" charset="-120"/>
              </a:rPr>
              <a:t>+0,06269</a:t>
            </a:r>
            <a:endParaRPr lang="en-US" sz="2600" dirty="0"/>
          </a:p>
        </p:txBody>
      </p:sp>
      <p:sp>
        <p:nvSpPr>
          <p:cNvPr id="7" name="Text 5"/>
          <p:cNvSpPr/>
          <p:nvPr/>
        </p:nvSpPr>
        <p:spPr>
          <a:xfrm>
            <a:off x="8229600" y="2231136"/>
            <a:ext cx="3322015" cy="512064"/>
          </a:xfrm>
          <a:prstGeom prst="rect">
            <a:avLst/>
          </a:prstGeom>
          <a:noFill/>
          <a:ln/>
        </p:spPr>
        <p:txBody>
          <a:bodyPr wrap="square" lIns="0" tIns="0" rIns="0" bIns="0" rtlCol="0" anchor="t"/>
          <a:lstStyle/>
          <a:p>
            <a:pPr indent="0" marL="0">
              <a:lnSpc>
                <a:spcPts val="1400"/>
              </a:lnSpc>
              <a:buNone/>
            </a:pPr>
            <a:r>
              <a:rPr lang="en-US" sz="1050" dirty="0">
                <a:solidFill>
                  <a:srgbClr val="9AA0A7"/>
                </a:solidFill>
                <a:latin typeface="Calibri" pitchFamily="34" charset="0"/>
                <a:ea typeface="Calibri" pitchFamily="34" charset="-122"/>
                <a:cs typeface="Calibri" pitchFamily="34" charset="-120"/>
              </a:rPr>
              <a:t>dari aturan keputusan ordinal — tuas terbesar dalam kompetisi ini</a:t>
            </a:r>
            <a:endParaRPr lang="en-US" sz="1050" dirty="0"/>
          </a:p>
        </p:txBody>
      </p:sp>
      <p:sp>
        <p:nvSpPr>
          <p:cNvPr id="8" name="Text 6"/>
          <p:cNvSpPr/>
          <p:nvPr/>
        </p:nvSpPr>
        <p:spPr>
          <a:xfrm>
            <a:off x="8229600" y="2871216"/>
            <a:ext cx="3322015" cy="475488"/>
          </a:xfrm>
          <a:prstGeom prst="rect">
            <a:avLst/>
          </a:prstGeom>
          <a:noFill/>
          <a:ln/>
        </p:spPr>
        <p:txBody>
          <a:bodyPr wrap="square" lIns="0" tIns="0" rIns="0" bIns="0" rtlCol="0" anchor="ctr"/>
          <a:lstStyle/>
          <a:p>
            <a:pPr indent="0" marL="0">
              <a:buNone/>
            </a:pPr>
            <a:r>
              <a:rPr lang="en-US" sz="2600" b="1" dirty="0">
                <a:solidFill>
                  <a:srgbClr val="D8A25E"/>
                </a:solidFill>
                <a:latin typeface="Cambria" pitchFamily="34" charset="0"/>
                <a:ea typeface="Cambria" pitchFamily="34" charset="-122"/>
                <a:cs typeface="Cambria" pitchFamily="34" charset="-120"/>
              </a:rPr>
              <a:t>0,9143</a:t>
            </a:r>
            <a:endParaRPr lang="en-US" sz="2600" dirty="0"/>
          </a:p>
        </p:txBody>
      </p:sp>
      <p:sp>
        <p:nvSpPr>
          <p:cNvPr id="9" name="Text 7"/>
          <p:cNvSpPr/>
          <p:nvPr/>
        </p:nvSpPr>
        <p:spPr>
          <a:xfrm>
            <a:off x="8229600" y="3346704"/>
            <a:ext cx="3322015" cy="512064"/>
          </a:xfrm>
          <a:prstGeom prst="rect">
            <a:avLst/>
          </a:prstGeom>
          <a:noFill/>
          <a:ln/>
        </p:spPr>
        <p:txBody>
          <a:bodyPr wrap="square" lIns="0" tIns="0" rIns="0" bIns="0" rtlCol="0" anchor="t"/>
          <a:lstStyle/>
          <a:p>
            <a:pPr indent="0" marL="0">
              <a:lnSpc>
                <a:spcPts val="1400"/>
              </a:lnSpc>
              <a:buNone/>
            </a:pPr>
            <a:r>
              <a:rPr lang="en-US" sz="1050" dirty="0">
                <a:solidFill>
                  <a:srgbClr val="9AA0A7"/>
                </a:solidFill>
                <a:latin typeface="Calibri" pitchFamily="34" charset="0"/>
                <a:ea typeface="Calibri" pitchFamily="34" charset="-122"/>
                <a:cs typeface="Calibri" pitchFamily="34" charset="-120"/>
              </a:rPr>
              <a:t>R² kurva belajar yang membuktikan plafon ini milik data</a:t>
            </a:r>
            <a:endParaRPr lang="en-US" sz="1050" dirty="0"/>
          </a:p>
        </p:txBody>
      </p:sp>
      <p:sp>
        <p:nvSpPr>
          <p:cNvPr id="10" name="Text 8"/>
          <p:cNvSpPr/>
          <p:nvPr/>
        </p:nvSpPr>
        <p:spPr>
          <a:xfrm>
            <a:off x="8229600" y="3986784"/>
            <a:ext cx="3322015" cy="475488"/>
          </a:xfrm>
          <a:prstGeom prst="rect">
            <a:avLst/>
          </a:prstGeom>
          <a:noFill/>
          <a:ln/>
        </p:spPr>
        <p:txBody>
          <a:bodyPr wrap="square" lIns="0" tIns="0" rIns="0" bIns="0" rtlCol="0" anchor="ctr"/>
          <a:lstStyle/>
          <a:p>
            <a:pPr indent="0" marL="0">
              <a:buNone/>
            </a:pPr>
            <a:r>
              <a:rPr lang="en-US" sz="2600" b="1" dirty="0">
                <a:solidFill>
                  <a:srgbClr val="A8442A"/>
                </a:solidFill>
                <a:latin typeface="Cambria" pitchFamily="34" charset="0"/>
                <a:ea typeface="Cambria" pitchFamily="34" charset="-122"/>
                <a:cs typeface="Cambria" pitchFamily="34" charset="-120"/>
              </a:rPr>
              <a:t>0,7 σ</a:t>
            </a:r>
            <a:endParaRPr lang="en-US" sz="2600" dirty="0"/>
          </a:p>
        </p:txBody>
      </p:sp>
      <p:sp>
        <p:nvSpPr>
          <p:cNvPr id="11" name="Text 9"/>
          <p:cNvSpPr/>
          <p:nvPr/>
        </p:nvSpPr>
        <p:spPr>
          <a:xfrm>
            <a:off x="8229600" y="4462272"/>
            <a:ext cx="3322015" cy="512064"/>
          </a:xfrm>
          <a:prstGeom prst="rect">
            <a:avLst/>
          </a:prstGeom>
          <a:noFill/>
          <a:ln/>
        </p:spPr>
        <p:txBody>
          <a:bodyPr wrap="square" lIns="0" tIns="0" rIns="0" bIns="0" rtlCol="0" anchor="t"/>
          <a:lstStyle/>
          <a:p>
            <a:pPr indent="0" marL="0">
              <a:lnSpc>
                <a:spcPts val="1400"/>
              </a:lnSpc>
              <a:buNone/>
            </a:pPr>
            <a:r>
              <a:rPr lang="en-US" sz="1050" dirty="0">
                <a:solidFill>
                  <a:srgbClr val="9AA0A7"/>
                </a:solidFill>
                <a:latin typeface="Calibri" pitchFamily="34" charset="0"/>
                <a:ea typeface="Calibri" pitchFamily="34" charset="-122"/>
                <a:cs typeface="Calibri" pitchFamily="34" charset="-120"/>
              </a:rPr>
              <a:t>jarak enam peringkat papan skor, diukur dalam derau sampling</a:t>
            </a:r>
            <a:endParaRPr lang="en-US" sz="1050" dirty="0"/>
          </a:p>
        </p:txBody>
      </p:sp>
      <p:sp>
        <p:nvSpPr>
          <p:cNvPr id="12" name="Shape 10"/>
          <p:cNvSpPr/>
          <p:nvPr/>
        </p:nvSpPr>
        <p:spPr>
          <a:xfrm>
            <a:off x="640080" y="5175504"/>
            <a:ext cx="10908792" cy="0"/>
          </a:xfrm>
          <a:prstGeom prst="line">
            <a:avLst/>
          </a:prstGeom>
          <a:noFill/>
          <a:ln w="12700">
            <a:solidFill>
              <a:srgbClr val="3A4048"/>
            </a:solidFill>
            <a:prstDash val="solid"/>
          </a:ln>
        </p:spPr>
      </p:sp>
      <p:sp>
        <p:nvSpPr>
          <p:cNvPr id="13" name="Text 11"/>
          <p:cNvSpPr/>
          <p:nvPr/>
        </p:nvSpPr>
        <p:spPr>
          <a:xfrm>
            <a:off x="640080" y="5358384"/>
            <a:ext cx="4572000" cy="32918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Tim Warkab</a:t>
            </a:r>
            <a:endParaRPr lang="en-US" sz="1700" dirty="0"/>
          </a:p>
        </p:txBody>
      </p:sp>
      <p:sp>
        <p:nvSpPr>
          <p:cNvPr id="14" name="Text 12"/>
          <p:cNvSpPr/>
          <p:nvPr/>
        </p:nvSpPr>
        <p:spPr>
          <a:xfrm>
            <a:off x="640080" y="5687568"/>
            <a:ext cx="7315200" cy="274320"/>
          </a:xfrm>
          <a:prstGeom prst="rect">
            <a:avLst/>
          </a:prstGeom>
          <a:noFill/>
          <a:ln/>
        </p:spPr>
        <p:txBody>
          <a:bodyPr wrap="square" lIns="0" tIns="0" rIns="0" bIns="0" rtlCol="0" anchor="ctr"/>
          <a:lstStyle/>
          <a:p>
            <a:pPr indent="0" marL="0">
              <a:buNone/>
            </a:pPr>
            <a:r>
              <a:rPr lang="en-US" sz="1100" dirty="0">
                <a:solidFill>
                  <a:srgbClr val="9AA0A7"/>
                </a:solidFill>
                <a:latin typeface="Calibri" pitchFamily="34" charset="0"/>
                <a:ea typeface="Calibri" pitchFamily="34" charset="-122"/>
                <a:cs typeface="Calibri" pitchFamily="34" charset="-120"/>
              </a:rPr>
              <a:t>Objective Quest DataQuest 5.0  ·  prediksi life_satisfaction  ·  Quadratic Weighted Kappa</a:t>
            </a:r>
            <a:endParaRPr lang="en-US" sz="1100" dirty="0"/>
          </a:p>
        </p:txBody>
      </p:sp>
      <p:sp>
        <p:nvSpPr>
          <p:cNvPr id="15" name="Text 13"/>
          <p:cNvSpPr/>
          <p:nvPr/>
        </p:nvSpPr>
        <p:spPr>
          <a:xfrm>
            <a:off x="6858000" y="5358384"/>
            <a:ext cx="4690872" cy="603504"/>
          </a:xfrm>
          <a:prstGeom prst="rect">
            <a:avLst/>
          </a:prstGeom>
          <a:noFill/>
          <a:ln/>
        </p:spPr>
        <p:txBody>
          <a:bodyPr wrap="square" lIns="0" tIns="0" rIns="0" bIns="0" rtlCol="0" anchor="ctr"/>
          <a:lstStyle/>
          <a:p>
            <a:pPr algn="r" indent="0" marL="0">
              <a:buNone/>
            </a:pPr>
            <a:r>
              <a:rPr lang="en-US" sz="1300" i="1" dirty="0">
                <a:solidFill>
                  <a:srgbClr val="8FB0A4"/>
                </a:solidFill>
                <a:latin typeface="Calibri" pitchFamily="34" charset="0"/>
                <a:ea typeface="Calibri" pitchFamily="34" charset="-122"/>
                <a:cs typeface="Calibri" pitchFamily="34" charset="-120"/>
              </a:rPr>
              <a:t>Terima kasih — kami siap menjawab pertanyaan.</a:t>
            </a:r>
            <a:endParaRPr lang="en-US" sz="1300" dirty="0"/>
          </a:p>
        </p:txBody>
      </p:sp>
      <p:sp>
        <p:nvSpPr>
          <p:cNvPr id="17" name="Text 14"/>
          <p:cNvSpPr/>
          <p:nvPr/>
        </p:nvSpPr>
        <p:spPr>
          <a:xfrm>
            <a:off x="640080" y="6382512"/>
            <a:ext cx="7315200" cy="274320"/>
          </a:xfrm>
          <a:prstGeom prst="rect">
            <a:avLst/>
          </a:prstGeom>
          <a:noFill/>
          <a:ln/>
        </p:spPr>
        <p:txBody>
          <a:bodyPr wrap="square" lIns="0" tIns="0" rIns="0" bIns="0" rtlCol="0" anchor="ctr"/>
          <a:lstStyle/>
          <a:p>
            <a:pPr indent="0" marL="0">
              <a:buNone/>
            </a:pPr>
            <a:r>
              <a:rPr lang="en-US" sz="900" dirty="0">
                <a:solidFill>
                  <a:srgbClr val="9AA0A7"/>
                </a:solidFill>
                <a:latin typeface="Calibri" pitchFamily="34" charset="0"/>
                <a:ea typeface="Calibri" pitchFamily="34" charset="-122"/>
                <a:cs typeface="Calibri" pitchFamily="34" charset="-120"/>
              </a:rPr>
              <a:t>Tim Warkab  ·  DataQuest 5.0  ·  life_satisfaction / QWK</a:t>
            </a:r>
            <a:endParaRPr lang="en-US" sz="900" dirty="0"/>
          </a:p>
        </p:txBody>
      </p:sp>
      <p:sp>
        <p:nvSpPr>
          <p:cNvPr id="18" name="Text 15"/>
          <p:cNvSpPr/>
          <p:nvPr/>
        </p:nvSpPr>
        <p:spPr>
          <a:xfrm>
            <a:off x="10637215" y="6382512"/>
            <a:ext cx="914400" cy="274320"/>
          </a:xfrm>
          <a:prstGeom prst="rect">
            <a:avLst/>
          </a:prstGeom>
          <a:noFill/>
          <a:ln/>
        </p:spPr>
        <p:txBody>
          <a:bodyPr wrap="square" lIns="0" tIns="0" rIns="0" bIns="0" rtlCol="0" anchor="ctr"/>
          <a:lstStyle/>
          <a:p>
            <a:pPr algn="r" indent="0" marL="0">
              <a:buNone/>
            </a:pPr>
            <a:r>
              <a:rPr lang="en-US" sz="900" b="1" dirty="0">
                <a:solidFill>
                  <a:srgbClr val="9AA0A7"/>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Objective Quest DataQuest 5.0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Membaca Skala, Bukan Menebak Kelas — Tim Warkab</dc:title>
  <dc:subject>Prediksi life_satisfaction dioptimalkan untuk Quadratic Weighted Kappa</dc:subject>
  <dc:creator>Tim Warkab</dc:creator>
  <cp:lastModifiedBy>Tim Warkab</cp:lastModifiedBy>
  <cp:revision>1</cp:revision>
  <dcterms:created xsi:type="dcterms:W3CDTF">2026-09-12T04:04:28Z</dcterms:created>
  <dcterms:modified xsi:type="dcterms:W3CDTF">2026-09-12T04:04:28Z</dcterms:modified>
</cp:coreProperties>
</file>